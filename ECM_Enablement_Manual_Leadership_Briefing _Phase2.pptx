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Establish the problem quickly — this audience may have seen it before — and then make the adoption choice the subject of the meeting.
THE EQUATION
Capacity equals intake count times a fixed engineering depth. Partner demand sets the first term and we do not control it. The depth is fixed by our own delivery model: every intake gets a dedicated team from inception to release regardless of how much of it is genuinely new. Both terms outside our control means headcount is the only lever, which is why this recurs every time demand grows.
THE TWO CAUSES — keep this brief
Thirty to forty per cent of elapsed time goes on chasing information that was never captured at intake. That is the squads' own estimate, and it is the most draining work they do.
And all thirty-eight of our onboarding scenarios receive the same dedicated team, when we assessed that only fourteen genuinely need one.
THE CHOICE — this is what the meeting is about
We have designed a tiered enablement model and a platform to support it. There are two ways to adopt it.
Build first: commit four sprints of engineering capacity, then run the model on the platform. The problem is that the business case for that build rests entirely on design assumptions. We have no baseline. We do not know what proportion of our real demand would route to a lighter tier. We do not know whether partners will accept a tier they did not choose.
Prove first: run the model by hand for a quarter using written guidance and a shared pool from the existing squads. Two weeks of preparation, no build at all, no new headcount. At the end we have measured results instead of assumptions — and if the model turns out to be wrong, we have spent a quarter of process change rather than stranding an engineering investment.
THE RECOMMENDATION
Prove first. Not as a compromise, and not as a way of deferring the investment — but because running the model manually produces a materially better-specified platform and a defensible business case, neither of which exists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"manual" concrete. People hear "manual approach" and imagine either a slogan or a spreadsheet. It is neither — it is a systematic substitution of a person and a written guide for each platform mechanism.
THE FOUR CHANGES — walk them in order
One: the triage conversation. This carries most of the benefit. Triage today classifies and routes. In Phase 1 it becomes the session where the full requirement is established. The partner gets a pre-read listing what will be asked and why, so they arrive able to answer rather than discovering the questions live. Then ninety minutes working the guide, explaining the reason at the point of asking, and registering every unknown as a dated gap with a named owner.
Two: triage leads assign the tier. This is a genuine delegation of authority and it changes what the role is. The lead scores seven determinants, applies the overrides, assigns the tier, selects the guardrails and records why. Calibration matters — two leads will score the same intake differently at first, so we run calibration sessions before we start and fortnightly reviews for the first two months.
Three: the shared pool. Four to six people from the existing squads — a permanent core of two for continuity plus rotating secondments of six to eight weeks. No new headcount. The rotation spreads the knowledge and means nobody is permanently removed from delivery.
Four: one tracker. Not a system, a spreadsheet. But it is the measurement instrument and therefore the primary output of Phase 1. If the tracker decays, we end the quarter with a process change and no evidence.
ON "NO EFFORT" — pre-empt this
Someone will say we were asked to build nothing and here is a document. Be precise: writing guidance is days of work by people who already hold the knowledge. Building a platform is months of engineering. We are doing the first and none of the second.
AND IT IS NOT WASTED
Everything written in Phase 1 is the specification for Phase 2. The question set becomes the data catalogue. The scoring sheet and its deviations become the tiering rules and the calibration data. The pattern log becomes the pattern catalogue. We are not doing throwaway work to defer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This is the honesty slide and it is the one that earns the audience's trust. Do not oversell Phase 1.
THE FOUR BARS
Today: all thirty-eight scenarios get a dedicated team.
Phase 1 manual: five Lean, seventeen Lean+, fourteen Dedicated, two Factory.
Phase 2 at entry: eight Lean, fourteen Lean+.
Phase 2 steady state: sixteen Lean, thirteen Lean+, seven Dedicated.
Note what moves between the manual bar and the platform bars. Lean+ is actually HIGHER in the manual approach — seventeen against fourteen — because scenarios that would eventually be Lean sit in Lean+ for now. Lean is dramatically lower: five against sixteen.
WHY — this is the key explanation
Lean+ is a human process by design. Scheduled design assurance from a shared pool. People with a calendar can do all of it, so the manual version is close to the full version.
Lean assumes the partner can self-serve — instantiate a pattern, provision within policy bounds, clear automated gates, see their own state. Without a platform they can do none of those things. They still raise requests through existing channels, still wait for human action, still have to ask where things stand. So manual Lean is a reduced form and only viable for the very simplest scenarios.
Eleven scenarios sit in that gap. That is the clearest single statement of what Phase 2 buys, and it is far more persuasive than any design argument because it is a specific, countable claim.
THE TWO LISTS
Read both. The right-hand one matters more for credibility.
Phase 1 reallocates depth; it does not remove work. The artefacts are still authored by hand. The routing is still from memory. The tracking is still manual. Status is still answered by a person. That is the bulk of what Phase 2 addresses, and saying so now is what stops Phase 1 success becoming an argument against Phase 2 later.
IF ASKED "SO WHY NOT JUST BUILD IT NOW"
Because we would be committing four sprints against assumptions. After a quarter of running it by hand we will know which questions partners stumble on, which rules get applied wrong, which gates get waived and where the hours actually go. That turns the platform backlog from a design guess into an evidence-led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ask small, bounded and reversible, and make the Phase 2 decision conditional on measured evidence rather than on persuasion.
THE TWELVE WEEKS
Weeks one and two: preparation. Write the guide, calibrate the leads, stand up the pool, build the tracker, publish the tier model to partners.
Weeks three to six: parallel run. Every new intake gets the deep triage and a tier assignment, but is still delivered under the current model. This is deliberate and should not be shortened — it produces distribution and completeness data at zero delivery risk, and it gives the leads four weeks of scoring practice before their assignments bind real work.
Weeks seven to ten: the tiers take effect. Lean+ runs properly with named guides and two checkpoints. The first Lean intakes run on the simplest patterns with partners who have been through the process before.
Weeks eleven and twelve: evidence review.
THE EVIDENCE GATE — the most important part of this slide
We are stating the criteria in advance, before we know the answers. That is deliberate. It means the week-twelve review is an assessment against agreed standards, not a negotiation about whether it went well.
Point at the sixth criterion. The first five validate the model. The sixth specifies the build — it is what turns the Phase 2 backlog from a design exercise into an evidence-led list.
THE COST
Two weeks of preparation by people who already hold the knowledge. No new headcount; the pool comes from the existing squads. Nothing built. One quarter before the Phase 2 decision.
THE THREE ASKS
The second one matters more than it looks. The pool is drawn from delivery squads, which means every squad lead will — reasonably, under genuine pressure — want their person back for a sprint. The first time that is allowed, the pool becomes notional and Lean+ reverts to unsupported self-service. We need the protection agreed now, with a named escalation route, rather than negotiated when the pressure arrives.
CLOSING LINE
We are not asking to defer the platform. We are asking for one quarter to produce the evidence on which that investment should be decided — and if Phase 1 shows the model does not work, we will have found that out for the price of a process change rather than four sprints of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04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6E"/>
          </a:solidFill>
          <a:ln w="12700">
            <a:solidFill>
              <a:srgbClr val="333333"/>
            </a:solidFill>
            <a:prstDash val="solid"/>
          </a:ln>
        </p:spPr>
      </p:sp>
      <p:sp>
        <p:nvSpPr>
          <p:cNvPr id="3" name="Text 1"/>
          <p:cNvSpPr txBox="1"/>
          <p:nvPr/>
        </p:nvSpPr>
        <p:spPr>
          <a:xfrm>
            <a:off x="868680" y="1600200"/>
            <a:ext cx="10058400" cy="274320"/>
          </a:xfrm>
          <a:prstGeom prst="rect">
            <a:avLst/>
          </a:prstGeom>
          <a:noFill/>
          <a:ln/>
        </p:spPr>
        <p:txBody>
          <a:bodyPr wrap="square" lIns="0" tIns="0" rIns="0" bIns="0" rtlCol="0" anchor="ctr"/>
          <a:lstStyle/>
          <a:p>
            <a:pPr indent="0" marL="0">
              <a:buNone/>
            </a:pPr>
            <a:r>
              <a:rPr lang="en-US" sz="1200" b="1" spc="400" kern="0" dirty="0">
                <a:solidFill>
                  <a:srgbClr val="8FB8B8"/>
                </a:solidFill>
                <a:latin typeface="Calibri" pitchFamily="34" charset="0"/>
                <a:ea typeface="Calibri" pitchFamily="34" charset="-122"/>
                <a:cs typeface="Calibri" pitchFamily="34" charset="-120"/>
              </a:rPr>
              <a:t>ECM PARTNER ENABLEMENT · PHASE 1</a:t>
            </a:r>
            <a:endParaRPr lang="en-US" sz="1200" dirty="0"/>
          </a:p>
        </p:txBody>
      </p:sp>
      <p:sp>
        <p:nvSpPr>
          <p:cNvPr id="4" name="Text 2"/>
          <p:cNvSpPr txBox="1"/>
          <p:nvPr/>
        </p:nvSpPr>
        <p:spPr>
          <a:xfrm>
            <a:off x="868680" y="1920240"/>
            <a:ext cx="10607040" cy="841248"/>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Prove It Before We Build It</a:t>
            </a:r>
            <a:endParaRPr lang="en-US" sz="4400" dirty="0"/>
          </a:p>
        </p:txBody>
      </p:sp>
      <p:sp>
        <p:nvSpPr>
          <p:cNvPr id="5" name="Text 3"/>
          <p:cNvSpPr txBox="1"/>
          <p:nvPr/>
        </p:nvSpPr>
        <p:spPr>
          <a:xfrm>
            <a:off x="868680" y="2871216"/>
            <a:ext cx="10058400" cy="685800"/>
          </a:xfrm>
          <a:prstGeom prst="rect">
            <a:avLst/>
          </a:prstGeom>
          <a:noFill/>
          <a:ln/>
        </p:spPr>
        <p:txBody>
          <a:bodyPr wrap="square" lIns="0" tIns="0" rIns="0" bIns="0" rtlCol="0" anchor="ctr"/>
          <a:lstStyle/>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Running the tiered enablement model from Day 1 with no platform, no automation</a:t>
            </a:r>
            <a:endParaRPr lang="en-US" sz="1800" dirty="0"/>
          </a:p>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and no new headcount — and earning the evidence to build</a:t>
            </a:r>
            <a:endParaRPr lang="en-US" sz="1800" dirty="0"/>
          </a:p>
        </p:txBody>
      </p:sp>
      <p:sp>
        <p:nvSpPr>
          <p:cNvPr id="6" name="Shape 4"/>
          <p:cNvSpPr/>
          <p:nvPr/>
        </p:nvSpPr>
        <p:spPr>
          <a:xfrm>
            <a:off x="868680" y="3785616"/>
            <a:ext cx="3840480" cy="0"/>
          </a:xfrm>
          <a:prstGeom prst="line">
            <a:avLst/>
          </a:prstGeom>
          <a:noFill/>
          <a:ln w="28575">
            <a:solidFill>
              <a:srgbClr val="0B6E6E"/>
            </a:solidFill>
            <a:prstDash val="solid"/>
          </a:ln>
        </p:spPr>
      </p:sp>
      <p:sp>
        <p:nvSpPr>
          <p:cNvPr id="7" name="Text 5"/>
          <p:cNvSpPr txBox="1"/>
          <p:nvPr/>
        </p:nvSpPr>
        <p:spPr>
          <a:xfrm>
            <a:off x="86868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PHASE 1</a:t>
            </a:r>
            <a:endParaRPr lang="en-US" sz="800" dirty="0"/>
          </a:p>
        </p:txBody>
      </p:sp>
      <p:sp>
        <p:nvSpPr>
          <p:cNvPr id="8" name="Text 6"/>
          <p:cNvSpPr txBox="1"/>
          <p:nvPr/>
        </p:nvSpPr>
        <p:spPr>
          <a:xfrm>
            <a:off x="86868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Manual · one quarter</a:t>
            </a:r>
            <a:endParaRPr lang="en-US" sz="1150" dirty="0"/>
          </a:p>
        </p:txBody>
      </p:sp>
      <p:sp>
        <p:nvSpPr>
          <p:cNvPr id="9" name="Text 7"/>
          <p:cNvSpPr txBox="1"/>
          <p:nvPr/>
        </p:nvSpPr>
        <p:spPr>
          <a:xfrm>
            <a:off x="336042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WHAT IS BUILT</a:t>
            </a:r>
            <a:endParaRPr lang="en-US" sz="800" dirty="0"/>
          </a:p>
        </p:txBody>
      </p:sp>
      <p:sp>
        <p:nvSpPr>
          <p:cNvPr id="10" name="Text 8"/>
          <p:cNvSpPr txBox="1"/>
          <p:nvPr/>
        </p:nvSpPr>
        <p:spPr>
          <a:xfrm>
            <a:off x="336042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Nothing — written guidance only</a:t>
            </a:r>
            <a:endParaRPr lang="en-US" sz="1150" dirty="0"/>
          </a:p>
        </p:txBody>
      </p:sp>
      <p:sp>
        <p:nvSpPr>
          <p:cNvPr id="11" name="Text 9"/>
          <p:cNvSpPr txBox="1"/>
          <p:nvPr/>
        </p:nvSpPr>
        <p:spPr>
          <a:xfrm>
            <a:off x="585216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NEW HEADCOUNT</a:t>
            </a:r>
            <a:endParaRPr lang="en-US" sz="800" dirty="0"/>
          </a:p>
        </p:txBody>
      </p:sp>
      <p:sp>
        <p:nvSpPr>
          <p:cNvPr id="12" name="Text 10"/>
          <p:cNvSpPr txBox="1"/>
          <p:nvPr/>
        </p:nvSpPr>
        <p:spPr>
          <a:xfrm>
            <a:off x="585216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None — pool drawn from squads</a:t>
            </a:r>
            <a:endParaRPr lang="en-US" sz="1150" dirty="0"/>
          </a:p>
        </p:txBody>
      </p:sp>
      <p:sp>
        <p:nvSpPr>
          <p:cNvPr id="13" name="Text 11"/>
          <p:cNvSpPr txBox="1"/>
          <p:nvPr/>
        </p:nvSpPr>
        <p:spPr>
          <a:xfrm>
            <a:off x="834390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THEN</a:t>
            </a:r>
            <a:endParaRPr lang="en-US" sz="800" dirty="0"/>
          </a:p>
        </p:txBody>
      </p:sp>
      <p:sp>
        <p:nvSpPr>
          <p:cNvPr id="14" name="Text 12"/>
          <p:cNvSpPr txBox="1"/>
          <p:nvPr/>
        </p:nvSpPr>
        <p:spPr>
          <a:xfrm>
            <a:off x="834390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Phase 2 approved on evidence</a:t>
            </a:r>
            <a:endParaRPr lang="en-US" sz="1150" dirty="0"/>
          </a:p>
        </p:txBody>
      </p:sp>
      <p:sp>
        <p:nvSpPr>
          <p:cNvPr id="15" name="Shape 13"/>
          <p:cNvSpPr/>
          <p:nvPr/>
        </p:nvSpPr>
        <p:spPr>
          <a:xfrm>
            <a:off x="868680" y="5998464"/>
            <a:ext cx="10607040" cy="0"/>
          </a:xfrm>
          <a:prstGeom prst="line">
            <a:avLst/>
          </a:prstGeom>
          <a:noFill/>
          <a:ln w="12700">
            <a:solidFill>
              <a:srgbClr val="2E4968"/>
            </a:solidFill>
            <a:prstDash val="solid"/>
          </a:ln>
        </p:spPr>
      </p:sp>
      <p:sp>
        <p:nvSpPr>
          <p:cNvPr id="16" name="Text 14"/>
          <p:cNvSpPr txBox="1"/>
          <p:nvPr/>
        </p:nvSpPr>
        <p:spPr>
          <a:xfrm>
            <a:off x="868680" y="6126480"/>
            <a:ext cx="6400800" cy="256032"/>
          </a:xfrm>
          <a:prstGeom prst="rect">
            <a:avLst/>
          </a:prstGeom>
          <a:noFill/>
          <a:ln/>
        </p:spPr>
        <p:txBody>
          <a:bodyPr wrap="square" lIns="0" tIns="0" rIns="0" bIns="0" rtlCol="0" anchor="ctr"/>
          <a:lstStyle/>
          <a:p>
            <a:pPr indent="0" marL="0">
              <a:buNone/>
            </a:pPr>
            <a:r>
              <a:rPr lang="en-US" sz="950" spc="80" kern="0" dirty="0">
                <a:solidFill>
                  <a:srgbClr val="7F97AE"/>
                </a:solidFill>
                <a:latin typeface="Calibri" pitchFamily="34" charset="0"/>
                <a:ea typeface="Calibri" pitchFamily="34" charset="-122"/>
                <a:cs typeface="Calibri" pitchFamily="34" charset="-120"/>
              </a:rPr>
              <a:t>ECM Partner Enablement   ·   Draft for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problem, and a choice about how to respond</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Capacity is a function of demand, and the only lever today is headcount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Why change</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60704"/>
            <a:ext cx="11338560" cy="621792"/>
          </a:xfrm>
          <a:prstGeom prst="roundRect">
            <a:avLst>
              <a:gd name="adj" fmla="val 7353"/>
            </a:avLst>
          </a:prstGeom>
          <a:solidFill>
            <a:srgbClr val="15304F"/>
          </a:solidFill>
          <a:ln w="12700">
            <a:solidFill>
              <a:srgbClr val="333333"/>
            </a:solidFill>
            <a:prstDash val="solid"/>
          </a:ln>
        </p:spPr>
      </p:sp>
      <p:sp>
        <p:nvSpPr>
          <p:cNvPr id="9" name="Text 7"/>
          <p:cNvSpPr txBox="1"/>
          <p:nvPr/>
        </p:nvSpPr>
        <p:spPr>
          <a:xfrm>
            <a:off x="612648" y="1060704"/>
            <a:ext cx="10936224" cy="621792"/>
          </a:xfrm>
          <a:prstGeom prst="rect">
            <a:avLst/>
          </a:prstGeom>
          <a:noFill/>
          <a:ln/>
        </p:spPr>
        <p:txBody>
          <a:bodyPr wrap="square" lIns="0" tIns="0" rIns="0" bIns="0" rtlCol="0" anchor="ctr"/>
          <a:lstStyle/>
          <a:p>
            <a:pPr indent="0" marL="0">
              <a:buNone/>
            </a:pPr>
            <a:r>
              <a:rPr lang="en-US" sz="1350" dirty="0">
                <a:solidFill>
                  <a:srgbClr val="C6D4E2"/>
                </a:solidFill>
                <a:latin typeface="Calibri" pitchFamily="34" charset="0"/>
                <a:ea typeface="Calibri" pitchFamily="34" charset="-122"/>
                <a:cs typeface="Calibri" pitchFamily="34" charset="-120"/>
              </a:rPr>
              <a:t>Capacity required  =  </a:t>
            </a:r>
            <a:pPr indent="0" marL="0">
              <a:buNone/>
            </a:pPr>
            <a:r>
              <a:rPr lang="en-US" sz="1350" b="1" dirty="0">
                <a:solidFill>
                  <a:srgbClr val="FFFFFF"/>
                </a:solidFill>
                <a:latin typeface="Calibri" pitchFamily="34" charset="0"/>
                <a:ea typeface="Calibri" pitchFamily="34" charset="-122"/>
                <a:cs typeface="Calibri" pitchFamily="34" charset="-120"/>
              </a:rPr>
              <a:t>number of concurrent intakes</a:t>
            </a:r>
            <a:pPr indent="0" marL="0">
              <a:buNone/>
            </a:pPr>
            <a:r>
              <a:rPr lang="en-US" sz="1350" dirty="0">
                <a:solidFill>
                  <a:srgbClr val="C6D4E2"/>
                </a:solidFill>
                <a:latin typeface="Calibri" pitchFamily="34" charset="0"/>
                <a:ea typeface="Calibri" pitchFamily="34" charset="-122"/>
                <a:cs typeface="Calibri" pitchFamily="34" charset="-120"/>
              </a:rPr>
              <a:t>   ×   </a:t>
            </a:r>
            <a:pPr indent="0" marL="0">
              <a:buNone/>
            </a:pPr>
            <a:r>
              <a:rPr lang="en-US" sz="1350" b="1" dirty="0">
                <a:solidFill>
                  <a:srgbClr val="F0B48A"/>
                </a:solidFill>
                <a:latin typeface="Calibri" pitchFamily="34" charset="0"/>
                <a:ea typeface="Calibri" pitchFamily="34" charset="-122"/>
                <a:cs typeface="Calibri" pitchFamily="34" charset="-120"/>
              </a:rPr>
              <a:t>a fixed engineering depth applied to every intake</a:t>
            </a:r>
            <a:endParaRPr lang="en-US" sz="1350" dirty="0"/>
          </a:p>
        </p:txBody>
      </p:sp>
      <p:sp>
        <p:nvSpPr>
          <p:cNvPr id="10" name="Text 8"/>
          <p:cNvSpPr txBox="1"/>
          <p:nvPr/>
        </p:nvSpPr>
        <p:spPr>
          <a:xfrm>
            <a:off x="411480" y="1755648"/>
            <a:ext cx="11338560" cy="237744"/>
          </a:xfrm>
          <a:prstGeom prst="rect">
            <a:avLst/>
          </a:prstGeom>
          <a:noFill/>
          <a:ln/>
        </p:spPr>
        <p:txBody>
          <a:bodyPr wrap="square" lIns="0" tIns="0" rIns="0" bIns="0" rtlCol="0" anchor="ctr"/>
          <a:lstStyle/>
          <a:p>
            <a:pPr indent="0" marL="0">
              <a:buNone/>
            </a:pPr>
            <a:r>
              <a:rPr lang="en-US" sz="920" i="1" dirty="0">
                <a:solidFill>
                  <a:srgbClr val="55606E"/>
                </a:solidFill>
                <a:latin typeface="Calibri" pitchFamily="34" charset="0"/>
                <a:ea typeface="Calibri" pitchFamily="34" charset="-122"/>
                <a:cs typeface="Calibri" pitchFamily="34" charset="-120"/>
              </a:rPr>
              <a:t>Partner demand sets the first term and ECM does not control it. The second is fixed by our own delivery model. With both outside our control, the only lever left is headcount.</a:t>
            </a:r>
            <a:endParaRPr lang="en-US" sz="920" dirty="0"/>
          </a:p>
        </p:txBody>
      </p:sp>
      <p:sp>
        <p:nvSpPr>
          <p:cNvPr id="11" name="Text 9"/>
          <p:cNvSpPr txBox="1"/>
          <p:nvPr/>
        </p:nvSpPr>
        <p:spPr>
          <a:xfrm>
            <a:off x="411480" y="2139696"/>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TWO CAUSES, BOTH STRUCTURAL</a:t>
            </a:r>
            <a:endParaRPr lang="en-US" sz="760" dirty="0"/>
          </a:p>
        </p:txBody>
      </p:sp>
      <p:sp>
        <p:nvSpPr>
          <p:cNvPr id="12" name="Shape 10"/>
          <p:cNvSpPr/>
          <p:nvPr/>
        </p:nvSpPr>
        <p:spPr>
          <a:xfrm>
            <a:off x="411480" y="2340864"/>
            <a:ext cx="5532120" cy="1133856"/>
          </a:xfrm>
          <a:prstGeom prst="roundRect">
            <a:avLst>
              <a:gd name="adj" fmla="val 4032"/>
            </a:avLst>
          </a:prstGeom>
          <a:solidFill>
            <a:srgbClr val="FFFFFF"/>
          </a:solidFill>
          <a:ln w="15240">
            <a:solidFill>
              <a:srgbClr val="A44A2A"/>
            </a:solidFill>
            <a:prstDash val="solid"/>
          </a:ln>
          <a:effectLst>
            <a:outerShdw sx="100000" sy="100000" kx="0" ky="0" algn="bl" rotWithShape="0" blurRad="88900" dist="12700" dir="5400000">
              <a:srgbClr val="97A3B4">
                <a:alpha val="16000"/>
              </a:srgbClr>
            </a:outerShdw>
          </a:effectLst>
        </p:spPr>
      </p:sp>
      <p:sp>
        <p:nvSpPr>
          <p:cNvPr id="13" name="Text 11"/>
          <p:cNvSpPr txBox="1"/>
          <p:nvPr/>
        </p:nvSpPr>
        <p:spPr>
          <a:xfrm>
            <a:off x="594360" y="2432304"/>
            <a:ext cx="1572768" cy="420624"/>
          </a:xfrm>
          <a:prstGeom prst="rect">
            <a:avLst/>
          </a:prstGeom>
          <a:noFill/>
          <a:ln/>
        </p:spPr>
        <p:txBody>
          <a:bodyPr wrap="square" lIns="0" tIns="0" rIns="0" bIns="0" rtlCol="0" anchor="ctr"/>
          <a:lstStyle/>
          <a:p>
            <a:pPr indent="0" marL="0">
              <a:buNone/>
            </a:pPr>
            <a:r>
              <a:rPr lang="en-US" sz="2400" b="1" dirty="0">
                <a:solidFill>
                  <a:srgbClr val="A44A2A"/>
                </a:solidFill>
                <a:latin typeface="Cambria" pitchFamily="34" charset="0"/>
                <a:ea typeface="Cambria" pitchFamily="34" charset="-122"/>
                <a:cs typeface="Cambria" pitchFamily="34" charset="-120"/>
              </a:rPr>
              <a:t>30–40%</a:t>
            </a:r>
            <a:endParaRPr lang="en-US" sz="2400" dirty="0"/>
          </a:p>
        </p:txBody>
      </p:sp>
      <p:sp>
        <p:nvSpPr>
          <p:cNvPr id="14" name="Text 12"/>
          <p:cNvSpPr txBox="1"/>
          <p:nvPr/>
        </p:nvSpPr>
        <p:spPr>
          <a:xfrm>
            <a:off x="2240280" y="2432304"/>
            <a:ext cx="3529584" cy="420624"/>
          </a:xfrm>
          <a:prstGeom prst="rect">
            <a:avLst/>
          </a:prstGeom>
          <a:noFill/>
          <a:ln/>
        </p:spPr>
        <p:txBody>
          <a:bodyPr wrap="square" lIns="0" tIns="0" rIns="0" bIns="0" rtlCol="0" anchor="ctr"/>
          <a:lstStyle/>
          <a:p>
            <a:pPr indent="0" marL="0">
              <a:lnSpc>
                <a:spcPts val="1040"/>
              </a:lnSpc>
              <a:buNone/>
            </a:pPr>
            <a:r>
              <a:rPr lang="en-US" sz="880" b="1" dirty="0">
                <a:solidFill>
                  <a:srgbClr val="1B2432"/>
                </a:solidFill>
                <a:latin typeface="Calibri" pitchFamily="34" charset="0"/>
                <a:ea typeface="Calibri" pitchFamily="34" charset="-122"/>
                <a:cs typeface="Calibri" pitchFamily="34" charset="-120"/>
              </a:rPr>
              <a:t>of elapsed time lost to chasing information that was never captured at intake</a:t>
            </a:r>
            <a:endParaRPr lang="en-US" sz="880" dirty="0"/>
          </a:p>
        </p:txBody>
      </p:sp>
      <p:sp>
        <p:nvSpPr>
          <p:cNvPr id="15" name="Text 13"/>
          <p:cNvSpPr txBox="1"/>
          <p:nvPr/>
        </p:nvSpPr>
        <p:spPr>
          <a:xfrm>
            <a:off x="594360" y="2907792"/>
            <a:ext cx="5175504" cy="493776"/>
          </a:xfrm>
          <a:prstGeom prst="rect">
            <a:avLst/>
          </a:prstGeom>
          <a:noFill/>
          <a:ln/>
        </p:spPr>
        <p:txBody>
          <a:bodyPr wrap="square" lIns="0" tIns="0" rIns="0" bIns="0" rtlCol="0" anchor="ctr"/>
          <a:lstStyle/>
          <a:p>
            <a:pPr indent="0" marL="0">
              <a:lnSpc>
                <a:spcPts val="960"/>
              </a:lnSpc>
              <a:buNone/>
            </a:pPr>
            <a:r>
              <a:rPr lang="en-US" sz="800" dirty="0">
                <a:solidFill>
                  <a:srgbClr val="55606E"/>
                </a:solidFill>
                <a:latin typeface="Calibri" pitchFamily="34" charset="0"/>
                <a:ea typeface="Calibri" pitchFamily="34" charset="-122"/>
                <a:cs typeface="Calibri" pitchFamily="34" charset="-120"/>
              </a:rPr>
              <a:t>Requirements are discovered a step at a time, after the intake has landed. Each discovery costs days of waiting — and it is the most draining work the squads do.</a:t>
            </a:r>
            <a:endParaRPr lang="en-US" sz="800" dirty="0"/>
          </a:p>
        </p:txBody>
      </p:sp>
      <p:sp>
        <p:nvSpPr>
          <p:cNvPr id="16" name="Shape 14"/>
          <p:cNvSpPr/>
          <p:nvPr/>
        </p:nvSpPr>
        <p:spPr>
          <a:xfrm>
            <a:off x="6217920" y="2340864"/>
            <a:ext cx="5532120" cy="1133856"/>
          </a:xfrm>
          <a:prstGeom prst="roundRect">
            <a:avLst>
              <a:gd name="adj" fmla="val 4032"/>
            </a:avLst>
          </a:prstGeom>
          <a:solidFill>
            <a:srgbClr val="FFFFFF"/>
          </a:solidFill>
          <a:ln w="15240">
            <a:solidFill>
              <a:srgbClr val="15304F"/>
            </a:solidFill>
            <a:prstDash val="solid"/>
          </a:ln>
          <a:effectLst>
            <a:outerShdw sx="100000" sy="100000" kx="0" ky="0" algn="bl" rotWithShape="0" blurRad="88900" dist="12700" dir="5400000">
              <a:srgbClr val="97A3B4">
                <a:alpha val="16000"/>
              </a:srgbClr>
            </a:outerShdw>
          </a:effectLst>
        </p:spPr>
      </p:sp>
      <p:sp>
        <p:nvSpPr>
          <p:cNvPr id="17" name="Text 15"/>
          <p:cNvSpPr txBox="1"/>
          <p:nvPr/>
        </p:nvSpPr>
        <p:spPr>
          <a:xfrm>
            <a:off x="6400800" y="2432304"/>
            <a:ext cx="1572768" cy="420624"/>
          </a:xfrm>
          <a:prstGeom prst="rect">
            <a:avLst/>
          </a:prstGeom>
          <a:noFill/>
          <a:ln/>
        </p:spPr>
        <p:txBody>
          <a:bodyPr wrap="square" lIns="0" tIns="0" rIns="0" bIns="0" rtlCol="0" anchor="ctr"/>
          <a:lstStyle/>
          <a:p>
            <a:pPr indent="0" marL="0">
              <a:buNone/>
            </a:pPr>
            <a:r>
              <a:rPr lang="en-US" sz="2400" b="1" dirty="0">
                <a:solidFill>
                  <a:srgbClr val="15304F"/>
                </a:solidFill>
                <a:latin typeface="Cambria" pitchFamily="34" charset="0"/>
                <a:ea typeface="Cambria" pitchFamily="34" charset="-122"/>
                <a:cs typeface="Cambria" pitchFamily="34" charset="-120"/>
              </a:rPr>
              <a:t>38 of 38</a:t>
            </a:r>
            <a:endParaRPr lang="en-US" sz="2400" dirty="0"/>
          </a:p>
        </p:txBody>
      </p:sp>
      <p:sp>
        <p:nvSpPr>
          <p:cNvPr id="18" name="Text 16"/>
          <p:cNvSpPr txBox="1"/>
          <p:nvPr/>
        </p:nvSpPr>
        <p:spPr>
          <a:xfrm>
            <a:off x="8046720" y="2432304"/>
            <a:ext cx="3529584" cy="420624"/>
          </a:xfrm>
          <a:prstGeom prst="rect">
            <a:avLst/>
          </a:prstGeom>
          <a:noFill/>
          <a:ln/>
        </p:spPr>
        <p:txBody>
          <a:bodyPr wrap="square" lIns="0" tIns="0" rIns="0" bIns="0" rtlCol="0" anchor="ctr"/>
          <a:lstStyle/>
          <a:p>
            <a:pPr indent="0" marL="0">
              <a:lnSpc>
                <a:spcPts val="1040"/>
              </a:lnSpc>
              <a:buNone/>
            </a:pPr>
            <a:r>
              <a:rPr lang="en-US" sz="880" b="1" dirty="0">
                <a:solidFill>
                  <a:srgbClr val="1B2432"/>
                </a:solidFill>
                <a:latin typeface="Calibri" pitchFamily="34" charset="0"/>
                <a:ea typeface="Calibri" pitchFamily="34" charset="-122"/>
                <a:cs typeface="Calibri" pitchFamily="34" charset="-120"/>
              </a:rPr>
              <a:t>intakes receive a dedicated team, when only 14 actually need one</a:t>
            </a:r>
            <a:endParaRPr lang="en-US" sz="880" dirty="0"/>
          </a:p>
        </p:txBody>
      </p:sp>
      <p:sp>
        <p:nvSpPr>
          <p:cNvPr id="19" name="Text 17"/>
          <p:cNvSpPr txBox="1"/>
          <p:nvPr/>
        </p:nvSpPr>
        <p:spPr>
          <a:xfrm>
            <a:off x="6400800" y="2907792"/>
            <a:ext cx="5175504" cy="493776"/>
          </a:xfrm>
          <a:prstGeom prst="rect">
            <a:avLst/>
          </a:prstGeom>
          <a:noFill/>
          <a:ln/>
        </p:spPr>
        <p:txBody>
          <a:bodyPr wrap="square" lIns="0" tIns="0" rIns="0" bIns="0" rtlCol="0" anchor="ctr"/>
          <a:lstStyle/>
          <a:p>
            <a:pPr indent="0" marL="0">
              <a:lnSpc>
                <a:spcPts val="960"/>
              </a:lnSpc>
              <a:buNone/>
            </a:pPr>
            <a:r>
              <a:rPr lang="en-US" sz="800" dirty="0">
                <a:solidFill>
                  <a:srgbClr val="55606E"/>
                </a:solidFill>
                <a:latin typeface="Calibri" pitchFamily="34" charset="0"/>
                <a:ea typeface="Calibri" pitchFamily="34" charset="-122"/>
                <a:cs typeface="Calibri" pitchFamily="34" charset="-120"/>
              </a:rPr>
              <a:t>Assessed against what each scenario really requires: 8 need no design, 14 need a judgement or two, 14 need a pod, 2 are migration campaigns.</a:t>
            </a:r>
            <a:endParaRPr lang="en-US" sz="800" dirty="0"/>
          </a:p>
        </p:txBody>
      </p:sp>
      <p:sp>
        <p:nvSpPr>
          <p:cNvPr id="20" name="Text 18"/>
          <p:cNvSpPr txBox="1"/>
          <p:nvPr/>
        </p:nvSpPr>
        <p:spPr>
          <a:xfrm>
            <a:off x="411480" y="3639312"/>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RESPONSE IS A TIERED ENABLEMENT MODEL — AND THERE ARE TWO WAYS TO ADOPT IT</a:t>
            </a:r>
            <a:endParaRPr lang="en-US" sz="760" dirty="0"/>
          </a:p>
        </p:txBody>
      </p:sp>
      <p:sp>
        <p:nvSpPr>
          <p:cNvPr id="21" name="Shape 19"/>
          <p:cNvSpPr/>
          <p:nvPr/>
        </p:nvSpPr>
        <p:spPr>
          <a:xfrm>
            <a:off x="411480" y="3840480"/>
            <a:ext cx="5532120" cy="1700784"/>
          </a:xfrm>
          <a:prstGeom prst="roundRect">
            <a:avLst>
              <a:gd name="adj" fmla="val 2688"/>
            </a:avLst>
          </a:prstGeom>
          <a:solidFill>
            <a:srgbClr val="FFFFFF"/>
          </a:solidFill>
          <a:ln w="12700">
            <a:solidFill>
              <a:srgbClr val="7C8798"/>
            </a:solidFill>
            <a:prstDash val="solid"/>
          </a:ln>
          <a:effectLst>
            <a:outerShdw sx="100000" sy="100000" kx="0" ky="0" algn="bl" rotWithShape="0" blurRad="88900" dist="12700" dir="5400000">
              <a:srgbClr val="97A3B4">
                <a:alpha val="16000"/>
              </a:srgbClr>
            </a:outerShdw>
          </a:effectLst>
        </p:spPr>
      </p:sp>
      <p:sp>
        <p:nvSpPr>
          <p:cNvPr id="22" name="Shape 20"/>
          <p:cNvSpPr/>
          <p:nvPr/>
        </p:nvSpPr>
        <p:spPr>
          <a:xfrm>
            <a:off x="411480" y="3840480"/>
            <a:ext cx="5532120" cy="365760"/>
          </a:xfrm>
          <a:prstGeom prst="rect">
            <a:avLst/>
          </a:prstGeom>
          <a:solidFill>
            <a:srgbClr val="7C8798"/>
          </a:solidFill>
          <a:ln w="12700">
            <a:solidFill>
              <a:srgbClr val="333333"/>
            </a:solidFill>
            <a:prstDash val="solid"/>
          </a:ln>
        </p:spPr>
      </p:sp>
      <p:sp>
        <p:nvSpPr>
          <p:cNvPr id="23" name="Text 21"/>
          <p:cNvSpPr txBox="1"/>
          <p:nvPr/>
        </p:nvSpPr>
        <p:spPr>
          <a:xfrm>
            <a:off x="576072" y="3840480"/>
            <a:ext cx="182880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BUILD FIRST</a:t>
            </a:r>
            <a:endParaRPr lang="en-US" sz="1050" dirty="0"/>
          </a:p>
        </p:txBody>
      </p:sp>
      <p:sp>
        <p:nvSpPr>
          <p:cNvPr id="24" name="Text 22"/>
          <p:cNvSpPr txBox="1"/>
          <p:nvPr/>
        </p:nvSpPr>
        <p:spPr>
          <a:xfrm>
            <a:off x="2331720" y="3840480"/>
            <a:ext cx="3474720" cy="365760"/>
          </a:xfrm>
          <a:prstGeom prst="rect">
            <a:avLst/>
          </a:prstGeom>
          <a:noFill/>
          <a:ln/>
        </p:spPr>
        <p:txBody>
          <a:bodyPr wrap="square" lIns="0" tIns="0" rIns="0" bIns="0" rtlCol="0" anchor="ctr"/>
          <a:lstStyle/>
          <a:p>
            <a:pPr algn="r" indent="0" marL="0">
              <a:lnSpc>
                <a:spcPts val="900"/>
              </a:lnSpc>
              <a:buNone/>
            </a:pPr>
            <a:r>
              <a:rPr lang="en-US" sz="760" dirty="0">
                <a:solidFill>
                  <a:srgbClr val="E6ECF2"/>
                </a:solidFill>
                <a:latin typeface="Calibri" pitchFamily="34" charset="0"/>
                <a:ea typeface="Calibri" pitchFamily="34" charset="-122"/>
                <a:cs typeface="Calibri" pitchFamily="34" charset="-120"/>
              </a:rPr>
              <a:t>Commit engineering capacity to a platform, then run the model on it</a:t>
            </a:r>
            <a:endParaRPr lang="en-US" sz="760" dirty="0"/>
          </a:p>
        </p:txBody>
      </p:sp>
      <p:sp>
        <p:nvSpPr>
          <p:cNvPr id="25" name="Text 23"/>
          <p:cNvSpPr txBox="1"/>
          <p:nvPr/>
        </p:nvSpPr>
        <p:spPr>
          <a:xfrm>
            <a:off x="594360" y="4297680"/>
            <a:ext cx="5175504" cy="274320"/>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Four sprints before anything is proven</a:t>
            </a:r>
            <a:endParaRPr lang="en-US" sz="820" dirty="0"/>
          </a:p>
        </p:txBody>
      </p:sp>
      <p:sp>
        <p:nvSpPr>
          <p:cNvPr id="26" name="Text 24"/>
          <p:cNvSpPr txBox="1"/>
          <p:nvPr/>
        </p:nvSpPr>
        <p:spPr>
          <a:xfrm>
            <a:off x="594360" y="4590288"/>
            <a:ext cx="5175504" cy="274320"/>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Business case rests on design assumptions</a:t>
            </a:r>
            <a:endParaRPr lang="en-US" sz="820" dirty="0"/>
          </a:p>
        </p:txBody>
      </p:sp>
      <p:sp>
        <p:nvSpPr>
          <p:cNvPr id="27" name="Text 25"/>
          <p:cNvSpPr txBox="1"/>
          <p:nvPr/>
        </p:nvSpPr>
        <p:spPr>
          <a:xfrm>
            <a:off x="594360" y="4882896"/>
            <a:ext cx="5175504" cy="274320"/>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No baseline exists to measure against</a:t>
            </a:r>
            <a:endParaRPr lang="en-US" sz="820" dirty="0"/>
          </a:p>
        </p:txBody>
      </p:sp>
      <p:sp>
        <p:nvSpPr>
          <p:cNvPr id="28" name="Text 26"/>
          <p:cNvSpPr txBox="1"/>
          <p:nvPr/>
        </p:nvSpPr>
        <p:spPr>
          <a:xfrm>
            <a:off x="594360" y="5175504"/>
            <a:ext cx="5175504" cy="274320"/>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If the model is wrong, the build is stranded</a:t>
            </a:r>
            <a:endParaRPr lang="en-US" sz="820" dirty="0"/>
          </a:p>
        </p:txBody>
      </p:sp>
      <p:sp>
        <p:nvSpPr>
          <p:cNvPr id="29" name="Shape 27"/>
          <p:cNvSpPr/>
          <p:nvPr/>
        </p:nvSpPr>
        <p:spPr>
          <a:xfrm>
            <a:off x="6217920" y="3840480"/>
            <a:ext cx="5532120" cy="1700784"/>
          </a:xfrm>
          <a:prstGeom prst="roundRect">
            <a:avLst>
              <a:gd name="adj" fmla="val 2688"/>
            </a:avLst>
          </a:prstGeom>
          <a:solidFill>
            <a:srgbClr val="FFFFFF"/>
          </a:solidFill>
          <a:ln w="19050">
            <a:solidFill>
              <a:srgbClr val="0B6E6E"/>
            </a:solidFill>
            <a:prstDash val="solid"/>
          </a:ln>
          <a:effectLst>
            <a:outerShdw sx="100000" sy="100000" kx="0" ky="0" algn="bl" rotWithShape="0" blurRad="88900" dist="12700" dir="5400000">
              <a:srgbClr val="97A3B4">
                <a:alpha val="16000"/>
              </a:srgbClr>
            </a:outerShdw>
          </a:effectLst>
        </p:spPr>
      </p:sp>
      <p:sp>
        <p:nvSpPr>
          <p:cNvPr id="30" name="Shape 28"/>
          <p:cNvSpPr/>
          <p:nvPr/>
        </p:nvSpPr>
        <p:spPr>
          <a:xfrm>
            <a:off x="6217920" y="3840480"/>
            <a:ext cx="5532120" cy="365760"/>
          </a:xfrm>
          <a:prstGeom prst="rect">
            <a:avLst/>
          </a:prstGeom>
          <a:solidFill>
            <a:srgbClr val="0B6E6E"/>
          </a:solidFill>
          <a:ln w="12700">
            <a:solidFill>
              <a:srgbClr val="333333"/>
            </a:solidFill>
            <a:prstDash val="solid"/>
          </a:ln>
        </p:spPr>
      </p:sp>
      <p:sp>
        <p:nvSpPr>
          <p:cNvPr id="31" name="Text 29"/>
          <p:cNvSpPr txBox="1"/>
          <p:nvPr/>
        </p:nvSpPr>
        <p:spPr>
          <a:xfrm>
            <a:off x="6382512" y="3840480"/>
            <a:ext cx="182880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PROVE FIRST</a:t>
            </a:r>
            <a:endParaRPr lang="en-US" sz="1050" dirty="0"/>
          </a:p>
        </p:txBody>
      </p:sp>
      <p:sp>
        <p:nvSpPr>
          <p:cNvPr id="32" name="Text 30"/>
          <p:cNvSpPr txBox="1"/>
          <p:nvPr/>
        </p:nvSpPr>
        <p:spPr>
          <a:xfrm>
            <a:off x="8138160" y="3840480"/>
            <a:ext cx="3474720" cy="365760"/>
          </a:xfrm>
          <a:prstGeom prst="rect">
            <a:avLst/>
          </a:prstGeom>
          <a:noFill/>
          <a:ln/>
        </p:spPr>
        <p:txBody>
          <a:bodyPr wrap="square" lIns="0" tIns="0" rIns="0" bIns="0" rtlCol="0" anchor="ctr"/>
          <a:lstStyle/>
          <a:p>
            <a:pPr algn="r" indent="0" marL="0">
              <a:lnSpc>
                <a:spcPts val="900"/>
              </a:lnSpc>
              <a:buNone/>
            </a:pPr>
            <a:r>
              <a:rPr lang="en-US" sz="760" dirty="0">
                <a:solidFill>
                  <a:srgbClr val="E6ECF2"/>
                </a:solidFill>
                <a:latin typeface="Calibri" pitchFamily="34" charset="0"/>
                <a:ea typeface="Calibri" pitchFamily="34" charset="-122"/>
                <a:cs typeface="Calibri" pitchFamily="34" charset="-120"/>
              </a:rPr>
              <a:t>Run the model by hand for a quarter, then build what the evidence says to build</a:t>
            </a:r>
            <a:endParaRPr lang="en-US" sz="760" dirty="0"/>
          </a:p>
        </p:txBody>
      </p:sp>
      <p:sp>
        <p:nvSpPr>
          <p:cNvPr id="33" name="Text 31"/>
          <p:cNvSpPr txBox="1"/>
          <p:nvPr/>
        </p:nvSpPr>
        <p:spPr>
          <a:xfrm>
            <a:off x="6400800" y="4297680"/>
            <a:ext cx="5175504" cy="274320"/>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Two weeks of preparation, no build at all</a:t>
            </a:r>
            <a:endParaRPr lang="en-US" sz="820" dirty="0"/>
          </a:p>
        </p:txBody>
      </p:sp>
      <p:sp>
        <p:nvSpPr>
          <p:cNvPr id="34" name="Text 32"/>
          <p:cNvSpPr txBox="1"/>
          <p:nvPr/>
        </p:nvSpPr>
        <p:spPr>
          <a:xfrm>
            <a:off x="6400800" y="4590288"/>
            <a:ext cx="5175504" cy="274320"/>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Business case rests on measured results</a:t>
            </a:r>
            <a:endParaRPr lang="en-US" sz="820" dirty="0"/>
          </a:p>
        </p:txBody>
      </p:sp>
      <p:sp>
        <p:nvSpPr>
          <p:cNvPr id="35" name="Text 33"/>
          <p:cNvSpPr txBox="1"/>
          <p:nvPr/>
        </p:nvSpPr>
        <p:spPr>
          <a:xfrm>
            <a:off x="6400800" y="4882896"/>
            <a:ext cx="5175504" cy="274320"/>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The baseline is produced by running</a:t>
            </a:r>
            <a:endParaRPr lang="en-US" sz="820" dirty="0"/>
          </a:p>
        </p:txBody>
      </p:sp>
      <p:sp>
        <p:nvSpPr>
          <p:cNvPr id="36" name="Text 34"/>
          <p:cNvSpPr txBox="1"/>
          <p:nvPr/>
        </p:nvSpPr>
        <p:spPr>
          <a:xfrm>
            <a:off x="6400800" y="5175504"/>
            <a:ext cx="5175504" cy="274320"/>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If the model is wrong, nothing is stranded</a:t>
            </a:r>
            <a:endParaRPr lang="en-US" sz="820" dirty="0"/>
          </a:p>
        </p:txBody>
      </p:sp>
      <p:sp>
        <p:nvSpPr>
          <p:cNvPr id="37" name="Shape 35"/>
          <p:cNvSpPr/>
          <p:nvPr/>
        </p:nvSpPr>
        <p:spPr>
          <a:xfrm>
            <a:off x="411480" y="5687568"/>
            <a:ext cx="11338560" cy="438912"/>
          </a:xfrm>
          <a:prstGeom prst="roundRect">
            <a:avLst>
              <a:gd name="adj" fmla="val 10417"/>
            </a:avLst>
          </a:prstGeom>
          <a:solidFill>
            <a:srgbClr val="FBF0EB"/>
          </a:solidFill>
          <a:ln w="12700">
            <a:solidFill>
              <a:srgbClr val="A44A2A"/>
            </a:solidFill>
            <a:prstDash val="solid"/>
          </a:ln>
        </p:spPr>
      </p:sp>
      <p:sp>
        <p:nvSpPr>
          <p:cNvPr id="38" name="Text 36"/>
          <p:cNvSpPr txBox="1"/>
          <p:nvPr/>
        </p:nvSpPr>
        <p:spPr>
          <a:xfrm>
            <a:off x="557784" y="568756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recommendation is to prove first. Everything in the business case for a platform — the tier distribution, the effort baseline, the elapsed-time baseline, the size of the clerical load — does not currently exist. Running the model by hand for one quarter produces all of it as a by-product.</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What the manual approach actually is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A person and a written guide substituted for every platform mechanism — nothing is built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Phase 1</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FOUR CHANGES. THAT IS THE WHOLE OF PHASE 1.</a:t>
            </a:r>
            <a:endParaRPr lang="en-US" sz="760" dirty="0"/>
          </a:p>
        </p:txBody>
      </p:sp>
      <p:sp>
        <p:nvSpPr>
          <p:cNvPr id="9" name="Shape 7"/>
          <p:cNvSpPr/>
          <p:nvPr/>
        </p:nvSpPr>
        <p:spPr>
          <a:xfrm>
            <a:off x="411480" y="1243584"/>
            <a:ext cx="7498080" cy="841248"/>
          </a:xfrm>
          <a:prstGeom prst="roundRect">
            <a:avLst>
              <a:gd name="adj" fmla="val 5435"/>
            </a:avLst>
          </a:prstGeom>
          <a:solidFill>
            <a:srgbClr val="FFFFFF"/>
          </a:solidFill>
          <a:ln w="13970">
            <a:solidFill>
              <a:srgbClr val="A44A2A"/>
            </a:solidFill>
            <a:prstDash val="solid"/>
          </a:ln>
        </p:spPr>
      </p:sp>
      <p:sp>
        <p:nvSpPr>
          <p:cNvPr id="10" name="Shape 8"/>
          <p:cNvSpPr/>
          <p:nvPr/>
        </p:nvSpPr>
        <p:spPr>
          <a:xfrm>
            <a:off x="557784" y="1371600"/>
            <a:ext cx="292608" cy="292608"/>
          </a:xfrm>
          <a:prstGeom prst="ellipse">
            <a:avLst/>
          </a:prstGeom>
          <a:solidFill>
            <a:srgbClr val="A44A2A"/>
          </a:solidFill>
          <a:ln w="12700">
            <a:solidFill>
              <a:srgbClr val="333333"/>
            </a:solidFill>
            <a:prstDash val="solid"/>
          </a:ln>
        </p:spPr>
      </p:sp>
      <p:sp>
        <p:nvSpPr>
          <p:cNvPr id="11" name="Text 9"/>
          <p:cNvSpPr txBox="1"/>
          <p:nvPr/>
        </p:nvSpPr>
        <p:spPr>
          <a:xfrm>
            <a:off x="557784" y="13716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txBox="1"/>
          <p:nvPr/>
        </p:nvSpPr>
        <p:spPr>
          <a:xfrm>
            <a:off x="941832" y="1344168"/>
            <a:ext cx="2743200" cy="237744"/>
          </a:xfrm>
          <a:prstGeom prst="rect">
            <a:avLst/>
          </a:prstGeom>
          <a:noFill/>
          <a:ln/>
        </p:spPr>
        <p:txBody>
          <a:bodyPr wrap="square" lIns="0" tIns="0" rIns="0" bIns="0" rtlCol="0" anchor="ctr"/>
          <a:lstStyle/>
          <a:p>
            <a:pPr indent="0" marL="0">
              <a:buNone/>
            </a:pPr>
            <a:r>
              <a:rPr lang="en-US" sz="1050" b="1" dirty="0">
                <a:solidFill>
                  <a:srgbClr val="1B2432"/>
                </a:solidFill>
                <a:latin typeface="Calibri" pitchFamily="34" charset="0"/>
                <a:ea typeface="Calibri" pitchFamily="34" charset="-122"/>
                <a:cs typeface="Calibri" pitchFamily="34" charset="-120"/>
              </a:rPr>
              <a:t>A deeper triage conversation</a:t>
            </a:r>
            <a:endParaRPr lang="en-US" sz="1050" dirty="0"/>
          </a:p>
        </p:txBody>
      </p:sp>
      <p:sp>
        <p:nvSpPr>
          <p:cNvPr id="13" name="Text 11"/>
          <p:cNvSpPr txBox="1"/>
          <p:nvPr/>
        </p:nvSpPr>
        <p:spPr>
          <a:xfrm>
            <a:off x="941832" y="1581912"/>
            <a:ext cx="6803136" cy="365760"/>
          </a:xfrm>
          <a:prstGeom prst="rect">
            <a:avLst/>
          </a:prstGeom>
          <a:noFill/>
          <a:ln/>
        </p:spPr>
        <p:txBody>
          <a:bodyPr wrap="square" lIns="0" tIns="0" rIns="0" bIns="0" rtlCol="0" anchor="ctr"/>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Triage becomes the session where the full requirement is established, not just classified. Ninety minutes with the partner, worked from a written question guide, with the reason explained at the point of asking.</a:t>
            </a:r>
            <a:endParaRPr lang="en-US" sz="780" dirty="0"/>
          </a:p>
        </p:txBody>
      </p:sp>
      <p:sp>
        <p:nvSpPr>
          <p:cNvPr id="14" name="Text 12"/>
          <p:cNvSpPr txBox="1"/>
          <p:nvPr/>
        </p:nvSpPr>
        <p:spPr>
          <a:xfrm>
            <a:off x="941832" y="1920240"/>
            <a:ext cx="6803136" cy="164592"/>
          </a:xfrm>
          <a:prstGeom prst="rect">
            <a:avLst/>
          </a:prstGeom>
          <a:noFill/>
          <a:ln/>
        </p:spPr>
        <p:txBody>
          <a:bodyPr wrap="square" lIns="0" tIns="0" rIns="0" bIns="0" rtlCol="0" anchor="ctr"/>
          <a:lstStyle/>
          <a:p>
            <a:pPr indent="0" marL="0">
              <a:buNone/>
            </a:pPr>
            <a:r>
              <a:rPr lang="en-US" sz="720" b="1" dirty="0">
                <a:solidFill>
                  <a:srgbClr val="A44A2A"/>
                </a:solidFill>
                <a:latin typeface="Calibri" pitchFamily="34" charset="0"/>
                <a:ea typeface="Calibri" pitchFamily="34" charset="-122"/>
                <a:cs typeface="Calibri" pitchFamily="34" charset="-120"/>
              </a:rPr>
              <a:t>Pre-read issued · 90-min Discovery Triage · 30-min Tiering Review · Outcome Record issued</a:t>
            </a:r>
            <a:endParaRPr lang="en-US" sz="720" dirty="0"/>
          </a:p>
        </p:txBody>
      </p:sp>
      <p:sp>
        <p:nvSpPr>
          <p:cNvPr id="15" name="Shape 13"/>
          <p:cNvSpPr/>
          <p:nvPr/>
        </p:nvSpPr>
        <p:spPr>
          <a:xfrm>
            <a:off x="411480" y="2176272"/>
            <a:ext cx="7498080" cy="841248"/>
          </a:xfrm>
          <a:prstGeom prst="roundRect">
            <a:avLst>
              <a:gd name="adj" fmla="val 5435"/>
            </a:avLst>
          </a:prstGeom>
          <a:solidFill>
            <a:srgbClr val="FFFFFF"/>
          </a:solidFill>
          <a:ln w="13970">
            <a:solidFill>
              <a:srgbClr val="9A6410"/>
            </a:solidFill>
            <a:prstDash val="solid"/>
          </a:ln>
        </p:spPr>
      </p:sp>
      <p:sp>
        <p:nvSpPr>
          <p:cNvPr id="16" name="Shape 14"/>
          <p:cNvSpPr/>
          <p:nvPr/>
        </p:nvSpPr>
        <p:spPr>
          <a:xfrm>
            <a:off x="557784" y="2304288"/>
            <a:ext cx="292608" cy="292608"/>
          </a:xfrm>
          <a:prstGeom prst="ellipse">
            <a:avLst/>
          </a:prstGeom>
          <a:solidFill>
            <a:srgbClr val="9A6410"/>
          </a:solidFill>
          <a:ln w="12700">
            <a:solidFill>
              <a:srgbClr val="333333"/>
            </a:solidFill>
            <a:prstDash val="solid"/>
          </a:ln>
        </p:spPr>
      </p:sp>
      <p:sp>
        <p:nvSpPr>
          <p:cNvPr id="17" name="Text 15"/>
          <p:cNvSpPr txBox="1"/>
          <p:nvPr/>
        </p:nvSpPr>
        <p:spPr>
          <a:xfrm>
            <a:off x="557784" y="23042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txBox="1"/>
          <p:nvPr/>
        </p:nvSpPr>
        <p:spPr>
          <a:xfrm>
            <a:off x="941832" y="2276856"/>
            <a:ext cx="2743200" cy="237744"/>
          </a:xfrm>
          <a:prstGeom prst="rect">
            <a:avLst/>
          </a:prstGeom>
          <a:noFill/>
          <a:ln/>
        </p:spPr>
        <p:txBody>
          <a:bodyPr wrap="square" lIns="0" tIns="0" rIns="0" bIns="0" rtlCol="0" anchor="ctr"/>
          <a:lstStyle/>
          <a:p>
            <a:pPr indent="0" marL="0">
              <a:buNone/>
            </a:pPr>
            <a:r>
              <a:rPr lang="en-US" sz="1050" b="1" dirty="0">
                <a:solidFill>
                  <a:srgbClr val="1B2432"/>
                </a:solidFill>
                <a:latin typeface="Calibri" pitchFamily="34" charset="0"/>
                <a:ea typeface="Calibri" pitchFamily="34" charset="-122"/>
                <a:cs typeface="Calibri" pitchFamily="34" charset="-120"/>
              </a:rPr>
              <a:t>Triage leads assign the tier</a:t>
            </a:r>
            <a:endParaRPr lang="en-US" sz="1050" dirty="0"/>
          </a:p>
        </p:txBody>
      </p:sp>
      <p:sp>
        <p:nvSpPr>
          <p:cNvPr id="19" name="Text 17"/>
          <p:cNvSpPr txBox="1"/>
          <p:nvPr/>
        </p:nvSpPr>
        <p:spPr>
          <a:xfrm>
            <a:off x="941832" y="2514600"/>
            <a:ext cx="6803136" cy="365760"/>
          </a:xfrm>
          <a:prstGeom prst="rect">
            <a:avLst/>
          </a:prstGeom>
          <a:noFill/>
          <a:ln/>
        </p:spPr>
        <p:txBody>
          <a:bodyPr wrap="square" lIns="0" tIns="0" rIns="0" bIns="0" rtlCol="0" anchor="ctr"/>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The lead scores seven determinants on a sheet, applies the overrides, assigns the tier outright, selects which guardrails apply, and records the justification.</a:t>
            </a:r>
            <a:endParaRPr lang="en-US" sz="780" dirty="0"/>
          </a:p>
        </p:txBody>
      </p:sp>
      <p:sp>
        <p:nvSpPr>
          <p:cNvPr id="20" name="Text 18"/>
          <p:cNvSpPr txBox="1"/>
          <p:nvPr/>
        </p:nvSpPr>
        <p:spPr>
          <a:xfrm>
            <a:off x="941832" y="2852928"/>
            <a:ext cx="6803136" cy="164592"/>
          </a:xfrm>
          <a:prstGeom prst="rect">
            <a:avLst/>
          </a:prstGeom>
          <a:noFill/>
          <a:ln/>
        </p:spPr>
        <p:txBody>
          <a:bodyPr wrap="square" lIns="0" tIns="0" rIns="0" bIns="0" rtlCol="0" anchor="ctr"/>
          <a:lstStyle/>
          <a:p>
            <a:pPr indent="0" marL="0">
              <a:buNone/>
            </a:pPr>
            <a:r>
              <a:rPr lang="en-US" sz="720" b="1" dirty="0">
                <a:solidFill>
                  <a:srgbClr val="9A6410"/>
                </a:solidFill>
                <a:latin typeface="Calibri" pitchFamily="34" charset="0"/>
                <a:ea typeface="Calibri" pitchFamily="34" charset="-122"/>
                <a:cs typeface="Calibri" pitchFamily="34" charset="-120"/>
              </a:rPr>
              <a:t>Calibrated before start · fortnightly review · one appeal per intake, five days</a:t>
            </a:r>
            <a:endParaRPr lang="en-US" sz="720" dirty="0"/>
          </a:p>
        </p:txBody>
      </p:sp>
      <p:sp>
        <p:nvSpPr>
          <p:cNvPr id="21" name="Shape 19"/>
          <p:cNvSpPr/>
          <p:nvPr/>
        </p:nvSpPr>
        <p:spPr>
          <a:xfrm>
            <a:off x="411480" y="3108960"/>
            <a:ext cx="7498080" cy="841248"/>
          </a:xfrm>
          <a:prstGeom prst="roundRect">
            <a:avLst>
              <a:gd name="adj" fmla="val 5435"/>
            </a:avLst>
          </a:prstGeom>
          <a:solidFill>
            <a:srgbClr val="FFFFFF"/>
          </a:solidFill>
          <a:ln w="13970">
            <a:solidFill>
              <a:srgbClr val="0B6E6E"/>
            </a:solidFill>
            <a:prstDash val="solid"/>
          </a:ln>
        </p:spPr>
      </p:sp>
      <p:sp>
        <p:nvSpPr>
          <p:cNvPr id="22" name="Shape 20"/>
          <p:cNvSpPr/>
          <p:nvPr/>
        </p:nvSpPr>
        <p:spPr>
          <a:xfrm>
            <a:off x="557784" y="3236976"/>
            <a:ext cx="292608" cy="292608"/>
          </a:xfrm>
          <a:prstGeom prst="ellipse">
            <a:avLst/>
          </a:prstGeom>
          <a:solidFill>
            <a:srgbClr val="0B6E6E"/>
          </a:solidFill>
          <a:ln w="12700">
            <a:solidFill>
              <a:srgbClr val="333333"/>
            </a:solidFill>
            <a:prstDash val="solid"/>
          </a:ln>
        </p:spPr>
      </p:sp>
      <p:sp>
        <p:nvSpPr>
          <p:cNvPr id="23" name="Text 21"/>
          <p:cNvSpPr txBox="1"/>
          <p:nvPr/>
        </p:nvSpPr>
        <p:spPr>
          <a:xfrm>
            <a:off x="557784" y="32369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txBox="1"/>
          <p:nvPr/>
        </p:nvSpPr>
        <p:spPr>
          <a:xfrm>
            <a:off x="941832" y="3209544"/>
            <a:ext cx="2743200" cy="237744"/>
          </a:xfrm>
          <a:prstGeom prst="rect">
            <a:avLst/>
          </a:prstGeom>
          <a:noFill/>
          <a:ln/>
        </p:spPr>
        <p:txBody>
          <a:bodyPr wrap="square" lIns="0" tIns="0" rIns="0" bIns="0" rtlCol="0" anchor="ctr"/>
          <a:lstStyle/>
          <a:p>
            <a:pPr indent="0" marL="0">
              <a:buNone/>
            </a:pPr>
            <a:r>
              <a:rPr lang="en-US" sz="1050" b="1" dirty="0">
                <a:solidFill>
                  <a:srgbClr val="1B2432"/>
                </a:solidFill>
                <a:latin typeface="Calibri" pitchFamily="34" charset="0"/>
                <a:ea typeface="Calibri" pitchFamily="34" charset="-122"/>
                <a:cs typeface="Calibri" pitchFamily="34" charset="-120"/>
              </a:rPr>
              <a:t>A shared pool from existing squads</a:t>
            </a:r>
            <a:endParaRPr lang="en-US" sz="1050" dirty="0"/>
          </a:p>
        </p:txBody>
      </p:sp>
      <p:sp>
        <p:nvSpPr>
          <p:cNvPr id="25" name="Text 23"/>
          <p:cNvSpPr txBox="1"/>
          <p:nvPr/>
        </p:nvSpPr>
        <p:spPr>
          <a:xfrm>
            <a:off x="941832" y="3447288"/>
            <a:ext cx="6803136" cy="365760"/>
          </a:xfrm>
          <a:prstGeom prst="rect">
            <a:avLst/>
          </a:prstGeom>
          <a:noFill/>
          <a:ln/>
        </p:spPr>
        <p:txBody>
          <a:bodyPr wrap="square" lIns="0" tIns="0" rIns="0" bIns="0" rtlCol="0" anchor="ctr"/>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Four to six people — a permanent core of two plus rotating secondments — serving Lean and Lean+ with scheduled checkpoints and published office hours.</a:t>
            </a:r>
            <a:endParaRPr lang="en-US" sz="780" dirty="0"/>
          </a:p>
        </p:txBody>
      </p:sp>
      <p:sp>
        <p:nvSpPr>
          <p:cNvPr id="26" name="Text 24"/>
          <p:cNvSpPr txBox="1"/>
          <p:nvPr/>
        </p:nvSpPr>
        <p:spPr>
          <a:xfrm>
            <a:off x="941832" y="3785616"/>
            <a:ext cx="6803136" cy="164592"/>
          </a:xfrm>
          <a:prstGeom prst="rect">
            <a:avLst/>
          </a:prstGeom>
          <a:noFill/>
          <a:ln/>
        </p:spPr>
        <p:txBody>
          <a:bodyPr wrap="square" lIns="0" tIns="0" rIns="0" bIns="0" rtlCol="0" anchor="ctr"/>
          <a:lstStyle/>
          <a:p>
            <a:pPr indent="0" marL="0">
              <a:buNone/>
            </a:pPr>
            <a:r>
              <a:rPr lang="en-US" sz="720" b="1" dirty="0">
                <a:solidFill>
                  <a:srgbClr val="0B6E6E"/>
                </a:solidFill>
                <a:latin typeface="Calibri" pitchFamily="34" charset="0"/>
                <a:ea typeface="Calibri" pitchFamily="34" charset="-122"/>
                <a:cs typeface="Calibri" pitchFamily="34" charset="-120"/>
              </a:rPr>
              <a:t>No new headcount · 6–8 week rotations · must be protected from reclaim</a:t>
            </a:r>
            <a:endParaRPr lang="en-US" sz="720" dirty="0"/>
          </a:p>
        </p:txBody>
      </p:sp>
      <p:sp>
        <p:nvSpPr>
          <p:cNvPr id="27" name="Shape 25"/>
          <p:cNvSpPr/>
          <p:nvPr/>
        </p:nvSpPr>
        <p:spPr>
          <a:xfrm>
            <a:off x="411480" y="4041648"/>
            <a:ext cx="7498080" cy="841248"/>
          </a:xfrm>
          <a:prstGeom prst="roundRect">
            <a:avLst>
              <a:gd name="adj" fmla="val 5435"/>
            </a:avLst>
          </a:prstGeom>
          <a:solidFill>
            <a:srgbClr val="FFFFFF"/>
          </a:solidFill>
          <a:ln w="13970">
            <a:solidFill>
              <a:srgbClr val="15304F"/>
            </a:solidFill>
            <a:prstDash val="solid"/>
          </a:ln>
        </p:spPr>
      </p:sp>
      <p:sp>
        <p:nvSpPr>
          <p:cNvPr id="28" name="Shape 26"/>
          <p:cNvSpPr/>
          <p:nvPr/>
        </p:nvSpPr>
        <p:spPr>
          <a:xfrm>
            <a:off x="557784" y="4169664"/>
            <a:ext cx="292608" cy="292608"/>
          </a:xfrm>
          <a:prstGeom prst="ellipse">
            <a:avLst/>
          </a:prstGeom>
          <a:solidFill>
            <a:srgbClr val="15304F"/>
          </a:solidFill>
          <a:ln w="12700">
            <a:solidFill>
              <a:srgbClr val="333333"/>
            </a:solidFill>
            <a:prstDash val="solid"/>
          </a:ln>
        </p:spPr>
      </p:sp>
      <p:sp>
        <p:nvSpPr>
          <p:cNvPr id="29" name="Text 27"/>
          <p:cNvSpPr txBox="1"/>
          <p:nvPr/>
        </p:nvSpPr>
        <p:spPr>
          <a:xfrm>
            <a:off x="557784" y="41696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txBox="1"/>
          <p:nvPr/>
        </p:nvSpPr>
        <p:spPr>
          <a:xfrm>
            <a:off x="941832" y="4142232"/>
            <a:ext cx="2743200" cy="237744"/>
          </a:xfrm>
          <a:prstGeom prst="rect">
            <a:avLst/>
          </a:prstGeom>
          <a:noFill/>
          <a:ln/>
        </p:spPr>
        <p:txBody>
          <a:bodyPr wrap="square" lIns="0" tIns="0" rIns="0" bIns="0" rtlCol="0" anchor="ctr"/>
          <a:lstStyle/>
          <a:p>
            <a:pPr indent="0" marL="0">
              <a:buNone/>
            </a:pPr>
            <a:r>
              <a:rPr lang="en-US" sz="1050" b="1" dirty="0">
                <a:solidFill>
                  <a:srgbClr val="1B2432"/>
                </a:solidFill>
                <a:latin typeface="Calibri" pitchFamily="34" charset="0"/>
                <a:ea typeface="Calibri" pitchFamily="34" charset="-122"/>
                <a:cs typeface="Calibri" pitchFamily="34" charset="-120"/>
              </a:rPr>
              <a:t>One tracker, maintained by hand</a:t>
            </a:r>
            <a:endParaRPr lang="en-US" sz="1050" dirty="0"/>
          </a:p>
        </p:txBody>
      </p:sp>
      <p:sp>
        <p:nvSpPr>
          <p:cNvPr id="31" name="Text 29"/>
          <p:cNvSpPr txBox="1"/>
          <p:nvPr/>
        </p:nvSpPr>
        <p:spPr>
          <a:xfrm>
            <a:off x="941832" y="4379976"/>
            <a:ext cx="6803136" cy="365760"/>
          </a:xfrm>
          <a:prstGeom prst="rect">
            <a:avLst/>
          </a:prstGeom>
          <a:noFill/>
          <a:ln/>
        </p:spPr>
        <p:txBody>
          <a:bodyPr wrap="square" lIns="0" tIns="0" rIns="0" bIns="0" rtlCol="0" anchor="ctr"/>
          <a:lstStyle/>
          <a:p>
            <a:pPr indent="0" marL="0">
              <a:lnSpc>
                <a:spcPts val="940"/>
              </a:lnSpc>
              <a:buNone/>
            </a:pPr>
            <a:r>
              <a:rPr lang="en-US" sz="780" dirty="0">
                <a:solidFill>
                  <a:srgbClr val="55606E"/>
                </a:solidFill>
                <a:latin typeface="Calibri" pitchFamily="34" charset="0"/>
                <a:ea typeface="Calibri" pitchFamily="34" charset="-122"/>
                <a:cs typeface="Calibri" pitchFamily="34" charset="-120"/>
              </a:rPr>
              <a:t>A spreadsheet or an existing board. Tier scores, open gaps with owners and dates, gate status, clarification cycles counted, stage dates.</a:t>
            </a:r>
            <a:endParaRPr lang="en-US" sz="780" dirty="0"/>
          </a:p>
        </p:txBody>
      </p:sp>
      <p:sp>
        <p:nvSpPr>
          <p:cNvPr id="32" name="Text 30"/>
          <p:cNvSpPr txBox="1"/>
          <p:nvPr/>
        </p:nvSpPr>
        <p:spPr>
          <a:xfrm>
            <a:off x="941832" y="4718304"/>
            <a:ext cx="6803136" cy="164592"/>
          </a:xfrm>
          <a:prstGeom prst="rect">
            <a:avLst/>
          </a:prstGeom>
          <a:noFill/>
          <a:ln/>
        </p:spPr>
        <p:txBody>
          <a:bodyPr wrap="square" lIns="0" tIns="0" rIns="0" bIns="0" rtlCol="0" anchor="ctr"/>
          <a:lstStyle/>
          <a:p>
            <a:pPr indent="0" marL="0">
              <a:buNone/>
            </a:pPr>
            <a:r>
              <a:rPr lang="en-US" sz="720" b="1" dirty="0">
                <a:solidFill>
                  <a:srgbClr val="15304F"/>
                </a:solidFill>
                <a:latin typeface="Calibri" pitchFamily="34" charset="0"/>
                <a:ea typeface="Calibri" pitchFamily="34" charset="-122"/>
                <a:cs typeface="Calibri" pitchFamily="34" charset="-120"/>
              </a:rPr>
              <a:t>This is the measurement instrument — and the primary output of Phase 1</a:t>
            </a:r>
            <a:endParaRPr lang="en-US" sz="720" dirty="0"/>
          </a:p>
        </p:txBody>
      </p:sp>
      <p:sp>
        <p:nvSpPr>
          <p:cNvPr id="33" name="Shape 31"/>
          <p:cNvSpPr/>
          <p:nvPr/>
        </p:nvSpPr>
        <p:spPr>
          <a:xfrm>
            <a:off x="8202168" y="1243584"/>
            <a:ext cx="3547872" cy="1956816"/>
          </a:xfrm>
          <a:prstGeom prst="roundRect">
            <a:avLst>
              <a:gd name="adj" fmla="val 2336"/>
            </a:avLst>
          </a:prstGeom>
          <a:solidFill>
            <a:srgbClr val="FFFFFF"/>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34" name="Text 32"/>
          <p:cNvSpPr txBox="1"/>
          <p:nvPr/>
        </p:nvSpPr>
        <p:spPr>
          <a:xfrm>
            <a:off x="8348472" y="1371600"/>
            <a:ext cx="3255264" cy="164592"/>
          </a:xfrm>
          <a:prstGeom prst="rect">
            <a:avLst/>
          </a:prstGeom>
          <a:noFill/>
          <a:ln/>
        </p:spPr>
        <p:txBody>
          <a:bodyPr wrap="square" lIns="0" tIns="0" rIns="0" bIns="0" rtlCol="0" anchor="ctr"/>
          <a:lstStyle/>
          <a:p>
            <a:pPr indent="0" marL="0">
              <a:buNone/>
            </a:pPr>
            <a:r>
              <a:rPr lang="en-US" sz="720" b="1" spc="100" kern="0" dirty="0">
                <a:solidFill>
                  <a:srgbClr val="A44A2A"/>
                </a:solidFill>
                <a:latin typeface="Calibri" pitchFamily="34" charset="0"/>
                <a:ea typeface="Calibri" pitchFamily="34" charset="-122"/>
                <a:cs typeface="Calibri" pitchFamily="34" charset="-120"/>
              </a:rPr>
              <a:t>NO BUILD — GUIDANCE ONLY</a:t>
            </a:r>
            <a:endParaRPr lang="en-US" sz="720" dirty="0"/>
          </a:p>
        </p:txBody>
      </p:sp>
      <p:sp>
        <p:nvSpPr>
          <p:cNvPr id="35" name="Text 33"/>
          <p:cNvSpPr txBox="1"/>
          <p:nvPr/>
        </p:nvSpPr>
        <p:spPr>
          <a:xfrm>
            <a:off x="8348472" y="1554480"/>
            <a:ext cx="3255264" cy="310896"/>
          </a:xfrm>
          <a:prstGeom prst="rect">
            <a:avLst/>
          </a:prstGeom>
          <a:noFill/>
          <a:ln/>
        </p:spPr>
        <p:txBody>
          <a:bodyPr wrap="square" lIns="0" tIns="0" rIns="0" bIns="0" rtlCol="0" anchor="t"/>
          <a:lstStyle/>
          <a:p>
            <a:pPr indent="0" marL="0">
              <a:lnSpc>
                <a:spcPts val="1400"/>
              </a:lnSpc>
              <a:buNone/>
            </a:pPr>
            <a:r>
              <a:rPr lang="en-US" sz="1150" b="1" dirty="0">
                <a:solidFill>
                  <a:srgbClr val="1B2432"/>
                </a:solidFill>
                <a:latin typeface="Calibri" pitchFamily="34" charset="0"/>
                <a:ea typeface="Calibri" pitchFamily="34" charset="-122"/>
                <a:cs typeface="Calibri" pitchFamily="34" charset="-120"/>
              </a:rPr>
              <a:t>The only thing that gets written</a:t>
            </a:r>
            <a:endParaRPr lang="en-US" sz="1150" dirty="0"/>
          </a:p>
        </p:txBody>
      </p:sp>
      <p:sp>
        <p:nvSpPr>
          <p:cNvPr id="36" name="Text 34"/>
          <p:cNvSpPr txBox="1"/>
          <p:nvPr/>
        </p:nvSpPr>
        <p:spPr>
          <a:xfrm>
            <a:off x="8348472" y="2029968"/>
            <a:ext cx="3255264" cy="1024128"/>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A Triage Guide. The tier model, the seven determinants and their scoring, the thresholds and overrides, the full question set with the reason for each item, the completeness bands, the guardrails by tier, the escalation triggers, and four templates.</a:t>
            </a:r>
            <a:endParaRPr lang="en-US" sz="820" dirty="0"/>
          </a:p>
          <a:p>
            <a:pPr indent="0" marL="0">
              <a:lnSpc>
                <a:spcPts val="1080"/>
              </a:lnSpc>
              <a:spcAft>
                <a:spcPts val="250"/>
              </a:spcAft>
              <a:buNone/>
            </a:pP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Roughly one week of two experienced engineers plus a governance analyst, drawing on what they already know.</a:t>
            </a:r>
            <a:endParaRPr lang="en-US" sz="820" dirty="0"/>
          </a:p>
        </p:txBody>
      </p:sp>
      <p:sp>
        <p:nvSpPr>
          <p:cNvPr id="37" name="Shape 35"/>
          <p:cNvSpPr/>
          <p:nvPr/>
        </p:nvSpPr>
        <p:spPr>
          <a:xfrm>
            <a:off x="8202168" y="3310128"/>
            <a:ext cx="3547872" cy="1627632"/>
          </a:xfrm>
          <a:prstGeom prst="roundRect">
            <a:avLst>
              <a:gd name="adj" fmla="val 2809"/>
            </a:avLst>
          </a:prstGeom>
          <a:solidFill>
            <a:srgbClr val="FFFFFF"/>
          </a:solidFill>
          <a:ln w="15875">
            <a:solidFill>
              <a:srgbClr val="0B6E6E"/>
            </a:solidFill>
            <a:prstDash val="solid"/>
          </a:ln>
          <a:effectLst>
            <a:outerShdw sx="100000" sy="100000" kx="0" ky="0" algn="bl" rotWithShape="0" blurRad="88900" dist="12700" dir="5400000">
              <a:srgbClr val="97A3B4">
                <a:alpha val="16000"/>
              </a:srgbClr>
            </a:outerShdw>
          </a:effectLst>
        </p:spPr>
      </p:sp>
      <p:sp>
        <p:nvSpPr>
          <p:cNvPr id="38" name="Text 36"/>
          <p:cNvSpPr txBox="1"/>
          <p:nvPr/>
        </p:nvSpPr>
        <p:spPr>
          <a:xfrm>
            <a:off x="8348472" y="3438144"/>
            <a:ext cx="3255264" cy="164592"/>
          </a:xfrm>
          <a:prstGeom prst="rect">
            <a:avLst/>
          </a:prstGeom>
          <a:noFill/>
          <a:ln/>
        </p:spPr>
        <p:txBody>
          <a:bodyPr wrap="square" lIns="0" tIns="0" rIns="0" bIns="0" rtlCol="0" anchor="ctr"/>
          <a:lstStyle/>
          <a:p>
            <a:pPr indent="0" marL="0">
              <a:buNone/>
            </a:pPr>
            <a:r>
              <a:rPr lang="en-US" sz="720" b="1" spc="100" kern="0" dirty="0">
                <a:solidFill>
                  <a:srgbClr val="0B6E6E"/>
                </a:solidFill>
                <a:latin typeface="Calibri" pitchFamily="34" charset="0"/>
                <a:ea typeface="Calibri" pitchFamily="34" charset="-122"/>
                <a:cs typeface="Calibri" pitchFamily="34" charset="-120"/>
              </a:rPr>
              <a:t>PHASE 1 FEEDS PHASE 2</a:t>
            </a:r>
            <a:endParaRPr lang="en-US" sz="720" dirty="0"/>
          </a:p>
        </p:txBody>
      </p:sp>
      <p:sp>
        <p:nvSpPr>
          <p:cNvPr id="39" name="Text 37"/>
          <p:cNvSpPr txBox="1"/>
          <p:nvPr/>
        </p:nvSpPr>
        <p:spPr>
          <a:xfrm>
            <a:off x="8348472" y="3621024"/>
            <a:ext cx="3255264" cy="310896"/>
          </a:xfrm>
          <a:prstGeom prst="rect">
            <a:avLst/>
          </a:prstGeom>
          <a:noFill/>
          <a:ln/>
        </p:spPr>
        <p:txBody>
          <a:bodyPr wrap="square" lIns="0" tIns="0" rIns="0" bIns="0" rtlCol="0" anchor="t"/>
          <a:lstStyle/>
          <a:p>
            <a:pPr indent="0" marL="0">
              <a:lnSpc>
                <a:spcPts val="1400"/>
              </a:lnSpc>
              <a:buNone/>
            </a:pPr>
            <a:r>
              <a:rPr lang="en-US" sz="1150" b="1" dirty="0">
                <a:solidFill>
                  <a:srgbClr val="1B2432"/>
                </a:solidFill>
                <a:latin typeface="Calibri" pitchFamily="34" charset="0"/>
                <a:ea typeface="Calibri" pitchFamily="34" charset="-122"/>
                <a:cs typeface="Calibri" pitchFamily="34" charset="-120"/>
              </a:rPr>
              <a:t>And it is reused, not discarded</a:t>
            </a:r>
            <a:endParaRPr lang="en-US" sz="1150" dirty="0"/>
          </a:p>
        </p:txBody>
      </p:sp>
      <p:sp>
        <p:nvSpPr>
          <p:cNvPr id="40" name="Text 38"/>
          <p:cNvSpPr txBox="1"/>
          <p:nvPr/>
        </p:nvSpPr>
        <p:spPr>
          <a:xfrm>
            <a:off x="8348472" y="4096512"/>
            <a:ext cx="3255264" cy="694944"/>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 question set becomes the intake data catalogue. The scoring sheet and its deviations become the tiering rules and their calibration data. The Outcome Record becomes the handoff contract. The pattern log becomes the pattern catalogue.</a:t>
            </a:r>
            <a:endParaRPr lang="en-US" sz="820" dirty="0"/>
          </a:p>
          <a:p>
            <a:pPr indent="0" marL="0">
              <a:lnSpc>
                <a:spcPts val="1080"/>
              </a:lnSpc>
              <a:spcAft>
                <a:spcPts val="250"/>
              </a:spcAft>
              <a:buNone/>
            </a:pP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Nothing written in Phase 1 is thrown away in Phase 2.</a:t>
            </a:r>
            <a:endParaRPr lang="en-US" sz="820" dirty="0"/>
          </a:p>
        </p:txBody>
      </p:sp>
      <p:sp>
        <p:nvSpPr>
          <p:cNvPr id="41" name="Shape 39"/>
          <p:cNvSpPr/>
          <p:nvPr/>
        </p:nvSpPr>
        <p:spPr>
          <a:xfrm>
            <a:off x="411480" y="5084064"/>
            <a:ext cx="11338560" cy="640080"/>
          </a:xfrm>
          <a:prstGeom prst="roundRect">
            <a:avLst>
              <a:gd name="adj" fmla="val 7143"/>
            </a:avLst>
          </a:prstGeom>
          <a:solidFill>
            <a:srgbClr val="E9EEF4"/>
          </a:solidFill>
          <a:ln w="12700">
            <a:solidFill>
              <a:srgbClr val="15304F"/>
            </a:solidFill>
            <a:prstDash val="solid"/>
          </a:ln>
        </p:spPr>
      </p:sp>
      <p:sp>
        <p:nvSpPr>
          <p:cNvPr id="42" name="Text 40"/>
          <p:cNvSpPr txBox="1"/>
          <p:nvPr/>
        </p:nvSpPr>
        <p:spPr>
          <a:xfrm>
            <a:off x="557784" y="5166360"/>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BEING PRECISE ABOUT "NO EFFORT"</a:t>
            </a:r>
            <a:endParaRPr lang="en-US" sz="760" dirty="0"/>
          </a:p>
        </p:txBody>
      </p:sp>
      <p:sp>
        <p:nvSpPr>
          <p:cNvPr id="43" name="Text 41"/>
          <p:cNvSpPr txBox="1"/>
          <p:nvPr/>
        </p:nvSpPr>
        <p:spPr>
          <a:xfrm>
            <a:off x="557784" y="5358384"/>
            <a:ext cx="11045952" cy="274320"/>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Writing guidance is days of work by people who already hold the knowledge. Building a platform is months of engineering. Phase 1 involves the first and none of the second — no tooling, no automation, no agents, no code.</a:t>
            </a:r>
            <a:endParaRPr lang="en-US" sz="900" dirty="0"/>
          </a:p>
        </p:txBody>
      </p:sp>
      <p:sp>
        <p:nvSpPr>
          <p:cNvPr id="44" name="Shape 42"/>
          <p:cNvSpPr/>
          <p:nvPr/>
        </p:nvSpPr>
        <p:spPr>
          <a:xfrm>
            <a:off x="411480" y="5815584"/>
            <a:ext cx="11338560" cy="438912"/>
          </a:xfrm>
          <a:prstGeom prst="roundRect">
            <a:avLst>
              <a:gd name="adj" fmla="val 10417"/>
            </a:avLst>
          </a:prstGeom>
          <a:solidFill>
            <a:srgbClr val="F4F7FA"/>
          </a:solidFill>
          <a:ln w="9525">
            <a:solidFill>
              <a:srgbClr val="D4DAE2"/>
            </a:solidFill>
            <a:prstDash val="solid"/>
          </a:ln>
        </p:spPr>
      </p:sp>
      <p:sp>
        <p:nvSpPr>
          <p:cNvPr id="45" name="Text 43"/>
          <p:cNvSpPr txBox="1"/>
          <p:nvPr/>
        </p:nvSpPr>
        <p:spPr>
          <a:xfrm>
            <a:off x="557784" y="581558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triage conversation is where most of the Phase 1 benefit comes from. Today the requirement for a data point is discovered a step at a time, by an engineer, after the intake has landed. In Phase 1 the full requirement is established in one ninety-minute session, with the reasons explained, and everything not yet knowable becomes a dated item with a named owner.</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What Phase 1 delivers — and the ceiling</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Lean+ works well by hand. Lean largely does not. That gap is what Phase 2 buys.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honest case</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SCENARIO DISTRIBUTION — WHAT EACH APPROACH CAN ACTUALLY REACH</a:t>
            </a:r>
            <a:endParaRPr lang="en-US" sz="760" dirty="0"/>
          </a:p>
        </p:txBody>
      </p:sp>
      <p:sp>
        <p:nvSpPr>
          <p:cNvPr id="9" name="Shape 7"/>
          <p:cNvSpPr/>
          <p:nvPr/>
        </p:nvSpPr>
        <p:spPr>
          <a:xfrm>
            <a:off x="411480" y="1243584"/>
            <a:ext cx="6949440" cy="2304288"/>
          </a:xfrm>
          <a:prstGeom prst="roundRect">
            <a:avLst>
              <a:gd name="adj" fmla="val 1984"/>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10" name="Text 8"/>
          <p:cNvSpPr txBox="1"/>
          <p:nvPr/>
        </p:nvSpPr>
        <p:spPr>
          <a:xfrm>
            <a:off x="576072" y="1426464"/>
            <a:ext cx="1572768" cy="36576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Today</a:t>
            </a:r>
            <a:endParaRPr lang="en-US" sz="860" dirty="0"/>
          </a:p>
        </p:txBody>
      </p:sp>
      <p:sp>
        <p:nvSpPr>
          <p:cNvPr id="11" name="Shape 9"/>
          <p:cNvSpPr/>
          <p:nvPr/>
        </p:nvSpPr>
        <p:spPr>
          <a:xfrm>
            <a:off x="2203704" y="1426464"/>
            <a:ext cx="4992624" cy="365760"/>
          </a:xfrm>
          <a:prstGeom prst="roundRect">
            <a:avLst>
              <a:gd name="adj" fmla="val 7500"/>
            </a:avLst>
          </a:prstGeom>
          <a:solidFill>
            <a:srgbClr val="15304F"/>
          </a:solidFill>
          <a:ln w="12700">
            <a:solidFill>
              <a:srgbClr val="333333"/>
            </a:solidFill>
            <a:prstDash val="solid"/>
          </a:ln>
        </p:spPr>
      </p:sp>
      <p:sp>
        <p:nvSpPr>
          <p:cNvPr id="12" name="Text 10"/>
          <p:cNvSpPr txBox="1"/>
          <p:nvPr/>
        </p:nvSpPr>
        <p:spPr>
          <a:xfrm>
            <a:off x="2203704" y="1426464"/>
            <a:ext cx="49926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38 Dedicated</a:t>
            </a:r>
            <a:endParaRPr lang="en-US" sz="900" dirty="0"/>
          </a:p>
        </p:txBody>
      </p:sp>
      <p:sp>
        <p:nvSpPr>
          <p:cNvPr id="13" name="Text 11"/>
          <p:cNvSpPr txBox="1"/>
          <p:nvPr/>
        </p:nvSpPr>
        <p:spPr>
          <a:xfrm>
            <a:off x="576072" y="1920240"/>
            <a:ext cx="1572768" cy="36576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Phase 1 — manual</a:t>
            </a:r>
            <a:endParaRPr lang="en-US" sz="860" dirty="0"/>
          </a:p>
        </p:txBody>
      </p:sp>
      <p:sp>
        <p:nvSpPr>
          <p:cNvPr id="14" name="Shape 12"/>
          <p:cNvSpPr/>
          <p:nvPr/>
        </p:nvSpPr>
        <p:spPr>
          <a:xfrm>
            <a:off x="2203704" y="1920240"/>
            <a:ext cx="644291" cy="365760"/>
          </a:xfrm>
          <a:prstGeom prst="roundRect">
            <a:avLst>
              <a:gd name="adj" fmla="val 7500"/>
            </a:avLst>
          </a:prstGeom>
          <a:solidFill>
            <a:srgbClr val="0B6E6E"/>
          </a:solidFill>
          <a:ln w="12700">
            <a:solidFill>
              <a:srgbClr val="333333"/>
            </a:solidFill>
            <a:prstDash val="solid"/>
          </a:ln>
        </p:spPr>
      </p:sp>
      <p:sp>
        <p:nvSpPr>
          <p:cNvPr id="15" name="Text 13"/>
          <p:cNvSpPr txBox="1"/>
          <p:nvPr/>
        </p:nvSpPr>
        <p:spPr>
          <a:xfrm>
            <a:off x="2203704" y="1920240"/>
            <a:ext cx="644291"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6" name="Shape 14"/>
          <p:cNvSpPr/>
          <p:nvPr/>
        </p:nvSpPr>
        <p:spPr>
          <a:xfrm>
            <a:off x="2879999" y="1920240"/>
            <a:ext cx="2190590" cy="365760"/>
          </a:xfrm>
          <a:prstGeom prst="roundRect">
            <a:avLst>
              <a:gd name="adj" fmla="val 7500"/>
            </a:avLst>
          </a:prstGeom>
          <a:solidFill>
            <a:srgbClr val="9A6410"/>
          </a:solidFill>
          <a:ln w="12700">
            <a:solidFill>
              <a:srgbClr val="333333"/>
            </a:solidFill>
            <a:prstDash val="solid"/>
          </a:ln>
        </p:spPr>
      </p:sp>
      <p:sp>
        <p:nvSpPr>
          <p:cNvPr id="17" name="Text 15"/>
          <p:cNvSpPr txBox="1"/>
          <p:nvPr/>
        </p:nvSpPr>
        <p:spPr>
          <a:xfrm>
            <a:off x="2879999" y="1920240"/>
            <a:ext cx="219059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17</a:t>
            </a:r>
            <a:endParaRPr lang="en-US" sz="900" dirty="0"/>
          </a:p>
        </p:txBody>
      </p:sp>
      <p:sp>
        <p:nvSpPr>
          <p:cNvPr id="18" name="Shape 16"/>
          <p:cNvSpPr/>
          <p:nvPr/>
        </p:nvSpPr>
        <p:spPr>
          <a:xfrm>
            <a:off x="5102593" y="1920240"/>
            <a:ext cx="1804015" cy="365760"/>
          </a:xfrm>
          <a:prstGeom prst="roundRect">
            <a:avLst>
              <a:gd name="adj" fmla="val 7500"/>
            </a:avLst>
          </a:prstGeom>
          <a:solidFill>
            <a:srgbClr val="15304F"/>
          </a:solidFill>
          <a:ln w="12700">
            <a:solidFill>
              <a:srgbClr val="333333"/>
            </a:solidFill>
            <a:prstDash val="solid"/>
          </a:ln>
        </p:spPr>
      </p:sp>
      <p:sp>
        <p:nvSpPr>
          <p:cNvPr id="19" name="Text 17"/>
          <p:cNvSpPr txBox="1"/>
          <p:nvPr/>
        </p:nvSpPr>
        <p:spPr>
          <a:xfrm>
            <a:off x="5102593" y="1920240"/>
            <a:ext cx="1804015"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14</a:t>
            </a:r>
            <a:endParaRPr lang="en-US" sz="900" dirty="0"/>
          </a:p>
        </p:txBody>
      </p:sp>
      <p:sp>
        <p:nvSpPr>
          <p:cNvPr id="20" name="Shape 18"/>
          <p:cNvSpPr/>
          <p:nvPr/>
        </p:nvSpPr>
        <p:spPr>
          <a:xfrm>
            <a:off x="6938612" y="1920240"/>
            <a:ext cx="257716" cy="365760"/>
          </a:xfrm>
          <a:prstGeom prst="roundRect">
            <a:avLst>
              <a:gd name="adj" fmla="val 10644"/>
            </a:avLst>
          </a:prstGeom>
          <a:solidFill>
            <a:srgbClr val="5B4A72"/>
          </a:solidFill>
          <a:ln w="12700">
            <a:solidFill>
              <a:srgbClr val="333333"/>
            </a:solidFill>
            <a:prstDash val="solid"/>
          </a:ln>
        </p:spPr>
      </p:sp>
      <p:sp>
        <p:nvSpPr>
          <p:cNvPr id="21" name="Text 19"/>
          <p:cNvSpPr txBox="1"/>
          <p:nvPr/>
        </p:nvSpPr>
        <p:spPr>
          <a:xfrm>
            <a:off x="576072" y="2414016"/>
            <a:ext cx="1572768" cy="36576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Phase 2 — at entry</a:t>
            </a:r>
            <a:endParaRPr lang="en-US" sz="860" dirty="0"/>
          </a:p>
        </p:txBody>
      </p:sp>
      <p:sp>
        <p:nvSpPr>
          <p:cNvPr id="22" name="Shape 20"/>
          <p:cNvSpPr/>
          <p:nvPr/>
        </p:nvSpPr>
        <p:spPr>
          <a:xfrm>
            <a:off x="2203704" y="2414016"/>
            <a:ext cx="1030866" cy="365760"/>
          </a:xfrm>
          <a:prstGeom prst="roundRect">
            <a:avLst>
              <a:gd name="adj" fmla="val 7500"/>
            </a:avLst>
          </a:prstGeom>
          <a:solidFill>
            <a:srgbClr val="0B6E6E"/>
          </a:solidFill>
          <a:ln w="12700">
            <a:solidFill>
              <a:srgbClr val="333333"/>
            </a:solidFill>
            <a:prstDash val="solid"/>
          </a:ln>
        </p:spPr>
      </p:sp>
      <p:sp>
        <p:nvSpPr>
          <p:cNvPr id="23" name="Text 21"/>
          <p:cNvSpPr txBox="1"/>
          <p:nvPr/>
        </p:nvSpPr>
        <p:spPr>
          <a:xfrm>
            <a:off x="2203704" y="2414016"/>
            <a:ext cx="1030866"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24" name="Shape 22"/>
          <p:cNvSpPr/>
          <p:nvPr/>
        </p:nvSpPr>
        <p:spPr>
          <a:xfrm>
            <a:off x="3266574" y="2414016"/>
            <a:ext cx="1804015" cy="365760"/>
          </a:xfrm>
          <a:prstGeom prst="roundRect">
            <a:avLst>
              <a:gd name="adj" fmla="val 7500"/>
            </a:avLst>
          </a:prstGeom>
          <a:solidFill>
            <a:srgbClr val="9A6410"/>
          </a:solidFill>
          <a:ln w="12700">
            <a:solidFill>
              <a:srgbClr val="333333"/>
            </a:solidFill>
            <a:prstDash val="solid"/>
          </a:ln>
        </p:spPr>
      </p:sp>
      <p:sp>
        <p:nvSpPr>
          <p:cNvPr id="25" name="Text 23"/>
          <p:cNvSpPr txBox="1"/>
          <p:nvPr/>
        </p:nvSpPr>
        <p:spPr>
          <a:xfrm>
            <a:off x="3266574" y="2414016"/>
            <a:ext cx="1804015"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14</a:t>
            </a:r>
            <a:endParaRPr lang="en-US" sz="900" dirty="0"/>
          </a:p>
        </p:txBody>
      </p:sp>
      <p:sp>
        <p:nvSpPr>
          <p:cNvPr id="26" name="Shape 24"/>
          <p:cNvSpPr/>
          <p:nvPr/>
        </p:nvSpPr>
        <p:spPr>
          <a:xfrm>
            <a:off x="5102593" y="2414016"/>
            <a:ext cx="1804015" cy="365760"/>
          </a:xfrm>
          <a:prstGeom prst="roundRect">
            <a:avLst>
              <a:gd name="adj" fmla="val 7500"/>
            </a:avLst>
          </a:prstGeom>
          <a:solidFill>
            <a:srgbClr val="15304F"/>
          </a:solidFill>
          <a:ln w="12700">
            <a:solidFill>
              <a:srgbClr val="333333"/>
            </a:solidFill>
            <a:prstDash val="solid"/>
          </a:ln>
        </p:spPr>
      </p:sp>
      <p:sp>
        <p:nvSpPr>
          <p:cNvPr id="27" name="Text 25"/>
          <p:cNvSpPr txBox="1"/>
          <p:nvPr/>
        </p:nvSpPr>
        <p:spPr>
          <a:xfrm>
            <a:off x="5102593" y="2414016"/>
            <a:ext cx="1804015"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14</a:t>
            </a:r>
            <a:endParaRPr lang="en-US" sz="900" dirty="0"/>
          </a:p>
        </p:txBody>
      </p:sp>
      <p:sp>
        <p:nvSpPr>
          <p:cNvPr id="28" name="Shape 26"/>
          <p:cNvSpPr/>
          <p:nvPr/>
        </p:nvSpPr>
        <p:spPr>
          <a:xfrm>
            <a:off x="6938612" y="2414016"/>
            <a:ext cx="257716" cy="365760"/>
          </a:xfrm>
          <a:prstGeom prst="roundRect">
            <a:avLst>
              <a:gd name="adj" fmla="val 10644"/>
            </a:avLst>
          </a:prstGeom>
          <a:solidFill>
            <a:srgbClr val="5B4A72"/>
          </a:solidFill>
          <a:ln w="12700">
            <a:solidFill>
              <a:srgbClr val="333333"/>
            </a:solidFill>
            <a:prstDash val="solid"/>
          </a:ln>
        </p:spPr>
      </p:sp>
      <p:sp>
        <p:nvSpPr>
          <p:cNvPr id="29" name="Text 27"/>
          <p:cNvSpPr txBox="1"/>
          <p:nvPr/>
        </p:nvSpPr>
        <p:spPr>
          <a:xfrm>
            <a:off x="576072" y="2907792"/>
            <a:ext cx="1572768" cy="365760"/>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Phase 2 — steady</a:t>
            </a:r>
            <a:endParaRPr lang="en-US" sz="860" dirty="0"/>
          </a:p>
        </p:txBody>
      </p:sp>
      <p:sp>
        <p:nvSpPr>
          <p:cNvPr id="30" name="Shape 28"/>
          <p:cNvSpPr/>
          <p:nvPr/>
        </p:nvSpPr>
        <p:spPr>
          <a:xfrm>
            <a:off x="2203704" y="2907792"/>
            <a:ext cx="2061731" cy="365760"/>
          </a:xfrm>
          <a:prstGeom prst="roundRect">
            <a:avLst>
              <a:gd name="adj" fmla="val 7500"/>
            </a:avLst>
          </a:prstGeom>
          <a:solidFill>
            <a:srgbClr val="0B6E6E"/>
          </a:solidFill>
          <a:ln w="12700">
            <a:solidFill>
              <a:srgbClr val="333333"/>
            </a:solidFill>
            <a:prstDash val="solid"/>
          </a:ln>
        </p:spPr>
      </p:sp>
      <p:sp>
        <p:nvSpPr>
          <p:cNvPr id="31" name="Text 29"/>
          <p:cNvSpPr txBox="1"/>
          <p:nvPr/>
        </p:nvSpPr>
        <p:spPr>
          <a:xfrm>
            <a:off x="2203704" y="2907792"/>
            <a:ext cx="2061731"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16</a:t>
            </a:r>
            <a:endParaRPr lang="en-US" sz="900" dirty="0"/>
          </a:p>
        </p:txBody>
      </p:sp>
      <p:sp>
        <p:nvSpPr>
          <p:cNvPr id="32" name="Shape 30"/>
          <p:cNvSpPr/>
          <p:nvPr/>
        </p:nvSpPr>
        <p:spPr>
          <a:xfrm>
            <a:off x="4297439" y="2907792"/>
            <a:ext cx="1675157" cy="365760"/>
          </a:xfrm>
          <a:prstGeom prst="roundRect">
            <a:avLst>
              <a:gd name="adj" fmla="val 7500"/>
            </a:avLst>
          </a:prstGeom>
          <a:solidFill>
            <a:srgbClr val="9A6410"/>
          </a:solidFill>
          <a:ln w="12700">
            <a:solidFill>
              <a:srgbClr val="333333"/>
            </a:solidFill>
            <a:prstDash val="solid"/>
          </a:ln>
        </p:spPr>
      </p:sp>
      <p:sp>
        <p:nvSpPr>
          <p:cNvPr id="33" name="Text 31"/>
          <p:cNvSpPr txBox="1"/>
          <p:nvPr/>
        </p:nvSpPr>
        <p:spPr>
          <a:xfrm>
            <a:off x="4297439" y="2907792"/>
            <a:ext cx="1675157"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13</a:t>
            </a:r>
            <a:endParaRPr lang="en-US" sz="900" dirty="0"/>
          </a:p>
        </p:txBody>
      </p:sp>
      <p:sp>
        <p:nvSpPr>
          <p:cNvPr id="34" name="Shape 32"/>
          <p:cNvSpPr/>
          <p:nvPr/>
        </p:nvSpPr>
        <p:spPr>
          <a:xfrm>
            <a:off x="6004600" y="2907792"/>
            <a:ext cx="902007" cy="365760"/>
          </a:xfrm>
          <a:prstGeom prst="roundRect">
            <a:avLst>
              <a:gd name="adj" fmla="val 7500"/>
            </a:avLst>
          </a:prstGeom>
          <a:solidFill>
            <a:srgbClr val="15304F"/>
          </a:solidFill>
          <a:ln w="12700">
            <a:solidFill>
              <a:srgbClr val="333333"/>
            </a:solidFill>
            <a:prstDash val="solid"/>
          </a:ln>
        </p:spPr>
      </p:sp>
      <p:sp>
        <p:nvSpPr>
          <p:cNvPr id="35" name="Text 33"/>
          <p:cNvSpPr txBox="1"/>
          <p:nvPr/>
        </p:nvSpPr>
        <p:spPr>
          <a:xfrm>
            <a:off x="6004600" y="2907792"/>
            <a:ext cx="902007"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6" name="Shape 34"/>
          <p:cNvSpPr/>
          <p:nvPr/>
        </p:nvSpPr>
        <p:spPr>
          <a:xfrm>
            <a:off x="6938612" y="2907792"/>
            <a:ext cx="257716" cy="365760"/>
          </a:xfrm>
          <a:prstGeom prst="roundRect">
            <a:avLst>
              <a:gd name="adj" fmla="val 10644"/>
            </a:avLst>
          </a:prstGeom>
          <a:solidFill>
            <a:srgbClr val="5B4A72"/>
          </a:solidFill>
          <a:ln w="12700">
            <a:solidFill>
              <a:srgbClr val="333333"/>
            </a:solidFill>
            <a:prstDash val="solid"/>
          </a:ln>
        </p:spPr>
      </p:sp>
      <p:sp>
        <p:nvSpPr>
          <p:cNvPr id="37" name="Shape 35"/>
          <p:cNvSpPr/>
          <p:nvPr/>
        </p:nvSpPr>
        <p:spPr>
          <a:xfrm>
            <a:off x="2203704" y="3278124"/>
            <a:ext cx="109728" cy="109728"/>
          </a:xfrm>
          <a:prstGeom prst="ellipse">
            <a:avLst/>
          </a:prstGeom>
          <a:solidFill>
            <a:srgbClr val="0B6E6E"/>
          </a:solidFill>
          <a:ln w="12700">
            <a:solidFill>
              <a:srgbClr val="333333"/>
            </a:solidFill>
            <a:prstDash val="solid"/>
          </a:ln>
        </p:spPr>
      </p:sp>
      <p:sp>
        <p:nvSpPr>
          <p:cNvPr id="38" name="Text 36"/>
          <p:cNvSpPr txBox="1"/>
          <p:nvPr/>
        </p:nvSpPr>
        <p:spPr>
          <a:xfrm>
            <a:off x="2359152" y="3255264"/>
            <a:ext cx="530352"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Lean</a:t>
            </a:r>
            <a:endParaRPr lang="en-US" sz="760" dirty="0"/>
          </a:p>
        </p:txBody>
      </p:sp>
      <p:sp>
        <p:nvSpPr>
          <p:cNvPr id="39" name="Shape 37"/>
          <p:cNvSpPr/>
          <p:nvPr/>
        </p:nvSpPr>
        <p:spPr>
          <a:xfrm>
            <a:off x="2980944" y="3278124"/>
            <a:ext cx="109728" cy="109728"/>
          </a:xfrm>
          <a:prstGeom prst="ellipse">
            <a:avLst/>
          </a:prstGeom>
          <a:solidFill>
            <a:srgbClr val="9A6410"/>
          </a:solidFill>
          <a:ln w="12700">
            <a:solidFill>
              <a:srgbClr val="333333"/>
            </a:solidFill>
            <a:prstDash val="solid"/>
          </a:ln>
        </p:spPr>
      </p:sp>
      <p:sp>
        <p:nvSpPr>
          <p:cNvPr id="40" name="Text 38"/>
          <p:cNvSpPr txBox="1"/>
          <p:nvPr/>
        </p:nvSpPr>
        <p:spPr>
          <a:xfrm>
            <a:off x="3136392" y="3255264"/>
            <a:ext cx="603504"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Lean+</a:t>
            </a:r>
            <a:endParaRPr lang="en-US" sz="760" dirty="0"/>
          </a:p>
        </p:txBody>
      </p:sp>
      <p:sp>
        <p:nvSpPr>
          <p:cNvPr id="41" name="Shape 39"/>
          <p:cNvSpPr/>
          <p:nvPr/>
        </p:nvSpPr>
        <p:spPr>
          <a:xfrm>
            <a:off x="3831336" y="3278124"/>
            <a:ext cx="109728" cy="109728"/>
          </a:xfrm>
          <a:prstGeom prst="ellipse">
            <a:avLst/>
          </a:prstGeom>
          <a:solidFill>
            <a:srgbClr val="15304F"/>
          </a:solidFill>
          <a:ln w="12700">
            <a:solidFill>
              <a:srgbClr val="333333"/>
            </a:solidFill>
            <a:prstDash val="solid"/>
          </a:ln>
        </p:spPr>
      </p:sp>
      <p:sp>
        <p:nvSpPr>
          <p:cNvPr id="42" name="Text 40"/>
          <p:cNvSpPr txBox="1"/>
          <p:nvPr/>
        </p:nvSpPr>
        <p:spPr>
          <a:xfrm>
            <a:off x="3986784" y="3255264"/>
            <a:ext cx="914400"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Dedicated</a:t>
            </a:r>
            <a:endParaRPr lang="en-US" sz="760" dirty="0"/>
          </a:p>
        </p:txBody>
      </p:sp>
      <p:sp>
        <p:nvSpPr>
          <p:cNvPr id="43" name="Shape 41"/>
          <p:cNvSpPr/>
          <p:nvPr/>
        </p:nvSpPr>
        <p:spPr>
          <a:xfrm>
            <a:off x="4992624" y="3278124"/>
            <a:ext cx="109728" cy="109728"/>
          </a:xfrm>
          <a:prstGeom prst="ellipse">
            <a:avLst/>
          </a:prstGeom>
          <a:solidFill>
            <a:srgbClr val="5B4A72"/>
          </a:solidFill>
          <a:ln w="12700">
            <a:solidFill>
              <a:srgbClr val="333333"/>
            </a:solidFill>
            <a:prstDash val="solid"/>
          </a:ln>
        </p:spPr>
      </p:sp>
      <p:sp>
        <p:nvSpPr>
          <p:cNvPr id="44" name="Text 42"/>
          <p:cNvSpPr txBox="1"/>
          <p:nvPr/>
        </p:nvSpPr>
        <p:spPr>
          <a:xfrm>
            <a:off x="5148072" y="3255264"/>
            <a:ext cx="804672"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Factory</a:t>
            </a:r>
            <a:endParaRPr lang="en-US" sz="760" dirty="0"/>
          </a:p>
        </p:txBody>
      </p:sp>
      <p:sp>
        <p:nvSpPr>
          <p:cNvPr id="45" name="Shape 43"/>
          <p:cNvSpPr/>
          <p:nvPr/>
        </p:nvSpPr>
        <p:spPr>
          <a:xfrm>
            <a:off x="7580376" y="1243584"/>
            <a:ext cx="4169664" cy="2377440"/>
          </a:xfrm>
          <a:prstGeom prst="roundRect">
            <a:avLst>
              <a:gd name="adj" fmla="val 1923"/>
            </a:avLst>
          </a:prstGeom>
          <a:solidFill>
            <a:srgbClr val="FFFFFF"/>
          </a:solidFill>
          <a:ln w="15875">
            <a:solidFill>
              <a:srgbClr val="9A6410"/>
            </a:solidFill>
            <a:prstDash val="solid"/>
          </a:ln>
          <a:effectLst>
            <a:outerShdw sx="100000" sy="100000" kx="0" ky="0" algn="bl" rotWithShape="0" blurRad="88900" dist="12700" dir="5400000">
              <a:srgbClr val="97A3B4">
                <a:alpha val="16000"/>
              </a:srgbClr>
            </a:outerShdw>
          </a:effectLst>
        </p:spPr>
      </p:sp>
      <p:sp>
        <p:nvSpPr>
          <p:cNvPr id="46" name="Text 44"/>
          <p:cNvSpPr txBox="1"/>
          <p:nvPr/>
        </p:nvSpPr>
        <p:spPr>
          <a:xfrm>
            <a:off x="7726680" y="1371600"/>
            <a:ext cx="3877056" cy="164592"/>
          </a:xfrm>
          <a:prstGeom prst="rect">
            <a:avLst/>
          </a:prstGeom>
          <a:noFill/>
          <a:ln/>
        </p:spPr>
        <p:txBody>
          <a:bodyPr wrap="square" lIns="0" tIns="0" rIns="0" bIns="0" rtlCol="0" anchor="ctr"/>
          <a:lstStyle/>
          <a:p>
            <a:pPr indent="0" marL="0">
              <a:buNone/>
            </a:pPr>
            <a:r>
              <a:rPr lang="en-US" sz="720" b="1" spc="100" kern="0" dirty="0">
                <a:solidFill>
                  <a:srgbClr val="9A6410"/>
                </a:solidFill>
                <a:latin typeface="Calibri" pitchFamily="34" charset="0"/>
                <a:ea typeface="Calibri" pitchFamily="34" charset="-122"/>
                <a:cs typeface="Calibri" pitchFamily="34" charset="-120"/>
              </a:rPr>
              <a:t>THE CEILING, STATED PLAINLY</a:t>
            </a:r>
            <a:endParaRPr lang="en-US" sz="720" dirty="0"/>
          </a:p>
        </p:txBody>
      </p:sp>
      <p:sp>
        <p:nvSpPr>
          <p:cNvPr id="47" name="Text 45"/>
          <p:cNvSpPr txBox="1"/>
          <p:nvPr/>
        </p:nvSpPr>
        <p:spPr>
          <a:xfrm>
            <a:off x="7726680" y="1554480"/>
            <a:ext cx="3877056" cy="310896"/>
          </a:xfrm>
          <a:prstGeom prst="rect">
            <a:avLst/>
          </a:prstGeom>
          <a:noFill/>
          <a:ln/>
        </p:spPr>
        <p:txBody>
          <a:bodyPr wrap="square" lIns="0" tIns="0" rIns="0" bIns="0" rtlCol="0" anchor="t"/>
          <a:lstStyle/>
          <a:p>
            <a:pPr indent="0" marL="0">
              <a:lnSpc>
                <a:spcPts val="1400"/>
              </a:lnSpc>
              <a:buNone/>
            </a:pPr>
            <a:r>
              <a:rPr lang="en-US" sz="1150" b="1" dirty="0">
                <a:solidFill>
                  <a:srgbClr val="1B2432"/>
                </a:solidFill>
                <a:latin typeface="Calibri" pitchFamily="34" charset="0"/>
                <a:ea typeface="Calibri" pitchFamily="34" charset="-122"/>
                <a:cs typeface="Calibri" pitchFamily="34" charset="-120"/>
              </a:rPr>
              <a:t>Why Lean+ works by hand and Lean does not</a:t>
            </a:r>
            <a:endParaRPr lang="en-US" sz="1150" dirty="0"/>
          </a:p>
        </p:txBody>
      </p:sp>
      <p:sp>
        <p:nvSpPr>
          <p:cNvPr id="48" name="Text 46"/>
          <p:cNvSpPr txBox="1"/>
          <p:nvPr/>
        </p:nvSpPr>
        <p:spPr>
          <a:xfrm>
            <a:off x="7726680" y="2029968"/>
            <a:ext cx="3877056" cy="1444752"/>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Lean+ is a human process by design — scheduled design assurance from a shared pool. Everything it depends on can be done by people with a calendar. The manual version is close to the full version.</a:t>
            </a:r>
            <a:endParaRPr lang="en-US" sz="820" dirty="0"/>
          </a:p>
          <a:p>
            <a:pPr indent="0" marL="0">
              <a:lnSpc>
                <a:spcPts val="1080"/>
              </a:lnSpc>
              <a:spcAft>
                <a:spcPts val="250"/>
              </a:spcAft>
              <a:buNone/>
            </a:pP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Lean assumes the partner can self-serve: instantiate a pattern, provision within policy bounds, clear automated gates, see their own state. Without a platform they can do none of those things.</a:t>
            </a:r>
            <a:endParaRPr lang="en-US" sz="820" dirty="0"/>
          </a:p>
          <a:p>
            <a:pPr indent="0" marL="0">
              <a:lnSpc>
                <a:spcPts val="1080"/>
              </a:lnSpc>
              <a:spcAft>
                <a:spcPts val="250"/>
              </a:spcAft>
              <a:buNone/>
            </a:pP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Eleven scenarios sit in that gap. That is the clearest single statement of what Phase 2 actually buys.</a:t>
            </a:r>
            <a:endParaRPr lang="en-US" sz="820" dirty="0"/>
          </a:p>
        </p:txBody>
      </p:sp>
      <p:sp>
        <p:nvSpPr>
          <p:cNvPr id="49" name="Text 47"/>
          <p:cNvSpPr txBox="1"/>
          <p:nvPr/>
        </p:nvSpPr>
        <p:spPr>
          <a:xfrm>
            <a:off x="411480" y="3694176"/>
            <a:ext cx="4572000" cy="182880"/>
          </a:xfrm>
          <a:prstGeom prst="rect">
            <a:avLst/>
          </a:prstGeom>
          <a:noFill/>
          <a:ln/>
        </p:spPr>
        <p:txBody>
          <a:bodyPr wrap="square" lIns="0" tIns="0" rIns="0" bIns="0" rtlCol="0" anchor="ctr"/>
          <a:lstStyle/>
          <a:p>
            <a:pPr indent="0" marL="0">
              <a:buNone/>
            </a:pPr>
            <a:r>
              <a:rPr lang="en-US" sz="760" b="1" spc="110" kern="0" dirty="0">
                <a:solidFill>
                  <a:srgbClr val="2E6B4F"/>
                </a:solidFill>
                <a:latin typeface="Calibri" pitchFamily="34" charset="0"/>
                <a:ea typeface="Calibri" pitchFamily="34" charset="-122"/>
                <a:cs typeface="Calibri" pitchFamily="34" charset="-120"/>
              </a:rPr>
              <a:t>PHASE 1 DELIVERS</a:t>
            </a:r>
            <a:endParaRPr lang="en-US" sz="760" dirty="0"/>
          </a:p>
        </p:txBody>
      </p:sp>
      <p:sp>
        <p:nvSpPr>
          <p:cNvPr id="50" name="Shape 48"/>
          <p:cNvSpPr/>
          <p:nvPr/>
        </p:nvSpPr>
        <p:spPr>
          <a:xfrm>
            <a:off x="411480" y="3895344"/>
            <a:ext cx="5577840" cy="1700784"/>
          </a:xfrm>
          <a:prstGeom prst="roundRect">
            <a:avLst>
              <a:gd name="adj" fmla="val 2688"/>
            </a:avLst>
          </a:prstGeom>
          <a:solidFill>
            <a:srgbClr val="FFFFFF"/>
          </a:solidFill>
          <a:ln w="15240">
            <a:solidFill>
              <a:srgbClr val="2E6B4F"/>
            </a:solidFill>
            <a:prstDash val="solid"/>
          </a:ln>
          <a:effectLst>
            <a:outerShdw sx="100000" sy="100000" kx="0" ky="0" algn="bl" rotWithShape="0" blurRad="88900" dist="12700" dir="5400000">
              <a:srgbClr val="97A3B4">
                <a:alpha val="16000"/>
              </a:srgbClr>
            </a:outerShdw>
          </a:effectLst>
        </p:spPr>
      </p:sp>
      <p:sp>
        <p:nvSpPr>
          <p:cNvPr id="51" name="Text 49"/>
          <p:cNvSpPr txBox="1"/>
          <p:nvPr/>
        </p:nvSpPr>
        <p:spPr>
          <a:xfrm>
            <a:off x="576072" y="3986784"/>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   Most of the Lean+ benefit — 17 scenarios move from continuous allocation to scheduled assurance</a:t>
            </a:r>
            <a:endParaRPr lang="en-US" sz="800" dirty="0"/>
          </a:p>
        </p:txBody>
      </p:sp>
      <p:sp>
        <p:nvSpPr>
          <p:cNvPr id="52" name="Text 50"/>
          <p:cNvSpPr txBox="1"/>
          <p:nvPr/>
        </p:nvSpPr>
        <p:spPr>
          <a:xfrm>
            <a:off x="576072" y="4251960"/>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   A measurable fall in clarification cycles, from the deeper triage alone</a:t>
            </a:r>
            <a:endParaRPr lang="en-US" sz="800" dirty="0"/>
          </a:p>
        </p:txBody>
      </p:sp>
      <p:sp>
        <p:nvSpPr>
          <p:cNvPr id="53" name="Text 51"/>
          <p:cNvSpPr txBox="1"/>
          <p:nvPr/>
        </p:nvSpPr>
        <p:spPr>
          <a:xfrm>
            <a:off x="576072" y="4517136"/>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   Long-lead items started at triage instead of mid-delivery</a:t>
            </a:r>
            <a:endParaRPr lang="en-US" sz="800" dirty="0"/>
          </a:p>
        </p:txBody>
      </p:sp>
      <p:sp>
        <p:nvSpPr>
          <p:cNvPr id="54" name="Text 52"/>
          <p:cNvSpPr txBox="1"/>
          <p:nvPr/>
        </p:nvSpPr>
        <p:spPr>
          <a:xfrm>
            <a:off x="576072" y="4782312"/>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   The effort and elapsed-time baseline, measured for the first time</a:t>
            </a:r>
            <a:endParaRPr lang="en-US" sz="800" dirty="0"/>
          </a:p>
        </p:txBody>
      </p:sp>
      <p:sp>
        <p:nvSpPr>
          <p:cNvPr id="55" name="Text 53"/>
          <p:cNvSpPr txBox="1"/>
          <p:nvPr/>
        </p:nvSpPr>
        <p:spPr>
          <a:xfrm>
            <a:off x="576072" y="5047488"/>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   The real tier distribution against live demand</a:t>
            </a:r>
            <a:endParaRPr lang="en-US" sz="800" dirty="0"/>
          </a:p>
        </p:txBody>
      </p:sp>
      <p:sp>
        <p:nvSpPr>
          <p:cNvPr id="56" name="Text 54"/>
          <p:cNvSpPr txBox="1"/>
          <p:nvPr/>
        </p:nvSpPr>
        <p:spPr>
          <a:xfrm>
            <a:off x="576072" y="5312664"/>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   A calibrated rubric and a trained set of triage leads</a:t>
            </a:r>
            <a:endParaRPr lang="en-US" sz="800" dirty="0"/>
          </a:p>
        </p:txBody>
      </p:sp>
      <p:sp>
        <p:nvSpPr>
          <p:cNvPr id="57" name="Text 55"/>
          <p:cNvSpPr txBox="1"/>
          <p:nvPr/>
        </p:nvSpPr>
        <p:spPr>
          <a:xfrm>
            <a:off x="6172200" y="3694176"/>
            <a:ext cx="45720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PHASE 1 DOES NOT DELIVER</a:t>
            </a:r>
            <a:endParaRPr lang="en-US" sz="760" dirty="0"/>
          </a:p>
        </p:txBody>
      </p:sp>
      <p:sp>
        <p:nvSpPr>
          <p:cNvPr id="58" name="Shape 56"/>
          <p:cNvSpPr/>
          <p:nvPr/>
        </p:nvSpPr>
        <p:spPr>
          <a:xfrm>
            <a:off x="6172200" y="3895344"/>
            <a:ext cx="5577840" cy="1700784"/>
          </a:xfrm>
          <a:prstGeom prst="roundRect">
            <a:avLst>
              <a:gd name="adj" fmla="val 2688"/>
            </a:avLst>
          </a:prstGeom>
          <a:solidFill>
            <a:srgbClr val="FFFFFF"/>
          </a:solidFill>
          <a:ln w="15240">
            <a:solidFill>
              <a:srgbClr val="A44A2A"/>
            </a:solidFill>
            <a:prstDash val="solid"/>
          </a:ln>
          <a:effectLst>
            <a:outerShdw sx="100000" sy="100000" kx="0" ky="0" algn="bl" rotWithShape="0" blurRad="88900" dist="12700" dir="5400000">
              <a:srgbClr val="97A3B4">
                <a:alpha val="16000"/>
              </a:srgbClr>
            </a:outerShdw>
          </a:effectLst>
        </p:spPr>
      </p:sp>
      <p:sp>
        <p:nvSpPr>
          <p:cNvPr id="59" name="Text 57"/>
          <p:cNvSpPr txBox="1"/>
          <p:nvPr/>
        </p:nvSpPr>
        <p:spPr>
          <a:xfrm>
            <a:off x="6336792" y="3986784"/>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55606E"/>
                </a:solidFill>
                <a:latin typeface="Calibri" pitchFamily="34" charset="0"/>
                <a:ea typeface="Calibri" pitchFamily="34" charset="-122"/>
                <a:cs typeface="Calibri" pitchFamily="34" charset="-120"/>
              </a:rPr>
              <a:t>—   Removal of the clerical load — artefacts, routing and tracking stay manual</a:t>
            </a:r>
            <a:endParaRPr lang="en-US" sz="800" dirty="0"/>
          </a:p>
        </p:txBody>
      </p:sp>
      <p:sp>
        <p:nvSpPr>
          <p:cNvPr id="60" name="Text 58"/>
          <p:cNvSpPr txBox="1"/>
          <p:nvPr/>
        </p:nvSpPr>
        <p:spPr>
          <a:xfrm>
            <a:off x="6336792" y="4251960"/>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55606E"/>
                </a:solidFill>
                <a:latin typeface="Calibri" pitchFamily="34" charset="0"/>
                <a:ea typeface="Calibri" pitchFamily="34" charset="-122"/>
                <a:cs typeface="Calibri" pitchFamily="34" charset="-120"/>
              </a:rPr>
              <a:t>—   Scale — manual effort per intake is roughly constant</a:t>
            </a:r>
            <a:endParaRPr lang="en-US" sz="800" dirty="0"/>
          </a:p>
        </p:txBody>
      </p:sp>
      <p:sp>
        <p:nvSpPr>
          <p:cNvPr id="61" name="Text 59"/>
          <p:cNvSpPr txBox="1"/>
          <p:nvPr/>
        </p:nvSpPr>
        <p:spPr>
          <a:xfrm>
            <a:off x="6336792" y="4517136"/>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55606E"/>
                </a:solidFill>
                <a:latin typeface="Calibri" pitchFamily="34" charset="0"/>
                <a:ea typeface="Calibri" pitchFamily="34" charset="-122"/>
                <a:cs typeface="Calibri" pitchFamily="34" charset="-120"/>
              </a:rPr>
              <a:t>—   Consistency independent of people — calibration reduces variance, not eliminates it</a:t>
            </a:r>
            <a:endParaRPr lang="en-US" sz="800" dirty="0"/>
          </a:p>
        </p:txBody>
      </p:sp>
      <p:sp>
        <p:nvSpPr>
          <p:cNvPr id="62" name="Text 60"/>
          <p:cNvSpPr txBox="1"/>
          <p:nvPr/>
        </p:nvSpPr>
        <p:spPr>
          <a:xfrm>
            <a:off x="6336792" y="4782312"/>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55606E"/>
                </a:solidFill>
                <a:latin typeface="Calibri" pitchFamily="34" charset="0"/>
                <a:ea typeface="Calibri" pitchFamily="34" charset="-122"/>
                <a:cs typeface="Calibri" pitchFamily="34" charset="-120"/>
              </a:rPr>
              <a:t>—   Gates that cannot be waived under schedule pressure</a:t>
            </a:r>
            <a:endParaRPr lang="en-US" sz="800" dirty="0"/>
          </a:p>
        </p:txBody>
      </p:sp>
      <p:sp>
        <p:nvSpPr>
          <p:cNvPr id="63" name="Text 61"/>
          <p:cNvSpPr txBox="1"/>
          <p:nvPr/>
        </p:nvSpPr>
        <p:spPr>
          <a:xfrm>
            <a:off x="6336792" y="5047488"/>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55606E"/>
                </a:solidFill>
                <a:latin typeface="Calibri" pitchFamily="34" charset="0"/>
                <a:ea typeface="Calibri" pitchFamily="34" charset="-122"/>
                <a:cs typeface="Calibri" pitchFamily="34" charset="-120"/>
              </a:rPr>
              <a:t>—   A durable asset — the knowledge stays in a document and in heads</a:t>
            </a:r>
            <a:endParaRPr lang="en-US" sz="800" dirty="0"/>
          </a:p>
        </p:txBody>
      </p:sp>
      <p:sp>
        <p:nvSpPr>
          <p:cNvPr id="64" name="Text 62"/>
          <p:cNvSpPr txBox="1"/>
          <p:nvPr/>
        </p:nvSpPr>
        <p:spPr>
          <a:xfrm>
            <a:off x="6336792" y="5312664"/>
            <a:ext cx="5266944" cy="256032"/>
          </a:xfrm>
          <a:prstGeom prst="rect">
            <a:avLst/>
          </a:prstGeom>
          <a:noFill/>
          <a:ln/>
        </p:spPr>
        <p:txBody>
          <a:bodyPr wrap="square" lIns="0" tIns="0" rIns="0" bIns="0" rtlCol="0" anchor="ctr"/>
          <a:lstStyle/>
          <a:p>
            <a:pPr indent="0" marL="0">
              <a:lnSpc>
                <a:spcPts val="940"/>
              </a:lnSpc>
              <a:buNone/>
            </a:pPr>
            <a:r>
              <a:rPr lang="en-US" sz="800" dirty="0">
                <a:solidFill>
                  <a:srgbClr val="55606E"/>
                </a:solidFill>
                <a:latin typeface="Calibri" pitchFamily="34" charset="0"/>
                <a:ea typeface="Calibri" pitchFamily="34" charset="-122"/>
                <a:cs typeface="Calibri" pitchFamily="34" charset="-120"/>
              </a:rPr>
              <a:t>—   Most of the Lean tier — 5 scenarios against 16 at platform steady state</a:t>
            </a:r>
            <a:endParaRPr lang="en-US" sz="800" dirty="0"/>
          </a:p>
        </p:txBody>
      </p:sp>
      <p:sp>
        <p:nvSpPr>
          <p:cNvPr id="65" name="Shape 63"/>
          <p:cNvSpPr/>
          <p:nvPr/>
        </p:nvSpPr>
        <p:spPr>
          <a:xfrm>
            <a:off x="411480" y="5760720"/>
            <a:ext cx="11338560" cy="438912"/>
          </a:xfrm>
          <a:prstGeom prst="roundRect">
            <a:avLst>
              <a:gd name="adj" fmla="val 10417"/>
            </a:avLst>
          </a:prstGeom>
          <a:solidFill>
            <a:srgbClr val="F4F7FA"/>
          </a:solidFill>
          <a:ln w="9525">
            <a:solidFill>
              <a:srgbClr val="D4DAE2"/>
            </a:solidFill>
            <a:prstDash val="solid"/>
          </a:ln>
        </p:spPr>
      </p:sp>
      <p:sp>
        <p:nvSpPr>
          <p:cNvPr id="66" name="Text 64"/>
          <p:cNvSpPr txBox="1"/>
          <p:nvPr/>
        </p:nvSpPr>
        <p:spPr>
          <a:xfrm>
            <a:off x="557784" y="5760720"/>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Stating the ceiling is what makes the two-phase proposal credible rather than a way of deferring the investment. Phase 1 reallocates depth; it does not remove work. The saving plateaus, and where it plateaus is itself a Phase 1 measurement — which is precisely the evidence Phase 2 needs.</a:t>
            </a:r>
            <a:endParaRPr lang="en-US" sz="8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ask: one quarter, no build, no new headcount</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And a defined evidence gate before anything is committed to Phase 2</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plan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60704"/>
            <a:ext cx="2738628" cy="1152144"/>
          </a:xfrm>
          <a:prstGeom prst="roundRect">
            <a:avLst>
              <a:gd name="adj" fmla="val 3968"/>
            </a:avLst>
          </a:prstGeom>
          <a:solidFill>
            <a:srgbClr val="FBF0EB"/>
          </a:solidFill>
          <a:ln w="15240">
            <a:solidFill>
              <a:srgbClr val="A44A2A"/>
            </a:solidFill>
            <a:prstDash val="solid"/>
          </a:ln>
        </p:spPr>
      </p:sp>
      <p:sp>
        <p:nvSpPr>
          <p:cNvPr id="9" name="Text 7"/>
          <p:cNvSpPr txBox="1"/>
          <p:nvPr/>
        </p:nvSpPr>
        <p:spPr>
          <a:xfrm>
            <a:off x="502920" y="1124712"/>
            <a:ext cx="2555748" cy="182880"/>
          </a:xfrm>
          <a:prstGeom prst="rect">
            <a:avLst/>
          </a:prstGeom>
          <a:noFill/>
          <a:ln/>
        </p:spPr>
        <p:txBody>
          <a:bodyPr wrap="square" lIns="0" tIns="0" rIns="0" bIns="0" rtlCol="0" anchor="ctr"/>
          <a:lstStyle/>
          <a:p>
            <a:pPr indent="0" marL="0">
              <a:buNone/>
            </a:pPr>
            <a:r>
              <a:rPr lang="en-US" sz="720" b="1" spc="80" kern="0" dirty="0">
                <a:solidFill>
                  <a:srgbClr val="A44A2A"/>
                </a:solidFill>
                <a:latin typeface="Calibri" pitchFamily="34" charset="0"/>
                <a:ea typeface="Calibri" pitchFamily="34" charset="-122"/>
                <a:cs typeface="Calibri" pitchFamily="34" charset="-120"/>
              </a:rPr>
              <a:t>WEEKS 1–2</a:t>
            </a:r>
            <a:endParaRPr lang="en-US" sz="720" dirty="0"/>
          </a:p>
        </p:txBody>
      </p:sp>
      <p:sp>
        <p:nvSpPr>
          <p:cNvPr id="10" name="Text 8"/>
          <p:cNvSpPr txBox="1"/>
          <p:nvPr/>
        </p:nvSpPr>
        <p:spPr>
          <a:xfrm>
            <a:off x="502920" y="1298448"/>
            <a:ext cx="2555748" cy="420624"/>
          </a:xfrm>
          <a:prstGeom prst="rect">
            <a:avLst/>
          </a:prstGeom>
          <a:noFill/>
          <a:ln/>
        </p:spPr>
        <p:txBody>
          <a:bodyPr wrap="square" lIns="0" tIns="0" rIns="0" bIns="0" rtlCol="0" anchor="t"/>
          <a:lstStyle/>
          <a:p>
            <a:pPr indent="0" marL="0">
              <a:lnSpc>
                <a:spcPts val="1350"/>
              </a:lnSpc>
              <a:buNone/>
            </a:pPr>
            <a:r>
              <a:rPr lang="en-US" sz="1150" b="1" dirty="0">
                <a:solidFill>
                  <a:srgbClr val="1B2432"/>
                </a:solidFill>
                <a:latin typeface="Calibri" pitchFamily="34" charset="0"/>
                <a:ea typeface="Calibri" pitchFamily="34" charset="-122"/>
                <a:cs typeface="Calibri" pitchFamily="34" charset="-120"/>
              </a:rPr>
              <a:t>Prepare</a:t>
            </a:r>
            <a:endParaRPr lang="en-US" sz="1150" dirty="0"/>
          </a:p>
        </p:txBody>
      </p:sp>
      <p:sp>
        <p:nvSpPr>
          <p:cNvPr id="11" name="Text 9"/>
          <p:cNvSpPr txBox="1"/>
          <p:nvPr/>
        </p:nvSpPr>
        <p:spPr>
          <a:xfrm>
            <a:off x="502920" y="1719072"/>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Write the Triage Guide · calibrate the leads · stand up the pool · build the tracker · publish the tier model to partners</a:t>
            </a:r>
            <a:endParaRPr lang="en-US" sz="720" dirty="0"/>
          </a:p>
        </p:txBody>
      </p:sp>
      <p:sp>
        <p:nvSpPr>
          <p:cNvPr id="12" name="Text 10"/>
          <p:cNvSpPr txBox="1"/>
          <p:nvPr/>
        </p:nvSpPr>
        <p:spPr>
          <a:xfrm>
            <a:off x="3131820" y="1490472"/>
            <a:ext cx="164592"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3" name="Shape 11"/>
          <p:cNvSpPr/>
          <p:nvPr/>
        </p:nvSpPr>
        <p:spPr>
          <a:xfrm>
            <a:off x="3278124" y="1060704"/>
            <a:ext cx="2738628" cy="1152144"/>
          </a:xfrm>
          <a:prstGeom prst="roundRect">
            <a:avLst>
              <a:gd name="adj" fmla="val 3968"/>
            </a:avLst>
          </a:prstGeom>
          <a:solidFill>
            <a:srgbClr val="FAF1DF"/>
          </a:solidFill>
          <a:ln w="15240">
            <a:solidFill>
              <a:srgbClr val="9A6410"/>
            </a:solidFill>
            <a:prstDash val="solid"/>
          </a:ln>
        </p:spPr>
      </p:sp>
      <p:sp>
        <p:nvSpPr>
          <p:cNvPr id="14" name="Text 12"/>
          <p:cNvSpPr txBox="1"/>
          <p:nvPr/>
        </p:nvSpPr>
        <p:spPr>
          <a:xfrm>
            <a:off x="3369564" y="1124712"/>
            <a:ext cx="2555748" cy="182880"/>
          </a:xfrm>
          <a:prstGeom prst="rect">
            <a:avLst/>
          </a:prstGeom>
          <a:noFill/>
          <a:ln/>
        </p:spPr>
        <p:txBody>
          <a:bodyPr wrap="square" lIns="0" tIns="0" rIns="0" bIns="0" rtlCol="0" anchor="ctr"/>
          <a:lstStyle/>
          <a:p>
            <a:pPr indent="0" marL="0">
              <a:buNone/>
            </a:pPr>
            <a:r>
              <a:rPr lang="en-US" sz="720" b="1" spc="80" kern="0" dirty="0">
                <a:solidFill>
                  <a:srgbClr val="9A6410"/>
                </a:solidFill>
                <a:latin typeface="Calibri" pitchFamily="34" charset="0"/>
                <a:ea typeface="Calibri" pitchFamily="34" charset="-122"/>
                <a:cs typeface="Calibri" pitchFamily="34" charset="-120"/>
              </a:rPr>
              <a:t>WEEKS 3–6</a:t>
            </a:r>
            <a:endParaRPr lang="en-US" sz="720" dirty="0"/>
          </a:p>
        </p:txBody>
      </p:sp>
      <p:sp>
        <p:nvSpPr>
          <p:cNvPr id="15" name="Text 13"/>
          <p:cNvSpPr txBox="1"/>
          <p:nvPr/>
        </p:nvSpPr>
        <p:spPr>
          <a:xfrm>
            <a:off x="3369564" y="1298448"/>
            <a:ext cx="2555748" cy="420624"/>
          </a:xfrm>
          <a:prstGeom prst="rect">
            <a:avLst/>
          </a:prstGeom>
          <a:noFill/>
          <a:ln/>
        </p:spPr>
        <p:txBody>
          <a:bodyPr wrap="square" lIns="0" tIns="0" rIns="0" bIns="0" rtlCol="0" anchor="t"/>
          <a:lstStyle/>
          <a:p>
            <a:pPr indent="0" marL="0">
              <a:lnSpc>
                <a:spcPts val="1350"/>
              </a:lnSpc>
              <a:buNone/>
            </a:pPr>
            <a:r>
              <a:rPr lang="en-US" sz="1150" b="1" dirty="0">
                <a:solidFill>
                  <a:srgbClr val="1B2432"/>
                </a:solidFill>
                <a:latin typeface="Calibri" pitchFamily="34" charset="0"/>
                <a:ea typeface="Calibri" pitchFamily="34" charset="-122"/>
                <a:cs typeface="Calibri" pitchFamily="34" charset="-120"/>
              </a:rPr>
              <a:t>Run in parallel</a:t>
            </a:r>
            <a:endParaRPr lang="en-US" sz="1150" dirty="0"/>
          </a:p>
        </p:txBody>
      </p:sp>
      <p:sp>
        <p:nvSpPr>
          <p:cNvPr id="16" name="Text 14"/>
          <p:cNvSpPr txBox="1"/>
          <p:nvPr/>
        </p:nvSpPr>
        <p:spPr>
          <a:xfrm>
            <a:off x="3369564" y="1719072"/>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Every intake gets deep triage and a tier, but is still delivered under the current model. Real data, zero delivery risk.</a:t>
            </a:r>
            <a:endParaRPr lang="en-US" sz="720" dirty="0"/>
          </a:p>
        </p:txBody>
      </p:sp>
      <p:sp>
        <p:nvSpPr>
          <p:cNvPr id="17" name="Text 15"/>
          <p:cNvSpPr txBox="1"/>
          <p:nvPr/>
        </p:nvSpPr>
        <p:spPr>
          <a:xfrm>
            <a:off x="5998464" y="1490472"/>
            <a:ext cx="164592"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8" name="Shape 16"/>
          <p:cNvSpPr/>
          <p:nvPr/>
        </p:nvSpPr>
        <p:spPr>
          <a:xfrm>
            <a:off x="6144768" y="1060704"/>
            <a:ext cx="2738628" cy="1152144"/>
          </a:xfrm>
          <a:prstGeom prst="roundRect">
            <a:avLst>
              <a:gd name="adj" fmla="val 3968"/>
            </a:avLst>
          </a:prstGeom>
          <a:solidFill>
            <a:srgbClr val="E6F2F1"/>
          </a:solidFill>
          <a:ln w="15240">
            <a:solidFill>
              <a:srgbClr val="0B6E6E"/>
            </a:solidFill>
            <a:prstDash val="solid"/>
          </a:ln>
        </p:spPr>
      </p:sp>
      <p:sp>
        <p:nvSpPr>
          <p:cNvPr id="19" name="Text 17"/>
          <p:cNvSpPr txBox="1"/>
          <p:nvPr/>
        </p:nvSpPr>
        <p:spPr>
          <a:xfrm>
            <a:off x="6236208" y="1124712"/>
            <a:ext cx="2555748" cy="182880"/>
          </a:xfrm>
          <a:prstGeom prst="rect">
            <a:avLst/>
          </a:prstGeom>
          <a:noFill/>
          <a:ln/>
        </p:spPr>
        <p:txBody>
          <a:bodyPr wrap="square" lIns="0" tIns="0" rIns="0" bIns="0" rtlCol="0" anchor="ctr"/>
          <a:lstStyle/>
          <a:p>
            <a:pPr indent="0" marL="0">
              <a:buNone/>
            </a:pPr>
            <a:r>
              <a:rPr lang="en-US" sz="720" b="1" spc="80" kern="0" dirty="0">
                <a:solidFill>
                  <a:srgbClr val="0B6E6E"/>
                </a:solidFill>
                <a:latin typeface="Calibri" pitchFamily="34" charset="0"/>
                <a:ea typeface="Calibri" pitchFamily="34" charset="-122"/>
                <a:cs typeface="Calibri" pitchFamily="34" charset="-120"/>
              </a:rPr>
              <a:t>WEEKS 7–10</a:t>
            </a:r>
            <a:endParaRPr lang="en-US" sz="720" dirty="0"/>
          </a:p>
        </p:txBody>
      </p:sp>
      <p:sp>
        <p:nvSpPr>
          <p:cNvPr id="20" name="Text 18"/>
          <p:cNvSpPr txBox="1"/>
          <p:nvPr/>
        </p:nvSpPr>
        <p:spPr>
          <a:xfrm>
            <a:off x="6236208" y="1298448"/>
            <a:ext cx="2555748" cy="420624"/>
          </a:xfrm>
          <a:prstGeom prst="rect">
            <a:avLst/>
          </a:prstGeom>
          <a:noFill/>
          <a:ln/>
        </p:spPr>
        <p:txBody>
          <a:bodyPr wrap="square" lIns="0" tIns="0" rIns="0" bIns="0" rtlCol="0" anchor="t"/>
          <a:lstStyle/>
          <a:p>
            <a:pPr indent="0" marL="0">
              <a:lnSpc>
                <a:spcPts val="1350"/>
              </a:lnSpc>
              <a:buNone/>
            </a:pPr>
            <a:r>
              <a:rPr lang="en-US" sz="1150" b="1" dirty="0">
                <a:solidFill>
                  <a:srgbClr val="1B2432"/>
                </a:solidFill>
                <a:latin typeface="Calibri" pitchFamily="34" charset="0"/>
                <a:ea typeface="Calibri" pitchFamily="34" charset="-122"/>
                <a:cs typeface="Calibri" pitchFamily="34" charset="-120"/>
              </a:rPr>
              <a:t>Operate the tiers</a:t>
            </a:r>
            <a:endParaRPr lang="en-US" sz="1150" dirty="0"/>
          </a:p>
        </p:txBody>
      </p:sp>
      <p:sp>
        <p:nvSpPr>
          <p:cNvPr id="21" name="Text 19"/>
          <p:cNvSpPr txBox="1"/>
          <p:nvPr/>
        </p:nvSpPr>
        <p:spPr>
          <a:xfrm>
            <a:off x="6236208" y="1719072"/>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Tier assignments take effect · Lean+ runs with named guides and checkpoints · first Lean intakes on the simplest patterns</a:t>
            </a:r>
            <a:endParaRPr lang="en-US" sz="720" dirty="0"/>
          </a:p>
        </p:txBody>
      </p:sp>
      <p:sp>
        <p:nvSpPr>
          <p:cNvPr id="22" name="Text 20"/>
          <p:cNvSpPr txBox="1"/>
          <p:nvPr/>
        </p:nvSpPr>
        <p:spPr>
          <a:xfrm>
            <a:off x="8865108" y="1490472"/>
            <a:ext cx="164592"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23" name="Shape 21"/>
          <p:cNvSpPr/>
          <p:nvPr/>
        </p:nvSpPr>
        <p:spPr>
          <a:xfrm>
            <a:off x="9011412" y="1060704"/>
            <a:ext cx="2738628" cy="1152144"/>
          </a:xfrm>
          <a:prstGeom prst="roundRect">
            <a:avLst>
              <a:gd name="adj" fmla="val 3968"/>
            </a:avLst>
          </a:prstGeom>
          <a:solidFill>
            <a:srgbClr val="E8EDF4"/>
          </a:solidFill>
          <a:ln w="15240">
            <a:solidFill>
              <a:srgbClr val="15304F"/>
            </a:solidFill>
            <a:prstDash val="solid"/>
          </a:ln>
        </p:spPr>
      </p:sp>
      <p:sp>
        <p:nvSpPr>
          <p:cNvPr id="24" name="Text 22"/>
          <p:cNvSpPr txBox="1"/>
          <p:nvPr/>
        </p:nvSpPr>
        <p:spPr>
          <a:xfrm>
            <a:off x="9102852" y="1124712"/>
            <a:ext cx="2555748" cy="182880"/>
          </a:xfrm>
          <a:prstGeom prst="rect">
            <a:avLst/>
          </a:prstGeom>
          <a:noFill/>
          <a:ln/>
        </p:spPr>
        <p:txBody>
          <a:bodyPr wrap="square" lIns="0" tIns="0" rIns="0" bIns="0" rtlCol="0" anchor="ctr"/>
          <a:lstStyle/>
          <a:p>
            <a:pPr indent="0" marL="0">
              <a:buNone/>
            </a:pPr>
            <a:r>
              <a:rPr lang="en-US" sz="720" b="1" spc="80" kern="0" dirty="0">
                <a:solidFill>
                  <a:srgbClr val="15304F"/>
                </a:solidFill>
                <a:latin typeface="Calibri" pitchFamily="34" charset="0"/>
                <a:ea typeface="Calibri" pitchFamily="34" charset="-122"/>
                <a:cs typeface="Calibri" pitchFamily="34" charset="-120"/>
              </a:rPr>
              <a:t>WEEKS 11–12</a:t>
            </a:r>
            <a:endParaRPr lang="en-US" sz="720" dirty="0"/>
          </a:p>
        </p:txBody>
      </p:sp>
      <p:sp>
        <p:nvSpPr>
          <p:cNvPr id="25" name="Text 23"/>
          <p:cNvSpPr txBox="1"/>
          <p:nvPr/>
        </p:nvSpPr>
        <p:spPr>
          <a:xfrm>
            <a:off x="9102852" y="1298448"/>
            <a:ext cx="2555748" cy="420624"/>
          </a:xfrm>
          <a:prstGeom prst="rect">
            <a:avLst/>
          </a:prstGeom>
          <a:noFill/>
          <a:ln/>
        </p:spPr>
        <p:txBody>
          <a:bodyPr wrap="square" lIns="0" tIns="0" rIns="0" bIns="0" rtlCol="0" anchor="t"/>
          <a:lstStyle/>
          <a:p>
            <a:pPr indent="0" marL="0">
              <a:lnSpc>
                <a:spcPts val="1350"/>
              </a:lnSpc>
              <a:buNone/>
            </a:pPr>
            <a:r>
              <a:rPr lang="en-US" sz="1150" b="1" dirty="0">
                <a:solidFill>
                  <a:srgbClr val="1B2432"/>
                </a:solidFill>
                <a:latin typeface="Calibri" pitchFamily="34" charset="0"/>
                <a:ea typeface="Calibri" pitchFamily="34" charset="-122"/>
                <a:cs typeface="Calibri" pitchFamily="34" charset="-120"/>
              </a:rPr>
              <a:t>Evidence review</a:t>
            </a:r>
            <a:endParaRPr lang="en-US" sz="1150" dirty="0"/>
          </a:p>
        </p:txBody>
      </p:sp>
      <p:sp>
        <p:nvSpPr>
          <p:cNvPr id="26" name="Text 24"/>
          <p:cNvSpPr txBox="1"/>
          <p:nvPr/>
        </p:nvSpPr>
        <p:spPr>
          <a:xfrm>
            <a:off x="9102852" y="1719072"/>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Compile the measurements, assess against the approval criteria, present the Phase 2 case on what actually happened</a:t>
            </a:r>
            <a:endParaRPr lang="en-US" sz="720" dirty="0"/>
          </a:p>
        </p:txBody>
      </p:sp>
      <p:sp>
        <p:nvSpPr>
          <p:cNvPr id="27" name="Text 25"/>
          <p:cNvSpPr txBox="1"/>
          <p:nvPr/>
        </p:nvSpPr>
        <p:spPr>
          <a:xfrm>
            <a:off x="411480" y="2377440"/>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EVIDENCE GATE — STATED IN ADVANCE SO THE REVIEW IS NOT A NEGOTIATION</a:t>
            </a:r>
            <a:endParaRPr lang="en-US" sz="760" dirty="0"/>
          </a:p>
        </p:txBody>
      </p:sp>
      <p:sp>
        <p:nvSpPr>
          <p:cNvPr id="28" name="Shape 26"/>
          <p:cNvSpPr/>
          <p:nvPr/>
        </p:nvSpPr>
        <p:spPr>
          <a:xfrm>
            <a:off x="411480" y="2578608"/>
            <a:ext cx="11338560" cy="256032"/>
          </a:xfrm>
          <a:prstGeom prst="rect">
            <a:avLst/>
          </a:prstGeom>
          <a:solidFill>
            <a:srgbClr val="15304F"/>
          </a:solidFill>
          <a:ln w="6350">
            <a:solidFill>
              <a:srgbClr val="15304F"/>
            </a:solidFill>
            <a:prstDash val="solid"/>
          </a:ln>
        </p:spPr>
      </p:sp>
      <p:sp>
        <p:nvSpPr>
          <p:cNvPr id="29" name="Text 27"/>
          <p:cNvSpPr txBox="1"/>
          <p:nvPr/>
        </p:nvSpPr>
        <p:spPr>
          <a:xfrm>
            <a:off x="484632" y="2578608"/>
            <a:ext cx="28712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Criterion</a:t>
            </a:r>
            <a:endParaRPr lang="en-US" sz="800" dirty="0"/>
          </a:p>
        </p:txBody>
      </p:sp>
      <p:sp>
        <p:nvSpPr>
          <p:cNvPr id="30" name="Text 28"/>
          <p:cNvSpPr txBox="1"/>
          <p:nvPr/>
        </p:nvSpPr>
        <p:spPr>
          <a:xfrm>
            <a:off x="3502152" y="2578608"/>
            <a:ext cx="37856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What good looks like</a:t>
            </a:r>
            <a:endParaRPr lang="en-US" sz="800" dirty="0"/>
          </a:p>
        </p:txBody>
      </p:sp>
      <p:sp>
        <p:nvSpPr>
          <p:cNvPr id="31" name="Text 29"/>
          <p:cNvSpPr txBox="1"/>
          <p:nvPr/>
        </p:nvSpPr>
        <p:spPr>
          <a:xfrm>
            <a:off x="7434072" y="2578608"/>
            <a:ext cx="42428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What it proves</a:t>
            </a:r>
            <a:endParaRPr lang="en-US" sz="800" dirty="0"/>
          </a:p>
        </p:txBody>
      </p:sp>
      <p:sp>
        <p:nvSpPr>
          <p:cNvPr id="32" name="Shape 30"/>
          <p:cNvSpPr/>
          <p:nvPr/>
        </p:nvSpPr>
        <p:spPr>
          <a:xfrm>
            <a:off x="411480" y="2834640"/>
            <a:ext cx="11338560" cy="297180"/>
          </a:xfrm>
          <a:prstGeom prst="rect">
            <a:avLst/>
          </a:prstGeom>
          <a:solidFill>
            <a:srgbClr val="FFFFFF"/>
          </a:solidFill>
          <a:ln w="6350">
            <a:solidFill>
              <a:srgbClr val="D4DAE2"/>
            </a:solidFill>
            <a:prstDash val="solid"/>
          </a:ln>
        </p:spPr>
      </p:sp>
      <p:sp>
        <p:nvSpPr>
          <p:cNvPr id="33" name="Text 31"/>
          <p:cNvSpPr txBox="1"/>
          <p:nvPr/>
        </p:nvSpPr>
        <p:spPr>
          <a:xfrm>
            <a:off x="484632" y="2834640"/>
            <a:ext cx="2871216" cy="29718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Distribution holds</a:t>
            </a:r>
            <a:endParaRPr lang="en-US" sz="800" dirty="0"/>
          </a:p>
        </p:txBody>
      </p:sp>
      <p:sp>
        <p:nvSpPr>
          <p:cNvPr id="34" name="Text 32"/>
          <p:cNvSpPr txBox="1"/>
          <p:nvPr/>
        </p:nvSpPr>
        <p:spPr>
          <a:xfrm>
            <a:off x="3502152" y="2834640"/>
            <a:ext cx="37856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50%+ of intakes route to Lean or Lean+</a:t>
            </a:r>
            <a:endParaRPr lang="en-US" sz="800" dirty="0"/>
          </a:p>
        </p:txBody>
      </p:sp>
      <p:sp>
        <p:nvSpPr>
          <p:cNvPr id="35" name="Text 33"/>
          <p:cNvSpPr txBox="1"/>
          <p:nvPr/>
        </p:nvSpPr>
        <p:spPr>
          <a:xfrm>
            <a:off x="7434072" y="2834640"/>
            <a:ext cx="42428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The rubric works against live demand, not just a retrospective</a:t>
            </a:r>
            <a:endParaRPr lang="en-US" sz="800" dirty="0"/>
          </a:p>
        </p:txBody>
      </p:sp>
      <p:sp>
        <p:nvSpPr>
          <p:cNvPr id="36" name="Shape 34"/>
          <p:cNvSpPr/>
          <p:nvPr/>
        </p:nvSpPr>
        <p:spPr>
          <a:xfrm>
            <a:off x="411480" y="3131820"/>
            <a:ext cx="11338560" cy="297180"/>
          </a:xfrm>
          <a:prstGeom prst="rect">
            <a:avLst/>
          </a:prstGeom>
          <a:solidFill>
            <a:srgbClr val="F4F7FA"/>
          </a:solidFill>
          <a:ln w="6350">
            <a:solidFill>
              <a:srgbClr val="D4DAE2"/>
            </a:solidFill>
            <a:prstDash val="solid"/>
          </a:ln>
        </p:spPr>
      </p:sp>
      <p:sp>
        <p:nvSpPr>
          <p:cNvPr id="37" name="Text 35"/>
          <p:cNvSpPr txBox="1"/>
          <p:nvPr/>
        </p:nvSpPr>
        <p:spPr>
          <a:xfrm>
            <a:off x="484632" y="3131820"/>
            <a:ext cx="2871216" cy="29718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Lighter tiers hold</a:t>
            </a:r>
            <a:endParaRPr lang="en-US" sz="800" dirty="0"/>
          </a:p>
        </p:txBody>
      </p:sp>
      <p:sp>
        <p:nvSpPr>
          <p:cNvPr id="38" name="Text 36"/>
          <p:cNvSpPr txBox="1"/>
          <p:nvPr/>
        </p:nvSpPr>
        <p:spPr>
          <a:xfrm>
            <a:off x="3502152" y="3131820"/>
            <a:ext cx="37856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Escalation rate out of Lean and Lean+ below 25%</a:t>
            </a:r>
            <a:endParaRPr lang="en-US" sz="800" dirty="0"/>
          </a:p>
        </p:txBody>
      </p:sp>
      <p:sp>
        <p:nvSpPr>
          <p:cNvPr id="39" name="Text 37"/>
          <p:cNvSpPr txBox="1"/>
          <p:nvPr/>
        </p:nvSpPr>
        <p:spPr>
          <a:xfrm>
            <a:off x="7434072" y="3131820"/>
            <a:ext cx="42428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Tier assignment is accurate enough to rely on</a:t>
            </a:r>
            <a:endParaRPr lang="en-US" sz="800" dirty="0"/>
          </a:p>
        </p:txBody>
      </p:sp>
      <p:sp>
        <p:nvSpPr>
          <p:cNvPr id="40" name="Shape 38"/>
          <p:cNvSpPr/>
          <p:nvPr/>
        </p:nvSpPr>
        <p:spPr>
          <a:xfrm>
            <a:off x="411480" y="3429000"/>
            <a:ext cx="11338560" cy="297180"/>
          </a:xfrm>
          <a:prstGeom prst="rect">
            <a:avLst/>
          </a:prstGeom>
          <a:solidFill>
            <a:srgbClr val="FFFFFF"/>
          </a:solidFill>
          <a:ln w="6350">
            <a:solidFill>
              <a:srgbClr val="D4DAE2"/>
            </a:solidFill>
            <a:prstDash val="solid"/>
          </a:ln>
        </p:spPr>
      </p:sp>
      <p:sp>
        <p:nvSpPr>
          <p:cNvPr id="41" name="Text 39"/>
          <p:cNvSpPr txBox="1"/>
          <p:nvPr/>
        </p:nvSpPr>
        <p:spPr>
          <a:xfrm>
            <a:off x="484632" y="3429000"/>
            <a:ext cx="2871216" cy="29718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Clarification cycles fall</a:t>
            </a:r>
            <a:endParaRPr lang="en-US" sz="800" dirty="0"/>
          </a:p>
        </p:txBody>
      </p:sp>
      <p:sp>
        <p:nvSpPr>
          <p:cNvPr id="42" name="Text 40"/>
          <p:cNvSpPr txBox="1"/>
          <p:nvPr/>
        </p:nvSpPr>
        <p:spPr>
          <a:xfrm>
            <a:off x="3502152" y="3429000"/>
            <a:ext cx="37856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 measurable reduction against the baseline</a:t>
            </a:r>
            <a:endParaRPr lang="en-US" sz="800" dirty="0"/>
          </a:p>
        </p:txBody>
      </p:sp>
      <p:sp>
        <p:nvSpPr>
          <p:cNvPr id="43" name="Text 41"/>
          <p:cNvSpPr txBox="1"/>
          <p:nvPr/>
        </p:nvSpPr>
        <p:spPr>
          <a:xfrm>
            <a:off x="7434072" y="3429000"/>
            <a:ext cx="42428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The intake intervention works, and is worth automating</a:t>
            </a:r>
            <a:endParaRPr lang="en-US" sz="800" dirty="0"/>
          </a:p>
        </p:txBody>
      </p:sp>
      <p:sp>
        <p:nvSpPr>
          <p:cNvPr id="44" name="Shape 42"/>
          <p:cNvSpPr/>
          <p:nvPr/>
        </p:nvSpPr>
        <p:spPr>
          <a:xfrm>
            <a:off x="411480" y="3726180"/>
            <a:ext cx="11338560" cy="297180"/>
          </a:xfrm>
          <a:prstGeom prst="rect">
            <a:avLst/>
          </a:prstGeom>
          <a:solidFill>
            <a:srgbClr val="F4F7FA"/>
          </a:solidFill>
          <a:ln w="6350">
            <a:solidFill>
              <a:srgbClr val="D4DAE2"/>
            </a:solidFill>
            <a:prstDash val="solid"/>
          </a:ln>
        </p:spPr>
      </p:sp>
      <p:sp>
        <p:nvSpPr>
          <p:cNvPr id="45" name="Text 43"/>
          <p:cNvSpPr txBox="1"/>
          <p:nvPr/>
        </p:nvSpPr>
        <p:spPr>
          <a:xfrm>
            <a:off x="484632" y="3726180"/>
            <a:ext cx="2871216" cy="29718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Partners accept assigned tiering</a:t>
            </a:r>
            <a:endParaRPr lang="en-US" sz="800" dirty="0"/>
          </a:p>
        </p:txBody>
      </p:sp>
      <p:sp>
        <p:nvSpPr>
          <p:cNvPr id="46" name="Text 44"/>
          <p:cNvSpPr txBox="1"/>
          <p:nvPr/>
        </p:nvSpPr>
        <p:spPr>
          <a:xfrm>
            <a:off x="3502152" y="3726180"/>
            <a:ext cx="37856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Appeal rate below 20%, most unsuccessful</a:t>
            </a:r>
            <a:endParaRPr lang="en-US" sz="800" dirty="0"/>
          </a:p>
        </p:txBody>
      </p:sp>
      <p:sp>
        <p:nvSpPr>
          <p:cNvPr id="47" name="Text 45"/>
          <p:cNvSpPr txBox="1"/>
          <p:nvPr/>
        </p:nvSpPr>
        <p:spPr>
          <a:xfrm>
            <a:off x="7434072" y="3726180"/>
            <a:ext cx="42428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The governance model is viable at scale</a:t>
            </a:r>
            <a:endParaRPr lang="en-US" sz="800" dirty="0"/>
          </a:p>
        </p:txBody>
      </p:sp>
      <p:sp>
        <p:nvSpPr>
          <p:cNvPr id="48" name="Shape 46"/>
          <p:cNvSpPr/>
          <p:nvPr/>
        </p:nvSpPr>
        <p:spPr>
          <a:xfrm>
            <a:off x="411480" y="4023360"/>
            <a:ext cx="11338560" cy="297180"/>
          </a:xfrm>
          <a:prstGeom prst="rect">
            <a:avLst/>
          </a:prstGeom>
          <a:solidFill>
            <a:srgbClr val="FFFFFF"/>
          </a:solidFill>
          <a:ln w="6350">
            <a:solidFill>
              <a:srgbClr val="D4DAE2"/>
            </a:solidFill>
            <a:prstDash val="solid"/>
          </a:ln>
        </p:spPr>
      </p:sp>
      <p:sp>
        <p:nvSpPr>
          <p:cNvPr id="49" name="Text 47"/>
          <p:cNvSpPr txBox="1"/>
          <p:nvPr/>
        </p:nvSpPr>
        <p:spPr>
          <a:xfrm>
            <a:off x="484632" y="4023360"/>
            <a:ext cx="2871216" cy="29718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The baseline exists</a:t>
            </a:r>
            <a:endParaRPr lang="en-US" sz="800" dirty="0"/>
          </a:p>
        </p:txBody>
      </p:sp>
      <p:sp>
        <p:nvSpPr>
          <p:cNvPr id="50" name="Text 48"/>
          <p:cNvSpPr txBox="1"/>
          <p:nvPr/>
        </p:nvSpPr>
        <p:spPr>
          <a:xfrm>
            <a:off x="3502152" y="4023360"/>
            <a:ext cx="37856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Effort and elapsed time per stage per team</a:t>
            </a:r>
            <a:endParaRPr lang="en-US" sz="800" dirty="0"/>
          </a:p>
        </p:txBody>
      </p:sp>
      <p:sp>
        <p:nvSpPr>
          <p:cNvPr id="51" name="Text 49"/>
          <p:cNvSpPr txBox="1"/>
          <p:nvPr/>
        </p:nvSpPr>
        <p:spPr>
          <a:xfrm>
            <a:off x="7434072" y="4023360"/>
            <a:ext cx="42428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The Phase 2 business case can be quantified</a:t>
            </a:r>
            <a:endParaRPr lang="en-US" sz="800" dirty="0"/>
          </a:p>
        </p:txBody>
      </p:sp>
      <p:sp>
        <p:nvSpPr>
          <p:cNvPr id="52" name="Shape 50"/>
          <p:cNvSpPr/>
          <p:nvPr/>
        </p:nvSpPr>
        <p:spPr>
          <a:xfrm>
            <a:off x="411480" y="4320540"/>
            <a:ext cx="11338560" cy="297180"/>
          </a:xfrm>
          <a:prstGeom prst="rect">
            <a:avLst/>
          </a:prstGeom>
          <a:solidFill>
            <a:srgbClr val="F4F7FA"/>
          </a:solidFill>
          <a:ln w="6350">
            <a:solidFill>
              <a:srgbClr val="D4DAE2"/>
            </a:solidFill>
            <a:prstDash val="solid"/>
          </a:ln>
        </p:spPr>
      </p:sp>
      <p:sp>
        <p:nvSpPr>
          <p:cNvPr id="53" name="Text 51"/>
          <p:cNvSpPr txBox="1"/>
          <p:nvPr/>
        </p:nvSpPr>
        <p:spPr>
          <a:xfrm>
            <a:off x="484632" y="4320540"/>
            <a:ext cx="2871216" cy="29718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The bottleneck is identified</a:t>
            </a:r>
            <a:endParaRPr lang="en-US" sz="800" dirty="0"/>
          </a:p>
        </p:txBody>
      </p:sp>
      <p:sp>
        <p:nvSpPr>
          <p:cNvPr id="54" name="Text 52"/>
          <p:cNvSpPr txBox="1"/>
          <p:nvPr/>
        </p:nvSpPr>
        <p:spPr>
          <a:xfrm>
            <a:off x="3502152" y="4320540"/>
            <a:ext cx="37856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 quantified statement of where manual effort concentrates</a:t>
            </a:r>
            <a:endParaRPr lang="en-US" sz="800" dirty="0"/>
          </a:p>
        </p:txBody>
      </p:sp>
      <p:sp>
        <p:nvSpPr>
          <p:cNvPr id="55" name="Text 53"/>
          <p:cNvSpPr txBox="1"/>
          <p:nvPr/>
        </p:nvSpPr>
        <p:spPr>
          <a:xfrm>
            <a:off x="7434072" y="4320540"/>
            <a:ext cx="42428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The Phase 2 backlog is evidence-led, not designed</a:t>
            </a:r>
            <a:endParaRPr lang="en-US" sz="800" dirty="0"/>
          </a:p>
        </p:txBody>
      </p:sp>
      <p:sp>
        <p:nvSpPr>
          <p:cNvPr id="56" name="Shape 54"/>
          <p:cNvSpPr/>
          <p:nvPr/>
        </p:nvSpPr>
        <p:spPr>
          <a:xfrm>
            <a:off x="411480" y="4617720"/>
            <a:ext cx="11338560" cy="297180"/>
          </a:xfrm>
          <a:prstGeom prst="rect">
            <a:avLst/>
          </a:prstGeom>
          <a:solidFill>
            <a:srgbClr val="FFFFFF"/>
          </a:solidFill>
          <a:ln w="6350">
            <a:solidFill>
              <a:srgbClr val="D4DAE2"/>
            </a:solidFill>
            <a:prstDash val="solid"/>
          </a:ln>
        </p:spPr>
      </p:sp>
      <p:sp>
        <p:nvSpPr>
          <p:cNvPr id="57" name="Text 55"/>
          <p:cNvSpPr txBox="1"/>
          <p:nvPr/>
        </p:nvSpPr>
        <p:spPr>
          <a:xfrm>
            <a:off x="484632" y="4617720"/>
            <a:ext cx="2871216" cy="29718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No compliance regression</a:t>
            </a:r>
            <a:endParaRPr lang="en-US" sz="800" dirty="0"/>
          </a:p>
        </p:txBody>
      </p:sp>
      <p:sp>
        <p:nvSpPr>
          <p:cNvPr id="58" name="Text 56"/>
          <p:cNvSpPr txBox="1"/>
          <p:nvPr/>
        </p:nvSpPr>
        <p:spPr>
          <a:xfrm>
            <a:off x="3502152" y="4617720"/>
            <a:ext cx="37856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No increase in findings on completed intakes</a:t>
            </a:r>
            <a:endParaRPr lang="en-US" sz="800" dirty="0"/>
          </a:p>
        </p:txBody>
      </p:sp>
      <p:sp>
        <p:nvSpPr>
          <p:cNvPr id="59" name="Text 57"/>
          <p:cNvSpPr txBox="1"/>
          <p:nvPr/>
        </p:nvSpPr>
        <p:spPr>
          <a:xfrm>
            <a:off x="7434072" y="4617720"/>
            <a:ext cx="4242816" cy="29718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The lighter tiers are safe before they are scaled</a:t>
            </a:r>
            <a:endParaRPr lang="en-US" sz="800" dirty="0"/>
          </a:p>
        </p:txBody>
      </p:sp>
      <p:sp>
        <p:nvSpPr>
          <p:cNvPr id="60" name="Text 58"/>
          <p:cNvSpPr txBox="1"/>
          <p:nvPr/>
        </p:nvSpPr>
        <p:spPr>
          <a:xfrm>
            <a:off x="411480" y="5047488"/>
            <a:ext cx="45720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WHAT PHASE 1 COSTS</a:t>
            </a:r>
            <a:endParaRPr lang="en-US" sz="760" dirty="0"/>
          </a:p>
        </p:txBody>
      </p:sp>
      <p:sp>
        <p:nvSpPr>
          <p:cNvPr id="61" name="Shape 59"/>
          <p:cNvSpPr/>
          <p:nvPr/>
        </p:nvSpPr>
        <p:spPr>
          <a:xfrm>
            <a:off x="411480" y="5248656"/>
            <a:ext cx="2743200" cy="566928"/>
          </a:xfrm>
          <a:prstGeom prst="roundRect">
            <a:avLst>
              <a:gd name="adj" fmla="val 6452"/>
            </a:avLst>
          </a:prstGeom>
          <a:solidFill>
            <a:srgbClr val="FFFFFF"/>
          </a:solidFill>
          <a:ln w="12700">
            <a:solidFill>
              <a:srgbClr val="D4DAE2"/>
            </a:solidFill>
            <a:prstDash val="solid"/>
          </a:ln>
        </p:spPr>
      </p:sp>
      <p:sp>
        <p:nvSpPr>
          <p:cNvPr id="62" name="Text 60"/>
          <p:cNvSpPr txBox="1"/>
          <p:nvPr/>
        </p:nvSpPr>
        <p:spPr>
          <a:xfrm>
            <a:off x="539496" y="5248656"/>
            <a:ext cx="841248" cy="566928"/>
          </a:xfrm>
          <a:prstGeom prst="rect">
            <a:avLst/>
          </a:prstGeom>
          <a:noFill/>
          <a:ln/>
        </p:spPr>
        <p:txBody>
          <a:bodyPr wrap="square" lIns="0" tIns="0" rIns="0" bIns="0" rtlCol="0" anchor="ctr"/>
          <a:lstStyle/>
          <a:p>
            <a:pPr indent="0" marL="0">
              <a:buNone/>
            </a:pPr>
            <a:r>
              <a:rPr lang="en-US" sz="1700" b="1" dirty="0">
                <a:solidFill>
                  <a:srgbClr val="0B6E6E"/>
                </a:solidFill>
                <a:latin typeface="Cambria" pitchFamily="34" charset="0"/>
                <a:ea typeface="Cambria" pitchFamily="34" charset="-122"/>
                <a:cs typeface="Cambria" pitchFamily="34" charset="-120"/>
              </a:rPr>
              <a:t>~2 wks</a:t>
            </a:r>
            <a:endParaRPr lang="en-US" sz="1700" dirty="0"/>
          </a:p>
        </p:txBody>
      </p:sp>
      <p:sp>
        <p:nvSpPr>
          <p:cNvPr id="63" name="Text 61"/>
          <p:cNvSpPr txBox="1"/>
          <p:nvPr/>
        </p:nvSpPr>
        <p:spPr>
          <a:xfrm>
            <a:off x="1417320" y="5248656"/>
            <a:ext cx="1627632" cy="566928"/>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preparation, by people who already hold the knowledge</a:t>
            </a:r>
            <a:endParaRPr lang="en-US" sz="740" dirty="0"/>
          </a:p>
        </p:txBody>
      </p:sp>
      <p:sp>
        <p:nvSpPr>
          <p:cNvPr id="64" name="Shape 62"/>
          <p:cNvSpPr/>
          <p:nvPr/>
        </p:nvSpPr>
        <p:spPr>
          <a:xfrm>
            <a:off x="3291840" y="5248656"/>
            <a:ext cx="2743200" cy="566928"/>
          </a:xfrm>
          <a:prstGeom prst="roundRect">
            <a:avLst>
              <a:gd name="adj" fmla="val 6452"/>
            </a:avLst>
          </a:prstGeom>
          <a:solidFill>
            <a:srgbClr val="FFFFFF"/>
          </a:solidFill>
          <a:ln w="12700">
            <a:solidFill>
              <a:srgbClr val="D4DAE2"/>
            </a:solidFill>
            <a:prstDash val="solid"/>
          </a:ln>
        </p:spPr>
      </p:sp>
      <p:sp>
        <p:nvSpPr>
          <p:cNvPr id="65" name="Text 63"/>
          <p:cNvSpPr txBox="1"/>
          <p:nvPr/>
        </p:nvSpPr>
        <p:spPr>
          <a:xfrm>
            <a:off x="3419856" y="5248656"/>
            <a:ext cx="841248" cy="566928"/>
          </a:xfrm>
          <a:prstGeom prst="rect">
            <a:avLst/>
          </a:prstGeom>
          <a:noFill/>
          <a:ln/>
        </p:spPr>
        <p:txBody>
          <a:bodyPr wrap="square" lIns="0" tIns="0" rIns="0" bIns="0" rtlCol="0" anchor="ctr"/>
          <a:lstStyle/>
          <a:p>
            <a:pPr indent="0" marL="0">
              <a:buNone/>
            </a:pPr>
            <a:r>
              <a:rPr lang="en-US" sz="1700" b="1" dirty="0">
                <a:solidFill>
                  <a:srgbClr val="0B6E6E"/>
                </a:solidFill>
                <a:latin typeface="Cambria" pitchFamily="34" charset="0"/>
                <a:ea typeface="Cambria" pitchFamily="34" charset="-122"/>
                <a:cs typeface="Cambria" pitchFamily="34" charset="-120"/>
              </a:rPr>
              <a:t>0</a:t>
            </a:r>
            <a:endParaRPr lang="en-US" sz="1700" dirty="0"/>
          </a:p>
        </p:txBody>
      </p:sp>
      <p:sp>
        <p:nvSpPr>
          <p:cNvPr id="66" name="Text 64"/>
          <p:cNvSpPr txBox="1"/>
          <p:nvPr/>
        </p:nvSpPr>
        <p:spPr>
          <a:xfrm>
            <a:off x="4297680" y="5248656"/>
            <a:ext cx="1627632" cy="566928"/>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new headcount — the pool comes from existing squads</a:t>
            </a:r>
            <a:endParaRPr lang="en-US" sz="740" dirty="0"/>
          </a:p>
        </p:txBody>
      </p:sp>
      <p:sp>
        <p:nvSpPr>
          <p:cNvPr id="67" name="Shape 65"/>
          <p:cNvSpPr/>
          <p:nvPr/>
        </p:nvSpPr>
        <p:spPr>
          <a:xfrm>
            <a:off x="6172200" y="5248656"/>
            <a:ext cx="2743200" cy="566928"/>
          </a:xfrm>
          <a:prstGeom prst="roundRect">
            <a:avLst>
              <a:gd name="adj" fmla="val 6452"/>
            </a:avLst>
          </a:prstGeom>
          <a:solidFill>
            <a:srgbClr val="FFFFFF"/>
          </a:solidFill>
          <a:ln w="12700">
            <a:solidFill>
              <a:srgbClr val="D4DAE2"/>
            </a:solidFill>
            <a:prstDash val="solid"/>
          </a:ln>
        </p:spPr>
      </p:sp>
      <p:sp>
        <p:nvSpPr>
          <p:cNvPr id="68" name="Text 66"/>
          <p:cNvSpPr txBox="1"/>
          <p:nvPr/>
        </p:nvSpPr>
        <p:spPr>
          <a:xfrm>
            <a:off x="6300216" y="5248656"/>
            <a:ext cx="841248" cy="566928"/>
          </a:xfrm>
          <a:prstGeom prst="rect">
            <a:avLst/>
          </a:prstGeom>
          <a:noFill/>
          <a:ln/>
        </p:spPr>
        <p:txBody>
          <a:bodyPr wrap="square" lIns="0" tIns="0" rIns="0" bIns="0" rtlCol="0" anchor="ctr"/>
          <a:lstStyle/>
          <a:p>
            <a:pPr indent="0" marL="0">
              <a:buNone/>
            </a:pPr>
            <a:r>
              <a:rPr lang="en-US" sz="1700" b="1" dirty="0">
                <a:solidFill>
                  <a:srgbClr val="0B6E6E"/>
                </a:solidFill>
                <a:latin typeface="Cambria" pitchFamily="34" charset="0"/>
                <a:ea typeface="Cambria" pitchFamily="34" charset="-122"/>
                <a:cs typeface="Cambria" pitchFamily="34" charset="-120"/>
              </a:rPr>
              <a:t>0</a:t>
            </a:r>
            <a:endParaRPr lang="en-US" sz="1700" dirty="0"/>
          </a:p>
        </p:txBody>
      </p:sp>
      <p:sp>
        <p:nvSpPr>
          <p:cNvPr id="69" name="Text 67"/>
          <p:cNvSpPr txBox="1"/>
          <p:nvPr/>
        </p:nvSpPr>
        <p:spPr>
          <a:xfrm>
            <a:off x="7178040" y="5248656"/>
            <a:ext cx="1627632" cy="566928"/>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lines of code, tools or systems built</a:t>
            </a:r>
            <a:endParaRPr lang="en-US" sz="740" dirty="0"/>
          </a:p>
        </p:txBody>
      </p:sp>
      <p:sp>
        <p:nvSpPr>
          <p:cNvPr id="70" name="Shape 68"/>
          <p:cNvSpPr/>
          <p:nvPr/>
        </p:nvSpPr>
        <p:spPr>
          <a:xfrm>
            <a:off x="9052560" y="5248656"/>
            <a:ext cx="2743200" cy="566928"/>
          </a:xfrm>
          <a:prstGeom prst="roundRect">
            <a:avLst>
              <a:gd name="adj" fmla="val 6452"/>
            </a:avLst>
          </a:prstGeom>
          <a:solidFill>
            <a:srgbClr val="FFFFFF"/>
          </a:solidFill>
          <a:ln w="12700">
            <a:solidFill>
              <a:srgbClr val="D4DAE2"/>
            </a:solidFill>
            <a:prstDash val="solid"/>
          </a:ln>
        </p:spPr>
      </p:sp>
      <p:sp>
        <p:nvSpPr>
          <p:cNvPr id="71" name="Text 69"/>
          <p:cNvSpPr txBox="1"/>
          <p:nvPr/>
        </p:nvSpPr>
        <p:spPr>
          <a:xfrm>
            <a:off x="9180576" y="5248656"/>
            <a:ext cx="841248" cy="566928"/>
          </a:xfrm>
          <a:prstGeom prst="rect">
            <a:avLst/>
          </a:prstGeom>
          <a:noFill/>
          <a:ln/>
        </p:spPr>
        <p:txBody>
          <a:bodyPr wrap="square" lIns="0" tIns="0" rIns="0" bIns="0" rtlCol="0" anchor="ctr"/>
          <a:lstStyle/>
          <a:p>
            <a:pPr indent="0" marL="0">
              <a:buNone/>
            </a:pPr>
            <a:r>
              <a:rPr lang="en-US" sz="1700" b="1" dirty="0">
                <a:solidFill>
                  <a:srgbClr val="0B6E6E"/>
                </a:solidFill>
                <a:latin typeface="Cambria" pitchFamily="34" charset="0"/>
                <a:ea typeface="Cambria" pitchFamily="34" charset="-122"/>
                <a:cs typeface="Cambria" pitchFamily="34" charset="-120"/>
              </a:rPr>
              <a:t>1 qtr</a:t>
            </a:r>
            <a:endParaRPr lang="en-US" sz="1700" dirty="0"/>
          </a:p>
        </p:txBody>
      </p:sp>
      <p:sp>
        <p:nvSpPr>
          <p:cNvPr id="72" name="Text 70"/>
          <p:cNvSpPr txBox="1"/>
          <p:nvPr/>
        </p:nvSpPr>
        <p:spPr>
          <a:xfrm>
            <a:off x="10058400" y="5248656"/>
            <a:ext cx="1627632" cy="566928"/>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before the Phase 2 decision is taken on evidence</a:t>
            </a:r>
            <a:endParaRPr lang="en-US" sz="740" dirty="0"/>
          </a:p>
        </p:txBody>
      </p:sp>
      <p:sp>
        <p:nvSpPr>
          <p:cNvPr id="73" name="Shape 71"/>
          <p:cNvSpPr/>
          <p:nvPr/>
        </p:nvSpPr>
        <p:spPr>
          <a:xfrm>
            <a:off x="411480" y="5943600"/>
            <a:ext cx="11338560" cy="713232"/>
          </a:xfrm>
          <a:prstGeom prst="roundRect">
            <a:avLst>
              <a:gd name="adj" fmla="val 6410"/>
            </a:avLst>
          </a:prstGeom>
          <a:solidFill>
            <a:srgbClr val="15304F"/>
          </a:solidFill>
          <a:ln w="12700">
            <a:solidFill>
              <a:srgbClr val="333333"/>
            </a:solidFill>
            <a:prstDash val="solid"/>
          </a:ln>
        </p:spPr>
      </p:sp>
      <p:sp>
        <p:nvSpPr>
          <p:cNvPr id="74" name="Text 72"/>
          <p:cNvSpPr txBox="1"/>
          <p:nvPr/>
        </p:nvSpPr>
        <p:spPr>
          <a:xfrm>
            <a:off x="612648" y="6016752"/>
            <a:ext cx="1280160" cy="182880"/>
          </a:xfrm>
          <a:prstGeom prst="rect">
            <a:avLst/>
          </a:prstGeom>
          <a:noFill/>
          <a:ln/>
        </p:spPr>
        <p:txBody>
          <a:bodyPr wrap="square" lIns="0" tIns="0" rIns="0" bIns="0" rtlCol="0" anchor="ctr"/>
          <a:lstStyle/>
          <a:p>
            <a:pPr indent="0" marL="0">
              <a:buNone/>
            </a:pPr>
            <a:r>
              <a:rPr lang="en-US" sz="780" b="1" spc="120" kern="0" dirty="0">
                <a:solidFill>
                  <a:srgbClr val="8FB8B8"/>
                </a:solidFill>
                <a:latin typeface="Calibri" pitchFamily="34" charset="0"/>
                <a:ea typeface="Calibri" pitchFamily="34" charset="-122"/>
                <a:cs typeface="Calibri" pitchFamily="34" charset="-120"/>
              </a:rPr>
              <a:t>THE ASK</a:t>
            </a:r>
            <a:endParaRPr lang="en-US" sz="780" dirty="0"/>
          </a:p>
        </p:txBody>
      </p:sp>
      <p:sp>
        <p:nvSpPr>
          <p:cNvPr id="75" name="Text 73"/>
          <p:cNvSpPr txBox="1"/>
          <p:nvPr/>
        </p:nvSpPr>
        <p:spPr>
          <a:xfrm>
            <a:off x="1965960" y="6089904"/>
            <a:ext cx="237744" cy="402336"/>
          </a:xfrm>
          <a:prstGeom prst="rect">
            <a:avLst/>
          </a:prstGeom>
          <a:noFill/>
          <a:ln/>
        </p:spPr>
        <p:txBody>
          <a:bodyPr wrap="square" lIns="0" tIns="0" rIns="0" bIns="0" rtlCol="0" anchor="ctr"/>
          <a:lstStyle/>
          <a:p>
            <a:pPr indent="0" marL="0">
              <a:buNone/>
            </a:pPr>
            <a:r>
              <a:rPr lang="en-US" sz="1600" b="1" dirty="0">
                <a:solidFill>
                  <a:srgbClr val="F0B48A"/>
                </a:solidFill>
                <a:latin typeface="Cambria" pitchFamily="34" charset="0"/>
                <a:ea typeface="Cambria" pitchFamily="34" charset="-122"/>
                <a:cs typeface="Cambria" pitchFamily="34" charset="-120"/>
              </a:rPr>
              <a:t>1</a:t>
            </a:r>
            <a:endParaRPr lang="en-US" sz="1600" dirty="0"/>
          </a:p>
        </p:txBody>
      </p:sp>
      <p:sp>
        <p:nvSpPr>
          <p:cNvPr id="76" name="Text 74"/>
          <p:cNvSpPr txBox="1"/>
          <p:nvPr/>
        </p:nvSpPr>
        <p:spPr>
          <a:xfrm>
            <a:off x="2240280" y="6089904"/>
            <a:ext cx="2871216" cy="420624"/>
          </a:xfrm>
          <a:prstGeom prst="rect">
            <a:avLst/>
          </a:prstGeom>
          <a:noFill/>
          <a:ln/>
        </p:spPr>
        <p:txBody>
          <a:bodyPr wrap="square" lIns="0" tIns="0" rIns="0" bIns="0" rtlCol="0" anchor="ctr"/>
          <a:lstStyle/>
          <a:p>
            <a:pPr indent="0" marL="0">
              <a:lnSpc>
                <a:spcPts val="960"/>
              </a:lnSpc>
              <a:buNone/>
            </a:pPr>
            <a:r>
              <a:rPr lang="en-US" sz="800" dirty="0">
                <a:solidFill>
                  <a:srgbClr val="FFFFFF"/>
                </a:solidFill>
                <a:latin typeface="Calibri" pitchFamily="34" charset="0"/>
                <a:ea typeface="Calibri" pitchFamily="34" charset="-122"/>
                <a:cs typeface="Calibri" pitchFamily="34" charset="-120"/>
              </a:rPr>
              <a:t>Approve Phase 1 — a quarter of process change, no build, no new headcount</a:t>
            </a:r>
            <a:endParaRPr lang="en-US" sz="800" dirty="0"/>
          </a:p>
        </p:txBody>
      </p:sp>
      <p:sp>
        <p:nvSpPr>
          <p:cNvPr id="77" name="Text 75"/>
          <p:cNvSpPr txBox="1"/>
          <p:nvPr/>
        </p:nvSpPr>
        <p:spPr>
          <a:xfrm>
            <a:off x="5257800" y="6089904"/>
            <a:ext cx="237744" cy="402336"/>
          </a:xfrm>
          <a:prstGeom prst="rect">
            <a:avLst/>
          </a:prstGeom>
          <a:noFill/>
          <a:ln/>
        </p:spPr>
        <p:txBody>
          <a:bodyPr wrap="square" lIns="0" tIns="0" rIns="0" bIns="0" rtlCol="0" anchor="ctr"/>
          <a:lstStyle/>
          <a:p>
            <a:pPr indent="0" marL="0">
              <a:buNone/>
            </a:pPr>
            <a:r>
              <a:rPr lang="en-US" sz="1600" b="1" dirty="0">
                <a:solidFill>
                  <a:srgbClr val="F0B48A"/>
                </a:solidFill>
                <a:latin typeface="Cambria" pitchFamily="34" charset="0"/>
                <a:ea typeface="Cambria" pitchFamily="34" charset="-122"/>
                <a:cs typeface="Cambria" pitchFamily="34" charset="-120"/>
              </a:rPr>
              <a:t>2</a:t>
            </a:r>
            <a:endParaRPr lang="en-US" sz="1600" dirty="0"/>
          </a:p>
        </p:txBody>
      </p:sp>
      <p:sp>
        <p:nvSpPr>
          <p:cNvPr id="78" name="Text 76"/>
          <p:cNvSpPr txBox="1"/>
          <p:nvPr/>
        </p:nvSpPr>
        <p:spPr>
          <a:xfrm>
            <a:off x="5532120" y="6089904"/>
            <a:ext cx="2871216" cy="420624"/>
          </a:xfrm>
          <a:prstGeom prst="rect">
            <a:avLst/>
          </a:prstGeom>
          <a:noFill/>
          <a:ln/>
        </p:spPr>
        <p:txBody>
          <a:bodyPr wrap="square" lIns="0" tIns="0" rIns="0" bIns="0" rtlCol="0" anchor="ctr"/>
          <a:lstStyle/>
          <a:p>
            <a:pPr indent="0" marL="0">
              <a:lnSpc>
                <a:spcPts val="960"/>
              </a:lnSpc>
              <a:buNone/>
            </a:pPr>
            <a:r>
              <a:rPr lang="en-US" sz="800" dirty="0">
                <a:solidFill>
                  <a:srgbClr val="FFFFFF"/>
                </a:solidFill>
                <a:latin typeface="Calibri" pitchFamily="34" charset="0"/>
                <a:ea typeface="Calibri" pitchFamily="34" charset="-122"/>
                <a:cs typeface="Calibri" pitchFamily="34" charset="-120"/>
              </a:rPr>
              <a:t>Commit to protecting the shared pool from reclaim for the duration</a:t>
            </a:r>
            <a:endParaRPr lang="en-US" sz="800" dirty="0"/>
          </a:p>
        </p:txBody>
      </p:sp>
      <p:sp>
        <p:nvSpPr>
          <p:cNvPr id="79" name="Text 77"/>
          <p:cNvSpPr txBox="1"/>
          <p:nvPr/>
        </p:nvSpPr>
        <p:spPr>
          <a:xfrm>
            <a:off x="8549640" y="6089904"/>
            <a:ext cx="237744" cy="402336"/>
          </a:xfrm>
          <a:prstGeom prst="rect">
            <a:avLst/>
          </a:prstGeom>
          <a:noFill/>
          <a:ln/>
        </p:spPr>
        <p:txBody>
          <a:bodyPr wrap="square" lIns="0" tIns="0" rIns="0" bIns="0" rtlCol="0" anchor="ctr"/>
          <a:lstStyle/>
          <a:p>
            <a:pPr indent="0" marL="0">
              <a:buNone/>
            </a:pPr>
            <a:r>
              <a:rPr lang="en-US" sz="1600" b="1" dirty="0">
                <a:solidFill>
                  <a:srgbClr val="F0B48A"/>
                </a:solidFill>
                <a:latin typeface="Cambria" pitchFamily="34" charset="0"/>
                <a:ea typeface="Cambria" pitchFamily="34" charset="-122"/>
                <a:cs typeface="Cambria" pitchFamily="34" charset="-120"/>
              </a:rPr>
              <a:t>3</a:t>
            </a:r>
            <a:endParaRPr lang="en-US" sz="1600" dirty="0"/>
          </a:p>
        </p:txBody>
      </p:sp>
      <p:sp>
        <p:nvSpPr>
          <p:cNvPr id="80" name="Text 78"/>
          <p:cNvSpPr txBox="1"/>
          <p:nvPr/>
        </p:nvSpPr>
        <p:spPr>
          <a:xfrm>
            <a:off x="8823960" y="6089904"/>
            <a:ext cx="2871216" cy="420624"/>
          </a:xfrm>
          <a:prstGeom prst="rect">
            <a:avLst/>
          </a:prstGeom>
          <a:noFill/>
          <a:ln/>
        </p:spPr>
        <p:txBody>
          <a:bodyPr wrap="square" lIns="0" tIns="0" rIns="0" bIns="0" rtlCol="0" anchor="ctr"/>
          <a:lstStyle/>
          <a:p>
            <a:pPr indent="0" marL="0">
              <a:lnSpc>
                <a:spcPts val="960"/>
              </a:lnSpc>
              <a:buNone/>
            </a:pPr>
            <a:r>
              <a:rPr lang="en-US" sz="800" dirty="0">
                <a:solidFill>
                  <a:srgbClr val="FFFFFF"/>
                </a:solidFill>
                <a:latin typeface="Calibri" pitchFamily="34" charset="0"/>
                <a:ea typeface="Calibri" pitchFamily="34" charset="-122"/>
                <a:cs typeface="Calibri" pitchFamily="34" charset="-120"/>
              </a:rPr>
              <a:t>Agree the evidence gate now, and take the Phase 2 decision against it at week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ECM Partner Enablement — Phase 1: The Manual Approach</dc:title>
  <dc:subject>PptxGenJS Presentation</dc:subject>
  <dc:creator>ECM Partner Enablement</dc:creator>
  <cp:lastModifiedBy>ECM Partner Enablement</cp:lastModifiedBy>
  <cp:revision>1</cp:revision>
  <dcterms:created xsi:type="dcterms:W3CDTF">2026-10-16T12:07:41Z</dcterms:created>
  <dcterms:modified xsi:type="dcterms:W3CDTF">2026-10-16T12:07:41Z</dcterms:modified>
</cp:coreProperties>
</file>