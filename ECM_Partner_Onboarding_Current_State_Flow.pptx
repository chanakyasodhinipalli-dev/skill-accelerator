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DIAGRAM
Show the current-state onboarding exactly as it runs today — every stage, every decision point, every rework loop — and make ownership visible through colour so the number of handoffs is apparent at a glance rather than having to be counted.
HOW TO READ IT
The flow serpentines: row one runs left to right, row two right to left, row three left to right again. Nine process boxes, five decision diamonds, four rework loops. Colour is ownership, and the legend at the foot names all nine owner groups.
The single most useful observation to make out loud: count the colour changes. Ownership moves at least six times across the nine stages — partner team, ECM intake, LOB sponsor, product owner, L3 product manager, enabling and engineering, and finally the onboarding resource. Each colour change is a point at which context has to be rebuilt rather than carried.
THE FIVE DECISION POINTS
Meets minimum intake criteria (Stage 2) — the gate that protects engineering capacity. Its job is not to judge whether the demand is worth doing, which is Stage 3, but whether it is understood well enough for anyone to make that judgement. A "no" returns the request to the partner.
Information and samples complete (Stage 4) — drives the TRIAGE-AWAITING-DETAILS state. Worth dwelling on: completing triage correctly requires coordinated manual edits across three separate label fields plus a date field, with no validation that all four were done. An intake with a missing impact tag does not fail loudly; it silently never reaches the team that should have seen it.
Trusted or untrusted (Stage 4) — the Imaging Governance determination, and the one decision on this diagram that is a decision right rather than a service. It is made by viewing the documents on the flow, not from a description on paper, which is why sample availability is a practical precondition for completing Stage 4. It sets the scope of an entire downstream workstream, and for trusted content it also fixes the document category, type and subtype that retention, search and audit are keyed to.
Commitment indicator (Stage 7) — TBD, ATL, ATL+ or BTL. The value of this gate lies as much in the refusals as the acceptances: a BTL communicated early lets the LOB re-prioritise or reset partner expectations, whereas an unstated capacity problem surfaces as a missed date.
Scrum team assigned (Stage 7) — a hard constraint rather than a preference. A partner with no scrum team cannot progress beyond the first environment, which makes the capacity outcome a gate on how far delivery can proceed at all.
THE FOUR REWORK LOOPS
Return to the partner for revision. The awaiting-details follow-up loop, where nothing enforces the follow-up date. The BTL return to LOB re-prioritisation. And the environment constraint. Each one is a point where elapsed time accrues without engineering work happening.
THE SPINE AT THE FOOT
The Partner Onboarding Resource band is deliberately drawn across the full width rather than placed in a lane, because that is what the role actually does. It is engaged in eight of nine stages and is the only participant that is. Everything that makes the onboarding coherent — what was agreed, what is outstanding, who owes what, which approval blocks which activity — lives in that role's working memory and follow-up discipline.
This is not a criticism of how the role is performed. It is a structural observation, and it is the specific constraint that the target state addresses.
LIKELY QUESTIONS
"Does the sequence ever vary?" No. All nine stages run for every partner, and no stage is skipped regardless of partner type or request size. What varies is how long each takes and how many teams are drawn in.
"Why is Stage 8 one box?" Because it is the largest stage by a wide margin and is not a single activity but ten parallel workstreams. The second diagram explodes it.
"Where does most of the elapsed time go?" Stage 4 and Stage 8, for different reasons — Stage 4 waits on information and samples, Stage 8 waits on other teams' queues.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DIAGRAM
Stage 8 is the largest stage in the process by a wide margin, and on the end-to-end diagram it is necessarily one box. This explodes it into the five workstream groups that actually run, the routing rules that most often go wrong, and the convergence into testing and release.
THE FIVE WORKSTREAM GROUPS RUN IN PARALLEL
They are drawn side by side rather than in sequence because that is how they run. They are also owned by different teams, which is why they are coloured differently, and each converges independently on the same test cycle.
Connectivity, security and access. The important detail is in the footer: access provisioning routes by request type rather than by environment. Service accounts route through the access request tooling in both environments; human user access routes through the access request tooling for one domain and the identity management system for the other. Getting this wrong does not produce an error — it produces a request sitting in the wrong queue that is eventually rejected, after the delay has already been incurred.
Apigee and KEES. Two separate onboarding trackers, both maintained by hand, both needing approvals chased by the onboarding resource.
Content processing. This is the workstream whose entire scope was set back in Stage 4 by the Imaging Governance determination. Untrusted content needs virus scanning, AI classification profile development and human-in-the-loop design. Trusted content bypasses classification but still carries a governance-allocated category, type and subtype. The footer carries the rule people forget: a new document type introduced after the original determination returns to Imaging Governance for a fresh decision — it does not inherit the classification of an existing type.
Metadata, repository and retention. Discovery workshops, mappings, and the RM questionnaire that turns a business retention requirement into an enforced schedule.
Capacity engineering and SPLI. The footer carries the second routing rule that is easy to get wrong: intakes are raised against the fixed intake project, but capacity planning and SPLI tickets are raised against the allocated scrum team's own project, which has to be resolved from the intake rather than assumed. A ticket raised against the wrong project is not rejected — it is simply invisible to the team that needs to action it.
THE CONVERGENCE
Five test cycles, each catching a different class of failure, with defect and conflict resolution running continuously alongside rather than as a phase. Conflicts arise in configuration, where independently configured systems make incompatible assumptions, as well as in defects raised during testing.
Then the environment ladder, which is fixed and has no optional steps, followed by documentation, runbooks and the technical and business sign-offs.
WHAT THIS DIAGRAM IS FOR
Two things. First, it makes the scale of Stage 8 visible — five parallel workstreams, five test cycles, two trackers, four named deliverables and at least seven specialist teams, all coordinated by one onboarding resource. Second, the three italic footers are the failure modes that cost the most elapsed time and are the hardest to see when they happen, because none of them produces an error. They produce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Partner onboarding — current state, intake to production go-live</a:t>
            </a:r>
            <a:endParaRPr lang="en-US" sz="2400" dirty="0"/>
          </a:p>
        </p:txBody>
      </p:sp>
      <p:sp>
        <p:nvSpPr>
          <p:cNvPr id="3" name="Text 1"/>
          <p:cNvSpPr txBox="1"/>
          <p:nvPr/>
        </p:nvSpPr>
        <p:spPr>
          <a:xfrm>
            <a:off x="411480"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Nine stages, five decision points and four rework loops. Every step is executed or coordinated by people; no part of this flow is automated</a:t>
            </a:r>
            <a:endParaRPr lang="en-US" sz="1050" dirty="0"/>
          </a:p>
        </p:txBody>
      </p:sp>
      <p:sp>
        <p:nvSpPr>
          <p:cNvPr id="4" name="Text 2"/>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Current state</a:t>
            </a:r>
            <a:endParaRPr lang="en-US" sz="950" dirty="0"/>
          </a:p>
        </p:txBody>
      </p:sp>
      <p:sp>
        <p:nvSpPr>
          <p:cNvPr id="5" name="Shape 3"/>
          <p:cNvSpPr/>
          <p:nvPr/>
        </p:nvSpPr>
        <p:spPr>
          <a:xfrm>
            <a:off x="411480" y="932688"/>
            <a:ext cx="11338560" cy="0"/>
          </a:xfrm>
          <a:prstGeom prst="line">
            <a:avLst/>
          </a:prstGeom>
          <a:noFill/>
          <a:ln w="12700">
            <a:solidFill>
              <a:srgbClr val="D4DAE2"/>
            </a:solidFill>
            <a:prstDash val="solid"/>
          </a:ln>
        </p:spPr>
      </p:sp>
      <p:sp>
        <p:nvSpPr>
          <p:cNvPr id="6" name="Shape 4"/>
          <p:cNvSpPr/>
          <p:nvPr/>
        </p:nvSpPr>
        <p:spPr>
          <a:xfrm>
            <a:off x="411480" y="1097280"/>
            <a:ext cx="1960474" cy="1097280"/>
          </a:xfrm>
          <a:prstGeom prst="roundRect">
            <a:avLst>
              <a:gd name="adj" fmla="val 4167"/>
            </a:avLst>
          </a:prstGeom>
          <a:solidFill>
            <a:srgbClr val="FFFFFF"/>
          </a:solidFill>
          <a:ln w="15875">
            <a:solidFill>
              <a:srgbClr val="2E6B4F"/>
            </a:solidFill>
            <a:prstDash val="solid"/>
          </a:ln>
          <a:effectLst>
            <a:outerShdw sx="100000" sy="100000" kx="0" ky="0" algn="bl" rotWithShape="0" blurRad="88900" dist="12700" dir="5400000">
              <a:srgbClr val="97A3B4">
                <a:alpha val="16000"/>
              </a:srgbClr>
            </a:outerShdw>
          </a:effectLst>
        </p:spPr>
      </p:sp>
      <p:sp>
        <p:nvSpPr>
          <p:cNvPr id="7" name="Shape 5"/>
          <p:cNvSpPr/>
          <p:nvPr/>
        </p:nvSpPr>
        <p:spPr>
          <a:xfrm>
            <a:off x="411480" y="1097280"/>
            <a:ext cx="1960474" cy="274320"/>
          </a:xfrm>
          <a:prstGeom prst="rect">
            <a:avLst/>
          </a:prstGeom>
          <a:solidFill>
            <a:srgbClr val="2E6B4F"/>
          </a:solidFill>
          <a:ln w="12700">
            <a:solidFill>
              <a:srgbClr val="2E6B4F"/>
            </a:solidFill>
            <a:prstDash val="solid"/>
          </a:ln>
        </p:spPr>
      </p:sp>
      <p:sp>
        <p:nvSpPr>
          <p:cNvPr id="8" name="Text 6"/>
          <p:cNvSpPr txBox="1"/>
          <p:nvPr/>
        </p:nvSpPr>
        <p:spPr>
          <a:xfrm>
            <a:off x="521208" y="1097280"/>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1   Partner Request</a:t>
            </a:r>
            <a:endParaRPr lang="en-US" sz="860" dirty="0"/>
          </a:p>
        </p:txBody>
      </p:sp>
      <p:sp>
        <p:nvSpPr>
          <p:cNvPr id="9" name="Text 7"/>
          <p:cNvSpPr txBox="1"/>
          <p:nvPr/>
        </p:nvSpPr>
        <p:spPr>
          <a:xfrm>
            <a:off x="521208" y="1426464"/>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Business need articulated. Definition of Ready workbook completed. Document types, sizes and traits captured; dependencies listed.</a:t>
            </a:r>
            <a:endParaRPr lang="en-US" sz="710" dirty="0"/>
          </a:p>
        </p:txBody>
      </p:sp>
      <p:sp>
        <p:nvSpPr>
          <p:cNvPr id="10" name="Shape 8"/>
          <p:cNvSpPr/>
          <p:nvPr/>
        </p:nvSpPr>
        <p:spPr>
          <a:xfrm>
            <a:off x="411480" y="1938528"/>
            <a:ext cx="1960474" cy="256032"/>
          </a:xfrm>
          <a:prstGeom prst="rect">
            <a:avLst/>
          </a:prstGeom>
          <a:solidFill>
            <a:srgbClr val="ECF3EE"/>
          </a:solidFill>
          <a:ln w="12700">
            <a:solidFill>
              <a:srgbClr val="ECF3EE"/>
            </a:solidFill>
            <a:prstDash val="solid"/>
          </a:ln>
        </p:spPr>
      </p:sp>
      <p:sp>
        <p:nvSpPr>
          <p:cNvPr id="11" name="Text 9"/>
          <p:cNvSpPr txBox="1"/>
          <p:nvPr/>
        </p:nvSpPr>
        <p:spPr>
          <a:xfrm>
            <a:off x="521208" y="1938528"/>
            <a:ext cx="1741018" cy="256032"/>
          </a:xfrm>
          <a:prstGeom prst="rect">
            <a:avLst/>
          </a:prstGeom>
          <a:noFill/>
          <a:ln/>
        </p:spPr>
        <p:txBody>
          <a:bodyPr wrap="square" lIns="0" tIns="0" rIns="0" bIns="0" rtlCol="0" anchor="ctr"/>
          <a:lstStyle/>
          <a:p>
            <a:pPr indent="0" marL="0">
              <a:buNone/>
            </a:pPr>
            <a:r>
              <a:rPr lang="en-US" sz="680" b="1" i="1" dirty="0">
                <a:solidFill>
                  <a:srgbClr val="2E6B4F"/>
                </a:solidFill>
                <a:latin typeface="Calibri" pitchFamily="34" charset="0"/>
                <a:ea typeface="Calibri" pitchFamily="34" charset="-122"/>
                <a:cs typeface="Calibri" pitchFamily="34" charset="-120"/>
              </a:rPr>
              <a:t>Requestor owns completeness</a:t>
            </a:r>
            <a:endParaRPr lang="en-US" sz="680" dirty="0"/>
          </a:p>
        </p:txBody>
      </p:sp>
      <p:sp>
        <p:nvSpPr>
          <p:cNvPr id="12" name="Shape 10"/>
          <p:cNvSpPr/>
          <p:nvPr/>
        </p:nvSpPr>
        <p:spPr>
          <a:xfrm>
            <a:off x="2756002" y="1097280"/>
            <a:ext cx="1960474" cy="1097280"/>
          </a:xfrm>
          <a:prstGeom prst="roundRect">
            <a:avLst>
              <a:gd name="adj" fmla="val 4167"/>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13" name="Shape 11"/>
          <p:cNvSpPr/>
          <p:nvPr/>
        </p:nvSpPr>
        <p:spPr>
          <a:xfrm>
            <a:off x="2756002" y="1097280"/>
            <a:ext cx="1960474" cy="274320"/>
          </a:xfrm>
          <a:prstGeom prst="rect">
            <a:avLst/>
          </a:prstGeom>
          <a:solidFill>
            <a:srgbClr val="15304F"/>
          </a:solidFill>
          <a:ln w="12700">
            <a:solidFill>
              <a:srgbClr val="15304F"/>
            </a:solidFill>
            <a:prstDash val="solid"/>
          </a:ln>
        </p:spPr>
      </p:sp>
      <p:sp>
        <p:nvSpPr>
          <p:cNvPr id="14" name="Text 12"/>
          <p:cNvSpPr txBox="1"/>
          <p:nvPr/>
        </p:nvSpPr>
        <p:spPr>
          <a:xfrm>
            <a:off x="2865730" y="1097280"/>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2   Intake Review</a:t>
            </a:r>
            <a:endParaRPr lang="en-US" sz="860" dirty="0"/>
          </a:p>
        </p:txBody>
      </p:sp>
      <p:sp>
        <p:nvSpPr>
          <p:cNvPr id="15" name="Text 13"/>
          <p:cNvSpPr txBox="1"/>
          <p:nvPr/>
        </p:nvSpPr>
        <p:spPr>
          <a:xfrm>
            <a:off x="2865730" y="1426464"/>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L4 / L3 product managers review completeness, accuracy and readiness. TRIAGE-NOT-STARTED applied. Discovery participants named.</a:t>
            </a:r>
            <a:endParaRPr lang="en-US" sz="710" dirty="0"/>
          </a:p>
        </p:txBody>
      </p:sp>
      <p:sp>
        <p:nvSpPr>
          <p:cNvPr id="16" name="Shape 14"/>
          <p:cNvSpPr/>
          <p:nvPr/>
        </p:nvSpPr>
        <p:spPr>
          <a:xfrm>
            <a:off x="2756002" y="1938528"/>
            <a:ext cx="1960474" cy="256032"/>
          </a:xfrm>
          <a:prstGeom prst="rect">
            <a:avLst/>
          </a:prstGeom>
          <a:solidFill>
            <a:srgbClr val="E8EDF4"/>
          </a:solidFill>
          <a:ln w="12700">
            <a:solidFill>
              <a:srgbClr val="E8EDF4"/>
            </a:solidFill>
            <a:prstDash val="solid"/>
          </a:ln>
        </p:spPr>
      </p:sp>
      <p:sp>
        <p:nvSpPr>
          <p:cNvPr id="17" name="Text 15"/>
          <p:cNvSpPr txBox="1"/>
          <p:nvPr/>
        </p:nvSpPr>
        <p:spPr>
          <a:xfrm>
            <a:off x="2865730" y="1938528"/>
            <a:ext cx="1741018" cy="256032"/>
          </a:xfrm>
          <a:prstGeom prst="rect">
            <a:avLst/>
          </a:prstGeom>
          <a:noFill/>
          <a:ln/>
        </p:spPr>
        <p:txBody>
          <a:bodyPr wrap="square" lIns="0" tIns="0" rIns="0" bIns="0" rtlCol="0" anchor="ctr"/>
          <a:lstStyle/>
          <a:p>
            <a:pPr indent="0" marL="0">
              <a:buNone/>
            </a:pPr>
            <a:r>
              <a:rPr lang="en-US" sz="680" b="1" i="1" dirty="0">
                <a:solidFill>
                  <a:srgbClr val="15304F"/>
                </a:solidFill>
                <a:latin typeface="Calibri" pitchFamily="34" charset="0"/>
                <a:ea typeface="Calibri" pitchFamily="34" charset="-122"/>
                <a:cs typeface="Calibri" pitchFamily="34" charset="-120"/>
              </a:rPr>
              <a:t>Gate that protects capacity</a:t>
            </a:r>
            <a:endParaRPr lang="en-US" sz="680" dirty="0"/>
          </a:p>
        </p:txBody>
      </p:sp>
      <p:sp>
        <p:nvSpPr>
          <p:cNvPr id="18" name="Shape 16"/>
          <p:cNvSpPr/>
          <p:nvPr/>
        </p:nvSpPr>
        <p:spPr>
          <a:xfrm>
            <a:off x="5166360" y="1097280"/>
            <a:ext cx="1828800" cy="1097280"/>
          </a:xfrm>
          <a:prstGeom prst="diamond">
            <a:avLst/>
          </a:prstGeom>
          <a:solidFill>
            <a:srgbClr val="E8EDF4"/>
          </a:solidFill>
          <a:ln w="17780">
            <a:solidFill>
              <a:srgbClr val="15304F"/>
            </a:solidFill>
            <a:prstDash val="solid"/>
          </a:ln>
        </p:spPr>
      </p:sp>
      <p:sp>
        <p:nvSpPr>
          <p:cNvPr id="19" name="Text 17"/>
          <p:cNvSpPr txBox="1"/>
          <p:nvPr/>
        </p:nvSpPr>
        <p:spPr>
          <a:xfrm>
            <a:off x="5440680" y="1097280"/>
            <a:ext cx="1280160" cy="1097280"/>
          </a:xfrm>
          <a:prstGeom prst="rect">
            <a:avLst/>
          </a:prstGeom>
          <a:noFill/>
          <a:ln/>
        </p:spPr>
        <p:txBody>
          <a:bodyPr wrap="square" lIns="0" tIns="0" rIns="0" bIns="0" rtlCol="0" anchor="ctr"/>
          <a:lstStyle/>
          <a:p>
            <a:pPr algn="ctr" indent="0" marL="0">
              <a:lnSpc>
                <a:spcPts val="820"/>
              </a:lnSpc>
              <a:buNone/>
            </a:pPr>
            <a:r>
              <a:rPr lang="en-US" sz="700" b="1" dirty="0">
                <a:solidFill>
                  <a:srgbClr val="15304F"/>
                </a:solidFill>
                <a:latin typeface="Calibri" pitchFamily="34" charset="0"/>
                <a:ea typeface="Calibri" pitchFamily="34" charset="-122"/>
                <a:cs typeface="Calibri" pitchFamily="34" charset="-120"/>
              </a:rPr>
              <a:t>Meets minimum</a:t>
            </a:r>
            <a:endParaRPr lang="en-US" sz="700" dirty="0"/>
          </a:p>
          <a:p>
            <a:pPr algn="ctr" indent="0" marL="0">
              <a:lnSpc>
                <a:spcPts val="820"/>
              </a:lnSpc>
              <a:buNone/>
            </a:pPr>
            <a:r>
              <a:rPr lang="en-US" sz="700" b="1" dirty="0">
                <a:solidFill>
                  <a:srgbClr val="15304F"/>
                </a:solidFill>
                <a:latin typeface="Calibri" pitchFamily="34" charset="0"/>
                <a:ea typeface="Calibri" pitchFamily="34" charset="-122"/>
                <a:cs typeface="Calibri" pitchFamily="34" charset="-120"/>
              </a:rPr>
              <a:t>intake criteria?</a:t>
            </a:r>
            <a:endParaRPr lang="en-US" sz="700" dirty="0"/>
          </a:p>
        </p:txBody>
      </p:sp>
      <p:sp>
        <p:nvSpPr>
          <p:cNvPr id="20" name="Shape 18"/>
          <p:cNvSpPr/>
          <p:nvPr/>
        </p:nvSpPr>
        <p:spPr>
          <a:xfrm>
            <a:off x="7445045" y="1097280"/>
            <a:ext cx="1960474" cy="1097280"/>
          </a:xfrm>
          <a:prstGeom prst="roundRect">
            <a:avLst>
              <a:gd name="adj" fmla="val 4167"/>
            </a:avLst>
          </a:prstGeom>
          <a:solidFill>
            <a:srgbClr val="FFFFFF"/>
          </a:solidFill>
          <a:ln w="15875">
            <a:solidFill>
              <a:srgbClr val="5B4A72"/>
            </a:solidFill>
            <a:prstDash val="solid"/>
          </a:ln>
          <a:effectLst>
            <a:outerShdw sx="100000" sy="100000" kx="0" ky="0" algn="bl" rotWithShape="0" blurRad="88900" dist="12700" dir="5400000">
              <a:srgbClr val="97A3B4">
                <a:alpha val="16000"/>
              </a:srgbClr>
            </a:outerShdw>
          </a:effectLst>
        </p:spPr>
      </p:sp>
      <p:sp>
        <p:nvSpPr>
          <p:cNvPr id="21" name="Shape 19"/>
          <p:cNvSpPr/>
          <p:nvPr/>
        </p:nvSpPr>
        <p:spPr>
          <a:xfrm>
            <a:off x="7445045" y="1097280"/>
            <a:ext cx="1960474" cy="274320"/>
          </a:xfrm>
          <a:prstGeom prst="rect">
            <a:avLst/>
          </a:prstGeom>
          <a:solidFill>
            <a:srgbClr val="5B4A72"/>
          </a:solidFill>
          <a:ln w="12700">
            <a:solidFill>
              <a:srgbClr val="5B4A72"/>
            </a:solidFill>
            <a:prstDash val="solid"/>
          </a:ln>
        </p:spPr>
      </p:sp>
      <p:sp>
        <p:nvSpPr>
          <p:cNvPr id="22" name="Text 20"/>
          <p:cNvSpPr txBox="1"/>
          <p:nvPr/>
        </p:nvSpPr>
        <p:spPr>
          <a:xfrm>
            <a:off x="7554773" y="1097280"/>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3   LOB Priority</a:t>
            </a:r>
            <a:endParaRPr lang="en-US" sz="860" dirty="0"/>
          </a:p>
        </p:txBody>
      </p:sp>
      <p:sp>
        <p:nvSpPr>
          <p:cNvPr id="23" name="Text 21"/>
          <p:cNvSpPr txBox="1"/>
          <p:nvPr/>
        </p:nvSpPr>
        <p:spPr>
          <a:xfrm>
            <a:off x="7554773" y="1426464"/>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Business value, regulatory impact, customer commitments, operational risk and strategic alignment assessed. Ranking established.</a:t>
            </a:r>
            <a:endParaRPr lang="en-US" sz="710" dirty="0"/>
          </a:p>
        </p:txBody>
      </p:sp>
      <p:sp>
        <p:nvSpPr>
          <p:cNvPr id="24" name="Shape 22"/>
          <p:cNvSpPr/>
          <p:nvPr/>
        </p:nvSpPr>
        <p:spPr>
          <a:xfrm>
            <a:off x="7445045" y="1938528"/>
            <a:ext cx="1960474" cy="256032"/>
          </a:xfrm>
          <a:prstGeom prst="rect">
            <a:avLst/>
          </a:prstGeom>
          <a:solidFill>
            <a:srgbClr val="F1EEF6"/>
          </a:solidFill>
          <a:ln w="12700">
            <a:solidFill>
              <a:srgbClr val="F1EEF6"/>
            </a:solidFill>
            <a:prstDash val="solid"/>
          </a:ln>
        </p:spPr>
      </p:sp>
      <p:sp>
        <p:nvSpPr>
          <p:cNvPr id="25" name="Text 23"/>
          <p:cNvSpPr txBox="1"/>
          <p:nvPr/>
        </p:nvSpPr>
        <p:spPr>
          <a:xfrm>
            <a:off x="7554773" y="1938528"/>
            <a:ext cx="1741018" cy="256032"/>
          </a:xfrm>
          <a:prstGeom prst="rect">
            <a:avLst/>
          </a:prstGeom>
          <a:noFill/>
          <a:ln/>
        </p:spPr>
        <p:txBody>
          <a:bodyPr wrap="square" lIns="0" tIns="0" rIns="0" bIns="0" rtlCol="0" anchor="ctr"/>
          <a:lstStyle/>
          <a:p>
            <a:pPr indent="0" marL="0">
              <a:buNone/>
            </a:pPr>
            <a:r>
              <a:rPr lang="en-US" sz="680" b="1" i="1" dirty="0">
                <a:solidFill>
                  <a:srgbClr val="5B4A72"/>
                </a:solidFill>
                <a:latin typeface="Calibri" pitchFamily="34" charset="0"/>
                <a:ea typeface="Calibri" pitchFamily="34" charset="-122"/>
                <a:cs typeface="Calibri" pitchFamily="34" charset="-120"/>
              </a:rPr>
              <a:t>Business-side decision</a:t>
            </a:r>
            <a:endParaRPr lang="en-US" sz="680" dirty="0"/>
          </a:p>
        </p:txBody>
      </p:sp>
      <p:sp>
        <p:nvSpPr>
          <p:cNvPr id="26" name="Shape 24"/>
          <p:cNvSpPr/>
          <p:nvPr/>
        </p:nvSpPr>
        <p:spPr>
          <a:xfrm>
            <a:off x="9789566" y="1097280"/>
            <a:ext cx="1960474" cy="1097280"/>
          </a:xfrm>
          <a:prstGeom prst="roundRect">
            <a:avLst>
              <a:gd name="adj" fmla="val 4167"/>
            </a:avLst>
          </a:prstGeom>
          <a:solidFill>
            <a:srgbClr val="FFFFFF"/>
          </a:solidFill>
          <a:ln w="15875">
            <a:solidFill>
              <a:srgbClr val="5E7D96"/>
            </a:solidFill>
            <a:prstDash val="solid"/>
          </a:ln>
          <a:effectLst>
            <a:outerShdw sx="100000" sy="100000" kx="0" ky="0" algn="bl" rotWithShape="0" blurRad="88900" dist="12700" dir="5400000">
              <a:srgbClr val="97A3B4">
                <a:alpha val="16000"/>
              </a:srgbClr>
            </a:outerShdw>
          </a:effectLst>
        </p:spPr>
      </p:sp>
      <p:sp>
        <p:nvSpPr>
          <p:cNvPr id="27" name="Shape 25"/>
          <p:cNvSpPr/>
          <p:nvPr/>
        </p:nvSpPr>
        <p:spPr>
          <a:xfrm>
            <a:off x="9789566" y="1097280"/>
            <a:ext cx="1960474" cy="274320"/>
          </a:xfrm>
          <a:prstGeom prst="rect">
            <a:avLst/>
          </a:prstGeom>
          <a:solidFill>
            <a:srgbClr val="5E7D96"/>
          </a:solidFill>
          <a:ln w="12700">
            <a:solidFill>
              <a:srgbClr val="5E7D96"/>
            </a:solidFill>
            <a:prstDash val="solid"/>
          </a:ln>
        </p:spPr>
      </p:sp>
      <p:sp>
        <p:nvSpPr>
          <p:cNvPr id="28" name="Text 26"/>
          <p:cNvSpPr txBox="1"/>
          <p:nvPr/>
        </p:nvSpPr>
        <p:spPr>
          <a:xfrm>
            <a:off x="9899294" y="1097280"/>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4   Discovery &amp; Triage</a:t>
            </a:r>
            <a:endParaRPr lang="en-US" sz="860" dirty="0"/>
          </a:p>
        </p:txBody>
      </p:sp>
      <p:sp>
        <p:nvSpPr>
          <p:cNvPr id="29" name="Text 27"/>
          <p:cNvSpPr txBox="1"/>
          <p:nvPr/>
        </p:nvSpPr>
        <p:spPr>
          <a:xfrm>
            <a:off x="9899294" y="1426464"/>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Scope, dependencies, architecture impact and integration touchpoints assessed. Representative samples made available on the flow.</a:t>
            </a:r>
            <a:endParaRPr lang="en-US" sz="710" dirty="0"/>
          </a:p>
        </p:txBody>
      </p:sp>
      <p:sp>
        <p:nvSpPr>
          <p:cNvPr id="30" name="Shape 28"/>
          <p:cNvSpPr/>
          <p:nvPr/>
        </p:nvSpPr>
        <p:spPr>
          <a:xfrm>
            <a:off x="9789566" y="1938528"/>
            <a:ext cx="1960474" cy="256032"/>
          </a:xfrm>
          <a:prstGeom prst="rect">
            <a:avLst/>
          </a:prstGeom>
          <a:solidFill>
            <a:srgbClr val="EEF2F6"/>
          </a:solidFill>
          <a:ln w="12700">
            <a:solidFill>
              <a:srgbClr val="EEF2F6"/>
            </a:solidFill>
            <a:prstDash val="solid"/>
          </a:ln>
        </p:spPr>
      </p:sp>
      <p:sp>
        <p:nvSpPr>
          <p:cNvPr id="31" name="Text 29"/>
          <p:cNvSpPr txBox="1"/>
          <p:nvPr/>
        </p:nvSpPr>
        <p:spPr>
          <a:xfrm>
            <a:off x="9899294" y="1938528"/>
            <a:ext cx="1741018" cy="256032"/>
          </a:xfrm>
          <a:prstGeom prst="rect">
            <a:avLst/>
          </a:prstGeom>
          <a:noFill/>
          <a:ln/>
        </p:spPr>
        <p:txBody>
          <a:bodyPr wrap="square" lIns="0" tIns="0" rIns="0" bIns="0" rtlCol="0" anchor="ctr"/>
          <a:lstStyle/>
          <a:p>
            <a:pPr indent="0" marL="0">
              <a:buNone/>
            </a:pPr>
            <a:r>
              <a:rPr lang="en-US" sz="680" b="1" i="1" dirty="0">
                <a:solidFill>
                  <a:srgbClr val="5E7D96"/>
                </a:solidFill>
                <a:latin typeface="Calibri" pitchFamily="34" charset="0"/>
                <a:ea typeface="Calibri" pitchFamily="34" charset="-122"/>
                <a:cs typeface="Calibri" pitchFamily="34" charset="-120"/>
              </a:rPr>
              <a:t>All five team groups engaged</a:t>
            </a:r>
            <a:endParaRPr lang="en-US" sz="680" dirty="0"/>
          </a:p>
        </p:txBody>
      </p:sp>
      <p:sp>
        <p:nvSpPr>
          <p:cNvPr id="32" name="Shape 30"/>
          <p:cNvSpPr/>
          <p:nvPr/>
        </p:nvSpPr>
        <p:spPr>
          <a:xfrm>
            <a:off x="2408530" y="1645920"/>
            <a:ext cx="310896" cy="0"/>
          </a:xfrm>
          <a:prstGeom prst="line">
            <a:avLst/>
          </a:prstGeom>
          <a:noFill/>
          <a:ln w="17780">
            <a:solidFill>
              <a:srgbClr val="7C8798"/>
            </a:solidFill>
            <a:prstDash val="solid"/>
            <a:tailEnd type="triangle"/>
          </a:ln>
        </p:spPr>
      </p:sp>
      <p:sp>
        <p:nvSpPr>
          <p:cNvPr id="33" name="Shape 31"/>
          <p:cNvSpPr/>
          <p:nvPr/>
        </p:nvSpPr>
        <p:spPr>
          <a:xfrm>
            <a:off x="4753051" y="1645920"/>
            <a:ext cx="310896" cy="0"/>
          </a:xfrm>
          <a:prstGeom prst="line">
            <a:avLst/>
          </a:prstGeom>
          <a:noFill/>
          <a:ln w="17780">
            <a:solidFill>
              <a:srgbClr val="7C8798"/>
            </a:solidFill>
            <a:prstDash val="solid"/>
            <a:tailEnd type="triangle"/>
          </a:ln>
        </p:spPr>
      </p:sp>
      <p:sp>
        <p:nvSpPr>
          <p:cNvPr id="34" name="Shape 32"/>
          <p:cNvSpPr/>
          <p:nvPr/>
        </p:nvSpPr>
        <p:spPr>
          <a:xfrm>
            <a:off x="7097573" y="1645920"/>
            <a:ext cx="310896" cy="0"/>
          </a:xfrm>
          <a:prstGeom prst="line">
            <a:avLst/>
          </a:prstGeom>
          <a:noFill/>
          <a:ln w="17780">
            <a:solidFill>
              <a:srgbClr val="7C8798"/>
            </a:solidFill>
            <a:prstDash val="solid"/>
            <a:tailEnd type="triangle"/>
          </a:ln>
        </p:spPr>
      </p:sp>
      <p:sp>
        <p:nvSpPr>
          <p:cNvPr id="35" name="Shape 33"/>
          <p:cNvSpPr/>
          <p:nvPr/>
        </p:nvSpPr>
        <p:spPr>
          <a:xfrm>
            <a:off x="9442094" y="1645920"/>
            <a:ext cx="310896" cy="0"/>
          </a:xfrm>
          <a:prstGeom prst="line">
            <a:avLst/>
          </a:prstGeom>
          <a:noFill/>
          <a:ln w="17780">
            <a:solidFill>
              <a:srgbClr val="7C8798"/>
            </a:solidFill>
            <a:prstDash val="solid"/>
            <a:tailEnd type="triangle"/>
          </a:ln>
        </p:spPr>
      </p:sp>
      <p:sp>
        <p:nvSpPr>
          <p:cNvPr id="36" name="Text 34"/>
          <p:cNvSpPr txBox="1"/>
          <p:nvPr/>
        </p:nvSpPr>
        <p:spPr>
          <a:xfrm>
            <a:off x="7079285" y="1444752"/>
            <a:ext cx="384048" cy="182880"/>
          </a:xfrm>
          <a:prstGeom prst="rect">
            <a:avLst/>
          </a:prstGeom>
          <a:noFill/>
          <a:ln/>
        </p:spPr>
        <p:txBody>
          <a:bodyPr wrap="square" lIns="0" tIns="0" rIns="0" bIns="0" rtlCol="0" anchor="ctr"/>
          <a:lstStyle/>
          <a:p>
            <a:pPr algn="ctr" indent="0" marL="0">
              <a:buNone/>
            </a:pPr>
            <a:r>
              <a:rPr lang="en-US" sz="660" b="1" dirty="0">
                <a:solidFill>
                  <a:srgbClr val="2E6B4F"/>
                </a:solidFill>
                <a:latin typeface="Calibri" pitchFamily="34" charset="0"/>
                <a:ea typeface="Calibri" pitchFamily="34" charset="-122"/>
                <a:cs typeface="Calibri" pitchFamily="34" charset="-120"/>
              </a:rPr>
              <a:t>Yes</a:t>
            </a:r>
            <a:endParaRPr lang="en-US" sz="660" dirty="0"/>
          </a:p>
        </p:txBody>
      </p:sp>
      <p:sp>
        <p:nvSpPr>
          <p:cNvPr id="37" name="Shape 35"/>
          <p:cNvSpPr/>
          <p:nvPr/>
        </p:nvSpPr>
        <p:spPr>
          <a:xfrm>
            <a:off x="6080760" y="2221992"/>
            <a:ext cx="0" cy="192024"/>
          </a:xfrm>
          <a:prstGeom prst="line">
            <a:avLst/>
          </a:prstGeom>
          <a:noFill/>
          <a:ln w="17780">
            <a:solidFill>
              <a:srgbClr val="15304F"/>
            </a:solidFill>
            <a:prstDash val="dash"/>
            <a:tailEnd type="triangle"/>
          </a:ln>
        </p:spPr>
      </p:sp>
      <p:sp>
        <p:nvSpPr>
          <p:cNvPr id="38" name="Shape 36"/>
          <p:cNvSpPr/>
          <p:nvPr/>
        </p:nvSpPr>
        <p:spPr>
          <a:xfrm flipH="1">
            <a:off x="1391717" y="2414016"/>
            <a:ext cx="4689043" cy="0"/>
          </a:xfrm>
          <a:prstGeom prst="line">
            <a:avLst/>
          </a:prstGeom>
          <a:noFill/>
          <a:ln w="17780">
            <a:solidFill>
              <a:srgbClr val="15304F"/>
            </a:solidFill>
            <a:prstDash val="dash"/>
            <a:tailEnd type="triangle"/>
          </a:ln>
        </p:spPr>
      </p:sp>
      <p:sp>
        <p:nvSpPr>
          <p:cNvPr id="39" name="Shape 37"/>
          <p:cNvSpPr/>
          <p:nvPr/>
        </p:nvSpPr>
        <p:spPr>
          <a:xfrm flipV="1">
            <a:off x="1391717" y="2221992"/>
            <a:ext cx="0" cy="192024"/>
          </a:xfrm>
          <a:prstGeom prst="line">
            <a:avLst/>
          </a:prstGeom>
          <a:noFill/>
          <a:ln w="17780">
            <a:solidFill>
              <a:srgbClr val="15304F"/>
            </a:solidFill>
            <a:prstDash val="dash"/>
            <a:tailEnd type="triangle"/>
          </a:ln>
        </p:spPr>
      </p:sp>
      <p:sp>
        <p:nvSpPr>
          <p:cNvPr id="40" name="Text 38"/>
          <p:cNvSpPr txBox="1"/>
          <p:nvPr/>
        </p:nvSpPr>
        <p:spPr>
          <a:xfrm>
            <a:off x="1501445" y="2432304"/>
            <a:ext cx="4023360" cy="182880"/>
          </a:xfrm>
          <a:prstGeom prst="rect">
            <a:avLst/>
          </a:prstGeom>
          <a:noFill/>
          <a:ln/>
        </p:spPr>
        <p:txBody>
          <a:bodyPr wrap="square" lIns="0" tIns="0" rIns="0" bIns="0" rtlCol="0" anchor="ctr"/>
          <a:lstStyle/>
          <a:p>
            <a:pPr algn="l" indent="0" marL="0">
              <a:buNone/>
            </a:pPr>
            <a:r>
              <a:rPr lang="en-US" sz="660" b="1" dirty="0">
                <a:solidFill>
                  <a:srgbClr val="15304F"/>
                </a:solidFill>
                <a:latin typeface="Calibri" pitchFamily="34" charset="0"/>
                <a:ea typeface="Calibri" pitchFamily="34" charset="-122"/>
                <a:cs typeface="Calibri" pitchFamily="34" charset="-120"/>
              </a:rPr>
              <a:t>No  —  returned to the partner for revision</a:t>
            </a:r>
            <a:endParaRPr lang="en-US" sz="660" dirty="0"/>
          </a:p>
        </p:txBody>
      </p:sp>
      <p:sp>
        <p:nvSpPr>
          <p:cNvPr id="41" name="Shape 39"/>
          <p:cNvSpPr/>
          <p:nvPr/>
        </p:nvSpPr>
        <p:spPr>
          <a:xfrm>
            <a:off x="9855403" y="2633472"/>
            <a:ext cx="1828800" cy="1097280"/>
          </a:xfrm>
          <a:prstGeom prst="diamond">
            <a:avLst/>
          </a:prstGeom>
          <a:solidFill>
            <a:srgbClr val="EEF2F6"/>
          </a:solidFill>
          <a:ln w="17780">
            <a:solidFill>
              <a:srgbClr val="5E7D96"/>
            </a:solidFill>
            <a:prstDash val="solid"/>
          </a:ln>
        </p:spPr>
      </p:sp>
      <p:sp>
        <p:nvSpPr>
          <p:cNvPr id="42" name="Text 40"/>
          <p:cNvSpPr txBox="1"/>
          <p:nvPr/>
        </p:nvSpPr>
        <p:spPr>
          <a:xfrm>
            <a:off x="10129723" y="2633472"/>
            <a:ext cx="1280160" cy="1097280"/>
          </a:xfrm>
          <a:prstGeom prst="rect">
            <a:avLst/>
          </a:prstGeom>
          <a:noFill/>
          <a:ln/>
        </p:spPr>
        <p:txBody>
          <a:bodyPr wrap="square" lIns="0" tIns="0" rIns="0" bIns="0" rtlCol="0" anchor="ctr"/>
          <a:lstStyle/>
          <a:p>
            <a:pPr algn="ctr" indent="0" marL="0">
              <a:lnSpc>
                <a:spcPts val="820"/>
              </a:lnSpc>
              <a:buNone/>
            </a:pPr>
            <a:r>
              <a:rPr lang="en-US" sz="700" b="1" dirty="0">
                <a:solidFill>
                  <a:srgbClr val="5E7D96"/>
                </a:solidFill>
                <a:latin typeface="Calibri" pitchFamily="34" charset="0"/>
                <a:ea typeface="Calibri" pitchFamily="34" charset="-122"/>
                <a:cs typeface="Calibri" pitchFamily="34" charset="-120"/>
              </a:rPr>
              <a:t>Information and</a:t>
            </a:r>
            <a:endParaRPr lang="en-US" sz="700" dirty="0"/>
          </a:p>
          <a:p>
            <a:pPr algn="ctr" indent="0" marL="0">
              <a:lnSpc>
                <a:spcPts val="820"/>
              </a:lnSpc>
              <a:buNone/>
            </a:pPr>
            <a:r>
              <a:rPr lang="en-US" sz="700" b="1" dirty="0">
                <a:solidFill>
                  <a:srgbClr val="5E7D96"/>
                </a:solidFill>
                <a:latin typeface="Calibri" pitchFamily="34" charset="0"/>
                <a:ea typeface="Calibri" pitchFamily="34" charset="-122"/>
                <a:cs typeface="Calibri" pitchFamily="34" charset="-120"/>
              </a:rPr>
              <a:t>samples complete?</a:t>
            </a:r>
            <a:endParaRPr lang="en-US" sz="700" dirty="0"/>
          </a:p>
        </p:txBody>
      </p:sp>
      <p:sp>
        <p:nvSpPr>
          <p:cNvPr id="43" name="Shape 41"/>
          <p:cNvSpPr/>
          <p:nvPr/>
        </p:nvSpPr>
        <p:spPr>
          <a:xfrm>
            <a:off x="7456018" y="2633472"/>
            <a:ext cx="1938528" cy="1097280"/>
          </a:xfrm>
          <a:prstGeom prst="diamond">
            <a:avLst/>
          </a:prstGeom>
          <a:solidFill>
            <a:srgbClr val="FBF0EB"/>
          </a:solidFill>
          <a:ln w="17780">
            <a:solidFill>
              <a:srgbClr val="A44A2A"/>
            </a:solidFill>
            <a:prstDash val="solid"/>
          </a:ln>
        </p:spPr>
      </p:sp>
      <p:sp>
        <p:nvSpPr>
          <p:cNvPr id="44" name="Text 42"/>
          <p:cNvSpPr txBox="1"/>
          <p:nvPr/>
        </p:nvSpPr>
        <p:spPr>
          <a:xfrm>
            <a:off x="7730338" y="2633472"/>
            <a:ext cx="1389888" cy="1097280"/>
          </a:xfrm>
          <a:prstGeom prst="rect">
            <a:avLst/>
          </a:prstGeom>
          <a:noFill/>
          <a:ln/>
        </p:spPr>
        <p:txBody>
          <a:bodyPr wrap="square" lIns="0" tIns="0" rIns="0" bIns="0" rtlCol="0" anchor="ctr"/>
          <a:lstStyle/>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Trusted or</a:t>
            </a:r>
            <a:endParaRPr lang="en-US" sz="700" dirty="0"/>
          </a:p>
          <a:p>
            <a:pPr algn="ctr" indent="0" marL="0">
              <a:lnSpc>
                <a:spcPts val="820"/>
              </a:lnSpc>
              <a:buNone/>
            </a:pPr>
            <a:r>
              <a:rPr lang="en-US" sz="700" b="1" dirty="0">
                <a:solidFill>
                  <a:srgbClr val="A44A2A"/>
                </a:solidFill>
                <a:latin typeface="Calibri" pitchFamily="34" charset="0"/>
                <a:ea typeface="Calibri" pitchFamily="34" charset="-122"/>
                <a:cs typeface="Calibri" pitchFamily="34" charset="-120"/>
              </a:rPr>
              <a:t>untrusted?</a:t>
            </a:r>
            <a:endParaRPr lang="en-US" sz="700" dirty="0"/>
          </a:p>
        </p:txBody>
      </p:sp>
      <p:sp>
        <p:nvSpPr>
          <p:cNvPr id="45" name="Shape 43"/>
          <p:cNvSpPr/>
          <p:nvPr/>
        </p:nvSpPr>
        <p:spPr>
          <a:xfrm>
            <a:off x="5100523" y="2633472"/>
            <a:ext cx="1960474" cy="1097280"/>
          </a:xfrm>
          <a:prstGeom prst="roundRect">
            <a:avLst>
              <a:gd name="adj" fmla="val 4167"/>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46" name="Shape 44"/>
          <p:cNvSpPr/>
          <p:nvPr/>
        </p:nvSpPr>
        <p:spPr>
          <a:xfrm>
            <a:off x="5100523" y="2633472"/>
            <a:ext cx="1960474" cy="274320"/>
          </a:xfrm>
          <a:prstGeom prst="rect">
            <a:avLst/>
          </a:prstGeom>
          <a:solidFill>
            <a:srgbClr val="15304F"/>
          </a:solidFill>
          <a:ln w="12700">
            <a:solidFill>
              <a:srgbClr val="15304F"/>
            </a:solidFill>
            <a:prstDash val="solid"/>
          </a:ln>
        </p:spPr>
      </p:sp>
      <p:sp>
        <p:nvSpPr>
          <p:cNvPr id="47" name="Text 45"/>
          <p:cNvSpPr txBox="1"/>
          <p:nvPr/>
        </p:nvSpPr>
        <p:spPr>
          <a:xfrm>
            <a:off x="5210251" y="2633472"/>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5   Product Epic Creation</a:t>
            </a:r>
            <a:endParaRPr lang="en-US" sz="860" dirty="0"/>
          </a:p>
        </p:txBody>
      </p:sp>
      <p:sp>
        <p:nvSpPr>
          <p:cNvPr id="48" name="Text 46"/>
          <p:cNvSpPr txBox="1"/>
          <p:nvPr/>
        </p:nvSpPr>
        <p:spPr>
          <a:xfrm>
            <a:off x="5210251" y="2962656"/>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Epic raised for the demand. L2 features, stories and work items created and linked. Ownership assigned across the features.</a:t>
            </a:r>
            <a:endParaRPr lang="en-US" sz="710" dirty="0"/>
          </a:p>
        </p:txBody>
      </p:sp>
      <p:sp>
        <p:nvSpPr>
          <p:cNvPr id="49" name="Shape 47"/>
          <p:cNvSpPr/>
          <p:nvPr/>
        </p:nvSpPr>
        <p:spPr>
          <a:xfrm>
            <a:off x="5100523" y="3474720"/>
            <a:ext cx="1960474" cy="256032"/>
          </a:xfrm>
          <a:prstGeom prst="rect">
            <a:avLst/>
          </a:prstGeom>
          <a:solidFill>
            <a:srgbClr val="E8EDF4"/>
          </a:solidFill>
          <a:ln w="12700">
            <a:solidFill>
              <a:srgbClr val="E8EDF4"/>
            </a:solidFill>
            <a:prstDash val="solid"/>
          </a:ln>
        </p:spPr>
      </p:sp>
      <p:sp>
        <p:nvSpPr>
          <p:cNvPr id="50" name="Text 48"/>
          <p:cNvSpPr txBox="1"/>
          <p:nvPr/>
        </p:nvSpPr>
        <p:spPr>
          <a:xfrm>
            <a:off x="5210251" y="3474720"/>
            <a:ext cx="1741018" cy="256032"/>
          </a:xfrm>
          <a:prstGeom prst="rect">
            <a:avLst/>
          </a:prstGeom>
          <a:noFill/>
          <a:ln/>
        </p:spPr>
        <p:txBody>
          <a:bodyPr wrap="square" lIns="0" tIns="0" rIns="0" bIns="0" rtlCol="0" anchor="ctr"/>
          <a:lstStyle/>
          <a:p>
            <a:pPr indent="0" marL="0">
              <a:buNone/>
            </a:pPr>
            <a:r>
              <a:rPr lang="en-US" sz="680" b="1" i="1" dirty="0">
                <a:solidFill>
                  <a:srgbClr val="15304F"/>
                </a:solidFill>
                <a:latin typeface="Calibri" pitchFamily="34" charset="0"/>
                <a:ea typeface="Calibri" pitchFamily="34" charset="-122"/>
                <a:cs typeface="Calibri" pitchFamily="34" charset="-120"/>
              </a:rPr>
              <a:t>Makes the work trackable</a:t>
            </a:r>
            <a:endParaRPr lang="en-US" sz="680" dirty="0"/>
          </a:p>
        </p:txBody>
      </p:sp>
      <p:sp>
        <p:nvSpPr>
          <p:cNvPr id="51" name="Shape 49"/>
          <p:cNvSpPr/>
          <p:nvPr/>
        </p:nvSpPr>
        <p:spPr>
          <a:xfrm>
            <a:off x="2756002" y="2633472"/>
            <a:ext cx="1960474" cy="1097280"/>
          </a:xfrm>
          <a:prstGeom prst="roundRect">
            <a:avLst>
              <a:gd name="adj" fmla="val 4167"/>
            </a:avLst>
          </a:prstGeom>
          <a:solidFill>
            <a:srgbClr val="FFFFFF"/>
          </a:solidFill>
          <a:ln w="15875">
            <a:solidFill>
              <a:srgbClr val="15304F"/>
            </a:solidFill>
            <a:prstDash val="solid"/>
          </a:ln>
          <a:effectLst>
            <a:outerShdw sx="100000" sy="100000" kx="0" ky="0" algn="bl" rotWithShape="0" blurRad="88900" dist="12700" dir="5400000">
              <a:srgbClr val="97A3B4">
                <a:alpha val="16000"/>
              </a:srgbClr>
            </a:outerShdw>
          </a:effectLst>
        </p:spPr>
      </p:sp>
      <p:sp>
        <p:nvSpPr>
          <p:cNvPr id="52" name="Shape 50"/>
          <p:cNvSpPr/>
          <p:nvPr/>
        </p:nvSpPr>
        <p:spPr>
          <a:xfrm>
            <a:off x="2756002" y="2633472"/>
            <a:ext cx="1960474" cy="274320"/>
          </a:xfrm>
          <a:prstGeom prst="rect">
            <a:avLst/>
          </a:prstGeom>
          <a:solidFill>
            <a:srgbClr val="15304F"/>
          </a:solidFill>
          <a:ln w="12700">
            <a:solidFill>
              <a:srgbClr val="15304F"/>
            </a:solidFill>
            <a:prstDash val="solid"/>
          </a:ln>
        </p:spPr>
      </p:sp>
      <p:sp>
        <p:nvSpPr>
          <p:cNvPr id="53" name="Text 51"/>
          <p:cNvSpPr txBox="1"/>
          <p:nvPr/>
        </p:nvSpPr>
        <p:spPr>
          <a:xfrm>
            <a:off x="2865730" y="2633472"/>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6   Quarterly Big Room Planning</a:t>
            </a:r>
            <a:endParaRPr lang="en-US" sz="860" dirty="0"/>
          </a:p>
        </p:txBody>
      </p:sp>
      <p:sp>
        <p:nvSpPr>
          <p:cNvPr id="54" name="Text 52"/>
          <p:cNvSpPr txBox="1"/>
          <p:nvPr/>
        </p:nvSpPr>
        <p:spPr>
          <a:xfrm>
            <a:off x="2865730" y="2962656"/>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Top-ranked epics walked with L1 and L2 product owners. Scope explained, queries clarified, commitment sought against capacity.</a:t>
            </a:r>
            <a:endParaRPr lang="en-US" sz="710" dirty="0"/>
          </a:p>
        </p:txBody>
      </p:sp>
      <p:sp>
        <p:nvSpPr>
          <p:cNvPr id="55" name="Shape 53"/>
          <p:cNvSpPr/>
          <p:nvPr/>
        </p:nvSpPr>
        <p:spPr>
          <a:xfrm>
            <a:off x="2756002" y="3474720"/>
            <a:ext cx="1960474" cy="256032"/>
          </a:xfrm>
          <a:prstGeom prst="rect">
            <a:avLst/>
          </a:prstGeom>
          <a:solidFill>
            <a:srgbClr val="E8EDF4"/>
          </a:solidFill>
          <a:ln w="12700">
            <a:solidFill>
              <a:srgbClr val="E8EDF4"/>
            </a:solidFill>
            <a:prstDash val="solid"/>
          </a:ln>
        </p:spPr>
      </p:sp>
      <p:sp>
        <p:nvSpPr>
          <p:cNvPr id="56" name="Text 54"/>
          <p:cNvSpPr txBox="1"/>
          <p:nvPr/>
        </p:nvSpPr>
        <p:spPr>
          <a:xfrm>
            <a:off x="2865730" y="3474720"/>
            <a:ext cx="1741018" cy="256032"/>
          </a:xfrm>
          <a:prstGeom prst="rect">
            <a:avLst/>
          </a:prstGeom>
          <a:noFill/>
          <a:ln/>
        </p:spPr>
        <p:txBody>
          <a:bodyPr wrap="square" lIns="0" tIns="0" rIns="0" bIns="0" rtlCol="0" anchor="ctr"/>
          <a:lstStyle/>
          <a:p>
            <a:pPr indent="0" marL="0">
              <a:buNone/>
            </a:pPr>
            <a:r>
              <a:rPr lang="en-US" sz="680" b="1" i="1" dirty="0">
                <a:solidFill>
                  <a:srgbClr val="15304F"/>
                </a:solidFill>
                <a:latin typeface="Calibri" pitchFamily="34" charset="0"/>
                <a:ea typeface="Calibri" pitchFamily="34" charset="-122"/>
                <a:cs typeface="Calibri" pitchFamily="34" charset="-120"/>
              </a:rPr>
              <a:t>Trade-offs made visibly</a:t>
            </a:r>
            <a:endParaRPr lang="en-US" sz="680" dirty="0"/>
          </a:p>
        </p:txBody>
      </p:sp>
      <p:sp>
        <p:nvSpPr>
          <p:cNvPr id="57" name="Shape 55"/>
          <p:cNvSpPr/>
          <p:nvPr/>
        </p:nvSpPr>
        <p:spPr>
          <a:xfrm>
            <a:off x="411480" y="2633472"/>
            <a:ext cx="1960474" cy="1097280"/>
          </a:xfrm>
          <a:prstGeom prst="roundRect">
            <a:avLst>
              <a:gd name="adj" fmla="val 4167"/>
            </a:avLst>
          </a:prstGeom>
          <a:solidFill>
            <a:srgbClr val="FFFFFF"/>
          </a:solidFill>
          <a:ln w="15875">
            <a:solidFill>
              <a:srgbClr val="2E5A7D"/>
            </a:solidFill>
            <a:prstDash val="solid"/>
          </a:ln>
          <a:effectLst>
            <a:outerShdw sx="100000" sy="100000" kx="0" ky="0" algn="bl" rotWithShape="0" blurRad="88900" dist="12700" dir="5400000">
              <a:srgbClr val="97A3B4">
                <a:alpha val="16000"/>
              </a:srgbClr>
            </a:outerShdw>
          </a:effectLst>
        </p:spPr>
      </p:sp>
      <p:sp>
        <p:nvSpPr>
          <p:cNvPr id="58" name="Shape 56"/>
          <p:cNvSpPr/>
          <p:nvPr/>
        </p:nvSpPr>
        <p:spPr>
          <a:xfrm>
            <a:off x="411480" y="2633472"/>
            <a:ext cx="1960474" cy="274320"/>
          </a:xfrm>
          <a:prstGeom prst="rect">
            <a:avLst/>
          </a:prstGeom>
          <a:solidFill>
            <a:srgbClr val="2E5A7D"/>
          </a:solidFill>
          <a:ln w="12700">
            <a:solidFill>
              <a:srgbClr val="2E5A7D"/>
            </a:solidFill>
            <a:prstDash val="solid"/>
          </a:ln>
        </p:spPr>
      </p:sp>
      <p:sp>
        <p:nvSpPr>
          <p:cNvPr id="59" name="Text 57"/>
          <p:cNvSpPr txBox="1"/>
          <p:nvPr/>
        </p:nvSpPr>
        <p:spPr>
          <a:xfrm>
            <a:off x="521208" y="2633472"/>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7   Capacity Assessment</a:t>
            </a:r>
            <a:endParaRPr lang="en-US" sz="860" dirty="0"/>
          </a:p>
        </p:txBody>
      </p:sp>
      <p:sp>
        <p:nvSpPr>
          <p:cNvPr id="60" name="Text 58"/>
          <p:cNvSpPr txBox="1"/>
          <p:nvPr/>
        </p:nvSpPr>
        <p:spPr>
          <a:xfrm>
            <a:off x="521208" y="2962656"/>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Capacity, competing priorities, technical dependencies and implementation readiness evaluated. Blockers identified.</a:t>
            </a:r>
            <a:endParaRPr lang="en-US" sz="710" dirty="0"/>
          </a:p>
        </p:txBody>
      </p:sp>
      <p:sp>
        <p:nvSpPr>
          <p:cNvPr id="61" name="Shape 59"/>
          <p:cNvSpPr/>
          <p:nvPr/>
        </p:nvSpPr>
        <p:spPr>
          <a:xfrm>
            <a:off x="411480" y="3474720"/>
            <a:ext cx="1960474" cy="256032"/>
          </a:xfrm>
          <a:prstGeom prst="rect">
            <a:avLst/>
          </a:prstGeom>
          <a:solidFill>
            <a:srgbClr val="E7ECF3"/>
          </a:solidFill>
          <a:ln w="12700">
            <a:solidFill>
              <a:srgbClr val="E7ECF3"/>
            </a:solidFill>
            <a:prstDash val="solid"/>
          </a:ln>
        </p:spPr>
      </p:sp>
      <p:sp>
        <p:nvSpPr>
          <p:cNvPr id="62" name="Text 60"/>
          <p:cNvSpPr txBox="1"/>
          <p:nvPr/>
        </p:nvSpPr>
        <p:spPr>
          <a:xfrm>
            <a:off x="521208" y="3474720"/>
            <a:ext cx="1741018" cy="256032"/>
          </a:xfrm>
          <a:prstGeom prst="rect">
            <a:avLst/>
          </a:prstGeom>
          <a:noFill/>
          <a:ln/>
        </p:spPr>
        <p:txBody>
          <a:bodyPr wrap="square" lIns="0" tIns="0" rIns="0" bIns="0" rtlCol="0" anchor="ctr"/>
          <a:lstStyle/>
          <a:p>
            <a:pPr indent="0" marL="0">
              <a:buNone/>
            </a:pPr>
            <a:r>
              <a:rPr lang="en-US" sz="680" b="1" i="1" dirty="0">
                <a:solidFill>
                  <a:srgbClr val="2E5A7D"/>
                </a:solidFill>
                <a:latin typeface="Calibri" pitchFamily="34" charset="0"/>
                <a:ea typeface="Calibri" pitchFamily="34" charset="-122"/>
                <a:cs typeface="Calibri" pitchFamily="34" charset="-120"/>
              </a:rPr>
              <a:t>Demand becomes a commitment</a:t>
            </a:r>
            <a:endParaRPr lang="en-US" sz="680" dirty="0"/>
          </a:p>
        </p:txBody>
      </p:sp>
      <p:sp>
        <p:nvSpPr>
          <p:cNvPr id="63" name="Shape 61"/>
          <p:cNvSpPr/>
          <p:nvPr/>
        </p:nvSpPr>
        <p:spPr>
          <a:xfrm>
            <a:off x="10404043" y="2221992"/>
            <a:ext cx="0" cy="384048"/>
          </a:xfrm>
          <a:prstGeom prst="line">
            <a:avLst/>
          </a:prstGeom>
          <a:noFill/>
          <a:ln w="17780">
            <a:solidFill>
              <a:srgbClr val="7C8798"/>
            </a:solidFill>
            <a:prstDash val="solid"/>
            <a:tailEnd type="triangle"/>
          </a:ln>
        </p:spPr>
      </p:sp>
      <p:sp>
        <p:nvSpPr>
          <p:cNvPr id="64" name="Shape 62"/>
          <p:cNvSpPr/>
          <p:nvPr/>
        </p:nvSpPr>
        <p:spPr>
          <a:xfrm flipH="1">
            <a:off x="9442094" y="3182112"/>
            <a:ext cx="310896" cy="0"/>
          </a:xfrm>
          <a:prstGeom prst="line">
            <a:avLst/>
          </a:prstGeom>
          <a:noFill/>
          <a:ln w="17780">
            <a:solidFill>
              <a:srgbClr val="7C8798"/>
            </a:solidFill>
            <a:prstDash val="solid"/>
            <a:tailEnd type="triangle"/>
          </a:ln>
        </p:spPr>
      </p:sp>
      <p:sp>
        <p:nvSpPr>
          <p:cNvPr id="65" name="Shape 63"/>
          <p:cNvSpPr/>
          <p:nvPr/>
        </p:nvSpPr>
        <p:spPr>
          <a:xfrm flipH="1">
            <a:off x="7097573" y="3182112"/>
            <a:ext cx="310896" cy="0"/>
          </a:xfrm>
          <a:prstGeom prst="line">
            <a:avLst/>
          </a:prstGeom>
          <a:noFill/>
          <a:ln w="17780">
            <a:solidFill>
              <a:srgbClr val="7C8798"/>
            </a:solidFill>
            <a:prstDash val="solid"/>
            <a:tailEnd type="triangle"/>
          </a:ln>
        </p:spPr>
      </p:sp>
      <p:sp>
        <p:nvSpPr>
          <p:cNvPr id="66" name="Shape 64"/>
          <p:cNvSpPr/>
          <p:nvPr/>
        </p:nvSpPr>
        <p:spPr>
          <a:xfrm flipH="1">
            <a:off x="4753051" y="3182112"/>
            <a:ext cx="310896" cy="0"/>
          </a:xfrm>
          <a:prstGeom prst="line">
            <a:avLst/>
          </a:prstGeom>
          <a:noFill/>
          <a:ln w="17780">
            <a:solidFill>
              <a:srgbClr val="7C8798"/>
            </a:solidFill>
            <a:prstDash val="solid"/>
            <a:tailEnd type="triangle"/>
          </a:ln>
        </p:spPr>
      </p:sp>
      <p:sp>
        <p:nvSpPr>
          <p:cNvPr id="67" name="Shape 65"/>
          <p:cNvSpPr/>
          <p:nvPr/>
        </p:nvSpPr>
        <p:spPr>
          <a:xfrm flipH="1">
            <a:off x="2408530" y="3182112"/>
            <a:ext cx="310896" cy="0"/>
          </a:xfrm>
          <a:prstGeom prst="line">
            <a:avLst/>
          </a:prstGeom>
          <a:noFill/>
          <a:ln w="17780">
            <a:solidFill>
              <a:srgbClr val="7C8798"/>
            </a:solidFill>
            <a:prstDash val="solid"/>
            <a:tailEnd type="triangle"/>
          </a:ln>
        </p:spPr>
      </p:sp>
      <p:sp>
        <p:nvSpPr>
          <p:cNvPr id="68" name="Text 66"/>
          <p:cNvSpPr txBox="1"/>
          <p:nvPr/>
        </p:nvSpPr>
        <p:spPr>
          <a:xfrm>
            <a:off x="9423806" y="2980944"/>
            <a:ext cx="384048" cy="182880"/>
          </a:xfrm>
          <a:prstGeom prst="rect">
            <a:avLst/>
          </a:prstGeom>
          <a:noFill/>
          <a:ln/>
        </p:spPr>
        <p:txBody>
          <a:bodyPr wrap="square" lIns="0" tIns="0" rIns="0" bIns="0" rtlCol="0" anchor="ctr"/>
          <a:lstStyle/>
          <a:p>
            <a:pPr algn="ctr" indent="0" marL="0">
              <a:buNone/>
            </a:pPr>
            <a:r>
              <a:rPr lang="en-US" sz="660" b="1" dirty="0">
                <a:solidFill>
                  <a:srgbClr val="2E6B4F"/>
                </a:solidFill>
                <a:latin typeface="Calibri" pitchFamily="34" charset="0"/>
                <a:ea typeface="Calibri" pitchFamily="34" charset="-122"/>
                <a:cs typeface="Calibri" pitchFamily="34" charset="-120"/>
              </a:rPr>
              <a:t>Yes</a:t>
            </a:r>
            <a:endParaRPr lang="en-US" sz="660" dirty="0"/>
          </a:p>
        </p:txBody>
      </p:sp>
      <p:sp>
        <p:nvSpPr>
          <p:cNvPr id="69" name="Shape 67"/>
          <p:cNvSpPr/>
          <p:nvPr/>
        </p:nvSpPr>
        <p:spPr>
          <a:xfrm flipV="1">
            <a:off x="11245291" y="2221992"/>
            <a:ext cx="0" cy="384048"/>
          </a:xfrm>
          <a:prstGeom prst="line">
            <a:avLst/>
          </a:prstGeom>
          <a:noFill/>
          <a:ln w="17780">
            <a:solidFill>
              <a:srgbClr val="5E7D96"/>
            </a:solidFill>
            <a:prstDash val="dash"/>
            <a:tailEnd type="triangle"/>
          </a:ln>
        </p:spPr>
      </p:sp>
      <p:sp>
        <p:nvSpPr>
          <p:cNvPr id="70" name="Text 68"/>
          <p:cNvSpPr txBox="1"/>
          <p:nvPr/>
        </p:nvSpPr>
        <p:spPr>
          <a:xfrm>
            <a:off x="7170725" y="2432304"/>
            <a:ext cx="3566160" cy="182880"/>
          </a:xfrm>
          <a:prstGeom prst="rect">
            <a:avLst/>
          </a:prstGeom>
          <a:noFill/>
          <a:ln/>
        </p:spPr>
        <p:txBody>
          <a:bodyPr wrap="square" lIns="0" tIns="0" rIns="0" bIns="0" rtlCol="0" anchor="ctr"/>
          <a:lstStyle/>
          <a:p>
            <a:pPr algn="r" indent="0" marL="0">
              <a:buNone/>
            </a:pPr>
            <a:r>
              <a:rPr lang="en-US" sz="660" b="1" dirty="0">
                <a:solidFill>
                  <a:srgbClr val="5E7D96"/>
                </a:solidFill>
                <a:latin typeface="Calibri" pitchFamily="34" charset="0"/>
                <a:ea typeface="Calibri" pitchFamily="34" charset="-122"/>
                <a:cs typeface="Calibri" pitchFamily="34" charset="-120"/>
              </a:rPr>
              <a:t>No  —  TRIAGE-AWAITING-DETAILS + follow-up note</a:t>
            </a:r>
            <a:endParaRPr lang="en-US" sz="660" dirty="0"/>
          </a:p>
        </p:txBody>
      </p:sp>
      <p:sp>
        <p:nvSpPr>
          <p:cNvPr id="71" name="Text 69"/>
          <p:cNvSpPr txBox="1"/>
          <p:nvPr/>
        </p:nvSpPr>
        <p:spPr>
          <a:xfrm>
            <a:off x="5009083" y="3776472"/>
            <a:ext cx="5120640" cy="182880"/>
          </a:xfrm>
          <a:prstGeom prst="rect">
            <a:avLst/>
          </a:prstGeom>
          <a:noFill/>
          <a:ln/>
        </p:spPr>
        <p:txBody>
          <a:bodyPr wrap="square" lIns="0" tIns="0" rIns="0" bIns="0" rtlCol="0" anchor="ctr"/>
          <a:lstStyle/>
          <a:p>
            <a:pPr algn="l" indent="0" marL="0">
              <a:buNone/>
            </a:pPr>
            <a:r>
              <a:rPr lang="en-US" sz="660" b="1" dirty="0">
                <a:solidFill>
                  <a:srgbClr val="A44A2A"/>
                </a:solidFill>
                <a:latin typeface="Calibri" pitchFamily="34" charset="0"/>
                <a:ea typeface="Calibri" pitchFamily="34" charset="-122"/>
                <a:cs typeface="Calibri" pitchFamily="34" charset="-120"/>
              </a:rPr>
              <a:t>A decision right, not a recommendation. For trusted content Imaging Governance also allocates the document category, type and subtype.</a:t>
            </a:r>
            <a:endParaRPr lang="en-US" sz="660" dirty="0"/>
          </a:p>
        </p:txBody>
      </p:sp>
      <p:sp>
        <p:nvSpPr>
          <p:cNvPr id="72" name="Shape 70"/>
          <p:cNvSpPr/>
          <p:nvPr/>
        </p:nvSpPr>
        <p:spPr>
          <a:xfrm>
            <a:off x="449885" y="4133088"/>
            <a:ext cx="1883664" cy="1097280"/>
          </a:xfrm>
          <a:prstGeom prst="diamond">
            <a:avLst/>
          </a:prstGeom>
          <a:solidFill>
            <a:srgbClr val="E7ECF3"/>
          </a:solidFill>
          <a:ln w="17780">
            <a:solidFill>
              <a:srgbClr val="2E5A7D"/>
            </a:solidFill>
            <a:prstDash val="solid"/>
          </a:ln>
        </p:spPr>
      </p:sp>
      <p:sp>
        <p:nvSpPr>
          <p:cNvPr id="73" name="Text 71"/>
          <p:cNvSpPr txBox="1"/>
          <p:nvPr/>
        </p:nvSpPr>
        <p:spPr>
          <a:xfrm>
            <a:off x="724205" y="4133088"/>
            <a:ext cx="1335024" cy="1097280"/>
          </a:xfrm>
          <a:prstGeom prst="rect">
            <a:avLst/>
          </a:prstGeom>
          <a:noFill/>
          <a:ln/>
        </p:spPr>
        <p:txBody>
          <a:bodyPr wrap="square" lIns="0" tIns="0" rIns="0" bIns="0" rtlCol="0" anchor="ctr"/>
          <a:lstStyle/>
          <a:p>
            <a:pPr algn="ctr" indent="0" marL="0">
              <a:lnSpc>
                <a:spcPts val="820"/>
              </a:lnSpc>
              <a:buNone/>
            </a:pPr>
            <a:r>
              <a:rPr lang="en-US" sz="700" b="1" dirty="0">
                <a:solidFill>
                  <a:srgbClr val="2E5A7D"/>
                </a:solidFill>
                <a:latin typeface="Calibri" pitchFamily="34" charset="0"/>
                <a:ea typeface="Calibri" pitchFamily="34" charset="-122"/>
                <a:cs typeface="Calibri" pitchFamily="34" charset="-120"/>
              </a:rPr>
              <a:t>Commitment</a:t>
            </a:r>
            <a:endParaRPr lang="en-US" sz="700" dirty="0"/>
          </a:p>
          <a:p>
            <a:pPr algn="ctr" indent="0" marL="0">
              <a:lnSpc>
                <a:spcPts val="820"/>
              </a:lnSpc>
              <a:buNone/>
            </a:pPr>
            <a:r>
              <a:rPr lang="en-US" sz="700" b="1" dirty="0">
                <a:solidFill>
                  <a:srgbClr val="2E5A7D"/>
                </a:solidFill>
                <a:latin typeface="Calibri" pitchFamily="34" charset="0"/>
                <a:ea typeface="Calibri" pitchFamily="34" charset="-122"/>
                <a:cs typeface="Calibri" pitchFamily="34" charset="-120"/>
              </a:rPr>
              <a:t>indicator?</a:t>
            </a:r>
            <a:endParaRPr lang="en-US" sz="700" dirty="0"/>
          </a:p>
        </p:txBody>
      </p:sp>
      <p:sp>
        <p:nvSpPr>
          <p:cNvPr id="74" name="Shape 72"/>
          <p:cNvSpPr/>
          <p:nvPr/>
        </p:nvSpPr>
        <p:spPr>
          <a:xfrm>
            <a:off x="2821838" y="4133088"/>
            <a:ext cx="1828800" cy="1097280"/>
          </a:xfrm>
          <a:prstGeom prst="diamond">
            <a:avLst/>
          </a:prstGeom>
          <a:solidFill>
            <a:srgbClr val="E7ECF3"/>
          </a:solidFill>
          <a:ln w="17780">
            <a:solidFill>
              <a:srgbClr val="2E5A7D"/>
            </a:solidFill>
            <a:prstDash val="solid"/>
          </a:ln>
        </p:spPr>
      </p:sp>
      <p:sp>
        <p:nvSpPr>
          <p:cNvPr id="75" name="Text 73"/>
          <p:cNvSpPr txBox="1"/>
          <p:nvPr/>
        </p:nvSpPr>
        <p:spPr>
          <a:xfrm>
            <a:off x="3096158" y="4133088"/>
            <a:ext cx="1280160" cy="1097280"/>
          </a:xfrm>
          <a:prstGeom prst="rect">
            <a:avLst/>
          </a:prstGeom>
          <a:noFill/>
          <a:ln/>
        </p:spPr>
        <p:txBody>
          <a:bodyPr wrap="square" lIns="0" tIns="0" rIns="0" bIns="0" rtlCol="0" anchor="ctr"/>
          <a:lstStyle/>
          <a:p>
            <a:pPr algn="ctr" indent="0" marL="0">
              <a:lnSpc>
                <a:spcPts val="820"/>
              </a:lnSpc>
              <a:buNone/>
            </a:pPr>
            <a:r>
              <a:rPr lang="en-US" sz="700" b="1" dirty="0">
                <a:solidFill>
                  <a:srgbClr val="2E5A7D"/>
                </a:solidFill>
                <a:latin typeface="Calibri" pitchFamily="34" charset="0"/>
                <a:ea typeface="Calibri" pitchFamily="34" charset="-122"/>
                <a:cs typeface="Calibri" pitchFamily="34" charset="-120"/>
              </a:rPr>
              <a:t>Scrum team</a:t>
            </a:r>
            <a:endParaRPr lang="en-US" sz="700" dirty="0"/>
          </a:p>
          <a:p>
            <a:pPr algn="ctr" indent="0" marL="0">
              <a:lnSpc>
                <a:spcPts val="820"/>
              </a:lnSpc>
              <a:buNone/>
            </a:pPr>
            <a:r>
              <a:rPr lang="en-US" sz="700" b="1" dirty="0">
                <a:solidFill>
                  <a:srgbClr val="2E5A7D"/>
                </a:solidFill>
                <a:latin typeface="Calibri" pitchFamily="34" charset="0"/>
                <a:ea typeface="Calibri" pitchFamily="34" charset="-122"/>
                <a:cs typeface="Calibri" pitchFamily="34" charset="-120"/>
              </a:rPr>
              <a:t>assigned?</a:t>
            </a:r>
            <a:endParaRPr lang="en-US" sz="700" dirty="0"/>
          </a:p>
        </p:txBody>
      </p:sp>
      <p:sp>
        <p:nvSpPr>
          <p:cNvPr id="76" name="Shape 74"/>
          <p:cNvSpPr/>
          <p:nvPr/>
        </p:nvSpPr>
        <p:spPr>
          <a:xfrm>
            <a:off x="5100523" y="4133088"/>
            <a:ext cx="1960474" cy="1097280"/>
          </a:xfrm>
          <a:prstGeom prst="roundRect">
            <a:avLst>
              <a:gd name="adj" fmla="val 4167"/>
            </a:avLst>
          </a:prstGeom>
          <a:solidFill>
            <a:srgbClr val="FFFFFF"/>
          </a:solidFill>
          <a:ln w="15875">
            <a:solidFill>
              <a:srgbClr val="2E5A7D"/>
            </a:solidFill>
            <a:prstDash val="solid"/>
          </a:ln>
          <a:effectLst>
            <a:outerShdw sx="100000" sy="100000" kx="0" ky="0" algn="bl" rotWithShape="0" blurRad="88900" dist="12700" dir="5400000">
              <a:srgbClr val="97A3B4">
                <a:alpha val="16000"/>
              </a:srgbClr>
            </a:outerShdw>
          </a:effectLst>
        </p:spPr>
      </p:sp>
      <p:sp>
        <p:nvSpPr>
          <p:cNvPr id="77" name="Shape 75"/>
          <p:cNvSpPr/>
          <p:nvPr/>
        </p:nvSpPr>
        <p:spPr>
          <a:xfrm>
            <a:off x="5100523" y="4133088"/>
            <a:ext cx="1960474" cy="274320"/>
          </a:xfrm>
          <a:prstGeom prst="rect">
            <a:avLst/>
          </a:prstGeom>
          <a:solidFill>
            <a:srgbClr val="2E5A7D"/>
          </a:solidFill>
          <a:ln w="12700">
            <a:solidFill>
              <a:srgbClr val="2E5A7D"/>
            </a:solidFill>
            <a:prstDash val="solid"/>
          </a:ln>
        </p:spPr>
      </p:sp>
      <p:sp>
        <p:nvSpPr>
          <p:cNvPr id="78" name="Text 76"/>
          <p:cNvSpPr txBox="1"/>
          <p:nvPr/>
        </p:nvSpPr>
        <p:spPr>
          <a:xfrm>
            <a:off x="5210251" y="4133088"/>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8   Development &amp; Delivery</a:t>
            </a:r>
            <a:endParaRPr lang="en-US" sz="860" dirty="0"/>
          </a:p>
        </p:txBody>
      </p:sp>
      <p:sp>
        <p:nvSpPr>
          <p:cNvPr id="79" name="Text 77"/>
          <p:cNvSpPr txBox="1"/>
          <p:nvPr/>
        </p:nvSpPr>
        <p:spPr>
          <a:xfrm>
            <a:off x="5210251" y="4462272"/>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Ten parallel workstreams converging on a production-ready configuration: connectivity, Apigee, KEES, content processing, metadata, retention, SPLI and testing.</a:t>
            </a:r>
            <a:endParaRPr lang="en-US" sz="710" dirty="0"/>
          </a:p>
        </p:txBody>
      </p:sp>
      <p:sp>
        <p:nvSpPr>
          <p:cNvPr id="80" name="Shape 78"/>
          <p:cNvSpPr/>
          <p:nvPr/>
        </p:nvSpPr>
        <p:spPr>
          <a:xfrm>
            <a:off x="5100523" y="4974336"/>
            <a:ext cx="1960474" cy="256032"/>
          </a:xfrm>
          <a:prstGeom prst="rect">
            <a:avLst/>
          </a:prstGeom>
          <a:solidFill>
            <a:srgbClr val="E7ECF3"/>
          </a:solidFill>
          <a:ln w="12700">
            <a:solidFill>
              <a:srgbClr val="E7ECF3"/>
            </a:solidFill>
            <a:prstDash val="solid"/>
          </a:ln>
        </p:spPr>
      </p:sp>
      <p:sp>
        <p:nvSpPr>
          <p:cNvPr id="81" name="Text 79"/>
          <p:cNvSpPr txBox="1"/>
          <p:nvPr/>
        </p:nvSpPr>
        <p:spPr>
          <a:xfrm>
            <a:off x="5210251" y="4974336"/>
            <a:ext cx="1741018" cy="256032"/>
          </a:xfrm>
          <a:prstGeom prst="rect">
            <a:avLst/>
          </a:prstGeom>
          <a:noFill/>
          <a:ln/>
        </p:spPr>
        <p:txBody>
          <a:bodyPr wrap="square" lIns="0" tIns="0" rIns="0" bIns="0" rtlCol="0" anchor="ctr"/>
          <a:lstStyle/>
          <a:p>
            <a:pPr indent="0" marL="0">
              <a:buNone/>
            </a:pPr>
            <a:r>
              <a:rPr lang="en-US" sz="680" b="1" i="1" dirty="0">
                <a:solidFill>
                  <a:srgbClr val="2E5A7D"/>
                </a:solidFill>
                <a:latin typeface="Calibri" pitchFamily="34" charset="0"/>
                <a:ea typeface="Calibri" pitchFamily="34" charset="-122"/>
                <a:cs typeface="Calibri" pitchFamily="34" charset="-120"/>
              </a:rPr>
              <a:t>The largest stage — see detail</a:t>
            </a:r>
            <a:endParaRPr lang="en-US" sz="680" dirty="0"/>
          </a:p>
        </p:txBody>
      </p:sp>
      <p:sp>
        <p:nvSpPr>
          <p:cNvPr id="82" name="Shape 80"/>
          <p:cNvSpPr/>
          <p:nvPr/>
        </p:nvSpPr>
        <p:spPr>
          <a:xfrm>
            <a:off x="7445045" y="4133088"/>
            <a:ext cx="1960474" cy="1097280"/>
          </a:xfrm>
          <a:prstGeom prst="roundRect">
            <a:avLst>
              <a:gd name="adj" fmla="val 4167"/>
            </a:avLst>
          </a:prstGeom>
          <a:solidFill>
            <a:srgbClr val="FFFFFF"/>
          </a:solidFill>
          <a:ln w="15875">
            <a:solidFill>
              <a:srgbClr val="0B6E6E"/>
            </a:solidFill>
            <a:prstDash val="solid"/>
          </a:ln>
          <a:effectLst>
            <a:outerShdw sx="100000" sy="100000" kx="0" ky="0" algn="bl" rotWithShape="0" blurRad="88900" dist="12700" dir="5400000">
              <a:srgbClr val="97A3B4">
                <a:alpha val="16000"/>
              </a:srgbClr>
            </a:outerShdw>
          </a:effectLst>
        </p:spPr>
      </p:sp>
      <p:sp>
        <p:nvSpPr>
          <p:cNvPr id="83" name="Shape 81"/>
          <p:cNvSpPr/>
          <p:nvPr/>
        </p:nvSpPr>
        <p:spPr>
          <a:xfrm>
            <a:off x="7445045" y="4133088"/>
            <a:ext cx="1960474" cy="274320"/>
          </a:xfrm>
          <a:prstGeom prst="rect">
            <a:avLst/>
          </a:prstGeom>
          <a:solidFill>
            <a:srgbClr val="0B6E6E"/>
          </a:solidFill>
          <a:ln w="12700">
            <a:solidFill>
              <a:srgbClr val="0B6E6E"/>
            </a:solidFill>
            <a:prstDash val="solid"/>
          </a:ln>
        </p:spPr>
      </p:sp>
      <p:sp>
        <p:nvSpPr>
          <p:cNvPr id="84" name="Text 82"/>
          <p:cNvSpPr txBox="1"/>
          <p:nvPr/>
        </p:nvSpPr>
        <p:spPr>
          <a:xfrm>
            <a:off x="7554773" y="4133088"/>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9   Partner Live</a:t>
            </a:r>
            <a:endParaRPr lang="en-US" sz="860" dirty="0"/>
          </a:p>
        </p:txBody>
      </p:sp>
      <p:sp>
        <p:nvSpPr>
          <p:cNvPr id="85" name="Text 83"/>
          <p:cNvSpPr txBox="1"/>
          <p:nvPr/>
        </p:nvSpPr>
        <p:spPr>
          <a:xfrm>
            <a:off x="7554773" y="4462272"/>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Release Transition page authored. UAT and go-live sign-offs confirmed. Production deployment, release night and the validation call attended.</a:t>
            </a:r>
            <a:endParaRPr lang="en-US" sz="710" dirty="0"/>
          </a:p>
        </p:txBody>
      </p:sp>
      <p:sp>
        <p:nvSpPr>
          <p:cNvPr id="86" name="Shape 84"/>
          <p:cNvSpPr/>
          <p:nvPr/>
        </p:nvSpPr>
        <p:spPr>
          <a:xfrm>
            <a:off x="7445045" y="4974336"/>
            <a:ext cx="1960474" cy="256032"/>
          </a:xfrm>
          <a:prstGeom prst="rect">
            <a:avLst/>
          </a:prstGeom>
          <a:solidFill>
            <a:srgbClr val="E6F2F1"/>
          </a:solidFill>
          <a:ln w="12700">
            <a:solidFill>
              <a:srgbClr val="E6F2F1"/>
            </a:solidFill>
            <a:prstDash val="solid"/>
          </a:ln>
        </p:spPr>
      </p:sp>
      <p:sp>
        <p:nvSpPr>
          <p:cNvPr id="87" name="Text 85"/>
          <p:cNvSpPr txBox="1"/>
          <p:nvPr/>
        </p:nvSpPr>
        <p:spPr>
          <a:xfrm>
            <a:off x="7554773" y="4974336"/>
            <a:ext cx="1741018" cy="256032"/>
          </a:xfrm>
          <a:prstGeom prst="rect">
            <a:avLst/>
          </a:prstGeom>
          <a:noFill/>
          <a:ln/>
        </p:spPr>
        <p:txBody>
          <a:bodyPr wrap="square" lIns="0" tIns="0" rIns="0" bIns="0" rtlCol="0" anchor="ctr"/>
          <a:lstStyle/>
          <a:p>
            <a:pPr indent="0" marL="0">
              <a:buNone/>
            </a:pPr>
            <a:r>
              <a:rPr lang="en-US" sz="680" b="1" i="1" dirty="0">
                <a:solidFill>
                  <a:srgbClr val="0B6E6E"/>
                </a:solidFill>
                <a:latin typeface="Calibri" pitchFamily="34" charset="0"/>
                <a:ea typeface="Calibri" pitchFamily="34" charset="-122"/>
                <a:cs typeface="Calibri" pitchFamily="34" charset="-120"/>
              </a:rPr>
              <a:t>Transfer of ownership</a:t>
            </a:r>
            <a:endParaRPr lang="en-US" sz="680" dirty="0"/>
          </a:p>
        </p:txBody>
      </p:sp>
      <p:sp>
        <p:nvSpPr>
          <p:cNvPr id="88" name="Shape 86"/>
          <p:cNvSpPr/>
          <p:nvPr/>
        </p:nvSpPr>
        <p:spPr>
          <a:xfrm>
            <a:off x="9789566" y="4133088"/>
            <a:ext cx="1960474" cy="1097280"/>
          </a:xfrm>
          <a:prstGeom prst="roundRect">
            <a:avLst>
              <a:gd name="adj" fmla="val 4167"/>
            </a:avLst>
          </a:prstGeom>
          <a:solidFill>
            <a:srgbClr val="FFFFFF"/>
          </a:solidFill>
          <a:ln w="15875">
            <a:solidFill>
              <a:srgbClr val="7C8798"/>
            </a:solidFill>
            <a:prstDash val="solid"/>
          </a:ln>
          <a:effectLst>
            <a:outerShdw sx="100000" sy="100000" kx="0" ky="0" algn="bl" rotWithShape="0" blurRad="88900" dist="12700" dir="5400000">
              <a:srgbClr val="97A3B4">
                <a:alpha val="16000"/>
              </a:srgbClr>
            </a:outerShdw>
          </a:effectLst>
        </p:spPr>
      </p:sp>
      <p:sp>
        <p:nvSpPr>
          <p:cNvPr id="89" name="Shape 87"/>
          <p:cNvSpPr/>
          <p:nvPr/>
        </p:nvSpPr>
        <p:spPr>
          <a:xfrm>
            <a:off x="9789566" y="4133088"/>
            <a:ext cx="1960474" cy="274320"/>
          </a:xfrm>
          <a:prstGeom prst="rect">
            <a:avLst/>
          </a:prstGeom>
          <a:solidFill>
            <a:srgbClr val="7C8798"/>
          </a:solidFill>
          <a:ln w="12700">
            <a:solidFill>
              <a:srgbClr val="7C8798"/>
            </a:solidFill>
            <a:prstDash val="solid"/>
          </a:ln>
        </p:spPr>
      </p:sp>
      <p:sp>
        <p:nvSpPr>
          <p:cNvPr id="90" name="Text 88"/>
          <p:cNvSpPr txBox="1"/>
          <p:nvPr/>
        </p:nvSpPr>
        <p:spPr>
          <a:xfrm>
            <a:off x="9899294" y="4133088"/>
            <a:ext cx="1741018" cy="274320"/>
          </a:xfrm>
          <a:prstGeom prst="rect">
            <a:avLst/>
          </a:prstGeom>
          <a:noFill/>
          <a:ln/>
        </p:spPr>
        <p:txBody>
          <a:bodyPr wrap="square" lIns="0" tIns="0" rIns="0" bIns="0" rtlCol="0" anchor="ctr"/>
          <a:lstStyle/>
          <a:p>
            <a:pPr indent="0" marL="0">
              <a:buNone/>
            </a:pPr>
            <a:r>
              <a:rPr lang="en-US" sz="860" b="1" dirty="0">
                <a:solidFill>
                  <a:srgbClr val="FFFFFF"/>
                </a:solidFill>
                <a:latin typeface="Calibri" pitchFamily="34" charset="0"/>
                <a:ea typeface="Calibri" pitchFamily="34" charset="-122"/>
                <a:cs typeface="Calibri" pitchFamily="34" charset="-120"/>
              </a:rPr>
              <a:t>Business as usual</a:t>
            </a:r>
            <a:endParaRPr lang="en-US" sz="860" dirty="0"/>
          </a:p>
        </p:txBody>
      </p:sp>
      <p:sp>
        <p:nvSpPr>
          <p:cNvPr id="91" name="Text 89"/>
          <p:cNvSpPr txBox="1"/>
          <p:nvPr/>
        </p:nvSpPr>
        <p:spPr>
          <a:xfrm>
            <a:off x="9899294" y="4462272"/>
            <a:ext cx="1741018" cy="457200"/>
          </a:xfrm>
          <a:prstGeom prst="rect">
            <a:avLst/>
          </a:prstGeom>
          <a:noFill/>
          <a:ln/>
        </p:spPr>
        <p:txBody>
          <a:bodyPr wrap="square" lIns="0" tIns="0" rIns="0" bIns="0" rtlCol="0" anchor="t"/>
          <a:lstStyle/>
          <a:p>
            <a:pPr indent="0" marL="0">
              <a:lnSpc>
                <a:spcPts val="860"/>
              </a:lnSpc>
              <a:buNone/>
            </a:pPr>
            <a:r>
              <a:rPr lang="en-US" sz="710" dirty="0">
                <a:solidFill>
                  <a:srgbClr val="1B2432"/>
                </a:solidFill>
                <a:latin typeface="Calibri" pitchFamily="34" charset="0"/>
                <a:ea typeface="Calibri" pitchFamily="34" charset="-122"/>
                <a:cs typeface="Calibri" pitchFamily="34" charset="-120"/>
              </a:rPr>
              <a:t>Platform Support, Delivery Management and Cloud &amp; Hosting Engineering operate a solution they did not build.</a:t>
            </a:r>
            <a:endParaRPr lang="en-US" sz="710" dirty="0"/>
          </a:p>
        </p:txBody>
      </p:sp>
      <p:sp>
        <p:nvSpPr>
          <p:cNvPr id="92" name="Shape 90"/>
          <p:cNvSpPr/>
          <p:nvPr/>
        </p:nvSpPr>
        <p:spPr>
          <a:xfrm>
            <a:off x="9789566" y="4974336"/>
            <a:ext cx="1960474" cy="256032"/>
          </a:xfrm>
          <a:prstGeom prst="rect">
            <a:avLst/>
          </a:prstGeom>
          <a:solidFill>
            <a:srgbClr val="F4F7FA"/>
          </a:solidFill>
          <a:ln w="12700">
            <a:solidFill>
              <a:srgbClr val="F4F7FA"/>
            </a:solidFill>
            <a:prstDash val="solid"/>
          </a:ln>
        </p:spPr>
      </p:sp>
      <p:sp>
        <p:nvSpPr>
          <p:cNvPr id="93" name="Text 91"/>
          <p:cNvSpPr txBox="1"/>
          <p:nvPr/>
        </p:nvSpPr>
        <p:spPr>
          <a:xfrm>
            <a:off x="9899294" y="4974336"/>
            <a:ext cx="1741018" cy="256032"/>
          </a:xfrm>
          <a:prstGeom prst="rect">
            <a:avLst/>
          </a:prstGeom>
          <a:noFill/>
          <a:ln/>
        </p:spPr>
        <p:txBody>
          <a:bodyPr wrap="square" lIns="0" tIns="0" rIns="0" bIns="0" rtlCol="0" anchor="ctr"/>
          <a:lstStyle/>
          <a:p>
            <a:pPr indent="0" marL="0">
              <a:buNone/>
            </a:pPr>
            <a:r>
              <a:rPr lang="en-US" sz="680" b="1" i="1" dirty="0">
                <a:solidFill>
                  <a:srgbClr val="7C8798"/>
                </a:solidFill>
                <a:latin typeface="Calibri" pitchFamily="34" charset="0"/>
                <a:ea typeface="Calibri" pitchFamily="34" charset="-122"/>
                <a:cs typeface="Calibri" pitchFamily="34" charset="-120"/>
              </a:rPr>
              <a:t>Handover complete</a:t>
            </a:r>
            <a:endParaRPr lang="en-US" sz="680" dirty="0"/>
          </a:p>
        </p:txBody>
      </p:sp>
      <p:sp>
        <p:nvSpPr>
          <p:cNvPr id="94" name="Shape 92"/>
          <p:cNvSpPr/>
          <p:nvPr/>
        </p:nvSpPr>
        <p:spPr>
          <a:xfrm>
            <a:off x="1391717" y="3758184"/>
            <a:ext cx="0" cy="347472"/>
          </a:xfrm>
          <a:prstGeom prst="line">
            <a:avLst/>
          </a:prstGeom>
          <a:noFill/>
          <a:ln w="17780">
            <a:solidFill>
              <a:srgbClr val="7C8798"/>
            </a:solidFill>
            <a:prstDash val="solid"/>
            <a:tailEnd type="triangle"/>
          </a:ln>
        </p:spPr>
      </p:sp>
      <p:sp>
        <p:nvSpPr>
          <p:cNvPr id="95" name="Shape 93"/>
          <p:cNvSpPr/>
          <p:nvPr/>
        </p:nvSpPr>
        <p:spPr>
          <a:xfrm>
            <a:off x="2408530" y="4681728"/>
            <a:ext cx="310896" cy="0"/>
          </a:xfrm>
          <a:prstGeom prst="line">
            <a:avLst/>
          </a:prstGeom>
          <a:noFill/>
          <a:ln w="17780">
            <a:solidFill>
              <a:srgbClr val="7C8798"/>
            </a:solidFill>
            <a:prstDash val="solid"/>
            <a:tailEnd type="triangle"/>
          </a:ln>
        </p:spPr>
      </p:sp>
      <p:sp>
        <p:nvSpPr>
          <p:cNvPr id="96" name="Shape 94"/>
          <p:cNvSpPr/>
          <p:nvPr/>
        </p:nvSpPr>
        <p:spPr>
          <a:xfrm>
            <a:off x="4753051" y="4681728"/>
            <a:ext cx="310896" cy="0"/>
          </a:xfrm>
          <a:prstGeom prst="line">
            <a:avLst/>
          </a:prstGeom>
          <a:noFill/>
          <a:ln w="17780">
            <a:solidFill>
              <a:srgbClr val="7C8798"/>
            </a:solidFill>
            <a:prstDash val="solid"/>
            <a:tailEnd type="triangle"/>
          </a:ln>
        </p:spPr>
      </p:sp>
      <p:sp>
        <p:nvSpPr>
          <p:cNvPr id="97" name="Shape 95"/>
          <p:cNvSpPr/>
          <p:nvPr/>
        </p:nvSpPr>
        <p:spPr>
          <a:xfrm>
            <a:off x="7097573" y="4681728"/>
            <a:ext cx="310896" cy="0"/>
          </a:xfrm>
          <a:prstGeom prst="line">
            <a:avLst/>
          </a:prstGeom>
          <a:noFill/>
          <a:ln w="17780">
            <a:solidFill>
              <a:srgbClr val="7C8798"/>
            </a:solidFill>
            <a:prstDash val="solid"/>
            <a:tailEnd type="triangle"/>
          </a:ln>
        </p:spPr>
      </p:sp>
      <p:sp>
        <p:nvSpPr>
          <p:cNvPr id="98" name="Shape 96"/>
          <p:cNvSpPr/>
          <p:nvPr/>
        </p:nvSpPr>
        <p:spPr>
          <a:xfrm>
            <a:off x="9442094" y="4681728"/>
            <a:ext cx="310896" cy="0"/>
          </a:xfrm>
          <a:prstGeom prst="line">
            <a:avLst/>
          </a:prstGeom>
          <a:noFill/>
          <a:ln w="17780">
            <a:solidFill>
              <a:srgbClr val="7C8798"/>
            </a:solidFill>
            <a:prstDash val="solid"/>
            <a:tailEnd type="triangle"/>
          </a:ln>
        </p:spPr>
      </p:sp>
      <p:sp>
        <p:nvSpPr>
          <p:cNvPr id="99" name="Text 97"/>
          <p:cNvSpPr txBox="1"/>
          <p:nvPr/>
        </p:nvSpPr>
        <p:spPr>
          <a:xfrm>
            <a:off x="2390242" y="4480560"/>
            <a:ext cx="384048" cy="182880"/>
          </a:xfrm>
          <a:prstGeom prst="rect">
            <a:avLst/>
          </a:prstGeom>
          <a:noFill/>
          <a:ln/>
        </p:spPr>
        <p:txBody>
          <a:bodyPr wrap="square" lIns="0" tIns="0" rIns="0" bIns="0" rtlCol="0" anchor="ctr"/>
          <a:lstStyle/>
          <a:p>
            <a:pPr algn="ctr" indent="0" marL="0">
              <a:buNone/>
            </a:pPr>
            <a:r>
              <a:rPr lang="en-US" sz="660" b="1" dirty="0">
                <a:solidFill>
                  <a:srgbClr val="2E6B4F"/>
                </a:solidFill>
                <a:latin typeface="Calibri" pitchFamily="34" charset="0"/>
                <a:ea typeface="Calibri" pitchFamily="34" charset="-122"/>
                <a:cs typeface="Calibri" pitchFamily="34" charset="-120"/>
              </a:rPr>
              <a:t>ATL / ATL+</a:t>
            </a:r>
            <a:endParaRPr lang="en-US" sz="660" dirty="0"/>
          </a:p>
        </p:txBody>
      </p:sp>
      <p:sp>
        <p:nvSpPr>
          <p:cNvPr id="100" name="Text 98"/>
          <p:cNvSpPr txBox="1"/>
          <p:nvPr/>
        </p:nvSpPr>
        <p:spPr>
          <a:xfrm>
            <a:off x="4734763" y="4480560"/>
            <a:ext cx="384048" cy="182880"/>
          </a:xfrm>
          <a:prstGeom prst="rect">
            <a:avLst/>
          </a:prstGeom>
          <a:noFill/>
          <a:ln/>
        </p:spPr>
        <p:txBody>
          <a:bodyPr wrap="square" lIns="0" tIns="0" rIns="0" bIns="0" rtlCol="0" anchor="ctr"/>
          <a:lstStyle/>
          <a:p>
            <a:pPr algn="ctr" indent="0" marL="0">
              <a:buNone/>
            </a:pPr>
            <a:r>
              <a:rPr lang="en-US" sz="660" b="1" dirty="0">
                <a:solidFill>
                  <a:srgbClr val="2E6B4F"/>
                </a:solidFill>
                <a:latin typeface="Calibri" pitchFamily="34" charset="0"/>
                <a:ea typeface="Calibri" pitchFamily="34" charset="-122"/>
                <a:cs typeface="Calibri" pitchFamily="34" charset="-120"/>
              </a:rPr>
              <a:t>Yes</a:t>
            </a:r>
            <a:endParaRPr lang="en-US" sz="660" dirty="0"/>
          </a:p>
        </p:txBody>
      </p:sp>
      <p:sp>
        <p:nvSpPr>
          <p:cNvPr id="101" name="Text 99"/>
          <p:cNvSpPr txBox="1"/>
          <p:nvPr/>
        </p:nvSpPr>
        <p:spPr>
          <a:xfrm>
            <a:off x="411480" y="5276088"/>
            <a:ext cx="2697480" cy="182880"/>
          </a:xfrm>
          <a:prstGeom prst="rect">
            <a:avLst/>
          </a:prstGeom>
          <a:noFill/>
          <a:ln/>
        </p:spPr>
        <p:txBody>
          <a:bodyPr wrap="square" lIns="0" tIns="0" rIns="0" bIns="0" rtlCol="0" anchor="ctr"/>
          <a:lstStyle/>
          <a:p>
            <a:pPr algn="l" indent="0" marL="0">
              <a:buNone/>
            </a:pPr>
            <a:r>
              <a:rPr lang="en-US" sz="660" b="1" dirty="0">
                <a:solidFill>
                  <a:srgbClr val="2E5A7D"/>
                </a:solidFill>
                <a:latin typeface="Calibri" pitchFamily="34" charset="0"/>
                <a:ea typeface="Calibri" pitchFamily="34" charset="-122"/>
                <a:cs typeface="Calibri" pitchFamily="34" charset="-120"/>
              </a:rPr>
              <a:t>BTL / TBD  —  back to LOB re-prioritisation</a:t>
            </a:r>
            <a:endParaRPr lang="en-US" sz="660" dirty="0"/>
          </a:p>
        </p:txBody>
      </p:sp>
      <p:sp>
        <p:nvSpPr>
          <p:cNvPr id="102" name="Text 100"/>
          <p:cNvSpPr txBox="1"/>
          <p:nvPr/>
        </p:nvSpPr>
        <p:spPr>
          <a:xfrm>
            <a:off x="2573122" y="5276088"/>
            <a:ext cx="3566160" cy="182880"/>
          </a:xfrm>
          <a:prstGeom prst="rect">
            <a:avLst/>
          </a:prstGeom>
          <a:noFill/>
          <a:ln/>
        </p:spPr>
        <p:txBody>
          <a:bodyPr wrap="square" lIns="0" tIns="0" rIns="0" bIns="0" rtlCol="0" anchor="ctr"/>
          <a:lstStyle/>
          <a:p>
            <a:pPr algn="l" indent="0" marL="0">
              <a:buNone/>
            </a:pPr>
            <a:r>
              <a:rPr lang="en-US" sz="660" b="1" dirty="0">
                <a:solidFill>
                  <a:srgbClr val="2E5A7D"/>
                </a:solidFill>
                <a:latin typeface="Calibri" pitchFamily="34" charset="0"/>
                <a:ea typeface="Calibri" pitchFamily="34" charset="-122"/>
                <a:cs typeface="Calibri" pitchFamily="34" charset="-120"/>
              </a:rPr>
              <a:t>No  —  constrained to the first environment only</a:t>
            </a:r>
            <a:endParaRPr lang="en-US" sz="660" dirty="0"/>
          </a:p>
        </p:txBody>
      </p:sp>
      <p:sp>
        <p:nvSpPr>
          <p:cNvPr id="103" name="Shape 101"/>
          <p:cNvSpPr/>
          <p:nvPr/>
        </p:nvSpPr>
        <p:spPr>
          <a:xfrm>
            <a:off x="411480" y="5541264"/>
            <a:ext cx="11338560" cy="530352"/>
          </a:xfrm>
          <a:prstGeom prst="roundRect">
            <a:avLst>
              <a:gd name="adj" fmla="val 8621"/>
            </a:avLst>
          </a:prstGeom>
          <a:solidFill>
            <a:srgbClr val="E6F2F1"/>
          </a:solidFill>
          <a:ln w="15240">
            <a:solidFill>
              <a:srgbClr val="0B6E6E"/>
            </a:solidFill>
            <a:prstDash val="solid"/>
          </a:ln>
        </p:spPr>
      </p:sp>
      <p:sp>
        <p:nvSpPr>
          <p:cNvPr id="104" name="Shape 102"/>
          <p:cNvSpPr/>
          <p:nvPr/>
        </p:nvSpPr>
        <p:spPr>
          <a:xfrm>
            <a:off x="411480" y="5541264"/>
            <a:ext cx="73152" cy="530352"/>
          </a:xfrm>
          <a:prstGeom prst="rect">
            <a:avLst/>
          </a:prstGeom>
          <a:solidFill>
            <a:srgbClr val="0B6E6E"/>
          </a:solidFill>
          <a:ln w="12700">
            <a:solidFill>
              <a:srgbClr val="0B6E6E"/>
            </a:solidFill>
            <a:prstDash val="solid"/>
          </a:ln>
        </p:spPr>
      </p:sp>
      <p:sp>
        <p:nvSpPr>
          <p:cNvPr id="105" name="Text 103"/>
          <p:cNvSpPr txBox="1"/>
          <p:nvPr/>
        </p:nvSpPr>
        <p:spPr>
          <a:xfrm>
            <a:off x="612648" y="5568696"/>
            <a:ext cx="10936224" cy="173736"/>
          </a:xfrm>
          <a:prstGeom prst="rect">
            <a:avLst/>
          </a:prstGeom>
          <a:noFill/>
          <a:ln/>
        </p:spPr>
        <p:txBody>
          <a:bodyPr wrap="square" lIns="0" tIns="0" rIns="0" bIns="0" rtlCol="0" anchor="ctr"/>
          <a:lstStyle/>
          <a:p>
            <a:pPr indent="0" marL="0">
              <a:buNone/>
            </a:pPr>
            <a:r>
              <a:rPr lang="en-US" sz="700" b="1" spc="60" kern="0" dirty="0">
                <a:solidFill>
                  <a:srgbClr val="0B6E6E"/>
                </a:solidFill>
                <a:latin typeface="Calibri" pitchFamily="34" charset="0"/>
                <a:ea typeface="Calibri" pitchFamily="34" charset="-122"/>
                <a:cs typeface="Calibri" pitchFamily="34" charset="-120"/>
              </a:rPr>
              <a:t>PARTNER ONBOARDING RESOURCE  —  ENGAGED IN EIGHT OF THE NINE STAGES, AND THE ONLY PARTICIPANT THAT IS</a:t>
            </a:r>
            <a:endParaRPr lang="en-US" sz="700" dirty="0"/>
          </a:p>
        </p:txBody>
      </p:sp>
      <p:sp>
        <p:nvSpPr>
          <p:cNvPr id="106" name="Text 104"/>
          <p:cNvSpPr txBox="1"/>
          <p:nvPr/>
        </p:nvSpPr>
        <p:spPr>
          <a:xfrm>
            <a:off x="612648" y="5733288"/>
            <a:ext cx="10936224" cy="292608"/>
          </a:xfrm>
          <a:prstGeom prst="rect">
            <a:avLst/>
          </a:prstGeom>
          <a:noFill/>
          <a:ln/>
        </p:spPr>
        <p:txBody>
          <a:bodyPr wrap="square" lIns="0" tIns="0" rIns="0" bIns="0" rtlCol="0" anchor="t"/>
          <a:lstStyle/>
          <a:p>
            <a:pPr indent="0" marL="0">
              <a:lnSpc>
                <a:spcPts val="860"/>
              </a:lnSpc>
              <a:buNone/>
            </a:pPr>
            <a:r>
              <a:rPr lang="en-US" sz="730" dirty="0">
                <a:solidFill>
                  <a:srgbClr val="1B2432"/>
                </a:solidFill>
                <a:latin typeface="Calibri" pitchFamily="34" charset="0"/>
                <a:ea typeface="Calibri" pitchFamily="34" charset="-122"/>
                <a:cs typeface="Calibri" pitchFamily="34" charset="-120"/>
              </a:rPr>
              <a:t>Expectation-setting, follow-up on partner tasks, Apigee and KEES approvals, issue resolution across partner and engineering, tracker upkeep and all four named deliverables run through this one role. Ownership of the intake itself changes hands at least six times across the nine stages, so the connective tissue of the onboarding lives in one person's working memory and follow-up discipline rather than in a system.</a:t>
            </a:r>
            <a:endParaRPr lang="en-US" sz="730" dirty="0"/>
          </a:p>
        </p:txBody>
      </p:sp>
      <p:sp>
        <p:nvSpPr>
          <p:cNvPr id="107" name="Text 105"/>
          <p:cNvSpPr txBox="1"/>
          <p:nvPr/>
        </p:nvSpPr>
        <p:spPr>
          <a:xfrm>
            <a:off x="411480" y="6181344"/>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OWNERSHIP COLOUR CODING</a:t>
            </a:r>
            <a:endParaRPr lang="en-US" sz="760" dirty="0"/>
          </a:p>
        </p:txBody>
      </p:sp>
      <p:sp>
        <p:nvSpPr>
          <p:cNvPr id="108" name="Shape 106"/>
          <p:cNvSpPr/>
          <p:nvPr/>
        </p:nvSpPr>
        <p:spPr>
          <a:xfrm>
            <a:off x="411480" y="6396228"/>
            <a:ext cx="118872" cy="118872"/>
          </a:xfrm>
          <a:prstGeom prst="rect">
            <a:avLst/>
          </a:prstGeom>
          <a:solidFill>
            <a:srgbClr val="2E6B4F"/>
          </a:solidFill>
          <a:ln w="12700">
            <a:solidFill>
              <a:srgbClr val="2E6B4F"/>
            </a:solidFill>
            <a:prstDash val="solid"/>
          </a:ln>
        </p:spPr>
      </p:sp>
      <p:sp>
        <p:nvSpPr>
          <p:cNvPr id="109" name="Text 107"/>
          <p:cNvSpPr txBox="1"/>
          <p:nvPr/>
        </p:nvSpPr>
        <p:spPr>
          <a:xfrm>
            <a:off x="58521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 app team</a:t>
            </a:r>
            <a:endParaRPr lang="en-US" sz="660" dirty="0"/>
          </a:p>
        </p:txBody>
      </p:sp>
      <p:sp>
        <p:nvSpPr>
          <p:cNvPr id="110" name="Shape 108"/>
          <p:cNvSpPr/>
          <p:nvPr/>
        </p:nvSpPr>
        <p:spPr>
          <a:xfrm>
            <a:off x="1671320" y="6396228"/>
            <a:ext cx="118872" cy="118872"/>
          </a:xfrm>
          <a:prstGeom prst="rect">
            <a:avLst/>
          </a:prstGeom>
          <a:solidFill>
            <a:srgbClr val="15304F"/>
          </a:solidFill>
          <a:ln w="12700">
            <a:solidFill>
              <a:srgbClr val="15304F"/>
            </a:solidFill>
            <a:prstDash val="solid"/>
          </a:ln>
        </p:spPr>
      </p:sp>
      <p:sp>
        <p:nvSpPr>
          <p:cNvPr id="111" name="Text 109"/>
          <p:cNvSpPr txBox="1"/>
          <p:nvPr/>
        </p:nvSpPr>
        <p:spPr>
          <a:xfrm>
            <a:off x="184505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ECM Intake &amp; Product Mgmt</a:t>
            </a:r>
            <a:endParaRPr lang="en-US" sz="660" dirty="0"/>
          </a:p>
        </p:txBody>
      </p:sp>
      <p:sp>
        <p:nvSpPr>
          <p:cNvPr id="112" name="Shape 110"/>
          <p:cNvSpPr/>
          <p:nvPr/>
        </p:nvSpPr>
        <p:spPr>
          <a:xfrm>
            <a:off x="2931160" y="6396228"/>
            <a:ext cx="118872" cy="118872"/>
          </a:xfrm>
          <a:prstGeom prst="rect">
            <a:avLst/>
          </a:prstGeom>
          <a:solidFill>
            <a:srgbClr val="5B4A72"/>
          </a:solidFill>
          <a:ln w="12700">
            <a:solidFill>
              <a:srgbClr val="5B4A72"/>
            </a:solidFill>
            <a:prstDash val="solid"/>
          </a:ln>
        </p:spPr>
      </p:sp>
      <p:sp>
        <p:nvSpPr>
          <p:cNvPr id="113" name="Text 111"/>
          <p:cNvSpPr txBox="1"/>
          <p:nvPr/>
        </p:nvSpPr>
        <p:spPr>
          <a:xfrm>
            <a:off x="310489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LOB Sponsor</a:t>
            </a:r>
            <a:endParaRPr lang="en-US" sz="660" dirty="0"/>
          </a:p>
        </p:txBody>
      </p:sp>
      <p:sp>
        <p:nvSpPr>
          <p:cNvPr id="114" name="Shape 112"/>
          <p:cNvSpPr/>
          <p:nvPr/>
        </p:nvSpPr>
        <p:spPr>
          <a:xfrm>
            <a:off x="4191000" y="6396228"/>
            <a:ext cx="118872" cy="118872"/>
          </a:xfrm>
          <a:prstGeom prst="rect">
            <a:avLst/>
          </a:prstGeom>
          <a:solidFill>
            <a:srgbClr val="5E7D96"/>
          </a:solidFill>
          <a:ln w="12700">
            <a:solidFill>
              <a:srgbClr val="5E7D96"/>
            </a:solidFill>
            <a:prstDash val="solid"/>
          </a:ln>
        </p:spPr>
      </p:sp>
      <p:sp>
        <p:nvSpPr>
          <p:cNvPr id="115" name="Text 113"/>
          <p:cNvSpPr txBox="1"/>
          <p:nvPr/>
        </p:nvSpPr>
        <p:spPr>
          <a:xfrm>
            <a:off x="436473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PO · Architects · SMEs</a:t>
            </a:r>
            <a:endParaRPr lang="en-US" sz="660" dirty="0"/>
          </a:p>
        </p:txBody>
      </p:sp>
      <p:sp>
        <p:nvSpPr>
          <p:cNvPr id="116" name="Shape 114"/>
          <p:cNvSpPr/>
          <p:nvPr/>
        </p:nvSpPr>
        <p:spPr>
          <a:xfrm>
            <a:off x="5450840" y="6396228"/>
            <a:ext cx="118872" cy="118872"/>
          </a:xfrm>
          <a:prstGeom prst="rect">
            <a:avLst/>
          </a:prstGeom>
          <a:solidFill>
            <a:srgbClr val="A44A2A"/>
          </a:solidFill>
          <a:ln w="12700">
            <a:solidFill>
              <a:srgbClr val="A44A2A"/>
            </a:solidFill>
            <a:prstDash val="solid"/>
          </a:ln>
        </p:spPr>
      </p:sp>
      <p:sp>
        <p:nvSpPr>
          <p:cNvPr id="117" name="Text 115"/>
          <p:cNvSpPr txBox="1"/>
          <p:nvPr/>
        </p:nvSpPr>
        <p:spPr>
          <a:xfrm>
            <a:off x="562457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Imaging Governance</a:t>
            </a:r>
            <a:endParaRPr lang="en-US" sz="660" dirty="0"/>
          </a:p>
        </p:txBody>
      </p:sp>
      <p:sp>
        <p:nvSpPr>
          <p:cNvPr id="118" name="Shape 116"/>
          <p:cNvSpPr/>
          <p:nvPr/>
        </p:nvSpPr>
        <p:spPr>
          <a:xfrm>
            <a:off x="6710680" y="6396228"/>
            <a:ext cx="118872" cy="118872"/>
          </a:xfrm>
          <a:prstGeom prst="rect">
            <a:avLst/>
          </a:prstGeom>
          <a:solidFill>
            <a:srgbClr val="2E5A7D"/>
          </a:solidFill>
          <a:ln w="12700">
            <a:solidFill>
              <a:srgbClr val="2E5A7D"/>
            </a:solidFill>
            <a:prstDash val="solid"/>
          </a:ln>
        </p:spPr>
      </p:sp>
      <p:sp>
        <p:nvSpPr>
          <p:cNvPr id="119" name="Text 117"/>
          <p:cNvSpPr txBox="1"/>
          <p:nvPr/>
        </p:nvSpPr>
        <p:spPr>
          <a:xfrm>
            <a:off x="688441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Enabling &amp; Engineering</a:t>
            </a:r>
            <a:endParaRPr lang="en-US" sz="660" dirty="0"/>
          </a:p>
        </p:txBody>
      </p:sp>
      <p:sp>
        <p:nvSpPr>
          <p:cNvPr id="120" name="Shape 118"/>
          <p:cNvSpPr/>
          <p:nvPr/>
        </p:nvSpPr>
        <p:spPr>
          <a:xfrm>
            <a:off x="7970520" y="6396228"/>
            <a:ext cx="118872" cy="118872"/>
          </a:xfrm>
          <a:prstGeom prst="rect">
            <a:avLst/>
          </a:prstGeom>
          <a:solidFill>
            <a:srgbClr val="9A6410"/>
          </a:solidFill>
          <a:ln w="12700">
            <a:solidFill>
              <a:srgbClr val="9A6410"/>
            </a:solidFill>
            <a:prstDash val="solid"/>
          </a:ln>
        </p:spPr>
      </p:sp>
      <p:sp>
        <p:nvSpPr>
          <p:cNvPr id="121" name="Text 119"/>
          <p:cNvSpPr txBox="1"/>
          <p:nvPr/>
        </p:nvSpPr>
        <p:spPr>
          <a:xfrm>
            <a:off x="814425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Specialist &amp; Platform teams</a:t>
            </a:r>
            <a:endParaRPr lang="en-US" sz="660" dirty="0"/>
          </a:p>
        </p:txBody>
      </p:sp>
      <p:sp>
        <p:nvSpPr>
          <p:cNvPr id="122" name="Shape 120"/>
          <p:cNvSpPr/>
          <p:nvPr/>
        </p:nvSpPr>
        <p:spPr>
          <a:xfrm>
            <a:off x="9230360" y="6396228"/>
            <a:ext cx="118872" cy="118872"/>
          </a:xfrm>
          <a:prstGeom prst="rect">
            <a:avLst/>
          </a:prstGeom>
          <a:solidFill>
            <a:srgbClr val="0B6E6E"/>
          </a:solidFill>
          <a:ln w="12700">
            <a:solidFill>
              <a:srgbClr val="0B6E6E"/>
            </a:solidFill>
            <a:prstDash val="solid"/>
          </a:ln>
        </p:spPr>
      </p:sp>
      <p:sp>
        <p:nvSpPr>
          <p:cNvPr id="123" name="Text 121"/>
          <p:cNvSpPr txBox="1"/>
          <p:nvPr/>
        </p:nvSpPr>
        <p:spPr>
          <a:xfrm>
            <a:off x="940409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Onboarding Resource</a:t>
            </a:r>
            <a:endParaRPr lang="en-US" sz="660" dirty="0"/>
          </a:p>
        </p:txBody>
      </p:sp>
      <p:sp>
        <p:nvSpPr>
          <p:cNvPr id="124" name="Shape 122"/>
          <p:cNvSpPr/>
          <p:nvPr/>
        </p:nvSpPr>
        <p:spPr>
          <a:xfrm>
            <a:off x="10490200" y="6396228"/>
            <a:ext cx="118872" cy="118872"/>
          </a:xfrm>
          <a:prstGeom prst="rect">
            <a:avLst/>
          </a:prstGeom>
          <a:solidFill>
            <a:srgbClr val="7C8798"/>
          </a:solidFill>
          <a:ln w="12700">
            <a:solidFill>
              <a:srgbClr val="7C8798"/>
            </a:solidFill>
            <a:prstDash val="solid"/>
          </a:ln>
        </p:spPr>
      </p:sp>
      <p:sp>
        <p:nvSpPr>
          <p:cNvPr id="125" name="Text 123"/>
          <p:cNvSpPr txBox="1"/>
          <p:nvPr/>
        </p:nvSpPr>
        <p:spPr>
          <a:xfrm>
            <a:off x="10663936" y="6355080"/>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Platform Support &amp; BAU</a:t>
            </a:r>
            <a:endParaRPr lang="en-US" sz="6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19456"/>
            <a:ext cx="96926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Stage 8 — Development &amp; Delivery, exploded</a:t>
            </a:r>
            <a:endParaRPr lang="en-US" sz="2400" dirty="0"/>
          </a:p>
        </p:txBody>
      </p:sp>
      <p:sp>
        <p:nvSpPr>
          <p:cNvPr id="3" name="Text 1"/>
          <p:cNvSpPr txBox="1"/>
          <p:nvPr/>
        </p:nvSpPr>
        <p:spPr>
          <a:xfrm>
            <a:off x="411480"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Ten parallel workstreams converging on a production-ready configuration, with the routing rules and decision points that most often go wrong</a:t>
            </a:r>
            <a:endParaRPr lang="en-US" sz="1050" dirty="0"/>
          </a:p>
        </p:txBody>
      </p:sp>
      <p:sp>
        <p:nvSpPr>
          <p:cNvPr id="4" name="Text 2"/>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Current state · Stage 8</a:t>
            </a:r>
            <a:endParaRPr lang="en-US" sz="950" dirty="0"/>
          </a:p>
        </p:txBody>
      </p:sp>
      <p:sp>
        <p:nvSpPr>
          <p:cNvPr id="5" name="Shape 3"/>
          <p:cNvSpPr/>
          <p:nvPr/>
        </p:nvSpPr>
        <p:spPr>
          <a:xfrm>
            <a:off x="411480" y="932688"/>
            <a:ext cx="11338560" cy="0"/>
          </a:xfrm>
          <a:prstGeom prst="line">
            <a:avLst/>
          </a:prstGeom>
          <a:noFill/>
          <a:ln w="12700">
            <a:solidFill>
              <a:srgbClr val="D4DAE2"/>
            </a:solidFill>
            <a:prstDash val="solid"/>
          </a:ln>
        </p:spPr>
      </p:sp>
      <p:sp>
        <p:nvSpPr>
          <p:cNvPr id="6" name="Shape 4"/>
          <p:cNvSpPr/>
          <p:nvPr/>
        </p:nvSpPr>
        <p:spPr>
          <a:xfrm>
            <a:off x="411480" y="1024128"/>
            <a:ext cx="11338560" cy="365760"/>
          </a:xfrm>
          <a:prstGeom prst="roundRect">
            <a:avLst>
              <a:gd name="adj" fmla="val 10000"/>
            </a:avLst>
          </a:prstGeom>
          <a:solidFill>
            <a:srgbClr val="E7ECF3"/>
          </a:solidFill>
          <a:ln w="12700">
            <a:solidFill>
              <a:srgbClr val="2E5A7D"/>
            </a:solidFill>
            <a:prstDash val="solid"/>
          </a:ln>
        </p:spPr>
      </p:sp>
      <p:sp>
        <p:nvSpPr>
          <p:cNvPr id="7" name="Text 5"/>
          <p:cNvSpPr txBox="1"/>
          <p:nvPr/>
        </p:nvSpPr>
        <p:spPr>
          <a:xfrm>
            <a:off x="576072" y="1024128"/>
            <a:ext cx="11009376" cy="365760"/>
          </a:xfrm>
          <a:prstGeom prst="rect">
            <a:avLst/>
          </a:prstGeom>
          <a:noFill/>
          <a:ln/>
        </p:spPr>
        <p:txBody>
          <a:bodyPr wrap="square" lIns="0" tIns="0" rIns="0" bIns="0" rtlCol="0" anchor="ctr"/>
          <a:lstStyle/>
          <a:p>
            <a:pPr indent="0" marL="0">
              <a:buNone/>
            </a:pPr>
            <a:r>
              <a:rPr lang="en-US" sz="700" b="1" dirty="0">
                <a:solidFill>
                  <a:srgbClr val="2E5A7D"/>
                </a:solidFill>
                <a:latin typeface="Calibri" pitchFamily="34" charset="0"/>
                <a:ea typeface="Calibri" pitchFamily="34" charset="-122"/>
                <a:cs typeface="Calibri" pitchFamily="34" charset="-120"/>
              </a:rPr>
              <a:t>ENTRY   </a:t>
            </a:r>
            <a:pPr indent="0" marL="0">
              <a:buNone/>
            </a:pPr>
            <a:r>
              <a:rPr lang="en-US" sz="760" dirty="0">
                <a:solidFill>
                  <a:srgbClr val="1B2432"/>
                </a:solidFill>
                <a:latin typeface="Calibri" pitchFamily="34" charset="0"/>
                <a:ea typeface="Calibri" pitchFamily="34" charset="-122"/>
                <a:cs typeface="Calibri" pitchFamily="34" charset="-120"/>
              </a:rPr>
              <a:t>Stage 7 commitment confirmed as ATL or ATL+. A BTL or TBD position returns the demand to LOB re-prioritisation before any of this begins. A partner with no scrum team assigned is constrained to the first environment only.</a:t>
            </a:r>
            <a:endParaRPr lang="en-US" sz="700" dirty="0"/>
          </a:p>
        </p:txBody>
      </p:sp>
      <p:sp>
        <p:nvSpPr>
          <p:cNvPr id="8" name="Text 6"/>
          <p:cNvSpPr txBox="1"/>
          <p:nvPr/>
        </p:nvSpPr>
        <p:spPr>
          <a:xfrm>
            <a:off x="411480" y="1499616"/>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FIVE WORKSTREAM GROUPS RUN IN PARALLEL — EACH WITH ITS OWN OWNER, APPROVALS AND ROUTING RULES</a:t>
            </a:r>
            <a:endParaRPr lang="en-US" sz="760" dirty="0"/>
          </a:p>
        </p:txBody>
      </p:sp>
      <p:sp>
        <p:nvSpPr>
          <p:cNvPr id="9" name="Shape 7"/>
          <p:cNvSpPr/>
          <p:nvPr/>
        </p:nvSpPr>
        <p:spPr>
          <a:xfrm>
            <a:off x="411480" y="1682496"/>
            <a:ext cx="2121408" cy="1755648"/>
          </a:xfrm>
          <a:prstGeom prst="roundRect">
            <a:avLst>
              <a:gd name="adj" fmla="val 2604"/>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10" name="Shape 8"/>
          <p:cNvSpPr/>
          <p:nvPr/>
        </p:nvSpPr>
        <p:spPr>
          <a:xfrm>
            <a:off x="411480" y="1682496"/>
            <a:ext cx="2121408" cy="365760"/>
          </a:xfrm>
          <a:prstGeom prst="rect">
            <a:avLst/>
          </a:prstGeom>
          <a:solidFill>
            <a:srgbClr val="9A6410"/>
          </a:solidFill>
          <a:ln w="12700">
            <a:solidFill>
              <a:srgbClr val="9A6410"/>
            </a:solidFill>
            <a:prstDash val="solid"/>
          </a:ln>
        </p:spPr>
      </p:sp>
      <p:sp>
        <p:nvSpPr>
          <p:cNvPr id="11" name="Text 9"/>
          <p:cNvSpPr txBox="1"/>
          <p:nvPr/>
        </p:nvSpPr>
        <p:spPr>
          <a:xfrm>
            <a:off x="521208" y="1682496"/>
            <a:ext cx="1901952" cy="365760"/>
          </a:xfrm>
          <a:prstGeom prst="rect">
            <a:avLst/>
          </a:prstGeom>
          <a:noFill/>
          <a:ln/>
        </p:spPr>
        <p:txBody>
          <a:bodyPr wrap="square" lIns="0" tIns="0" rIns="0" bIns="0" rtlCol="0" anchor="ctr"/>
          <a:lstStyle/>
          <a:p>
            <a:pPr indent="0" marL="0">
              <a:lnSpc>
                <a:spcPts val="960"/>
              </a:lnSpc>
              <a:buNone/>
            </a:pPr>
            <a:r>
              <a:rPr lang="en-US" sz="840" b="1" dirty="0">
                <a:solidFill>
                  <a:srgbClr val="FFFFFF"/>
                </a:solidFill>
                <a:latin typeface="Calibri" pitchFamily="34" charset="0"/>
                <a:ea typeface="Calibri" pitchFamily="34" charset="-122"/>
                <a:cs typeface="Calibri" pitchFamily="34" charset="-120"/>
              </a:rPr>
              <a:t>Connectivity, security &amp; access</a:t>
            </a:r>
            <a:endParaRPr lang="en-US" sz="840" dirty="0"/>
          </a:p>
        </p:txBody>
      </p:sp>
      <p:sp>
        <p:nvSpPr>
          <p:cNvPr id="12" name="Text 10"/>
          <p:cNvSpPr txBox="1"/>
          <p:nvPr/>
        </p:nvSpPr>
        <p:spPr>
          <a:xfrm>
            <a:off x="521208" y="2103120"/>
            <a:ext cx="1901952" cy="804672"/>
          </a:xfrm>
          <a:prstGeom prst="rect">
            <a:avLst/>
          </a:prstGeom>
          <a:noFill/>
          <a:ln/>
        </p:spPr>
        <p:txBody>
          <a:bodyPr wrap="square" lIns="0" tIns="0" rIns="0" bIns="0" rtlCol="0" anchor="t"/>
          <a:lstStyle/>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Application registration and identity</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Firewall from partner zone to ICMP APIs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Certificates; service accounts and groups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Human user access across environments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System and user security analysis sign-off</a:t>
            </a:r>
            <a:endParaRPr lang="en-US" sz="690" dirty="0"/>
          </a:p>
        </p:txBody>
      </p:sp>
      <p:sp>
        <p:nvSpPr>
          <p:cNvPr id="13" name="Shape 11"/>
          <p:cNvSpPr/>
          <p:nvPr/>
        </p:nvSpPr>
        <p:spPr>
          <a:xfrm>
            <a:off x="411480" y="2962656"/>
            <a:ext cx="2121408" cy="475488"/>
          </a:xfrm>
          <a:prstGeom prst="rect">
            <a:avLst/>
          </a:prstGeom>
          <a:solidFill>
            <a:srgbClr val="FAF1DF"/>
          </a:solidFill>
          <a:ln w="12700">
            <a:solidFill>
              <a:srgbClr val="FAF1DF"/>
            </a:solidFill>
            <a:prstDash val="solid"/>
          </a:ln>
        </p:spPr>
      </p:sp>
      <p:sp>
        <p:nvSpPr>
          <p:cNvPr id="14" name="Text 12"/>
          <p:cNvSpPr txBox="1"/>
          <p:nvPr/>
        </p:nvSpPr>
        <p:spPr>
          <a:xfrm>
            <a:off x="521208" y="2962656"/>
            <a:ext cx="1901952" cy="475488"/>
          </a:xfrm>
          <a:prstGeom prst="rect">
            <a:avLst/>
          </a:prstGeom>
          <a:noFill/>
          <a:ln/>
        </p:spPr>
        <p:txBody>
          <a:bodyPr wrap="square" lIns="0" tIns="0" rIns="0" bIns="0" rtlCol="0" anchor="ctr"/>
          <a:lstStyle/>
          <a:p>
            <a:pPr indent="0" marL="0">
              <a:lnSpc>
                <a:spcPts val="780"/>
              </a:lnSpc>
              <a:buNone/>
            </a:pPr>
            <a:r>
              <a:rPr lang="en-US" sz="660" b="1" i="1" dirty="0">
                <a:solidFill>
                  <a:srgbClr val="9A6410"/>
                </a:solidFill>
                <a:latin typeface="Calibri" pitchFamily="34" charset="0"/>
                <a:ea typeface="Calibri" pitchFamily="34" charset="-122"/>
                <a:cs typeface="Calibri" pitchFamily="34" charset="-120"/>
              </a:rPr>
              <a:t>Access routes by request type, not environment — the wrong queue is not rejected, it just waits</a:t>
            </a:r>
            <a:endParaRPr lang="en-US" sz="660" dirty="0"/>
          </a:p>
        </p:txBody>
      </p:sp>
      <p:sp>
        <p:nvSpPr>
          <p:cNvPr id="15" name="Shape 13"/>
          <p:cNvSpPr/>
          <p:nvPr/>
        </p:nvSpPr>
        <p:spPr>
          <a:xfrm>
            <a:off x="1472184" y="3465576"/>
            <a:ext cx="0" cy="192024"/>
          </a:xfrm>
          <a:prstGeom prst="line">
            <a:avLst/>
          </a:prstGeom>
          <a:noFill/>
          <a:ln w="17780">
            <a:solidFill>
              <a:srgbClr val="7C8798"/>
            </a:solidFill>
            <a:prstDash val="solid"/>
            <a:tailEnd type="triangle"/>
          </a:ln>
        </p:spPr>
      </p:sp>
      <p:sp>
        <p:nvSpPr>
          <p:cNvPr id="16" name="Shape 14"/>
          <p:cNvSpPr/>
          <p:nvPr/>
        </p:nvSpPr>
        <p:spPr>
          <a:xfrm>
            <a:off x="2715768" y="1682496"/>
            <a:ext cx="2121408" cy="1755648"/>
          </a:xfrm>
          <a:prstGeom prst="roundRect">
            <a:avLst>
              <a:gd name="adj" fmla="val 2604"/>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17" name="Shape 15"/>
          <p:cNvSpPr/>
          <p:nvPr/>
        </p:nvSpPr>
        <p:spPr>
          <a:xfrm>
            <a:off x="2715768" y="1682496"/>
            <a:ext cx="2121408" cy="365760"/>
          </a:xfrm>
          <a:prstGeom prst="rect">
            <a:avLst/>
          </a:prstGeom>
          <a:solidFill>
            <a:srgbClr val="9A6410"/>
          </a:solidFill>
          <a:ln w="12700">
            <a:solidFill>
              <a:srgbClr val="9A6410"/>
            </a:solidFill>
            <a:prstDash val="solid"/>
          </a:ln>
        </p:spPr>
      </p:sp>
      <p:sp>
        <p:nvSpPr>
          <p:cNvPr id="18" name="Text 16"/>
          <p:cNvSpPr txBox="1"/>
          <p:nvPr/>
        </p:nvSpPr>
        <p:spPr>
          <a:xfrm>
            <a:off x="2825496" y="1682496"/>
            <a:ext cx="1901952" cy="365760"/>
          </a:xfrm>
          <a:prstGeom prst="rect">
            <a:avLst/>
          </a:prstGeom>
          <a:noFill/>
          <a:ln/>
        </p:spPr>
        <p:txBody>
          <a:bodyPr wrap="square" lIns="0" tIns="0" rIns="0" bIns="0" rtlCol="0" anchor="ctr"/>
          <a:lstStyle/>
          <a:p>
            <a:pPr indent="0" marL="0">
              <a:lnSpc>
                <a:spcPts val="960"/>
              </a:lnSpc>
              <a:buNone/>
            </a:pPr>
            <a:r>
              <a:rPr lang="en-US" sz="840" b="1" dirty="0">
                <a:solidFill>
                  <a:srgbClr val="FFFFFF"/>
                </a:solidFill>
                <a:latin typeface="Calibri" pitchFamily="34" charset="0"/>
                <a:ea typeface="Calibri" pitchFamily="34" charset="-122"/>
                <a:cs typeface="Calibri" pitchFamily="34" charset="-120"/>
              </a:rPr>
              <a:t>Apigee &amp; KEES integration</a:t>
            </a:r>
            <a:endParaRPr lang="en-US" sz="840" dirty="0"/>
          </a:p>
        </p:txBody>
      </p:sp>
      <p:sp>
        <p:nvSpPr>
          <p:cNvPr id="19" name="Text 17"/>
          <p:cNvSpPr txBox="1"/>
          <p:nvPr/>
        </p:nvSpPr>
        <p:spPr>
          <a:xfrm>
            <a:off x="2825496" y="2103120"/>
            <a:ext cx="1901952" cy="804672"/>
          </a:xfrm>
          <a:prstGeom prst="rect">
            <a:avLst/>
          </a:prstGeom>
          <a:noFill/>
          <a:ln/>
        </p:spPr>
        <p:txBody>
          <a:bodyPr wrap="square" lIns="0" tIns="0" rIns="0" bIns="0" rtlCol="0" anchor="t"/>
          <a:lstStyle/>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Apigee marketplace onboarding</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API product identification and subscription</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Apigee approvals and clearances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Kafka consumer groups on ICMP topics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Request and document-level notifications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Reconciliation, retry and exception handling</a:t>
            </a:r>
            <a:endParaRPr lang="en-US" sz="690" dirty="0"/>
          </a:p>
        </p:txBody>
      </p:sp>
      <p:sp>
        <p:nvSpPr>
          <p:cNvPr id="20" name="Shape 18"/>
          <p:cNvSpPr/>
          <p:nvPr/>
        </p:nvSpPr>
        <p:spPr>
          <a:xfrm>
            <a:off x="2715768" y="2962656"/>
            <a:ext cx="2121408" cy="475488"/>
          </a:xfrm>
          <a:prstGeom prst="rect">
            <a:avLst/>
          </a:prstGeom>
          <a:solidFill>
            <a:srgbClr val="FAF1DF"/>
          </a:solidFill>
          <a:ln w="12700">
            <a:solidFill>
              <a:srgbClr val="FAF1DF"/>
            </a:solidFill>
            <a:prstDash val="solid"/>
          </a:ln>
        </p:spPr>
      </p:sp>
      <p:sp>
        <p:nvSpPr>
          <p:cNvPr id="21" name="Text 19"/>
          <p:cNvSpPr txBox="1"/>
          <p:nvPr/>
        </p:nvSpPr>
        <p:spPr>
          <a:xfrm>
            <a:off x="2825496" y="2962656"/>
            <a:ext cx="1901952" cy="475488"/>
          </a:xfrm>
          <a:prstGeom prst="rect">
            <a:avLst/>
          </a:prstGeom>
          <a:noFill/>
          <a:ln/>
        </p:spPr>
        <p:txBody>
          <a:bodyPr wrap="square" lIns="0" tIns="0" rIns="0" bIns="0" rtlCol="0" anchor="ctr"/>
          <a:lstStyle/>
          <a:p>
            <a:pPr indent="0" marL="0">
              <a:lnSpc>
                <a:spcPts val="780"/>
              </a:lnSpc>
              <a:buNone/>
            </a:pPr>
            <a:r>
              <a:rPr lang="en-US" sz="660" b="1" i="1" dirty="0">
                <a:solidFill>
                  <a:srgbClr val="9A6410"/>
                </a:solidFill>
                <a:latin typeface="Calibri" pitchFamily="34" charset="0"/>
                <a:ea typeface="Calibri" pitchFamily="34" charset="-122"/>
                <a:cs typeface="Calibri" pitchFamily="34" charset="-120"/>
              </a:rPr>
              <a:t>Two separate onboarding trackers, both maintained by hand</a:t>
            </a:r>
            <a:endParaRPr lang="en-US" sz="660" dirty="0"/>
          </a:p>
        </p:txBody>
      </p:sp>
      <p:sp>
        <p:nvSpPr>
          <p:cNvPr id="22" name="Shape 20"/>
          <p:cNvSpPr/>
          <p:nvPr/>
        </p:nvSpPr>
        <p:spPr>
          <a:xfrm>
            <a:off x="3776472" y="3465576"/>
            <a:ext cx="0" cy="192024"/>
          </a:xfrm>
          <a:prstGeom prst="line">
            <a:avLst/>
          </a:prstGeom>
          <a:noFill/>
          <a:ln w="17780">
            <a:solidFill>
              <a:srgbClr val="7C8798"/>
            </a:solidFill>
            <a:prstDash val="solid"/>
            <a:tailEnd type="triangle"/>
          </a:ln>
        </p:spPr>
      </p:sp>
      <p:sp>
        <p:nvSpPr>
          <p:cNvPr id="23" name="Shape 21"/>
          <p:cNvSpPr/>
          <p:nvPr/>
        </p:nvSpPr>
        <p:spPr>
          <a:xfrm>
            <a:off x="5020056" y="1682496"/>
            <a:ext cx="2121408" cy="1755648"/>
          </a:xfrm>
          <a:prstGeom prst="roundRect">
            <a:avLst>
              <a:gd name="adj" fmla="val 2604"/>
            </a:avLst>
          </a:prstGeom>
          <a:solidFill>
            <a:srgbClr val="FFFFFF"/>
          </a:solidFill>
          <a:ln w="15240">
            <a:solidFill>
              <a:srgbClr val="A44A2A"/>
            </a:solidFill>
            <a:prstDash val="solid"/>
          </a:ln>
          <a:effectLst>
            <a:outerShdw sx="100000" sy="100000" kx="0" ky="0" algn="bl" rotWithShape="0" blurRad="88900" dist="12700" dir="5400000">
              <a:srgbClr val="97A3B4">
                <a:alpha val="16000"/>
              </a:srgbClr>
            </a:outerShdw>
          </a:effectLst>
        </p:spPr>
      </p:sp>
      <p:sp>
        <p:nvSpPr>
          <p:cNvPr id="24" name="Shape 22"/>
          <p:cNvSpPr/>
          <p:nvPr/>
        </p:nvSpPr>
        <p:spPr>
          <a:xfrm>
            <a:off x="5020056" y="1682496"/>
            <a:ext cx="2121408" cy="365760"/>
          </a:xfrm>
          <a:prstGeom prst="rect">
            <a:avLst/>
          </a:prstGeom>
          <a:solidFill>
            <a:srgbClr val="A44A2A"/>
          </a:solidFill>
          <a:ln w="12700">
            <a:solidFill>
              <a:srgbClr val="A44A2A"/>
            </a:solidFill>
            <a:prstDash val="solid"/>
          </a:ln>
        </p:spPr>
      </p:sp>
      <p:sp>
        <p:nvSpPr>
          <p:cNvPr id="25" name="Text 23"/>
          <p:cNvSpPr txBox="1"/>
          <p:nvPr/>
        </p:nvSpPr>
        <p:spPr>
          <a:xfrm>
            <a:off x="5129784" y="1682496"/>
            <a:ext cx="1901952" cy="365760"/>
          </a:xfrm>
          <a:prstGeom prst="rect">
            <a:avLst/>
          </a:prstGeom>
          <a:noFill/>
          <a:ln/>
        </p:spPr>
        <p:txBody>
          <a:bodyPr wrap="square" lIns="0" tIns="0" rIns="0" bIns="0" rtlCol="0" anchor="ctr"/>
          <a:lstStyle/>
          <a:p>
            <a:pPr indent="0" marL="0">
              <a:lnSpc>
                <a:spcPts val="960"/>
              </a:lnSpc>
              <a:buNone/>
            </a:pPr>
            <a:r>
              <a:rPr lang="en-US" sz="840" b="1" dirty="0">
                <a:solidFill>
                  <a:srgbClr val="FFFFFF"/>
                </a:solidFill>
                <a:latin typeface="Calibri" pitchFamily="34" charset="0"/>
                <a:ea typeface="Calibri" pitchFamily="34" charset="-122"/>
                <a:cs typeface="Calibri" pitchFamily="34" charset="-120"/>
              </a:rPr>
              <a:t>Content processing</a:t>
            </a:r>
            <a:endParaRPr lang="en-US" sz="840" dirty="0"/>
          </a:p>
        </p:txBody>
      </p:sp>
      <p:sp>
        <p:nvSpPr>
          <p:cNvPr id="26" name="Text 24"/>
          <p:cNvSpPr txBox="1"/>
          <p:nvPr/>
        </p:nvSpPr>
        <p:spPr>
          <a:xfrm>
            <a:off x="5129784" y="2103120"/>
            <a:ext cx="1901952" cy="804672"/>
          </a:xfrm>
          <a:prstGeom prst="rect">
            <a:avLst/>
          </a:prstGeom>
          <a:noFill/>
          <a:ln/>
        </p:spPr>
        <p:txBody>
          <a:bodyPr wrap="square" lIns="0" tIns="0" rIns="0" bIns="0" rtlCol="0" anchor="t"/>
          <a:lstStyle/>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UNTRUSTED — virus scanning for all content; AI classification profile; human-in-the-loop pre- and post-capture design</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TRUSTED — ICMP profile; samples supplied for review; category, type and subtype allocated by Imaging Governance</a:t>
            </a:r>
            <a:endParaRPr lang="en-US" sz="690" dirty="0"/>
          </a:p>
        </p:txBody>
      </p:sp>
      <p:sp>
        <p:nvSpPr>
          <p:cNvPr id="27" name="Shape 25"/>
          <p:cNvSpPr/>
          <p:nvPr/>
        </p:nvSpPr>
        <p:spPr>
          <a:xfrm>
            <a:off x="5020056" y="2962656"/>
            <a:ext cx="2121408" cy="475488"/>
          </a:xfrm>
          <a:prstGeom prst="rect">
            <a:avLst/>
          </a:prstGeom>
          <a:solidFill>
            <a:srgbClr val="FBF0EB"/>
          </a:solidFill>
          <a:ln w="12700">
            <a:solidFill>
              <a:srgbClr val="FBF0EB"/>
            </a:solidFill>
            <a:prstDash val="solid"/>
          </a:ln>
        </p:spPr>
      </p:sp>
      <p:sp>
        <p:nvSpPr>
          <p:cNvPr id="28" name="Text 26"/>
          <p:cNvSpPr txBox="1"/>
          <p:nvPr/>
        </p:nvSpPr>
        <p:spPr>
          <a:xfrm>
            <a:off x="5129784" y="2962656"/>
            <a:ext cx="1901952" cy="475488"/>
          </a:xfrm>
          <a:prstGeom prst="rect">
            <a:avLst/>
          </a:prstGeom>
          <a:noFill/>
          <a:ln/>
        </p:spPr>
        <p:txBody>
          <a:bodyPr wrap="square" lIns="0" tIns="0" rIns="0" bIns="0" rtlCol="0" anchor="ctr"/>
          <a:lstStyle/>
          <a:p>
            <a:pPr indent="0" marL="0">
              <a:lnSpc>
                <a:spcPts val="780"/>
              </a:lnSpc>
              <a:buNone/>
            </a:pPr>
            <a:r>
              <a:rPr lang="en-US" sz="660" b="1" i="1" dirty="0">
                <a:solidFill>
                  <a:srgbClr val="A44A2A"/>
                </a:solidFill>
                <a:latin typeface="Calibri" pitchFamily="34" charset="0"/>
                <a:ea typeface="Calibri" pitchFamily="34" charset="-122"/>
                <a:cs typeface="Calibri" pitchFamily="34" charset="-120"/>
              </a:rPr>
              <a:t>A new document type returns to Imaging Governance for a fresh decision — it does not inherit</a:t>
            </a:r>
            <a:endParaRPr lang="en-US" sz="660" dirty="0"/>
          </a:p>
        </p:txBody>
      </p:sp>
      <p:sp>
        <p:nvSpPr>
          <p:cNvPr id="29" name="Shape 27"/>
          <p:cNvSpPr/>
          <p:nvPr/>
        </p:nvSpPr>
        <p:spPr>
          <a:xfrm>
            <a:off x="6080760" y="3465576"/>
            <a:ext cx="0" cy="192024"/>
          </a:xfrm>
          <a:prstGeom prst="line">
            <a:avLst/>
          </a:prstGeom>
          <a:noFill/>
          <a:ln w="17780">
            <a:solidFill>
              <a:srgbClr val="7C8798"/>
            </a:solidFill>
            <a:prstDash val="solid"/>
            <a:tailEnd type="triangle"/>
          </a:ln>
        </p:spPr>
      </p:sp>
      <p:sp>
        <p:nvSpPr>
          <p:cNvPr id="30" name="Shape 28"/>
          <p:cNvSpPr/>
          <p:nvPr/>
        </p:nvSpPr>
        <p:spPr>
          <a:xfrm>
            <a:off x="7324344" y="1682496"/>
            <a:ext cx="2121408" cy="1755648"/>
          </a:xfrm>
          <a:prstGeom prst="roundRect">
            <a:avLst>
              <a:gd name="adj" fmla="val 2604"/>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31" name="Shape 29"/>
          <p:cNvSpPr/>
          <p:nvPr/>
        </p:nvSpPr>
        <p:spPr>
          <a:xfrm>
            <a:off x="7324344" y="1682496"/>
            <a:ext cx="2121408" cy="365760"/>
          </a:xfrm>
          <a:prstGeom prst="rect">
            <a:avLst/>
          </a:prstGeom>
          <a:solidFill>
            <a:srgbClr val="9A6410"/>
          </a:solidFill>
          <a:ln w="12700">
            <a:solidFill>
              <a:srgbClr val="9A6410"/>
            </a:solidFill>
            <a:prstDash val="solid"/>
          </a:ln>
        </p:spPr>
      </p:sp>
      <p:sp>
        <p:nvSpPr>
          <p:cNvPr id="32" name="Text 30"/>
          <p:cNvSpPr txBox="1"/>
          <p:nvPr/>
        </p:nvSpPr>
        <p:spPr>
          <a:xfrm>
            <a:off x="7434072" y="1682496"/>
            <a:ext cx="1901952" cy="365760"/>
          </a:xfrm>
          <a:prstGeom prst="rect">
            <a:avLst/>
          </a:prstGeom>
          <a:noFill/>
          <a:ln/>
        </p:spPr>
        <p:txBody>
          <a:bodyPr wrap="square" lIns="0" tIns="0" rIns="0" bIns="0" rtlCol="0" anchor="ctr"/>
          <a:lstStyle/>
          <a:p>
            <a:pPr indent="0" marL="0">
              <a:lnSpc>
                <a:spcPts val="960"/>
              </a:lnSpc>
              <a:buNone/>
            </a:pPr>
            <a:r>
              <a:rPr lang="en-US" sz="840" b="1" dirty="0">
                <a:solidFill>
                  <a:srgbClr val="FFFFFF"/>
                </a:solidFill>
                <a:latin typeface="Calibri" pitchFamily="34" charset="0"/>
                <a:ea typeface="Calibri" pitchFamily="34" charset="-122"/>
                <a:cs typeface="Calibri" pitchFamily="34" charset="-120"/>
              </a:rPr>
              <a:t>Metadata, repository &amp; retention</a:t>
            </a:r>
            <a:endParaRPr lang="en-US" sz="840" dirty="0"/>
          </a:p>
        </p:txBody>
      </p:sp>
      <p:sp>
        <p:nvSpPr>
          <p:cNvPr id="33" name="Text 31"/>
          <p:cNvSpPr txBox="1"/>
          <p:nvPr/>
        </p:nvSpPr>
        <p:spPr>
          <a:xfrm>
            <a:off x="7434072" y="2103120"/>
            <a:ext cx="1901952" cy="804672"/>
          </a:xfrm>
          <a:prstGeom prst="rect">
            <a:avLst/>
          </a:prstGeom>
          <a:noFill/>
          <a:ln/>
        </p:spPr>
        <p:txBody>
          <a:bodyPr wrap="square" lIns="0" tIns="0" rIns="0" bIns="0" rtlCol="0" anchor="t"/>
          <a:lstStyle/>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Metadata discovery workshops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Search filters and retrieval requirements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Security keys, legal entity and RCC mappings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Repository onboarding and metadata mapping</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RM questionnaire, review and approval</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Retention code, period and destruction policy</a:t>
            </a:r>
            <a:endParaRPr lang="en-US" sz="690" dirty="0"/>
          </a:p>
        </p:txBody>
      </p:sp>
      <p:sp>
        <p:nvSpPr>
          <p:cNvPr id="34" name="Shape 32"/>
          <p:cNvSpPr/>
          <p:nvPr/>
        </p:nvSpPr>
        <p:spPr>
          <a:xfrm>
            <a:off x="7324344" y="2962656"/>
            <a:ext cx="2121408" cy="475488"/>
          </a:xfrm>
          <a:prstGeom prst="rect">
            <a:avLst/>
          </a:prstGeom>
          <a:solidFill>
            <a:srgbClr val="FAF1DF"/>
          </a:solidFill>
          <a:ln w="12700">
            <a:solidFill>
              <a:srgbClr val="FAF1DF"/>
            </a:solidFill>
            <a:prstDash val="solid"/>
          </a:ln>
        </p:spPr>
      </p:sp>
      <p:sp>
        <p:nvSpPr>
          <p:cNvPr id="35" name="Text 33"/>
          <p:cNvSpPr txBox="1"/>
          <p:nvPr/>
        </p:nvSpPr>
        <p:spPr>
          <a:xfrm>
            <a:off x="7434072" y="2962656"/>
            <a:ext cx="1901952" cy="475488"/>
          </a:xfrm>
          <a:prstGeom prst="rect">
            <a:avLst/>
          </a:prstGeom>
          <a:noFill/>
          <a:ln/>
        </p:spPr>
        <p:txBody>
          <a:bodyPr wrap="square" lIns="0" tIns="0" rIns="0" bIns="0" rtlCol="0" anchor="ctr"/>
          <a:lstStyle/>
          <a:p>
            <a:pPr indent="0" marL="0">
              <a:lnSpc>
                <a:spcPts val="780"/>
              </a:lnSpc>
              <a:buNone/>
            </a:pPr>
            <a:r>
              <a:rPr lang="en-US" sz="660" b="1" i="1" dirty="0">
                <a:solidFill>
                  <a:srgbClr val="9A6410"/>
                </a:solidFill>
                <a:latin typeface="Calibri" pitchFamily="34" charset="0"/>
                <a:ea typeface="Calibri" pitchFamily="34" charset="-122"/>
                <a:cs typeface="Calibri" pitchFamily="34" charset="-120"/>
              </a:rPr>
              <a:t>Regulatory storage, legal hold and audit access where applicable</a:t>
            </a:r>
            <a:endParaRPr lang="en-US" sz="660" dirty="0"/>
          </a:p>
        </p:txBody>
      </p:sp>
      <p:sp>
        <p:nvSpPr>
          <p:cNvPr id="36" name="Shape 34"/>
          <p:cNvSpPr/>
          <p:nvPr/>
        </p:nvSpPr>
        <p:spPr>
          <a:xfrm>
            <a:off x="8385048" y="3465576"/>
            <a:ext cx="0" cy="192024"/>
          </a:xfrm>
          <a:prstGeom prst="line">
            <a:avLst/>
          </a:prstGeom>
          <a:noFill/>
          <a:ln w="17780">
            <a:solidFill>
              <a:srgbClr val="7C8798"/>
            </a:solidFill>
            <a:prstDash val="solid"/>
            <a:tailEnd type="triangle"/>
          </a:ln>
        </p:spPr>
      </p:sp>
      <p:sp>
        <p:nvSpPr>
          <p:cNvPr id="37" name="Shape 35"/>
          <p:cNvSpPr/>
          <p:nvPr/>
        </p:nvSpPr>
        <p:spPr>
          <a:xfrm>
            <a:off x="9628632" y="1682496"/>
            <a:ext cx="2121408" cy="1755648"/>
          </a:xfrm>
          <a:prstGeom prst="roundRect">
            <a:avLst>
              <a:gd name="adj" fmla="val 2604"/>
            </a:avLst>
          </a:prstGeom>
          <a:solidFill>
            <a:srgbClr val="FFFFFF"/>
          </a:solidFill>
          <a:ln w="15240">
            <a:solidFill>
              <a:srgbClr val="2E5A7D"/>
            </a:solidFill>
            <a:prstDash val="solid"/>
          </a:ln>
          <a:effectLst>
            <a:outerShdw sx="100000" sy="100000" kx="0" ky="0" algn="bl" rotWithShape="0" blurRad="88900" dist="12700" dir="5400000">
              <a:srgbClr val="97A3B4">
                <a:alpha val="16000"/>
              </a:srgbClr>
            </a:outerShdw>
          </a:effectLst>
        </p:spPr>
      </p:sp>
      <p:sp>
        <p:nvSpPr>
          <p:cNvPr id="38" name="Shape 36"/>
          <p:cNvSpPr/>
          <p:nvPr/>
        </p:nvSpPr>
        <p:spPr>
          <a:xfrm>
            <a:off x="9628632" y="1682496"/>
            <a:ext cx="2121408" cy="365760"/>
          </a:xfrm>
          <a:prstGeom prst="rect">
            <a:avLst/>
          </a:prstGeom>
          <a:solidFill>
            <a:srgbClr val="2E5A7D"/>
          </a:solidFill>
          <a:ln w="12700">
            <a:solidFill>
              <a:srgbClr val="2E5A7D"/>
            </a:solidFill>
            <a:prstDash val="solid"/>
          </a:ln>
        </p:spPr>
      </p:sp>
      <p:sp>
        <p:nvSpPr>
          <p:cNvPr id="39" name="Text 37"/>
          <p:cNvSpPr txBox="1"/>
          <p:nvPr/>
        </p:nvSpPr>
        <p:spPr>
          <a:xfrm>
            <a:off x="9738360" y="1682496"/>
            <a:ext cx="1901952" cy="365760"/>
          </a:xfrm>
          <a:prstGeom prst="rect">
            <a:avLst/>
          </a:prstGeom>
          <a:noFill/>
          <a:ln/>
        </p:spPr>
        <p:txBody>
          <a:bodyPr wrap="square" lIns="0" tIns="0" rIns="0" bIns="0" rtlCol="0" anchor="ctr"/>
          <a:lstStyle/>
          <a:p>
            <a:pPr indent="0" marL="0">
              <a:lnSpc>
                <a:spcPts val="960"/>
              </a:lnSpc>
              <a:buNone/>
            </a:pPr>
            <a:r>
              <a:rPr lang="en-US" sz="840" b="1" dirty="0">
                <a:solidFill>
                  <a:srgbClr val="FFFFFF"/>
                </a:solidFill>
                <a:latin typeface="Calibri" pitchFamily="34" charset="0"/>
                <a:ea typeface="Calibri" pitchFamily="34" charset="-122"/>
                <a:cs typeface="Calibri" pitchFamily="34" charset="-120"/>
              </a:rPr>
              <a:t>Capacity engineering &amp; SPLI</a:t>
            </a:r>
            <a:endParaRPr lang="en-US" sz="840" dirty="0"/>
          </a:p>
        </p:txBody>
      </p:sp>
      <p:sp>
        <p:nvSpPr>
          <p:cNvPr id="40" name="Text 38"/>
          <p:cNvSpPr txBox="1"/>
          <p:nvPr/>
        </p:nvSpPr>
        <p:spPr>
          <a:xfrm>
            <a:off x="9738360" y="2103120"/>
            <a:ext cx="1901952" cy="804672"/>
          </a:xfrm>
          <a:prstGeom prst="rect">
            <a:avLst/>
          </a:prstGeom>
          <a:noFill/>
          <a:ln/>
        </p:spPr>
        <p:txBody>
          <a:bodyPr wrap="square" lIns="0" tIns="0" rIns="0" bIns="0" rtlCol="0" anchor="t"/>
          <a:lstStyle/>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Migration, BAU and peak volumes collected</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Capacity planning completed</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SPLI applicability determined from volumes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SPLI assessment and approvals</a:t>
            </a:r>
            <a:endParaRPr lang="en-US" sz="690" dirty="0"/>
          </a:p>
          <a:p>
            <a:pPr indent="0" marL="0">
              <a:lnSpc>
                <a:spcPts val="820"/>
              </a:lnSpc>
              <a:spcAft>
                <a:spcPts val="120"/>
              </a:spcAft>
              <a:buNone/>
            </a:pPr>
            <a:r>
              <a:rPr lang="en-US" sz="690" dirty="0">
                <a:solidFill>
                  <a:srgbClr val="1B2432"/>
                </a:solidFill>
                <a:latin typeface="Calibri" pitchFamily="34" charset="0"/>
                <a:ea typeface="Calibri" pitchFamily="34" charset="-122"/>
                <a:cs typeface="Calibri" pitchFamily="34" charset="-120"/>
              </a:rPr>
              <a:t>·  Scalability validated for future growth</a:t>
            </a:r>
            <a:endParaRPr lang="en-US" sz="690" dirty="0"/>
          </a:p>
        </p:txBody>
      </p:sp>
      <p:sp>
        <p:nvSpPr>
          <p:cNvPr id="41" name="Shape 39"/>
          <p:cNvSpPr/>
          <p:nvPr/>
        </p:nvSpPr>
        <p:spPr>
          <a:xfrm>
            <a:off x="9628632" y="2962656"/>
            <a:ext cx="2121408" cy="475488"/>
          </a:xfrm>
          <a:prstGeom prst="rect">
            <a:avLst/>
          </a:prstGeom>
          <a:solidFill>
            <a:srgbClr val="E7ECF3"/>
          </a:solidFill>
          <a:ln w="12700">
            <a:solidFill>
              <a:srgbClr val="E7ECF3"/>
            </a:solidFill>
            <a:prstDash val="solid"/>
          </a:ln>
        </p:spPr>
      </p:sp>
      <p:sp>
        <p:nvSpPr>
          <p:cNvPr id="42" name="Text 40"/>
          <p:cNvSpPr txBox="1"/>
          <p:nvPr/>
        </p:nvSpPr>
        <p:spPr>
          <a:xfrm>
            <a:off x="9738360" y="2962656"/>
            <a:ext cx="1901952" cy="475488"/>
          </a:xfrm>
          <a:prstGeom prst="rect">
            <a:avLst/>
          </a:prstGeom>
          <a:noFill/>
          <a:ln/>
        </p:spPr>
        <p:txBody>
          <a:bodyPr wrap="square" lIns="0" tIns="0" rIns="0" bIns="0" rtlCol="0" anchor="ctr"/>
          <a:lstStyle/>
          <a:p>
            <a:pPr indent="0" marL="0">
              <a:lnSpc>
                <a:spcPts val="780"/>
              </a:lnSpc>
              <a:buNone/>
            </a:pPr>
            <a:r>
              <a:rPr lang="en-US" sz="660" b="1" i="1" dirty="0">
                <a:solidFill>
                  <a:srgbClr val="2E5A7D"/>
                </a:solidFill>
                <a:latin typeface="Calibri" pitchFamily="34" charset="0"/>
                <a:ea typeface="Calibri" pitchFamily="34" charset="-122"/>
                <a:cs typeface="Calibri" pitchFamily="34" charset="-120"/>
              </a:rPr>
              <a:t>Intakes go to the intake project; capacity and SPLI tickets go to the scrum team's own project</a:t>
            </a:r>
            <a:endParaRPr lang="en-US" sz="660" dirty="0"/>
          </a:p>
        </p:txBody>
      </p:sp>
      <p:sp>
        <p:nvSpPr>
          <p:cNvPr id="43" name="Shape 41"/>
          <p:cNvSpPr/>
          <p:nvPr/>
        </p:nvSpPr>
        <p:spPr>
          <a:xfrm>
            <a:off x="10689336" y="3465576"/>
            <a:ext cx="0" cy="192024"/>
          </a:xfrm>
          <a:prstGeom prst="line">
            <a:avLst/>
          </a:prstGeom>
          <a:noFill/>
          <a:ln w="17780">
            <a:solidFill>
              <a:srgbClr val="7C8798"/>
            </a:solidFill>
            <a:prstDash val="solid"/>
            <a:tailEnd type="triangle"/>
          </a:ln>
        </p:spPr>
      </p:sp>
      <p:sp>
        <p:nvSpPr>
          <p:cNvPr id="44" name="Shape 42"/>
          <p:cNvSpPr/>
          <p:nvPr/>
        </p:nvSpPr>
        <p:spPr>
          <a:xfrm>
            <a:off x="1472184" y="3657600"/>
            <a:ext cx="9217152" cy="0"/>
          </a:xfrm>
          <a:prstGeom prst="line">
            <a:avLst/>
          </a:prstGeom>
          <a:noFill/>
          <a:ln w="17780">
            <a:solidFill>
              <a:srgbClr val="7C8798"/>
            </a:solidFill>
            <a:prstDash val="solid"/>
          </a:ln>
        </p:spPr>
      </p:sp>
      <p:sp>
        <p:nvSpPr>
          <p:cNvPr id="45" name="Shape 43"/>
          <p:cNvSpPr/>
          <p:nvPr/>
        </p:nvSpPr>
        <p:spPr>
          <a:xfrm>
            <a:off x="3977640" y="3657600"/>
            <a:ext cx="0" cy="146304"/>
          </a:xfrm>
          <a:prstGeom prst="line">
            <a:avLst/>
          </a:prstGeom>
          <a:noFill/>
          <a:ln w="17780">
            <a:solidFill>
              <a:srgbClr val="7C8798"/>
            </a:solidFill>
            <a:prstDash val="solid"/>
            <a:tailEnd type="triangle"/>
          </a:ln>
        </p:spPr>
      </p:sp>
      <p:sp>
        <p:nvSpPr>
          <p:cNvPr id="46" name="Text 44"/>
          <p:cNvSpPr txBox="1"/>
          <p:nvPr/>
        </p:nvSpPr>
        <p:spPr>
          <a:xfrm>
            <a:off x="411480" y="3822192"/>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CONVERGENCE — FIVE TEST CYCLES, A FIXED ENVIRONMENT LADDER, THEN RELEASE</a:t>
            </a:r>
            <a:endParaRPr lang="en-US" sz="760" dirty="0"/>
          </a:p>
        </p:txBody>
      </p:sp>
      <p:sp>
        <p:nvSpPr>
          <p:cNvPr id="47" name="Shape 45"/>
          <p:cNvSpPr/>
          <p:nvPr/>
        </p:nvSpPr>
        <p:spPr>
          <a:xfrm>
            <a:off x="411480" y="4023360"/>
            <a:ext cx="1349654" cy="804672"/>
          </a:xfrm>
          <a:prstGeom prst="roundRect">
            <a:avLst>
              <a:gd name="adj" fmla="val 4545"/>
            </a:avLst>
          </a:prstGeom>
          <a:solidFill>
            <a:srgbClr val="E7ECF3"/>
          </a:solidFill>
          <a:ln w="12700">
            <a:solidFill>
              <a:srgbClr val="2E5A7D"/>
            </a:solidFill>
            <a:prstDash val="solid"/>
          </a:ln>
        </p:spPr>
      </p:sp>
      <p:sp>
        <p:nvSpPr>
          <p:cNvPr id="48" name="Text 46"/>
          <p:cNvSpPr txBox="1"/>
          <p:nvPr/>
        </p:nvSpPr>
        <p:spPr>
          <a:xfrm>
            <a:off x="502920" y="4059936"/>
            <a:ext cx="1166774" cy="219456"/>
          </a:xfrm>
          <a:prstGeom prst="rect">
            <a:avLst/>
          </a:prstGeom>
          <a:noFill/>
          <a:ln/>
        </p:spPr>
        <p:txBody>
          <a:bodyPr wrap="square" lIns="0" tIns="0" rIns="0" bIns="0" rtlCol="0" anchor="ctr"/>
          <a:lstStyle/>
          <a:p>
            <a:pPr indent="0" marL="0">
              <a:lnSpc>
                <a:spcPts val="860"/>
              </a:lnSpc>
              <a:buNone/>
            </a:pPr>
            <a:r>
              <a:rPr lang="en-US" sz="780" b="1" dirty="0">
                <a:solidFill>
                  <a:srgbClr val="2E5A7D"/>
                </a:solidFill>
                <a:latin typeface="Calibri" pitchFamily="34" charset="0"/>
                <a:ea typeface="Calibri" pitchFamily="34" charset="-122"/>
                <a:cs typeface="Calibri" pitchFamily="34" charset="-120"/>
              </a:rPr>
              <a:t>Unit</a:t>
            </a:r>
            <a:endParaRPr lang="en-US" sz="780" dirty="0"/>
          </a:p>
        </p:txBody>
      </p:sp>
      <p:sp>
        <p:nvSpPr>
          <p:cNvPr id="49" name="Text 47"/>
          <p:cNvSpPr txBox="1"/>
          <p:nvPr/>
        </p:nvSpPr>
        <p:spPr>
          <a:xfrm>
            <a:off x="502920" y="4279392"/>
            <a:ext cx="1166774" cy="493776"/>
          </a:xfrm>
          <a:prstGeom prst="rect">
            <a:avLst/>
          </a:prstGeom>
          <a:noFill/>
          <a:ln/>
        </p:spPr>
        <p:txBody>
          <a:bodyPr wrap="square" lIns="0" tIns="0" rIns="0" bIns="0" rtlCol="0" anchor="t"/>
          <a:lstStyle/>
          <a:p>
            <a:pPr indent="0" marL="0">
              <a:lnSpc>
                <a:spcPts val="760"/>
              </a:lnSpc>
              <a:buNone/>
            </a:pPr>
            <a:r>
              <a:rPr lang="en-US" sz="650" dirty="0">
                <a:solidFill>
                  <a:srgbClr val="55606E"/>
                </a:solidFill>
                <a:latin typeface="Calibri" pitchFamily="34" charset="0"/>
                <a:ea typeface="Calibri" pitchFamily="34" charset="-122"/>
                <a:cs typeface="Calibri" pitchFamily="34" charset="-120"/>
              </a:rPr>
              <a:t>Components and configuration in isolation, by the building team.</a:t>
            </a:r>
            <a:endParaRPr lang="en-US" sz="650" dirty="0"/>
          </a:p>
        </p:txBody>
      </p:sp>
      <p:sp>
        <p:nvSpPr>
          <p:cNvPr id="50" name="Shape 48"/>
          <p:cNvSpPr/>
          <p:nvPr/>
        </p:nvSpPr>
        <p:spPr>
          <a:xfrm>
            <a:off x="1870862" y="4023360"/>
            <a:ext cx="1349654" cy="804672"/>
          </a:xfrm>
          <a:prstGeom prst="roundRect">
            <a:avLst>
              <a:gd name="adj" fmla="val 4545"/>
            </a:avLst>
          </a:prstGeom>
          <a:solidFill>
            <a:srgbClr val="E7ECF3"/>
          </a:solidFill>
          <a:ln w="12700">
            <a:solidFill>
              <a:srgbClr val="2E5A7D"/>
            </a:solidFill>
            <a:prstDash val="solid"/>
          </a:ln>
        </p:spPr>
      </p:sp>
      <p:sp>
        <p:nvSpPr>
          <p:cNvPr id="51" name="Text 49"/>
          <p:cNvSpPr txBox="1"/>
          <p:nvPr/>
        </p:nvSpPr>
        <p:spPr>
          <a:xfrm>
            <a:off x="1962302" y="4059936"/>
            <a:ext cx="1166774" cy="219456"/>
          </a:xfrm>
          <a:prstGeom prst="rect">
            <a:avLst/>
          </a:prstGeom>
          <a:noFill/>
          <a:ln/>
        </p:spPr>
        <p:txBody>
          <a:bodyPr wrap="square" lIns="0" tIns="0" rIns="0" bIns="0" rtlCol="0" anchor="ctr"/>
          <a:lstStyle/>
          <a:p>
            <a:pPr indent="0" marL="0">
              <a:lnSpc>
                <a:spcPts val="860"/>
              </a:lnSpc>
              <a:buNone/>
            </a:pPr>
            <a:r>
              <a:rPr lang="en-US" sz="780" b="1" dirty="0">
                <a:solidFill>
                  <a:srgbClr val="2E5A7D"/>
                </a:solidFill>
                <a:latin typeface="Calibri" pitchFamily="34" charset="0"/>
                <a:ea typeface="Calibri" pitchFamily="34" charset="-122"/>
                <a:cs typeface="Calibri" pitchFamily="34" charset="-120"/>
              </a:rPr>
              <a:t>Integration</a:t>
            </a:r>
            <a:endParaRPr lang="en-US" sz="780" dirty="0"/>
          </a:p>
        </p:txBody>
      </p:sp>
      <p:sp>
        <p:nvSpPr>
          <p:cNvPr id="52" name="Text 50"/>
          <p:cNvSpPr txBox="1"/>
          <p:nvPr/>
        </p:nvSpPr>
        <p:spPr>
          <a:xfrm>
            <a:off x="1962302" y="4279392"/>
            <a:ext cx="1166774" cy="493776"/>
          </a:xfrm>
          <a:prstGeom prst="rect">
            <a:avLst/>
          </a:prstGeom>
          <a:noFill/>
          <a:ln/>
        </p:spPr>
        <p:txBody>
          <a:bodyPr wrap="square" lIns="0" tIns="0" rIns="0" bIns="0" rtlCol="0" anchor="t"/>
          <a:lstStyle/>
          <a:p>
            <a:pPr indent="0" marL="0">
              <a:lnSpc>
                <a:spcPts val="760"/>
              </a:lnSpc>
              <a:buNone/>
            </a:pPr>
            <a:r>
              <a:rPr lang="en-US" sz="650" dirty="0">
                <a:solidFill>
                  <a:srgbClr val="55606E"/>
                </a:solidFill>
                <a:latin typeface="Calibri" pitchFamily="34" charset="0"/>
                <a:ea typeface="Calibri" pitchFamily="34" charset="-122"/>
                <a:cs typeface="Calibri" pitchFamily="34" charset="-120"/>
              </a:rPr>
              <a:t>Partner system, gateway, ICMP, event framework, classification and scanning.</a:t>
            </a:r>
            <a:endParaRPr lang="en-US" sz="650" dirty="0"/>
          </a:p>
        </p:txBody>
      </p:sp>
      <p:sp>
        <p:nvSpPr>
          <p:cNvPr id="53" name="Shape 51"/>
          <p:cNvSpPr/>
          <p:nvPr/>
        </p:nvSpPr>
        <p:spPr>
          <a:xfrm>
            <a:off x="3330245" y="4023360"/>
            <a:ext cx="1349654" cy="804672"/>
          </a:xfrm>
          <a:prstGeom prst="roundRect">
            <a:avLst>
              <a:gd name="adj" fmla="val 4545"/>
            </a:avLst>
          </a:prstGeom>
          <a:solidFill>
            <a:srgbClr val="E7ECF3"/>
          </a:solidFill>
          <a:ln w="12700">
            <a:solidFill>
              <a:srgbClr val="2E5A7D"/>
            </a:solidFill>
            <a:prstDash val="solid"/>
          </a:ln>
        </p:spPr>
      </p:sp>
      <p:sp>
        <p:nvSpPr>
          <p:cNvPr id="54" name="Text 52"/>
          <p:cNvSpPr txBox="1"/>
          <p:nvPr/>
        </p:nvSpPr>
        <p:spPr>
          <a:xfrm>
            <a:off x="3421685" y="4059936"/>
            <a:ext cx="1166774" cy="219456"/>
          </a:xfrm>
          <a:prstGeom prst="rect">
            <a:avLst/>
          </a:prstGeom>
          <a:noFill/>
          <a:ln/>
        </p:spPr>
        <p:txBody>
          <a:bodyPr wrap="square" lIns="0" tIns="0" rIns="0" bIns="0" rtlCol="0" anchor="ctr"/>
          <a:lstStyle/>
          <a:p>
            <a:pPr indent="0" marL="0">
              <a:lnSpc>
                <a:spcPts val="860"/>
              </a:lnSpc>
              <a:buNone/>
            </a:pPr>
            <a:r>
              <a:rPr lang="en-US" sz="780" b="1" dirty="0">
                <a:solidFill>
                  <a:srgbClr val="2E5A7D"/>
                </a:solidFill>
                <a:latin typeface="Calibri" pitchFamily="34" charset="0"/>
                <a:ea typeface="Calibri" pitchFamily="34" charset="-122"/>
                <a:cs typeface="Calibri" pitchFamily="34" charset="-120"/>
              </a:rPr>
              <a:t>User acceptance</a:t>
            </a:r>
            <a:endParaRPr lang="en-US" sz="780" dirty="0"/>
          </a:p>
        </p:txBody>
      </p:sp>
      <p:sp>
        <p:nvSpPr>
          <p:cNvPr id="55" name="Text 53"/>
          <p:cNvSpPr txBox="1"/>
          <p:nvPr/>
        </p:nvSpPr>
        <p:spPr>
          <a:xfrm>
            <a:off x="3421685" y="4279392"/>
            <a:ext cx="1166774" cy="493776"/>
          </a:xfrm>
          <a:prstGeom prst="rect">
            <a:avLst/>
          </a:prstGeom>
          <a:noFill/>
          <a:ln/>
        </p:spPr>
        <p:txBody>
          <a:bodyPr wrap="square" lIns="0" tIns="0" rIns="0" bIns="0" rtlCol="0" anchor="t"/>
          <a:lstStyle/>
          <a:p>
            <a:pPr indent="0" marL="0">
              <a:lnSpc>
                <a:spcPts val="760"/>
              </a:lnSpc>
              <a:buNone/>
            </a:pPr>
            <a:r>
              <a:rPr lang="en-US" sz="650" dirty="0">
                <a:solidFill>
                  <a:srgbClr val="55606E"/>
                </a:solidFill>
                <a:latin typeface="Calibri" pitchFamily="34" charset="0"/>
                <a:ea typeface="Calibri" pitchFamily="34" charset="-122"/>
                <a:cs typeface="Calibri" pitchFamily="34" charset="-120"/>
              </a:rPr>
              <a:t>Against the business objectives stated at intake. Produces the UAT sign-off.</a:t>
            </a:r>
            <a:endParaRPr lang="en-US" sz="650" dirty="0"/>
          </a:p>
        </p:txBody>
      </p:sp>
      <p:sp>
        <p:nvSpPr>
          <p:cNvPr id="56" name="Shape 54"/>
          <p:cNvSpPr/>
          <p:nvPr/>
        </p:nvSpPr>
        <p:spPr>
          <a:xfrm>
            <a:off x="4789627" y="4023360"/>
            <a:ext cx="1349654" cy="804672"/>
          </a:xfrm>
          <a:prstGeom prst="roundRect">
            <a:avLst>
              <a:gd name="adj" fmla="val 4545"/>
            </a:avLst>
          </a:prstGeom>
          <a:solidFill>
            <a:srgbClr val="E7ECF3"/>
          </a:solidFill>
          <a:ln w="12700">
            <a:solidFill>
              <a:srgbClr val="2E5A7D"/>
            </a:solidFill>
            <a:prstDash val="solid"/>
          </a:ln>
        </p:spPr>
      </p:sp>
      <p:sp>
        <p:nvSpPr>
          <p:cNvPr id="57" name="Text 55"/>
          <p:cNvSpPr txBox="1"/>
          <p:nvPr/>
        </p:nvSpPr>
        <p:spPr>
          <a:xfrm>
            <a:off x="4881067" y="4059936"/>
            <a:ext cx="1166774" cy="219456"/>
          </a:xfrm>
          <a:prstGeom prst="rect">
            <a:avLst/>
          </a:prstGeom>
          <a:noFill/>
          <a:ln/>
        </p:spPr>
        <p:txBody>
          <a:bodyPr wrap="square" lIns="0" tIns="0" rIns="0" bIns="0" rtlCol="0" anchor="ctr"/>
          <a:lstStyle/>
          <a:p>
            <a:pPr indent="0" marL="0">
              <a:lnSpc>
                <a:spcPts val="860"/>
              </a:lnSpc>
              <a:buNone/>
            </a:pPr>
            <a:r>
              <a:rPr lang="en-US" sz="780" b="1" dirty="0">
                <a:solidFill>
                  <a:srgbClr val="2E5A7D"/>
                </a:solidFill>
                <a:latin typeface="Calibri" pitchFamily="34" charset="0"/>
                <a:ea typeface="Calibri" pitchFamily="34" charset="-122"/>
                <a:cs typeface="Calibri" pitchFamily="34" charset="-120"/>
              </a:rPr>
              <a:t>SPLI load</a:t>
            </a:r>
            <a:endParaRPr lang="en-US" sz="780" dirty="0"/>
          </a:p>
        </p:txBody>
      </p:sp>
      <p:sp>
        <p:nvSpPr>
          <p:cNvPr id="58" name="Text 56"/>
          <p:cNvSpPr txBox="1"/>
          <p:nvPr/>
        </p:nvSpPr>
        <p:spPr>
          <a:xfrm>
            <a:off x="4881067" y="4279392"/>
            <a:ext cx="1166774" cy="493776"/>
          </a:xfrm>
          <a:prstGeom prst="rect">
            <a:avLst/>
          </a:prstGeom>
          <a:noFill/>
          <a:ln/>
        </p:spPr>
        <p:txBody>
          <a:bodyPr wrap="square" lIns="0" tIns="0" rIns="0" bIns="0" rtlCol="0" anchor="t"/>
          <a:lstStyle/>
          <a:p>
            <a:pPr indent="0" marL="0">
              <a:lnSpc>
                <a:spcPts val="760"/>
              </a:lnSpc>
              <a:buNone/>
            </a:pPr>
            <a:r>
              <a:rPr lang="en-US" sz="650" dirty="0">
                <a:solidFill>
                  <a:srgbClr val="55606E"/>
                </a:solidFill>
                <a:latin typeface="Calibri" pitchFamily="34" charset="0"/>
                <a:ea typeface="Calibri" pitchFamily="34" charset="-122"/>
                <a:cs typeface="Calibri" pitchFamily="34" charset="-120"/>
              </a:rPr>
              <a:t>Volume-driven, where the assessed volumes make it applicable.</a:t>
            </a:r>
            <a:endParaRPr lang="en-US" sz="650" dirty="0"/>
          </a:p>
        </p:txBody>
      </p:sp>
      <p:sp>
        <p:nvSpPr>
          <p:cNvPr id="59" name="Shape 57"/>
          <p:cNvSpPr/>
          <p:nvPr/>
        </p:nvSpPr>
        <p:spPr>
          <a:xfrm>
            <a:off x="6249010" y="4023360"/>
            <a:ext cx="1349654" cy="804672"/>
          </a:xfrm>
          <a:prstGeom prst="roundRect">
            <a:avLst>
              <a:gd name="adj" fmla="val 4545"/>
            </a:avLst>
          </a:prstGeom>
          <a:solidFill>
            <a:srgbClr val="E7ECF3"/>
          </a:solidFill>
          <a:ln w="12700">
            <a:solidFill>
              <a:srgbClr val="2E5A7D"/>
            </a:solidFill>
            <a:prstDash val="solid"/>
          </a:ln>
        </p:spPr>
      </p:sp>
      <p:sp>
        <p:nvSpPr>
          <p:cNvPr id="60" name="Text 58"/>
          <p:cNvSpPr txBox="1"/>
          <p:nvPr/>
        </p:nvSpPr>
        <p:spPr>
          <a:xfrm>
            <a:off x="6340450" y="4059936"/>
            <a:ext cx="1166774" cy="219456"/>
          </a:xfrm>
          <a:prstGeom prst="rect">
            <a:avLst/>
          </a:prstGeom>
          <a:noFill/>
          <a:ln/>
        </p:spPr>
        <p:txBody>
          <a:bodyPr wrap="square" lIns="0" tIns="0" rIns="0" bIns="0" rtlCol="0" anchor="ctr"/>
          <a:lstStyle/>
          <a:p>
            <a:pPr indent="0" marL="0">
              <a:lnSpc>
                <a:spcPts val="860"/>
              </a:lnSpc>
              <a:buNone/>
            </a:pPr>
            <a:r>
              <a:rPr lang="en-US" sz="780" b="1" dirty="0">
                <a:solidFill>
                  <a:srgbClr val="2E5A7D"/>
                </a:solidFill>
                <a:latin typeface="Calibri" pitchFamily="34" charset="0"/>
                <a:ea typeface="Calibri" pitchFamily="34" charset="-122"/>
                <a:cs typeface="Calibri" pitchFamily="34" charset="-120"/>
              </a:rPr>
              <a:t>End-to-end reconciliation</a:t>
            </a:r>
            <a:endParaRPr lang="en-US" sz="780" dirty="0"/>
          </a:p>
        </p:txBody>
      </p:sp>
      <p:sp>
        <p:nvSpPr>
          <p:cNvPr id="61" name="Text 59"/>
          <p:cNvSpPr txBox="1"/>
          <p:nvPr/>
        </p:nvSpPr>
        <p:spPr>
          <a:xfrm>
            <a:off x="6340450" y="4279392"/>
            <a:ext cx="1166774" cy="493776"/>
          </a:xfrm>
          <a:prstGeom prst="rect">
            <a:avLst/>
          </a:prstGeom>
          <a:noFill/>
          <a:ln/>
        </p:spPr>
        <p:txBody>
          <a:bodyPr wrap="square" lIns="0" tIns="0" rIns="0" bIns="0" rtlCol="0" anchor="t"/>
          <a:lstStyle/>
          <a:p>
            <a:pPr indent="0" marL="0">
              <a:lnSpc>
                <a:spcPts val="760"/>
              </a:lnSpc>
              <a:buNone/>
            </a:pPr>
            <a:r>
              <a:rPr lang="en-US" sz="650" dirty="0">
                <a:solidFill>
                  <a:srgbClr val="55606E"/>
                </a:solidFill>
                <a:latin typeface="Calibri" pitchFamily="34" charset="0"/>
                <a:ea typeface="Calibri" pitchFamily="34" charset="-122"/>
                <a:cs typeface="Calibri" pitchFamily="34" charset="-120"/>
              </a:rPr>
              <a:t>Notifications, reconciliation, retry and exception handling, success and failure.</a:t>
            </a:r>
            <a:endParaRPr lang="en-US" sz="650" dirty="0"/>
          </a:p>
        </p:txBody>
      </p:sp>
      <p:sp>
        <p:nvSpPr>
          <p:cNvPr id="62" name="Text 60"/>
          <p:cNvSpPr txBox="1"/>
          <p:nvPr/>
        </p:nvSpPr>
        <p:spPr>
          <a:xfrm>
            <a:off x="411480" y="4864608"/>
            <a:ext cx="7187184" cy="182880"/>
          </a:xfrm>
          <a:prstGeom prst="rect">
            <a:avLst/>
          </a:prstGeom>
          <a:noFill/>
          <a:ln/>
        </p:spPr>
        <p:txBody>
          <a:bodyPr wrap="square" lIns="0" tIns="0" rIns="0" bIns="0" rtlCol="0" anchor="ctr"/>
          <a:lstStyle/>
          <a:p>
            <a:pPr algn="l" indent="0" marL="0">
              <a:buNone/>
            </a:pPr>
            <a:r>
              <a:rPr lang="en-US" sz="660" b="1" dirty="0">
                <a:solidFill>
                  <a:srgbClr val="A44A2A"/>
                </a:solidFill>
                <a:latin typeface="Calibri" pitchFamily="34" charset="0"/>
                <a:ea typeface="Calibri" pitchFamily="34" charset="-122"/>
                <a:cs typeface="Calibri" pitchFamily="34" charset="-120"/>
              </a:rPr>
              <a:t>Defect and conflict resolution runs continuously alongside all five, not as a phase — resolution requires working across the partner and the engineering team</a:t>
            </a:r>
            <a:endParaRPr lang="en-US" sz="660" dirty="0"/>
          </a:p>
        </p:txBody>
      </p:sp>
      <p:sp>
        <p:nvSpPr>
          <p:cNvPr id="63" name="Shape 61"/>
          <p:cNvSpPr/>
          <p:nvPr/>
        </p:nvSpPr>
        <p:spPr>
          <a:xfrm>
            <a:off x="411480" y="5102352"/>
            <a:ext cx="7187184" cy="1024128"/>
          </a:xfrm>
          <a:prstGeom prst="roundRect">
            <a:avLst>
              <a:gd name="adj" fmla="val 4464"/>
            </a:avLst>
          </a:prstGeom>
          <a:solidFill>
            <a:srgbClr val="F4F7FA"/>
          </a:solidFill>
          <a:ln w="11430">
            <a:solidFill>
              <a:srgbClr val="D4DAE2"/>
            </a:solidFill>
            <a:prstDash val="solid"/>
          </a:ln>
        </p:spPr>
      </p:sp>
      <p:sp>
        <p:nvSpPr>
          <p:cNvPr id="64" name="Text 62"/>
          <p:cNvSpPr txBox="1"/>
          <p:nvPr/>
        </p:nvSpPr>
        <p:spPr>
          <a:xfrm>
            <a:off x="557784" y="5157216"/>
            <a:ext cx="6894576" cy="164592"/>
          </a:xfrm>
          <a:prstGeom prst="rect">
            <a:avLst/>
          </a:prstGeom>
          <a:noFill/>
          <a:ln/>
        </p:spPr>
        <p:txBody>
          <a:bodyPr wrap="square" lIns="0" tIns="0" rIns="0" bIns="0" rtlCol="0" anchor="ctr"/>
          <a:lstStyle/>
          <a:p>
            <a:pPr indent="0" marL="0">
              <a:buNone/>
            </a:pPr>
            <a:r>
              <a:rPr lang="en-US" sz="680" b="1" spc="90" kern="0" dirty="0">
                <a:solidFill>
                  <a:srgbClr val="15304F"/>
                </a:solidFill>
                <a:latin typeface="Calibri" pitchFamily="34" charset="0"/>
                <a:ea typeface="Calibri" pitchFamily="34" charset="-122"/>
                <a:cs typeface="Calibri" pitchFamily="34" charset="-120"/>
              </a:rPr>
              <a:t>WHY EVERY CYCLE IS RUN</a:t>
            </a:r>
            <a:endParaRPr lang="en-US" sz="680" dirty="0"/>
          </a:p>
        </p:txBody>
      </p:sp>
      <p:sp>
        <p:nvSpPr>
          <p:cNvPr id="65" name="Text 63"/>
          <p:cNvSpPr txBox="1"/>
          <p:nvPr/>
        </p:nvSpPr>
        <p:spPr>
          <a:xfrm>
            <a:off x="557784" y="5321808"/>
            <a:ext cx="6894576" cy="749808"/>
          </a:xfrm>
          <a:prstGeom prst="rect">
            <a:avLst/>
          </a:prstGeom>
          <a:noFill/>
          <a:ln/>
        </p:spPr>
        <p:txBody>
          <a:bodyPr wrap="square" lIns="0" tIns="0" rIns="0" bIns="0" rtlCol="0" anchor="t"/>
          <a:lstStyle/>
          <a:p>
            <a:pPr indent="0" marL="0">
              <a:lnSpc>
                <a:spcPts val="880"/>
              </a:lnSpc>
              <a:buNone/>
            </a:pPr>
            <a:r>
              <a:rPr lang="en-US" sz="730" dirty="0">
                <a:solidFill>
                  <a:srgbClr val="1B2432"/>
                </a:solidFill>
                <a:latin typeface="Calibri" pitchFamily="34" charset="0"/>
                <a:ea typeface="Calibri" pitchFamily="34" charset="-122"/>
                <a:cs typeface="Calibri" pitchFamily="34" charset="-120"/>
              </a:rPr>
              <a:t>Each test type catches a different class of failure — unit catches component defects, integration catches mismatches between separately configured systems, UAT catches divergence from what the business asked for at intake, and SPLI catches what only appears at volume. Skipping any of them moves the discovery of that failure class into production.</a:t>
            </a:r>
            <a:endParaRPr lang="en-US" sz="730" dirty="0"/>
          </a:p>
        </p:txBody>
      </p:sp>
      <p:sp>
        <p:nvSpPr>
          <p:cNvPr id="66" name="Shape 64"/>
          <p:cNvSpPr/>
          <p:nvPr/>
        </p:nvSpPr>
        <p:spPr>
          <a:xfrm>
            <a:off x="8714232" y="4023360"/>
            <a:ext cx="2103120" cy="804672"/>
          </a:xfrm>
          <a:prstGeom prst="diamond">
            <a:avLst/>
          </a:prstGeom>
          <a:solidFill>
            <a:srgbClr val="E7ECF3"/>
          </a:solidFill>
          <a:ln w="17780">
            <a:solidFill>
              <a:srgbClr val="2E5A7D"/>
            </a:solidFill>
            <a:prstDash val="solid"/>
          </a:ln>
        </p:spPr>
      </p:sp>
      <p:sp>
        <p:nvSpPr>
          <p:cNvPr id="67" name="Text 65"/>
          <p:cNvSpPr txBox="1"/>
          <p:nvPr/>
        </p:nvSpPr>
        <p:spPr>
          <a:xfrm>
            <a:off x="8988552" y="4023360"/>
            <a:ext cx="1554480" cy="804672"/>
          </a:xfrm>
          <a:prstGeom prst="rect">
            <a:avLst/>
          </a:prstGeom>
          <a:noFill/>
          <a:ln/>
        </p:spPr>
        <p:txBody>
          <a:bodyPr wrap="square" lIns="0" tIns="0" rIns="0" bIns="0" rtlCol="0" anchor="ctr"/>
          <a:lstStyle/>
          <a:p>
            <a:pPr algn="ctr" indent="0" marL="0">
              <a:lnSpc>
                <a:spcPts val="820"/>
              </a:lnSpc>
              <a:buNone/>
            </a:pPr>
            <a:r>
              <a:rPr lang="en-US" sz="700" b="1" dirty="0">
                <a:solidFill>
                  <a:srgbClr val="2E5A7D"/>
                </a:solidFill>
                <a:latin typeface="Calibri" pitchFamily="34" charset="0"/>
                <a:ea typeface="Calibri" pitchFamily="34" charset="-122"/>
                <a:cs typeface="Calibri" pitchFamily="34" charset="-120"/>
              </a:rPr>
              <a:t>All cycles pass,</a:t>
            </a:r>
            <a:endParaRPr lang="en-US" sz="700" dirty="0"/>
          </a:p>
          <a:p>
            <a:pPr algn="ctr" indent="0" marL="0">
              <a:lnSpc>
                <a:spcPts val="820"/>
              </a:lnSpc>
              <a:buNone/>
            </a:pPr>
            <a:r>
              <a:rPr lang="en-US" sz="700" b="1" dirty="0">
                <a:solidFill>
                  <a:srgbClr val="2E5A7D"/>
                </a:solidFill>
                <a:latin typeface="Calibri" pitchFamily="34" charset="0"/>
                <a:ea typeface="Calibri" pitchFamily="34" charset="-122"/>
                <a:cs typeface="Calibri" pitchFamily="34" charset="-120"/>
              </a:rPr>
              <a:t>defects resolved?</a:t>
            </a:r>
            <a:endParaRPr lang="en-US" sz="700" dirty="0"/>
          </a:p>
        </p:txBody>
      </p:sp>
      <p:sp>
        <p:nvSpPr>
          <p:cNvPr id="68" name="Shape 66"/>
          <p:cNvSpPr/>
          <p:nvPr/>
        </p:nvSpPr>
        <p:spPr>
          <a:xfrm>
            <a:off x="7653528" y="4425696"/>
            <a:ext cx="1024128" cy="0"/>
          </a:xfrm>
          <a:prstGeom prst="line">
            <a:avLst/>
          </a:prstGeom>
          <a:noFill/>
          <a:ln w="17780">
            <a:solidFill>
              <a:srgbClr val="7C8798"/>
            </a:solidFill>
            <a:prstDash val="solid"/>
            <a:tailEnd type="triangle"/>
          </a:ln>
        </p:spPr>
      </p:sp>
      <p:sp>
        <p:nvSpPr>
          <p:cNvPr id="69" name="Text 67"/>
          <p:cNvSpPr txBox="1"/>
          <p:nvPr/>
        </p:nvSpPr>
        <p:spPr>
          <a:xfrm>
            <a:off x="7781544" y="4846320"/>
            <a:ext cx="3968496" cy="182880"/>
          </a:xfrm>
          <a:prstGeom prst="rect">
            <a:avLst/>
          </a:prstGeom>
          <a:noFill/>
          <a:ln/>
        </p:spPr>
        <p:txBody>
          <a:bodyPr wrap="square" lIns="0" tIns="0" rIns="0" bIns="0" rtlCol="0" anchor="ctr"/>
          <a:lstStyle/>
          <a:p>
            <a:pPr algn="ctr" indent="0" marL="0">
              <a:buNone/>
            </a:pPr>
            <a:r>
              <a:rPr lang="en-US" sz="660" b="1" dirty="0">
                <a:solidFill>
                  <a:srgbClr val="2E5A7D"/>
                </a:solidFill>
                <a:latin typeface="Calibri" pitchFamily="34" charset="0"/>
                <a:ea typeface="Calibri" pitchFamily="34" charset="-122"/>
                <a:cs typeface="Calibri" pitchFamily="34" charset="-120"/>
              </a:rPr>
              <a:t>No  —  returns to the owning workstream</a:t>
            </a:r>
            <a:endParaRPr lang="en-US" sz="660" dirty="0"/>
          </a:p>
        </p:txBody>
      </p:sp>
      <p:sp>
        <p:nvSpPr>
          <p:cNvPr id="70" name="Shape 68"/>
          <p:cNvSpPr/>
          <p:nvPr/>
        </p:nvSpPr>
        <p:spPr>
          <a:xfrm>
            <a:off x="9765792" y="5047488"/>
            <a:ext cx="0" cy="128016"/>
          </a:xfrm>
          <a:prstGeom prst="line">
            <a:avLst/>
          </a:prstGeom>
          <a:noFill/>
          <a:ln w="17780">
            <a:solidFill>
              <a:srgbClr val="7C8798"/>
            </a:solidFill>
            <a:prstDash val="solid"/>
            <a:tailEnd type="triangle"/>
          </a:ln>
        </p:spPr>
      </p:sp>
      <p:sp>
        <p:nvSpPr>
          <p:cNvPr id="71" name="Text 69"/>
          <p:cNvSpPr txBox="1"/>
          <p:nvPr/>
        </p:nvSpPr>
        <p:spPr>
          <a:xfrm>
            <a:off x="9820656" y="5047488"/>
            <a:ext cx="822960" cy="182880"/>
          </a:xfrm>
          <a:prstGeom prst="rect">
            <a:avLst/>
          </a:prstGeom>
          <a:noFill/>
          <a:ln/>
        </p:spPr>
        <p:txBody>
          <a:bodyPr wrap="square" lIns="0" tIns="0" rIns="0" bIns="0" rtlCol="0" anchor="ctr"/>
          <a:lstStyle/>
          <a:p>
            <a:pPr algn="l" indent="0" marL="0">
              <a:buNone/>
            </a:pPr>
            <a:r>
              <a:rPr lang="en-US" sz="660" b="1" dirty="0">
                <a:solidFill>
                  <a:srgbClr val="2E6B4F"/>
                </a:solidFill>
                <a:latin typeface="Calibri" pitchFamily="34" charset="0"/>
                <a:ea typeface="Calibri" pitchFamily="34" charset="-122"/>
                <a:cs typeface="Calibri" pitchFamily="34" charset="-120"/>
              </a:rPr>
              <a:t>Yes</a:t>
            </a:r>
            <a:endParaRPr lang="en-US" sz="660" dirty="0"/>
          </a:p>
        </p:txBody>
      </p:sp>
      <p:sp>
        <p:nvSpPr>
          <p:cNvPr id="72" name="Shape 70"/>
          <p:cNvSpPr/>
          <p:nvPr/>
        </p:nvSpPr>
        <p:spPr>
          <a:xfrm>
            <a:off x="7781544" y="5175504"/>
            <a:ext cx="3968496" cy="566928"/>
          </a:xfrm>
          <a:prstGeom prst="roundRect">
            <a:avLst>
              <a:gd name="adj" fmla="val 8065"/>
            </a:avLst>
          </a:prstGeom>
          <a:solidFill>
            <a:srgbClr val="FFFFFF"/>
          </a:solidFill>
          <a:ln w="15240">
            <a:solidFill>
              <a:srgbClr val="2E5A7D"/>
            </a:solidFill>
            <a:prstDash val="solid"/>
          </a:ln>
          <a:effectLst>
            <a:outerShdw sx="100000" sy="100000" kx="0" ky="0" algn="bl" rotWithShape="0" blurRad="88900" dist="12700" dir="5400000">
              <a:srgbClr val="97A3B4">
                <a:alpha val="16000"/>
              </a:srgbClr>
            </a:outerShdw>
          </a:effectLst>
        </p:spPr>
      </p:sp>
      <p:sp>
        <p:nvSpPr>
          <p:cNvPr id="73" name="Shape 71"/>
          <p:cNvSpPr/>
          <p:nvPr/>
        </p:nvSpPr>
        <p:spPr>
          <a:xfrm>
            <a:off x="7781544" y="5175504"/>
            <a:ext cx="64008" cy="566928"/>
          </a:xfrm>
          <a:prstGeom prst="rect">
            <a:avLst/>
          </a:prstGeom>
          <a:solidFill>
            <a:srgbClr val="2E5A7D"/>
          </a:solidFill>
          <a:ln w="12700">
            <a:solidFill>
              <a:srgbClr val="2E5A7D"/>
            </a:solidFill>
            <a:prstDash val="solid"/>
          </a:ln>
        </p:spPr>
      </p:sp>
      <p:sp>
        <p:nvSpPr>
          <p:cNvPr id="74" name="Text 72"/>
          <p:cNvSpPr txBox="1"/>
          <p:nvPr/>
        </p:nvSpPr>
        <p:spPr>
          <a:xfrm>
            <a:off x="7946136" y="5212080"/>
            <a:ext cx="3675888" cy="182880"/>
          </a:xfrm>
          <a:prstGeom prst="rect">
            <a:avLst/>
          </a:prstGeom>
          <a:noFill/>
          <a:ln/>
        </p:spPr>
        <p:txBody>
          <a:bodyPr wrap="square" lIns="0" tIns="0" rIns="0" bIns="0" rtlCol="0" anchor="ctr"/>
          <a:lstStyle/>
          <a:p>
            <a:pPr indent="0" marL="0">
              <a:buNone/>
            </a:pPr>
            <a:r>
              <a:rPr lang="en-US" sz="800" b="1" dirty="0">
                <a:solidFill>
                  <a:srgbClr val="1B2432"/>
                </a:solidFill>
                <a:latin typeface="Calibri" pitchFamily="34" charset="0"/>
                <a:ea typeface="Calibri" pitchFamily="34" charset="-122"/>
                <a:cs typeface="Calibri" pitchFamily="34" charset="-120"/>
              </a:rPr>
              <a:t>Environment ladder · documentation · sign-offs</a:t>
            </a:r>
            <a:endParaRPr lang="en-US" sz="800" dirty="0"/>
          </a:p>
        </p:txBody>
      </p:sp>
      <p:sp>
        <p:nvSpPr>
          <p:cNvPr id="75" name="Text 73"/>
          <p:cNvSpPr txBox="1"/>
          <p:nvPr/>
        </p:nvSpPr>
        <p:spPr>
          <a:xfrm>
            <a:off x="7946136" y="5385816"/>
            <a:ext cx="3675888" cy="310896"/>
          </a:xfrm>
          <a:prstGeom prst="rect">
            <a:avLst/>
          </a:prstGeom>
          <a:noFill/>
          <a:ln/>
        </p:spPr>
        <p:txBody>
          <a:bodyPr wrap="square" lIns="0" tIns="0" rIns="0" bIns="0" rtlCol="0" anchor="t"/>
          <a:lstStyle/>
          <a:p>
            <a:pPr indent="0" marL="0">
              <a:lnSpc>
                <a:spcPts val="820"/>
              </a:lnSpc>
              <a:buNone/>
            </a:pPr>
            <a:r>
              <a:rPr lang="en-US" sz="690" dirty="0">
                <a:solidFill>
                  <a:srgbClr val="55606E"/>
                </a:solidFill>
                <a:latin typeface="Calibri" pitchFamily="34" charset="0"/>
                <a:ea typeface="Calibri" pitchFamily="34" charset="-122"/>
                <a:cs typeface="Calibri" pitchFamily="34" charset="-120"/>
              </a:rPr>
              <a:t>A fixed ladder, no step skipped. Release Transition documentation, runbooks, technical and business sign-offs.</a:t>
            </a:r>
            <a:endParaRPr lang="en-US" sz="690" dirty="0"/>
          </a:p>
        </p:txBody>
      </p:sp>
      <p:sp>
        <p:nvSpPr>
          <p:cNvPr id="76" name="Shape 74"/>
          <p:cNvSpPr/>
          <p:nvPr/>
        </p:nvSpPr>
        <p:spPr>
          <a:xfrm>
            <a:off x="9765792" y="5742432"/>
            <a:ext cx="0" cy="128016"/>
          </a:xfrm>
          <a:prstGeom prst="line">
            <a:avLst/>
          </a:prstGeom>
          <a:noFill/>
          <a:ln w="17780">
            <a:solidFill>
              <a:srgbClr val="7C8798"/>
            </a:solidFill>
            <a:prstDash val="solid"/>
            <a:tailEnd type="triangle"/>
          </a:ln>
        </p:spPr>
      </p:sp>
      <p:sp>
        <p:nvSpPr>
          <p:cNvPr id="77" name="Shape 75"/>
          <p:cNvSpPr/>
          <p:nvPr/>
        </p:nvSpPr>
        <p:spPr>
          <a:xfrm>
            <a:off x="7781544" y="5870448"/>
            <a:ext cx="3968496" cy="365760"/>
          </a:xfrm>
          <a:prstGeom prst="roundRect">
            <a:avLst>
              <a:gd name="adj" fmla="val 10000"/>
            </a:avLst>
          </a:prstGeom>
          <a:solidFill>
            <a:srgbClr val="0B6E6E"/>
          </a:solidFill>
          <a:ln w="12700">
            <a:solidFill>
              <a:srgbClr val="0B6E6E"/>
            </a:solidFill>
            <a:prstDash val="solid"/>
          </a:ln>
        </p:spPr>
      </p:sp>
      <p:sp>
        <p:nvSpPr>
          <p:cNvPr id="78" name="Text 76"/>
          <p:cNvSpPr txBox="1"/>
          <p:nvPr/>
        </p:nvSpPr>
        <p:spPr>
          <a:xfrm>
            <a:off x="7946136" y="5870448"/>
            <a:ext cx="3675888" cy="365760"/>
          </a:xfrm>
          <a:prstGeom prst="rect">
            <a:avLst/>
          </a:prstGeom>
          <a:noFill/>
          <a:ln/>
        </p:spPr>
        <p:txBody>
          <a:bodyPr wrap="square" lIns="0" tIns="0" rIns="0" bIns="0" rtlCol="0" anchor="ctr"/>
          <a:lstStyle/>
          <a:p>
            <a:pPr indent="0" marL="0">
              <a:buNone/>
            </a:pPr>
            <a:r>
              <a:rPr lang="en-US" sz="840" b="1" dirty="0">
                <a:solidFill>
                  <a:srgbClr val="FFFFFF"/>
                </a:solidFill>
                <a:latin typeface="Calibri" pitchFamily="34" charset="0"/>
                <a:ea typeface="Calibri" pitchFamily="34" charset="-122"/>
                <a:cs typeface="Calibri" pitchFamily="34" charset="-120"/>
              </a:rPr>
              <a:t>To Stage 9  —  Partner Live</a:t>
            </a:r>
            <a:endParaRPr lang="en-US" sz="840" dirty="0"/>
          </a:p>
        </p:txBody>
      </p:sp>
      <p:sp>
        <p:nvSpPr>
          <p:cNvPr id="79" name="Text 77"/>
          <p:cNvSpPr txBox="1"/>
          <p:nvPr/>
        </p:nvSpPr>
        <p:spPr>
          <a:xfrm>
            <a:off x="411480" y="6309360"/>
            <a:ext cx="10424160" cy="182880"/>
          </a:xfrm>
          <a:prstGeom prst="rect">
            <a:avLst/>
          </a:prstGeom>
          <a:noFill/>
          <a:ln/>
        </p:spPr>
        <p:txBody>
          <a:bodyPr wrap="square" lIns="0" tIns="0" rIns="0" bIns="0" rtlCol="0" anchor="ctr"/>
          <a:lstStyle/>
          <a:p>
            <a:pPr indent="0" marL="0">
              <a:buNone/>
            </a:pPr>
            <a:r>
              <a:rPr lang="en-US" sz="760" b="1" spc="110" kern="0" dirty="0">
                <a:solidFill>
                  <a:srgbClr val="55606E"/>
                </a:solidFill>
                <a:latin typeface="Calibri" pitchFamily="34" charset="0"/>
                <a:ea typeface="Calibri" pitchFamily="34" charset="-122"/>
                <a:cs typeface="Calibri" pitchFamily="34" charset="-120"/>
              </a:rPr>
              <a:t>OWNERSHIP COLOUR CODING</a:t>
            </a:r>
            <a:endParaRPr lang="en-US" sz="760" dirty="0"/>
          </a:p>
        </p:txBody>
      </p:sp>
      <p:sp>
        <p:nvSpPr>
          <p:cNvPr id="80" name="Shape 78"/>
          <p:cNvSpPr/>
          <p:nvPr/>
        </p:nvSpPr>
        <p:spPr>
          <a:xfrm>
            <a:off x="411480" y="6515100"/>
            <a:ext cx="118872" cy="118872"/>
          </a:xfrm>
          <a:prstGeom prst="rect">
            <a:avLst/>
          </a:prstGeom>
          <a:solidFill>
            <a:srgbClr val="2E6B4F"/>
          </a:solidFill>
          <a:ln w="12700">
            <a:solidFill>
              <a:srgbClr val="2E6B4F"/>
            </a:solidFill>
            <a:prstDash val="solid"/>
          </a:ln>
        </p:spPr>
      </p:sp>
      <p:sp>
        <p:nvSpPr>
          <p:cNvPr id="81" name="Text 79"/>
          <p:cNvSpPr txBox="1"/>
          <p:nvPr/>
        </p:nvSpPr>
        <p:spPr>
          <a:xfrm>
            <a:off x="58521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 app team</a:t>
            </a:r>
            <a:endParaRPr lang="en-US" sz="660" dirty="0"/>
          </a:p>
        </p:txBody>
      </p:sp>
      <p:sp>
        <p:nvSpPr>
          <p:cNvPr id="82" name="Shape 80"/>
          <p:cNvSpPr/>
          <p:nvPr/>
        </p:nvSpPr>
        <p:spPr>
          <a:xfrm>
            <a:off x="1671320" y="6515100"/>
            <a:ext cx="118872" cy="118872"/>
          </a:xfrm>
          <a:prstGeom prst="rect">
            <a:avLst/>
          </a:prstGeom>
          <a:solidFill>
            <a:srgbClr val="15304F"/>
          </a:solidFill>
          <a:ln w="12700">
            <a:solidFill>
              <a:srgbClr val="15304F"/>
            </a:solidFill>
            <a:prstDash val="solid"/>
          </a:ln>
        </p:spPr>
      </p:sp>
      <p:sp>
        <p:nvSpPr>
          <p:cNvPr id="83" name="Text 81"/>
          <p:cNvSpPr txBox="1"/>
          <p:nvPr/>
        </p:nvSpPr>
        <p:spPr>
          <a:xfrm>
            <a:off x="184505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ECM Intake &amp; Product Mgmt</a:t>
            </a:r>
            <a:endParaRPr lang="en-US" sz="660" dirty="0"/>
          </a:p>
        </p:txBody>
      </p:sp>
      <p:sp>
        <p:nvSpPr>
          <p:cNvPr id="84" name="Shape 82"/>
          <p:cNvSpPr/>
          <p:nvPr/>
        </p:nvSpPr>
        <p:spPr>
          <a:xfrm>
            <a:off x="2931160" y="6515100"/>
            <a:ext cx="118872" cy="118872"/>
          </a:xfrm>
          <a:prstGeom prst="rect">
            <a:avLst/>
          </a:prstGeom>
          <a:solidFill>
            <a:srgbClr val="5B4A72"/>
          </a:solidFill>
          <a:ln w="12700">
            <a:solidFill>
              <a:srgbClr val="5B4A72"/>
            </a:solidFill>
            <a:prstDash val="solid"/>
          </a:ln>
        </p:spPr>
      </p:sp>
      <p:sp>
        <p:nvSpPr>
          <p:cNvPr id="85" name="Text 83"/>
          <p:cNvSpPr txBox="1"/>
          <p:nvPr/>
        </p:nvSpPr>
        <p:spPr>
          <a:xfrm>
            <a:off x="310489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LOB Sponsor</a:t>
            </a:r>
            <a:endParaRPr lang="en-US" sz="660" dirty="0"/>
          </a:p>
        </p:txBody>
      </p:sp>
      <p:sp>
        <p:nvSpPr>
          <p:cNvPr id="86" name="Shape 84"/>
          <p:cNvSpPr/>
          <p:nvPr/>
        </p:nvSpPr>
        <p:spPr>
          <a:xfrm>
            <a:off x="4191000" y="6515100"/>
            <a:ext cx="118872" cy="118872"/>
          </a:xfrm>
          <a:prstGeom prst="rect">
            <a:avLst/>
          </a:prstGeom>
          <a:solidFill>
            <a:srgbClr val="5E7D96"/>
          </a:solidFill>
          <a:ln w="12700">
            <a:solidFill>
              <a:srgbClr val="5E7D96"/>
            </a:solidFill>
            <a:prstDash val="solid"/>
          </a:ln>
        </p:spPr>
      </p:sp>
      <p:sp>
        <p:nvSpPr>
          <p:cNvPr id="87" name="Text 85"/>
          <p:cNvSpPr txBox="1"/>
          <p:nvPr/>
        </p:nvSpPr>
        <p:spPr>
          <a:xfrm>
            <a:off x="436473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PO · Architects · SMEs</a:t>
            </a:r>
            <a:endParaRPr lang="en-US" sz="660" dirty="0"/>
          </a:p>
        </p:txBody>
      </p:sp>
      <p:sp>
        <p:nvSpPr>
          <p:cNvPr id="88" name="Shape 86"/>
          <p:cNvSpPr/>
          <p:nvPr/>
        </p:nvSpPr>
        <p:spPr>
          <a:xfrm>
            <a:off x="5450840" y="6515100"/>
            <a:ext cx="118872" cy="118872"/>
          </a:xfrm>
          <a:prstGeom prst="rect">
            <a:avLst/>
          </a:prstGeom>
          <a:solidFill>
            <a:srgbClr val="A44A2A"/>
          </a:solidFill>
          <a:ln w="12700">
            <a:solidFill>
              <a:srgbClr val="A44A2A"/>
            </a:solidFill>
            <a:prstDash val="solid"/>
          </a:ln>
        </p:spPr>
      </p:sp>
      <p:sp>
        <p:nvSpPr>
          <p:cNvPr id="89" name="Text 87"/>
          <p:cNvSpPr txBox="1"/>
          <p:nvPr/>
        </p:nvSpPr>
        <p:spPr>
          <a:xfrm>
            <a:off x="562457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Imaging Governance</a:t>
            </a:r>
            <a:endParaRPr lang="en-US" sz="660" dirty="0"/>
          </a:p>
        </p:txBody>
      </p:sp>
      <p:sp>
        <p:nvSpPr>
          <p:cNvPr id="90" name="Shape 88"/>
          <p:cNvSpPr/>
          <p:nvPr/>
        </p:nvSpPr>
        <p:spPr>
          <a:xfrm>
            <a:off x="6710680" y="6515100"/>
            <a:ext cx="118872" cy="118872"/>
          </a:xfrm>
          <a:prstGeom prst="rect">
            <a:avLst/>
          </a:prstGeom>
          <a:solidFill>
            <a:srgbClr val="2E5A7D"/>
          </a:solidFill>
          <a:ln w="12700">
            <a:solidFill>
              <a:srgbClr val="2E5A7D"/>
            </a:solidFill>
            <a:prstDash val="solid"/>
          </a:ln>
        </p:spPr>
      </p:sp>
      <p:sp>
        <p:nvSpPr>
          <p:cNvPr id="91" name="Text 89"/>
          <p:cNvSpPr txBox="1"/>
          <p:nvPr/>
        </p:nvSpPr>
        <p:spPr>
          <a:xfrm>
            <a:off x="688441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Enabling &amp; Engineering</a:t>
            </a:r>
            <a:endParaRPr lang="en-US" sz="660" dirty="0"/>
          </a:p>
        </p:txBody>
      </p:sp>
      <p:sp>
        <p:nvSpPr>
          <p:cNvPr id="92" name="Shape 90"/>
          <p:cNvSpPr/>
          <p:nvPr/>
        </p:nvSpPr>
        <p:spPr>
          <a:xfrm>
            <a:off x="7970520" y="6515100"/>
            <a:ext cx="118872" cy="118872"/>
          </a:xfrm>
          <a:prstGeom prst="rect">
            <a:avLst/>
          </a:prstGeom>
          <a:solidFill>
            <a:srgbClr val="9A6410"/>
          </a:solidFill>
          <a:ln w="12700">
            <a:solidFill>
              <a:srgbClr val="9A6410"/>
            </a:solidFill>
            <a:prstDash val="solid"/>
          </a:ln>
        </p:spPr>
      </p:sp>
      <p:sp>
        <p:nvSpPr>
          <p:cNvPr id="93" name="Text 91"/>
          <p:cNvSpPr txBox="1"/>
          <p:nvPr/>
        </p:nvSpPr>
        <p:spPr>
          <a:xfrm>
            <a:off x="814425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Specialist &amp; Platform teams</a:t>
            </a:r>
            <a:endParaRPr lang="en-US" sz="660" dirty="0"/>
          </a:p>
        </p:txBody>
      </p:sp>
      <p:sp>
        <p:nvSpPr>
          <p:cNvPr id="94" name="Shape 92"/>
          <p:cNvSpPr/>
          <p:nvPr/>
        </p:nvSpPr>
        <p:spPr>
          <a:xfrm>
            <a:off x="9230360" y="6515100"/>
            <a:ext cx="118872" cy="118872"/>
          </a:xfrm>
          <a:prstGeom prst="rect">
            <a:avLst/>
          </a:prstGeom>
          <a:solidFill>
            <a:srgbClr val="0B6E6E"/>
          </a:solidFill>
          <a:ln w="12700">
            <a:solidFill>
              <a:srgbClr val="0B6E6E"/>
            </a:solidFill>
            <a:prstDash val="solid"/>
          </a:ln>
        </p:spPr>
      </p:sp>
      <p:sp>
        <p:nvSpPr>
          <p:cNvPr id="95" name="Text 93"/>
          <p:cNvSpPr txBox="1"/>
          <p:nvPr/>
        </p:nvSpPr>
        <p:spPr>
          <a:xfrm>
            <a:off x="940409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Partner Onboarding Resource</a:t>
            </a:r>
            <a:endParaRPr lang="en-US" sz="660" dirty="0"/>
          </a:p>
        </p:txBody>
      </p:sp>
      <p:sp>
        <p:nvSpPr>
          <p:cNvPr id="96" name="Shape 94"/>
          <p:cNvSpPr/>
          <p:nvPr/>
        </p:nvSpPr>
        <p:spPr>
          <a:xfrm>
            <a:off x="10490200" y="6515100"/>
            <a:ext cx="118872" cy="118872"/>
          </a:xfrm>
          <a:prstGeom prst="rect">
            <a:avLst/>
          </a:prstGeom>
          <a:solidFill>
            <a:srgbClr val="7C8798"/>
          </a:solidFill>
          <a:ln w="12700">
            <a:solidFill>
              <a:srgbClr val="7C8798"/>
            </a:solidFill>
            <a:prstDash val="solid"/>
          </a:ln>
        </p:spPr>
      </p:sp>
      <p:sp>
        <p:nvSpPr>
          <p:cNvPr id="97" name="Text 95"/>
          <p:cNvSpPr txBox="1"/>
          <p:nvPr/>
        </p:nvSpPr>
        <p:spPr>
          <a:xfrm>
            <a:off x="10663936" y="6473952"/>
            <a:ext cx="1040384" cy="201168"/>
          </a:xfrm>
          <a:prstGeom prst="rect">
            <a:avLst/>
          </a:prstGeom>
          <a:noFill/>
          <a:ln/>
        </p:spPr>
        <p:txBody>
          <a:bodyPr wrap="square" lIns="0" tIns="0" rIns="0" bIns="0" rtlCol="0" anchor="ctr"/>
          <a:lstStyle/>
          <a:p>
            <a:pPr indent="0" marL="0">
              <a:buNone/>
            </a:pPr>
            <a:r>
              <a:rPr lang="en-US" sz="660" b="1" dirty="0">
                <a:solidFill>
                  <a:srgbClr val="1B2432"/>
                </a:solidFill>
                <a:latin typeface="Calibri" pitchFamily="34" charset="0"/>
                <a:ea typeface="Calibri" pitchFamily="34" charset="-122"/>
                <a:cs typeface="Calibri" pitchFamily="34" charset="-120"/>
              </a:rPr>
              <a:t>Platform Support &amp; BAU</a:t>
            </a:r>
            <a:endParaRPr lang="en-US" sz="6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Partner Onboarding — Current-State Process Diagram</dc:title>
  <dc:subject>PptxGenJS Presentation</dc:subject>
  <dc:creator>ECM Partner Enablement</dc:creator>
  <cp:lastModifiedBy>ECM Partner Enablement</cp:lastModifiedBy>
  <cp:revision>1</cp:revision>
  <dcterms:created xsi:type="dcterms:W3CDTF">2026-10-26T03:53:58Z</dcterms:created>
  <dcterms:modified xsi:type="dcterms:W3CDTF">2026-10-26T03:53:58Z</dcterms:modified>
</cp:coreProperties>
</file>