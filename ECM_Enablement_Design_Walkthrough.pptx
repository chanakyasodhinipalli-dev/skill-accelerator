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frame for the technical audience: two causes, independent, different fixes.
The equation is the structural statement. Both terms are outside our control today, so headcount is the only lever.
Cause 1 is the one to spend time on with this audience, because they live it. The six-step cycle will be immediately recognisable. Make the point that it is tier-independent — no amount of re-tiering fixes it, which is why it goes first regardless of what leadership decides about the structural change.
Cause 2 is the allocation problem. Be direct about the last bullet: in the absence of an objective routing rule, engagement depth gets allocated by influence. That is not an accusation, it is a structural observation, and the rubric exists to replace it.
The bottom table is useful if anyone challenges the 30–40%. It decomposes where the time goes, so the estimate is defensible as a shape even before it is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architects should leave with a clear picture of, because it is the specification they will build from.
Fifty-four data points. The counts per category are real and derived from walking the full lifecycle backwards from every gate: for each gate, what does it need, and where does that come from.
The seven things each entry holds — point at the fifth one in particular. Diagnostic sub-questions are what turn "I don't know" from a dead end into a path. Most intake fields are blank not because the partner is unwilling but because they do not know and have no idea how to find out.
The last one — applicability — is why this is not just a longer form. A partner consuming notifications only should never see a retention question. Asking everyone everything is what trains people to skim.
On the two weeks: be specific that this is not a documentation exercise. It is capturing, for each item, the causal chain from the answer to the downstream configuration. That is why it needs experienced engineers and not a technical writer.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four behaviours, then spend the time on the two tables — they are what make the difference concrete.
Behaviour 2: the right-hand column is the why-register doing its job. Note what changes — the partner is not being asked to understand the platform, they are being told the consequence of their answer. That is a question an application team can answer well.
Behaviour 3, last row, is the economically important one. Converting "I need to ask someone" into a registered, dated, owned, gate-linked item is the mechanism that eliminates the discovery cycle entirely. The question still gets answered, but it is asked once, early, by the partner's own team, against a known deadline — instead of by us, late, under pressure.
Behaviour 4 matters for the architects: every inference is labelled as an inference. Nothing the copilot proposes decides anything. That separation is on slide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bands are the refinement that makes "capture everything at intake" actually achievable.
Demanding every answer at intake is unrealistic and would just move the delay to the front door. A cutover window six months out genuinely is not knowable. So we band by the gate the item blocks, and anything not answerable now becomes a dated gap tied to that gate.
Read the callout verbatim. It is the sentence that settles the objection "you cannot possibly get everything up front" — we are not claiming to. We are claiming nothing is ever discovered late.
The handoff contract is the architects' interface. Whatever the intake tool ends up being, it must emit this package. Design to that contract and the rest of the platform can change underneath.
The bottom note is the line to use with the squads. The work does not disappear — it moves to where it is cheapest. That is an honest framing and it lands better than claiming the work vanishes.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model definition the squads will work to, so spend time on the "what the partner owns" rows — that is the part that changes behaviour.
Lean: no standing meetings, no allocated engineer, no named delivery team. Interaction is event-driven. The partner's timeline is bounded by their own capacity, not by our queue.
Lean+: the critical design point is that the guide is a contact, not a resource. A guide who starts doing the partner's implementation has converted a Lean+ intake into an unfunded Dedicated one. Guide time is tracked and capped for exactly that reason.
Dedicated: retained deliberately and applied selectively. Note that it is the only tier where ECM authors rather than reviews.
The invariant strip at the bottom is the compliance conversation. Walk it deliberately. Eight controls, identical in every tier, no exemptions. Then the note: the rigour is applied by the platform rather than by attention. That reframing is what gets the lighter tiers accepted.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mechanical heart of the model and the thing architects will stress-test. Invite them to.
Each determinant is about the work. Deliberately absent: partner size, partner seniority, who asked loudest. In the absence of an objective rule those are what allocate depth today.
D1 is the primary determinant and it is the one that moves over time. As patterns mature, intakes that scored 2 or 3 on D1 start scoring 0 or 1, and the whole distribution shifts leftward without any other change.
The hard overrides exist because the score is a proxy for risk and in these five cases we know the risk directly. Two of them are maturity constraints rather than risk — you cannot do Lean without an M3 pattern because there is literally nothing for the partner to operate.
The appeal mechanism matters for adoption. One appeal, five days, must name the determinant. And the calibration point: if the same determinant keeps getting successfully appealed, the rubric is wrong on that dimension — recalibrate rather than defend.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representative rows here; the full 38 are in Appendix A of the design document and should be circulated with this deck.
The point to make with architects: the determinant column is the useful part. It shows exactly why each scenario landed where it did, which makes the assessment arguable on its merits rather than on authority. If someone thinks row 22 is wrong, they argue about D4, not about the conclusion.
Note the three hard-override rows — 19, 25 and 34. Those did not need a score. We know the risk directly.
Row 30 is the one that changes capacity most: records remediation leaves the onboarding queue entirely and becomes campaign work. That removes one of the most capacity-hungry scenario classes from pod contention.
The band at the bottom is the planning instruction. The table is the platform backlog. Build the patterns that move high-frequency scenarios one tier lighter, in frequency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Drift is the mechanism that makes it safe to tier early on imperfect information.
The key design property: escalation carries everything already done. The partner does not restart. That is what allows us to tier optimistically at qualification rather than defensively.
Row six — three consecutive failures on the same gate — is the one architects usually ask about. It is a deliberate circuit-breaker. A partner failing the same check three times is stuck, and self-service is demonstrably not going to resolve it. Escalating is cheaper than letting them grind.
De-escalation is about pods, which are the scarcest resource. Once the novel element is done, release the pod and let the routine remainder run as Lean+. Without this, pods get held through phases that do not need them.
Certification: the first intake for any partner is never Lean. Two reasons — they have not seen the process once with support, and we need a delivery to harvest a pattern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layers, bottom-up. Resist the temptation to start at layer 5 because it is the visible one.
Layer 1, the enablement record, is the foundation and it is also the cheapest thing on this slide. It is a structured record — intake content, tier, determinations, gaps, artefact index, state, audit trail. Build it on what we already have. A new system of record is not required and attempting one turns this into an eighteen-month programme.
The right-hand "what replaces the engineer" card is the architectural argument for why Lean needs all five layers. Removing the engineer without replacing their knowledge, their provisioning authority and their judgement is a service withdrawal, not a model.
The "does not do" card is scope discipline. Every one of those is either a governance authority or genuine design work. Writing them down protects the build from expanding until it delivers nothing.
The build sequence at the bottom is what sprints 1 to 4 implement.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pattern catalogue is the single asset the model depends on. If this is weak, nothing above it works.
Point at "tolerated variation" in the left-hand list. That field is what makes Lean safe — it declares exactly which parameters may differ between instances. Anything outside that boundary escalates automatically rather than being silently absorbed by a partner who does not know they have left the pattern.
The maturity ladder is the gate on tier availability. M1 enables Lean+. M3 enables Lean. There is no judgement call here and there should not be — the pressure to open Lean early will be considerable because that is where the visible saving is.
The five-step loop is the compounding mechanism. Step 2 is the one that will not happen unless we make it a closure condition. Architects and leads should hear this clearly: a Dedicated intake is not complete when the partner goes live, it is complete when the partner is live and a pattern candidate has been accepted by platform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one to use in any conversation with risk, compliance or audit.
The four-layer separation is the architectural rule everything else depends on. Walk it slowly. AI proposes. Deterministic rules decide. The platform acts, only on decisions. Humans authorise anything consequential.
The "may never" column is as important as the "does" column. In particular: AI may never clear a gate, and the gate engine is explicitly not AI. Gates are codified policy — same inputs, same outcome, every time, explainable by pointing at a rule rather than at a model's reasoning.
The ten capabilities are ordered by value per unit of build effort, not by sophistication. A to D carry most of the benefit and none of them needs deep integration into downstream systems. That ordering is what makes the four-sprint plan credible.
The guardrail strip: the fifth one is the line that matters most here — no AI determination of classification, retention or security posture, ever. Those are governance, records and security authorities and nothing in this architecture touches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operating model the squads will run. The important message is that the phases and gates do not change — only the distribution of work.
P1 is where the model earns or loses credibility. Every expensive failure in onboarding traces to a determination made late or assumed. In Lean these are not skipped — they were made once, when the pattern was built, and the pattern only applies to content where they still hold. That is the precise mechanism by which Lean is fast without being reckless, and it is worth saying out loud to anyone who suspects the lighter tier cuts corners.
P2 is the automation prize. Rule-application and routing. Note that misrouting fails silently today — a ticket in the wrong project is not rejected, it is simply invisible to the team that needs to action it.
The band in the middle is the compliance line. Promotion is a platform action in every tier. No human promotion path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Guardrails are the reason the lighter tiers survive contact with risk and audit. Walk the universal set first and make the point that none of them is waivable by any tier.
The tier-specific ones are where the squads need to be disciplined. Two in particular:
Lean+, third bullet: the guide is a contact, not a resource. A guide who starts doing implementation has converted a Lean+ intake into an unfunded Dedicated one using capacity that was never allocated. This is the most likely way the model quietly fails, and it happens with the best intentions.
Dedicated, first bullet: pattern harvest as a closure condition. Without it the model stops compounding.
The bottom table is the part leads should own. The model can fail without any single intake failing — escalation rate creeping up, pattern debt accumulating, the platform team being borrowed for a pressured quarter. That last one is always justified at the time and it is the single fastest way to end the programme. Say so explicitly and get leadership to commit to protecting it.
And the response protocol: a guardrail that fires and is then worked around is worse than no guardrail, because it teaches everyone the controls are advisory. Blocked, not warned. Reason returned in full. Routed to who can resolve it. Written to the audit trail. Override only by the named authority, and the override is itself audited.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straightforward with this audience about what the re-organisation means for them, because they will work it out anyway.
The total does not change. This is a redistribution, not a headcount reduction proposal. The benefit is absorbing more intake volume with the same people.
Platform Engineering is funded from delivery capacity. Nine engineers move from delivering intakes to building the capability that reduces the cost of intakes. Throughput dips before it rises — say so.
The role shifts are real and not everyone will want all of them. Moving from delivery to product trades visible partner outcomes for capability that pays off later. Clinic engineers review work they would previously have performed, which is a genuinely different skill — faster, more judgement-dense, less hands-on. Factory engineers work in volume and repetition rather than relationships. Give people a route to the role that suits them rather than assigning by availability.
Pattern Engineer has no current equivalent and is the hardest role to fill internally.
The wave sequencing is deliberately slow at the front. Wave 0 changes nothing structurally — it publishes the rubric and stands up the record. That is on purpose: structural change follows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sprint-level plan the leads will run.
Five to six people. A tiger team, not the organisation. Existing teams keep delivering throughout — that is deliberate and it is what makes this a low-risk ask.
Sprint 1 is intake completeness and the catalogue is the critical path item. It is roughly two weeks of two experienced engineers and the governance analyst. If that slips, everything slips, so protect it.
Note that the rubric publication and retrospective scoring run in parallel as low-effort items. They are not the sprint goal — they are two days of analyst work that happen alongside, and they produce the evidence leadership needs for the structural decision.
Sprint 2 is where the intake content starts earning its keep. Everything here consumes what sprint 1 captured, which is exactly why the sequencing is this way round. A tiering assistant scoring a vague intake produces a vague tier.
Dual-run tiering is worth calling out: we assign and record a tier for every new intake but still deliver it under the current model. Real data, zero risk, and it gives us the distribution evidence without committing to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Sprint 3 makes Lean+ real. The clinic rhythm is the part that needs the squads involved in designing, not just told about — they are the people whose working week changes most.
Sprint 4 proves Lean on exactly one pattern. Not three, not five. One. The highest-frequency one, most likely subscription extension. One partner live end to end with no allocated capacity is a far stronger proof point than three patterns half-built.
The "not attempted" grid is the most important thing on this slide for a technical audience, because the pressure to expand scope will come from people who mean well. Deep integration in particular — it looks like the obvious thing to build and it is the thing that turns eight weeks into eight months.
Adoption: the sceptic partner is a deliberate choice. If the model only works with enthusiastic partners, it does not work. Better to find out in sprint 4 with a controlled pilot than in month nine at scale.
And the rule about in-flight intakes — leave them alone. Forcing a model change on a partner mid-delivery is how we acquire the story that follows this programme around for two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measures and failure modes rather than on benefits — this audience will respect that more, and they are the people who will see the failure modes first.
The scorecard is deliberately short. Eight measures, all produced by the platform rather than assembled by hand, which is itself part of the point — the measurement infrastructure does not exist today and that is why nobody can currently answer how long onboarding takes.
The first two measures are the ones that move in the first eight weeks. The rest are twelve-month measures.
On the three failure modes: all three are quiet failures. None of them produces an incident. The platform team gets borrowed for a pressured quarter and it is entirely reasonable at the time. Lean opens a pattern early because a partner is waiting and it seems harmless. A pod closes without a pattern candidate because the partner went live and everyone moved on.
That is why the three checkpoint questions matter. They are specifically designed to catch quiet failures, and leads should ask them of themselves at every sprint boundary, not wait for leadership to ask.
Last thing to leave them with: this design asks a lot of the squads in terms of role change, and the honest version is that not everyone will want every role. Give people a route to the one that suits them — pod, clinic, platform or factory — rather than assigning by who happens to be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304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E6E"/>
          </a:solidFill>
          <a:ln w="12700">
            <a:solidFill>
              <a:srgbClr val="333333"/>
            </a:solidFill>
            <a:prstDash val="solid"/>
          </a:ln>
        </p:spPr>
      </p:sp>
      <p:sp>
        <p:nvSpPr>
          <p:cNvPr id="3" name="Text 1"/>
          <p:cNvSpPr txBox="1"/>
          <p:nvPr/>
        </p:nvSpPr>
        <p:spPr>
          <a:xfrm>
            <a:off x="868680" y="1600200"/>
            <a:ext cx="10058400" cy="274320"/>
          </a:xfrm>
          <a:prstGeom prst="rect">
            <a:avLst/>
          </a:prstGeom>
          <a:noFill/>
          <a:ln/>
        </p:spPr>
        <p:txBody>
          <a:bodyPr wrap="square" lIns="0" tIns="0" rIns="0" bIns="0" rtlCol="0" anchor="ctr"/>
          <a:lstStyle/>
          <a:p>
            <a:pPr indent="0" marL="0">
              <a:buNone/>
            </a:pPr>
            <a:r>
              <a:rPr lang="en-US" sz="1200" b="1" spc="400" kern="0" dirty="0">
                <a:solidFill>
                  <a:srgbClr val="8FB8B8"/>
                </a:solidFill>
                <a:latin typeface="Calibri" pitchFamily="34" charset="0"/>
                <a:ea typeface="Calibri" pitchFamily="34" charset="-122"/>
                <a:cs typeface="Calibri" pitchFamily="34" charset="-120"/>
              </a:rPr>
              <a:t>ECM PARTNER ENABLEMENT · DESIGN WALKTHROUGH</a:t>
            </a:r>
            <a:endParaRPr lang="en-US" sz="1200" dirty="0"/>
          </a:p>
        </p:txBody>
      </p:sp>
      <p:sp>
        <p:nvSpPr>
          <p:cNvPr id="4" name="Text 2"/>
          <p:cNvSpPr txBox="1"/>
          <p:nvPr/>
        </p:nvSpPr>
        <p:spPr>
          <a:xfrm>
            <a:off x="868680" y="1965960"/>
            <a:ext cx="10607040" cy="10058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Game Plan, Architecture and Operating Model</a:t>
            </a:r>
            <a:endParaRPr lang="en-US" sz="4400" dirty="0"/>
          </a:p>
        </p:txBody>
      </p:sp>
      <p:sp>
        <p:nvSpPr>
          <p:cNvPr id="5" name="Text 3"/>
          <p:cNvSpPr txBox="1"/>
          <p:nvPr/>
        </p:nvSpPr>
        <p:spPr>
          <a:xfrm>
            <a:off x="868680" y="3017520"/>
            <a:ext cx="10058400" cy="685800"/>
          </a:xfrm>
          <a:prstGeom prst="rect">
            <a:avLst/>
          </a:prstGeom>
          <a:noFill/>
          <a:ln/>
        </p:spPr>
        <p:txBody>
          <a:bodyPr wrap="square" lIns="0" tIns="0" rIns="0" bIns="0" rtlCol="0" anchor="ctr"/>
          <a:lstStyle/>
          <a:p>
            <a:pPr indent="0" marL="0">
              <a:lnSpc>
                <a:spcPts val="2400"/>
              </a:lnSpc>
              <a:buNone/>
            </a:pPr>
            <a:r>
              <a:rPr lang="en-US" sz="1800" dirty="0">
                <a:solidFill>
                  <a:srgbClr val="BFD0DF"/>
                </a:solidFill>
                <a:latin typeface="Cambria" pitchFamily="34" charset="0"/>
                <a:ea typeface="Cambria" pitchFamily="34" charset="-122"/>
                <a:cs typeface="Cambria" pitchFamily="34" charset="-120"/>
              </a:rPr>
              <a:t>For architects and enabling squad leads — the full design behind the tiered model,</a:t>
            </a:r>
            <a:endParaRPr lang="en-US" sz="1800" dirty="0"/>
          </a:p>
          <a:p>
            <a:pPr indent="0" marL="0">
              <a:lnSpc>
                <a:spcPts val="2400"/>
              </a:lnSpc>
              <a:buNone/>
            </a:pPr>
            <a:r>
              <a:rPr lang="en-US" sz="1800" dirty="0">
                <a:solidFill>
                  <a:srgbClr val="BFD0DF"/>
                </a:solidFill>
                <a:latin typeface="Cambria" pitchFamily="34" charset="0"/>
                <a:ea typeface="Cambria" pitchFamily="34" charset="-122"/>
                <a:cs typeface="Cambria" pitchFamily="34" charset="-120"/>
              </a:rPr>
              <a:t>the platform capability, the guardrails and the four-sprint plan</a:t>
            </a:r>
            <a:endParaRPr lang="en-US" sz="1800" dirty="0"/>
          </a:p>
        </p:txBody>
      </p:sp>
      <p:sp>
        <p:nvSpPr>
          <p:cNvPr id="6" name="Shape 4"/>
          <p:cNvSpPr/>
          <p:nvPr/>
        </p:nvSpPr>
        <p:spPr>
          <a:xfrm>
            <a:off x="868680" y="3931920"/>
            <a:ext cx="3840480" cy="0"/>
          </a:xfrm>
          <a:prstGeom prst="line">
            <a:avLst/>
          </a:prstGeom>
          <a:noFill/>
          <a:ln w="28575">
            <a:solidFill>
              <a:srgbClr val="0B6E6E"/>
            </a:solidFill>
            <a:prstDash val="solid"/>
          </a:ln>
        </p:spPr>
      </p:sp>
      <p:sp>
        <p:nvSpPr>
          <p:cNvPr id="7" name="Text 5"/>
          <p:cNvSpPr txBox="1"/>
          <p:nvPr/>
        </p:nvSpPr>
        <p:spPr>
          <a:xfrm>
            <a:off x="868680" y="4224528"/>
            <a:ext cx="2217420" cy="201168"/>
          </a:xfrm>
          <a:prstGeom prst="rect">
            <a:avLst/>
          </a:prstGeom>
          <a:noFill/>
          <a:ln/>
        </p:spPr>
        <p:txBody>
          <a:bodyPr wrap="square" lIns="0" tIns="0" rIns="0" bIns="0" rtlCol="0" anchor="ctr"/>
          <a:lstStyle/>
          <a:p>
            <a:pPr indent="0" marL="0">
              <a:buNone/>
            </a:pPr>
            <a:r>
              <a:rPr lang="en-US" sz="800" b="1" spc="120" kern="0" dirty="0">
                <a:solidFill>
                  <a:srgbClr val="7F97AE"/>
                </a:solidFill>
                <a:latin typeface="Calibri" pitchFamily="34" charset="0"/>
                <a:ea typeface="Calibri" pitchFamily="34" charset="-122"/>
                <a:cs typeface="Calibri" pitchFamily="34" charset="-120"/>
              </a:rPr>
              <a:t>ENABLEMENT MODELS</a:t>
            </a:r>
            <a:endParaRPr lang="en-US" sz="800" dirty="0"/>
          </a:p>
        </p:txBody>
      </p:sp>
      <p:sp>
        <p:nvSpPr>
          <p:cNvPr id="8" name="Text 6"/>
          <p:cNvSpPr txBox="1"/>
          <p:nvPr/>
        </p:nvSpPr>
        <p:spPr>
          <a:xfrm>
            <a:off x="868680" y="4425696"/>
            <a:ext cx="2217420" cy="457200"/>
          </a:xfrm>
          <a:prstGeom prst="rect">
            <a:avLst/>
          </a:prstGeom>
          <a:noFill/>
          <a:ln/>
        </p:spPr>
        <p:txBody>
          <a:bodyPr wrap="square" lIns="0" tIns="0" rIns="0" bIns="0" rtlCol="0" anchor="ctr"/>
          <a:lstStyle/>
          <a:p>
            <a:pPr indent="0" marL="0">
              <a:lnSpc>
                <a:spcPts val="1350"/>
              </a:lnSpc>
              <a:buNone/>
            </a:pPr>
            <a:r>
              <a:rPr lang="en-US" sz="1150" dirty="0">
                <a:solidFill>
                  <a:srgbClr val="FFFFFF"/>
                </a:solidFill>
                <a:latin typeface="Calibri" pitchFamily="34" charset="0"/>
                <a:ea typeface="Calibri" pitchFamily="34" charset="-122"/>
                <a:cs typeface="Calibri" pitchFamily="34" charset="-120"/>
              </a:rPr>
              <a:t>Lean · Lean+ · Dedicated · Factory</a:t>
            </a:r>
            <a:endParaRPr lang="en-US" sz="1150" dirty="0"/>
          </a:p>
        </p:txBody>
      </p:sp>
      <p:sp>
        <p:nvSpPr>
          <p:cNvPr id="9" name="Text 7"/>
          <p:cNvSpPr txBox="1"/>
          <p:nvPr/>
        </p:nvSpPr>
        <p:spPr>
          <a:xfrm>
            <a:off x="3360420" y="4224528"/>
            <a:ext cx="2217420" cy="201168"/>
          </a:xfrm>
          <a:prstGeom prst="rect">
            <a:avLst/>
          </a:prstGeom>
          <a:noFill/>
          <a:ln/>
        </p:spPr>
        <p:txBody>
          <a:bodyPr wrap="square" lIns="0" tIns="0" rIns="0" bIns="0" rtlCol="0" anchor="ctr"/>
          <a:lstStyle/>
          <a:p>
            <a:pPr indent="0" marL="0">
              <a:buNone/>
            </a:pPr>
            <a:r>
              <a:rPr lang="en-US" sz="800" b="1" spc="120" kern="0" dirty="0">
                <a:solidFill>
                  <a:srgbClr val="7F97AE"/>
                </a:solidFill>
                <a:latin typeface="Calibri" pitchFamily="34" charset="0"/>
                <a:ea typeface="Calibri" pitchFamily="34" charset="-122"/>
                <a:cs typeface="Calibri" pitchFamily="34" charset="-120"/>
              </a:rPr>
              <a:t>INTAKE DATA POINTS</a:t>
            </a:r>
            <a:endParaRPr lang="en-US" sz="800" dirty="0"/>
          </a:p>
        </p:txBody>
      </p:sp>
      <p:sp>
        <p:nvSpPr>
          <p:cNvPr id="10" name="Text 8"/>
          <p:cNvSpPr txBox="1"/>
          <p:nvPr/>
        </p:nvSpPr>
        <p:spPr>
          <a:xfrm>
            <a:off x="3360420" y="4425696"/>
            <a:ext cx="2217420" cy="457200"/>
          </a:xfrm>
          <a:prstGeom prst="rect">
            <a:avLst/>
          </a:prstGeom>
          <a:noFill/>
          <a:ln/>
        </p:spPr>
        <p:txBody>
          <a:bodyPr wrap="square" lIns="0" tIns="0" rIns="0" bIns="0" rtlCol="0" anchor="ctr"/>
          <a:lstStyle/>
          <a:p>
            <a:pPr indent="0" marL="0">
              <a:lnSpc>
                <a:spcPts val="1350"/>
              </a:lnSpc>
              <a:buNone/>
            </a:pPr>
            <a:r>
              <a:rPr lang="en-US" sz="1150" dirty="0">
                <a:solidFill>
                  <a:srgbClr val="FFFFFF"/>
                </a:solidFill>
                <a:latin typeface="Calibri" pitchFamily="34" charset="0"/>
                <a:ea typeface="Calibri" pitchFamily="34" charset="-122"/>
                <a:cs typeface="Calibri" pitchFamily="34" charset="-120"/>
              </a:rPr>
              <a:t>54 across 10 categories</a:t>
            </a:r>
            <a:endParaRPr lang="en-US" sz="1150" dirty="0"/>
          </a:p>
        </p:txBody>
      </p:sp>
      <p:sp>
        <p:nvSpPr>
          <p:cNvPr id="11" name="Text 9"/>
          <p:cNvSpPr txBox="1"/>
          <p:nvPr/>
        </p:nvSpPr>
        <p:spPr>
          <a:xfrm>
            <a:off x="5852160" y="4224528"/>
            <a:ext cx="2217420" cy="201168"/>
          </a:xfrm>
          <a:prstGeom prst="rect">
            <a:avLst/>
          </a:prstGeom>
          <a:noFill/>
          <a:ln/>
        </p:spPr>
        <p:txBody>
          <a:bodyPr wrap="square" lIns="0" tIns="0" rIns="0" bIns="0" rtlCol="0" anchor="ctr"/>
          <a:lstStyle/>
          <a:p>
            <a:pPr indent="0" marL="0">
              <a:buNone/>
            </a:pPr>
            <a:r>
              <a:rPr lang="en-US" sz="800" b="1" spc="120" kern="0" dirty="0">
                <a:solidFill>
                  <a:srgbClr val="7F97AE"/>
                </a:solidFill>
                <a:latin typeface="Calibri" pitchFamily="34" charset="0"/>
                <a:ea typeface="Calibri" pitchFamily="34" charset="-122"/>
                <a:cs typeface="Calibri" pitchFamily="34" charset="-120"/>
              </a:rPr>
              <a:t>SCENARIOS TIERED</a:t>
            </a:r>
            <a:endParaRPr lang="en-US" sz="800" dirty="0"/>
          </a:p>
        </p:txBody>
      </p:sp>
      <p:sp>
        <p:nvSpPr>
          <p:cNvPr id="12" name="Text 10"/>
          <p:cNvSpPr txBox="1"/>
          <p:nvPr/>
        </p:nvSpPr>
        <p:spPr>
          <a:xfrm>
            <a:off x="5852160" y="4425696"/>
            <a:ext cx="2217420" cy="457200"/>
          </a:xfrm>
          <a:prstGeom prst="rect">
            <a:avLst/>
          </a:prstGeom>
          <a:noFill/>
          <a:ln/>
        </p:spPr>
        <p:txBody>
          <a:bodyPr wrap="square" lIns="0" tIns="0" rIns="0" bIns="0" rtlCol="0" anchor="ctr"/>
          <a:lstStyle/>
          <a:p>
            <a:pPr indent="0" marL="0">
              <a:lnSpc>
                <a:spcPts val="1350"/>
              </a:lnSpc>
              <a:buNone/>
            </a:pPr>
            <a:r>
              <a:rPr lang="en-US" sz="1150" dirty="0">
                <a:solidFill>
                  <a:srgbClr val="FFFFFF"/>
                </a:solidFill>
                <a:latin typeface="Calibri" pitchFamily="34" charset="0"/>
                <a:ea typeface="Calibri" pitchFamily="34" charset="-122"/>
                <a:cs typeface="Calibri" pitchFamily="34" charset="-120"/>
              </a:rPr>
              <a:t>38, with determinants</a:t>
            </a:r>
            <a:endParaRPr lang="en-US" sz="1150" dirty="0"/>
          </a:p>
        </p:txBody>
      </p:sp>
      <p:sp>
        <p:nvSpPr>
          <p:cNvPr id="13" name="Text 11"/>
          <p:cNvSpPr txBox="1"/>
          <p:nvPr/>
        </p:nvSpPr>
        <p:spPr>
          <a:xfrm>
            <a:off x="8343900" y="4224528"/>
            <a:ext cx="2217420" cy="201168"/>
          </a:xfrm>
          <a:prstGeom prst="rect">
            <a:avLst/>
          </a:prstGeom>
          <a:noFill/>
          <a:ln/>
        </p:spPr>
        <p:txBody>
          <a:bodyPr wrap="square" lIns="0" tIns="0" rIns="0" bIns="0" rtlCol="0" anchor="ctr"/>
          <a:lstStyle/>
          <a:p>
            <a:pPr indent="0" marL="0">
              <a:buNone/>
            </a:pPr>
            <a:r>
              <a:rPr lang="en-US" sz="800" b="1" spc="120" kern="0" dirty="0">
                <a:solidFill>
                  <a:srgbClr val="7F97AE"/>
                </a:solidFill>
                <a:latin typeface="Calibri" pitchFamily="34" charset="0"/>
                <a:ea typeface="Calibri" pitchFamily="34" charset="-122"/>
                <a:cs typeface="Calibri" pitchFamily="34" charset="-120"/>
              </a:rPr>
              <a:t>BUILD HORIZON</a:t>
            </a:r>
            <a:endParaRPr lang="en-US" sz="800" dirty="0"/>
          </a:p>
        </p:txBody>
      </p:sp>
      <p:sp>
        <p:nvSpPr>
          <p:cNvPr id="14" name="Text 12"/>
          <p:cNvSpPr txBox="1"/>
          <p:nvPr/>
        </p:nvSpPr>
        <p:spPr>
          <a:xfrm>
            <a:off x="8343900" y="4425696"/>
            <a:ext cx="2217420" cy="457200"/>
          </a:xfrm>
          <a:prstGeom prst="rect">
            <a:avLst/>
          </a:prstGeom>
          <a:noFill/>
          <a:ln/>
        </p:spPr>
        <p:txBody>
          <a:bodyPr wrap="square" lIns="0" tIns="0" rIns="0" bIns="0" rtlCol="0" anchor="ctr"/>
          <a:lstStyle/>
          <a:p>
            <a:pPr indent="0" marL="0">
              <a:lnSpc>
                <a:spcPts val="1350"/>
              </a:lnSpc>
              <a:buNone/>
            </a:pPr>
            <a:r>
              <a:rPr lang="en-US" sz="1150" dirty="0">
                <a:solidFill>
                  <a:srgbClr val="FFFFFF"/>
                </a:solidFill>
                <a:latin typeface="Calibri" pitchFamily="34" charset="0"/>
                <a:ea typeface="Calibri" pitchFamily="34" charset="-122"/>
                <a:cs typeface="Calibri" pitchFamily="34" charset="-120"/>
              </a:rPr>
              <a:t>4 sprints · 5–6 people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274320"/>
            <a:ext cx="274320" cy="274320"/>
          </a:xfrm>
          <a:prstGeom prst="rect">
            <a:avLst/>
          </a:prstGeom>
          <a:solidFill>
            <a:srgbClr val="15304F"/>
          </a:solidFill>
          <a:ln w="12700">
            <a:solidFill>
              <a:srgbClr val="333333"/>
            </a:solidFill>
            <a:prstDash val="solid"/>
          </a:ln>
        </p:spPr>
      </p:sp>
      <p:sp>
        <p:nvSpPr>
          <p:cNvPr id="3" name="Text 1"/>
          <p:cNvSpPr txBox="1"/>
          <p:nvPr/>
        </p:nvSpPr>
        <p:spPr>
          <a:xfrm>
            <a:off x="411480" y="2743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4" name="Text 2"/>
          <p:cNvSpPr txBox="1"/>
          <p:nvPr/>
        </p:nvSpPr>
        <p:spPr>
          <a:xfrm>
            <a:off x="795528" y="219456"/>
            <a:ext cx="8778240" cy="384048"/>
          </a:xfrm>
          <a:prstGeom prst="rect">
            <a:avLst/>
          </a:prstGeom>
          <a:noFill/>
          <a:ln/>
        </p:spPr>
        <p:txBody>
          <a:bodyPr wrap="square" lIns="0" tIns="0" rIns="0" bIns="0" rtlCol="0" anchor="ctr"/>
          <a:lstStyle/>
          <a:p>
            <a:pPr indent="0" marL="0">
              <a:buNone/>
            </a:pPr>
            <a:r>
              <a:rPr lang="en-US" sz="2400" b="1" dirty="0">
                <a:solidFill>
                  <a:srgbClr val="1B2432"/>
                </a:solidFill>
                <a:latin typeface="Cambria" pitchFamily="34" charset="0"/>
                <a:ea typeface="Cambria" pitchFamily="34" charset="-122"/>
                <a:cs typeface="Cambria" pitchFamily="34" charset="-120"/>
              </a:rPr>
              <a:t>The problem, in one slide</a:t>
            </a:r>
            <a:endParaRPr lang="en-US" sz="2400" dirty="0"/>
          </a:p>
        </p:txBody>
      </p:sp>
      <p:sp>
        <p:nvSpPr>
          <p:cNvPr id="5" name="Text 3"/>
          <p:cNvSpPr txBox="1"/>
          <p:nvPr/>
        </p:nvSpPr>
        <p:spPr>
          <a:xfrm>
            <a:off x="795528" y="621792"/>
            <a:ext cx="9326880" cy="237744"/>
          </a:xfrm>
          <a:prstGeom prst="rect">
            <a:avLst/>
          </a:prstGeom>
          <a:noFill/>
          <a:ln/>
        </p:spPr>
        <p:txBody>
          <a:bodyPr wrap="square" lIns="0" tIns="0" rIns="0" bIns="0" rtlCol="0" anchor="ctr"/>
          <a:lstStyle/>
          <a:p>
            <a:pPr indent="0" marL="0">
              <a:buNone/>
            </a:pPr>
            <a:r>
              <a:rPr lang="en-US" sz="1050" dirty="0">
                <a:solidFill>
                  <a:srgbClr val="55606E"/>
                </a:solidFill>
                <a:latin typeface="Calibri" pitchFamily="34" charset="0"/>
                <a:ea typeface="Calibri" pitchFamily="34" charset="-122"/>
                <a:cs typeface="Calibri" pitchFamily="34" charset="-120"/>
              </a:rPr>
              <a:t>Two independent causes. Different fixes, different timescales.</a:t>
            </a:r>
            <a:endParaRPr lang="en-US" sz="1050" dirty="0"/>
          </a:p>
        </p:txBody>
      </p:sp>
      <p:sp>
        <p:nvSpPr>
          <p:cNvPr id="6" name="Text 4"/>
          <p:cNvSpPr txBox="1"/>
          <p:nvPr/>
        </p:nvSpPr>
        <p:spPr>
          <a:xfrm>
            <a:off x="9052560" y="274320"/>
            <a:ext cx="2697480" cy="256032"/>
          </a:xfrm>
          <a:prstGeom prst="rect">
            <a:avLst/>
          </a:prstGeom>
          <a:noFill/>
          <a:ln/>
        </p:spPr>
        <p:txBody>
          <a:bodyPr wrap="square" lIns="0" tIns="0" rIns="0" bIns="0" rtlCol="0" anchor="ctr"/>
          <a:lstStyle/>
          <a:p>
            <a:pPr algn="r" indent="0" marL="0">
              <a:buNone/>
            </a:pPr>
            <a:r>
              <a:rPr lang="en-US" sz="950" b="1" spc="60" kern="0" dirty="0">
                <a:solidFill>
                  <a:srgbClr val="7C8798"/>
                </a:solidFill>
                <a:latin typeface="Calibri" pitchFamily="34" charset="0"/>
                <a:ea typeface="Calibri" pitchFamily="34" charset="-122"/>
                <a:cs typeface="Calibri" pitchFamily="34" charset="-120"/>
              </a:rPr>
              <a:t>Context</a:t>
            </a:r>
            <a:endParaRPr lang="en-US" sz="950" dirty="0"/>
          </a:p>
        </p:txBody>
      </p:sp>
      <p:sp>
        <p:nvSpPr>
          <p:cNvPr id="7" name="Shape 5"/>
          <p:cNvSpPr/>
          <p:nvPr/>
        </p:nvSpPr>
        <p:spPr>
          <a:xfrm>
            <a:off x="411480" y="932688"/>
            <a:ext cx="11338560" cy="0"/>
          </a:xfrm>
          <a:prstGeom prst="line">
            <a:avLst/>
          </a:prstGeom>
          <a:noFill/>
          <a:ln w="12700">
            <a:solidFill>
              <a:srgbClr val="D4DAE2"/>
            </a:solidFill>
            <a:prstDash val="solid"/>
          </a:ln>
        </p:spPr>
      </p:sp>
      <p:sp>
        <p:nvSpPr>
          <p:cNvPr id="8" name="Shape 6"/>
          <p:cNvSpPr/>
          <p:nvPr/>
        </p:nvSpPr>
        <p:spPr>
          <a:xfrm>
            <a:off x="411480" y="1042416"/>
            <a:ext cx="11338560" cy="566928"/>
          </a:xfrm>
          <a:prstGeom prst="roundRect">
            <a:avLst>
              <a:gd name="adj" fmla="val 8065"/>
            </a:avLst>
          </a:prstGeom>
          <a:solidFill>
            <a:srgbClr val="15304F"/>
          </a:solidFill>
          <a:ln w="12700">
            <a:solidFill>
              <a:srgbClr val="333333"/>
            </a:solidFill>
            <a:prstDash val="solid"/>
          </a:ln>
        </p:spPr>
      </p:sp>
      <p:sp>
        <p:nvSpPr>
          <p:cNvPr id="9" name="Text 7"/>
          <p:cNvSpPr txBox="1"/>
          <p:nvPr/>
        </p:nvSpPr>
        <p:spPr>
          <a:xfrm>
            <a:off x="612648" y="1042416"/>
            <a:ext cx="10936224" cy="566928"/>
          </a:xfrm>
          <a:prstGeom prst="rect">
            <a:avLst/>
          </a:prstGeom>
          <a:noFill/>
          <a:ln/>
        </p:spPr>
        <p:txBody>
          <a:bodyPr wrap="square" lIns="0" tIns="0" rIns="0" bIns="0" rtlCol="0" anchor="ctr"/>
          <a:lstStyle/>
          <a:p>
            <a:pPr indent="0" marL="0">
              <a:buNone/>
            </a:pPr>
            <a:r>
              <a:rPr lang="en-US" sz="1300" dirty="0">
                <a:solidFill>
                  <a:srgbClr val="C6D4E2"/>
                </a:solidFill>
                <a:latin typeface="Calibri" pitchFamily="34" charset="0"/>
                <a:ea typeface="Calibri" pitchFamily="34" charset="-122"/>
                <a:cs typeface="Calibri" pitchFamily="34" charset="-120"/>
              </a:rPr>
              <a:t>Capacity required  =  </a:t>
            </a:r>
            <a:pPr indent="0" marL="0">
              <a:buNone/>
            </a:pPr>
            <a:r>
              <a:rPr lang="en-US" sz="1300" b="1" dirty="0">
                <a:solidFill>
                  <a:srgbClr val="FFFFFF"/>
                </a:solidFill>
                <a:latin typeface="Calibri" pitchFamily="34" charset="0"/>
                <a:ea typeface="Calibri" pitchFamily="34" charset="-122"/>
                <a:cs typeface="Calibri" pitchFamily="34" charset="-120"/>
              </a:rPr>
              <a:t>concurrent intakes</a:t>
            </a:r>
            <a:pPr indent="0" marL="0">
              <a:buNone/>
            </a:pPr>
            <a:r>
              <a:rPr lang="en-US" sz="1300" dirty="0">
                <a:solidFill>
                  <a:srgbClr val="C6D4E2"/>
                </a:solidFill>
                <a:latin typeface="Calibri" pitchFamily="34" charset="0"/>
                <a:ea typeface="Calibri" pitchFamily="34" charset="-122"/>
                <a:cs typeface="Calibri" pitchFamily="34" charset="-120"/>
              </a:rPr>
              <a:t>  ×  </a:t>
            </a:r>
            <a:pPr indent="0" marL="0">
              <a:buNone/>
            </a:pPr>
            <a:r>
              <a:rPr lang="en-US" sz="1300" b="1" dirty="0">
                <a:solidFill>
                  <a:srgbClr val="F0B48A"/>
                </a:solidFill>
                <a:latin typeface="Calibri" pitchFamily="34" charset="0"/>
                <a:ea typeface="Calibri" pitchFamily="34" charset="-122"/>
                <a:cs typeface="Calibri" pitchFamily="34" charset="-120"/>
              </a:rPr>
              <a:t>a fixed engineering depth applied to every intake</a:t>
            </a:r>
            <a:endParaRPr lang="en-US" sz="1300" dirty="0"/>
          </a:p>
        </p:txBody>
      </p:sp>
      <p:sp>
        <p:nvSpPr>
          <p:cNvPr id="10" name="Shape 8"/>
          <p:cNvSpPr/>
          <p:nvPr/>
        </p:nvSpPr>
        <p:spPr>
          <a:xfrm>
            <a:off x="411480" y="1755648"/>
            <a:ext cx="5532120" cy="2084832"/>
          </a:xfrm>
          <a:prstGeom prst="roundRect">
            <a:avLst>
              <a:gd name="adj" fmla="val 2193"/>
            </a:avLst>
          </a:prstGeom>
          <a:solidFill>
            <a:srgbClr val="FFFFFF"/>
          </a:solidFill>
          <a:ln w="15875">
            <a:solidFill>
              <a:srgbClr val="A44A2A"/>
            </a:solidFill>
            <a:prstDash val="solid"/>
          </a:ln>
          <a:effectLst>
            <a:outerShdw sx="100000" sy="100000" kx="0" ky="0" algn="bl" rotWithShape="0" blurRad="88900" dist="12700" dir="5400000">
              <a:srgbClr val="97A3B4">
                <a:alpha val="16000"/>
              </a:srgbClr>
            </a:outerShdw>
          </a:effectLst>
        </p:spPr>
      </p:sp>
      <p:sp>
        <p:nvSpPr>
          <p:cNvPr id="11" name="Text 9"/>
          <p:cNvSpPr txBox="1"/>
          <p:nvPr/>
        </p:nvSpPr>
        <p:spPr>
          <a:xfrm>
            <a:off x="557784" y="1883664"/>
            <a:ext cx="5239512" cy="164592"/>
          </a:xfrm>
          <a:prstGeom prst="rect">
            <a:avLst/>
          </a:prstGeom>
          <a:noFill/>
          <a:ln/>
        </p:spPr>
        <p:txBody>
          <a:bodyPr wrap="square" lIns="0" tIns="0" rIns="0" bIns="0" rtlCol="0" anchor="ctr"/>
          <a:lstStyle/>
          <a:p>
            <a:pPr indent="0" marL="0">
              <a:buNone/>
            </a:pPr>
            <a:r>
              <a:rPr lang="en-US" sz="720" b="1" spc="100" kern="0" dirty="0">
                <a:solidFill>
                  <a:srgbClr val="A44A2A"/>
                </a:solidFill>
                <a:latin typeface="Calibri" pitchFamily="34" charset="0"/>
                <a:ea typeface="Calibri" pitchFamily="34" charset="-122"/>
                <a:cs typeface="Calibri" pitchFamily="34" charset="-120"/>
              </a:rPr>
              <a:t>CAUSE 1 · IMMEDIATE FIX</a:t>
            </a:r>
            <a:endParaRPr lang="en-US" sz="720" dirty="0"/>
          </a:p>
        </p:txBody>
      </p:sp>
      <p:sp>
        <p:nvSpPr>
          <p:cNvPr id="12" name="Text 10"/>
          <p:cNvSpPr txBox="1"/>
          <p:nvPr/>
        </p:nvSpPr>
        <p:spPr>
          <a:xfrm>
            <a:off x="557784" y="2066544"/>
            <a:ext cx="5239512" cy="310896"/>
          </a:xfrm>
          <a:prstGeom prst="rect">
            <a:avLst/>
          </a:prstGeom>
          <a:noFill/>
          <a:ln/>
        </p:spPr>
        <p:txBody>
          <a:bodyPr wrap="square" lIns="0" tIns="0" rIns="0" bIns="0" rtlCol="0" anchor="t"/>
          <a:lstStyle/>
          <a:p>
            <a:pPr indent="0" marL="0">
              <a:lnSpc>
                <a:spcPts val="1750"/>
              </a:lnSpc>
              <a:buNone/>
            </a:pPr>
            <a:r>
              <a:rPr lang="en-US" sz="1500" b="1" dirty="0">
                <a:solidFill>
                  <a:srgbClr val="1B2432"/>
                </a:solidFill>
                <a:latin typeface="Calibri" pitchFamily="34" charset="0"/>
                <a:ea typeface="Calibri" pitchFamily="34" charset="-122"/>
                <a:cs typeface="Calibri" pitchFamily="34" charset="-120"/>
              </a:rPr>
              <a:t>The data deficit</a:t>
            </a:r>
            <a:endParaRPr lang="en-US" sz="1500" dirty="0"/>
          </a:p>
        </p:txBody>
      </p:sp>
      <p:sp>
        <p:nvSpPr>
          <p:cNvPr id="13" name="Text 11"/>
          <p:cNvSpPr txBox="1"/>
          <p:nvPr/>
        </p:nvSpPr>
        <p:spPr>
          <a:xfrm>
            <a:off x="557784" y="2377440"/>
            <a:ext cx="5239512" cy="1316736"/>
          </a:xfrm>
          <a:prstGeom prst="rect">
            <a:avLst/>
          </a:prstGeom>
          <a:noFill/>
          <a:ln/>
        </p:spPr>
        <p:txBody>
          <a:bodyPr wrap="square" lIns="0" tIns="0" rIns="0" bIns="0" rtlCol="0" anchor="t"/>
          <a:lstStyle/>
          <a:p>
            <a:pPr indent="0" marL="0">
              <a:lnSpc>
                <a:spcPts val="1120"/>
              </a:lnSpc>
              <a:spcAft>
                <a:spcPts val="250"/>
              </a:spcAft>
              <a:buNone/>
            </a:pPr>
            <a:r>
              <a:rPr lang="en-US" sz="860" dirty="0">
                <a:solidFill>
                  <a:srgbClr val="55606E"/>
                </a:solidFill>
                <a:latin typeface="Calibri" pitchFamily="34" charset="0"/>
                <a:ea typeface="Calibri" pitchFamily="34" charset="-122"/>
                <a:cs typeface="Calibri" pitchFamily="34" charset="-120"/>
              </a:rPr>
              <a:t>Requirement for a data point is discovered incrementally, after intake has landed</a:t>
            </a:r>
            <a:endParaRPr lang="en-US" sz="860" dirty="0"/>
          </a:p>
          <a:p>
            <a:pPr indent="0" marL="0">
              <a:lnSpc>
                <a:spcPts val="1120"/>
              </a:lnSpc>
              <a:spcAft>
                <a:spcPts val="250"/>
              </a:spcAft>
              <a:buNone/>
            </a:pPr>
            <a:r>
              <a:rPr lang="en-US" sz="860" dirty="0">
                <a:solidFill>
                  <a:srgbClr val="55606E"/>
                </a:solidFill>
                <a:latin typeface="Calibri" pitchFamily="34" charset="0"/>
                <a:ea typeface="Calibri" pitchFamily="34" charset="-122"/>
                <a:cs typeface="Calibri" pitchFamily="34" charset="-120"/>
              </a:rPr>
              <a:t>Each discovery costs days of elapsed time and a small, thinly spread effort</a:t>
            </a:r>
            <a:endParaRPr lang="en-US" sz="860" dirty="0"/>
          </a:p>
          <a:p>
            <a:pPr indent="0" marL="0">
              <a:lnSpc>
                <a:spcPts val="1120"/>
              </a:lnSpc>
              <a:spcAft>
                <a:spcPts val="250"/>
              </a:spcAft>
              <a:buNone/>
            </a:pPr>
            <a:r>
              <a:rPr lang="en-US" sz="860" dirty="0">
                <a:solidFill>
                  <a:srgbClr val="55606E"/>
                </a:solidFill>
                <a:latin typeface="Calibri" pitchFamily="34" charset="0"/>
                <a:ea typeface="Calibri" pitchFamily="34" charset="-122"/>
                <a:cs typeface="Calibri" pitchFamily="34" charset="-120"/>
              </a:rPr>
              <a:t>Tier-independent — it costs exactly the same in every enablement model</a:t>
            </a:r>
            <a:endParaRPr lang="en-US" sz="860" dirty="0"/>
          </a:p>
          <a:p>
            <a:pPr indent="0" marL="0">
              <a:lnSpc>
                <a:spcPts val="1120"/>
              </a:lnSpc>
              <a:spcAft>
                <a:spcPts val="250"/>
              </a:spcAft>
              <a:buNone/>
            </a:pPr>
            <a:r>
              <a:rPr lang="en-US" sz="860" dirty="0">
                <a:solidFill>
                  <a:srgbClr val="55606E"/>
                </a:solidFill>
                <a:latin typeface="Calibri" pitchFamily="34" charset="0"/>
                <a:ea typeface="Calibri" pitchFamily="34" charset="-122"/>
                <a:cs typeface="Calibri" pitchFamily="34" charset="-120"/>
              </a:rPr>
              <a:t>Squads' estimate: 30–40% of total elapsed time</a:t>
            </a:r>
            <a:endParaRPr lang="en-US" sz="860" dirty="0"/>
          </a:p>
          <a:p>
            <a:pPr indent="0" marL="0">
              <a:lnSpc>
                <a:spcPts val="1120"/>
              </a:lnSpc>
              <a:spcAft>
                <a:spcPts val="250"/>
              </a:spcAft>
              <a:buNone/>
            </a:pPr>
            <a:r>
              <a:rPr lang="en-US" sz="860" dirty="0">
                <a:solidFill>
                  <a:srgbClr val="55606E"/>
                </a:solidFill>
                <a:latin typeface="Calibri" pitchFamily="34" charset="0"/>
                <a:ea typeface="Calibri" pitchFamily="34" charset="-122"/>
                <a:cs typeface="Calibri" pitchFamily="34" charset="-120"/>
              </a:rPr>
              <a:t>Fix needs no re-organisation, no headcount, no integration</a:t>
            </a:r>
            <a:endParaRPr lang="en-US" sz="860" dirty="0"/>
          </a:p>
        </p:txBody>
      </p:sp>
      <p:sp>
        <p:nvSpPr>
          <p:cNvPr id="14" name="Shape 12"/>
          <p:cNvSpPr/>
          <p:nvPr/>
        </p:nvSpPr>
        <p:spPr>
          <a:xfrm>
            <a:off x="6217920" y="1755648"/>
            <a:ext cx="5532120" cy="2084832"/>
          </a:xfrm>
          <a:prstGeom prst="roundRect">
            <a:avLst>
              <a:gd name="adj" fmla="val 2193"/>
            </a:avLst>
          </a:prstGeom>
          <a:solidFill>
            <a:srgbClr val="FFFFFF"/>
          </a:solidFill>
          <a:ln w="15875">
            <a:solidFill>
              <a:srgbClr val="15304F"/>
            </a:solidFill>
            <a:prstDash val="solid"/>
          </a:ln>
          <a:effectLst>
            <a:outerShdw sx="100000" sy="100000" kx="0" ky="0" algn="bl" rotWithShape="0" blurRad="88900" dist="12700" dir="5400000">
              <a:srgbClr val="97A3B4">
                <a:alpha val="16000"/>
              </a:srgbClr>
            </a:outerShdw>
          </a:effectLst>
        </p:spPr>
      </p:sp>
      <p:sp>
        <p:nvSpPr>
          <p:cNvPr id="15" name="Text 13"/>
          <p:cNvSpPr txBox="1"/>
          <p:nvPr/>
        </p:nvSpPr>
        <p:spPr>
          <a:xfrm>
            <a:off x="6364224" y="1883664"/>
            <a:ext cx="5239512" cy="164592"/>
          </a:xfrm>
          <a:prstGeom prst="rect">
            <a:avLst/>
          </a:prstGeom>
          <a:noFill/>
          <a:ln/>
        </p:spPr>
        <p:txBody>
          <a:bodyPr wrap="square" lIns="0" tIns="0" rIns="0" bIns="0" rtlCol="0" anchor="ctr"/>
          <a:lstStyle/>
          <a:p>
            <a:pPr indent="0" marL="0">
              <a:buNone/>
            </a:pPr>
            <a:r>
              <a:rPr lang="en-US" sz="720" b="1" spc="100" kern="0" dirty="0">
                <a:solidFill>
                  <a:srgbClr val="15304F"/>
                </a:solidFill>
                <a:latin typeface="Calibri" pitchFamily="34" charset="0"/>
                <a:ea typeface="Calibri" pitchFamily="34" charset="-122"/>
                <a:cs typeface="Calibri" pitchFamily="34" charset="-120"/>
              </a:rPr>
              <a:t>CAUSE 2 · STRUCTURAL FIX</a:t>
            </a:r>
            <a:endParaRPr lang="en-US" sz="720" dirty="0"/>
          </a:p>
        </p:txBody>
      </p:sp>
      <p:sp>
        <p:nvSpPr>
          <p:cNvPr id="16" name="Text 14"/>
          <p:cNvSpPr txBox="1"/>
          <p:nvPr/>
        </p:nvSpPr>
        <p:spPr>
          <a:xfrm>
            <a:off x="6364224" y="2066544"/>
            <a:ext cx="5239512" cy="310896"/>
          </a:xfrm>
          <a:prstGeom prst="rect">
            <a:avLst/>
          </a:prstGeom>
          <a:noFill/>
          <a:ln/>
        </p:spPr>
        <p:txBody>
          <a:bodyPr wrap="square" lIns="0" tIns="0" rIns="0" bIns="0" rtlCol="0" anchor="t"/>
          <a:lstStyle/>
          <a:p>
            <a:pPr indent="0" marL="0">
              <a:lnSpc>
                <a:spcPts val="1750"/>
              </a:lnSpc>
              <a:buNone/>
            </a:pPr>
            <a:r>
              <a:rPr lang="en-US" sz="1500" b="1" dirty="0">
                <a:solidFill>
                  <a:srgbClr val="1B2432"/>
                </a:solidFill>
                <a:latin typeface="Calibri" pitchFamily="34" charset="0"/>
                <a:ea typeface="Calibri" pitchFamily="34" charset="-122"/>
                <a:cs typeface="Calibri" pitchFamily="34" charset="-120"/>
              </a:rPr>
              <a:t>Uniform allocation</a:t>
            </a:r>
            <a:endParaRPr lang="en-US" sz="1500" dirty="0"/>
          </a:p>
        </p:txBody>
      </p:sp>
      <p:sp>
        <p:nvSpPr>
          <p:cNvPr id="17" name="Text 15"/>
          <p:cNvSpPr txBox="1"/>
          <p:nvPr/>
        </p:nvSpPr>
        <p:spPr>
          <a:xfrm>
            <a:off x="6364224" y="2377440"/>
            <a:ext cx="5239512" cy="1316736"/>
          </a:xfrm>
          <a:prstGeom prst="rect">
            <a:avLst/>
          </a:prstGeom>
          <a:noFill/>
          <a:ln/>
        </p:spPr>
        <p:txBody>
          <a:bodyPr wrap="square" lIns="0" tIns="0" rIns="0" bIns="0" rtlCol="0" anchor="t"/>
          <a:lstStyle/>
          <a:p>
            <a:pPr indent="0" marL="0">
              <a:lnSpc>
                <a:spcPts val="1120"/>
              </a:lnSpc>
              <a:spcAft>
                <a:spcPts val="250"/>
              </a:spcAft>
              <a:buNone/>
            </a:pPr>
            <a:r>
              <a:rPr lang="en-US" sz="860" dirty="0">
                <a:solidFill>
                  <a:srgbClr val="55606E"/>
                </a:solidFill>
                <a:latin typeface="Calibri" pitchFamily="34" charset="0"/>
                <a:ea typeface="Calibri" pitchFamily="34" charset="-122"/>
                <a:cs typeface="Calibri" pitchFamily="34" charset="-120"/>
              </a:rPr>
              <a:t>Engagement depth does not vary with how much novel design an intake needs</a:t>
            </a:r>
            <a:endParaRPr lang="en-US" sz="860" dirty="0"/>
          </a:p>
          <a:p>
            <a:pPr indent="0" marL="0">
              <a:lnSpc>
                <a:spcPts val="1120"/>
              </a:lnSpc>
              <a:spcAft>
                <a:spcPts val="250"/>
              </a:spcAft>
              <a:buNone/>
            </a:pPr>
            <a:r>
              <a:rPr lang="en-US" sz="860" dirty="0">
                <a:solidFill>
                  <a:srgbClr val="55606E"/>
                </a:solidFill>
                <a:latin typeface="Calibri" pitchFamily="34" charset="0"/>
                <a:ea typeface="Calibri" pitchFamily="34" charset="-122"/>
                <a:cs typeface="Calibri" pitchFamily="34" charset="-120"/>
              </a:rPr>
              <a:t>8 of 38 scenarios need no design at all; 14 genuinely need a dedicated pod</a:t>
            </a:r>
            <a:endParaRPr lang="en-US" sz="860" dirty="0"/>
          </a:p>
          <a:p>
            <a:pPr indent="0" marL="0">
              <a:lnSpc>
                <a:spcPts val="1120"/>
              </a:lnSpc>
              <a:spcAft>
                <a:spcPts val="250"/>
              </a:spcAft>
              <a:buNone/>
            </a:pPr>
            <a:r>
              <a:rPr lang="en-US" sz="860" dirty="0">
                <a:solidFill>
                  <a:srgbClr val="55606E"/>
                </a:solidFill>
                <a:latin typeface="Calibri" pitchFamily="34" charset="0"/>
                <a:ea typeface="Calibri" pitchFamily="34" charset="-122"/>
                <a:cs typeface="Calibri" pitchFamily="34" charset="-120"/>
              </a:rPr>
              <a:t>All 38 currently receive the same dedicated team</a:t>
            </a:r>
            <a:endParaRPr lang="en-US" sz="860" dirty="0"/>
          </a:p>
          <a:p>
            <a:pPr indent="0" marL="0">
              <a:lnSpc>
                <a:spcPts val="1120"/>
              </a:lnSpc>
              <a:spcAft>
                <a:spcPts val="250"/>
              </a:spcAft>
              <a:buNone/>
            </a:pPr>
            <a:r>
              <a:rPr lang="en-US" sz="860" dirty="0">
                <a:solidFill>
                  <a:srgbClr val="55606E"/>
                </a:solidFill>
                <a:latin typeface="Calibri" pitchFamily="34" charset="0"/>
                <a:ea typeface="Calibri" pitchFamily="34" charset="-122"/>
                <a:cs typeface="Calibri" pitchFamily="34" charset="-120"/>
              </a:rPr>
              <a:t>In the absence of an objective rule, depth is allocated by influence</a:t>
            </a:r>
            <a:endParaRPr lang="en-US" sz="860" dirty="0"/>
          </a:p>
          <a:p>
            <a:pPr indent="0" marL="0">
              <a:lnSpc>
                <a:spcPts val="1120"/>
              </a:lnSpc>
              <a:spcAft>
                <a:spcPts val="250"/>
              </a:spcAft>
              <a:buNone/>
            </a:pPr>
            <a:r>
              <a:rPr lang="en-US" sz="860" dirty="0">
                <a:solidFill>
                  <a:srgbClr val="55606E"/>
                </a:solidFill>
                <a:latin typeface="Calibri" pitchFamily="34" charset="0"/>
                <a:ea typeface="Calibri" pitchFamily="34" charset="-122"/>
                <a:cs typeface="Calibri" pitchFamily="34" charset="-120"/>
              </a:rPr>
              <a:t>Fix needs a tiering rubric and the platform that makes lighter tiers safe</a:t>
            </a:r>
            <a:endParaRPr lang="en-US" sz="860" dirty="0"/>
          </a:p>
        </p:txBody>
      </p:sp>
      <p:sp>
        <p:nvSpPr>
          <p:cNvPr id="18" name="Text 16"/>
          <p:cNvSpPr txBox="1"/>
          <p:nvPr/>
        </p:nvSpPr>
        <p:spPr>
          <a:xfrm>
            <a:off x="411480" y="3968496"/>
            <a:ext cx="5486400" cy="182880"/>
          </a:xfrm>
          <a:prstGeom prst="rect">
            <a:avLst/>
          </a:prstGeom>
          <a:noFill/>
          <a:ln/>
        </p:spPr>
        <p:txBody>
          <a:bodyPr wrap="square" lIns="0" tIns="0" rIns="0" bIns="0" rtlCol="0" anchor="ctr"/>
          <a:lstStyle/>
          <a:p>
            <a:pPr indent="0" marL="0">
              <a:buNone/>
            </a:pPr>
            <a:r>
              <a:rPr lang="en-US" sz="760" b="1" spc="110" kern="0" dirty="0">
                <a:solidFill>
                  <a:srgbClr val="1B2432"/>
                </a:solidFill>
                <a:latin typeface="Calibri" pitchFamily="34" charset="0"/>
                <a:ea typeface="Calibri" pitchFamily="34" charset="-122"/>
                <a:cs typeface="Calibri" pitchFamily="34" charset="-120"/>
              </a:rPr>
              <a:t>WHERE THE ELAPSED TIME ACTUALLY GOES</a:t>
            </a:r>
            <a:endParaRPr lang="en-US" sz="760" dirty="0"/>
          </a:p>
        </p:txBody>
      </p:sp>
      <p:sp>
        <p:nvSpPr>
          <p:cNvPr id="19" name="Shape 17"/>
          <p:cNvSpPr/>
          <p:nvPr/>
        </p:nvSpPr>
        <p:spPr>
          <a:xfrm>
            <a:off x="411480" y="4169664"/>
            <a:ext cx="11338560" cy="274320"/>
          </a:xfrm>
          <a:prstGeom prst="rect">
            <a:avLst/>
          </a:prstGeom>
          <a:solidFill>
            <a:srgbClr val="15304F"/>
          </a:solidFill>
          <a:ln w="6350">
            <a:solidFill>
              <a:srgbClr val="15304F"/>
            </a:solidFill>
            <a:prstDash val="solid"/>
          </a:ln>
        </p:spPr>
      </p:sp>
      <p:sp>
        <p:nvSpPr>
          <p:cNvPr id="20" name="Text 18"/>
          <p:cNvSpPr txBox="1"/>
          <p:nvPr/>
        </p:nvSpPr>
        <p:spPr>
          <a:xfrm>
            <a:off x="484632" y="4169664"/>
            <a:ext cx="2962656" cy="274320"/>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Mechanism</a:t>
            </a:r>
            <a:endParaRPr lang="en-US" sz="800" dirty="0"/>
          </a:p>
        </p:txBody>
      </p:sp>
      <p:sp>
        <p:nvSpPr>
          <p:cNvPr id="21" name="Text 19"/>
          <p:cNvSpPr txBox="1"/>
          <p:nvPr/>
        </p:nvSpPr>
        <p:spPr>
          <a:xfrm>
            <a:off x="3593592" y="4169664"/>
            <a:ext cx="4425696" cy="274320"/>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How it consumes time</a:t>
            </a:r>
            <a:endParaRPr lang="en-US" sz="800" dirty="0"/>
          </a:p>
        </p:txBody>
      </p:sp>
      <p:sp>
        <p:nvSpPr>
          <p:cNvPr id="22" name="Text 20"/>
          <p:cNvSpPr txBox="1"/>
          <p:nvPr/>
        </p:nvSpPr>
        <p:spPr>
          <a:xfrm>
            <a:off x="8165592" y="4169664"/>
            <a:ext cx="3511296" cy="274320"/>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Affects</a:t>
            </a:r>
            <a:endParaRPr lang="en-US" sz="800" dirty="0"/>
          </a:p>
        </p:txBody>
      </p:sp>
      <p:sp>
        <p:nvSpPr>
          <p:cNvPr id="23" name="Shape 21"/>
          <p:cNvSpPr/>
          <p:nvPr/>
        </p:nvSpPr>
        <p:spPr>
          <a:xfrm>
            <a:off x="411480" y="4443984"/>
            <a:ext cx="11338560" cy="274320"/>
          </a:xfrm>
          <a:prstGeom prst="rect">
            <a:avLst/>
          </a:prstGeom>
          <a:solidFill>
            <a:srgbClr val="FFFFFF"/>
          </a:solidFill>
          <a:ln w="6350">
            <a:solidFill>
              <a:srgbClr val="D4DAE2"/>
            </a:solidFill>
            <a:prstDash val="solid"/>
          </a:ln>
        </p:spPr>
      </p:sp>
      <p:sp>
        <p:nvSpPr>
          <p:cNvPr id="24" name="Text 22"/>
          <p:cNvSpPr txBox="1"/>
          <p:nvPr/>
        </p:nvSpPr>
        <p:spPr>
          <a:xfrm>
            <a:off x="484632" y="4443984"/>
            <a:ext cx="2962656" cy="274320"/>
          </a:xfrm>
          <a:prstGeom prst="rect">
            <a:avLst/>
          </a:prstGeom>
          <a:noFill/>
          <a:ln/>
        </p:spPr>
        <p:txBody>
          <a:bodyPr wrap="square" lIns="0" tIns="0" rIns="0" bIns="0" rtlCol="0" anchor="ctr"/>
          <a:lstStyle/>
          <a:p>
            <a:pPr algn="l" indent="0" marL="0">
              <a:buNone/>
            </a:pPr>
            <a:r>
              <a:rPr lang="en-US" sz="820" b="1" dirty="0">
                <a:solidFill>
                  <a:srgbClr val="1B2432"/>
                </a:solidFill>
                <a:latin typeface="Calibri" pitchFamily="34" charset="0"/>
                <a:ea typeface="Calibri" pitchFamily="34" charset="-122"/>
                <a:cs typeface="Calibri" pitchFamily="34" charset="-120"/>
              </a:rPr>
              <a:t>Waiting for partner responses</a:t>
            </a:r>
            <a:endParaRPr lang="en-US" sz="820" dirty="0"/>
          </a:p>
        </p:txBody>
      </p:sp>
      <p:sp>
        <p:nvSpPr>
          <p:cNvPr id="25" name="Text 23"/>
          <p:cNvSpPr txBox="1"/>
          <p:nvPr/>
        </p:nvSpPr>
        <p:spPr>
          <a:xfrm>
            <a:off x="3593592" y="4443984"/>
            <a:ext cx="4425696" cy="274320"/>
          </a:xfrm>
          <a:prstGeom prst="rect">
            <a:avLst/>
          </a:prstGeom>
          <a:noFill/>
          <a:ln/>
        </p:spPr>
        <p:txBody>
          <a:bodyPr wrap="square" lIns="0" tIns="0" rIns="0" bIns="0" rtlCol="0" anchor="ctr"/>
          <a:lstStyle/>
          <a:p>
            <a:pPr algn="l" indent="0" marL="0">
              <a:buNone/>
            </a:pPr>
            <a:r>
              <a:rPr lang="en-US" sz="820" dirty="0">
                <a:solidFill>
                  <a:srgbClr val="1B2432"/>
                </a:solidFill>
                <a:latin typeface="Calibri" pitchFamily="34" charset="0"/>
                <a:ea typeface="Calibri" pitchFamily="34" charset="-122"/>
                <a:cs typeface="Calibri" pitchFamily="34" charset="-120"/>
              </a:rPr>
              <a:t>Elapsed days per cycle, several cycles per phase</a:t>
            </a:r>
            <a:endParaRPr lang="en-US" sz="820" dirty="0"/>
          </a:p>
        </p:txBody>
      </p:sp>
      <p:sp>
        <p:nvSpPr>
          <p:cNvPr id="26" name="Text 24"/>
          <p:cNvSpPr txBox="1"/>
          <p:nvPr/>
        </p:nvSpPr>
        <p:spPr>
          <a:xfrm>
            <a:off x="8165592" y="4443984"/>
            <a:ext cx="3511296" cy="274320"/>
          </a:xfrm>
          <a:prstGeom prst="rect">
            <a:avLst/>
          </a:prstGeom>
          <a:noFill/>
          <a:ln/>
        </p:spPr>
        <p:txBody>
          <a:bodyPr wrap="square" lIns="0" tIns="0" rIns="0" bIns="0" rtlCol="0" anchor="ctr"/>
          <a:lstStyle/>
          <a:p>
            <a:pPr algn="l" indent="0" marL="0">
              <a:buNone/>
            </a:pPr>
            <a:r>
              <a:rPr lang="en-US" sz="820" dirty="0">
                <a:solidFill>
                  <a:srgbClr val="1B2432"/>
                </a:solidFill>
                <a:latin typeface="Calibri" pitchFamily="34" charset="0"/>
                <a:ea typeface="Calibri" pitchFamily="34" charset="-122"/>
                <a:cs typeface="Calibri" pitchFamily="34" charset="-120"/>
              </a:rPr>
              <a:t>All three models</a:t>
            </a:r>
            <a:endParaRPr lang="en-US" sz="820" dirty="0"/>
          </a:p>
        </p:txBody>
      </p:sp>
      <p:sp>
        <p:nvSpPr>
          <p:cNvPr id="27" name="Shape 25"/>
          <p:cNvSpPr/>
          <p:nvPr/>
        </p:nvSpPr>
        <p:spPr>
          <a:xfrm>
            <a:off x="411480" y="4718304"/>
            <a:ext cx="11338560" cy="274320"/>
          </a:xfrm>
          <a:prstGeom prst="rect">
            <a:avLst/>
          </a:prstGeom>
          <a:solidFill>
            <a:srgbClr val="F4F7FA"/>
          </a:solidFill>
          <a:ln w="6350">
            <a:solidFill>
              <a:srgbClr val="D4DAE2"/>
            </a:solidFill>
            <a:prstDash val="solid"/>
          </a:ln>
        </p:spPr>
      </p:sp>
      <p:sp>
        <p:nvSpPr>
          <p:cNvPr id="28" name="Text 26"/>
          <p:cNvSpPr txBox="1"/>
          <p:nvPr/>
        </p:nvSpPr>
        <p:spPr>
          <a:xfrm>
            <a:off x="484632" y="4718304"/>
            <a:ext cx="2962656" cy="274320"/>
          </a:xfrm>
          <a:prstGeom prst="rect">
            <a:avLst/>
          </a:prstGeom>
          <a:noFill/>
          <a:ln/>
        </p:spPr>
        <p:txBody>
          <a:bodyPr wrap="square" lIns="0" tIns="0" rIns="0" bIns="0" rtlCol="0" anchor="ctr"/>
          <a:lstStyle/>
          <a:p>
            <a:pPr algn="l" indent="0" marL="0">
              <a:buNone/>
            </a:pPr>
            <a:r>
              <a:rPr lang="en-US" sz="820" b="1" dirty="0">
                <a:solidFill>
                  <a:srgbClr val="1B2432"/>
                </a:solidFill>
                <a:latin typeface="Calibri" pitchFamily="34" charset="0"/>
                <a:ea typeface="Calibri" pitchFamily="34" charset="-122"/>
                <a:cs typeface="Calibri" pitchFamily="34" charset="-120"/>
              </a:rPr>
              <a:t>Re-explaining the same requirement</a:t>
            </a:r>
            <a:endParaRPr lang="en-US" sz="820" dirty="0"/>
          </a:p>
        </p:txBody>
      </p:sp>
      <p:sp>
        <p:nvSpPr>
          <p:cNvPr id="29" name="Text 27"/>
          <p:cNvSpPr txBox="1"/>
          <p:nvPr/>
        </p:nvSpPr>
        <p:spPr>
          <a:xfrm>
            <a:off x="3593592" y="4718304"/>
            <a:ext cx="4425696" cy="274320"/>
          </a:xfrm>
          <a:prstGeom prst="rect">
            <a:avLst/>
          </a:prstGeom>
          <a:noFill/>
          <a:ln/>
        </p:spPr>
        <p:txBody>
          <a:bodyPr wrap="square" lIns="0" tIns="0" rIns="0" bIns="0" rtlCol="0" anchor="ctr"/>
          <a:lstStyle/>
          <a:p>
            <a:pPr algn="l" indent="0" marL="0">
              <a:buNone/>
            </a:pPr>
            <a:r>
              <a:rPr lang="en-US" sz="820" dirty="0">
                <a:solidFill>
                  <a:srgbClr val="1B2432"/>
                </a:solidFill>
                <a:latin typeface="Calibri" pitchFamily="34" charset="0"/>
                <a:ea typeface="Calibri" pitchFamily="34" charset="-122"/>
                <a:cs typeface="Calibri" pitchFamily="34" charset="-120"/>
              </a:rPr>
              <a:t>Every new participant needs the context rebuilt from scratch</a:t>
            </a:r>
            <a:endParaRPr lang="en-US" sz="820" dirty="0"/>
          </a:p>
        </p:txBody>
      </p:sp>
      <p:sp>
        <p:nvSpPr>
          <p:cNvPr id="30" name="Text 28"/>
          <p:cNvSpPr txBox="1"/>
          <p:nvPr/>
        </p:nvSpPr>
        <p:spPr>
          <a:xfrm>
            <a:off x="8165592" y="4718304"/>
            <a:ext cx="3511296" cy="274320"/>
          </a:xfrm>
          <a:prstGeom prst="rect">
            <a:avLst/>
          </a:prstGeom>
          <a:noFill/>
          <a:ln/>
        </p:spPr>
        <p:txBody>
          <a:bodyPr wrap="square" lIns="0" tIns="0" rIns="0" bIns="0" rtlCol="0" anchor="ctr"/>
          <a:lstStyle/>
          <a:p>
            <a:pPr algn="l" indent="0" marL="0">
              <a:buNone/>
            </a:pPr>
            <a:r>
              <a:rPr lang="en-US" sz="820" dirty="0">
                <a:solidFill>
                  <a:srgbClr val="1B2432"/>
                </a:solidFill>
                <a:latin typeface="Calibri" pitchFamily="34" charset="0"/>
                <a:ea typeface="Calibri" pitchFamily="34" charset="-122"/>
                <a:cs typeface="Calibri" pitchFamily="34" charset="-120"/>
              </a:rPr>
              <a:t>All three models</a:t>
            </a:r>
            <a:endParaRPr lang="en-US" sz="820" dirty="0"/>
          </a:p>
        </p:txBody>
      </p:sp>
      <p:sp>
        <p:nvSpPr>
          <p:cNvPr id="31" name="Shape 29"/>
          <p:cNvSpPr/>
          <p:nvPr/>
        </p:nvSpPr>
        <p:spPr>
          <a:xfrm>
            <a:off x="411480" y="4992624"/>
            <a:ext cx="11338560" cy="274320"/>
          </a:xfrm>
          <a:prstGeom prst="rect">
            <a:avLst/>
          </a:prstGeom>
          <a:solidFill>
            <a:srgbClr val="FFFFFF"/>
          </a:solidFill>
          <a:ln w="6350">
            <a:solidFill>
              <a:srgbClr val="D4DAE2"/>
            </a:solidFill>
            <a:prstDash val="solid"/>
          </a:ln>
        </p:spPr>
      </p:sp>
      <p:sp>
        <p:nvSpPr>
          <p:cNvPr id="32" name="Text 30"/>
          <p:cNvSpPr txBox="1"/>
          <p:nvPr/>
        </p:nvSpPr>
        <p:spPr>
          <a:xfrm>
            <a:off x="484632" y="4992624"/>
            <a:ext cx="2962656" cy="274320"/>
          </a:xfrm>
          <a:prstGeom prst="rect">
            <a:avLst/>
          </a:prstGeom>
          <a:noFill/>
          <a:ln/>
        </p:spPr>
        <p:txBody>
          <a:bodyPr wrap="square" lIns="0" tIns="0" rIns="0" bIns="0" rtlCol="0" anchor="ctr"/>
          <a:lstStyle/>
          <a:p>
            <a:pPr algn="l" indent="0" marL="0">
              <a:buNone/>
            </a:pPr>
            <a:r>
              <a:rPr lang="en-US" sz="820" b="1" dirty="0">
                <a:solidFill>
                  <a:srgbClr val="1B2432"/>
                </a:solidFill>
                <a:latin typeface="Calibri" pitchFamily="34" charset="0"/>
                <a:ea typeface="Calibri" pitchFamily="34" charset="-122"/>
                <a:cs typeface="Calibri" pitchFamily="34" charset="-120"/>
              </a:rPr>
              <a:t>Rework from assumed answers</a:t>
            </a:r>
            <a:endParaRPr lang="en-US" sz="820" dirty="0"/>
          </a:p>
        </p:txBody>
      </p:sp>
      <p:sp>
        <p:nvSpPr>
          <p:cNvPr id="33" name="Text 31"/>
          <p:cNvSpPr txBox="1"/>
          <p:nvPr/>
        </p:nvSpPr>
        <p:spPr>
          <a:xfrm>
            <a:off x="3593592" y="4992624"/>
            <a:ext cx="4425696" cy="274320"/>
          </a:xfrm>
          <a:prstGeom prst="rect">
            <a:avLst/>
          </a:prstGeom>
          <a:noFill/>
          <a:ln/>
        </p:spPr>
        <p:txBody>
          <a:bodyPr wrap="square" lIns="0" tIns="0" rIns="0" bIns="0" rtlCol="0" anchor="ctr"/>
          <a:lstStyle/>
          <a:p>
            <a:pPr algn="l" indent="0" marL="0">
              <a:buNone/>
            </a:pPr>
            <a:r>
              <a:rPr lang="en-US" sz="820" dirty="0">
                <a:solidFill>
                  <a:srgbClr val="1B2432"/>
                </a:solidFill>
                <a:latin typeface="Calibri" pitchFamily="34" charset="0"/>
                <a:ea typeface="Calibri" pitchFamily="34" charset="-122"/>
                <a:cs typeface="Calibri" pitchFamily="34" charset="-120"/>
              </a:rPr>
              <a:t>Work proceeds on an assumption that later proves wrong</a:t>
            </a:r>
            <a:endParaRPr lang="en-US" sz="820" dirty="0"/>
          </a:p>
        </p:txBody>
      </p:sp>
      <p:sp>
        <p:nvSpPr>
          <p:cNvPr id="34" name="Text 32"/>
          <p:cNvSpPr txBox="1"/>
          <p:nvPr/>
        </p:nvSpPr>
        <p:spPr>
          <a:xfrm>
            <a:off x="8165592" y="4992624"/>
            <a:ext cx="3511296" cy="274320"/>
          </a:xfrm>
          <a:prstGeom prst="rect">
            <a:avLst/>
          </a:prstGeom>
          <a:noFill/>
          <a:ln/>
        </p:spPr>
        <p:txBody>
          <a:bodyPr wrap="square" lIns="0" tIns="0" rIns="0" bIns="0" rtlCol="0" anchor="ctr"/>
          <a:lstStyle/>
          <a:p>
            <a:pPr algn="l" indent="0" marL="0">
              <a:buNone/>
            </a:pPr>
            <a:r>
              <a:rPr lang="en-US" sz="820" dirty="0">
                <a:solidFill>
                  <a:srgbClr val="1B2432"/>
                </a:solidFill>
                <a:latin typeface="Calibri" pitchFamily="34" charset="0"/>
                <a:ea typeface="Calibri" pitchFamily="34" charset="-122"/>
                <a:cs typeface="Calibri" pitchFamily="34" charset="-120"/>
              </a:rPr>
              <a:t>All three models</a:t>
            </a:r>
            <a:endParaRPr lang="en-US" sz="820" dirty="0"/>
          </a:p>
        </p:txBody>
      </p:sp>
      <p:sp>
        <p:nvSpPr>
          <p:cNvPr id="35" name="Shape 33"/>
          <p:cNvSpPr/>
          <p:nvPr/>
        </p:nvSpPr>
        <p:spPr>
          <a:xfrm>
            <a:off x="411480" y="5266944"/>
            <a:ext cx="11338560" cy="274320"/>
          </a:xfrm>
          <a:prstGeom prst="rect">
            <a:avLst/>
          </a:prstGeom>
          <a:solidFill>
            <a:srgbClr val="F4F7FA"/>
          </a:solidFill>
          <a:ln w="6350">
            <a:solidFill>
              <a:srgbClr val="D4DAE2"/>
            </a:solidFill>
            <a:prstDash val="solid"/>
          </a:ln>
        </p:spPr>
      </p:sp>
      <p:sp>
        <p:nvSpPr>
          <p:cNvPr id="36" name="Text 34"/>
          <p:cNvSpPr txBox="1"/>
          <p:nvPr/>
        </p:nvSpPr>
        <p:spPr>
          <a:xfrm>
            <a:off x="484632" y="5266944"/>
            <a:ext cx="2962656" cy="274320"/>
          </a:xfrm>
          <a:prstGeom prst="rect">
            <a:avLst/>
          </a:prstGeom>
          <a:noFill/>
          <a:ln/>
        </p:spPr>
        <p:txBody>
          <a:bodyPr wrap="square" lIns="0" tIns="0" rIns="0" bIns="0" rtlCol="0" anchor="ctr"/>
          <a:lstStyle/>
          <a:p>
            <a:pPr algn="l" indent="0" marL="0">
              <a:buNone/>
            </a:pPr>
            <a:r>
              <a:rPr lang="en-US" sz="820" b="1" dirty="0">
                <a:solidFill>
                  <a:srgbClr val="1B2432"/>
                </a:solidFill>
                <a:latin typeface="Calibri" pitchFamily="34" charset="0"/>
                <a:ea typeface="Calibri" pitchFamily="34" charset="-122"/>
                <a:cs typeface="Calibri" pitchFamily="34" charset="-120"/>
              </a:rPr>
              <a:t>Discovery sessions that cannot conclude</a:t>
            </a:r>
            <a:endParaRPr lang="en-US" sz="820" dirty="0"/>
          </a:p>
        </p:txBody>
      </p:sp>
      <p:sp>
        <p:nvSpPr>
          <p:cNvPr id="37" name="Text 35"/>
          <p:cNvSpPr txBox="1"/>
          <p:nvPr/>
        </p:nvSpPr>
        <p:spPr>
          <a:xfrm>
            <a:off x="3593592" y="5266944"/>
            <a:ext cx="4425696" cy="274320"/>
          </a:xfrm>
          <a:prstGeom prst="rect">
            <a:avLst/>
          </a:prstGeom>
          <a:noFill/>
          <a:ln/>
        </p:spPr>
        <p:txBody>
          <a:bodyPr wrap="square" lIns="0" tIns="0" rIns="0" bIns="0" rtlCol="0" anchor="ctr"/>
          <a:lstStyle/>
          <a:p>
            <a:pPr algn="l" indent="0" marL="0">
              <a:buNone/>
            </a:pPr>
            <a:r>
              <a:rPr lang="en-US" sz="820" dirty="0">
                <a:solidFill>
                  <a:srgbClr val="1B2432"/>
                </a:solidFill>
                <a:latin typeface="Calibri" pitchFamily="34" charset="0"/>
                <a:ea typeface="Calibri" pitchFamily="34" charset="-122"/>
                <a:cs typeface="Calibri" pitchFamily="34" charset="-120"/>
              </a:rPr>
              <a:t>The session runs without its input and has to reconvene</a:t>
            </a:r>
            <a:endParaRPr lang="en-US" sz="820" dirty="0"/>
          </a:p>
        </p:txBody>
      </p:sp>
      <p:sp>
        <p:nvSpPr>
          <p:cNvPr id="38" name="Text 36"/>
          <p:cNvSpPr txBox="1"/>
          <p:nvPr/>
        </p:nvSpPr>
        <p:spPr>
          <a:xfrm>
            <a:off x="8165592" y="5266944"/>
            <a:ext cx="3511296" cy="274320"/>
          </a:xfrm>
          <a:prstGeom prst="rect">
            <a:avLst/>
          </a:prstGeom>
          <a:noFill/>
          <a:ln/>
        </p:spPr>
        <p:txBody>
          <a:bodyPr wrap="square" lIns="0" tIns="0" rIns="0" bIns="0" rtlCol="0" anchor="ctr"/>
          <a:lstStyle/>
          <a:p>
            <a:pPr algn="l" indent="0" marL="0">
              <a:buNone/>
            </a:pPr>
            <a:r>
              <a:rPr lang="en-US" sz="820" dirty="0">
                <a:solidFill>
                  <a:srgbClr val="1B2432"/>
                </a:solidFill>
                <a:latin typeface="Calibri" pitchFamily="34" charset="0"/>
                <a:ea typeface="Calibri" pitchFamily="34" charset="-122"/>
                <a:cs typeface="Calibri" pitchFamily="34" charset="-120"/>
              </a:rPr>
              <a:t>Lean+ and Dedicated</a:t>
            </a:r>
            <a:endParaRPr lang="en-US" sz="820" dirty="0"/>
          </a:p>
        </p:txBody>
      </p:sp>
      <p:sp>
        <p:nvSpPr>
          <p:cNvPr id="39" name="Shape 37"/>
          <p:cNvSpPr/>
          <p:nvPr/>
        </p:nvSpPr>
        <p:spPr>
          <a:xfrm>
            <a:off x="411480" y="5541264"/>
            <a:ext cx="11338560" cy="274320"/>
          </a:xfrm>
          <a:prstGeom prst="rect">
            <a:avLst/>
          </a:prstGeom>
          <a:solidFill>
            <a:srgbClr val="FFFFFF"/>
          </a:solidFill>
          <a:ln w="6350">
            <a:solidFill>
              <a:srgbClr val="D4DAE2"/>
            </a:solidFill>
            <a:prstDash val="solid"/>
          </a:ln>
        </p:spPr>
      </p:sp>
      <p:sp>
        <p:nvSpPr>
          <p:cNvPr id="40" name="Text 38"/>
          <p:cNvSpPr txBox="1"/>
          <p:nvPr/>
        </p:nvSpPr>
        <p:spPr>
          <a:xfrm>
            <a:off x="484632" y="5541264"/>
            <a:ext cx="2962656" cy="274320"/>
          </a:xfrm>
          <a:prstGeom prst="rect">
            <a:avLst/>
          </a:prstGeom>
          <a:noFill/>
          <a:ln/>
        </p:spPr>
        <p:txBody>
          <a:bodyPr wrap="square" lIns="0" tIns="0" rIns="0" bIns="0" rtlCol="0" anchor="ctr"/>
          <a:lstStyle/>
          <a:p>
            <a:pPr algn="l" indent="0" marL="0">
              <a:buNone/>
            </a:pPr>
            <a:r>
              <a:rPr lang="en-US" sz="820" b="1" dirty="0">
                <a:solidFill>
                  <a:srgbClr val="1B2432"/>
                </a:solidFill>
                <a:latin typeface="Calibri" pitchFamily="34" charset="0"/>
                <a:ea typeface="Calibri" pitchFamily="34" charset="-122"/>
                <a:cs typeface="Calibri" pitchFamily="34" charset="-120"/>
              </a:rPr>
              <a:t>Follow-up loops at triage</a:t>
            </a:r>
            <a:endParaRPr lang="en-US" sz="820" dirty="0"/>
          </a:p>
        </p:txBody>
      </p:sp>
      <p:sp>
        <p:nvSpPr>
          <p:cNvPr id="41" name="Text 39"/>
          <p:cNvSpPr txBox="1"/>
          <p:nvPr/>
        </p:nvSpPr>
        <p:spPr>
          <a:xfrm>
            <a:off x="3593592" y="5541264"/>
            <a:ext cx="4425696" cy="274320"/>
          </a:xfrm>
          <a:prstGeom prst="rect">
            <a:avLst/>
          </a:prstGeom>
          <a:noFill/>
          <a:ln/>
        </p:spPr>
        <p:txBody>
          <a:bodyPr wrap="square" lIns="0" tIns="0" rIns="0" bIns="0" rtlCol="0" anchor="ctr"/>
          <a:lstStyle/>
          <a:p>
            <a:pPr algn="l" indent="0" marL="0">
              <a:buNone/>
            </a:pPr>
            <a:r>
              <a:rPr lang="en-US" sz="820" dirty="0">
                <a:solidFill>
                  <a:srgbClr val="1B2432"/>
                </a:solidFill>
                <a:latin typeface="Calibri" pitchFamily="34" charset="0"/>
                <a:ea typeface="Calibri" pitchFamily="34" charset="-122"/>
                <a:cs typeface="Calibri" pitchFamily="34" charset="-120"/>
              </a:rPr>
              <a:t>Intake held in a waiting state with no enforced return date</a:t>
            </a:r>
            <a:endParaRPr lang="en-US" sz="820" dirty="0"/>
          </a:p>
        </p:txBody>
      </p:sp>
      <p:sp>
        <p:nvSpPr>
          <p:cNvPr id="42" name="Text 40"/>
          <p:cNvSpPr txBox="1"/>
          <p:nvPr/>
        </p:nvSpPr>
        <p:spPr>
          <a:xfrm>
            <a:off x="8165592" y="5541264"/>
            <a:ext cx="3511296" cy="274320"/>
          </a:xfrm>
          <a:prstGeom prst="rect">
            <a:avLst/>
          </a:prstGeom>
          <a:noFill/>
          <a:ln/>
        </p:spPr>
        <p:txBody>
          <a:bodyPr wrap="square" lIns="0" tIns="0" rIns="0" bIns="0" rtlCol="0" anchor="ctr"/>
          <a:lstStyle/>
          <a:p>
            <a:pPr algn="l" indent="0" marL="0">
              <a:buNone/>
            </a:pPr>
            <a:r>
              <a:rPr lang="en-US" sz="820" dirty="0">
                <a:solidFill>
                  <a:srgbClr val="1B2432"/>
                </a:solidFill>
                <a:latin typeface="Calibri" pitchFamily="34" charset="0"/>
                <a:ea typeface="Calibri" pitchFamily="34" charset="-122"/>
                <a:cs typeface="Calibri" pitchFamily="34" charset="-120"/>
              </a:rPr>
              <a:t>All three models</a:t>
            </a:r>
            <a:endParaRPr lang="en-US" sz="820" dirty="0"/>
          </a:p>
        </p:txBody>
      </p:sp>
      <p:sp>
        <p:nvSpPr>
          <p:cNvPr id="43" name="Shape 41"/>
          <p:cNvSpPr/>
          <p:nvPr/>
        </p:nvSpPr>
        <p:spPr>
          <a:xfrm>
            <a:off x="411480" y="5815584"/>
            <a:ext cx="11338560" cy="274320"/>
          </a:xfrm>
          <a:prstGeom prst="rect">
            <a:avLst/>
          </a:prstGeom>
          <a:solidFill>
            <a:srgbClr val="F4F7FA"/>
          </a:solidFill>
          <a:ln w="6350">
            <a:solidFill>
              <a:srgbClr val="D4DAE2"/>
            </a:solidFill>
            <a:prstDash val="solid"/>
          </a:ln>
        </p:spPr>
      </p:sp>
      <p:sp>
        <p:nvSpPr>
          <p:cNvPr id="44" name="Text 42"/>
          <p:cNvSpPr txBox="1"/>
          <p:nvPr/>
        </p:nvSpPr>
        <p:spPr>
          <a:xfrm>
            <a:off x="484632" y="5815584"/>
            <a:ext cx="2962656" cy="274320"/>
          </a:xfrm>
          <a:prstGeom prst="rect">
            <a:avLst/>
          </a:prstGeom>
          <a:noFill/>
          <a:ln/>
        </p:spPr>
        <p:txBody>
          <a:bodyPr wrap="square" lIns="0" tIns="0" rIns="0" bIns="0" rtlCol="0" anchor="ctr"/>
          <a:lstStyle/>
          <a:p>
            <a:pPr algn="l" indent="0" marL="0">
              <a:buNone/>
            </a:pPr>
            <a:r>
              <a:rPr lang="en-US" sz="820" b="1" dirty="0">
                <a:solidFill>
                  <a:srgbClr val="1B2432"/>
                </a:solidFill>
                <a:latin typeface="Calibri" pitchFamily="34" charset="0"/>
                <a:ea typeface="Calibri" pitchFamily="34" charset="-122"/>
                <a:cs typeface="Calibri" pitchFamily="34" charset="-120"/>
              </a:rPr>
              <a:t>Late-surfacing lead-time items</a:t>
            </a:r>
            <a:endParaRPr lang="en-US" sz="820" dirty="0"/>
          </a:p>
        </p:txBody>
      </p:sp>
      <p:sp>
        <p:nvSpPr>
          <p:cNvPr id="45" name="Text 43"/>
          <p:cNvSpPr txBox="1"/>
          <p:nvPr/>
        </p:nvSpPr>
        <p:spPr>
          <a:xfrm>
            <a:off x="3593592" y="5815584"/>
            <a:ext cx="4425696" cy="274320"/>
          </a:xfrm>
          <a:prstGeom prst="rect">
            <a:avLst/>
          </a:prstGeom>
          <a:noFill/>
          <a:ln/>
        </p:spPr>
        <p:txBody>
          <a:bodyPr wrap="square" lIns="0" tIns="0" rIns="0" bIns="0" rtlCol="0" anchor="ctr"/>
          <a:lstStyle/>
          <a:p>
            <a:pPr algn="l" indent="0" marL="0">
              <a:buNone/>
            </a:pPr>
            <a:r>
              <a:rPr lang="en-US" sz="820" dirty="0">
                <a:solidFill>
                  <a:srgbClr val="1B2432"/>
                </a:solidFill>
                <a:latin typeface="Calibri" pitchFamily="34" charset="0"/>
                <a:ea typeface="Calibri" pitchFamily="34" charset="-122"/>
                <a:cs typeface="Calibri" pitchFamily="34" charset="-120"/>
              </a:rPr>
              <a:t>A long-lead request identified weeks after it could have started</a:t>
            </a:r>
            <a:endParaRPr lang="en-US" sz="820" dirty="0"/>
          </a:p>
        </p:txBody>
      </p:sp>
      <p:sp>
        <p:nvSpPr>
          <p:cNvPr id="46" name="Text 44"/>
          <p:cNvSpPr txBox="1"/>
          <p:nvPr/>
        </p:nvSpPr>
        <p:spPr>
          <a:xfrm>
            <a:off x="8165592" y="5815584"/>
            <a:ext cx="3511296" cy="274320"/>
          </a:xfrm>
          <a:prstGeom prst="rect">
            <a:avLst/>
          </a:prstGeom>
          <a:noFill/>
          <a:ln/>
        </p:spPr>
        <p:txBody>
          <a:bodyPr wrap="square" lIns="0" tIns="0" rIns="0" bIns="0" rtlCol="0" anchor="ctr"/>
          <a:lstStyle/>
          <a:p>
            <a:pPr algn="l" indent="0" marL="0">
              <a:buNone/>
            </a:pPr>
            <a:r>
              <a:rPr lang="en-US" sz="820" dirty="0">
                <a:solidFill>
                  <a:srgbClr val="1B2432"/>
                </a:solidFill>
                <a:latin typeface="Calibri" pitchFamily="34" charset="0"/>
                <a:ea typeface="Calibri" pitchFamily="34" charset="-122"/>
                <a:cs typeface="Calibri" pitchFamily="34" charset="-120"/>
              </a:rPr>
              <a:t>All three models</a:t>
            </a:r>
            <a:endParaRPr lang="en-US" sz="820" dirty="0"/>
          </a:p>
        </p:txBody>
      </p:sp>
      <p:sp>
        <p:nvSpPr>
          <p:cNvPr id="47" name="Shape 45"/>
          <p:cNvSpPr/>
          <p:nvPr/>
        </p:nvSpPr>
        <p:spPr>
          <a:xfrm>
            <a:off x="411480" y="6126480"/>
            <a:ext cx="11338560" cy="438912"/>
          </a:xfrm>
          <a:prstGeom prst="roundRect">
            <a:avLst>
              <a:gd name="adj" fmla="val 10417"/>
            </a:avLst>
          </a:prstGeom>
          <a:solidFill>
            <a:srgbClr val="F4F7FA"/>
          </a:solidFill>
          <a:ln w="9525">
            <a:solidFill>
              <a:srgbClr val="D4DAE2"/>
            </a:solidFill>
            <a:prstDash val="solid"/>
          </a:ln>
        </p:spPr>
      </p:sp>
      <p:sp>
        <p:nvSpPr>
          <p:cNvPr id="48" name="Text 46"/>
          <p:cNvSpPr txBox="1"/>
          <p:nvPr/>
        </p:nvSpPr>
        <p:spPr>
          <a:xfrm>
            <a:off x="557784" y="6126480"/>
            <a:ext cx="11045952" cy="438912"/>
          </a:xfrm>
          <a:prstGeom prst="rect">
            <a:avLst/>
          </a:prstGeom>
          <a:noFill/>
          <a:ln/>
        </p:spPr>
        <p:txBody>
          <a:bodyPr wrap="square" lIns="0" tIns="0" rIns="0" bIns="0" rtlCol="0" anchor="ctr"/>
          <a:lstStyle/>
          <a:p>
            <a:pPr indent="0" marL="0">
              <a:lnSpc>
                <a:spcPts val="1040"/>
              </a:lnSpc>
              <a:buNone/>
            </a:pPr>
            <a:r>
              <a:rPr lang="en-US" sz="860" dirty="0">
                <a:solidFill>
                  <a:srgbClr val="1B2432"/>
                </a:solidFill>
                <a:latin typeface="Calibri" pitchFamily="34" charset="0"/>
                <a:ea typeface="Calibri" pitchFamily="34" charset="-122"/>
                <a:cs typeface="Calibri" pitchFamily="34" charset="-120"/>
              </a:rPr>
              <a:t>Validating the 30–40% estimate costs almost nothing: count clarification cycles per intake and the elapsed days each consumed, across the last twelve months. That is a Sprint 1 deliverable, because the entire case for sequencing intake completeness first rests on it.</a:t>
            </a:r>
            <a:endParaRPr lang="en-US" sz="86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274320"/>
            <a:ext cx="274320" cy="274320"/>
          </a:xfrm>
          <a:prstGeom prst="rect">
            <a:avLst/>
          </a:prstGeom>
          <a:solidFill>
            <a:srgbClr val="15304F"/>
          </a:solidFill>
          <a:ln w="12700">
            <a:solidFill>
              <a:srgbClr val="333333"/>
            </a:solidFill>
            <a:prstDash val="solid"/>
          </a:ln>
        </p:spPr>
      </p:sp>
      <p:sp>
        <p:nvSpPr>
          <p:cNvPr id="3" name="Text 1"/>
          <p:cNvSpPr txBox="1"/>
          <p:nvPr/>
        </p:nvSpPr>
        <p:spPr>
          <a:xfrm>
            <a:off x="411480" y="2743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 name="Text 2"/>
          <p:cNvSpPr txBox="1"/>
          <p:nvPr/>
        </p:nvSpPr>
        <p:spPr>
          <a:xfrm>
            <a:off x="795528" y="219456"/>
            <a:ext cx="8778240" cy="384048"/>
          </a:xfrm>
          <a:prstGeom prst="rect">
            <a:avLst/>
          </a:prstGeom>
          <a:noFill/>
          <a:ln/>
        </p:spPr>
        <p:txBody>
          <a:bodyPr wrap="square" lIns="0" tIns="0" rIns="0" bIns="0" rtlCol="0" anchor="ctr"/>
          <a:lstStyle/>
          <a:p>
            <a:pPr indent="0" marL="0">
              <a:buNone/>
            </a:pPr>
            <a:r>
              <a:rPr lang="en-US" sz="2400" b="1" dirty="0">
                <a:solidFill>
                  <a:srgbClr val="1B2432"/>
                </a:solidFill>
                <a:latin typeface="Cambria" pitchFamily="34" charset="0"/>
                <a:ea typeface="Cambria" pitchFamily="34" charset="-122"/>
                <a:cs typeface="Cambria" pitchFamily="34" charset="-120"/>
              </a:rPr>
              <a:t>The Intake Data Catalogue</a:t>
            </a:r>
            <a:endParaRPr lang="en-US" sz="2400" dirty="0"/>
          </a:p>
        </p:txBody>
      </p:sp>
      <p:sp>
        <p:nvSpPr>
          <p:cNvPr id="5" name="Text 3"/>
          <p:cNvSpPr txBox="1"/>
          <p:nvPr/>
        </p:nvSpPr>
        <p:spPr>
          <a:xfrm>
            <a:off x="795528" y="621792"/>
            <a:ext cx="9326880" cy="237744"/>
          </a:xfrm>
          <a:prstGeom prst="rect">
            <a:avLst/>
          </a:prstGeom>
          <a:noFill/>
          <a:ln/>
        </p:spPr>
        <p:txBody>
          <a:bodyPr wrap="square" lIns="0" tIns="0" rIns="0" bIns="0" rtlCol="0" anchor="ctr"/>
          <a:lstStyle/>
          <a:p>
            <a:pPr indent="0" marL="0">
              <a:buNone/>
            </a:pPr>
            <a:r>
              <a:rPr lang="en-US" sz="1050" dirty="0">
                <a:solidFill>
                  <a:srgbClr val="55606E"/>
                </a:solidFill>
                <a:latin typeface="Calibri" pitchFamily="34" charset="0"/>
                <a:ea typeface="Calibri" pitchFamily="34" charset="-122"/>
                <a:cs typeface="Calibri" pitchFamily="34" charset="-120"/>
              </a:rPr>
              <a:t>54 data points across 10 categories — the asset the whole intervention rests on</a:t>
            </a:r>
            <a:endParaRPr lang="en-US" sz="1050" dirty="0"/>
          </a:p>
        </p:txBody>
      </p:sp>
      <p:sp>
        <p:nvSpPr>
          <p:cNvPr id="6" name="Text 4"/>
          <p:cNvSpPr txBox="1"/>
          <p:nvPr/>
        </p:nvSpPr>
        <p:spPr>
          <a:xfrm>
            <a:off x="9052560" y="274320"/>
            <a:ext cx="2697480" cy="256032"/>
          </a:xfrm>
          <a:prstGeom prst="rect">
            <a:avLst/>
          </a:prstGeom>
          <a:noFill/>
          <a:ln/>
        </p:spPr>
        <p:txBody>
          <a:bodyPr wrap="square" lIns="0" tIns="0" rIns="0" bIns="0" rtlCol="0" anchor="ctr"/>
          <a:lstStyle/>
          <a:p>
            <a:pPr algn="r" indent="0" marL="0">
              <a:buNone/>
            </a:pPr>
            <a:r>
              <a:rPr lang="en-US" sz="950" b="1" spc="60" kern="0" dirty="0">
                <a:solidFill>
                  <a:srgbClr val="7C8798"/>
                </a:solidFill>
                <a:latin typeface="Calibri" pitchFamily="34" charset="0"/>
                <a:ea typeface="Calibri" pitchFamily="34" charset="-122"/>
                <a:cs typeface="Calibri" pitchFamily="34" charset="-120"/>
              </a:rPr>
              <a:t>Intake completeness</a:t>
            </a:r>
            <a:endParaRPr lang="en-US" sz="950" dirty="0"/>
          </a:p>
        </p:txBody>
      </p:sp>
      <p:sp>
        <p:nvSpPr>
          <p:cNvPr id="7" name="Shape 5"/>
          <p:cNvSpPr/>
          <p:nvPr/>
        </p:nvSpPr>
        <p:spPr>
          <a:xfrm>
            <a:off x="411480" y="932688"/>
            <a:ext cx="11338560" cy="0"/>
          </a:xfrm>
          <a:prstGeom prst="line">
            <a:avLst/>
          </a:prstGeom>
          <a:noFill/>
          <a:ln w="12700">
            <a:solidFill>
              <a:srgbClr val="D4DAE2"/>
            </a:solidFill>
            <a:prstDash val="solid"/>
          </a:ln>
        </p:spPr>
      </p:sp>
      <p:sp>
        <p:nvSpPr>
          <p:cNvPr id="8" name="Shape 6"/>
          <p:cNvSpPr/>
          <p:nvPr/>
        </p:nvSpPr>
        <p:spPr>
          <a:xfrm>
            <a:off x="411480" y="1060704"/>
            <a:ext cx="5532120" cy="493776"/>
          </a:xfrm>
          <a:prstGeom prst="roundRect">
            <a:avLst>
              <a:gd name="adj" fmla="val 7407"/>
            </a:avLst>
          </a:prstGeom>
          <a:solidFill>
            <a:srgbClr val="FFFFFF"/>
          </a:solidFill>
          <a:ln w="11430">
            <a:solidFill>
              <a:srgbClr val="D4DAE2"/>
            </a:solidFill>
            <a:prstDash val="solid"/>
          </a:ln>
        </p:spPr>
      </p:sp>
      <p:sp>
        <p:nvSpPr>
          <p:cNvPr id="9" name="Shape 7"/>
          <p:cNvSpPr/>
          <p:nvPr/>
        </p:nvSpPr>
        <p:spPr>
          <a:xfrm>
            <a:off x="411480" y="1060704"/>
            <a:ext cx="50292" cy="493776"/>
          </a:xfrm>
          <a:prstGeom prst="rect">
            <a:avLst/>
          </a:prstGeom>
          <a:solidFill>
            <a:srgbClr val="15304F"/>
          </a:solidFill>
          <a:ln w="12700">
            <a:solidFill>
              <a:srgbClr val="333333"/>
            </a:solidFill>
            <a:prstDash val="solid"/>
          </a:ln>
        </p:spPr>
      </p:sp>
      <p:sp>
        <p:nvSpPr>
          <p:cNvPr id="10" name="Text 8"/>
          <p:cNvSpPr txBox="1"/>
          <p:nvPr/>
        </p:nvSpPr>
        <p:spPr>
          <a:xfrm>
            <a:off x="557784" y="1060704"/>
            <a:ext cx="274320" cy="493776"/>
          </a:xfrm>
          <a:prstGeom prst="rect">
            <a:avLst/>
          </a:prstGeom>
          <a:noFill/>
          <a:ln/>
        </p:spPr>
        <p:txBody>
          <a:bodyPr wrap="square" lIns="0" tIns="0" rIns="0" bIns="0" rtlCol="0" anchor="ctr"/>
          <a:lstStyle/>
          <a:p>
            <a:pPr indent="0" marL="0">
              <a:buNone/>
            </a:pPr>
            <a:r>
              <a:rPr lang="en-US" sz="1300" b="1" dirty="0">
                <a:solidFill>
                  <a:srgbClr val="15304F"/>
                </a:solidFill>
                <a:latin typeface="Cambria" pitchFamily="34" charset="0"/>
                <a:ea typeface="Cambria" pitchFamily="34" charset="-122"/>
                <a:cs typeface="Cambria" pitchFamily="34" charset="-120"/>
              </a:rPr>
              <a:t>A</a:t>
            </a:r>
            <a:endParaRPr lang="en-US" sz="1300" dirty="0"/>
          </a:p>
        </p:txBody>
      </p:sp>
      <p:sp>
        <p:nvSpPr>
          <p:cNvPr id="11" name="Text 9"/>
          <p:cNvSpPr txBox="1"/>
          <p:nvPr/>
        </p:nvSpPr>
        <p:spPr>
          <a:xfrm>
            <a:off x="886968" y="1124712"/>
            <a:ext cx="2286000" cy="201168"/>
          </a:xfrm>
          <a:prstGeom prst="rect">
            <a:avLst/>
          </a:prstGeom>
          <a:noFill/>
          <a:ln/>
        </p:spPr>
        <p:txBody>
          <a:bodyPr wrap="square" lIns="0" tIns="0" rIns="0" bIns="0" rtlCol="0" anchor="ctr"/>
          <a:lstStyle/>
          <a:p>
            <a:pPr indent="0" marL="0">
              <a:buNone/>
            </a:pPr>
            <a:r>
              <a:rPr lang="en-US" sz="900" b="1" dirty="0">
                <a:solidFill>
                  <a:srgbClr val="1B2432"/>
                </a:solidFill>
                <a:latin typeface="Calibri" pitchFamily="34" charset="0"/>
                <a:ea typeface="Calibri" pitchFamily="34" charset="-122"/>
                <a:cs typeface="Calibri" pitchFamily="34" charset="-120"/>
              </a:rPr>
              <a:t>Business context and outcome</a:t>
            </a:r>
            <a:endParaRPr lang="en-US" sz="900" dirty="0"/>
          </a:p>
        </p:txBody>
      </p:sp>
      <p:sp>
        <p:nvSpPr>
          <p:cNvPr id="12" name="Text 10"/>
          <p:cNvSpPr txBox="1"/>
          <p:nvPr/>
        </p:nvSpPr>
        <p:spPr>
          <a:xfrm>
            <a:off x="886968" y="1316736"/>
            <a:ext cx="3840480" cy="201168"/>
          </a:xfrm>
          <a:prstGeom prst="rect">
            <a:avLst/>
          </a:prstGeom>
          <a:noFill/>
          <a:ln/>
        </p:spPr>
        <p:txBody>
          <a:bodyPr wrap="square" lIns="0" tIns="0" rIns="0" bIns="0" rtlCol="0" anchor="ctr"/>
          <a:lstStyle/>
          <a:p>
            <a:pPr indent="0" marL="0">
              <a:buNone/>
            </a:pPr>
            <a:r>
              <a:rPr lang="en-US" sz="720" dirty="0">
                <a:solidFill>
                  <a:srgbClr val="55606E"/>
                </a:solidFill>
                <a:latin typeface="Calibri" pitchFamily="34" charset="0"/>
                <a:ea typeface="Calibri" pitchFamily="34" charset="-122"/>
                <a:cs typeface="Calibri" pitchFamily="34" charset="-120"/>
              </a:rPr>
              <a:t>LOB ranking · UAT scope · RM obligation</a:t>
            </a:r>
            <a:endParaRPr lang="en-US" sz="720" dirty="0"/>
          </a:p>
        </p:txBody>
      </p:sp>
      <p:sp>
        <p:nvSpPr>
          <p:cNvPr id="13" name="Shape 11"/>
          <p:cNvSpPr/>
          <p:nvPr/>
        </p:nvSpPr>
        <p:spPr>
          <a:xfrm>
            <a:off x="5349240" y="1179576"/>
            <a:ext cx="475488" cy="256032"/>
          </a:xfrm>
          <a:prstGeom prst="roundRect">
            <a:avLst>
              <a:gd name="adj" fmla="val 14286"/>
            </a:avLst>
          </a:prstGeom>
          <a:solidFill>
            <a:srgbClr val="F4F7FA"/>
          </a:solidFill>
          <a:ln w="12700">
            <a:solidFill>
              <a:srgbClr val="333333"/>
            </a:solidFill>
            <a:prstDash val="solid"/>
          </a:ln>
        </p:spPr>
      </p:sp>
      <p:sp>
        <p:nvSpPr>
          <p:cNvPr id="14" name="Text 12"/>
          <p:cNvSpPr txBox="1"/>
          <p:nvPr/>
        </p:nvSpPr>
        <p:spPr>
          <a:xfrm>
            <a:off x="5349240" y="1179576"/>
            <a:ext cx="475488" cy="256032"/>
          </a:xfrm>
          <a:prstGeom prst="rect">
            <a:avLst/>
          </a:prstGeom>
          <a:noFill/>
          <a:ln/>
        </p:spPr>
        <p:txBody>
          <a:bodyPr wrap="square" lIns="0" tIns="0" rIns="0" bIns="0" rtlCol="0" anchor="ctr"/>
          <a:lstStyle/>
          <a:p>
            <a:pPr algn="ctr" indent="0" marL="0">
              <a:buNone/>
            </a:pPr>
            <a:r>
              <a:rPr lang="en-US" sz="1000" b="1" dirty="0">
                <a:solidFill>
                  <a:srgbClr val="15304F"/>
                </a:solidFill>
                <a:latin typeface="Calibri" pitchFamily="34" charset="0"/>
                <a:ea typeface="Calibri" pitchFamily="34" charset="-122"/>
                <a:cs typeface="Calibri" pitchFamily="34" charset="-120"/>
              </a:rPr>
              <a:t>5</a:t>
            </a:r>
            <a:endParaRPr lang="en-US" sz="1000" dirty="0"/>
          </a:p>
        </p:txBody>
      </p:sp>
      <p:sp>
        <p:nvSpPr>
          <p:cNvPr id="15" name="Shape 13"/>
          <p:cNvSpPr/>
          <p:nvPr/>
        </p:nvSpPr>
        <p:spPr>
          <a:xfrm>
            <a:off x="6217920" y="1060704"/>
            <a:ext cx="5532120" cy="493776"/>
          </a:xfrm>
          <a:prstGeom prst="roundRect">
            <a:avLst>
              <a:gd name="adj" fmla="val 7407"/>
            </a:avLst>
          </a:prstGeom>
          <a:solidFill>
            <a:srgbClr val="FFFFFF"/>
          </a:solidFill>
          <a:ln w="11430">
            <a:solidFill>
              <a:srgbClr val="D4DAE2"/>
            </a:solidFill>
            <a:prstDash val="solid"/>
          </a:ln>
        </p:spPr>
      </p:sp>
      <p:sp>
        <p:nvSpPr>
          <p:cNvPr id="16" name="Shape 14"/>
          <p:cNvSpPr/>
          <p:nvPr/>
        </p:nvSpPr>
        <p:spPr>
          <a:xfrm>
            <a:off x="6217920" y="1060704"/>
            <a:ext cx="50292" cy="493776"/>
          </a:xfrm>
          <a:prstGeom prst="rect">
            <a:avLst/>
          </a:prstGeom>
          <a:solidFill>
            <a:srgbClr val="15304F"/>
          </a:solidFill>
          <a:ln w="12700">
            <a:solidFill>
              <a:srgbClr val="333333"/>
            </a:solidFill>
            <a:prstDash val="solid"/>
          </a:ln>
        </p:spPr>
      </p:sp>
      <p:sp>
        <p:nvSpPr>
          <p:cNvPr id="17" name="Text 15"/>
          <p:cNvSpPr txBox="1"/>
          <p:nvPr/>
        </p:nvSpPr>
        <p:spPr>
          <a:xfrm>
            <a:off x="6364224" y="1060704"/>
            <a:ext cx="274320" cy="493776"/>
          </a:xfrm>
          <a:prstGeom prst="rect">
            <a:avLst/>
          </a:prstGeom>
          <a:noFill/>
          <a:ln/>
        </p:spPr>
        <p:txBody>
          <a:bodyPr wrap="square" lIns="0" tIns="0" rIns="0" bIns="0" rtlCol="0" anchor="ctr"/>
          <a:lstStyle/>
          <a:p>
            <a:pPr indent="0" marL="0">
              <a:buNone/>
            </a:pPr>
            <a:r>
              <a:rPr lang="en-US" sz="1300" b="1" dirty="0">
                <a:solidFill>
                  <a:srgbClr val="15304F"/>
                </a:solidFill>
                <a:latin typeface="Cambria" pitchFamily="34" charset="0"/>
                <a:ea typeface="Cambria" pitchFamily="34" charset="-122"/>
                <a:cs typeface="Cambria" pitchFamily="34" charset="-120"/>
              </a:rPr>
              <a:t>B</a:t>
            </a:r>
            <a:endParaRPr lang="en-US" sz="1300" dirty="0"/>
          </a:p>
        </p:txBody>
      </p:sp>
      <p:sp>
        <p:nvSpPr>
          <p:cNvPr id="18" name="Text 16"/>
          <p:cNvSpPr txBox="1"/>
          <p:nvPr/>
        </p:nvSpPr>
        <p:spPr>
          <a:xfrm>
            <a:off x="6693408" y="1124712"/>
            <a:ext cx="2286000" cy="201168"/>
          </a:xfrm>
          <a:prstGeom prst="rect">
            <a:avLst/>
          </a:prstGeom>
          <a:noFill/>
          <a:ln/>
        </p:spPr>
        <p:txBody>
          <a:bodyPr wrap="square" lIns="0" tIns="0" rIns="0" bIns="0" rtlCol="0" anchor="ctr"/>
          <a:lstStyle/>
          <a:p>
            <a:pPr indent="0" marL="0">
              <a:buNone/>
            </a:pPr>
            <a:r>
              <a:rPr lang="en-US" sz="900" b="1" dirty="0">
                <a:solidFill>
                  <a:srgbClr val="1B2432"/>
                </a:solidFill>
                <a:latin typeface="Calibri" pitchFamily="34" charset="0"/>
                <a:ea typeface="Calibri" pitchFamily="34" charset="-122"/>
                <a:cs typeface="Calibri" pitchFamily="34" charset="-120"/>
              </a:rPr>
              <a:t>Application and zone identity</a:t>
            </a:r>
            <a:endParaRPr lang="en-US" sz="900" dirty="0"/>
          </a:p>
        </p:txBody>
      </p:sp>
      <p:sp>
        <p:nvSpPr>
          <p:cNvPr id="19" name="Text 17"/>
          <p:cNvSpPr txBox="1"/>
          <p:nvPr/>
        </p:nvSpPr>
        <p:spPr>
          <a:xfrm>
            <a:off x="6693408" y="1316736"/>
            <a:ext cx="3840480" cy="201168"/>
          </a:xfrm>
          <a:prstGeom prst="rect">
            <a:avLst/>
          </a:prstGeom>
          <a:noFill/>
          <a:ln/>
        </p:spPr>
        <p:txBody>
          <a:bodyPr wrap="square" lIns="0" tIns="0" rIns="0" bIns="0" rtlCol="0" anchor="ctr"/>
          <a:lstStyle/>
          <a:p>
            <a:pPr indent="0" marL="0">
              <a:buNone/>
            </a:pPr>
            <a:r>
              <a:rPr lang="en-US" sz="720" dirty="0">
                <a:solidFill>
                  <a:srgbClr val="55606E"/>
                </a:solidFill>
                <a:latin typeface="Calibri" pitchFamily="34" charset="0"/>
                <a:ea typeface="Calibri" pitchFamily="34" charset="-122"/>
                <a:cs typeface="Calibri" pitchFamily="34" charset="-120"/>
              </a:rPr>
              <a:t>Connectivity · certificates · access · subscriptions</a:t>
            </a:r>
            <a:endParaRPr lang="en-US" sz="720" dirty="0"/>
          </a:p>
        </p:txBody>
      </p:sp>
      <p:sp>
        <p:nvSpPr>
          <p:cNvPr id="20" name="Shape 18"/>
          <p:cNvSpPr/>
          <p:nvPr/>
        </p:nvSpPr>
        <p:spPr>
          <a:xfrm>
            <a:off x="11155680" y="1179576"/>
            <a:ext cx="475488" cy="256032"/>
          </a:xfrm>
          <a:prstGeom prst="roundRect">
            <a:avLst>
              <a:gd name="adj" fmla="val 14286"/>
            </a:avLst>
          </a:prstGeom>
          <a:solidFill>
            <a:srgbClr val="F4F7FA"/>
          </a:solidFill>
          <a:ln w="12700">
            <a:solidFill>
              <a:srgbClr val="333333"/>
            </a:solidFill>
            <a:prstDash val="solid"/>
          </a:ln>
        </p:spPr>
      </p:sp>
      <p:sp>
        <p:nvSpPr>
          <p:cNvPr id="21" name="Text 19"/>
          <p:cNvSpPr txBox="1"/>
          <p:nvPr/>
        </p:nvSpPr>
        <p:spPr>
          <a:xfrm>
            <a:off x="11155680" y="1179576"/>
            <a:ext cx="475488" cy="256032"/>
          </a:xfrm>
          <a:prstGeom prst="rect">
            <a:avLst/>
          </a:prstGeom>
          <a:noFill/>
          <a:ln/>
        </p:spPr>
        <p:txBody>
          <a:bodyPr wrap="square" lIns="0" tIns="0" rIns="0" bIns="0" rtlCol="0" anchor="ctr"/>
          <a:lstStyle/>
          <a:p>
            <a:pPr algn="ctr" indent="0" marL="0">
              <a:buNone/>
            </a:pPr>
            <a:r>
              <a:rPr lang="en-US" sz="1000" b="1" dirty="0">
                <a:solidFill>
                  <a:srgbClr val="15304F"/>
                </a:solidFill>
                <a:latin typeface="Calibri" pitchFamily="34" charset="0"/>
                <a:ea typeface="Calibri" pitchFamily="34" charset="-122"/>
                <a:cs typeface="Calibri" pitchFamily="34" charset="-120"/>
              </a:rPr>
              <a:t>6</a:t>
            </a:r>
            <a:endParaRPr lang="en-US" sz="1000" dirty="0"/>
          </a:p>
        </p:txBody>
      </p:sp>
      <p:sp>
        <p:nvSpPr>
          <p:cNvPr id="22" name="Shape 20"/>
          <p:cNvSpPr/>
          <p:nvPr/>
        </p:nvSpPr>
        <p:spPr>
          <a:xfrm>
            <a:off x="411480" y="1627632"/>
            <a:ext cx="5532120" cy="493776"/>
          </a:xfrm>
          <a:prstGeom prst="roundRect">
            <a:avLst>
              <a:gd name="adj" fmla="val 7407"/>
            </a:avLst>
          </a:prstGeom>
          <a:solidFill>
            <a:srgbClr val="FFFFFF"/>
          </a:solidFill>
          <a:ln w="11430">
            <a:solidFill>
              <a:srgbClr val="D4DAE2"/>
            </a:solidFill>
            <a:prstDash val="solid"/>
          </a:ln>
        </p:spPr>
      </p:sp>
      <p:sp>
        <p:nvSpPr>
          <p:cNvPr id="23" name="Shape 21"/>
          <p:cNvSpPr/>
          <p:nvPr/>
        </p:nvSpPr>
        <p:spPr>
          <a:xfrm>
            <a:off x="411480" y="1627632"/>
            <a:ext cx="50292" cy="493776"/>
          </a:xfrm>
          <a:prstGeom prst="rect">
            <a:avLst/>
          </a:prstGeom>
          <a:solidFill>
            <a:srgbClr val="A44A2A"/>
          </a:solidFill>
          <a:ln w="12700">
            <a:solidFill>
              <a:srgbClr val="333333"/>
            </a:solidFill>
            <a:prstDash val="solid"/>
          </a:ln>
        </p:spPr>
      </p:sp>
      <p:sp>
        <p:nvSpPr>
          <p:cNvPr id="24" name="Text 22"/>
          <p:cNvSpPr txBox="1"/>
          <p:nvPr/>
        </p:nvSpPr>
        <p:spPr>
          <a:xfrm>
            <a:off x="557784" y="1627632"/>
            <a:ext cx="274320" cy="493776"/>
          </a:xfrm>
          <a:prstGeom prst="rect">
            <a:avLst/>
          </a:prstGeom>
          <a:noFill/>
          <a:ln/>
        </p:spPr>
        <p:txBody>
          <a:bodyPr wrap="square" lIns="0" tIns="0" rIns="0" bIns="0" rtlCol="0" anchor="ctr"/>
          <a:lstStyle/>
          <a:p>
            <a:pPr indent="0" marL="0">
              <a:buNone/>
            </a:pPr>
            <a:r>
              <a:rPr lang="en-US" sz="1300" b="1" dirty="0">
                <a:solidFill>
                  <a:srgbClr val="A44A2A"/>
                </a:solidFill>
                <a:latin typeface="Cambria" pitchFamily="34" charset="0"/>
                <a:ea typeface="Cambria" pitchFamily="34" charset="-122"/>
                <a:cs typeface="Cambria" pitchFamily="34" charset="-120"/>
              </a:rPr>
              <a:t>C</a:t>
            </a:r>
            <a:endParaRPr lang="en-US" sz="1300" dirty="0"/>
          </a:p>
        </p:txBody>
      </p:sp>
      <p:sp>
        <p:nvSpPr>
          <p:cNvPr id="25" name="Text 23"/>
          <p:cNvSpPr txBox="1"/>
          <p:nvPr/>
        </p:nvSpPr>
        <p:spPr>
          <a:xfrm>
            <a:off x="886968" y="1691640"/>
            <a:ext cx="2286000" cy="201168"/>
          </a:xfrm>
          <a:prstGeom prst="rect">
            <a:avLst/>
          </a:prstGeom>
          <a:noFill/>
          <a:ln/>
        </p:spPr>
        <p:txBody>
          <a:bodyPr wrap="square" lIns="0" tIns="0" rIns="0" bIns="0" rtlCol="0" anchor="ctr"/>
          <a:lstStyle/>
          <a:p>
            <a:pPr indent="0" marL="0">
              <a:buNone/>
            </a:pPr>
            <a:r>
              <a:rPr lang="en-US" sz="900" b="1" dirty="0">
                <a:solidFill>
                  <a:srgbClr val="1B2432"/>
                </a:solidFill>
                <a:latin typeface="Calibri" pitchFamily="34" charset="0"/>
                <a:ea typeface="Calibri" pitchFamily="34" charset="-122"/>
                <a:cs typeface="Calibri" pitchFamily="34" charset="-120"/>
              </a:rPr>
              <a:t>Document inventory</a:t>
            </a:r>
            <a:endParaRPr lang="en-US" sz="900" dirty="0"/>
          </a:p>
        </p:txBody>
      </p:sp>
      <p:sp>
        <p:nvSpPr>
          <p:cNvPr id="26" name="Text 24"/>
          <p:cNvSpPr txBox="1"/>
          <p:nvPr/>
        </p:nvSpPr>
        <p:spPr>
          <a:xfrm>
            <a:off x="886968" y="1883664"/>
            <a:ext cx="3840480" cy="201168"/>
          </a:xfrm>
          <a:prstGeom prst="rect">
            <a:avLst/>
          </a:prstGeom>
          <a:noFill/>
          <a:ln/>
        </p:spPr>
        <p:txBody>
          <a:bodyPr wrap="square" lIns="0" tIns="0" rIns="0" bIns="0" rtlCol="0" anchor="ctr"/>
          <a:lstStyle/>
          <a:p>
            <a:pPr indent="0" marL="0">
              <a:buNone/>
            </a:pPr>
            <a:r>
              <a:rPr lang="en-US" sz="720" dirty="0">
                <a:solidFill>
                  <a:srgbClr val="55606E"/>
                </a:solidFill>
                <a:latin typeface="Calibri" pitchFamily="34" charset="0"/>
                <a:ea typeface="Calibri" pitchFamily="34" charset="-122"/>
                <a:cs typeface="Calibri" pitchFamily="34" charset="-120"/>
              </a:rPr>
              <a:t>Governance determination · profile design · capacity</a:t>
            </a:r>
            <a:endParaRPr lang="en-US" sz="720" dirty="0"/>
          </a:p>
        </p:txBody>
      </p:sp>
      <p:sp>
        <p:nvSpPr>
          <p:cNvPr id="27" name="Shape 25"/>
          <p:cNvSpPr/>
          <p:nvPr/>
        </p:nvSpPr>
        <p:spPr>
          <a:xfrm>
            <a:off x="5349240" y="1746504"/>
            <a:ext cx="475488" cy="256032"/>
          </a:xfrm>
          <a:prstGeom prst="roundRect">
            <a:avLst>
              <a:gd name="adj" fmla="val 14286"/>
            </a:avLst>
          </a:prstGeom>
          <a:solidFill>
            <a:srgbClr val="F4F7FA"/>
          </a:solidFill>
          <a:ln w="12700">
            <a:solidFill>
              <a:srgbClr val="333333"/>
            </a:solidFill>
            <a:prstDash val="solid"/>
          </a:ln>
        </p:spPr>
      </p:sp>
      <p:sp>
        <p:nvSpPr>
          <p:cNvPr id="28" name="Text 26"/>
          <p:cNvSpPr txBox="1"/>
          <p:nvPr/>
        </p:nvSpPr>
        <p:spPr>
          <a:xfrm>
            <a:off x="5349240" y="1746504"/>
            <a:ext cx="475488" cy="256032"/>
          </a:xfrm>
          <a:prstGeom prst="rect">
            <a:avLst/>
          </a:prstGeom>
          <a:noFill/>
          <a:ln/>
        </p:spPr>
        <p:txBody>
          <a:bodyPr wrap="square" lIns="0" tIns="0" rIns="0" bIns="0" rtlCol="0" anchor="ctr"/>
          <a:lstStyle/>
          <a:p>
            <a:pPr algn="ctr" indent="0" marL="0">
              <a:buNone/>
            </a:pPr>
            <a:r>
              <a:rPr lang="en-US" sz="1000" b="1" dirty="0">
                <a:solidFill>
                  <a:srgbClr val="A44A2A"/>
                </a:solidFill>
                <a:latin typeface="Calibri" pitchFamily="34" charset="0"/>
                <a:ea typeface="Calibri" pitchFamily="34" charset="-122"/>
                <a:cs typeface="Calibri" pitchFamily="34" charset="-120"/>
              </a:rPr>
              <a:t>8</a:t>
            </a:r>
            <a:endParaRPr lang="en-US" sz="1000" dirty="0"/>
          </a:p>
        </p:txBody>
      </p:sp>
      <p:sp>
        <p:nvSpPr>
          <p:cNvPr id="29" name="Shape 27"/>
          <p:cNvSpPr/>
          <p:nvPr/>
        </p:nvSpPr>
        <p:spPr>
          <a:xfrm>
            <a:off x="6217920" y="1627632"/>
            <a:ext cx="5532120" cy="493776"/>
          </a:xfrm>
          <a:prstGeom prst="roundRect">
            <a:avLst>
              <a:gd name="adj" fmla="val 7407"/>
            </a:avLst>
          </a:prstGeom>
          <a:solidFill>
            <a:srgbClr val="FFFFFF"/>
          </a:solidFill>
          <a:ln w="11430">
            <a:solidFill>
              <a:srgbClr val="D4DAE2"/>
            </a:solidFill>
            <a:prstDash val="solid"/>
          </a:ln>
        </p:spPr>
      </p:sp>
      <p:sp>
        <p:nvSpPr>
          <p:cNvPr id="30" name="Shape 28"/>
          <p:cNvSpPr/>
          <p:nvPr/>
        </p:nvSpPr>
        <p:spPr>
          <a:xfrm>
            <a:off x="6217920" y="1627632"/>
            <a:ext cx="50292" cy="493776"/>
          </a:xfrm>
          <a:prstGeom prst="rect">
            <a:avLst/>
          </a:prstGeom>
          <a:solidFill>
            <a:srgbClr val="A44A2A"/>
          </a:solidFill>
          <a:ln w="12700">
            <a:solidFill>
              <a:srgbClr val="333333"/>
            </a:solidFill>
            <a:prstDash val="solid"/>
          </a:ln>
        </p:spPr>
      </p:sp>
      <p:sp>
        <p:nvSpPr>
          <p:cNvPr id="31" name="Text 29"/>
          <p:cNvSpPr txBox="1"/>
          <p:nvPr/>
        </p:nvSpPr>
        <p:spPr>
          <a:xfrm>
            <a:off x="6364224" y="1627632"/>
            <a:ext cx="274320" cy="493776"/>
          </a:xfrm>
          <a:prstGeom prst="rect">
            <a:avLst/>
          </a:prstGeom>
          <a:noFill/>
          <a:ln/>
        </p:spPr>
        <p:txBody>
          <a:bodyPr wrap="square" lIns="0" tIns="0" rIns="0" bIns="0" rtlCol="0" anchor="ctr"/>
          <a:lstStyle/>
          <a:p>
            <a:pPr indent="0" marL="0">
              <a:buNone/>
            </a:pPr>
            <a:r>
              <a:rPr lang="en-US" sz="1300" b="1" dirty="0">
                <a:solidFill>
                  <a:srgbClr val="A44A2A"/>
                </a:solidFill>
                <a:latin typeface="Cambria" pitchFamily="34" charset="0"/>
                <a:ea typeface="Cambria" pitchFamily="34" charset="-122"/>
                <a:cs typeface="Cambria" pitchFamily="34" charset="-120"/>
              </a:rPr>
              <a:t>D</a:t>
            </a:r>
            <a:endParaRPr lang="en-US" sz="1300" dirty="0"/>
          </a:p>
        </p:txBody>
      </p:sp>
      <p:sp>
        <p:nvSpPr>
          <p:cNvPr id="32" name="Text 30"/>
          <p:cNvSpPr txBox="1"/>
          <p:nvPr/>
        </p:nvSpPr>
        <p:spPr>
          <a:xfrm>
            <a:off x="6693408" y="1691640"/>
            <a:ext cx="2286000" cy="201168"/>
          </a:xfrm>
          <a:prstGeom prst="rect">
            <a:avLst/>
          </a:prstGeom>
          <a:noFill/>
          <a:ln/>
        </p:spPr>
        <p:txBody>
          <a:bodyPr wrap="square" lIns="0" tIns="0" rIns="0" bIns="0" rtlCol="0" anchor="ctr"/>
          <a:lstStyle/>
          <a:p>
            <a:pPr indent="0" marL="0">
              <a:buNone/>
            </a:pPr>
            <a:r>
              <a:rPr lang="en-US" sz="900" b="1" dirty="0">
                <a:solidFill>
                  <a:srgbClr val="1B2432"/>
                </a:solidFill>
                <a:latin typeface="Calibri" pitchFamily="34" charset="0"/>
                <a:ea typeface="Calibri" pitchFamily="34" charset="-122"/>
                <a:cs typeface="Calibri" pitchFamily="34" charset="-120"/>
              </a:rPr>
              <a:t>Trust and classification inputs</a:t>
            </a:r>
            <a:endParaRPr lang="en-US" sz="900" dirty="0"/>
          </a:p>
        </p:txBody>
      </p:sp>
      <p:sp>
        <p:nvSpPr>
          <p:cNvPr id="33" name="Text 31"/>
          <p:cNvSpPr txBox="1"/>
          <p:nvPr/>
        </p:nvSpPr>
        <p:spPr>
          <a:xfrm>
            <a:off x="6693408" y="1883664"/>
            <a:ext cx="3840480" cy="201168"/>
          </a:xfrm>
          <a:prstGeom prst="rect">
            <a:avLst/>
          </a:prstGeom>
          <a:noFill/>
          <a:ln/>
        </p:spPr>
        <p:txBody>
          <a:bodyPr wrap="square" lIns="0" tIns="0" rIns="0" bIns="0" rtlCol="0" anchor="ctr"/>
          <a:lstStyle/>
          <a:p>
            <a:pPr indent="0" marL="0">
              <a:buNone/>
            </a:pPr>
            <a:r>
              <a:rPr lang="en-US" sz="720" dirty="0">
                <a:solidFill>
                  <a:srgbClr val="55606E"/>
                </a:solidFill>
                <a:latin typeface="Calibri" pitchFamily="34" charset="0"/>
                <a:ea typeface="Calibri" pitchFamily="34" charset="-122"/>
                <a:cs typeface="Calibri" pitchFamily="34" charset="-120"/>
              </a:rPr>
              <a:t>Governance submission · DKE assessment</a:t>
            </a:r>
            <a:endParaRPr lang="en-US" sz="720" dirty="0"/>
          </a:p>
        </p:txBody>
      </p:sp>
      <p:sp>
        <p:nvSpPr>
          <p:cNvPr id="34" name="Shape 32"/>
          <p:cNvSpPr/>
          <p:nvPr/>
        </p:nvSpPr>
        <p:spPr>
          <a:xfrm>
            <a:off x="11155680" y="1746504"/>
            <a:ext cx="475488" cy="256032"/>
          </a:xfrm>
          <a:prstGeom prst="roundRect">
            <a:avLst>
              <a:gd name="adj" fmla="val 14286"/>
            </a:avLst>
          </a:prstGeom>
          <a:solidFill>
            <a:srgbClr val="F4F7FA"/>
          </a:solidFill>
          <a:ln w="12700">
            <a:solidFill>
              <a:srgbClr val="333333"/>
            </a:solidFill>
            <a:prstDash val="solid"/>
          </a:ln>
        </p:spPr>
      </p:sp>
      <p:sp>
        <p:nvSpPr>
          <p:cNvPr id="35" name="Text 33"/>
          <p:cNvSpPr txBox="1"/>
          <p:nvPr/>
        </p:nvSpPr>
        <p:spPr>
          <a:xfrm>
            <a:off x="11155680" y="1746504"/>
            <a:ext cx="475488" cy="256032"/>
          </a:xfrm>
          <a:prstGeom prst="rect">
            <a:avLst/>
          </a:prstGeom>
          <a:noFill/>
          <a:ln/>
        </p:spPr>
        <p:txBody>
          <a:bodyPr wrap="square" lIns="0" tIns="0" rIns="0" bIns="0" rtlCol="0" anchor="ctr"/>
          <a:lstStyle/>
          <a:p>
            <a:pPr algn="ctr" indent="0" marL="0">
              <a:buNone/>
            </a:pPr>
            <a:r>
              <a:rPr lang="en-US" sz="1000" b="1" dirty="0">
                <a:solidFill>
                  <a:srgbClr val="A44A2A"/>
                </a:solidFill>
                <a:latin typeface="Calibri" pitchFamily="34" charset="0"/>
                <a:ea typeface="Calibri" pitchFamily="34" charset="-122"/>
                <a:cs typeface="Calibri" pitchFamily="34" charset="-120"/>
              </a:rPr>
              <a:t>5</a:t>
            </a:r>
            <a:endParaRPr lang="en-US" sz="1000" dirty="0"/>
          </a:p>
        </p:txBody>
      </p:sp>
      <p:sp>
        <p:nvSpPr>
          <p:cNvPr id="36" name="Shape 34"/>
          <p:cNvSpPr/>
          <p:nvPr/>
        </p:nvSpPr>
        <p:spPr>
          <a:xfrm>
            <a:off x="411480" y="2194560"/>
            <a:ext cx="5532120" cy="493776"/>
          </a:xfrm>
          <a:prstGeom prst="roundRect">
            <a:avLst>
              <a:gd name="adj" fmla="val 7407"/>
            </a:avLst>
          </a:prstGeom>
          <a:solidFill>
            <a:srgbClr val="FFFFFF"/>
          </a:solidFill>
          <a:ln w="11430">
            <a:solidFill>
              <a:srgbClr val="D4DAE2"/>
            </a:solidFill>
            <a:prstDash val="solid"/>
          </a:ln>
        </p:spPr>
      </p:sp>
      <p:sp>
        <p:nvSpPr>
          <p:cNvPr id="37" name="Shape 35"/>
          <p:cNvSpPr/>
          <p:nvPr/>
        </p:nvSpPr>
        <p:spPr>
          <a:xfrm>
            <a:off x="411480" y="2194560"/>
            <a:ext cx="50292" cy="493776"/>
          </a:xfrm>
          <a:prstGeom prst="rect">
            <a:avLst/>
          </a:prstGeom>
          <a:solidFill>
            <a:srgbClr val="9A6410"/>
          </a:solidFill>
          <a:ln w="12700">
            <a:solidFill>
              <a:srgbClr val="333333"/>
            </a:solidFill>
            <a:prstDash val="solid"/>
          </a:ln>
        </p:spPr>
      </p:sp>
      <p:sp>
        <p:nvSpPr>
          <p:cNvPr id="38" name="Text 36"/>
          <p:cNvSpPr txBox="1"/>
          <p:nvPr/>
        </p:nvSpPr>
        <p:spPr>
          <a:xfrm>
            <a:off x="557784" y="2194560"/>
            <a:ext cx="274320" cy="493776"/>
          </a:xfrm>
          <a:prstGeom prst="rect">
            <a:avLst/>
          </a:prstGeom>
          <a:noFill/>
          <a:ln/>
        </p:spPr>
        <p:txBody>
          <a:bodyPr wrap="square" lIns="0" tIns="0" rIns="0" bIns="0" rtlCol="0" anchor="ctr"/>
          <a:lstStyle/>
          <a:p>
            <a:pPr indent="0" marL="0">
              <a:buNone/>
            </a:pPr>
            <a:r>
              <a:rPr lang="en-US" sz="1300" b="1" dirty="0">
                <a:solidFill>
                  <a:srgbClr val="9A6410"/>
                </a:solidFill>
                <a:latin typeface="Cambria" pitchFamily="34" charset="0"/>
                <a:ea typeface="Cambria" pitchFamily="34" charset="-122"/>
                <a:cs typeface="Cambria" pitchFamily="34" charset="-120"/>
              </a:rPr>
              <a:t>E</a:t>
            </a:r>
            <a:endParaRPr lang="en-US" sz="1300" dirty="0"/>
          </a:p>
        </p:txBody>
      </p:sp>
      <p:sp>
        <p:nvSpPr>
          <p:cNvPr id="39" name="Text 37"/>
          <p:cNvSpPr txBox="1"/>
          <p:nvPr/>
        </p:nvSpPr>
        <p:spPr>
          <a:xfrm>
            <a:off x="886968" y="2258568"/>
            <a:ext cx="2286000" cy="201168"/>
          </a:xfrm>
          <a:prstGeom prst="rect">
            <a:avLst/>
          </a:prstGeom>
          <a:noFill/>
          <a:ln/>
        </p:spPr>
        <p:txBody>
          <a:bodyPr wrap="square" lIns="0" tIns="0" rIns="0" bIns="0" rtlCol="0" anchor="ctr"/>
          <a:lstStyle/>
          <a:p>
            <a:pPr indent="0" marL="0">
              <a:buNone/>
            </a:pPr>
            <a:r>
              <a:rPr lang="en-US" sz="900" b="1" dirty="0">
                <a:solidFill>
                  <a:srgbClr val="1B2432"/>
                </a:solidFill>
                <a:latin typeface="Calibri" pitchFamily="34" charset="0"/>
                <a:ea typeface="Calibri" pitchFamily="34" charset="-122"/>
                <a:cs typeface="Calibri" pitchFamily="34" charset="-120"/>
              </a:rPr>
              <a:t>Retention and regulatory</a:t>
            </a:r>
            <a:endParaRPr lang="en-US" sz="900" dirty="0"/>
          </a:p>
        </p:txBody>
      </p:sp>
      <p:sp>
        <p:nvSpPr>
          <p:cNvPr id="40" name="Text 38"/>
          <p:cNvSpPr txBox="1"/>
          <p:nvPr/>
        </p:nvSpPr>
        <p:spPr>
          <a:xfrm>
            <a:off x="886968" y="2450592"/>
            <a:ext cx="3840480" cy="201168"/>
          </a:xfrm>
          <a:prstGeom prst="rect">
            <a:avLst/>
          </a:prstGeom>
          <a:noFill/>
          <a:ln/>
        </p:spPr>
        <p:txBody>
          <a:bodyPr wrap="square" lIns="0" tIns="0" rIns="0" bIns="0" rtlCol="0" anchor="ctr"/>
          <a:lstStyle/>
          <a:p>
            <a:pPr indent="0" marL="0">
              <a:buNone/>
            </a:pPr>
            <a:r>
              <a:rPr lang="en-US" sz="720" dirty="0">
                <a:solidFill>
                  <a:srgbClr val="55606E"/>
                </a:solidFill>
                <a:latin typeface="Calibri" pitchFamily="34" charset="0"/>
                <a:ea typeface="Calibri" pitchFamily="34" charset="-122"/>
                <a:cs typeface="Calibri" pitchFamily="34" charset="-120"/>
              </a:rPr>
              <a:t>Repository selection · RM questionnaire · tiering</a:t>
            </a:r>
            <a:endParaRPr lang="en-US" sz="720" dirty="0"/>
          </a:p>
        </p:txBody>
      </p:sp>
      <p:sp>
        <p:nvSpPr>
          <p:cNvPr id="41" name="Shape 39"/>
          <p:cNvSpPr/>
          <p:nvPr/>
        </p:nvSpPr>
        <p:spPr>
          <a:xfrm>
            <a:off x="5349240" y="2313432"/>
            <a:ext cx="475488" cy="256032"/>
          </a:xfrm>
          <a:prstGeom prst="roundRect">
            <a:avLst>
              <a:gd name="adj" fmla="val 14286"/>
            </a:avLst>
          </a:prstGeom>
          <a:solidFill>
            <a:srgbClr val="F4F7FA"/>
          </a:solidFill>
          <a:ln w="12700">
            <a:solidFill>
              <a:srgbClr val="333333"/>
            </a:solidFill>
            <a:prstDash val="solid"/>
          </a:ln>
        </p:spPr>
      </p:sp>
      <p:sp>
        <p:nvSpPr>
          <p:cNvPr id="42" name="Text 40"/>
          <p:cNvSpPr txBox="1"/>
          <p:nvPr/>
        </p:nvSpPr>
        <p:spPr>
          <a:xfrm>
            <a:off x="5349240" y="2313432"/>
            <a:ext cx="475488" cy="256032"/>
          </a:xfrm>
          <a:prstGeom prst="rect">
            <a:avLst/>
          </a:prstGeom>
          <a:noFill/>
          <a:ln/>
        </p:spPr>
        <p:txBody>
          <a:bodyPr wrap="square" lIns="0" tIns="0" rIns="0" bIns="0" rtlCol="0" anchor="ctr"/>
          <a:lstStyle/>
          <a:p>
            <a:pPr algn="ctr" indent="0" marL="0">
              <a:buNone/>
            </a:pPr>
            <a:r>
              <a:rPr lang="en-US" sz="1000" b="1" dirty="0">
                <a:solidFill>
                  <a:srgbClr val="9A6410"/>
                </a:solidFill>
                <a:latin typeface="Calibri" pitchFamily="34" charset="0"/>
                <a:ea typeface="Calibri" pitchFamily="34" charset="-122"/>
                <a:cs typeface="Calibri" pitchFamily="34" charset="-120"/>
              </a:rPr>
              <a:t>6</a:t>
            </a:r>
            <a:endParaRPr lang="en-US" sz="1000" dirty="0"/>
          </a:p>
        </p:txBody>
      </p:sp>
      <p:sp>
        <p:nvSpPr>
          <p:cNvPr id="43" name="Shape 41"/>
          <p:cNvSpPr/>
          <p:nvPr/>
        </p:nvSpPr>
        <p:spPr>
          <a:xfrm>
            <a:off x="6217920" y="2194560"/>
            <a:ext cx="5532120" cy="493776"/>
          </a:xfrm>
          <a:prstGeom prst="roundRect">
            <a:avLst>
              <a:gd name="adj" fmla="val 7407"/>
            </a:avLst>
          </a:prstGeom>
          <a:solidFill>
            <a:srgbClr val="FFFFFF"/>
          </a:solidFill>
          <a:ln w="11430">
            <a:solidFill>
              <a:srgbClr val="D4DAE2"/>
            </a:solidFill>
            <a:prstDash val="solid"/>
          </a:ln>
        </p:spPr>
      </p:sp>
      <p:sp>
        <p:nvSpPr>
          <p:cNvPr id="44" name="Shape 42"/>
          <p:cNvSpPr/>
          <p:nvPr/>
        </p:nvSpPr>
        <p:spPr>
          <a:xfrm>
            <a:off x="6217920" y="2194560"/>
            <a:ext cx="50292" cy="493776"/>
          </a:xfrm>
          <a:prstGeom prst="rect">
            <a:avLst/>
          </a:prstGeom>
          <a:solidFill>
            <a:srgbClr val="0B6E6E"/>
          </a:solidFill>
          <a:ln w="12700">
            <a:solidFill>
              <a:srgbClr val="333333"/>
            </a:solidFill>
            <a:prstDash val="solid"/>
          </a:ln>
        </p:spPr>
      </p:sp>
      <p:sp>
        <p:nvSpPr>
          <p:cNvPr id="45" name="Text 43"/>
          <p:cNvSpPr txBox="1"/>
          <p:nvPr/>
        </p:nvSpPr>
        <p:spPr>
          <a:xfrm>
            <a:off x="6364224" y="2194560"/>
            <a:ext cx="274320" cy="493776"/>
          </a:xfrm>
          <a:prstGeom prst="rect">
            <a:avLst/>
          </a:prstGeom>
          <a:noFill/>
          <a:ln/>
        </p:spPr>
        <p:txBody>
          <a:bodyPr wrap="square" lIns="0" tIns="0" rIns="0" bIns="0" rtlCol="0" anchor="ctr"/>
          <a:lstStyle/>
          <a:p>
            <a:pPr indent="0" marL="0">
              <a:buNone/>
            </a:pPr>
            <a:r>
              <a:rPr lang="en-US" sz="1300" b="1" dirty="0">
                <a:solidFill>
                  <a:srgbClr val="0B6E6E"/>
                </a:solidFill>
                <a:latin typeface="Cambria" pitchFamily="34" charset="0"/>
                <a:ea typeface="Cambria" pitchFamily="34" charset="-122"/>
                <a:cs typeface="Cambria" pitchFamily="34" charset="-120"/>
              </a:rPr>
              <a:t>F</a:t>
            </a:r>
            <a:endParaRPr lang="en-US" sz="1300" dirty="0"/>
          </a:p>
        </p:txBody>
      </p:sp>
      <p:sp>
        <p:nvSpPr>
          <p:cNvPr id="46" name="Text 44"/>
          <p:cNvSpPr txBox="1"/>
          <p:nvPr/>
        </p:nvSpPr>
        <p:spPr>
          <a:xfrm>
            <a:off x="6693408" y="2258568"/>
            <a:ext cx="2286000" cy="201168"/>
          </a:xfrm>
          <a:prstGeom prst="rect">
            <a:avLst/>
          </a:prstGeom>
          <a:noFill/>
          <a:ln/>
        </p:spPr>
        <p:txBody>
          <a:bodyPr wrap="square" lIns="0" tIns="0" rIns="0" bIns="0" rtlCol="0" anchor="ctr"/>
          <a:lstStyle/>
          <a:p>
            <a:pPr indent="0" marL="0">
              <a:buNone/>
            </a:pPr>
            <a:r>
              <a:rPr lang="en-US" sz="900" b="1" dirty="0">
                <a:solidFill>
                  <a:srgbClr val="1B2432"/>
                </a:solidFill>
                <a:latin typeface="Calibri" pitchFamily="34" charset="0"/>
                <a:ea typeface="Calibri" pitchFamily="34" charset="-122"/>
                <a:cs typeface="Calibri" pitchFamily="34" charset="-120"/>
              </a:rPr>
              <a:t>Channel and integration</a:t>
            </a:r>
            <a:endParaRPr lang="en-US" sz="900" dirty="0"/>
          </a:p>
        </p:txBody>
      </p:sp>
      <p:sp>
        <p:nvSpPr>
          <p:cNvPr id="47" name="Text 45"/>
          <p:cNvSpPr txBox="1"/>
          <p:nvPr/>
        </p:nvSpPr>
        <p:spPr>
          <a:xfrm>
            <a:off x="6693408" y="2450592"/>
            <a:ext cx="3840480" cy="201168"/>
          </a:xfrm>
          <a:prstGeom prst="rect">
            <a:avLst/>
          </a:prstGeom>
          <a:noFill/>
          <a:ln/>
        </p:spPr>
        <p:txBody>
          <a:bodyPr wrap="square" lIns="0" tIns="0" rIns="0" bIns="0" rtlCol="0" anchor="ctr"/>
          <a:lstStyle/>
          <a:p>
            <a:pPr indent="0" marL="0">
              <a:buNone/>
            </a:pPr>
            <a:r>
              <a:rPr lang="en-US" sz="720" dirty="0">
                <a:solidFill>
                  <a:srgbClr val="55606E"/>
                </a:solidFill>
                <a:latin typeface="Calibri" pitchFamily="34" charset="0"/>
                <a:ea typeface="Calibri" pitchFamily="34" charset="-122"/>
                <a:cs typeface="Calibri" pitchFamily="34" charset="-120"/>
              </a:rPr>
              <a:t>Ingestion design · reconciliation · event enablement</a:t>
            </a:r>
            <a:endParaRPr lang="en-US" sz="720" dirty="0"/>
          </a:p>
        </p:txBody>
      </p:sp>
      <p:sp>
        <p:nvSpPr>
          <p:cNvPr id="48" name="Shape 46"/>
          <p:cNvSpPr/>
          <p:nvPr/>
        </p:nvSpPr>
        <p:spPr>
          <a:xfrm>
            <a:off x="11155680" y="2313432"/>
            <a:ext cx="475488" cy="256032"/>
          </a:xfrm>
          <a:prstGeom prst="roundRect">
            <a:avLst>
              <a:gd name="adj" fmla="val 14286"/>
            </a:avLst>
          </a:prstGeom>
          <a:solidFill>
            <a:srgbClr val="F4F7FA"/>
          </a:solidFill>
          <a:ln w="12700">
            <a:solidFill>
              <a:srgbClr val="333333"/>
            </a:solidFill>
            <a:prstDash val="solid"/>
          </a:ln>
        </p:spPr>
      </p:sp>
      <p:sp>
        <p:nvSpPr>
          <p:cNvPr id="49" name="Text 47"/>
          <p:cNvSpPr txBox="1"/>
          <p:nvPr/>
        </p:nvSpPr>
        <p:spPr>
          <a:xfrm>
            <a:off x="11155680" y="2313432"/>
            <a:ext cx="475488" cy="256032"/>
          </a:xfrm>
          <a:prstGeom prst="rect">
            <a:avLst/>
          </a:prstGeom>
          <a:noFill/>
          <a:ln/>
        </p:spPr>
        <p:txBody>
          <a:bodyPr wrap="square" lIns="0" tIns="0" rIns="0" bIns="0" rtlCol="0" anchor="ctr"/>
          <a:lstStyle/>
          <a:p>
            <a:pPr algn="ctr" indent="0" marL="0">
              <a:buNone/>
            </a:pPr>
            <a:r>
              <a:rPr lang="en-US" sz="1000" b="1" dirty="0">
                <a:solidFill>
                  <a:srgbClr val="0B6E6E"/>
                </a:solidFill>
                <a:latin typeface="Calibri" pitchFamily="34" charset="0"/>
                <a:ea typeface="Calibri" pitchFamily="34" charset="-122"/>
                <a:cs typeface="Calibri" pitchFamily="34" charset="-120"/>
              </a:rPr>
              <a:t>7</a:t>
            </a:r>
            <a:endParaRPr lang="en-US" sz="1000" dirty="0"/>
          </a:p>
        </p:txBody>
      </p:sp>
      <p:sp>
        <p:nvSpPr>
          <p:cNvPr id="50" name="Shape 48"/>
          <p:cNvSpPr/>
          <p:nvPr/>
        </p:nvSpPr>
        <p:spPr>
          <a:xfrm>
            <a:off x="411480" y="2761488"/>
            <a:ext cx="5532120" cy="493776"/>
          </a:xfrm>
          <a:prstGeom prst="roundRect">
            <a:avLst>
              <a:gd name="adj" fmla="val 7407"/>
            </a:avLst>
          </a:prstGeom>
          <a:solidFill>
            <a:srgbClr val="FFFFFF"/>
          </a:solidFill>
          <a:ln w="11430">
            <a:solidFill>
              <a:srgbClr val="D4DAE2"/>
            </a:solidFill>
            <a:prstDash val="solid"/>
          </a:ln>
        </p:spPr>
      </p:sp>
      <p:sp>
        <p:nvSpPr>
          <p:cNvPr id="51" name="Shape 49"/>
          <p:cNvSpPr/>
          <p:nvPr/>
        </p:nvSpPr>
        <p:spPr>
          <a:xfrm>
            <a:off x="411480" y="2761488"/>
            <a:ext cx="50292" cy="493776"/>
          </a:xfrm>
          <a:prstGeom prst="rect">
            <a:avLst/>
          </a:prstGeom>
          <a:solidFill>
            <a:srgbClr val="0B6E6E"/>
          </a:solidFill>
          <a:ln w="12700">
            <a:solidFill>
              <a:srgbClr val="333333"/>
            </a:solidFill>
            <a:prstDash val="solid"/>
          </a:ln>
        </p:spPr>
      </p:sp>
      <p:sp>
        <p:nvSpPr>
          <p:cNvPr id="52" name="Text 50"/>
          <p:cNvSpPr txBox="1"/>
          <p:nvPr/>
        </p:nvSpPr>
        <p:spPr>
          <a:xfrm>
            <a:off x="557784" y="2761488"/>
            <a:ext cx="274320" cy="493776"/>
          </a:xfrm>
          <a:prstGeom prst="rect">
            <a:avLst/>
          </a:prstGeom>
          <a:noFill/>
          <a:ln/>
        </p:spPr>
        <p:txBody>
          <a:bodyPr wrap="square" lIns="0" tIns="0" rIns="0" bIns="0" rtlCol="0" anchor="ctr"/>
          <a:lstStyle/>
          <a:p>
            <a:pPr indent="0" marL="0">
              <a:buNone/>
            </a:pPr>
            <a:r>
              <a:rPr lang="en-US" sz="1300" b="1" dirty="0">
                <a:solidFill>
                  <a:srgbClr val="0B6E6E"/>
                </a:solidFill>
                <a:latin typeface="Cambria" pitchFamily="34" charset="0"/>
                <a:ea typeface="Cambria" pitchFamily="34" charset="-122"/>
                <a:cs typeface="Cambria" pitchFamily="34" charset="-120"/>
              </a:rPr>
              <a:t>G</a:t>
            </a:r>
            <a:endParaRPr lang="en-US" sz="1300" dirty="0"/>
          </a:p>
        </p:txBody>
      </p:sp>
      <p:sp>
        <p:nvSpPr>
          <p:cNvPr id="53" name="Text 51"/>
          <p:cNvSpPr txBox="1"/>
          <p:nvPr/>
        </p:nvSpPr>
        <p:spPr>
          <a:xfrm>
            <a:off x="886968" y="2825496"/>
            <a:ext cx="2286000" cy="201168"/>
          </a:xfrm>
          <a:prstGeom prst="rect">
            <a:avLst/>
          </a:prstGeom>
          <a:noFill/>
          <a:ln/>
        </p:spPr>
        <p:txBody>
          <a:bodyPr wrap="square" lIns="0" tIns="0" rIns="0" bIns="0" rtlCol="0" anchor="ctr"/>
          <a:lstStyle/>
          <a:p>
            <a:pPr indent="0" marL="0">
              <a:buNone/>
            </a:pPr>
            <a:r>
              <a:rPr lang="en-US" sz="900" b="1" dirty="0">
                <a:solidFill>
                  <a:srgbClr val="1B2432"/>
                </a:solidFill>
                <a:latin typeface="Calibri" pitchFamily="34" charset="0"/>
                <a:ea typeface="Calibri" pitchFamily="34" charset="-122"/>
                <a:cs typeface="Calibri" pitchFamily="34" charset="-120"/>
              </a:rPr>
              <a:t>Metadata and retrieval</a:t>
            </a:r>
            <a:endParaRPr lang="en-US" sz="900" dirty="0"/>
          </a:p>
        </p:txBody>
      </p:sp>
      <p:sp>
        <p:nvSpPr>
          <p:cNvPr id="54" name="Text 52"/>
          <p:cNvSpPr txBox="1"/>
          <p:nvPr/>
        </p:nvSpPr>
        <p:spPr>
          <a:xfrm>
            <a:off x="886968" y="3017520"/>
            <a:ext cx="3840480" cy="201168"/>
          </a:xfrm>
          <a:prstGeom prst="rect">
            <a:avLst/>
          </a:prstGeom>
          <a:noFill/>
          <a:ln/>
        </p:spPr>
        <p:txBody>
          <a:bodyPr wrap="square" lIns="0" tIns="0" rIns="0" bIns="0" rtlCol="0" anchor="ctr"/>
          <a:lstStyle/>
          <a:p>
            <a:pPr indent="0" marL="0">
              <a:buNone/>
            </a:pPr>
            <a:r>
              <a:rPr lang="en-US" sz="720" dirty="0">
                <a:solidFill>
                  <a:srgbClr val="55606E"/>
                </a:solidFill>
                <a:latin typeface="Calibri" pitchFamily="34" charset="0"/>
                <a:ea typeface="Calibri" pitchFamily="34" charset="-122"/>
                <a:cs typeface="Calibri" pitchFamily="34" charset="-120"/>
              </a:rPr>
              <a:t>Profile configuration · search enablement</a:t>
            </a:r>
            <a:endParaRPr lang="en-US" sz="720" dirty="0"/>
          </a:p>
        </p:txBody>
      </p:sp>
      <p:sp>
        <p:nvSpPr>
          <p:cNvPr id="55" name="Shape 53"/>
          <p:cNvSpPr/>
          <p:nvPr/>
        </p:nvSpPr>
        <p:spPr>
          <a:xfrm>
            <a:off x="5349240" y="2880360"/>
            <a:ext cx="475488" cy="256032"/>
          </a:xfrm>
          <a:prstGeom prst="roundRect">
            <a:avLst>
              <a:gd name="adj" fmla="val 14286"/>
            </a:avLst>
          </a:prstGeom>
          <a:solidFill>
            <a:srgbClr val="F4F7FA"/>
          </a:solidFill>
          <a:ln w="12700">
            <a:solidFill>
              <a:srgbClr val="333333"/>
            </a:solidFill>
            <a:prstDash val="solid"/>
          </a:ln>
        </p:spPr>
      </p:sp>
      <p:sp>
        <p:nvSpPr>
          <p:cNvPr id="56" name="Text 54"/>
          <p:cNvSpPr txBox="1"/>
          <p:nvPr/>
        </p:nvSpPr>
        <p:spPr>
          <a:xfrm>
            <a:off x="5349240" y="2880360"/>
            <a:ext cx="475488" cy="256032"/>
          </a:xfrm>
          <a:prstGeom prst="rect">
            <a:avLst/>
          </a:prstGeom>
          <a:noFill/>
          <a:ln/>
        </p:spPr>
        <p:txBody>
          <a:bodyPr wrap="square" lIns="0" tIns="0" rIns="0" bIns="0" rtlCol="0" anchor="ctr"/>
          <a:lstStyle/>
          <a:p>
            <a:pPr algn="ctr" indent="0" marL="0">
              <a:buNone/>
            </a:pPr>
            <a:r>
              <a:rPr lang="en-US" sz="1000" b="1" dirty="0">
                <a:solidFill>
                  <a:srgbClr val="0B6E6E"/>
                </a:solidFill>
                <a:latin typeface="Calibri" pitchFamily="34" charset="0"/>
                <a:ea typeface="Calibri" pitchFamily="34" charset="-122"/>
                <a:cs typeface="Calibri" pitchFamily="34" charset="-120"/>
              </a:rPr>
              <a:t>5</a:t>
            </a:r>
            <a:endParaRPr lang="en-US" sz="1000" dirty="0"/>
          </a:p>
        </p:txBody>
      </p:sp>
      <p:sp>
        <p:nvSpPr>
          <p:cNvPr id="57" name="Shape 55"/>
          <p:cNvSpPr/>
          <p:nvPr/>
        </p:nvSpPr>
        <p:spPr>
          <a:xfrm>
            <a:off x="6217920" y="2761488"/>
            <a:ext cx="5532120" cy="493776"/>
          </a:xfrm>
          <a:prstGeom prst="roundRect">
            <a:avLst>
              <a:gd name="adj" fmla="val 7407"/>
            </a:avLst>
          </a:prstGeom>
          <a:solidFill>
            <a:srgbClr val="FFFFFF"/>
          </a:solidFill>
          <a:ln w="11430">
            <a:solidFill>
              <a:srgbClr val="D4DAE2"/>
            </a:solidFill>
            <a:prstDash val="solid"/>
          </a:ln>
        </p:spPr>
      </p:sp>
      <p:sp>
        <p:nvSpPr>
          <p:cNvPr id="58" name="Shape 56"/>
          <p:cNvSpPr/>
          <p:nvPr/>
        </p:nvSpPr>
        <p:spPr>
          <a:xfrm>
            <a:off x="6217920" y="2761488"/>
            <a:ext cx="50292" cy="493776"/>
          </a:xfrm>
          <a:prstGeom prst="rect">
            <a:avLst/>
          </a:prstGeom>
          <a:solidFill>
            <a:srgbClr val="5B4A72"/>
          </a:solidFill>
          <a:ln w="12700">
            <a:solidFill>
              <a:srgbClr val="333333"/>
            </a:solidFill>
            <a:prstDash val="solid"/>
          </a:ln>
        </p:spPr>
      </p:sp>
      <p:sp>
        <p:nvSpPr>
          <p:cNvPr id="59" name="Text 57"/>
          <p:cNvSpPr txBox="1"/>
          <p:nvPr/>
        </p:nvSpPr>
        <p:spPr>
          <a:xfrm>
            <a:off x="6364224" y="2761488"/>
            <a:ext cx="274320" cy="493776"/>
          </a:xfrm>
          <a:prstGeom prst="rect">
            <a:avLst/>
          </a:prstGeom>
          <a:noFill/>
          <a:ln/>
        </p:spPr>
        <p:txBody>
          <a:bodyPr wrap="square" lIns="0" tIns="0" rIns="0" bIns="0" rtlCol="0" anchor="ctr"/>
          <a:lstStyle/>
          <a:p>
            <a:pPr indent="0" marL="0">
              <a:buNone/>
            </a:pPr>
            <a:r>
              <a:rPr lang="en-US" sz="1300" b="1" dirty="0">
                <a:solidFill>
                  <a:srgbClr val="5B4A72"/>
                </a:solidFill>
                <a:latin typeface="Cambria" pitchFamily="34" charset="0"/>
                <a:ea typeface="Cambria" pitchFamily="34" charset="-122"/>
                <a:cs typeface="Cambria" pitchFamily="34" charset="-120"/>
              </a:rPr>
              <a:t>H</a:t>
            </a:r>
            <a:endParaRPr lang="en-US" sz="1300" dirty="0"/>
          </a:p>
        </p:txBody>
      </p:sp>
      <p:sp>
        <p:nvSpPr>
          <p:cNvPr id="60" name="Text 58"/>
          <p:cNvSpPr txBox="1"/>
          <p:nvPr/>
        </p:nvSpPr>
        <p:spPr>
          <a:xfrm>
            <a:off x="6693408" y="2825496"/>
            <a:ext cx="2286000" cy="201168"/>
          </a:xfrm>
          <a:prstGeom prst="rect">
            <a:avLst/>
          </a:prstGeom>
          <a:noFill/>
          <a:ln/>
        </p:spPr>
        <p:txBody>
          <a:bodyPr wrap="square" lIns="0" tIns="0" rIns="0" bIns="0" rtlCol="0" anchor="ctr"/>
          <a:lstStyle/>
          <a:p>
            <a:pPr indent="0" marL="0">
              <a:buNone/>
            </a:pPr>
            <a:r>
              <a:rPr lang="en-US" sz="900" b="1" dirty="0">
                <a:solidFill>
                  <a:srgbClr val="1B2432"/>
                </a:solidFill>
                <a:latin typeface="Calibri" pitchFamily="34" charset="0"/>
                <a:ea typeface="Calibri" pitchFamily="34" charset="-122"/>
                <a:cs typeface="Calibri" pitchFamily="34" charset="-120"/>
              </a:rPr>
              <a:t>Security, access and users</a:t>
            </a:r>
            <a:endParaRPr lang="en-US" sz="900" dirty="0"/>
          </a:p>
        </p:txBody>
      </p:sp>
      <p:sp>
        <p:nvSpPr>
          <p:cNvPr id="61" name="Text 59"/>
          <p:cNvSpPr txBox="1"/>
          <p:nvPr/>
        </p:nvSpPr>
        <p:spPr>
          <a:xfrm>
            <a:off x="6693408" y="3017520"/>
            <a:ext cx="3840480" cy="201168"/>
          </a:xfrm>
          <a:prstGeom prst="rect">
            <a:avLst/>
          </a:prstGeom>
          <a:noFill/>
          <a:ln/>
        </p:spPr>
        <p:txBody>
          <a:bodyPr wrap="square" lIns="0" tIns="0" rIns="0" bIns="0" rtlCol="0" anchor="ctr"/>
          <a:lstStyle/>
          <a:p>
            <a:pPr indent="0" marL="0">
              <a:buNone/>
            </a:pPr>
            <a:r>
              <a:rPr lang="en-US" sz="720" dirty="0">
                <a:solidFill>
                  <a:srgbClr val="55606E"/>
                </a:solidFill>
                <a:latin typeface="Calibri" pitchFamily="34" charset="0"/>
                <a:ea typeface="Calibri" pitchFamily="34" charset="-122"/>
                <a:cs typeface="Calibri" pitchFamily="34" charset="-120"/>
              </a:rPr>
              <a:t>Access provisioning · routing · certificates</a:t>
            </a:r>
            <a:endParaRPr lang="en-US" sz="720" dirty="0"/>
          </a:p>
        </p:txBody>
      </p:sp>
      <p:sp>
        <p:nvSpPr>
          <p:cNvPr id="62" name="Shape 60"/>
          <p:cNvSpPr/>
          <p:nvPr/>
        </p:nvSpPr>
        <p:spPr>
          <a:xfrm>
            <a:off x="11155680" y="2880360"/>
            <a:ext cx="475488" cy="256032"/>
          </a:xfrm>
          <a:prstGeom prst="roundRect">
            <a:avLst>
              <a:gd name="adj" fmla="val 14286"/>
            </a:avLst>
          </a:prstGeom>
          <a:solidFill>
            <a:srgbClr val="F4F7FA"/>
          </a:solidFill>
          <a:ln w="12700">
            <a:solidFill>
              <a:srgbClr val="333333"/>
            </a:solidFill>
            <a:prstDash val="solid"/>
          </a:ln>
        </p:spPr>
      </p:sp>
      <p:sp>
        <p:nvSpPr>
          <p:cNvPr id="63" name="Text 61"/>
          <p:cNvSpPr txBox="1"/>
          <p:nvPr/>
        </p:nvSpPr>
        <p:spPr>
          <a:xfrm>
            <a:off x="11155680" y="2880360"/>
            <a:ext cx="475488" cy="256032"/>
          </a:xfrm>
          <a:prstGeom prst="rect">
            <a:avLst/>
          </a:prstGeom>
          <a:noFill/>
          <a:ln/>
        </p:spPr>
        <p:txBody>
          <a:bodyPr wrap="square" lIns="0" tIns="0" rIns="0" bIns="0" rtlCol="0" anchor="ctr"/>
          <a:lstStyle/>
          <a:p>
            <a:pPr algn="ctr" indent="0" marL="0">
              <a:buNone/>
            </a:pPr>
            <a:r>
              <a:rPr lang="en-US" sz="1000" b="1" dirty="0">
                <a:solidFill>
                  <a:srgbClr val="5B4A72"/>
                </a:solidFill>
                <a:latin typeface="Calibri" pitchFamily="34" charset="0"/>
                <a:ea typeface="Calibri" pitchFamily="34" charset="-122"/>
                <a:cs typeface="Calibri" pitchFamily="34" charset="-120"/>
              </a:rPr>
              <a:t>4</a:t>
            </a:r>
            <a:endParaRPr lang="en-US" sz="1000" dirty="0"/>
          </a:p>
        </p:txBody>
      </p:sp>
      <p:sp>
        <p:nvSpPr>
          <p:cNvPr id="64" name="Shape 62"/>
          <p:cNvSpPr/>
          <p:nvPr/>
        </p:nvSpPr>
        <p:spPr>
          <a:xfrm>
            <a:off x="411480" y="3328416"/>
            <a:ext cx="5532120" cy="493776"/>
          </a:xfrm>
          <a:prstGeom prst="roundRect">
            <a:avLst>
              <a:gd name="adj" fmla="val 7407"/>
            </a:avLst>
          </a:prstGeom>
          <a:solidFill>
            <a:srgbClr val="FFFFFF"/>
          </a:solidFill>
          <a:ln w="11430">
            <a:solidFill>
              <a:srgbClr val="D4DAE2"/>
            </a:solidFill>
            <a:prstDash val="solid"/>
          </a:ln>
        </p:spPr>
      </p:sp>
      <p:sp>
        <p:nvSpPr>
          <p:cNvPr id="65" name="Shape 63"/>
          <p:cNvSpPr/>
          <p:nvPr/>
        </p:nvSpPr>
        <p:spPr>
          <a:xfrm>
            <a:off x="411480" y="3328416"/>
            <a:ext cx="50292" cy="493776"/>
          </a:xfrm>
          <a:prstGeom prst="rect">
            <a:avLst/>
          </a:prstGeom>
          <a:solidFill>
            <a:srgbClr val="5B4A72"/>
          </a:solidFill>
          <a:ln w="12700">
            <a:solidFill>
              <a:srgbClr val="333333"/>
            </a:solidFill>
            <a:prstDash val="solid"/>
          </a:ln>
        </p:spPr>
      </p:sp>
      <p:sp>
        <p:nvSpPr>
          <p:cNvPr id="66" name="Text 64"/>
          <p:cNvSpPr txBox="1"/>
          <p:nvPr/>
        </p:nvSpPr>
        <p:spPr>
          <a:xfrm>
            <a:off x="557784" y="3328416"/>
            <a:ext cx="274320" cy="493776"/>
          </a:xfrm>
          <a:prstGeom prst="rect">
            <a:avLst/>
          </a:prstGeom>
          <a:noFill/>
          <a:ln/>
        </p:spPr>
        <p:txBody>
          <a:bodyPr wrap="square" lIns="0" tIns="0" rIns="0" bIns="0" rtlCol="0" anchor="ctr"/>
          <a:lstStyle/>
          <a:p>
            <a:pPr indent="0" marL="0">
              <a:buNone/>
            </a:pPr>
            <a:r>
              <a:rPr lang="en-US" sz="1300" b="1" dirty="0">
                <a:solidFill>
                  <a:srgbClr val="5B4A72"/>
                </a:solidFill>
                <a:latin typeface="Cambria" pitchFamily="34" charset="0"/>
                <a:ea typeface="Cambria" pitchFamily="34" charset="-122"/>
                <a:cs typeface="Cambria" pitchFamily="34" charset="-120"/>
              </a:rPr>
              <a:t>I</a:t>
            </a:r>
            <a:endParaRPr lang="en-US" sz="1300" dirty="0"/>
          </a:p>
        </p:txBody>
      </p:sp>
      <p:sp>
        <p:nvSpPr>
          <p:cNvPr id="67" name="Text 65"/>
          <p:cNvSpPr txBox="1"/>
          <p:nvPr/>
        </p:nvSpPr>
        <p:spPr>
          <a:xfrm>
            <a:off x="886968" y="3392424"/>
            <a:ext cx="2286000" cy="201168"/>
          </a:xfrm>
          <a:prstGeom prst="rect">
            <a:avLst/>
          </a:prstGeom>
          <a:noFill/>
          <a:ln/>
        </p:spPr>
        <p:txBody>
          <a:bodyPr wrap="square" lIns="0" tIns="0" rIns="0" bIns="0" rtlCol="0" anchor="ctr"/>
          <a:lstStyle/>
          <a:p>
            <a:pPr indent="0" marL="0">
              <a:buNone/>
            </a:pPr>
            <a:r>
              <a:rPr lang="en-US" sz="900" b="1" dirty="0">
                <a:solidFill>
                  <a:srgbClr val="1B2432"/>
                </a:solidFill>
                <a:latin typeface="Calibri" pitchFamily="34" charset="0"/>
                <a:ea typeface="Calibri" pitchFamily="34" charset="-122"/>
                <a:cs typeface="Calibri" pitchFamily="34" charset="-120"/>
              </a:rPr>
              <a:t>Environments, testing, cutover</a:t>
            </a:r>
            <a:endParaRPr lang="en-US" sz="900" dirty="0"/>
          </a:p>
        </p:txBody>
      </p:sp>
      <p:sp>
        <p:nvSpPr>
          <p:cNvPr id="68" name="Text 66"/>
          <p:cNvSpPr txBox="1"/>
          <p:nvPr/>
        </p:nvSpPr>
        <p:spPr>
          <a:xfrm>
            <a:off x="886968" y="3584448"/>
            <a:ext cx="3840480" cy="201168"/>
          </a:xfrm>
          <a:prstGeom prst="rect">
            <a:avLst/>
          </a:prstGeom>
          <a:noFill/>
          <a:ln/>
        </p:spPr>
        <p:txBody>
          <a:bodyPr wrap="square" lIns="0" tIns="0" rIns="0" bIns="0" rtlCol="0" anchor="ctr"/>
          <a:lstStyle/>
          <a:p>
            <a:pPr indent="0" marL="0">
              <a:buNone/>
            </a:pPr>
            <a:r>
              <a:rPr lang="en-US" sz="720" dirty="0">
                <a:solidFill>
                  <a:srgbClr val="55606E"/>
                </a:solidFill>
                <a:latin typeface="Calibri" pitchFamily="34" charset="0"/>
                <a:ea typeface="Calibri" pitchFamily="34" charset="-122"/>
                <a:cs typeface="Calibri" pitchFamily="34" charset="-120"/>
              </a:rPr>
              <a:t>Promotion planning · UAT · release scheduling</a:t>
            </a:r>
            <a:endParaRPr lang="en-US" sz="720" dirty="0"/>
          </a:p>
        </p:txBody>
      </p:sp>
      <p:sp>
        <p:nvSpPr>
          <p:cNvPr id="69" name="Shape 67"/>
          <p:cNvSpPr/>
          <p:nvPr/>
        </p:nvSpPr>
        <p:spPr>
          <a:xfrm>
            <a:off x="5349240" y="3447288"/>
            <a:ext cx="475488" cy="256032"/>
          </a:xfrm>
          <a:prstGeom prst="roundRect">
            <a:avLst>
              <a:gd name="adj" fmla="val 14286"/>
            </a:avLst>
          </a:prstGeom>
          <a:solidFill>
            <a:srgbClr val="F4F7FA"/>
          </a:solidFill>
          <a:ln w="12700">
            <a:solidFill>
              <a:srgbClr val="333333"/>
            </a:solidFill>
            <a:prstDash val="solid"/>
          </a:ln>
        </p:spPr>
      </p:sp>
      <p:sp>
        <p:nvSpPr>
          <p:cNvPr id="70" name="Text 68"/>
          <p:cNvSpPr txBox="1"/>
          <p:nvPr/>
        </p:nvSpPr>
        <p:spPr>
          <a:xfrm>
            <a:off x="5349240" y="3447288"/>
            <a:ext cx="475488" cy="256032"/>
          </a:xfrm>
          <a:prstGeom prst="rect">
            <a:avLst/>
          </a:prstGeom>
          <a:noFill/>
          <a:ln/>
        </p:spPr>
        <p:txBody>
          <a:bodyPr wrap="square" lIns="0" tIns="0" rIns="0" bIns="0" rtlCol="0" anchor="ctr"/>
          <a:lstStyle/>
          <a:p>
            <a:pPr algn="ctr" indent="0" marL="0">
              <a:buNone/>
            </a:pPr>
            <a:r>
              <a:rPr lang="en-US" sz="1000" b="1" dirty="0">
                <a:solidFill>
                  <a:srgbClr val="5B4A72"/>
                </a:solidFill>
                <a:latin typeface="Calibri" pitchFamily="34" charset="0"/>
                <a:ea typeface="Calibri" pitchFamily="34" charset="-122"/>
                <a:cs typeface="Calibri" pitchFamily="34" charset="-120"/>
              </a:rPr>
              <a:t>4</a:t>
            </a:r>
            <a:endParaRPr lang="en-US" sz="1000" dirty="0"/>
          </a:p>
        </p:txBody>
      </p:sp>
      <p:sp>
        <p:nvSpPr>
          <p:cNvPr id="71" name="Shape 69"/>
          <p:cNvSpPr/>
          <p:nvPr/>
        </p:nvSpPr>
        <p:spPr>
          <a:xfrm>
            <a:off x="6217920" y="3328416"/>
            <a:ext cx="5532120" cy="493776"/>
          </a:xfrm>
          <a:prstGeom prst="roundRect">
            <a:avLst>
              <a:gd name="adj" fmla="val 7407"/>
            </a:avLst>
          </a:prstGeom>
          <a:solidFill>
            <a:srgbClr val="FFFFFF"/>
          </a:solidFill>
          <a:ln w="11430">
            <a:solidFill>
              <a:srgbClr val="D4DAE2"/>
            </a:solidFill>
            <a:prstDash val="solid"/>
          </a:ln>
        </p:spPr>
      </p:sp>
      <p:sp>
        <p:nvSpPr>
          <p:cNvPr id="72" name="Shape 70"/>
          <p:cNvSpPr/>
          <p:nvPr/>
        </p:nvSpPr>
        <p:spPr>
          <a:xfrm>
            <a:off x="6217920" y="3328416"/>
            <a:ext cx="50292" cy="493776"/>
          </a:xfrm>
          <a:prstGeom prst="rect">
            <a:avLst/>
          </a:prstGeom>
          <a:solidFill>
            <a:srgbClr val="15304F"/>
          </a:solidFill>
          <a:ln w="12700">
            <a:solidFill>
              <a:srgbClr val="333333"/>
            </a:solidFill>
            <a:prstDash val="solid"/>
          </a:ln>
        </p:spPr>
      </p:sp>
      <p:sp>
        <p:nvSpPr>
          <p:cNvPr id="73" name="Text 71"/>
          <p:cNvSpPr txBox="1"/>
          <p:nvPr/>
        </p:nvSpPr>
        <p:spPr>
          <a:xfrm>
            <a:off x="6364224" y="3328416"/>
            <a:ext cx="274320" cy="493776"/>
          </a:xfrm>
          <a:prstGeom prst="rect">
            <a:avLst/>
          </a:prstGeom>
          <a:noFill/>
          <a:ln/>
        </p:spPr>
        <p:txBody>
          <a:bodyPr wrap="square" lIns="0" tIns="0" rIns="0" bIns="0" rtlCol="0" anchor="ctr"/>
          <a:lstStyle/>
          <a:p>
            <a:pPr indent="0" marL="0">
              <a:buNone/>
            </a:pPr>
            <a:r>
              <a:rPr lang="en-US" sz="1300" b="1" dirty="0">
                <a:solidFill>
                  <a:srgbClr val="15304F"/>
                </a:solidFill>
                <a:latin typeface="Cambria" pitchFamily="34" charset="0"/>
                <a:ea typeface="Cambria" pitchFamily="34" charset="-122"/>
                <a:cs typeface="Cambria" pitchFamily="34" charset="-120"/>
              </a:rPr>
              <a:t>J</a:t>
            </a:r>
            <a:endParaRPr lang="en-US" sz="1300" dirty="0"/>
          </a:p>
        </p:txBody>
      </p:sp>
      <p:sp>
        <p:nvSpPr>
          <p:cNvPr id="74" name="Text 72"/>
          <p:cNvSpPr txBox="1"/>
          <p:nvPr/>
        </p:nvSpPr>
        <p:spPr>
          <a:xfrm>
            <a:off x="6693408" y="3392424"/>
            <a:ext cx="2286000" cy="201168"/>
          </a:xfrm>
          <a:prstGeom prst="rect">
            <a:avLst/>
          </a:prstGeom>
          <a:noFill/>
          <a:ln/>
        </p:spPr>
        <p:txBody>
          <a:bodyPr wrap="square" lIns="0" tIns="0" rIns="0" bIns="0" rtlCol="0" anchor="ctr"/>
          <a:lstStyle/>
          <a:p>
            <a:pPr indent="0" marL="0">
              <a:buNone/>
            </a:pPr>
            <a:r>
              <a:rPr lang="en-US" sz="900" b="1" dirty="0">
                <a:solidFill>
                  <a:srgbClr val="1B2432"/>
                </a:solidFill>
                <a:latin typeface="Calibri" pitchFamily="34" charset="0"/>
                <a:ea typeface="Calibri" pitchFamily="34" charset="-122"/>
                <a:cs typeface="Calibri" pitchFamily="34" charset="-120"/>
              </a:rPr>
              <a:t>Support and ownership</a:t>
            </a:r>
            <a:endParaRPr lang="en-US" sz="900" dirty="0"/>
          </a:p>
        </p:txBody>
      </p:sp>
      <p:sp>
        <p:nvSpPr>
          <p:cNvPr id="75" name="Text 73"/>
          <p:cNvSpPr txBox="1"/>
          <p:nvPr/>
        </p:nvSpPr>
        <p:spPr>
          <a:xfrm>
            <a:off x="6693408" y="3584448"/>
            <a:ext cx="3840480" cy="201168"/>
          </a:xfrm>
          <a:prstGeom prst="rect">
            <a:avLst/>
          </a:prstGeom>
          <a:noFill/>
          <a:ln/>
        </p:spPr>
        <p:txBody>
          <a:bodyPr wrap="square" lIns="0" tIns="0" rIns="0" bIns="0" rtlCol="0" anchor="ctr"/>
          <a:lstStyle/>
          <a:p>
            <a:pPr indent="0" marL="0">
              <a:buNone/>
            </a:pPr>
            <a:r>
              <a:rPr lang="en-US" sz="720" dirty="0">
                <a:solidFill>
                  <a:srgbClr val="55606E"/>
                </a:solidFill>
                <a:latin typeface="Calibri" pitchFamily="34" charset="0"/>
                <a:ea typeface="Calibri" pitchFamily="34" charset="-122"/>
                <a:cs typeface="Calibri" pitchFamily="34" charset="-120"/>
              </a:rPr>
              <a:t>Handover · runbooks · BAU transition</a:t>
            </a:r>
            <a:endParaRPr lang="en-US" sz="720" dirty="0"/>
          </a:p>
        </p:txBody>
      </p:sp>
      <p:sp>
        <p:nvSpPr>
          <p:cNvPr id="76" name="Shape 74"/>
          <p:cNvSpPr/>
          <p:nvPr/>
        </p:nvSpPr>
        <p:spPr>
          <a:xfrm>
            <a:off x="11155680" y="3447288"/>
            <a:ext cx="475488" cy="256032"/>
          </a:xfrm>
          <a:prstGeom prst="roundRect">
            <a:avLst>
              <a:gd name="adj" fmla="val 14286"/>
            </a:avLst>
          </a:prstGeom>
          <a:solidFill>
            <a:srgbClr val="F4F7FA"/>
          </a:solidFill>
          <a:ln w="12700">
            <a:solidFill>
              <a:srgbClr val="333333"/>
            </a:solidFill>
            <a:prstDash val="solid"/>
          </a:ln>
        </p:spPr>
      </p:sp>
      <p:sp>
        <p:nvSpPr>
          <p:cNvPr id="77" name="Text 75"/>
          <p:cNvSpPr txBox="1"/>
          <p:nvPr/>
        </p:nvSpPr>
        <p:spPr>
          <a:xfrm>
            <a:off x="11155680" y="3447288"/>
            <a:ext cx="475488" cy="256032"/>
          </a:xfrm>
          <a:prstGeom prst="rect">
            <a:avLst/>
          </a:prstGeom>
          <a:noFill/>
          <a:ln/>
        </p:spPr>
        <p:txBody>
          <a:bodyPr wrap="square" lIns="0" tIns="0" rIns="0" bIns="0" rtlCol="0" anchor="ctr"/>
          <a:lstStyle/>
          <a:p>
            <a:pPr algn="ctr" indent="0" marL="0">
              <a:buNone/>
            </a:pPr>
            <a:r>
              <a:rPr lang="en-US" sz="1000" b="1" dirty="0">
                <a:solidFill>
                  <a:srgbClr val="15304F"/>
                </a:solidFill>
                <a:latin typeface="Calibri" pitchFamily="34" charset="0"/>
                <a:ea typeface="Calibri" pitchFamily="34" charset="-122"/>
                <a:cs typeface="Calibri" pitchFamily="34" charset="-120"/>
              </a:rPr>
              <a:t>4</a:t>
            </a:r>
            <a:endParaRPr lang="en-US" sz="1000" dirty="0"/>
          </a:p>
        </p:txBody>
      </p:sp>
      <p:sp>
        <p:nvSpPr>
          <p:cNvPr id="78" name="Text 76"/>
          <p:cNvSpPr txBox="1"/>
          <p:nvPr/>
        </p:nvSpPr>
        <p:spPr>
          <a:xfrm>
            <a:off x="411480" y="4023360"/>
            <a:ext cx="5486400" cy="182880"/>
          </a:xfrm>
          <a:prstGeom prst="rect">
            <a:avLst/>
          </a:prstGeom>
          <a:noFill/>
          <a:ln/>
        </p:spPr>
        <p:txBody>
          <a:bodyPr wrap="square" lIns="0" tIns="0" rIns="0" bIns="0" rtlCol="0" anchor="ctr"/>
          <a:lstStyle/>
          <a:p>
            <a:pPr indent="0" marL="0">
              <a:buNone/>
            </a:pPr>
            <a:r>
              <a:rPr lang="en-US" sz="760" b="1" spc="110" kern="0" dirty="0">
                <a:solidFill>
                  <a:srgbClr val="1B2432"/>
                </a:solidFill>
                <a:latin typeface="Calibri" pitchFamily="34" charset="0"/>
                <a:ea typeface="Calibri" pitchFamily="34" charset="-122"/>
                <a:cs typeface="Calibri" pitchFamily="34" charset="-120"/>
              </a:rPr>
              <a:t>WHAT EACH CATALOGUE ENTRY HOLDS</a:t>
            </a:r>
            <a:endParaRPr lang="en-US" sz="760" dirty="0"/>
          </a:p>
        </p:txBody>
      </p:sp>
      <p:sp>
        <p:nvSpPr>
          <p:cNvPr id="79" name="Shape 77"/>
          <p:cNvSpPr/>
          <p:nvPr/>
        </p:nvSpPr>
        <p:spPr>
          <a:xfrm>
            <a:off x="411480" y="4224528"/>
            <a:ext cx="2743200" cy="310896"/>
          </a:xfrm>
          <a:prstGeom prst="roundRect">
            <a:avLst>
              <a:gd name="adj" fmla="val 8824"/>
            </a:avLst>
          </a:prstGeom>
          <a:solidFill>
            <a:srgbClr val="F4F7FA"/>
          </a:solidFill>
          <a:ln w="12700">
            <a:solidFill>
              <a:srgbClr val="333333"/>
            </a:solidFill>
            <a:prstDash val="solid"/>
          </a:ln>
        </p:spPr>
      </p:sp>
      <p:sp>
        <p:nvSpPr>
          <p:cNvPr id="80" name="Text 78"/>
          <p:cNvSpPr txBox="1"/>
          <p:nvPr/>
        </p:nvSpPr>
        <p:spPr>
          <a:xfrm>
            <a:off x="521208" y="4224528"/>
            <a:ext cx="2523744" cy="310896"/>
          </a:xfrm>
          <a:prstGeom prst="rect">
            <a:avLst/>
          </a:prstGeom>
          <a:noFill/>
          <a:ln/>
        </p:spPr>
        <p:txBody>
          <a:bodyPr wrap="square" lIns="0" tIns="0" rIns="0" bIns="0" rtlCol="0" anchor="ctr"/>
          <a:lstStyle/>
          <a:p>
            <a:pPr indent="0" marL="0">
              <a:lnSpc>
                <a:spcPts val="880"/>
              </a:lnSpc>
              <a:buNone/>
            </a:pPr>
            <a:r>
              <a:rPr lang="en-US" sz="760" dirty="0">
                <a:solidFill>
                  <a:srgbClr val="1B2432"/>
                </a:solidFill>
                <a:latin typeface="Calibri" pitchFamily="34" charset="0"/>
                <a:ea typeface="Calibri" pitchFamily="34" charset="-122"/>
                <a:cs typeface="Calibri" pitchFamily="34" charset="-120"/>
              </a:rPr>
              <a:t>The question, in language a partner understands</a:t>
            </a:r>
            <a:endParaRPr lang="en-US" sz="760" dirty="0"/>
          </a:p>
        </p:txBody>
      </p:sp>
      <p:sp>
        <p:nvSpPr>
          <p:cNvPr id="81" name="Shape 79"/>
          <p:cNvSpPr/>
          <p:nvPr/>
        </p:nvSpPr>
        <p:spPr>
          <a:xfrm>
            <a:off x="3291840" y="4224528"/>
            <a:ext cx="2743200" cy="310896"/>
          </a:xfrm>
          <a:prstGeom prst="roundRect">
            <a:avLst>
              <a:gd name="adj" fmla="val 8824"/>
            </a:avLst>
          </a:prstGeom>
          <a:solidFill>
            <a:srgbClr val="F4F7FA"/>
          </a:solidFill>
          <a:ln w="12700">
            <a:solidFill>
              <a:srgbClr val="333333"/>
            </a:solidFill>
            <a:prstDash val="solid"/>
          </a:ln>
        </p:spPr>
      </p:sp>
      <p:sp>
        <p:nvSpPr>
          <p:cNvPr id="82" name="Text 80"/>
          <p:cNvSpPr txBox="1"/>
          <p:nvPr/>
        </p:nvSpPr>
        <p:spPr>
          <a:xfrm>
            <a:off x="3401568" y="4224528"/>
            <a:ext cx="2523744" cy="310896"/>
          </a:xfrm>
          <a:prstGeom prst="rect">
            <a:avLst/>
          </a:prstGeom>
          <a:noFill/>
          <a:ln/>
        </p:spPr>
        <p:txBody>
          <a:bodyPr wrap="square" lIns="0" tIns="0" rIns="0" bIns="0" rtlCol="0" anchor="ctr"/>
          <a:lstStyle/>
          <a:p>
            <a:pPr indent="0" marL="0">
              <a:lnSpc>
                <a:spcPts val="880"/>
              </a:lnSpc>
              <a:buNone/>
            </a:pPr>
            <a:r>
              <a:rPr lang="en-US" sz="760" dirty="0">
                <a:solidFill>
                  <a:srgbClr val="1B2432"/>
                </a:solidFill>
                <a:latin typeface="Calibri" pitchFamily="34" charset="0"/>
                <a:ea typeface="Calibri" pitchFamily="34" charset="-122"/>
                <a:cs typeface="Calibri" pitchFamily="34" charset="-120"/>
              </a:rPr>
              <a:t>Why it is required — the decision it feeds</a:t>
            </a:r>
            <a:endParaRPr lang="en-US" sz="760" dirty="0"/>
          </a:p>
        </p:txBody>
      </p:sp>
      <p:sp>
        <p:nvSpPr>
          <p:cNvPr id="83" name="Shape 81"/>
          <p:cNvSpPr/>
          <p:nvPr/>
        </p:nvSpPr>
        <p:spPr>
          <a:xfrm>
            <a:off x="6172200" y="4224528"/>
            <a:ext cx="2743200" cy="310896"/>
          </a:xfrm>
          <a:prstGeom prst="roundRect">
            <a:avLst>
              <a:gd name="adj" fmla="val 8824"/>
            </a:avLst>
          </a:prstGeom>
          <a:solidFill>
            <a:srgbClr val="F4F7FA"/>
          </a:solidFill>
          <a:ln w="12700">
            <a:solidFill>
              <a:srgbClr val="333333"/>
            </a:solidFill>
            <a:prstDash val="solid"/>
          </a:ln>
        </p:spPr>
      </p:sp>
      <p:sp>
        <p:nvSpPr>
          <p:cNvPr id="84" name="Text 82"/>
          <p:cNvSpPr txBox="1"/>
          <p:nvPr/>
        </p:nvSpPr>
        <p:spPr>
          <a:xfrm>
            <a:off x="6281928" y="4224528"/>
            <a:ext cx="2523744" cy="310896"/>
          </a:xfrm>
          <a:prstGeom prst="rect">
            <a:avLst/>
          </a:prstGeom>
          <a:noFill/>
          <a:ln/>
        </p:spPr>
        <p:txBody>
          <a:bodyPr wrap="square" lIns="0" tIns="0" rIns="0" bIns="0" rtlCol="0" anchor="ctr"/>
          <a:lstStyle/>
          <a:p>
            <a:pPr indent="0" marL="0">
              <a:lnSpc>
                <a:spcPts val="880"/>
              </a:lnSpc>
              <a:buNone/>
            </a:pPr>
            <a:r>
              <a:rPr lang="en-US" sz="760" dirty="0">
                <a:solidFill>
                  <a:srgbClr val="1B2432"/>
                </a:solidFill>
                <a:latin typeface="Calibri" pitchFamily="34" charset="0"/>
                <a:ea typeface="Calibri" pitchFamily="34" charset="-122"/>
                <a:cs typeface="Calibri" pitchFamily="34" charset="-120"/>
              </a:rPr>
              <a:t>What it blocks if absent, named as a specific gate</a:t>
            </a:r>
            <a:endParaRPr lang="en-US" sz="760" dirty="0"/>
          </a:p>
        </p:txBody>
      </p:sp>
      <p:sp>
        <p:nvSpPr>
          <p:cNvPr id="85" name="Shape 83"/>
          <p:cNvSpPr/>
          <p:nvPr/>
        </p:nvSpPr>
        <p:spPr>
          <a:xfrm>
            <a:off x="9052560" y="4224528"/>
            <a:ext cx="2743200" cy="310896"/>
          </a:xfrm>
          <a:prstGeom prst="roundRect">
            <a:avLst>
              <a:gd name="adj" fmla="val 8824"/>
            </a:avLst>
          </a:prstGeom>
          <a:solidFill>
            <a:srgbClr val="F4F7FA"/>
          </a:solidFill>
          <a:ln w="12700">
            <a:solidFill>
              <a:srgbClr val="333333"/>
            </a:solidFill>
            <a:prstDash val="solid"/>
          </a:ln>
        </p:spPr>
      </p:sp>
      <p:sp>
        <p:nvSpPr>
          <p:cNvPr id="86" name="Text 84"/>
          <p:cNvSpPr txBox="1"/>
          <p:nvPr/>
        </p:nvSpPr>
        <p:spPr>
          <a:xfrm>
            <a:off x="9162288" y="4224528"/>
            <a:ext cx="2523744" cy="310896"/>
          </a:xfrm>
          <a:prstGeom prst="rect">
            <a:avLst/>
          </a:prstGeom>
          <a:noFill/>
          <a:ln/>
        </p:spPr>
        <p:txBody>
          <a:bodyPr wrap="square" lIns="0" tIns="0" rIns="0" bIns="0" rtlCol="0" anchor="ctr"/>
          <a:lstStyle/>
          <a:p>
            <a:pPr indent="0" marL="0">
              <a:lnSpc>
                <a:spcPts val="880"/>
              </a:lnSpc>
              <a:buNone/>
            </a:pPr>
            <a:r>
              <a:rPr lang="en-US" sz="760" dirty="0">
                <a:solidFill>
                  <a:srgbClr val="1B2432"/>
                </a:solidFill>
                <a:latin typeface="Calibri" pitchFamily="34" charset="0"/>
                <a:ea typeface="Calibri" pitchFamily="34" charset="-122"/>
                <a:cs typeface="Calibri" pitchFamily="34" charset="-120"/>
              </a:rPr>
              <a:t>What a good answer looks like, with an example</a:t>
            </a:r>
            <a:endParaRPr lang="en-US" sz="760" dirty="0"/>
          </a:p>
        </p:txBody>
      </p:sp>
      <p:sp>
        <p:nvSpPr>
          <p:cNvPr id="87" name="Shape 85"/>
          <p:cNvSpPr/>
          <p:nvPr/>
        </p:nvSpPr>
        <p:spPr>
          <a:xfrm>
            <a:off x="411480" y="4590288"/>
            <a:ext cx="2743200" cy="310896"/>
          </a:xfrm>
          <a:prstGeom prst="roundRect">
            <a:avLst>
              <a:gd name="adj" fmla="val 8824"/>
            </a:avLst>
          </a:prstGeom>
          <a:solidFill>
            <a:srgbClr val="F4F7FA"/>
          </a:solidFill>
          <a:ln w="12700">
            <a:solidFill>
              <a:srgbClr val="333333"/>
            </a:solidFill>
            <a:prstDash val="solid"/>
          </a:ln>
        </p:spPr>
      </p:sp>
      <p:sp>
        <p:nvSpPr>
          <p:cNvPr id="88" name="Text 86"/>
          <p:cNvSpPr txBox="1"/>
          <p:nvPr/>
        </p:nvSpPr>
        <p:spPr>
          <a:xfrm>
            <a:off x="521208" y="4590288"/>
            <a:ext cx="2523744" cy="310896"/>
          </a:xfrm>
          <a:prstGeom prst="rect">
            <a:avLst/>
          </a:prstGeom>
          <a:noFill/>
          <a:ln/>
        </p:spPr>
        <p:txBody>
          <a:bodyPr wrap="square" lIns="0" tIns="0" rIns="0" bIns="0" rtlCol="0" anchor="ctr"/>
          <a:lstStyle/>
          <a:p>
            <a:pPr indent="0" marL="0">
              <a:lnSpc>
                <a:spcPts val="880"/>
              </a:lnSpc>
              <a:buNone/>
            </a:pPr>
            <a:r>
              <a:rPr lang="en-US" sz="760" dirty="0">
                <a:solidFill>
                  <a:srgbClr val="1B2432"/>
                </a:solidFill>
                <a:latin typeface="Calibri" pitchFamily="34" charset="0"/>
                <a:ea typeface="Calibri" pitchFamily="34" charset="-122"/>
                <a:cs typeface="Calibri" pitchFamily="34" charset="-120"/>
              </a:rPr>
              <a:t>Diagnostic sub-questions for a partner who does not know</a:t>
            </a:r>
            <a:endParaRPr lang="en-US" sz="760" dirty="0"/>
          </a:p>
        </p:txBody>
      </p:sp>
      <p:sp>
        <p:nvSpPr>
          <p:cNvPr id="89" name="Shape 87"/>
          <p:cNvSpPr/>
          <p:nvPr/>
        </p:nvSpPr>
        <p:spPr>
          <a:xfrm>
            <a:off x="3291840" y="4590288"/>
            <a:ext cx="2743200" cy="310896"/>
          </a:xfrm>
          <a:prstGeom prst="roundRect">
            <a:avLst>
              <a:gd name="adj" fmla="val 8824"/>
            </a:avLst>
          </a:prstGeom>
          <a:solidFill>
            <a:srgbClr val="F4F7FA"/>
          </a:solidFill>
          <a:ln w="12700">
            <a:solidFill>
              <a:srgbClr val="333333"/>
            </a:solidFill>
            <a:prstDash val="solid"/>
          </a:ln>
        </p:spPr>
      </p:sp>
      <p:sp>
        <p:nvSpPr>
          <p:cNvPr id="90" name="Text 88"/>
          <p:cNvSpPr txBox="1"/>
          <p:nvPr/>
        </p:nvSpPr>
        <p:spPr>
          <a:xfrm>
            <a:off x="3401568" y="4590288"/>
            <a:ext cx="2523744" cy="310896"/>
          </a:xfrm>
          <a:prstGeom prst="rect">
            <a:avLst/>
          </a:prstGeom>
          <a:noFill/>
          <a:ln/>
        </p:spPr>
        <p:txBody>
          <a:bodyPr wrap="square" lIns="0" tIns="0" rIns="0" bIns="0" rtlCol="0" anchor="ctr"/>
          <a:lstStyle/>
          <a:p>
            <a:pPr indent="0" marL="0">
              <a:lnSpc>
                <a:spcPts val="880"/>
              </a:lnSpc>
              <a:buNone/>
            </a:pPr>
            <a:r>
              <a:rPr lang="en-US" sz="760" dirty="0">
                <a:solidFill>
                  <a:srgbClr val="1B2432"/>
                </a:solidFill>
                <a:latin typeface="Calibri" pitchFamily="34" charset="0"/>
                <a:ea typeface="Calibri" pitchFamily="34" charset="-122"/>
                <a:cs typeface="Calibri" pitchFamily="34" charset="-120"/>
              </a:rPr>
              <a:t>Its completeness band</a:t>
            </a:r>
            <a:endParaRPr lang="en-US" sz="760" dirty="0"/>
          </a:p>
        </p:txBody>
      </p:sp>
      <p:sp>
        <p:nvSpPr>
          <p:cNvPr id="91" name="Shape 89"/>
          <p:cNvSpPr/>
          <p:nvPr/>
        </p:nvSpPr>
        <p:spPr>
          <a:xfrm>
            <a:off x="6172200" y="4590288"/>
            <a:ext cx="2743200" cy="310896"/>
          </a:xfrm>
          <a:prstGeom prst="roundRect">
            <a:avLst>
              <a:gd name="adj" fmla="val 8824"/>
            </a:avLst>
          </a:prstGeom>
          <a:solidFill>
            <a:srgbClr val="F4F7FA"/>
          </a:solidFill>
          <a:ln w="12700">
            <a:solidFill>
              <a:srgbClr val="333333"/>
            </a:solidFill>
            <a:prstDash val="solid"/>
          </a:ln>
        </p:spPr>
      </p:sp>
      <p:sp>
        <p:nvSpPr>
          <p:cNvPr id="92" name="Text 90"/>
          <p:cNvSpPr txBox="1"/>
          <p:nvPr/>
        </p:nvSpPr>
        <p:spPr>
          <a:xfrm>
            <a:off x="6281928" y="4590288"/>
            <a:ext cx="2523744" cy="310896"/>
          </a:xfrm>
          <a:prstGeom prst="rect">
            <a:avLst/>
          </a:prstGeom>
          <a:noFill/>
          <a:ln/>
        </p:spPr>
        <p:txBody>
          <a:bodyPr wrap="square" lIns="0" tIns="0" rIns="0" bIns="0" rtlCol="0" anchor="ctr"/>
          <a:lstStyle/>
          <a:p>
            <a:pPr indent="0" marL="0">
              <a:lnSpc>
                <a:spcPts val="880"/>
              </a:lnSpc>
              <a:buNone/>
            </a:pPr>
            <a:r>
              <a:rPr lang="en-US" sz="760" dirty="0">
                <a:solidFill>
                  <a:srgbClr val="1B2432"/>
                </a:solidFill>
                <a:latin typeface="Calibri" pitchFamily="34" charset="0"/>
                <a:ea typeface="Calibri" pitchFamily="34" charset="-122"/>
                <a:cs typeface="Calibri" pitchFamily="34" charset="-120"/>
              </a:rPr>
              <a:t>Which patterns make it applicable, so irrelevant questions are never asked</a:t>
            </a:r>
            <a:endParaRPr lang="en-US" sz="760" dirty="0"/>
          </a:p>
        </p:txBody>
      </p:sp>
      <p:sp>
        <p:nvSpPr>
          <p:cNvPr id="93" name="Shape 91"/>
          <p:cNvSpPr/>
          <p:nvPr/>
        </p:nvSpPr>
        <p:spPr>
          <a:xfrm>
            <a:off x="411480" y="5047488"/>
            <a:ext cx="11338560" cy="768096"/>
          </a:xfrm>
          <a:prstGeom prst="roundRect">
            <a:avLst>
              <a:gd name="adj" fmla="val 5952"/>
            </a:avLst>
          </a:prstGeom>
          <a:solidFill>
            <a:srgbClr val="E9EEF4"/>
          </a:solidFill>
          <a:ln w="12700">
            <a:solidFill>
              <a:srgbClr val="15304F"/>
            </a:solidFill>
            <a:prstDash val="solid"/>
          </a:ln>
        </p:spPr>
      </p:sp>
      <p:sp>
        <p:nvSpPr>
          <p:cNvPr id="94" name="Text 92"/>
          <p:cNvSpPr txBox="1"/>
          <p:nvPr/>
        </p:nvSpPr>
        <p:spPr>
          <a:xfrm>
            <a:off x="557784" y="5129784"/>
            <a:ext cx="11045952" cy="182880"/>
          </a:xfrm>
          <a:prstGeom prst="rect">
            <a:avLst/>
          </a:prstGeom>
          <a:noFill/>
          <a:ln/>
        </p:spPr>
        <p:txBody>
          <a:bodyPr wrap="square" lIns="0" tIns="0" rIns="0" bIns="0" rtlCol="0" anchor="ctr"/>
          <a:lstStyle/>
          <a:p>
            <a:pPr indent="0" marL="0">
              <a:buNone/>
            </a:pPr>
            <a:r>
              <a:rPr lang="en-US" sz="760" b="1" spc="100" kern="0" dirty="0">
                <a:solidFill>
                  <a:srgbClr val="15304F"/>
                </a:solidFill>
                <a:latin typeface="Calibri" pitchFamily="34" charset="0"/>
                <a:ea typeface="Calibri" pitchFamily="34" charset="-122"/>
                <a:cs typeface="Calibri" pitchFamily="34" charset="-120"/>
              </a:rPr>
              <a:t>THE WHY-REGISTER IS THE ASSET, NOT THE CHATBOT</a:t>
            </a:r>
            <a:endParaRPr lang="en-US" sz="760" dirty="0"/>
          </a:p>
        </p:txBody>
      </p:sp>
      <p:sp>
        <p:nvSpPr>
          <p:cNvPr id="95" name="Text 93"/>
          <p:cNvSpPr txBox="1"/>
          <p:nvPr/>
        </p:nvSpPr>
        <p:spPr>
          <a:xfrm>
            <a:off x="557784" y="5321808"/>
            <a:ext cx="11045952" cy="402336"/>
          </a:xfrm>
          <a:prstGeom prst="rect">
            <a:avLst/>
          </a:prstGeom>
          <a:noFill/>
          <a:ln/>
        </p:spPr>
        <p:txBody>
          <a:bodyPr wrap="square" lIns="0" tIns="0" rIns="0" bIns="0" rtlCol="0" anchor="t"/>
          <a:lstStyle/>
          <a:p>
            <a:pPr indent="0" marL="0">
              <a:lnSpc>
                <a:spcPts val="1100"/>
              </a:lnSpc>
              <a:buNone/>
            </a:pPr>
            <a:r>
              <a:rPr lang="en-US" sz="900" dirty="0">
                <a:solidFill>
                  <a:srgbClr val="1B2432"/>
                </a:solidFill>
                <a:latin typeface="Calibri" pitchFamily="34" charset="0"/>
                <a:ea typeface="Calibri" pitchFamily="34" charset="-122"/>
                <a:cs typeface="Calibri" pitchFamily="34" charset="-120"/>
              </a:rPr>
              <a:t>The conversational interface is the easy part. The valuable part is the register of reasons — the accumulated knowledge of why each item matters and what breaks without it. Roughly two weeks of two experienced engineers plus a governance analyst. Once written it serves the copilot, the partner documentation, squad induction and the pattern catalogue — it stops being one person's expertise and becomes the organisation's.</a:t>
            </a:r>
            <a:endParaRPr lang="en-US" sz="900" dirty="0"/>
          </a:p>
        </p:txBody>
      </p:sp>
      <p:sp>
        <p:nvSpPr>
          <p:cNvPr id="96" name="Shape 94"/>
          <p:cNvSpPr/>
          <p:nvPr/>
        </p:nvSpPr>
        <p:spPr>
          <a:xfrm>
            <a:off x="411480" y="5943600"/>
            <a:ext cx="11338560" cy="438912"/>
          </a:xfrm>
          <a:prstGeom prst="roundRect">
            <a:avLst>
              <a:gd name="adj" fmla="val 10417"/>
            </a:avLst>
          </a:prstGeom>
          <a:solidFill>
            <a:srgbClr val="F4F7FA"/>
          </a:solidFill>
          <a:ln w="9525">
            <a:solidFill>
              <a:srgbClr val="D4DAE2"/>
            </a:solidFill>
            <a:prstDash val="solid"/>
          </a:ln>
        </p:spPr>
      </p:sp>
      <p:sp>
        <p:nvSpPr>
          <p:cNvPr id="97" name="Text 95"/>
          <p:cNvSpPr txBox="1"/>
          <p:nvPr/>
        </p:nvSpPr>
        <p:spPr>
          <a:xfrm>
            <a:off x="557784" y="5943600"/>
            <a:ext cx="11045952" cy="438912"/>
          </a:xfrm>
          <a:prstGeom prst="rect">
            <a:avLst/>
          </a:prstGeom>
          <a:noFill/>
          <a:ln/>
        </p:spPr>
        <p:txBody>
          <a:bodyPr wrap="square" lIns="0" tIns="0" rIns="0" bIns="0" rtlCol="0" anchor="ctr"/>
          <a:lstStyle/>
          <a:p>
            <a:pPr indent="0" marL="0">
              <a:lnSpc>
                <a:spcPts val="1040"/>
              </a:lnSpc>
              <a:buNone/>
            </a:pPr>
            <a:r>
              <a:rPr lang="en-US" sz="860" dirty="0">
                <a:solidFill>
                  <a:srgbClr val="1B2432"/>
                </a:solidFill>
                <a:latin typeface="Calibri" pitchFamily="34" charset="0"/>
                <a:ea typeface="Calibri" pitchFamily="34" charset="-122"/>
                <a:cs typeface="Calibri" pitchFamily="34" charset="-120"/>
              </a:rPr>
              <a:t>Applicability matters as much as coverage. The current workbook asks everyone everything, which trains partners to skim — and skimmed answers are the raw material of clarification cycles. The copilot derives which of the 54 apply from what the partner describes, then asks only those.</a:t>
            </a:r>
            <a:endParaRPr lang="en-US" sz="8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274320"/>
            <a:ext cx="274320" cy="274320"/>
          </a:xfrm>
          <a:prstGeom prst="rect">
            <a:avLst/>
          </a:prstGeom>
          <a:solidFill>
            <a:srgbClr val="15304F"/>
          </a:solidFill>
          <a:ln w="12700">
            <a:solidFill>
              <a:srgbClr val="333333"/>
            </a:solidFill>
            <a:prstDash val="solid"/>
          </a:ln>
        </p:spPr>
      </p:sp>
      <p:sp>
        <p:nvSpPr>
          <p:cNvPr id="3" name="Text 1"/>
          <p:cNvSpPr txBox="1"/>
          <p:nvPr/>
        </p:nvSpPr>
        <p:spPr>
          <a:xfrm>
            <a:off x="411480" y="2743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 name="Text 2"/>
          <p:cNvSpPr txBox="1"/>
          <p:nvPr/>
        </p:nvSpPr>
        <p:spPr>
          <a:xfrm>
            <a:off x="795528" y="219456"/>
            <a:ext cx="8778240" cy="384048"/>
          </a:xfrm>
          <a:prstGeom prst="rect">
            <a:avLst/>
          </a:prstGeom>
          <a:noFill/>
          <a:ln/>
        </p:spPr>
        <p:txBody>
          <a:bodyPr wrap="square" lIns="0" tIns="0" rIns="0" bIns="0" rtlCol="0" anchor="ctr"/>
          <a:lstStyle/>
          <a:p>
            <a:pPr indent="0" marL="0">
              <a:buNone/>
            </a:pPr>
            <a:r>
              <a:rPr lang="en-US" sz="2400" b="1" dirty="0">
                <a:solidFill>
                  <a:srgbClr val="1B2432"/>
                </a:solidFill>
                <a:latin typeface="Cambria" pitchFamily="34" charset="0"/>
                <a:ea typeface="Cambria" pitchFamily="34" charset="-122"/>
                <a:cs typeface="Cambria" pitchFamily="34" charset="-120"/>
              </a:rPr>
              <a:t>How the Intake Copilot behaves</a:t>
            </a:r>
            <a:endParaRPr lang="en-US" sz="2400" dirty="0"/>
          </a:p>
        </p:txBody>
      </p:sp>
      <p:sp>
        <p:nvSpPr>
          <p:cNvPr id="5" name="Text 3"/>
          <p:cNvSpPr txBox="1"/>
          <p:nvPr/>
        </p:nvSpPr>
        <p:spPr>
          <a:xfrm>
            <a:off x="795528" y="621792"/>
            <a:ext cx="9326880" cy="237744"/>
          </a:xfrm>
          <a:prstGeom prst="rect">
            <a:avLst/>
          </a:prstGeom>
          <a:noFill/>
          <a:ln/>
        </p:spPr>
        <p:txBody>
          <a:bodyPr wrap="square" lIns="0" tIns="0" rIns="0" bIns="0" rtlCol="0" anchor="ctr"/>
          <a:lstStyle/>
          <a:p>
            <a:pPr indent="0" marL="0">
              <a:buNone/>
            </a:pPr>
            <a:r>
              <a:rPr lang="en-US" sz="1050" dirty="0">
                <a:solidFill>
                  <a:srgbClr val="55606E"/>
                </a:solidFill>
                <a:latin typeface="Calibri" pitchFamily="34" charset="0"/>
                <a:ea typeface="Calibri" pitchFamily="34" charset="-122"/>
                <a:cs typeface="Calibri" pitchFamily="34" charset="-120"/>
              </a:rPr>
              <a:t>Four behaviours, each addressing one failure mode of the current workbook</a:t>
            </a:r>
            <a:endParaRPr lang="en-US" sz="1050" dirty="0"/>
          </a:p>
        </p:txBody>
      </p:sp>
      <p:sp>
        <p:nvSpPr>
          <p:cNvPr id="6" name="Text 4"/>
          <p:cNvSpPr txBox="1"/>
          <p:nvPr/>
        </p:nvSpPr>
        <p:spPr>
          <a:xfrm>
            <a:off x="9052560" y="274320"/>
            <a:ext cx="2697480" cy="256032"/>
          </a:xfrm>
          <a:prstGeom prst="rect">
            <a:avLst/>
          </a:prstGeom>
          <a:noFill/>
          <a:ln/>
        </p:spPr>
        <p:txBody>
          <a:bodyPr wrap="square" lIns="0" tIns="0" rIns="0" bIns="0" rtlCol="0" anchor="ctr"/>
          <a:lstStyle/>
          <a:p>
            <a:pPr algn="r" indent="0" marL="0">
              <a:buNone/>
            </a:pPr>
            <a:r>
              <a:rPr lang="en-US" sz="950" b="1" spc="60" kern="0" dirty="0">
                <a:solidFill>
                  <a:srgbClr val="7C8798"/>
                </a:solidFill>
                <a:latin typeface="Calibri" pitchFamily="34" charset="0"/>
                <a:ea typeface="Calibri" pitchFamily="34" charset="-122"/>
                <a:cs typeface="Calibri" pitchFamily="34" charset="-120"/>
              </a:rPr>
              <a:t>Intake completeness</a:t>
            </a:r>
            <a:endParaRPr lang="en-US" sz="950" dirty="0"/>
          </a:p>
        </p:txBody>
      </p:sp>
      <p:sp>
        <p:nvSpPr>
          <p:cNvPr id="7" name="Shape 5"/>
          <p:cNvSpPr/>
          <p:nvPr/>
        </p:nvSpPr>
        <p:spPr>
          <a:xfrm>
            <a:off x="411480" y="932688"/>
            <a:ext cx="11338560" cy="0"/>
          </a:xfrm>
          <a:prstGeom prst="line">
            <a:avLst/>
          </a:prstGeom>
          <a:noFill/>
          <a:ln w="12700">
            <a:solidFill>
              <a:srgbClr val="D4DAE2"/>
            </a:solidFill>
            <a:prstDash val="solid"/>
          </a:ln>
        </p:spPr>
      </p:sp>
      <p:sp>
        <p:nvSpPr>
          <p:cNvPr id="8" name="Shape 6"/>
          <p:cNvSpPr/>
          <p:nvPr/>
        </p:nvSpPr>
        <p:spPr>
          <a:xfrm>
            <a:off x="411480" y="1060704"/>
            <a:ext cx="2761488" cy="1389888"/>
          </a:xfrm>
          <a:prstGeom prst="roundRect">
            <a:avLst>
              <a:gd name="adj" fmla="val 3289"/>
            </a:avLst>
          </a:prstGeom>
          <a:solidFill>
            <a:srgbClr val="FFFFFF"/>
          </a:solidFill>
          <a:ln w="15240">
            <a:solidFill>
              <a:srgbClr val="0B6E6E"/>
            </a:solidFill>
            <a:prstDash val="solid"/>
          </a:ln>
          <a:effectLst>
            <a:outerShdw sx="100000" sy="100000" kx="0" ky="0" algn="bl" rotWithShape="0" blurRad="88900" dist="12700" dir="5400000">
              <a:srgbClr val="97A3B4">
                <a:alpha val="16000"/>
              </a:srgbClr>
            </a:outerShdw>
          </a:effectLst>
        </p:spPr>
      </p:sp>
      <p:sp>
        <p:nvSpPr>
          <p:cNvPr id="9" name="Shape 7"/>
          <p:cNvSpPr/>
          <p:nvPr/>
        </p:nvSpPr>
        <p:spPr>
          <a:xfrm>
            <a:off x="557784" y="1170432"/>
            <a:ext cx="256032" cy="256032"/>
          </a:xfrm>
          <a:prstGeom prst="ellipse">
            <a:avLst/>
          </a:prstGeom>
          <a:solidFill>
            <a:srgbClr val="0B6E6E"/>
          </a:solidFill>
          <a:ln w="12700">
            <a:solidFill>
              <a:srgbClr val="333333"/>
            </a:solidFill>
            <a:prstDash val="solid"/>
          </a:ln>
        </p:spPr>
      </p:sp>
      <p:sp>
        <p:nvSpPr>
          <p:cNvPr id="10" name="Text 8"/>
          <p:cNvSpPr txBox="1"/>
          <p:nvPr/>
        </p:nvSpPr>
        <p:spPr>
          <a:xfrm>
            <a:off x="557784" y="1170432"/>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1" name="Text 9"/>
          <p:cNvSpPr txBox="1"/>
          <p:nvPr/>
        </p:nvSpPr>
        <p:spPr>
          <a:xfrm>
            <a:off x="886968" y="1152144"/>
            <a:ext cx="2157984" cy="420624"/>
          </a:xfrm>
          <a:prstGeom prst="rect">
            <a:avLst/>
          </a:prstGeom>
          <a:noFill/>
          <a:ln/>
        </p:spPr>
        <p:txBody>
          <a:bodyPr wrap="square" lIns="0" tIns="0" rIns="0" bIns="0" rtlCol="0" anchor="ctr"/>
          <a:lstStyle/>
          <a:p>
            <a:pPr indent="0" marL="0">
              <a:lnSpc>
                <a:spcPts val="1100"/>
              </a:lnSpc>
              <a:buNone/>
            </a:pPr>
            <a:r>
              <a:rPr lang="en-US" sz="940" b="1" dirty="0">
                <a:solidFill>
                  <a:srgbClr val="1B2432"/>
                </a:solidFill>
                <a:latin typeface="Calibri" pitchFamily="34" charset="0"/>
                <a:ea typeface="Calibri" pitchFamily="34" charset="-122"/>
                <a:cs typeface="Calibri" pitchFamily="34" charset="-120"/>
              </a:rPr>
              <a:t>Derives the question set first</a:t>
            </a:r>
            <a:endParaRPr lang="en-US" sz="940" dirty="0"/>
          </a:p>
        </p:txBody>
      </p:sp>
      <p:sp>
        <p:nvSpPr>
          <p:cNvPr id="12" name="Text 10"/>
          <p:cNvSpPr txBox="1"/>
          <p:nvPr/>
        </p:nvSpPr>
        <p:spPr>
          <a:xfrm>
            <a:off x="557784" y="1645920"/>
            <a:ext cx="2487168" cy="731520"/>
          </a:xfrm>
          <a:prstGeom prst="rect">
            <a:avLst/>
          </a:prstGeom>
          <a:noFill/>
          <a:ln/>
        </p:spPr>
        <p:txBody>
          <a:bodyPr wrap="square" lIns="0" tIns="0" rIns="0" bIns="0" rtlCol="0" anchor="ctr"/>
          <a:lstStyle/>
          <a:p>
            <a:pPr indent="0" marL="0">
              <a:lnSpc>
                <a:spcPts val="920"/>
              </a:lnSpc>
              <a:buNone/>
            </a:pPr>
            <a:r>
              <a:rPr lang="en-US" sz="760" dirty="0">
                <a:solidFill>
                  <a:srgbClr val="55606E"/>
                </a:solidFill>
                <a:latin typeface="Calibri" pitchFamily="34" charset="0"/>
                <a:ea typeface="Calibri" pitchFamily="34" charset="-122"/>
                <a:cs typeface="Calibri" pitchFamily="34" charset="-120"/>
              </a:rPr>
              <a:t>The partner describes the goal in their own words. The copilot determines which of the 54 points apply and in what order before asking anything.</a:t>
            </a:r>
            <a:endParaRPr lang="en-US" sz="760" dirty="0"/>
          </a:p>
        </p:txBody>
      </p:sp>
      <p:sp>
        <p:nvSpPr>
          <p:cNvPr id="13" name="Shape 11"/>
          <p:cNvSpPr/>
          <p:nvPr/>
        </p:nvSpPr>
        <p:spPr>
          <a:xfrm>
            <a:off x="3319272" y="1060704"/>
            <a:ext cx="2761488" cy="1389888"/>
          </a:xfrm>
          <a:prstGeom prst="roundRect">
            <a:avLst>
              <a:gd name="adj" fmla="val 3289"/>
            </a:avLst>
          </a:prstGeom>
          <a:solidFill>
            <a:srgbClr val="FFFFFF"/>
          </a:solidFill>
          <a:ln w="15240">
            <a:solidFill>
              <a:srgbClr val="9A6410"/>
            </a:solidFill>
            <a:prstDash val="solid"/>
          </a:ln>
          <a:effectLst>
            <a:outerShdw sx="100000" sy="100000" kx="0" ky="0" algn="bl" rotWithShape="0" blurRad="88900" dist="12700" dir="5400000">
              <a:srgbClr val="97A3B4">
                <a:alpha val="16000"/>
              </a:srgbClr>
            </a:outerShdw>
          </a:effectLst>
        </p:spPr>
      </p:sp>
      <p:sp>
        <p:nvSpPr>
          <p:cNvPr id="14" name="Shape 12"/>
          <p:cNvSpPr/>
          <p:nvPr/>
        </p:nvSpPr>
        <p:spPr>
          <a:xfrm>
            <a:off x="3465576" y="1170432"/>
            <a:ext cx="256032" cy="256032"/>
          </a:xfrm>
          <a:prstGeom prst="ellipse">
            <a:avLst/>
          </a:prstGeom>
          <a:solidFill>
            <a:srgbClr val="9A6410"/>
          </a:solidFill>
          <a:ln w="12700">
            <a:solidFill>
              <a:srgbClr val="333333"/>
            </a:solidFill>
            <a:prstDash val="solid"/>
          </a:ln>
        </p:spPr>
      </p:sp>
      <p:sp>
        <p:nvSpPr>
          <p:cNvPr id="15" name="Text 13"/>
          <p:cNvSpPr txBox="1"/>
          <p:nvPr/>
        </p:nvSpPr>
        <p:spPr>
          <a:xfrm>
            <a:off x="3465576" y="1170432"/>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6" name="Text 14"/>
          <p:cNvSpPr txBox="1"/>
          <p:nvPr/>
        </p:nvSpPr>
        <p:spPr>
          <a:xfrm>
            <a:off x="3794760" y="1152144"/>
            <a:ext cx="2157984" cy="420624"/>
          </a:xfrm>
          <a:prstGeom prst="rect">
            <a:avLst/>
          </a:prstGeom>
          <a:noFill/>
          <a:ln/>
        </p:spPr>
        <p:txBody>
          <a:bodyPr wrap="square" lIns="0" tIns="0" rIns="0" bIns="0" rtlCol="0" anchor="ctr"/>
          <a:lstStyle/>
          <a:p>
            <a:pPr indent="0" marL="0">
              <a:lnSpc>
                <a:spcPts val="1100"/>
              </a:lnSpc>
              <a:buNone/>
            </a:pPr>
            <a:r>
              <a:rPr lang="en-US" sz="940" b="1" dirty="0">
                <a:solidFill>
                  <a:srgbClr val="1B2432"/>
                </a:solidFill>
                <a:latin typeface="Calibri" pitchFamily="34" charset="0"/>
                <a:ea typeface="Calibri" pitchFamily="34" charset="-122"/>
                <a:cs typeface="Calibri" pitchFamily="34" charset="-120"/>
              </a:rPr>
              <a:t>Explains why, at the point of asking</a:t>
            </a:r>
            <a:endParaRPr lang="en-US" sz="940" dirty="0"/>
          </a:p>
        </p:txBody>
      </p:sp>
      <p:sp>
        <p:nvSpPr>
          <p:cNvPr id="17" name="Text 15"/>
          <p:cNvSpPr txBox="1"/>
          <p:nvPr/>
        </p:nvSpPr>
        <p:spPr>
          <a:xfrm>
            <a:off x="3465576" y="1645920"/>
            <a:ext cx="2487168" cy="731520"/>
          </a:xfrm>
          <a:prstGeom prst="rect">
            <a:avLst/>
          </a:prstGeom>
          <a:noFill/>
          <a:ln/>
        </p:spPr>
        <p:txBody>
          <a:bodyPr wrap="square" lIns="0" tIns="0" rIns="0" bIns="0" rtlCol="0" anchor="ctr"/>
          <a:lstStyle/>
          <a:p>
            <a:pPr indent="0" marL="0">
              <a:lnSpc>
                <a:spcPts val="920"/>
              </a:lnSpc>
              <a:buNone/>
            </a:pPr>
            <a:r>
              <a:rPr lang="en-US" sz="760" dirty="0">
                <a:solidFill>
                  <a:srgbClr val="55606E"/>
                </a:solidFill>
                <a:latin typeface="Calibri" pitchFamily="34" charset="0"/>
                <a:ea typeface="Calibri" pitchFamily="34" charset="-122"/>
                <a:cs typeface="Calibri" pitchFamily="34" charset="-120"/>
              </a:rPr>
              <a:t>Every question carries its reason — not as help text, but as part of the question, because a partner who knows what an answer is for gives a usable one.</a:t>
            </a:r>
            <a:endParaRPr lang="en-US" sz="760" dirty="0"/>
          </a:p>
        </p:txBody>
      </p:sp>
      <p:sp>
        <p:nvSpPr>
          <p:cNvPr id="18" name="Shape 16"/>
          <p:cNvSpPr/>
          <p:nvPr/>
        </p:nvSpPr>
        <p:spPr>
          <a:xfrm>
            <a:off x="6227064" y="1060704"/>
            <a:ext cx="2761488" cy="1389888"/>
          </a:xfrm>
          <a:prstGeom prst="roundRect">
            <a:avLst>
              <a:gd name="adj" fmla="val 3289"/>
            </a:avLst>
          </a:prstGeom>
          <a:solidFill>
            <a:srgbClr val="FFFFFF"/>
          </a:solidFill>
          <a:ln w="15240">
            <a:solidFill>
              <a:srgbClr val="A44A2A"/>
            </a:solidFill>
            <a:prstDash val="solid"/>
          </a:ln>
          <a:effectLst>
            <a:outerShdw sx="100000" sy="100000" kx="0" ky="0" algn="bl" rotWithShape="0" blurRad="88900" dist="12700" dir="5400000">
              <a:srgbClr val="97A3B4">
                <a:alpha val="16000"/>
              </a:srgbClr>
            </a:outerShdw>
          </a:effectLst>
        </p:spPr>
      </p:sp>
      <p:sp>
        <p:nvSpPr>
          <p:cNvPr id="19" name="Shape 17"/>
          <p:cNvSpPr/>
          <p:nvPr/>
        </p:nvSpPr>
        <p:spPr>
          <a:xfrm>
            <a:off x="6373368" y="1170432"/>
            <a:ext cx="256032" cy="256032"/>
          </a:xfrm>
          <a:prstGeom prst="ellipse">
            <a:avLst/>
          </a:prstGeom>
          <a:solidFill>
            <a:srgbClr val="A44A2A"/>
          </a:solidFill>
          <a:ln w="12700">
            <a:solidFill>
              <a:srgbClr val="333333"/>
            </a:solidFill>
            <a:prstDash val="solid"/>
          </a:ln>
        </p:spPr>
      </p:sp>
      <p:sp>
        <p:nvSpPr>
          <p:cNvPr id="20" name="Text 18"/>
          <p:cNvSpPr txBox="1"/>
          <p:nvPr/>
        </p:nvSpPr>
        <p:spPr>
          <a:xfrm>
            <a:off x="6373368" y="1170432"/>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1" name="Text 19"/>
          <p:cNvSpPr txBox="1"/>
          <p:nvPr/>
        </p:nvSpPr>
        <p:spPr>
          <a:xfrm>
            <a:off x="6702552" y="1152144"/>
            <a:ext cx="2157984" cy="420624"/>
          </a:xfrm>
          <a:prstGeom prst="rect">
            <a:avLst/>
          </a:prstGeom>
          <a:noFill/>
          <a:ln/>
        </p:spPr>
        <p:txBody>
          <a:bodyPr wrap="square" lIns="0" tIns="0" rIns="0" bIns="0" rtlCol="0" anchor="ctr"/>
          <a:lstStyle/>
          <a:p>
            <a:pPr indent="0" marL="0">
              <a:lnSpc>
                <a:spcPts val="1100"/>
              </a:lnSpc>
              <a:buNone/>
            </a:pPr>
            <a:r>
              <a:rPr lang="en-US" sz="940" b="1" dirty="0">
                <a:solidFill>
                  <a:srgbClr val="1B2432"/>
                </a:solidFill>
                <a:latin typeface="Calibri" pitchFamily="34" charset="0"/>
                <a:ea typeface="Calibri" pitchFamily="34" charset="-122"/>
                <a:cs typeface="Calibri" pitchFamily="34" charset="-120"/>
              </a:rPr>
              <a:t>Helps a partner who does not know</a:t>
            </a:r>
            <a:endParaRPr lang="en-US" sz="940" dirty="0"/>
          </a:p>
        </p:txBody>
      </p:sp>
      <p:sp>
        <p:nvSpPr>
          <p:cNvPr id="22" name="Text 20"/>
          <p:cNvSpPr txBox="1"/>
          <p:nvPr/>
        </p:nvSpPr>
        <p:spPr>
          <a:xfrm>
            <a:off x="6373368" y="1645920"/>
            <a:ext cx="2487168" cy="731520"/>
          </a:xfrm>
          <a:prstGeom prst="rect">
            <a:avLst/>
          </a:prstGeom>
          <a:noFill/>
          <a:ln/>
        </p:spPr>
        <p:txBody>
          <a:bodyPr wrap="square" lIns="0" tIns="0" rIns="0" bIns="0" rtlCol="0" anchor="ctr"/>
          <a:lstStyle/>
          <a:p>
            <a:pPr indent="0" marL="0">
              <a:lnSpc>
                <a:spcPts val="920"/>
              </a:lnSpc>
              <a:buNone/>
            </a:pPr>
            <a:r>
              <a:rPr lang="en-US" sz="760" dirty="0">
                <a:solidFill>
                  <a:srgbClr val="55606E"/>
                </a:solidFill>
                <a:latin typeface="Calibri" pitchFamily="34" charset="0"/>
                <a:ea typeface="Calibri" pitchFamily="34" charset="-122"/>
                <a:cs typeface="Calibri" pitchFamily="34" charset="-120"/>
              </a:rPr>
              <a:t>Offers realistic options with consequences, asks diagnostic sub-questions, surfaces contradictions, and registers a dated gap when the answer needs someone else.</a:t>
            </a:r>
            <a:endParaRPr lang="en-US" sz="760" dirty="0"/>
          </a:p>
        </p:txBody>
      </p:sp>
      <p:sp>
        <p:nvSpPr>
          <p:cNvPr id="23" name="Shape 21"/>
          <p:cNvSpPr/>
          <p:nvPr/>
        </p:nvSpPr>
        <p:spPr>
          <a:xfrm>
            <a:off x="9134856" y="1060704"/>
            <a:ext cx="2761488" cy="1389888"/>
          </a:xfrm>
          <a:prstGeom prst="roundRect">
            <a:avLst>
              <a:gd name="adj" fmla="val 3289"/>
            </a:avLst>
          </a:prstGeom>
          <a:solidFill>
            <a:srgbClr val="FFFFFF"/>
          </a:solidFill>
          <a:ln w="15240">
            <a:solidFill>
              <a:srgbClr val="15304F"/>
            </a:solidFill>
            <a:prstDash val="solid"/>
          </a:ln>
          <a:effectLst>
            <a:outerShdw sx="100000" sy="100000" kx="0" ky="0" algn="bl" rotWithShape="0" blurRad="88900" dist="12700" dir="5400000">
              <a:srgbClr val="97A3B4">
                <a:alpha val="16000"/>
              </a:srgbClr>
            </a:outerShdw>
          </a:effectLst>
        </p:spPr>
      </p:sp>
      <p:sp>
        <p:nvSpPr>
          <p:cNvPr id="24" name="Shape 22"/>
          <p:cNvSpPr/>
          <p:nvPr/>
        </p:nvSpPr>
        <p:spPr>
          <a:xfrm>
            <a:off x="9281160" y="1170432"/>
            <a:ext cx="256032" cy="256032"/>
          </a:xfrm>
          <a:prstGeom prst="ellipse">
            <a:avLst/>
          </a:prstGeom>
          <a:solidFill>
            <a:srgbClr val="15304F"/>
          </a:solidFill>
          <a:ln w="12700">
            <a:solidFill>
              <a:srgbClr val="333333"/>
            </a:solidFill>
            <a:prstDash val="solid"/>
          </a:ln>
        </p:spPr>
      </p:sp>
      <p:sp>
        <p:nvSpPr>
          <p:cNvPr id="25" name="Text 23"/>
          <p:cNvSpPr txBox="1"/>
          <p:nvPr/>
        </p:nvSpPr>
        <p:spPr>
          <a:xfrm>
            <a:off x="9281160" y="1170432"/>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6" name="Text 24"/>
          <p:cNvSpPr txBox="1"/>
          <p:nvPr/>
        </p:nvSpPr>
        <p:spPr>
          <a:xfrm>
            <a:off x="9610344" y="1152144"/>
            <a:ext cx="2157984" cy="420624"/>
          </a:xfrm>
          <a:prstGeom prst="rect">
            <a:avLst/>
          </a:prstGeom>
          <a:noFill/>
          <a:ln/>
        </p:spPr>
        <p:txBody>
          <a:bodyPr wrap="square" lIns="0" tIns="0" rIns="0" bIns="0" rtlCol="0" anchor="ctr"/>
          <a:lstStyle/>
          <a:p>
            <a:pPr indent="0" marL="0">
              <a:lnSpc>
                <a:spcPts val="1100"/>
              </a:lnSpc>
              <a:buNone/>
            </a:pPr>
            <a:r>
              <a:rPr lang="en-US" sz="940" b="1" dirty="0">
                <a:solidFill>
                  <a:srgbClr val="1B2432"/>
                </a:solidFill>
                <a:latin typeface="Calibri" pitchFamily="34" charset="0"/>
                <a:ea typeface="Calibri" pitchFamily="34" charset="-122"/>
                <a:cs typeface="Calibri" pitchFamily="34" charset="-120"/>
              </a:rPr>
              <a:t>Infers, and shows its working</a:t>
            </a:r>
            <a:endParaRPr lang="en-US" sz="940" dirty="0"/>
          </a:p>
        </p:txBody>
      </p:sp>
      <p:sp>
        <p:nvSpPr>
          <p:cNvPr id="27" name="Text 25"/>
          <p:cNvSpPr txBox="1"/>
          <p:nvPr/>
        </p:nvSpPr>
        <p:spPr>
          <a:xfrm>
            <a:off x="9281160" y="1645920"/>
            <a:ext cx="2487168" cy="731520"/>
          </a:xfrm>
          <a:prstGeom prst="rect">
            <a:avLst/>
          </a:prstGeom>
          <a:noFill/>
          <a:ln/>
        </p:spPr>
        <p:txBody>
          <a:bodyPr wrap="square" lIns="0" tIns="0" rIns="0" bIns="0" rtlCol="0" anchor="ctr"/>
          <a:lstStyle/>
          <a:p>
            <a:pPr indent="0" marL="0">
              <a:lnSpc>
                <a:spcPts val="920"/>
              </a:lnSpc>
              <a:buNone/>
            </a:pPr>
            <a:r>
              <a:rPr lang="en-US" sz="760" dirty="0">
                <a:solidFill>
                  <a:srgbClr val="55606E"/>
                </a:solidFill>
                <a:latin typeface="Calibri" pitchFamily="34" charset="0"/>
                <a:ea typeface="Calibri" pitchFamily="34" charset="-122"/>
                <a:cs typeface="Calibri" pitchFamily="34" charset="-120"/>
              </a:rPr>
              <a:t>Proposes what it can derive — trust pre-assessment, likely pattern, teams to engage, long-lead items — each labelled as an inference and correctable.</a:t>
            </a:r>
            <a:endParaRPr lang="en-US" sz="760" dirty="0"/>
          </a:p>
        </p:txBody>
      </p:sp>
      <p:sp>
        <p:nvSpPr>
          <p:cNvPr id="28" name="Text 26"/>
          <p:cNvSpPr txBox="1"/>
          <p:nvPr/>
        </p:nvSpPr>
        <p:spPr>
          <a:xfrm>
            <a:off x="411480" y="2615184"/>
            <a:ext cx="7315200" cy="182880"/>
          </a:xfrm>
          <a:prstGeom prst="rect">
            <a:avLst/>
          </a:prstGeom>
          <a:noFill/>
          <a:ln/>
        </p:spPr>
        <p:txBody>
          <a:bodyPr wrap="square" lIns="0" tIns="0" rIns="0" bIns="0" rtlCol="0" anchor="ctr"/>
          <a:lstStyle/>
          <a:p>
            <a:pPr indent="0" marL="0">
              <a:buNone/>
            </a:pPr>
            <a:r>
              <a:rPr lang="en-US" sz="760" b="1" spc="110" kern="0" dirty="0">
                <a:solidFill>
                  <a:srgbClr val="1B2432"/>
                </a:solidFill>
                <a:latin typeface="Calibri" pitchFamily="34" charset="0"/>
                <a:ea typeface="Calibri" pitchFamily="34" charset="-122"/>
                <a:cs typeface="Calibri" pitchFamily="34" charset="-120"/>
              </a:rPr>
              <a:t>BEHAVIOUR 2 IN PRACTICE — THE SAME REQUIREMENT, ASKED TWO WAYS</a:t>
            </a:r>
            <a:endParaRPr lang="en-US" sz="760" dirty="0"/>
          </a:p>
        </p:txBody>
      </p:sp>
      <p:sp>
        <p:nvSpPr>
          <p:cNvPr id="29" name="Shape 27"/>
          <p:cNvSpPr/>
          <p:nvPr/>
        </p:nvSpPr>
        <p:spPr>
          <a:xfrm>
            <a:off x="411480" y="2816352"/>
            <a:ext cx="11338560" cy="274320"/>
          </a:xfrm>
          <a:prstGeom prst="rect">
            <a:avLst/>
          </a:prstGeom>
          <a:solidFill>
            <a:srgbClr val="15304F"/>
          </a:solidFill>
          <a:ln w="6350">
            <a:solidFill>
              <a:srgbClr val="15304F"/>
            </a:solidFill>
            <a:prstDash val="solid"/>
          </a:ln>
        </p:spPr>
      </p:sp>
      <p:sp>
        <p:nvSpPr>
          <p:cNvPr id="30" name="Text 28"/>
          <p:cNvSpPr txBox="1"/>
          <p:nvPr/>
        </p:nvSpPr>
        <p:spPr>
          <a:xfrm>
            <a:off x="484632" y="2816352"/>
            <a:ext cx="5522976" cy="274320"/>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Asked the current way</a:t>
            </a:r>
            <a:endParaRPr lang="en-US" sz="800" dirty="0"/>
          </a:p>
        </p:txBody>
      </p:sp>
      <p:sp>
        <p:nvSpPr>
          <p:cNvPr id="31" name="Text 29"/>
          <p:cNvSpPr txBox="1"/>
          <p:nvPr/>
        </p:nvSpPr>
        <p:spPr>
          <a:xfrm>
            <a:off x="6153912" y="2816352"/>
            <a:ext cx="5522976" cy="274320"/>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Asked with the reason attached</a:t>
            </a:r>
            <a:endParaRPr lang="en-US" sz="800" dirty="0"/>
          </a:p>
        </p:txBody>
      </p:sp>
      <p:sp>
        <p:nvSpPr>
          <p:cNvPr id="32" name="Shape 30"/>
          <p:cNvSpPr/>
          <p:nvPr/>
        </p:nvSpPr>
        <p:spPr>
          <a:xfrm>
            <a:off x="411480" y="3090672"/>
            <a:ext cx="11338560" cy="512064"/>
          </a:xfrm>
          <a:prstGeom prst="rect">
            <a:avLst/>
          </a:prstGeom>
          <a:solidFill>
            <a:srgbClr val="FFFFFF"/>
          </a:solidFill>
          <a:ln w="6350">
            <a:solidFill>
              <a:srgbClr val="D4DAE2"/>
            </a:solidFill>
            <a:prstDash val="solid"/>
          </a:ln>
        </p:spPr>
      </p:sp>
      <p:sp>
        <p:nvSpPr>
          <p:cNvPr id="33" name="Text 31"/>
          <p:cNvSpPr txBox="1"/>
          <p:nvPr/>
        </p:nvSpPr>
        <p:spPr>
          <a:xfrm>
            <a:off x="484632" y="3090672"/>
            <a:ext cx="5522976" cy="512064"/>
          </a:xfrm>
          <a:prstGeom prst="rect">
            <a:avLst/>
          </a:prstGeom>
          <a:noFill/>
          <a:ln/>
        </p:spPr>
        <p:txBody>
          <a:bodyPr wrap="square" lIns="0" tIns="0" rIns="0" bIns="0" rtlCol="0" anchor="ctr"/>
          <a:lstStyle/>
          <a:p>
            <a:pPr algn="l" indent="0" marL="0">
              <a:buNone/>
            </a:pPr>
            <a:r>
              <a:rPr lang="en-US" sz="800" b="1" dirty="0">
                <a:solidFill>
                  <a:srgbClr val="1B2432"/>
                </a:solidFill>
                <a:latin typeface="Calibri" pitchFamily="34" charset="0"/>
                <a:ea typeface="Calibri" pitchFamily="34" charset="-122"/>
                <a:cs typeface="Calibri" pitchFamily="34" charset="-120"/>
              </a:rPr>
              <a:t>"What are the document traits?"</a:t>
            </a:r>
            <a:endParaRPr lang="en-US" sz="800" dirty="0"/>
          </a:p>
        </p:txBody>
      </p:sp>
      <p:sp>
        <p:nvSpPr>
          <p:cNvPr id="34" name="Text 32"/>
          <p:cNvSpPr txBox="1"/>
          <p:nvPr/>
        </p:nvSpPr>
        <p:spPr>
          <a:xfrm>
            <a:off x="6153912" y="3090672"/>
            <a:ext cx="5522976" cy="512064"/>
          </a:xfrm>
          <a:prstGeom prst="rect">
            <a:avLst/>
          </a:prstGeom>
          <a:noFill/>
          <a:ln/>
        </p:spPr>
        <p:txBody>
          <a:bodyPr wrap="square" lIns="0" tIns="0" rIns="0" bIns="0" rtlCol="0" anchor="ctr"/>
          <a:lstStyle/>
          <a:p>
            <a:pPr algn="l" indent="0" marL="0">
              <a:buNone/>
            </a:pPr>
            <a:r>
              <a:rPr lang="en-US" sz="800" dirty="0">
                <a:solidFill>
                  <a:srgbClr val="1B2432"/>
                </a:solidFill>
                <a:latin typeface="Calibri" pitchFamily="34" charset="0"/>
                <a:ea typeface="Calibri" pitchFamily="34" charset="-122"/>
                <a:cs typeface="Calibri" pitchFamily="34" charset="-120"/>
              </a:rPr>
              <a:t>"Do any of these contain handwritten annotations or signatures? This decides whether they need human review after AI classification — typically two to three weeks and a separate engagement."</a:t>
            </a:r>
            <a:endParaRPr lang="en-US" sz="800" dirty="0"/>
          </a:p>
        </p:txBody>
      </p:sp>
      <p:sp>
        <p:nvSpPr>
          <p:cNvPr id="35" name="Shape 33"/>
          <p:cNvSpPr/>
          <p:nvPr/>
        </p:nvSpPr>
        <p:spPr>
          <a:xfrm>
            <a:off x="411480" y="3602736"/>
            <a:ext cx="11338560" cy="512064"/>
          </a:xfrm>
          <a:prstGeom prst="rect">
            <a:avLst/>
          </a:prstGeom>
          <a:solidFill>
            <a:srgbClr val="F4F7FA"/>
          </a:solidFill>
          <a:ln w="6350">
            <a:solidFill>
              <a:srgbClr val="D4DAE2"/>
            </a:solidFill>
            <a:prstDash val="solid"/>
          </a:ln>
        </p:spPr>
      </p:sp>
      <p:sp>
        <p:nvSpPr>
          <p:cNvPr id="36" name="Text 34"/>
          <p:cNvSpPr txBox="1"/>
          <p:nvPr/>
        </p:nvSpPr>
        <p:spPr>
          <a:xfrm>
            <a:off x="484632" y="3602736"/>
            <a:ext cx="5522976" cy="512064"/>
          </a:xfrm>
          <a:prstGeom prst="rect">
            <a:avLst/>
          </a:prstGeom>
          <a:noFill/>
          <a:ln/>
        </p:spPr>
        <p:txBody>
          <a:bodyPr wrap="square" lIns="0" tIns="0" rIns="0" bIns="0" rtlCol="0" anchor="ctr"/>
          <a:lstStyle/>
          <a:p>
            <a:pPr algn="l" indent="0" marL="0">
              <a:buNone/>
            </a:pPr>
            <a:r>
              <a:rPr lang="en-US" sz="800" b="1" dirty="0">
                <a:solidFill>
                  <a:srgbClr val="1B2432"/>
                </a:solidFill>
                <a:latin typeface="Calibri" pitchFamily="34" charset="0"/>
                <a:ea typeface="Calibri" pitchFamily="34" charset="-122"/>
                <a:cs typeface="Calibri" pitchFamily="34" charset="-120"/>
              </a:rPr>
              <a:t>"What is your expected volume?"</a:t>
            </a:r>
            <a:endParaRPr lang="en-US" sz="800" dirty="0"/>
          </a:p>
        </p:txBody>
      </p:sp>
      <p:sp>
        <p:nvSpPr>
          <p:cNvPr id="37" name="Text 35"/>
          <p:cNvSpPr txBox="1"/>
          <p:nvPr/>
        </p:nvSpPr>
        <p:spPr>
          <a:xfrm>
            <a:off x="6153912" y="3602736"/>
            <a:ext cx="5522976" cy="512064"/>
          </a:xfrm>
          <a:prstGeom prst="rect">
            <a:avLst/>
          </a:prstGeom>
          <a:noFill/>
          <a:ln/>
        </p:spPr>
        <p:txBody>
          <a:bodyPr wrap="square" lIns="0" tIns="0" rIns="0" bIns="0" rtlCol="0" anchor="ctr"/>
          <a:lstStyle/>
          <a:p>
            <a:pPr algn="l" indent="0" marL="0">
              <a:buNone/>
            </a:pPr>
            <a:r>
              <a:rPr lang="en-US" sz="800" dirty="0">
                <a:solidFill>
                  <a:srgbClr val="1B2432"/>
                </a:solidFill>
                <a:latin typeface="Calibri" pitchFamily="34" charset="0"/>
                <a:ea typeface="Calibri" pitchFamily="34" charset="-122"/>
                <a:cs typeface="Calibri" pitchFamily="34" charset="-120"/>
              </a:rPr>
              <a:t>"We need three numbers: initial migration, steady monthly rate, busiest expected day. The first drives one-time capacity; the third decides whether formal load testing applies."</a:t>
            </a:r>
            <a:endParaRPr lang="en-US" sz="800" dirty="0"/>
          </a:p>
        </p:txBody>
      </p:sp>
      <p:sp>
        <p:nvSpPr>
          <p:cNvPr id="38" name="Shape 36"/>
          <p:cNvSpPr/>
          <p:nvPr/>
        </p:nvSpPr>
        <p:spPr>
          <a:xfrm>
            <a:off x="411480" y="4114800"/>
            <a:ext cx="11338560" cy="512064"/>
          </a:xfrm>
          <a:prstGeom prst="rect">
            <a:avLst/>
          </a:prstGeom>
          <a:solidFill>
            <a:srgbClr val="FFFFFF"/>
          </a:solidFill>
          <a:ln w="6350">
            <a:solidFill>
              <a:srgbClr val="D4DAE2"/>
            </a:solidFill>
            <a:prstDash val="solid"/>
          </a:ln>
        </p:spPr>
      </p:sp>
      <p:sp>
        <p:nvSpPr>
          <p:cNvPr id="39" name="Text 37"/>
          <p:cNvSpPr txBox="1"/>
          <p:nvPr/>
        </p:nvSpPr>
        <p:spPr>
          <a:xfrm>
            <a:off x="484632" y="4114800"/>
            <a:ext cx="5522976" cy="512064"/>
          </a:xfrm>
          <a:prstGeom prst="rect">
            <a:avLst/>
          </a:prstGeom>
          <a:noFill/>
          <a:ln/>
        </p:spPr>
        <p:txBody>
          <a:bodyPr wrap="square" lIns="0" tIns="0" rIns="0" bIns="0" rtlCol="0" anchor="ctr"/>
          <a:lstStyle/>
          <a:p>
            <a:pPr algn="l" indent="0" marL="0">
              <a:buNone/>
            </a:pPr>
            <a:r>
              <a:rPr lang="en-US" sz="800" b="1" dirty="0">
                <a:solidFill>
                  <a:srgbClr val="1B2432"/>
                </a:solidFill>
                <a:latin typeface="Calibri" pitchFamily="34" charset="0"/>
                <a:ea typeface="Calibri" pitchFamily="34" charset="-122"/>
                <a:cs typeface="Calibri" pitchFamily="34" charset="-120"/>
              </a:rPr>
              <a:t>"What are your retention requirements?"</a:t>
            </a:r>
            <a:endParaRPr lang="en-US" sz="800" dirty="0"/>
          </a:p>
        </p:txBody>
      </p:sp>
      <p:sp>
        <p:nvSpPr>
          <p:cNvPr id="40" name="Text 38"/>
          <p:cNvSpPr txBox="1"/>
          <p:nvPr/>
        </p:nvSpPr>
        <p:spPr>
          <a:xfrm>
            <a:off x="6153912" y="4114800"/>
            <a:ext cx="5522976" cy="512064"/>
          </a:xfrm>
          <a:prstGeom prst="rect">
            <a:avLst/>
          </a:prstGeom>
          <a:noFill/>
          <a:ln/>
        </p:spPr>
        <p:txBody>
          <a:bodyPr wrap="square" lIns="0" tIns="0" rIns="0" bIns="0" rtlCol="0" anchor="ctr"/>
          <a:lstStyle/>
          <a:p>
            <a:pPr algn="l" indent="0" marL="0">
              <a:buNone/>
            </a:pPr>
            <a:r>
              <a:rPr lang="en-US" sz="800" dirty="0">
                <a:solidFill>
                  <a:srgbClr val="1B2432"/>
                </a:solidFill>
                <a:latin typeface="Calibri" pitchFamily="34" charset="0"/>
                <a:ea typeface="Calibri" pitchFamily="34" charset="-122"/>
                <a:cs typeface="Calibri" pitchFamily="34" charset="-120"/>
              </a:rPr>
              <a:t>"How long must these be kept, and what rule requires it? If it is regulatory rather than policy, the content goes to a different repository with immutable storage — not easily reversed."</a:t>
            </a:r>
            <a:endParaRPr lang="en-US" sz="800" dirty="0"/>
          </a:p>
        </p:txBody>
      </p:sp>
      <p:sp>
        <p:nvSpPr>
          <p:cNvPr id="41" name="Text 39"/>
          <p:cNvSpPr txBox="1"/>
          <p:nvPr/>
        </p:nvSpPr>
        <p:spPr>
          <a:xfrm>
            <a:off x="411480" y="4645152"/>
            <a:ext cx="7315200" cy="182880"/>
          </a:xfrm>
          <a:prstGeom prst="rect">
            <a:avLst/>
          </a:prstGeom>
          <a:noFill/>
          <a:ln/>
        </p:spPr>
        <p:txBody>
          <a:bodyPr wrap="square" lIns="0" tIns="0" rIns="0" bIns="0" rtlCol="0" anchor="ctr"/>
          <a:lstStyle/>
          <a:p>
            <a:pPr indent="0" marL="0">
              <a:buNone/>
            </a:pPr>
            <a:r>
              <a:rPr lang="en-US" sz="760" b="1" spc="110" kern="0" dirty="0">
                <a:solidFill>
                  <a:srgbClr val="1B2432"/>
                </a:solidFill>
                <a:latin typeface="Calibri" pitchFamily="34" charset="0"/>
                <a:ea typeface="Calibri" pitchFamily="34" charset="-122"/>
                <a:cs typeface="Calibri" pitchFamily="34" charset="-120"/>
              </a:rPr>
              <a:t>BEHAVIOUR 3 IN PRACTICE — WHEN THE PARTNER DOES NOT KNOW</a:t>
            </a:r>
            <a:endParaRPr lang="en-US" sz="760" dirty="0"/>
          </a:p>
        </p:txBody>
      </p:sp>
      <p:sp>
        <p:nvSpPr>
          <p:cNvPr id="42" name="Shape 40"/>
          <p:cNvSpPr/>
          <p:nvPr/>
        </p:nvSpPr>
        <p:spPr>
          <a:xfrm>
            <a:off x="411480" y="4846320"/>
            <a:ext cx="11338560" cy="274320"/>
          </a:xfrm>
          <a:prstGeom prst="rect">
            <a:avLst/>
          </a:prstGeom>
          <a:solidFill>
            <a:srgbClr val="15304F"/>
          </a:solidFill>
          <a:ln w="6350">
            <a:solidFill>
              <a:srgbClr val="15304F"/>
            </a:solidFill>
            <a:prstDash val="solid"/>
          </a:ln>
        </p:spPr>
      </p:sp>
      <p:sp>
        <p:nvSpPr>
          <p:cNvPr id="43" name="Text 41"/>
          <p:cNvSpPr txBox="1"/>
          <p:nvPr/>
        </p:nvSpPr>
        <p:spPr>
          <a:xfrm>
            <a:off x="484632" y="4846320"/>
            <a:ext cx="2688336" cy="274320"/>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Partner says</a:t>
            </a:r>
            <a:endParaRPr lang="en-US" sz="800" dirty="0"/>
          </a:p>
        </p:txBody>
      </p:sp>
      <p:sp>
        <p:nvSpPr>
          <p:cNvPr id="44" name="Text 42"/>
          <p:cNvSpPr txBox="1"/>
          <p:nvPr/>
        </p:nvSpPr>
        <p:spPr>
          <a:xfrm>
            <a:off x="3319272" y="4846320"/>
            <a:ext cx="8357616" cy="274320"/>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Copilot does</a:t>
            </a:r>
            <a:endParaRPr lang="en-US" sz="800" dirty="0"/>
          </a:p>
        </p:txBody>
      </p:sp>
      <p:sp>
        <p:nvSpPr>
          <p:cNvPr id="45" name="Shape 43"/>
          <p:cNvSpPr/>
          <p:nvPr/>
        </p:nvSpPr>
        <p:spPr>
          <a:xfrm>
            <a:off x="411480" y="5120640"/>
            <a:ext cx="11338560" cy="310896"/>
          </a:xfrm>
          <a:prstGeom prst="rect">
            <a:avLst/>
          </a:prstGeom>
          <a:solidFill>
            <a:srgbClr val="FFFFFF"/>
          </a:solidFill>
          <a:ln w="6350">
            <a:solidFill>
              <a:srgbClr val="D4DAE2"/>
            </a:solidFill>
            <a:prstDash val="solid"/>
          </a:ln>
        </p:spPr>
      </p:sp>
      <p:sp>
        <p:nvSpPr>
          <p:cNvPr id="46" name="Text 44"/>
          <p:cNvSpPr txBox="1"/>
          <p:nvPr/>
        </p:nvSpPr>
        <p:spPr>
          <a:xfrm>
            <a:off x="484632" y="5120640"/>
            <a:ext cx="2688336" cy="310896"/>
          </a:xfrm>
          <a:prstGeom prst="rect">
            <a:avLst/>
          </a:prstGeom>
          <a:noFill/>
          <a:ln/>
        </p:spPr>
        <p:txBody>
          <a:bodyPr wrap="square" lIns="0" tIns="0" rIns="0" bIns="0" rtlCol="0" anchor="ctr"/>
          <a:lstStyle/>
          <a:p>
            <a:pPr algn="l" indent="0" marL="0">
              <a:buNone/>
            </a:pPr>
            <a:r>
              <a:rPr lang="en-US" sz="800" b="1" dirty="0">
                <a:solidFill>
                  <a:srgbClr val="1B2432"/>
                </a:solidFill>
                <a:latin typeface="Calibri" pitchFamily="34" charset="0"/>
                <a:ea typeface="Calibri" pitchFamily="34" charset="-122"/>
                <a:cs typeface="Calibri" pitchFamily="34" charset="-120"/>
              </a:rPr>
              <a:t>"I don't know"</a:t>
            </a:r>
            <a:endParaRPr lang="en-US" sz="800" dirty="0"/>
          </a:p>
        </p:txBody>
      </p:sp>
      <p:sp>
        <p:nvSpPr>
          <p:cNvPr id="47" name="Text 45"/>
          <p:cNvSpPr txBox="1"/>
          <p:nvPr/>
        </p:nvSpPr>
        <p:spPr>
          <a:xfrm>
            <a:off x="3319272" y="5120640"/>
            <a:ext cx="8357616" cy="310896"/>
          </a:xfrm>
          <a:prstGeom prst="rect">
            <a:avLst/>
          </a:prstGeom>
          <a:noFill/>
          <a:ln/>
        </p:spPr>
        <p:txBody>
          <a:bodyPr wrap="square" lIns="0" tIns="0" rIns="0" bIns="0" rtlCol="0" anchor="ctr"/>
          <a:lstStyle/>
          <a:p>
            <a:pPr algn="l" indent="0" marL="0">
              <a:buNone/>
            </a:pPr>
            <a:r>
              <a:rPr lang="en-US" sz="800" dirty="0">
                <a:solidFill>
                  <a:srgbClr val="1B2432"/>
                </a:solidFill>
                <a:latin typeface="Calibri" pitchFamily="34" charset="0"/>
                <a:ea typeface="Calibri" pitchFamily="34" charset="-122"/>
                <a:cs typeface="Calibri" pitchFamily="34" charset="-120"/>
              </a:rPr>
              <a:t>Offers the realistic options with their consequences — "most partners in your position are one of these three; here is how each changes your timeline"</a:t>
            </a:r>
            <a:endParaRPr lang="en-US" sz="800" dirty="0"/>
          </a:p>
        </p:txBody>
      </p:sp>
      <p:sp>
        <p:nvSpPr>
          <p:cNvPr id="48" name="Shape 46"/>
          <p:cNvSpPr/>
          <p:nvPr/>
        </p:nvSpPr>
        <p:spPr>
          <a:xfrm>
            <a:off x="411480" y="5431536"/>
            <a:ext cx="11338560" cy="310896"/>
          </a:xfrm>
          <a:prstGeom prst="rect">
            <a:avLst/>
          </a:prstGeom>
          <a:solidFill>
            <a:srgbClr val="F4F7FA"/>
          </a:solidFill>
          <a:ln w="6350">
            <a:solidFill>
              <a:srgbClr val="D4DAE2"/>
            </a:solidFill>
            <a:prstDash val="solid"/>
          </a:ln>
        </p:spPr>
      </p:sp>
      <p:sp>
        <p:nvSpPr>
          <p:cNvPr id="49" name="Text 47"/>
          <p:cNvSpPr txBox="1"/>
          <p:nvPr/>
        </p:nvSpPr>
        <p:spPr>
          <a:xfrm>
            <a:off x="484632" y="5431536"/>
            <a:ext cx="2688336" cy="310896"/>
          </a:xfrm>
          <a:prstGeom prst="rect">
            <a:avLst/>
          </a:prstGeom>
          <a:noFill/>
          <a:ln/>
        </p:spPr>
        <p:txBody>
          <a:bodyPr wrap="square" lIns="0" tIns="0" rIns="0" bIns="0" rtlCol="0" anchor="ctr"/>
          <a:lstStyle/>
          <a:p>
            <a:pPr algn="l" indent="0" marL="0">
              <a:buNone/>
            </a:pPr>
            <a:r>
              <a:rPr lang="en-US" sz="800" b="1" dirty="0">
                <a:solidFill>
                  <a:srgbClr val="1B2432"/>
                </a:solidFill>
                <a:latin typeface="Calibri" pitchFamily="34" charset="0"/>
                <a:ea typeface="Calibri" pitchFamily="34" charset="-122"/>
                <a:cs typeface="Calibri" pitchFamily="34" charset="-120"/>
              </a:rPr>
              <a:t>"Not sure which applies"</a:t>
            </a:r>
            <a:endParaRPr lang="en-US" sz="800" dirty="0"/>
          </a:p>
        </p:txBody>
      </p:sp>
      <p:sp>
        <p:nvSpPr>
          <p:cNvPr id="50" name="Text 48"/>
          <p:cNvSpPr txBox="1"/>
          <p:nvPr/>
        </p:nvSpPr>
        <p:spPr>
          <a:xfrm>
            <a:off x="3319272" y="5431536"/>
            <a:ext cx="8357616" cy="310896"/>
          </a:xfrm>
          <a:prstGeom prst="rect">
            <a:avLst/>
          </a:prstGeom>
          <a:noFill/>
          <a:ln/>
        </p:spPr>
        <p:txBody>
          <a:bodyPr wrap="square" lIns="0" tIns="0" rIns="0" bIns="0" rtlCol="0" anchor="ctr"/>
          <a:lstStyle/>
          <a:p>
            <a:pPr algn="l" indent="0" marL="0">
              <a:buNone/>
            </a:pPr>
            <a:r>
              <a:rPr lang="en-US" sz="800" dirty="0">
                <a:solidFill>
                  <a:srgbClr val="1B2432"/>
                </a:solidFill>
                <a:latin typeface="Calibri" pitchFamily="34" charset="0"/>
                <a:ea typeface="Calibri" pitchFamily="34" charset="-122"/>
                <a:cs typeface="Calibri" pitchFamily="34" charset="-120"/>
              </a:rPr>
              <a:t>Asks diagnostic sub-questions a non-specialist can answer, and derives the answer from those</a:t>
            </a:r>
            <a:endParaRPr lang="en-US" sz="800" dirty="0"/>
          </a:p>
        </p:txBody>
      </p:sp>
      <p:sp>
        <p:nvSpPr>
          <p:cNvPr id="51" name="Shape 49"/>
          <p:cNvSpPr/>
          <p:nvPr/>
        </p:nvSpPr>
        <p:spPr>
          <a:xfrm>
            <a:off x="411480" y="5742432"/>
            <a:ext cx="11338560" cy="310896"/>
          </a:xfrm>
          <a:prstGeom prst="rect">
            <a:avLst/>
          </a:prstGeom>
          <a:solidFill>
            <a:srgbClr val="FFFFFF"/>
          </a:solidFill>
          <a:ln w="6350">
            <a:solidFill>
              <a:srgbClr val="D4DAE2"/>
            </a:solidFill>
            <a:prstDash val="solid"/>
          </a:ln>
        </p:spPr>
      </p:sp>
      <p:sp>
        <p:nvSpPr>
          <p:cNvPr id="52" name="Text 50"/>
          <p:cNvSpPr txBox="1"/>
          <p:nvPr/>
        </p:nvSpPr>
        <p:spPr>
          <a:xfrm>
            <a:off x="484632" y="5742432"/>
            <a:ext cx="2688336" cy="310896"/>
          </a:xfrm>
          <a:prstGeom prst="rect">
            <a:avLst/>
          </a:prstGeom>
          <a:noFill/>
          <a:ln/>
        </p:spPr>
        <p:txBody>
          <a:bodyPr wrap="square" lIns="0" tIns="0" rIns="0" bIns="0" rtlCol="0" anchor="ctr"/>
          <a:lstStyle/>
          <a:p>
            <a:pPr algn="l" indent="0" marL="0">
              <a:buNone/>
            </a:pPr>
            <a:r>
              <a:rPr lang="en-US" sz="800" b="1" dirty="0">
                <a:solidFill>
                  <a:srgbClr val="1B2432"/>
                </a:solidFill>
                <a:latin typeface="Calibri" pitchFamily="34" charset="0"/>
                <a:ea typeface="Calibri" pitchFamily="34" charset="-122"/>
                <a:cs typeface="Calibri" pitchFamily="34" charset="-120"/>
              </a:rPr>
              <a:t>Something inconsistent</a:t>
            </a:r>
            <a:endParaRPr lang="en-US" sz="800" dirty="0"/>
          </a:p>
        </p:txBody>
      </p:sp>
      <p:sp>
        <p:nvSpPr>
          <p:cNvPr id="53" name="Text 51"/>
          <p:cNvSpPr txBox="1"/>
          <p:nvPr/>
        </p:nvSpPr>
        <p:spPr>
          <a:xfrm>
            <a:off x="3319272" y="5742432"/>
            <a:ext cx="8357616" cy="310896"/>
          </a:xfrm>
          <a:prstGeom prst="rect">
            <a:avLst/>
          </a:prstGeom>
          <a:noFill/>
          <a:ln/>
        </p:spPr>
        <p:txBody>
          <a:bodyPr wrap="square" lIns="0" tIns="0" rIns="0" bIns="0" rtlCol="0" anchor="ctr"/>
          <a:lstStyle/>
          <a:p>
            <a:pPr algn="l" indent="0" marL="0">
              <a:buNone/>
            </a:pPr>
            <a:r>
              <a:rPr lang="en-US" sz="800" dirty="0">
                <a:solidFill>
                  <a:srgbClr val="1B2432"/>
                </a:solidFill>
                <a:latin typeface="Calibri" pitchFamily="34" charset="0"/>
                <a:ea typeface="Calibri" pitchFamily="34" charset="-122"/>
                <a:cs typeface="Calibri" pitchFamily="34" charset="-120"/>
              </a:rPr>
              <a:t>Surfaces the contradiction immediately and asks which is correct, rather than recording both</a:t>
            </a:r>
            <a:endParaRPr lang="en-US" sz="800" dirty="0"/>
          </a:p>
        </p:txBody>
      </p:sp>
      <p:sp>
        <p:nvSpPr>
          <p:cNvPr id="54" name="Shape 52"/>
          <p:cNvSpPr/>
          <p:nvPr/>
        </p:nvSpPr>
        <p:spPr>
          <a:xfrm>
            <a:off x="411480" y="6053328"/>
            <a:ext cx="11338560" cy="310896"/>
          </a:xfrm>
          <a:prstGeom prst="rect">
            <a:avLst/>
          </a:prstGeom>
          <a:solidFill>
            <a:srgbClr val="F4F7FA"/>
          </a:solidFill>
          <a:ln w="6350">
            <a:solidFill>
              <a:srgbClr val="D4DAE2"/>
            </a:solidFill>
            <a:prstDash val="solid"/>
          </a:ln>
        </p:spPr>
      </p:sp>
      <p:sp>
        <p:nvSpPr>
          <p:cNvPr id="55" name="Text 53"/>
          <p:cNvSpPr txBox="1"/>
          <p:nvPr/>
        </p:nvSpPr>
        <p:spPr>
          <a:xfrm>
            <a:off x="484632" y="6053328"/>
            <a:ext cx="2688336" cy="310896"/>
          </a:xfrm>
          <a:prstGeom prst="rect">
            <a:avLst/>
          </a:prstGeom>
          <a:noFill/>
          <a:ln/>
        </p:spPr>
        <p:txBody>
          <a:bodyPr wrap="square" lIns="0" tIns="0" rIns="0" bIns="0" rtlCol="0" anchor="ctr"/>
          <a:lstStyle/>
          <a:p>
            <a:pPr algn="l" indent="0" marL="0">
              <a:buNone/>
            </a:pPr>
            <a:r>
              <a:rPr lang="en-US" sz="800" b="1" dirty="0">
                <a:solidFill>
                  <a:srgbClr val="1B2432"/>
                </a:solidFill>
                <a:latin typeface="Calibri" pitchFamily="34" charset="0"/>
                <a:ea typeface="Calibri" pitchFamily="34" charset="-122"/>
                <a:cs typeface="Calibri" pitchFamily="34" charset="-120"/>
              </a:rPr>
              <a:t>"I need to ask someone"</a:t>
            </a:r>
            <a:endParaRPr lang="en-US" sz="800" dirty="0"/>
          </a:p>
        </p:txBody>
      </p:sp>
      <p:sp>
        <p:nvSpPr>
          <p:cNvPr id="56" name="Text 54"/>
          <p:cNvSpPr txBox="1"/>
          <p:nvPr/>
        </p:nvSpPr>
        <p:spPr>
          <a:xfrm>
            <a:off x="3319272" y="6053328"/>
            <a:ext cx="8357616" cy="310896"/>
          </a:xfrm>
          <a:prstGeom prst="rect">
            <a:avLst/>
          </a:prstGeom>
          <a:noFill/>
          <a:ln/>
        </p:spPr>
        <p:txBody>
          <a:bodyPr wrap="square" lIns="0" tIns="0" rIns="0" bIns="0" rtlCol="0" anchor="ctr"/>
          <a:lstStyle/>
          <a:p>
            <a:pPr algn="l" indent="0" marL="0">
              <a:buNone/>
            </a:pPr>
            <a:r>
              <a:rPr lang="en-US" sz="800" dirty="0">
                <a:solidFill>
                  <a:srgbClr val="1B2432"/>
                </a:solidFill>
                <a:latin typeface="Calibri" pitchFamily="34" charset="0"/>
                <a:ea typeface="Calibri" pitchFamily="34" charset="-122"/>
                <a:cs typeface="Calibri" pitchFamily="34" charset="-120"/>
              </a:rPr>
              <a:t>Registers a dated gap with the owner named and the gate it blocks — this is the row that eliminates the discovery cycle</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274320"/>
            <a:ext cx="274320" cy="274320"/>
          </a:xfrm>
          <a:prstGeom prst="rect">
            <a:avLst/>
          </a:prstGeom>
          <a:solidFill>
            <a:srgbClr val="15304F"/>
          </a:solidFill>
          <a:ln w="12700">
            <a:solidFill>
              <a:srgbClr val="333333"/>
            </a:solidFill>
            <a:prstDash val="solid"/>
          </a:ln>
        </p:spPr>
      </p:sp>
      <p:sp>
        <p:nvSpPr>
          <p:cNvPr id="3" name="Text 1"/>
          <p:cNvSpPr txBox="1"/>
          <p:nvPr/>
        </p:nvSpPr>
        <p:spPr>
          <a:xfrm>
            <a:off x="411480" y="2743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 name="Text 2"/>
          <p:cNvSpPr txBox="1"/>
          <p:nvPr/>
        </p:nvSpPr>
        <p:spPr>
          <a:xfrm>
            <a:off x="795528" y="219456"/>
            <a:ext cx="8778240" cy="384048"/>
          </a:xfrm>
          <a:prstGeom prst="rect">
            <a:avLst/>
          </a:prstGeom>
          <a:noFill/>
          <a:ln/>
        </p:spPr>
        <p:txBody>
          <a:bodyPr wrap="square" lIns="0" tIns="0" rIns="0" bIns="0" rtlCol="0" anchor="ctr"/>
          <a:lstStyle/>
          <a:p>
            <a:pPr indent="0" marL="0">
              <a:buNone/>
            </a:pPr>
            <a:r>
              <a:rPr lang="en-US" sz="2400" b="1" dirty="0">
                <a:solidFill>
                  <a:srgbClr val="1B2432"/>
                </a:solidFill>
                <a:latin typeface="Cambria" pitchFamily="34" charset="0"/>
                <a:ea typeface="Cambria" pitchFamily="34" charset="-122"/>
                <a:cs typeface="Cambria" pitchFamily="34" charset="-120"/>
              </a:rPr>
              <a:t>Completeness bands and the handoff contract</a:t>
            </a:r>
            <a:endParaRPr lang="en-US" sz="2400" dirty="0"/>
          </a:p>
        </p:txBody>
      </p:sp>
      <p:sp>
        <p:nvSpPr>
          <p:cNvPr id="5" name="Text 3"/>
          <p:cNvSpPr txBox="1"/>
          <p:nvPr/>
        </p:nvSpPr>
        <p:spPr>
          <a:xfrm>
            <a:off x="795528" y="621792"/>
            <a:ext cx="9326880" cy="237744"/>
          </a:xfrm>
          <a:prstGeom prst="rect">
            <a:avLst/>
          </a:prstGeom>
          <a:noFill/>
          <a:ln/>
        </p:spPr>
        <p:txBody>
          <a:bodyPr wrap="square" lIns="0" tIns="0" rIns="0" bIns="0" rtlCol="0" anchor="ctr"/>
          <a:lstStyle/>
          <a:p>
            <a:pPr indent="0" marL="0">
              <a:buNone/>
            </a:pPr>
            <a:r>
              <a:rPr lang="en-US" sz="1050" dirty="0">
                <a:solidFill>
                  <a:srgbClr val="55606E"/>
                </a:solidFill>
                <a:latin typeface="Calibri" pitchFamily="34" charset="0"/>
                <a:ea typeface="Calibri" pitchFamily="34" charset="-122"/>
                <a:cs typeface="Calibri" pitchFamily="34" charset="-120"/>
              </a:rPr>
              <a:t>Capture everything knowable now; convert the rest into scheduled-knowns</a:t>
            </a:r>
            <a:endParaRPr lang="en-US" sz="1050" dirty="0"/>
          </a:p>
        </p:txBody>
      </p:sp>
      <p:sp>
        <p:nvSpPr>
          <p:cNvPr id="6" name="Text 4"/>
          <p:cNvSpPr txBox="1"/>
          <p:nvPr/>
        </p:nvSpPr>
        <p:spPr>
          <a:xfrm>
            <a:off x="9052560" y="274320"/>
            <a:ext cx="2697480" cy="256032"/>
          </a:xfrm>
          <a:prstGeom prst="rect">
            <a:avLst/>
          </a:prstGeom>
          <a:noFill/>
          <a:ln/>
        </p:spPr>
        <p:txBody>
          <a:bodyPr wrap="square" lIns="0" tIns="0" rIns="0" bIns="0" rtlCol="0" anchor="ctr"/>
          <a:lstStyle/>
          <a:p>
            <a:pPr algn="r" indent="0" marL="0">
              <a:buNone/>
            </a:pPr>
            <a:r>
              <a:rPr lang="en-US" sz="950" b="1" spc="60" kern="0" dirty="0">
                <a:solidFill>
                  <a:srgbClr val="7C8798"/>
                </a:solidFill>
                <a:latin typeface="Calibri" pitchFamily="34" charset="0"/>
                <a:ea typeface="Calibri" pitchFamily="34" charset="-122"/>
                <a:cs typeface="Calibri" pitchFamily="34" charset="-120"/>
              </a:rPr>
              <a:t>Intake completeness</a:t>
            </a:r>
            <a:endParaRPr lang="en-US" sz="950" dirty="0"/>
          </a:p>
        </p:txBody>
      </p:sp>
      <p:sp>
        <p:nvSpPr>
          <p:cNvPr id="7" name="Shape 5"/>
          <p:cNvSpPr/>
          <p:nvPr/>
        </p:nvSpPr>
        <p:spPr>
          <a:xfrm>
            <a:off x="411480" y="932688"/>
            <a:ext cx="11338560" cy="0"/>
          </a:xfrm>
          <a:prstGeom prst="line">
            <a:avLst/>
          </a:prstGeom>
          <a:noFill/>
          <a:ln w="12700">
            <a:solidFill>
              <a:srgbClr val="D4DAE2"/>
            </a:solidFill>
            <a:prstDash val="solid"/>
          </a:ln>
        </p:spPr>
      </p:sp>
      <p:sp>
        <p:nvSpPr>
          <p:cNvPr id="8" name="Text 6"/>
          <p:cNvSpPr txBox="1"/>
          <p:nvPr/>
        </p:nvSpPr>
        <p:spPr>
          <a:xfrm>
            <a:off x="411480" y="1042416"/>
            <a:ext cx="5486400" cy="182880"/>
          </a:xfrm>
          <a:prstGeom prst="rect">
            <a:avLst/>
          </a:prstGeom>
          <a:noFill/>
          <a:ln/>
        </p:spPr>
        <p:txBody>
          <a:bodyPr wrap="square" lIns="0" tIns="0" rIns="0" bIns="0" rtlCol="0" anchor="ctr"/>
          <a:lstStyle/>
          <a:p>
            <a:pPr indent="0" marL="0">
              <a:buNone/>
            </a:pPr>
            <a:r>
              <a:rPr lang="en-US" sz="760" b="1" spc="110" kern="0" dirty="0">
                <a:solidFill>
                  <a:srgbClr val="1B2432"/>
                </a:solidFill>
                <a:latin typeface="Calibri" pitchFamily="34" charset="0"/>
                <a:ea typeface="Calibri" pitchFamily="34" charset="-122"/>
                <a:cs typeface="Calibri" pitchFamily="34" charset="-120"/>
              </a:rPr>
              <a:t>FOUR COMPLETENESS BANDS, EACH MAPPED TO THE GATE IT BLOCKS</a:t>
            </a:r>
            <a:endParaRPr lang="en-US" sz="760" dirty="0"/>
          </a:p>
        </p:txBody>
      </p:sp>
      <p:sp>
        <p:nvSpPr>
          <p:cNvPr id="9" name="Shape 7"/>
          <p:cNvSpPr/>
          <p:nvPr/>
        </p:nvSpPr>
        <p:spPr>
          <a:xfrm>
            <a:off x="411480" y="1243584"/>
            <a:ext cx="2761488" cy="1463040"/>
          </a:xfrm>
          <a:prstGeom prst="roundRect">
            <a:avLst>
              <a:gd name="adj" fmla="val 3125"/>
            </a:avLst>
          </a:prstGeom>
          <a:solidFill>
            <a:srgbClr val="FFFFFF"/>
          </a:solidFill>
          <a:ln w="15240">
            <a:solidFill>
              <a:srgbClr val="A44A2A"/>
            </a:solidFill>
            <a:prstDash val="solid"/>
          </a:ln>
          <a:effectLst>
            <a:outerShdw sx="100000" sy="100000" kx="0" ky="0" algn="bl" rotWithShape="0" blurRad="88900" dist="12700" dir="5400000">
              <a:srgbClr val="97A3B4">
                <a:alpha val="16000"/>
              </a:srgbClr>
            </a:outerShdw>
          </a:effectLst>
        </p:spPr>
      </p:sp>
      <p:sp>
        <p:nvSpPr>
          <p:cNvPr id="10" name="Shape 8"/>
          <p:cNvSpPr/>
          <p:nvPr/>
        </p:nvSpPr>
        <p:spPr>
          <a:xfrm>
            <a:off x="411480" y="1243584"/>
            <a:ext cx="2761488" cy="310896"/>
          </a:xfrm>
          <a:prstGeom prst="rect">
            <a:avLst/>
          </a:prstGeom>
          <a:solidFill>
            <a:srgbClr val="A44A2A"/>
          </a:solidFill>
          <a:ln w="12700">
            <a:solidFill>
              <a:srgbClr val="333333"/>
            </a:solidFill>
            <a:prstDash val="solid"/>
          </a:ln>
        </p:spPr>
      </p:sp>
      <p:sp>
        <p:nvSpPr>
          <p:cNvPr id="11" name="Text 9"/>
          <p:cNvSpPr txBox="1"/>
          <p:nvPr/>
        </p:nvSpPr>
        <p:spPr>
          <a:xfrm>
            <a:off x="539496" y="1243584"/>
            <a:ext cx="1920240" cy="310896"/>
          </a:xfrm>
          <a:prstGeom prst="rect">
            <a:avLst/>
          </a:prstGeom>
          <a:noFill/>
          <a:ln/>
        </p:spPr>
        <p:txBody>
          <a:bodyPr wrap="square" lIns="0" tIns="0" rIns="0" bIns="0" rtlCol="0" anchor="ctr"/>
          <a:lstStyle/>
          <a:p>
            <a:pPr indent="0" marL="0">
              <a:buNone/>
            </a:pPr>
            <a:r>
              <a:rPr lang="en-US" sz="860" b="1" dirty="0">
                <a:solidFill>
                  <a:srgbClr val="FFFFFF"/>
                </a:solidFill>
                <a:latin typeface="Calibri" pitchFamily="34" charset="0"/>
                <a:ea typeface="Calibri" pitchFamily="34" charset="-122"/>
                <a:cs typeface="Calibri" pitchFamily="34" charset="-120"/>
              </a:rPr>
              <a:t>Mandatory to accept</a:t>
            </a:r>
            <a:endParaRPr lang="en-US" sz="860" dirty="0"/>
          </a:p>
        </p:txBody>
      </p:sp>
      <p:sp>
        <p:nvSpPr>
          <p:cNvPr id="12" name="Text 10"/>
          <p:cNvSpPr txBox="1"/>
          <p:nvPr/>
        </p:nvSpPr>
        <p:spPr>
          <a:xfrm>
            <a:off x="2240280" y="1243584"/>
            <a:ext cx="822960" cy="310896"/>
          </a:xfrm>
          <a:prstGeom prst="rect">
            <a:avLst/>
          </a:prstGeom>
          <a:noFill/>
          <a:ln/>
        </p:spPr>
        <p:txBody>
          <a:bodyPr wrap="square" lIns="0" tIns="0" rIns="0" bIns="0" rtlCol="0" anchor="ctr"/>
          <a:lstStyle/>
          <a:p>
            <a:pPr algn="r" indent="0" marL="0">
              <a:buNone/>
            </a:pPr>
            <a:r>
              <a:rPr lang="en-US" sz="800" b="1" dirty="0">
                <a:solidFill>
                  <a:srgbClr val="DCE6EE"/>
                </a:solidFill>
                <a:latin typeface="Calibri" pitchFamily="34" charset="0"/>
                <a:ea typeface="Calibri" pitchFamily="34" charset="-122"/>
                <a:cs typeface="Calibri" pitchFamily="34" charset="-120"/>
              </a:rPr>
              <a:t>Intake submission</a:t>
            </a:r>
            <a:endParaRPr lang="en-US" sz="800" dirty="0"/>
          </a:p>
        </p:txBody>
      </p:sp>
      <p:sp>
        <p:nvSpPr>
          <p:cNvPr id="13" name="Text 11"/>
          <p:cNvSpPr txBox="1"/>
          <p:nvPr/>
        </p:nvSpPr>
        <p:spPr>
          <a:xfrm>
            <a:off x="539496" y="1627632"/>
            <a:ext cx="2505456" cy="164592"/>
          </a:xfrm>
          <a:prstGeom prst="rect">
            <a:avLst/>
          </a:prstGeom>
          <a:noFill/>
          <a:ln/>
        </p:spPr>
        <p:txBody>
          <a:bodyPr wrap="square" lIns="0" tIns="0" rIns="0" bIns="0" rtlCol="0" anchor="ctr"/>
          <a:lstStyle/>
          <a:p>
            <a:pPr indent="0" marL="0">
              <a:buNone/>
            </a:pPr>
            <a:r>
              <a:rPr lang="en-US" sz="640" b="1" spc="80" kern="0" dirty="0">
                <a:solidFill>
                  <a:srgbClr val="55606E"/>
                </a:solidFill>
                <a:latin typeface="Calibri" pitchFamily="34" charset="0"/>
                <a:ea typeface="Calibri" pitchFamily="34" charset="-122"/>
                <a:cs typeface="Calibri" pitchFamily="34" charset="-120"/>
              </a:rPr>
              <a:t>IF UNANSWERED</a:t>
            </a:r>
            <a:endParaRPr lang="en-US" sz="640" dirty="0"/>
          </a:p>
        </p:txBody>
      </p:sp>
      <p:sp>
        <p:nvSpPr>
          <p:cNvPr id="14" name="Text 12"/>
          <p:cNvSpPr txBox="1"/>
          <p:nvPr/>
        </p:nvSpPr>
        <p:spPr>
          <a:xfrm>
            <a:off x="539496" y="1792224"/>
            <a:ext cx="2505456" cy="237744"/>
          </a:xfrm>
          <a:prstGeom prst="rect">
            <a:avLst/>
          </a:prstGeom>
          <a:noFill/>
          <a:ln/>
        </p:spPr>
        <p:txBody>
          <a:bodyPr wrap="square" lIns="0" tIns="0" rIns="0" bIns="0" rtlCol="0" anchor="ctr"/>
          <a:lstStyle/>
          <a:p>
            <a:pPr indent="0" marL="0">
              <a:buNone/>
            </a:pPr>
            <a:r>
              <a:rPr lang="en-US" sz="820" b="1" dirty="0">
                <a:solidFill>
                  <a:srgbClr val="A44A2A"/>
                </a:solidFill>
                <a:latin typeface="Calibri" pitchFamily="34" charset="0"/>
                <a:ea typeface="Calibri" pitchFamily="34" charset="-122"/>
                <a:cs typeface="Calibri" pitchFamily="34" charset="-120"/>
              </a:rPr>
              <a:t>Not accepted into the queue</a:t>
            </a:r>
            <a:endParaRPr lang="en-US" sz="820" dirty="0"/>
          </a:p>
        </p:txBody>
      </p:sp>
      <p:sp>
        <p:nvSpPr>
          <p:cNvPr id="15" name="Text 13"/>
          <p:cNvSpPr txBox="1"/>
          <p:nvPr/>
        </p:nvSpPr>
        <p:spPr>
          <a:xfrm>
            <a:off x="539496" y="2066544"/>
            <a:ext cx="2505456" cy="164592"/>
          </a:xfrm>
          <a:prstGeom prst="rect">
            <a:avLst/>
          </a:prstGeom>
          <a:noFill/>
          <a:ln/>
        </p:spPr>
        <p:txBody>
          <a:bodyPr wrap="square" lIns="0" tIns="0" rIns="0" bIns="0" rtlCol="0" anchor="ctr"/>
          <a:lstStyle/>
          <a:p>
            <a:pPr indent="0" marL="0">
              <a:buNone/>
            </a:pPr>
            <a:r>
              <a:rPr lang="en-US" sz="640" b="1" spc="80" kern="0" dirty="0">
                <a:solidFill>
                  <a:srgbClr val="55606E"/>
                </a:solidFill>
                <a:latin typeface="Calibri" pitchFamily="34" charset="0"/>
                <a:ea typeface="Calibri" pitchFamily="34" charset="-122"/>
                <a:cs typeface="Calibri" pitchFamily="34" charset="-120"/>
              </a:rPr>
              <a:t>TYPICAL CONTENT</a:t>
            </a:r>
            <a:endParaRPr lang="en-US" sz="640" dirty="0"/>
          </a:p>
        </p:txBody>
      </p:sp>
      <p:sp>
        <p:nvSpPr>
          <p:cNvPr id="16" name="Text 14"/>
          <p:cNvSpPr txBox="1"/>
          <p:nvPr/>
        </p:nvSpPr>
        <p:spPr>
          <a:xfrm>
            <a:off x="539496" y="2231136"/>
            <a:ext cx="2505456" cy="438912"/>
          </a:xfrm>
          <a:prstGeom prst="rect">
            <a:avLst/>
          </a:prstGeom>
          <a:noFill/>
          <a:ln/>
        </p:spPr>
        <p:txBody>
          <a:bodyPr wrap="square" lIns="0" tIns="0" rIns="0" bIns="0" rtlCol="0" anchor="ctr"/>
          <a:lstStyle/>
          <a:p>
            <a:pPr indent="0" marL="0">
              <a:lnSpc>
                <a:spcPts val="880"/>
              </a:lnSpc>
              <a:buNone/>
            </a:pPr>
            <a:r>
              <a:rPr lang="en-US" sz="740" dirty="0">
                <a:solidFill>
                  <a:srgbClr val="55606E"/>
                </a:solidFill>
                <a:latin typeface="Calibri" pitchFamily="34" charset="0"/>
                <a:ea typeface="Calibri" pitchFamily="34" charset="-122"/>
                <a:cs typeface="Calibri" pitchFamily="34" charset="-120"/>
              </a:rPr>
              <a:t>Business outcome · application identity · zone · document types · named owners</a:t>
            </a:r>
            <a:endParaRPr lang="en-US" sz="740" dirty="0"/>
          </a:p>
        </p:txBody>
      </p:sp>
      <p:sp>
        <p:nvSpPr>
          <p:cNvPr id="17" name="Shape 15"/>
          <p:cNvSpPr/>
          <p:nvPr/>
        </p:nvSpPr>
        <p:spPr>
          <a:xfrm>
            <a:off x="3319272" y="1243584"/>
            <a:ext cx="2761488" cy="1463040"/>
          </a:xfrm>
          <a:prstGeom prst="roundRect">
            <a:avLst>
              <a:gd name="adj" fmla="val 3125"/>
            </a:avLst>
          </a:prstGeom>
          <a:solidFill>
            <a:srgbClr val="FFFFFF"/>
          </a:solidFill>
          <a:ln w="15240">
            <a:solidFill>
              <a:srgbClr val="9A6410"/>
            </a:solidFill>
            <a:prstDash val="solid"/>
          </a:ln>
          <a:effectLst>
            <a:outerShdw sx="100000" sy="100000" kx="0" ky="0" algn="bl" rotWithShape="0" blurRad="88900" dist="12700" dir="5400000">
              <a:srgbClr val="97A3B4">
                <a:alpha val="16000"/>
              </a:srgbClr>
            </a:outerShdw>
          </a:effectLst>
        </p:spPr>
      </p:sp>
      <p:sp>
        <p:nvSpPr>
          <p:cNvPr id="18" name="Shape 16"/>
          <p:cNvSpPr/>
          <p:nvPr/>
        </p:nvSpPr>
        <p:spPr>
          <a:xfrm>
            <a:off x="3319272" y="1243584"/>
            <a:ext cx="2761488" cy="310896"/>
          </a:xfrm>
          <a:prstGeom prst="rect">
            <a:avLst/>
          </a:prstGeom>
          <a:solidFill>
            <a:srgbClr val="9A6410"/>
          </a:solidFill>
          <a:ln w="12700">
            <a:solidFill>
              <a:srgbClr val="333333"/>
            </a:solidFill>
            <a:prstDash val="solid"/>
          </a:ln>
        </p:spPr>
      </p:sp>
      <p:sp>
        <p:nvSpPr>
          <p:cNvPr id="19" name="Text 17"/>
          <p:cNvSpPr txBox="1"/>
          <p:nvPr/>
        </p:nvSpPr>
        <p:spPr>
          <a:xfrm>
            <a:off x="3447288" y="1243584"/>
            <a:ext cx="1920240" cy="310896"/>
          </a:xfrm>
          <a:prstGeom prst="rect">
            <a:avLst/>
          </a:prstGeom>
          <a:noFill/>
          <a:ln/>
        </p:spPr>
        <p:txBody>
          <a:bodyPr wrap="square" lIns="0" tIns="0" rIns="0" bIns="0" rtlCol="0" anchor="ctr"/>
          <a:lstStyle/>
          <a:p>
            <a:pPr indent="0" marL="0">
              <a:buNone/>
            </a:pPr>
            <a:r>
              <a:rPr lang="en-US" sz="860" b="1" dirty="0">
                <a:solidFill>
                  <a:srgbClr val="FFFFFF"/>
                </a:solidFill>
                <a:latin typeface="Calibri" pitchFamily="34" charset="0"/>
                <a:ea typeface="Calibri" pitchFamily="34" charset="-122"/>
                <a:cs typeface="Calibri" pitchFamily="34" charset="-120"/>
              </a:rPr>
              <a:t>Mandatory to design</a:t>
            </a:r>
            <a:endParaRPr lang="en-US" sz="860" dirty="0"/>
          </a:p>
        </p:txBody>
      </p:sp>
      <p:sp>
        <p:nvSpPr>
          <p:cNvPr id="20" name="Text 18"/>
          <p:cNvSpPr txBox="1"/>
          <p:nvPr/>
        </p:nvSpPr>
        <p:spPr>
          <a:xfrm>
            <a:off x="5148072" y="1243584"/>
            <a:ext cx="822960" cy="310896"/>
          </a:xfrm>
          <a:prstGeom prst="rect">
            <a:avLst/>
          </a:prstGeom>
          <a:noFill/>
          <a:ln/>
        </p:spPr>
        <p:txBody>
          <a:bodyPr wrap="square" lIns="0" tIns="0" rIns="0" bIns="0" rtlCol="0" anchor="ctr"/>
          <a:lstStyle/>
          <a:p>
            <a:pPr algn="r" indent="0" marL="0">
              <a:buNone/>
            </a:pPr>
            <a:r>
              <a:rPr lang="en-US" sz="800" b="1" dirty="0">
                <a:solidFill>
                  <a:srgbClr val="DCE6EE"/>
                </a:solidFill>
                <a:latin typeface="Calibri" pitchFamily="34" charset="0"/>
                <a:ea typeface="Calibri" pitchFamily="34" charset="-122"/>
                <a:cs typeface="Calibri" pitchFamily="34" charset="-120"/>
              </a:rPr>
              <a:t>P1 gate</a:t>
            </a:r>
            <a:endParaRPr lang="en-US" sz="800" dirty="0"/>
          </a:p>
        </p:txBody>
      </p:sp>
      <p:sp>
        <p:nvSpPr>
          <p:cNvPr id="21" name="Text 19"/>
          <p:cNvSpPr txBox="1"/>
          <p:nvPr/>
        </p:nvSpPr>
        <p:spPr>
          <a:xfrm>
            <a:off x="3447288" y="1627632"/>
            <a:ext cx="2505456" cy="164592"/>
          </a:xfrm>
          <a:prstGeom prst="rect">
            <a:avLst/>
          </a:prstGeom>
          <a:noFill/>
          <a:ln/>
        </p:spPr>
        <p:txBody>
          <a:bodyPr wrap="square" lIns="0" tIns="0" rIns="0" bIns="0" rtlCol="0" anchor="ctr"/>
          <a:lstStyle/>
          <a:p>
            <a:pPr indent="0" marL="0">
              <a:buNone/>
            </a:pPr>
            <a:r>
              <a:rPr lang="en-US" sz="640" b="1" spc="80" kern="0" dirty="0">
                <a:solidFill>
                  <a:srgbClr val="55606E"/>
                </a:solidFill>
                <a:latin typeface="Calibri" pitchFamily="34" charset="0"/>
                <a:ea typeface="Calibri" pitchFamily="34" charset="-122"/>
                <a:cs typeface="Calibri" pitchFamily="34" charset="-120"/>
              </a:rPr>
              <a:t>IF UNANSWERED</a:t>
            </a:r>
            <a:endParaRPr lang="en-US" sz="640" dirty="0"/>
          </a:p>
        </p:txBody>
      </p:sp>
      <p:sp>
        <p:nvSpPr>
          <p:cNvPr id="22" name="Text 20"/>
          <p:cNvSpPr txBox="1"/>
          <p:nvPr/>
        </p:nvSpPr>
        <p:spPr>
          <a:xfrm>
            <a:off x="3447288" y="1792224"/>
            <a:ext cx="2505456" cy="237744"/>
          </a:xfrm>
          <a:prstGeom prst="rect">
            <a:avLst/>
          </a:prstGeom>
          <a:noFill/>
          <a:ln/>
        </p:spPr>
        <p:txBody>
          <a:bodyPr wrap="square" lIns="0" tIns="0" rIns="0" bIns="0" rtlCol="0" anchor="ctr"/>
          <a:lstStyle/>
          <a:p>
            <a:pPr indent="0" marL="0">
              <a:buNone/>
            </a:pPr>
            <a:r>
              <a:rPr lang="en-US" sz="820" b="1" dirty="0">
                <a:solidFill>
                  <a:srgbClr val="9A6410"/>
                </a:solidFill>
                <a:latin typeface="Calibri" pitchFamily="34" charset="0"/>
                <a:ea typeface="Calibri" pitchFamily="34" charset="-122"/>
                <a:cs typeface="Calibri" pitchFamily="34" charset="-120"/>
              </a:rPr>
              <a:t>Design baseline cannot close</a:t>
            </a:r>
            <a:endParaRPr lang="en-US" sz="820" dirty="0"/>
          </a:p>
        </p:txBody>
      </p:sp>
      <p:sp>
        <p:nvSpPr>
          <p:cNvPr id="23" name="Text 21"/>
          <p:cNvSpPr txBox="1"/>
          <p:nvPr/>
        </p:nvSpPr>
        <p:spPr>
          <a:xfrm>
            <a:off x="3447288" y="2066544"/>
            <a:ext cx="2505456" cy="164592"/>
          </a:xfrm>
          <a:prstGeom prst="rect">
            <a:avLst/>
          </a:prstGeom>
          <a:noFill/>
          <a:ln/>
        </p:spPr>
        <p:txBody>
          <a:bodyPr wrap="square" lIns="0" tIns="0" rIns="0" bIns="0" rtlCol="0" anchor="ctr"/>
          <a:lstStyle/>
          <a:p>
            <a:pPr indent="0" marL="0">
              <a:buNone/>
            </a:pPr>
            <a:r>
              <a:rPr lang="en-US" sz="640" b="1" spc="80" kern="0" dirty="0">
                <a:solidFill>
                  <a:srgbClr val="55606E"/>
                </a:solidFill>
                <a:latin typeface="Calibri" pitchFamily="34" charset="0"/>
                <a:ea typeface="Calibri" pitchFamily="34" charset="-122"/>
                <a:cs typeface="Calibri" pitchFamily="34" charset="-120"/>
              </a:rPr>
              <a:t>TYPICAL CONTENT</a:t>
            </a:r>
            <a:endParaRPr lang="en-US" sz="640" dirty="0"/>
          </a:p>
        </p:txBody>
      </p:sp>
      <p:sp>
        <p:nvSpPr>
          <p:cNvPr id="24" name="Text 22"/>
          <p:cNvSpPr txBox="1"/>
          <p:nvPr/>
        </p:nvSpPr>
        <p:spPr>
          <a:xfrm>
            <a:off x="3447288" y="2231136"/>
            <a:ext cx="2505456" cy="438912"/>
          </a:xfrm>
          <a:prstGeom prst="rect">
            <a:avLst/>
          </a:prstGeom>
          <a:noFill/>
          <a:ln/>
        </p:spPr>
        <p:txBody>
          <a:bodyPr wrap="square" lIns="0" tIns="0" rIns="0" bIns="0" rtlCol="0" anchor="ctr"/>
          <a:lstStyle/>
          <a:p>
            <a:pPr indent="0" marL="0">
              <a:lnSpc>
                <a:spcPts val="880"/>
              </a:lnSpc>
              <a:buNone/>
            </a:pPr>
            <a:r>
              <a:rPr lang="en-US" sz="740" dirty="0">
                <a:solidFill>
                  <a:srgbClr val="55606E"/>
                </a:solidFill>
                <a:latin typeface="Calibri" pitchFamily="34" charset="0"/>
                <a:ea typeface="Calibri" pitchFamily="34" charset="-122"/>
                <a:cs typeface="Calibri" pitchFamily="34" charset="-120"/>
              </a:rPr>
              <a:t>Trust posture inputs · samples · retention obligation · volumes · channel</a:t>
            </a:r>
            <a:endParaRPr lang="en-US" sz="740" dirty="0"/>
          </a:p>
        </p:txBody>
      </p:sp>
      <p:sp>
        <p:nvSpPr>
          <p:cNvPr id="25" name="Shape 23"/>
          <p:cNvSpPr/>
          <p:nvPr/>
        </p:nvSpPr>
        <p:spPr>
          <a:xfrm>
            <a:off x="6227064" y="1243584"/>
            <a:ext cx="2761488" cy="1463040"/>
          </a:xfrm>
          <a:prstGeom prst="roundRect">
            <a:avLst>
              <a:gd name="adj" fmla="val 3125"/>
            </a:avLst>
          </a:prstGeom>
          <a:solidFill>
            <a:srgbClr val="FFFFFF"/>
          </a:solidFill>
          <a:ln w="15240">
            <a:solidFill>
              <a:srgbClr val="0B6E6E"/>
            </a:solidFill>
            <a:prstDash val="solid"/>
          </a:ln>
          <a:effectLst>
            <a:outerShdw sx="100000" sy="100000" kx="0" ky="0" algn="bl" rotWithShape="0" blurRad="88900" dist="12700" dir="5400000">
              <a:srgbClr val="97A3B4">
                <a:alpha val="16000"/>
              </a:srgbClr>
            </a:outerShdw>
          </a:effectLst>
        </p:spPr>
      </p:sp>
      <p:sp>
        <p:nvSpPr>
          <p:cNvPr id="26" name="Shape 24"/>
          <p:cNvSpPr/>
          <p:nvPr/>
        </p:nvSpPr>
        <p:spPr>
          <a:xfrm>
            <a:off x="6227064" y="1243584"/>
            <a:ext cx="2761488" cy="310896"/>
          </a:xfrm>
          <a:prstGeom prst="rect">
            <a:avLst/>
          </a:prstGeom>
          <a:solidFill>
            <a:srgbClr val="0B6E6E"/>
          </a:solidFill>
          <a:ln w="12700">
            <a:solidFill>
              <a:srgbClr val="333333"/>
            </a:solidFill>
            <a:prstDash val="solid"/>
          </a:ln>
        </p:spPr>
      </p:sp>
      <p:sp>
        <p:nvSpPr>
          <p:cNvPr id="27" name="Text 25"/>
          <p:cNvSpPr txBox="1"/>
          <p:nvPr/>
        </p:nvSpPr>
        <p:spPr>
          <a:xfrm>
            <a:off x="6355080" y="1243584"/>
            <a:ext cx="1920240" cy="310896"/>
          </a:xfrm>
          <a:prstGeom prst="rect">
            <a:avLst/>
          </a:prstGeom>
          <a:noFill/>
          <a:ln/>
        </p:spPr>
        <p:txBody>
          <a:bodyPr wrap="square" lIns="0" tIns="0" rIns="0" bIns="0" rtlCol="0" anchor="ctr"/>
          <a:lstStyle/>
          <a:p>
            <a:pPr indent="0" marL="0">
              <a:buNone/>
            </a:pPr>
            <a:r>
              <a:rPr lang="en-US" sz="860" b="1" dirty="0">
                <a:solidFill>
                  <a:srgbClr val="FFFFFF"/>
                </a:solidFill>
                <a:latin typeface="Calibri" pitchFamily="34" charset="0"/>
                <a:ea typeface="Calibri" pitchFamily="34" charset="-122"/>
                <a:cs typeface="Calibri" pitchFamily="34" charset="-120"/>
              </a:rPr>
              <a:t>Mandatory to provision</a:t>
            </a:r>
            <a:endParaRPr lang="en-US" sz="860" dirty="0"/>
          </a:p>
        </p:txBody>
      </p:sp>
      <p:sp>
        <p:nvSpPr>
          <p:cNvPr id="28" name="Text 26"/>
          <p:cNvSpPr txBox="1"/>
          <p:nvPr/>
        </p:nvSpPr>
        <p:spPr>
          <a:xfrm>
            <a:off x="8055864" y="1243584"/>
            <a:ext cx="822960" cy="310896"/>
          </a:xfrm>
          <a:prstGeom prst="rect">
            <a:avLst/>
          </a:prstGeom>
          <a:noFill/>
          <a:ln/>
        </p:spPr>
        <p:txBody>
          <a:bodyPr wrap="square" lIns="0" tIns="0" rIns="0" bIns="0" rtlCol="0" anchor="ctr"/>
          <a:lstStyle/>
          <a:p>
            <a:pPr algn="r" indent="0" marL="0">
              <a:buNone/>
            </a:pPr>
            <a:r>
              <a:rPr lang="en-US" sz="800" b="1" dirty="0">
                <a:solidFill>
                  <a:srgbClr val="DCE6EE"/>
                </a:solidFill>
                <a:latin typeface="Calibri" pitchFamily="34" charset="0"/>
                <a:ea typeface="Calibri" pitchFamily="34" charset="-122"/>
                <a:cs typeface="Calibri" pitchFamily="34" charset="-120"/>
              </a:rPr>
              <a:t>P2 gate</a:t>
            </a:r>
            <a:endParaRPr lang="en-US" sz="800" dirty="0"/>
          </a:p>
        </p:txBody>
      </p:sp>
      <p:sp>
        <p:nvSpPr>
          <p:cNvPr id="29" name="Text 27"/>
          <p:cNvSpPr txBox="1"/>
          <p:nvPr/>
        </p:nvSpPr>
        <p:spPr>
          <a:xfrm>
            <a:off x="6355080" y="1627632"/>
            <a:ext cx="2505456" cy="164592"/>
          </a:xfrm>
          <a:prstGeom prst="rect">
            <a:avLst/>
          </a:prstGeom>
          <a:noFill/>
          <a:ln/>
        </p:spPr>
        <p:txBody>
          <a:bodyPr wrap="square" lIns="0" tIns="0" rIns="0" bIns="0" rtlCol="0" anchor="ctr"/>
          <a:lstStyle/>
          <a:p>
            <a:pPr indent="0" marL="0">
              <a:buNone/>
            </a:pPr>
            <a:r>
              <a:rPr lang="en-US" sz="640" b="1" spc="80" kern="0" dirty="0">
                <a:solidFill>
                  <a:srgbClr val="55606E"/>
                </a:solidFill>
                <a:latin typeface="Calibri" pitchFamily="34" charset="0"/>
                <a:ea typeface="Calibri" pitchFamily="34" charset="-122"/>
                <a:cs typeface="Calibri" pitchFamily="34" charset="-120"/>
              </a:rPr>
              <a:t>IF UNANSWERED</a:t>
            </a:r>
            <a:endParaRPr lang="en-US" sz="640" dirty="0"/>
          </a:p>
        </p:txBody>
      </p:sp>
      <p:sp>
        <p:nvSpPr>
          <p:cNvPr id="30" name="Text 28"/>
          <p:cNvSpPr txBox="1"/>
          <p:nvPr/>
        </p:nvSpPr>
        <p:spPr>
          <a:xfrm>
            <a:off x="6355080" y="1792224"/>
            <a:ext cx="2505456" cy="237744"/>
          </a:xfrm>
          <a:prstGeom prst="rect">
            <a:avLst/>
          </a:prstGeom>
          <a:noFill/>
          <a:ln/>
        </p:spPr>
        <p:txBody>
          <a:bodyPr wrap="square" lIns="0" tIns="0" rIns="0" bIns="0" rtlCol="0" anchor="ctr"/>
          <a:lstStyle/>
          <a:p>
            <a:pPr indent="0" marL="0">
              <a:buNone/>
            </a:pPr>
            <a:r>
              <a:rPr lang="en-US" sz="820" b="1" dirty="0">
                <a:solidFill>
                  <a:srgbClr val="0B6E6E"/>
                </a:solidFill>
                <a:latin typeface="Calibri" pitchFamily="34" charset="0"/>
                <a:ea typeface="Calibri" pitchFamily="34" charset="-122"/>
                <a:cs typeface="Calibri" pitchFamily="34" charset="-120"/>
              </a:rPr>
              <a:t>Provisioning cannot complete</a:t>
            </a:r>
            <a:endParaRPr lang="en-US" sz="820" dirty="0"/>
          </a:p>
        </p:txBody>
      </p:sp>
      <p:sp>
        <p:nvSpPr>
          <p:cNvPr id="31" name="Text 29"/>
          <p:cNvSpPr txBox="1"/>
          <p:nvPr/>
        </p:nvSpPr>
        <p:spPr>
          <a:xfrm>
            <a:off x="6355080" y="2066544"/>
            <a:ext cx="2505456" cy="164592"/>
          </a:xfrm>
          <a:prstGeom prst="rect">
            <a:avLst/>
          </a:prstGeom>
          <a:noFill/>
          <a:ln/>
        </p:spPr>
        <p:txBody>
          <a:bodyPr wrap="square" lIns="0" tIns="0" rIns="0" bIns="0" rtlCol="0" anchor="ctr"/>
          <a:lstStyle/>
          <a:p>
            <a:pPr indent="0" marL="0">
              <a:buNone/>
            </a:pPr>
            <a:r>
              <a:rPr lang="en-US" sz="640" b="1" spc="80" kern="0" dirty="0">
                <a:solidFill>
                  <a:srgbClr val="55606E"/>
                </a:solidFill>
                <a:latin typeface="Calibri" pitchFamily="34" charset="0"/>
                <a:ea typeface="Calibri" pitchFamily="34" charset="-122"/>
                <a:cs typeface="Calibri" pitchFamily="34" charset="-120"/>
              </a:rPr>
              <a:t>TYPICAL CONTENT</a:t>
            </a:r>
            <a:endParaRPr lang="en-US" sz="640" dirty="0"/>
          </a:p>
        </p:txBody>
      </p:sp>
      <p:sp>
        <p:nvSpPr>
          <p:cNvPr id="32" name="Text 30"/>
          <p:cNvSpPr txBox="1"/>
          <p:nvPr/>
        </p:nvSpPr>
        <p:spPr>
          <a:xfrm>
            <a:off x="6355080" y="2231136"/>
            <a:ext cx="2505456" cy="438912"/>
          </a:xfrm>
          <a:prstGeom prst="rect">
            <a:avLst/>
          </a:prstGeom>
          <a:noFill/>
          <a:ln/>
        </p:spPr>
        <p:txBody>
          <a:bodyPr wrap="square" lIns="0" tIns="0" rIns="0" bIns="0" rtlCol="0" anchor="ctr"/>
          <a:lstStyle/>
          <a:p>
            <a:pPr indent="0" marL="0">
              <a:lnSpc>
                <a:spcPts val="880"/>
              </a:lnSpc>
              <a:buNone/>
            </a:pPr>
            <a:r>
              <a:rPr lang="en-US" sz="740" dirty="0">
                <a:solidFill>
                  <a:srgbClr val="55606E"/>
                </a:solidFill>
                <a:latin typeface="Calibri" pitchFamily="34" charset="0"/>
                <a:ea typeface="Calibri" pitchFamily="34" charset="-122"/>
                <a:cs typeface="Calibri" pitchFamily="34" charset="-120"/>
              </a:rPr>
              <a:t>Metadata attributes · user populations · access routing inputs · certificates</a:t>
            </a:r>
            <a:endParaRPr lang="en-US" sz="740" dirty="0"/>
          </a:p>
        </p:txBody>
      </p:sp>
      <p:sp>
        <p:nvSpPr>
          <p:cNvPr id="33" name="Shape 31"/>
          <p:cNvSpPr/>
          <p:nvPr/>
        </p:nvSpPr>
        <p:spPr>
          <a:xfrm>
            <a:off x="9134856" y="1243584"/>
            <a:ext cx="2761488" cy="1463040"/>
          </a:xfrm>
          <a:prstGeom prst="roundRect">
            <a:avLst>
              <a:gd name="adj" fmla="val 3125"/>
            </a:avLst>
          </a:prstGeom>
          <a:solidFill>
            <a:srgbClr val="FFFFFF"/>
          </a:solidFill>
          <a:ln w="15240">
            <a:solidFill>
              <a:srgbClr val="15304F"/>
            </a:solidFill>
            <a:prstDash val="solid"/>
          </a:ln>
          <a:effectLst>
            <a:outerShdw sx="100000" sy="100000" kx="0" ky="0" algn="bl" rotWithShape="0" blurRad="88900" dist="12700" dir="5400000">
              <a:srgbClr val="97A3B4">
                <a:alpha val="16000"/>
              </a:srgbClr>
            </a:outerShdw>
          </a:effectLst>
        </p:spPr>
      </p:sp>
      <p:sp>
        <p:nvSpPr>
          <p:cNvPr id="34" name="Shape 32"/>
          <p:cNvSpPr/>
          <p:nvPr/>
        </p:nvSpPr>
        <p:spPr>
          <a:xfrm>
            <a:off x="9134856" y="1243584"/>
            <a:ext cx="2761488" cy="310896"/>
          </a:xfrm>
          <a:prstGeom prst="rect">
            <a:avLst/>
          </a:prstGeom>
          <a:solidFill>
            <a:srgbClr val="15304F"/>
          </a:solidFill>
          <a:ln w="12700">
            <a:solidFill>
              <a:srgbClr val="333333"/>
            </a:solidFill>
            <a:prstDash val="solid"/>
          </a:ln>
        </p:spPr>
      </p:sp>
      <p:sp>
        <p:nvSpPr>
          <p:cNvPr id="35" name="Text 33"/>
          <p:cNvSpPr txBox="1"/>
          <p:nvPr/>
        </p:nvSpPr>
        <p:spPr>
          <a:xfrm>
            <a:off x="9262872" y="1243584"/>
            <a:ext cx="1920240" cy="310896"/>
          </a:xfrm>
          <a:prstGeom prst="rect">
            <a:avLst/>
          </a:prstGeom>
          <a:noFill/>
          <a:ln/>
        </p:spPr>
        <p:txBody>
          <a:bodyPr wrap="square" lIns="0" tIns="0" rIns="0" bIns="0" rtlCol="0" anchor="ctr"/>
          <a:lstStyle/>
          <a:p>
            <a:pPr indent="0" marL="0">
              <a:buNone/>
            </a:pPr>
            <a:r>
              <a:rPr lang="en-US" sz="860" b="1" dirty="0">
                <a:solidFill>
                  <a:srgbClr val="FFFFFF"/>
                </a:solidFill>
                <a:latin typeface="Calibri" pitchFamily="34" charset="0"/>
                <a:ea typeface="Calibri" pitchFamily="34" charset="-122"/>
                <a:cs typeface="Calibri" pitchFamily="34" charset="-120"/>
              </a:rPr>
              <a:t>Mandatory to certify</a:t>
            </a:r>
            <a:endParaRPr lang="en-US" sz="860" dirty="0"/>
          </a:p>
        </p:txBody>
      </p:sp>
      <p:sp>
        <p:nvSpPr>
          <p:cNvPr id="36" name="Text 34"/>
          <p:cNvSpPr txBox="1"/>
          <p:nvPr/>
        </p:nvSpPr>
        <p:spPr>
          <a:xfrm>
            <a:off x="10963656" y="1243584"/>
            <a:ext cx="822960" cy="310896"/>
          </a:xfrm>
          <a:prstGeom prst="rect">
            <a:avLst/>
          </a:prstGeom>
          <a:noFill/>
          <a:ln/>
        </p:spPr>
        <p:txBody>
          <a:bodyPr wrap="square" lIns="0" tIns="0" rIns="0" bIns="0" rtlCol="0" anchor="ctr"/>
          <a:lstStyle/>
          <a:p>
            <a:pPr algn="r" indent="0" marL="0">
              <a:buNone/>
            </a:pPr>
            <a:r>
              <a:rPr lang="en-US" sz="800" b="1" dirty="0">
                <a:solidFill>
                  <a:srgbClr val="DCE6EE"/>
                </a:solidFill>
                <a:latin typeface="Calibri" pitchFamily="34" charset="0"/>
                <a:ea typeface="Calibri" pitchFamily="34" charset="-122"/>
                <a:cs typeface="Calibri" pitchFamily="34" charset="-120"/>
              </a:rPr>
              <a:t>P4 gate</a:t>
            </a:r>
            <a:endParaRPr lang="en-US" sz="800" dirty="0"/>
          </a:p>
        </p:txBody>
      </p:sp>
      <p:sp>
        <p:nvSpPr>
          <p:cNvPr id="37" name="Text 35"/>
          <p:cNvSpPr txBox="1"/>
          <p:nvPr/>
        </p:nvSpPr>
        <p:spPr>
          <a:xfrm>
            <a:off x="9262872" y="1627632"/>
            <a:ext cx="2505456" cy="164592"/>
          </a:xfrm>
          <a:prstGeom prst="rect">
            <a:avLst/>
          </a:prstGeom>
          <a:noFill/>
          <a:ln/>
        </p:spPr>
        <p:txBody>
          <a:bodyPr wrap="square" lIns="0" tIns="0" rIns="0" bIns="0" rtlCol="0" anchor="ctr"/>
          <a:lstStyle/>
          <a:p>
            <a:pPr indent="0" marL="0">
              <a:buNone/>
            </a:pPr>
            <a:r>
              <a:rPr lang="en-US" sz="640" b="1" spc="80" kern="0" dirty="0">
                <a:solidFill>
                  <a:srgbClr val="55606E"/>
                </a:solidFill>
                <a:latin typeface="Calibri" pitchFamily="34" charset="0"/>
                <a:ea typeface="Calibri" pitchFamily="34" charset="-122"/>
                <a:cs typeface="Calibri" pitchFamily="34" charset="-120"/>
              </a:rPr>
              <a:t>IF UNANSWERED</a:t>
            </a:r>
            <a:endParaRPr lang="en-US" sz="640" dirty="0"/>
          </a:p>
        </p:txBody>
      </p:sp>
      <p:sp>
        <p:nvSpPr>
          <p:cNvPr id="38" name="Text 36"/>
          <p:cNvSpPr txBox="1"/>
          <p:nvPr/>
        </p:nvSpPr>
        <p:spPr>
          <a:xfrm>
            <a:off x="9262872" y="1792224"/>
            <a:ext cx="2505456" cy="237744"/>
          </a:xfrm>
          <a:prstGeom prst="rect">
            <a:avLst/>
          </a:prstGeom>
          <a:noFill/>
          <a:ln/>
        </p:spPr>
        <p:txBody>
          <a:bodyPr wrap="square" lIns="0" tIns="0" rIns="0" bIns="0" rtlCol="0" anchor="ctr"/>
          <a:lstStyle/>
          <a:p>
            <a:pPr indent="0" marL="0">
              <a:buNone/>
            </a:pPr>
            <a:r>
              <a:rPr lang="en-US" sz="820" b="1" dirty="0">
                <a:solidFill>
                  <a:srgbClr val="15304F"/>
                </a:solidFill>
                <a:latin typeface="Calibri" pitchFamily="34" charset="0"/>
                <a:ea typeface="Calibri" pitchFamily="34" charset="-122"/>
                <a:cs typeface="Calibri" pitchFamily="34" charset="-120"/>
              </a:rPr>
              <a:t>Promotion is blocked</a:t>
            </a:r>
            <a:endParaRPr lang="en-US" sz="820" dirty="0"/>
          </a:p>
        </p:txBody>
      </p:sp>
      <p:sp>
        <p:nvSpPr>
          <p:cNvPr id="39" name="Text 37"/>
          <p:cNvSpPr txBox="1"/>
          <p:nvPr/>
        </p:nvSpPr>
        <p:spPr>
          <a:xfrm>
            <a:off x="9262872" y="2066544"/>
            <a:ext cx="2505456" cy="164592"/>
          </a:xfrm>
          <a:prstGeom prst="rect">
            <a:avLst/>
          </a:prstGeom>
          <a:noFill/>
          <a:ln/>
        </p:spPr>
        <p:txBody>
          <a:bodyPr wrap="square" lIns="0" tIns="0" rIns="0" bIns="0" rtlCol="0" anchor="ctr"/>
          <a:lstStyle/>
          <a:p>
            <a:pPr indent="0" marL="0">
              <a:buNone/>
            </a:pPr>
            <a:r>
              <a:rPr lang="en-US" sz="640" b="1" spc="80" kern="0" dirty="0">
                <a:solidFill>
                  <a:srgbClr val="55606E"/>
                </a:solidFill>
                <a:latin typeface="Calibri" pitchFamily="34" charset="0"/>
                <a:ea typeface="Calibri" pitchFamily="34" charset="-122"/>
                <a:cs typeface="Calibri" pitchFamily="34" charset="-120"/>
              </a:rPr>
              <a:t>TYPICAL CONTENT</a:t>
            </a:r>
            <a:endParaRPr lang="en-US" sz="640" dirty="0"/>
          </a:p>
        </p:txBody>
      </p:sp>
      <p:sp>
        <p:nvSpPr>
          <p:cNvPr id="40" name="Text 38"/>
          <p:cNvSpPr txBox="1"/>
          <p:nvPr/>
        </p:nvSpPr>
        <p:spPr>
          <a:xfrm>
            <a:off x="9262872" y="2231136"/>
            <a:ext cx="2505456" cy="438912"/>
          </a:xfrm>
          <a:prstGeom prst="rect">
            <a:avLst/>
          </a:prstGeom>
          <a:noFill/>
          <a:ln/>
        </p:spPr>
        <p:txBody>
          <a:bodyPr wrap="square" lIns="0" tIns="0" rIns="0" bIns="0" rtlCol="0" anchor="ctr"/>
          <a:lstStyle/>
          <a:p>
            <a:pPr indent="0" marL="0">
              <a:lnSpc>
                <a:spcPts val="880"/>
              </a:lnSpc>
              <a:buNone/>
            </a:pPr>
            <a:r>
              <a:rPr lang="en-US" sz="740" dirty="0">
                <a:solidFill>
                  <a:srgbClr val="55606E"/>
                </a:solidFill>
                <a:latin typeface="Calibri" pitchFamily="34" charset="0"/>
                <a:ea typeface="Calibri" pitchFamily="34" charset="-122"/>
                <a:cs typeface="Calibri" pitchFamily="34" charset="-120"/>
              </a:rPr>
              <a:t>UAT participants · cutover constraints · support model · escalation contacts</a:t>
            </a:r>
            <a:endParaRPr lang="en-US" sz="740" dirty="0"/>
          </a:p>
        </p:txBody>
      </p:sp>
      <p:sp>
        <p:nvSpPr>
          <p:cNvPr id="41" name="Shape 39"/>
          <p:cNvSpPr/>
          <p:nvPr/>
        </p:nvSpPr>
        <p:spPr>
          <a:xfrm>
            <a:off x="411480" y="2852928"/>
            <a:ext cx="11338560" cy="603504"/>
          </a:xfrm>
          <a:prstGeom prst="roundRect">
            <a:avLst>
              <a:gd name="adj" fmla="val 7576"/>
            </a:avLst>
          </a:prstGeom>
          <a:solidFill>
            <a:srgbClr val="FBF0EB"/>
          </a:solidFill>
          <a:ln w="12700">
            <a:solidFill>
              <a:srgbClr val="A44A2A"/>
            </a:solidFill>
            <a:prstDash val="solid"/>
          </a:ln>
        </p:spPr>
      </p:sp>
      <p:sp>
        <p:nvSpPr>
          <p:cNvPr id="42" name="Text 40"/>
          <p:cNvSpPr txBox="1"/>
          <p:nvPr/>
        </p:nvSpPr>
        <p:spPr>
          <a:xfrm>
            <a:off x="557784" y="2935224"/>
            <a:ext cx="11045952" cy="182880"/>
          </a:xfrm>
          <a:prstGeom prst="rect">
            <a:avLst/>
          </a:prstGeom>
          <a:noFill/>
          <a:ln/>
        </p:spPr>
        <p:txBody>
          <a:bodyPr wrap="square" lIns="0" tIns="0" rIns="0" bIns="0" rtlCol="0" anchor="ctr"/>
          <a:lstStyle/>
          <a:p>
            <a:pPr indent="0" marL="0">
              <a:buNone/>
            </a:pPr>
            <a:r>
              <a:rPr lang="en-US" sz="760" b="1" spc="100" kern="0" dirty="0">
                <a:solidFill>
                  <a:srgbClr val="A44A2A"/>
                </a:solidFill>
                <a:latin typeface="Calibri" pitchFamily="34" charset="0"/>
                <a:ea typeface="Calibri" pitchFamily="34" charset="-122"/>
                <a:cs typeface="Calibri" pitchFamily="34" charset="-120"/>
              </a:rPr>
              <a:t>THE DISTINCTION THAT MAKES THIS WORK</a:t>
            </a:r>
            <a:endParaRPr lang="en-US" sz="760" dirty="0"/>
          </a:p>
        </p:txBody>
      </p:sp>
      <p:sp>
        <p:nvSpPr>
          <p:cNvPr id="43" name="Text 41"/>
          <p:cNvSpPr txBox="1"/>
          <p:nvPr/>
        </p:nvSpPr>
        <p:spPr>
          <a:xfrm>
            <a:off x="557784" y="3127248"/>
            <a:ext cx="11045952" cy="237744"/>
          </a:xfrm>
          <a:prstGeom prst="rect">
            <a:avLst/>
          </a:prstGeom>
          <a:noFill/>
          <a:ln/>
        </p:spPr>
        <p:txBody>
          <a:bodyPr wrap="square" lIns="0" tIns="0" rIns="0" bIns="0" rtlCol="0" anchor="t"/>
          <a:lstStyle/>
          <a:p>
            <a:pPr indent="0" marL="0">
              <a:lnSpc>
                <a:spcPts val="1100"/>
              </a:lnSpc>
              <a:buNone/>
            </a:pPr>
            <a:r>
              <a:rPr lang="en-US" sz="900" dirty="0">
                <a:solidFill>
                  <a:srgbClr val="1B2432"/>
                </a:solidFill>
                <a:latin typeface="Calibri" pitchFamily="34" charset="0"/>
                <a:ea typeface="Calibri" pitchFamily="34" charset="-122"/>
                <a:cs typeface="Calibri" pitchFamily="34" charset="-120"/>
              </a:rPr>
              <a:t>A blank field and a field marked "not yet known — owner: partner solution architect — required by the design checkpoint on 14 November — blocks: repository profile design" are entirely different artefacts. The first is a future surprise. The second is a managed dependency with a name and a date against it.</a:t>
            </a:r>
            <a:endParaRPr lang="en-US" sz="900" dirty="0"/>
          </a:p>
        </p:txBody>
      </p:sp>
      <p:sp>
        <p:nvSpPr>
          <p:cNvPr id="44" name="Text 42"/>
          <p:cNvSpPr txBox="1"/>
          <p:nvPr/>
        </p:nvSpPr>
        <p:spPr>
          <a:xfrm>
            <a:off x="411480" y="3621024"/>
            <a:ext cx="7315200" cy="182880"/>
          </a:xfrm>
          <a:prstGeom prst="rect">
            <a:avLst/>
          </a:prstGeom>
          <a:noFill/>
          <a:ln/>
        </p:spPr>
        <p:txBody>
          <a:bodyPr wrap="square" lIns="0" tIns="0" rIns="0" bIns="0" rtlCol="0" anchor="ctr"/>
          <a:lstStyle/>
          <a:p>
            <a:pPr indent="0" marL="0">
              <a:buNone/>
            </a:pPr>
            <a:r>
              <a:rPr lang="en-US" sz="760" b="1" spc="110" kern="0" dirty="0">
                <a:solidFill>
                  <a:srgbClr val="1B2432"/>
                </a:solidFill>
                <a:latin typeface="Calibri" pitchFamily="34" charset="0"/>
                <a:ea typeface="Calibri" pitchFamily="34" charset="-122"/>
                <a:cs typeface="Calibri" pitchFamily="34" charset="-120"/>
              </a:rPr>
              <a:t>THE HANDOFF CONTRACT — WHAT ARRIVES ON THE ECM BOARD WITH EVERY INTAKE</a:t>
            </a:r>
            <a:endParaRPr lang="en-US" sz="760" dirty="0"/>
          </a:p>
        </p:txBody>
      </p:sp>
      <p:sp>
        <p:nvSpPr>
          <p:cNvPr id="45" name="Shape 43"/>
          <p:cNvSpPr/>
          <p:nvPr/>
        </p:nvSpPr>
        <p:spPr>
          <a:xfrm>
            <a:off x="411480" y="3822192"/>
            <a:ext cx="5532120" cy="347472"/>
          </a:xfrm>
          <a:prstGeom prst="roundRect">
            <a:avLst>
              <a:gd name="adj" fmla="val 7895"/>
            </a:avLst>
          </a:prstGeom>
          <a:solidFill>
            <a:srgbClr val="F4F7FA"/>
          </a:solidFill>
          <a:ln w="12700">
            <a:solidFill>
              <a:srgbClr val="333333"/>
            </a:solidFill>
            <a:prstDash val="solid"/>
          </a:ln>
        </p:spPr>
      </p:sp>
      <p:sp>
        <p:nvSpPr>
          <p:cNvPr id="46" name="Text 44"/>
          <p:cNvSpPr txBox="1"/>
          <p:nvPr/>
        </p:nvSpPr>
        <p:spPr>
          <a:xfrm>
            <a:off x="539496" y="3822192"/>
            <a:ext cx="2103120" cy="347472"/>
          </a:xfrm>
          <a:prstGeom prst="rect">
            <a:avLst/>
          </a:prstGeom>
          <a:noFill/>
          <a:ln/>
        </p:spPr>
        <p:txBody>
          <a:bodyPr wrap="square" lIns="0" tIns="0" rIns="0" bIns="0" rtlCol="0" anchor="ctr"/>
          <a:lstStyle/>
          <a:p>
            <a:pPr indent="0" marL="0">
              <a:buNone/>
            </a:pPr>
            <a:r>
              <a:rPr lang="en-US" sz="820" b="1" dirty="0">
                <a:solidFill>
                  <a:srgbClr val="1B2432"/>
                </a:solidFill>
                <a:latin typeface="Calibri" pitchFamily="34" charset="0"/>
                <a:ea typeface="Calibri" pitchFamily="34" charset="-122"/>
                <a:cs typeface="Calibri" pitchFamily="34" charset="-120"/>
              </a:rPr>
              <a:t>Validated answers</a:t>
            </a:r>
            <a:endParaRPr lang="en-US" sz="820" dirty="0"/>
          </a:p>
        </p:txBody>
      </p:sp>
      <p:sp>
        <p:nvSpPr>
          <p:cNvPr id="47" name="Text 45"/>
          <p:cNvSpPr txBox="1"/>
          <p:nvPr/>
        </p:nvSpPr>
        <p:spPr>
          <a:xfrm>
            <a:off x="2697480" y="3822192"/>
            <a:ext cx="3127248" cy="347472"/>
          </a:xfrm>
          <a:prstGeom prst="rect">
            <a:avLst/>
          </a:prstGeom>
          <a:noFill/>
          <a:ln/>
        </p:spPr>
        <p:txBody>
          <a:bodyPr wrap="square" lIns="0" tIns="0" rIns="0" bIns="0" rtlCol="0" anchor="ctr"/>
          <a:lstStyle/>
          <a:p>
            <a:pPr indent="0" marL="0">
              <a:buNone/>
            </a:pPr>
            <a:r>
              <a:rPr lang="en-US" sz="760" dirty="0">
                <a:solidFill>
                  <a:srgbClr val="55606E"/>
                </a:solidFill>
                <a:latin typeface="Calibri" pitchFamily="34" charset="0"/>
                <a:ea typeface="Calibri" pitchFamily="34" charset="-122"/>
                <a:cs typeface="Calibri" pitchFamily="34" charset="-120"/>
              </a:rPr>
              <a:t>Every applicable point answered, validated at the point of capture</a:t>
            </a:r>
            <a:endParaRPr lang="en-US" sz="760" dirty="0"/>
          </a:p>
        </p:txBody>
      </p:sp>
      <p:sp>
        <p:nvSpPr>
          <p:cNvPr id="48" name="Shape 46"/>
          <p:cNvSpPr/>
          <p:nvPr/>
        </p:nvSpPr>
        <p:spPr>
          <a:xfrm>
            <a:off x="6217920" y="3822192"/>
            <a:ext cx="5532120" cy="347472"/>
          </a:xfrm>
          <a:prstGeom prst="roundRect">
            <a:avLst>
              <a:gd name="adj" fmla="val 7895"/>
            </a:avLst>
          </a:prstGeom>
          <a:solidFill>
            <a:srgbClr val="F4F7FA"/>
          </a:solidFill>
          <a:ln w="12700">
            <a:solidFill>
              <a:srgbClr val="333333"/>
            </a:solidFill>
            <a:prstDash val="solid"/>
          </a:ln>
        </p:spPr>
      </p:sp>
      <p:sp>
        <p:nvSpPr>
          <p:cNvPr id="49" name="Text 47"/>
          <p:cNvSpPr txBox="1"/>
          <p:nvPr/>
        </p:nvSpPr>
        <p:spPr>
          <a:xfrm>
            <a:off x="6345936" y="3822192"/>
            <a:ext cx="2103120" cy="347472"/>
          </a:xfrm>
          <a:prstGeom prst="rect">
            <a:avLst/>
          </a:prstGeom>
          <a:noFill/>
          <a:ln/>
        </p:spPr>
        <p:txBody>
          <a:bodyPr wrap="square" lIns="0" tIns="0" rIns="0" bIns="0" rtlCol="0" anchor="ctr"/>
          <a:lstStyle/>
          <a:p>
            <a:pPr indent="0" marL="0">
              <a:buNone/>
            </a:pPr>
            <a:r>
              <a:rPr lang="en-US" sz="820" b="1" dirty="0">
                <a:solidFill>
                  <a:srgbClr val="1B2432"/>
                </a:solidFill>
                <a:latin typeface="Calibri" pitchFamily="34" charset="0"/>
                <a:ea typeface="Calibri" pitchFamily="34" charset="-122"/>
                <a:cs typeface="Calibri" pitchFamily="34" charset="-120"/>
              </a:rPr>
              <a:t>Registered gaps</a:t>
            </a:r>
            <a:endParaRPr lang="en-US" sz="820" dirty="0"/>
          </a:p>
        </p:txBody>
      </p:sp>
      <p:sp>
        <p:nvSpPr>
          <p:cNvPr id="50" name="Text 48"/>
          <p:cNvSpPr txBox="1"/>
          <p:nvPr/>
        </p:nvSpPr>
        <p:spPr>
          <a:xfrm>
            <a:off x="8503920" y="3822192"/>
            <a:ext cx="3127248" cy="347472"/>
          </a:xfrm>
          <a:prstGeom prst="rect">
            <a:avLst/>
          </a:prstGeom>
          <a:noFill/>
          <a:ln/>
        </p:spPr>
        <p:txBody>
          <a:bodyPr wrap="square" lIns="0" tIns="0" rIns="0" bIns="0" rtlCol="0" anchor="ctr"/>
          <a:lstStyle/>
          <a:p>
            <a:pPr indent="0" marL="0">
              <a:buNone/>
            </a:pPr>
            <a:r>
              <a:rPr lang="en-US" sz="760" dirty="0">
                <a:solidFill>
                  <a:srgbClr val="55606E"/>
                </a:solidFill>
                <a:latin typeface="Calibri" pitchFamily="34" charset="0"/>
                <a:ea typeface="Calibri" pitchFamily="34" charset="-122"/>
                <a:cs typeface="Calibri" pitchFamily="34" charset="-120"/>
              </a:rPr>
              <a:t>Each with named owner, due date and the gate it blocks</a:t>
            </a:r>
            <a:endParaRPr lang="en-US" sz="760" dirty="0"/>
          </a:p>
        </p:txBody>
      </p:sp>
      <p:sp>
        <p:nvSpPr>
          <p:cNvPr id="51" name="Shape 49"/>
          <p:cNvSpPr/>
          <p:nvPr/>
        </p:nvSpPr>
        <p:spPr>
          <a:xfrm>
            <a:off x="411480" y="4224528"/>
            <a:ext cx="5532120" cy="347472"/>
          </a:xfrm>
          <a:prstGeom prst="roundRect">
            <a:avLst>
              <a:gd name="adj" fmla="val 7895"/>
            </a:avLst>
          </a:prstGeom>
          <a:solidFill>
            <a:srgbClr val="F4F7FA"/>
          </a:solidFill>
          <a:ln w="12700">
            <a:solidFill>
              <a:srgbClr val="333333"/>
            </a:solidFill>
            <a:prstDash val="solid"/>
          </a:ln>
        </p:spPr>
      </p:sp>
      <p:sp>
        <p:nvSpPr>
          <p:cNvPr id="52" name="Text 50"/>
          <p:cNvSpPr txBox="1"/>
          <p:nvPr/>
        </p:nvSpPr>
        <p:spPr>
          <a:xfrm>
            <a:off x="539496" y="4224528"/>
            <a:ext cx="2103120" cy="347472"/>
          </a:xfrm>
          <a:prstGeom prst="rect">
            <a:avLst/>
          </a:prstGeom>
          <a:noFill/>
          <a:ln/>
        </p:spPr>
        <p:txBody>
          <a:bodyPr wrap="square" lIns="0" tIns="0" rIns="0" bIns="0" rtlCol="0" anchor="ctr"/>
          <a:lstStyle/>
          <a:p>
            <a:pPr indent="0" marL="0">
              <a:buNone/>
            </a:pPr>
            <a:r>
              <a:rPr lang="en-US" sz="820" b="1" dirty="0">
                <a:solidFill>
                  <a:srgbClr val="1B2432"/>
                </a:solidFill>
                <a:latin typeface="Calibri" pitchFamily="34" charset="0"/>
                <a:ea typeface="Calibri" pitchFamily="34" charset="-122"/>
                <a:cs typeface="Calibri" pitchFamily="34" charset="-120"/>
              </a:rPr>
              <a:t>Completeness score by band</a:t>
            </a:r>
            <a:endParaRPr lang="en-US" sz="820" dirty="0"/>
          </a:p>
        </p:txBody>
      </p:sp>
      <p:sp>
        <p:nvSpPr>
          <p:cNvPr id="53" name="Text 51"/>
          <p:cNvSpPr txBox="1"/>
          <p:nvPr/>
        </p:nvSpPr>
        <p:spPr>
          <a:xfrm>
            <a:off x="2697480" y="4224528"/>
            <a:ext cx="3127248" cy="347472"/>
          </a:xfrm>
          <a:prstGeom prst="rect">
            <a:avLst/>
          </a:prstGeom>
          <a:noFill/>
          <a:ln/>
        </p:spPr>
        <p:txBody>
          <a:bodyPr wrap="square" lIns="0" tIns="0" rIns="0" bIns="0" rtlCol="0" anchor="ctr"/>
          <a:lstStyle/>
          <a:p>
            <a:pPr indent="0" marL="0">
              <a:buNone/>
            </a:pPr>
            <a:r>
              <a:rPr lang="en-US" sz="760" dirty="0">
                <a:solidFill>
                  <a:srgbClr val="55606E"/>
                </a:solidFill>
                <a:latin typeface="Calibri" pitchFamily="34" charset="0"/>
                <a:ea typeface="Calibri" pitchFamily="34" charset="-122"/>
                <a:cs typeface="Calibri" pitchFamily="34" charset="-120"/>
              </a:rPr>
              <a:t>Accept, design, provision and certify scored separately</a:t>
            </a:r>
            <a:endParaRPr lang="en-US" sz="760" dirty="0"/>
          </a:p>
        </p:txBody>
      </p:sp>
      <p:sp>
        <p:nvSpPr>
          <p:cNvPr id="54" name="Shape 52"/>
          <p:cNvSpPr/>
          <p:nvPr/>
        </p:nvSpPr>
        <p:spPr>
          <a:xfrm>
            <a:off x="6217920" y="4224528"/>
            <a:ext cx="5532120" cy="347472"/>
          </a:xfrm>
          <a:prstGeom prst="roundRect">
            <a:avLst>
              <a:gd name="adj" fmla="val 7895"/>
            </a:avLst>
          </a:prstGeom>
          <a:solidFill>
            <a:srgbClr val="F4F7FA"/>
          </a:solidFill>
          <a:ln w="12700">
            <a:solidFill>
              <a:srgbClr val="333333"/>
            </a:solidFill>
            <a:prstDash val="solid"/>
          </a:ln>
        </p:spPr>
      </p:sp>
      <p:sp>
        <p:nvSpPr>
          <p:cNvPr id="55" name="Text 53"/>
          <p:cNvSpPr txBox="1"/>
          <p:nvPr/>
        </p:nvSpPr>
        <p:spPr>
          <a:xfrm>
            <a:off x="6345936" y="4224528"/>
            <a:ext cx="2103120" cy="347472"/>
          </a:xfrm>
          <a:prstGeom prst="rect">
            <a:avLst/>
          </a:prstGeom>
          <a:noFill/>
          <a:ln/>
        </p:spPr>
        <p:txBody>
          <a:bodyPr wrap="square" lIns="0" tIns="0" rIns="0" bIns="0" rtlCol="0" anchor="ctr"/>
          <a:lstStyle/>
          <a:p>
            <a:pPr indent="0" marL="0">
              <a:buNone/>
            </a:pPr>
            <a:r>
              <a:rPr lang="en-US" sz="820" b="1" dirty="0">
                <a:solidFill>
                  <a:srgbClr val="1B2432"/>
                </a:solidFill>
                <a:latin typeface="Calibri" pitchFamily="34" charset="0"/>
                <a:ea typeface="Calibri" pitchFamily="34" charset="-122"/>
                <a:cs typeface="Calibri" pitchFamily="34" charset="-120"/>
              </a:rPr>
              <a:t>Derived scope</a:t>
            </a:r>
            <a:endParaRPr lang="en-US" sz="820" dirty="0"/>
          </a:p>
        </p:txBody>
      </p:sp>
      <p:sp>
        <p:nvSpPr>
          <p:cNvPr id="56" name="Text 54"/>
          <p:cNvSpPr txBox="1"/>
          <p:nvPr/>
        </p:nvSpPr>
        <p:spPr>
          <a:xfrm>
            <a:off x="8503920" y="4224528"/>
            <a:ext cx="3127248" cy="347472"/>
          </a:xfrm>
          <a:prstGeom prst="rect">
            <a:avLst/>
          </a:prstGeom>
          <a:noFill/>
          <a:ln/>
        </p:spPr>
        <p:txBody>
          <a:bodyPr wrap="square" lIns="0" tIns="0" rIns="0" bIns="0" rtlCol="0" anchor="ctr"/>
          <a:lstStyle/>
          <a:p>
            <a:pPr indent="0" marL="0">
              <a:buNone/>
            </a:pPr>
            <a:r>
              <a:rPr lang="en-US" sz="760" dirty="0">
                <a:solidFill>
                  <a:srgbClr val="55606E"/>
                </a:solidFill>
                <a:latin typeface="Calibri" pitchFamily="34" charset="0"/>
                <a:ea typeface="Calibri" pitchFamily="34" charset="-122"/>
                <a:cs typeface="Calibri" pitchFamily="34" charset="-120"/>
              </a:rPr>
              <a:t>Workstreams, specialist teams, approvals and their sequence</a:t>
            </a:r>
            <a:endParaRPr lang="en-US" sz="760" dirty="0"/>
          </a:p>
        </p:txBody>
      </p:sp>
      <p:sp>
        <p:nvSpPr>
          <p:cNvPr id="57" name="Shape 55"/>
          <p:cNvSpPr/>
          <p:nvPr/>
        </p:nvSpPr>
        <p:spPr>
          <a:xfrm>
            <a:off x="411480" y="4626864"/>
            <a:ext cx="5532120" cy="347472"/>
          </a:xfrm>
          <a:prstGeom prst="roundRect">
            <a:avLst>
              <a:gd name="adj" fmla="val 7895"/>
            </a:avLst>
          </a:prstGeom>
          <a:solidFill>
            <a:srgbClr val="F4F7FA"/>
          </a:solidFill>
          <a:ln w="12700">
            <a:solidFill>
              <a:srgbClr val="333333"/>
            </a:solidFill>
            <a:prstDash val="solid"/>
          </a:ln>
        </p:spPr>
      </p:sp>
      <p:sp>
        <p:nvSpPr>
          <p:cNvPr id="58" name="Text 56"/>
          <p:cNvSpPr txBox="1"/>
          <p:nvPr/>
        </p:nvSpPr>
        <p:spPr>
          <a:xfrm>
            <a:off x="539496" y="4626864"/>
            <a:ext cx="2103120" cy="347472"/>
          </a:xfrm>
          <a:prstGeom prst="rect">
            <a:avLst/>
          </a:prstGeom>
          <a:noFill/>
          <a:ln/>
        </p:spPr>
        <p:txBody>
          <a:bodyPr wrap="square" lIns="0" tIns="0" rIns="0" bIns="0" rtlCol="0" anchor="ctr"/>
          <a:lstStyle/>
          <a:p>
            <a:pPr indent="0" marL="0">
              <a:buNone/>
            </a:pPr>
            <a:r>
              <a:rPr lang="en-US" sz="820" b="1" dirty="0">
                <a:solidFill>
                  <a:srgbClr val="1B2432"/>
                </a:solidFill>
                <a:latin typeface="Calibri" pitchFamily="34" charset="0"/>
                <a:ea typeface="Calibri" pitchFamily="34" charset="-122"/>
                <a:cs typeface="Calibri" pitchFamily="34" charset="-120"/>
              </a:rPr>
              <a:t>Long-lead items</a:t>
            </a:r>
            <a:endParaRPr lang="en-US" sz="820" dirty="0"/>
          </a:p>
        </p:txBody>
      </p:sp>
      <p:sp>
        <p:nvSpPr>
          <p:cNvPr id="59" name="Text 57"/>
          <p:cNvSpPr txBox="1"/>
          <p:nvPr/>
        </p:nvSpPr>
        <p:spPr>
          <a:xfrm>
            <a:off x="2697480" y="4626864"/>
            <a:ext cx="3127248" cy="347472"/>
          </a:xfrm>
          <a:prstGeom prst="rect">
            <a:avLst/>
          </a:prstGeom>
          <a:noFill/>
          <a:ln/>
        </p:spPr>
        <p:txBody>
          <a:bodyPr wrap="square" lIns="0" tIns="0" rIns="0" bIns="0" rtlCol="0" anchor="ctr"/>
          <a:lstStyle/>
          <a:p>
            <a:pPr indent="0" marL="0">
              <a:buNone/>
            </a:pPr>
            <a:r>
              <a:rPr lang="en-US" sz="760" dirty="0">
                <a:solidFill>
                  <a:srgbClr val="55606E"/>
                </a:solidFill>
                <a:latin typeface="Calibri" pitchFamily="34" charset="0"/>
                <a:ea typeface="Calibri" pitchFamily="34" charset="-122"/>
                <a:cs typeface="Calibri" pitchFamily="34" charset="-120"/>
              </a:rPr>
              <a:t>Requests that should start immediately, with typical lead time</a:t>
            </a:r>
            <a:endParaRPr lang="en-US" sz="760" dirty="0"/>
          </a:p>
        </p:txBody>
      </p:sp>
      <p:sp>
        <p:nvSpPr>
          <p:cNvPr id="60" name="Shape 58"/>
          <p:cNvSpPr/>
          <p:nvPr/>
        </p:nvSpPr>
        <p:spPr>
          <a:xfrm>
            <a:off x="6217920" y="4626864"/>
            <a:ext cx="5532120" cy="347472"/>
          </a:xfrm>
          <a:prstGeom prst="roundRect">
            <a:avLst>
              <a:gd name="adj" fmla="val 7895"/>
            </a:avLst>
          </a:prstGeom>
          <a:solidFill>
            <a:srgbClr val="F4F7FA"/>
          </a:solidFill>
          <a:ln w="12700">
            <a:solidFill>
              <a:srgbClr val="333333"/>
            </a:solidFill>
            <a:prstDash val="solid"/>
          </a:ln>
        </p:spPr>
      </p:sp>
      <p:sp>
        <p:nvSpPr>
          <p:cNvPr id="61" name="Text 59"/>
          <p:cNvSpPr txBox="1"/>
          <p:nvPr/>
        </p:nvSpPr>
        <p:spPr>
          <a:xfrm>
            <a:off x="6345936" y="4626864"/>
            <a:ext cx="2103120" cy="347472"/>
          </a:xfrm>
          <a:prstGeom prst="rect">
            <a:avLst/>
          </a:prstGeom>
          <a:noFill/>
          <a:ln/>
        </p:spPr>
        <p:txBody>
          <a:bodyPr wrap="square" lIns="0" tIns="0" rIns="0" bIns="0" rtlCol="0" anchor="ctr"/>
          <a:lstStyle/>
          <a:p>
            <a:pPr indent="0" marL="0">
              <a:buNone/>
            </a:pPr>
            <a:r>
              <a:rPr lang="en-US" sz="820" b="1" dirty="0">
                <a:solidFill>
                  <a:srgbClr val="1B2432"/>
                </a:solidFill>
                <a:latin typeface="Calibri" pitchFamily="34" charset="0"/>
                <a:ea typeface="Calibri" pitchFamily="34" charset="-122"/>
                <a:cs typeface="Calibri" pitchFamily="34" charset="-120"/>
              </a:rPr>
              <a:t>Pattern match and delta</a:t>
            </a:r>
            <a:endParaRPr lang="en-US" sz="820" dirty="0"/>
          </a:p>
        </p:txBody>
      </p:sp>
      <p:sp>
        <p:nvSpPr>
          <p:cNvPr id="62" name="Text 60"/>
          <p:cNvSpPr txBox="1"/>
          <p:nvPr/>
        </p:nvSpPr>
        <p:spPr>
          <a:xfrm>
            <a:off x="8503920" y="4626864"/>
            <a:ext cx="3127248" cy="347472"/>
          </a:xfrm>
          <a:prstGeom prst="rect">
            <a:avLst/>
          </a:prstGeom>
          <a:noFill/>
          <a:ln/>
        </p:spPr>
        <p:txBody>
          <a:bodyPr wrap="square" lIns="0" tIns="0" rIns="0" bIns="0" rtlCol="0" anchor="ctr"/>
          <a:lstStyle/>
          <a:p>
            <a:pPr indent="0" marL="0">
              <a:buNone/>
            </a:pPr>
            <a:r>
              <a:rPr lang="en-US" sz="760" dirty="0">
                <a:solidFill>
                  <a:srgbClr val="55606E"/>
                </a:solidFill>
                <a:latin typeface="Calibri" pitchFamily="34" charset="0"/>
                <a:ea typeface="Calibri" pitchFamily="34" charset="-122"/>
                <a:cs typeface="Calibri" pitchFamily="34" charset="-120"/>
              </a:rPr>
              <a:t>Closest pattern, confidence, and what it does not cover</a:t>
            </a:r>
            <a:endParaRPr lang="en-US" sz="760" dirty="0"/>
          </a:p>
        </p:txBody>
      </p:sp>
      <p:sp>
        <p:nvSpPr>
          <p:cNvPr id="63" name="Shape 61"/>
          <p:cNvSpPr/>
          <p:nvPr/>
        </p:nvSpPr>
        <p:spPr>
          <a:xfrm>
            <a:off x="411480" y="5029200"/>
            <a:ext cx="5532120" cy="347472"/>
          </a:xfrm>
          <a:prstGeom prst="roundRect">
            <a:avLst>
              <a:gd name="adj" fmla="val 7895"/>
            </a:avLst>
          </a:prstGeom>
          <a:solidFill>
            <a:srgbClr val="F4F7FA"/>
          </a:solidFill>
          <a:ln w="12700">
            <a:solidFill>
              <a:srgbClr val="333333"/>
            </a:solidFill>
            <a:prstDash val="solid"/>
          </a:ln>
        </p:spPr>
      </p:sp>
      <p:sp>
        <p:nvSpPr>
          <p:cNvPr id="64" name="Text 62"/>
          <p:cNvSpPr txBox="1"/>
          <p:nvPr/>
        </p:nvSpPr>
        <p:spPr>
          <a:xfrm>
            <a:off x="539496" y="5029200"/>
            <a:ext cx="2103120" cy="347472"/>
          </a:xfrm>
          <a:prstGeom prst="rect">
            <a:avLst/>
          </a:prstGeom>
          <a:noFill/>
          <a:ln/>
        </p:spPr>
        <p:txBody>
          <a:bodyPr wrap="square" lIns="0" tIns="0" rIns="0" bIns="0" rtlCol="0" anchor="ctr"/>
          <a:lstStyle/>
          <a:p>
            <a:pPr indent="0" marL="0">
              <a:buNone/>
            </a:pPr>
            <a:r>
              <a:rPr lang="en-US" sz="820" b="1" dirty="0">
                <a:solidFill>
                  <a:srgbClr val="1B2432"/>
                </a:solidFill>
                <a:latin typeface="Calibri" pitchFamily="34" charset="0"/>
                <a:ea typeface="Calibri" pitchFamily="34" charset="-122"/>
                <a:cs typeface="Calibri" pitchFamily="34" charset="-120"/>
              </a:rPr>
              <a:t>Proposed tier with reasoning</a:t>
            </a:r>
            <a:endParaRPr lang="en-US" sz="820" dirty="0"/>
          </a:p>
        </p:txBody>
      </p:sp>
      <p:sp>
        <p:nvSpPr>
          <p:cNvPr id="65" name="Text 63"/>
          <p:cNvSpPr txBox="1"/>
          <p:nvPr/>
        </p:nvSpPr>
        <p:spPr>
          <a:xfrm>
            <a:off x="2697480" y="5029200"/>
            <a:ext cx="3127248" cy="347472"/>
          </a:xfrm>
          <a:prstGeom prst="rect">
            <a:avLst/>
          </a:prstGeom>
          <a:noFill/>
          <a:ln/>
        </p:spPr>
        <p:txBody>
          <a:bodyPr wrap="square" lIns="0" tIns="0" rIns="0" bIns="0" rtlCol="0" anchor="ctr"/>
          <a:lstStyle/>
          <a:p>
            <a:pPr indent="0" marL="0">
              <a:buNone/>
            </a:pPr>
            <a:r>
              <a:rPr lang="en-US" sz="760" dirty="0">
                <a:solidFill>
                  <a:srgbClr val="55606E"/>
                </a:solidFill>
                <a:latin typeface="Calibri" pitchFamily="34" charset="0"/>
                <a:ea typeface="Calibri" pitchFamily="34" charset="-122"/>
                <a:cs typeface="Calibri" pitchFamily="34" charset="-120"/>
              </a:rPr>
              <a:t>Seven determinant scores, for an enablement lead to confirm</a:t>
            </a:r>
            <a:endParaRPr lang="en-US" sz="760" dirty="0"/>
          </a:p>
        </p:txBody>
      </p:sp>
      <p:sp>
        <p:nvSpPr>
          <p:cNvPr id="66" name="Shape 64"/>
          <p:cNvSpPr/>
          <p:nvPr/>
        </p:nvSpPr>
        <p:spPr>
          <a:xfrm>
            <a:off x="6217920" y="5029200"/>
            <a:ext cx="5532120" cy="347472"/>
          </a:xfrm>
          <a:prstGeom prst="roundRect">
            <a:avLst>
              <a:gd name="adj" fmla="val 7895"/>
            </a:avLst>
          </a:prstGeom>
          <a:solidFill>
            <a:srgbClr val="F4F7FA"/>
          </a:solidFill>
          <a:ln w="12700">
            <a:solidFill>
              <a:srgbClr val="333333"/>
            </a:solidFill>
            <a:prstDash val="solid"/>
          </a:ln>
        </p:spPr>
      </p:sp>
      <p:sp>
        <p:nvSpPr>
          <p:cNvPr id="67" name="Text 65"/>
          <p:cNvSpPr txBox="1"/>
          <p:nvPr/>
        </p:nvSpPr>
        <p:spPr>
          <a:xfrm>
            <a:off x="6345936" y="5029200"/>
            <a:ext cx="2103120" cy="347472"/>
          </a:xfrm>
          <a:prstGeom prst="rect">
            <a:avLst/>
          </a:prstGeom>
          <a:noFill/>
          <a:ln/>
        </p:spPr>
        <p:txBody>
          <a:bodyPr wrap="square" lIns="0" tIns="0" rIns="0" bIns="0" rtlCol="0" anchor="ctr"/>
          <a:lstStyle/>
          <a:p>
            <a:pPr indent="0" marL="0">
              <a:buNone/>
            </a:pPr>
            <a:r>
              <a:rPr lang="en-US" sz="820" b="1" dirty="0">
                <a:solidFill>
                  <a:srgbClr val="1B2432"/>
                </a:solidFill>
                <a:latin typeface="Calibri" pitchFamily="34" charset="0"/>
                <a:ea typeface="Calibri" pitchFamily="34" charset="-122"/>
                <a:cs typeface="Calibri" pitchFamily="34" charset="-120"/>
              </a:rPr>
              <a:t>Provisional assessments</a:t>
            </a:r>
            <a:endParaRPr lang="en-US" sz="820" dirty="0"/>
          </a:p>
        </p:txBody>
      </p:sp>
      <p:sp>
        <p:nvSpPr>
          <p:cNvPr id="68" name="Text 66"/>
          <p:cNvSpPr txBox="1"/>
          <p:nvPr/>
        </p:nvSpPr>
        <p:spPr>
          <a:xfrm>
            <a:off x="8503920" y="5029200"/>
            <a:ext cx="3127248" cy="347472"/>
          </a:xfrm>
          <a:prstGeom prst="rect">
            <a:avLst/>
          </a:prstGeom>
          <a:noFill/>
          <a:ln/>
        </p:spPr>
        <p:txBody>
          <a:bodyPr wrap="square" lIns="0" tIns="0" rIns="0" bIns="0" rtlCol="0" anchor="ctr"/>
          <a:lstStyle/>
          <a:p>
            <a:pPr indent="0" marL="0">
              <a:buNone/>
            </a:pPr>
            <a:r>
              <a:rPr lang="en-US" sz="760" dirty="0">
                <a:solidFill>
                  <a:srgbClr val="55606E"/>
                </a:solidFill>
                <a:latin typeface="Calibri" pitchFamily="34" charset="0"/>
                <a:ea typeface="Calibri" pitchFamily="34" charset="-122"/>
                <a:cs typeface="Calibri" pitchFamily="34" charset="-120"/>
              </a:rPr>
              <a:t>Trust pre-assessment, load-test likelihood — labelled provisional</a:t>
            </a:r>
            <a:endParaRPr lang="en-US" sz="760" dirty="0"/>
          </a:p>
        </p:txBody>
      </p:sp>
      <p:sp>
        <p:nvSpPr>
          <p:cNvPr id="69" name="Shape 67"/>
          <p:cNvSpPr/>
          <p:nvPr/>
        </p:nvSpPr>
        <p:spPr>
          <a:xfrm>
            <a:off x="411480" y="5614416"/>
            <a:ext cx="11338560" cy="438912"/>
          </a:xfrm>
          <a:prstGeom prst="roundRect">
            <a:avLst>
              <a:gd name="adj" fmla="val 10417"/>
            </a:avLst>
          </a:prstGeom>
          <a:solidFill>
            <a:srgbClr val="FBF0EB"/>
          </a:solidFill>
          <a:ln w="12700">
            <a:solidFill>
              <a:srgbClr val="A44A2A"/>
            </a:solidFill>
            <a:prstDash val="solid"/>
          </a:ln>
        </p:spPr>
      </p:sp>
      <p:sp>
        <p:nvSpPr>
          <p:cNvPr id="70" name="Text 68"/>
          <p:cNvSpPr txBox="1"/>
          <p:nvPr/>
        </p:nvSpPr>
        <p:spPr>
          <a:xfrm>
            <a:off x="557784" y="5614416"/>
            <a:ext cx="11045952" cy="438912"/>
          </a:xfrm>
          <a:prstGeom prst="rect">
            <a:avLst/>
          </a:prstGeom>
          <a:noFill/>
          <a:ln/>
        </p:spPr>
        <p:txBody>
          <a:bodyPr wrap="square" lIns="0" tIns="0" rIns="0" bIns="0" rtlCol="0" anchor="ctr"/>
          <a:lstStyle/>
          <a:p>
            <a:pPr indent="0" marL="0">
              <a:lnSpc>
                <a:spcPts val="1040"/>
              </a:lnSpc>
              <a:buNone/>
            </a:pPr>
            <a:r>
              <a:rPr lang="en-US" sz="860" dirty="0">
                <a:solidFill>
                  <a:srgbClr val="1B2432"/>
                </a:solidFill>
                <a:latin typeface="Calibri" pitchFamily="34" charset="0"/>
                <a:ea typeface="Calibri" pitchFamily="34" charset="-122"/>
                <a:cs typeface="Calibri" pitchFamily="34" charset="-120"/>
              </a:rPr>
              <a:t>What this changes for the engineer: today they begin by working out what is missing — hours of effort, dependent on experience, and the start of the first clarification cycle. Under the contract they begin by reading a list of what is missing, who owns it and when it is due. The work does not disappear; it moves to the point in the lifecycle where it is cheapest.</a:t>
            </a:r>
            <a:endParaRPr lang="en-US" sz="86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274320"/>
            <a:ext cx="274320" cy="274320"/>
          </a:xfrm>
          <a:prstGeom prst="rect">
            <a:avLst/>
          </a:prstGeom>
          <a:solidFill>
            <a:srgbClr val="15304F"/>
          </a:solidFill>
          <a:ln w="12700">
            <a:solidFill>
              <a:srgbClr val="333333"/>
            </a:solidFill>
            <a:prstDash val="solid"/>
          </a:ln>
        </p:spPr>
      </p:sp>
      <p:sp>
        <p:nvSpPr>
          <p:cNvPr id="3" name="Text 1"/>
          <p:cNvSpPr txBox="1"/>
          <p:nvPr/>
        </p:nvSpPr>
        <p:spPr>
          <a:xfrm>
            <a:off x="411480" y="2743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 name="Text 2"/>
          <p:cNvSpPr txBox="1"/>
          <p:nvPr/>
        </p:nvSpPr>
        <p:spPr>
          <a:xfrm>
            <a:off x="795528" y="219456"/>
            <a:ext cx="8778240" cy="384048"/>
          </a:xfrm>
          <a:prstGeom prst="rect">
            <a:avLst/>
          </a:prstGeom>
          <a:noFill/>
          <a:ln/>
        </p:spPr>
        <p:txBody>
          <a:bodyPr wrap="square" lIns="0" tIns="0" rIns="0" bIns="0" rtlCol="0" anchor="ctr"/>
          <a:lstStyle/>
          <a:p>
            <a:pPr indent="0" marL="0">
              <a:buNone/>
            </a:pPr>
            <a:r>
              <a:rPr lang="en-US" sz="2400" b="1" dirty="0">
                <a:solidFill>
                  <a:srgbClr val="1B2432"/>
                </a:solidFill>
                <a:latin typeface="Cambria" pitchFamily="34" charset="0"/>
                <a:ea typeface="Cambria" pitchFamily="34" charset="-122"/>
                <a:cs typeface="Cambria" pitchFamily="34" charset="-120"/>
              </a:rPr>
              <a:t>The three enablement models</a:t>
            </a:r>
            <a:endParaRPr lang="en-US" sz="2400" dirty="0"/>
          </a:p>
        </p:txBody>
      </p:sp>
      <p:sp>
        <p:nvSpPr>
          <p:cNvPr id="5" name="Text 3"/>
          <p:cNvSpPr txBox="1"/>
          <p:nvPr/>
        </p:nvSpPr>
        <p:spPr>
          <a:xfrm>
            <a:off x="795528" y="621792"/>
            <a:ext cx="9326880" cy="237744"/>
          </a:xfrm>
          <a:prstGeom prst="rect">
            <a:avLst/>
          </a:prstGeom>
          <a:noFill/>
          <a:ln/>
        </p:spPr>
        <p:txBody>
          <a:bodyPr wrap="square" lIns="0" tIns="0" rIns="0" bIns="0" rtlCol="0" anchor="ctr"/>
          <a:lstStyle/>
          <a:p>
            <a:pPr indent="0" marL="0">
              <a:buNone/>
            </a:pPr>
            <a:r>
              <a:rPr lang="en-US" sz="1050" dirty="0">
                <a:solidFill>
                  <a:srgbClr val="55606E"/>
                </a:solidFill>
                <a:latin typeface="Calibri" pitchFamily="34" charset="0"/>
                <a:ea typeface="Calibri" pitchFamily="34" charset="-122"/>
                <a:cs typeface="Calibri" pitchFamily="34" charset="-120"/>
              </a:rPr>
              <a:t>Same phases, same gates, same evidence — different distribution of the work</a:t>
            </a:r>
            <a:endParaRPr lang="en-US" sz="1050" dirty="0"/>
          </a:p>
        </p:txBody>
      </p:sp>
      <p:sp>
        <p:nvSpPr>
          <p:cNvPr id="6" name="Text 4"/>
          <p:cNvSpPr txBox="1"/>
          <p:nvPr/>
        </p:nvSpPr>
        <p:spPr>
          <a:xfrm>
            <a:off x="9052560" y="274320"/>
            <a:ext cx="2697480" cy="256032"/>
          </a:xfrm>
          <a:prstGeom prst="rect">
            <a:avLst/>
          </a:prstGeom>
          <a:noFill/>
          <a:ln/>
        </p:spPr>
        <p:txBody>
          <a:bodyPr wrap="square" lIns="0" tIns="0" rIns="0" bIns="0" rtlCol="0" anchor="ctr"/>
          <a:lstStyle/>
          <a:p>
            <a:pPr algn="r" indent="0" marL="0">
              <a:buNone/>
            </a:pPr>
            <a:r>
              <a:rPr lang="en-US" sz="950" b="1" spc="60" kern="0" dirty="0">
                <a:solidFill>
                  <a:srgbClr val="7C8798"/>
                </a:solidFill>
                <a:latin typeface="Calibri" pitchFamily="34" charset="0"/>
                <a:ea typeface="Calibri" pitchFamily="34" charset="-122"/>
                <a:cs typeface="Calibri" pitchFamily="34" charset="-120"/>
              </a:rPr>
              <a:t>Operating model</a:t>
            </a:r>
            <a:endParaRPr lang="en-US" sz="950" dirty="0"/>
          </a:p>
        </p:txBody>
      </p:sp>
      <p:sp>
        <p:nvSpPr>
          <p:cNvPr id="7" name="Shape 5"/>
          <p:cNvSpPr/>
          <p:nvPr/>
        </p:nvSpPr>
        <p:spPr>
          <a:xfrm>
            <a:off x="411480" y="932688"/>
            <a:ext cx="11338560" cy="0"/>
          </a:xfrm>
          <a:prstGeom prst="line">
            <a:avLst/>
          </a:prstGeom>
          <a:noFill/>
          <a:ln w="12700">
            <a:solidFill>
              <a:srgbClr val="D4DAE2"/>
            </a:solidFill>
            <a:prstDash val="solid"/>
          </a:ln>
        </p:spPr>
      </p:sp>
      <p:sp>
        <p:nvSpPr>
          <p:cNvPr id="8" name="Shape 6"/>
          <p:cNvSpPr/>
          <p:nvPr/>
        </p:nvSpPr>
        <p:spPr>
          <a:xfrm>
            <a:off x="411480" y="1042416"/>
            <a:ext cx="3621024" cy="3803904"/>
          </a:xfrm>
          <a:prstGeom prst="roundRect">
            <a:avLst>
              <a:gd name="adj" fmla="val 1263"/>
            </a:avLst>
          </a:prstGeom>
          <a:solidFill>
            <a:srgbClr val="FFFFFF"/>
          </a:solidFill>
          <a:ln w="15240">
            <a:solidFill>
              <a:srgbClr val="0B6E6E"/>
            </a:solidFill>
            <a:prstDash val="solid"/>
          </a:ln>
          <a:effectLst>
            <a:outerShdw sx="100000" sy="100000" kx="0" ky="0" algn="bl" rotWithShape="0" blurRad="88900" dist="12700" dir="5400000">
              <a:srgbClr val="97A3B4">
                <a:alpha val="16000"/>
              </a:srgbClr>
            </a:outerShdw>
          </a:effectLst>
        </p:spPr>
      </p:sp>
      <p:sp>
        <p:nvSpPr>
          <p:cNvPr id="9" name="Shape 7"/>
          <p:cNvSpPr/>
          <p:nvPr/>
        </p:nvSpPr>
        <p:spPr>
          <a:xfrm>
            <a:off x="411480" y="1042416"/>
            <a:ext cx="3621024" cy="475488"/>
          </a:xfrm>
          <a:prstGeom prst="rect">
            <a:avLst/>
          </a:prstGeom>
          <a:solidFill>
            <a:srgbClr val="0B6E6E"/>
          </a:solidFill>
          <a:ln w="12700">
            <a:solidFill>
              <a:srgbClr val="333333"/>
            </a:solidFill>
            <a:prstDash val="solid"/>
          </a:ln>
        </p:spPr>
      </p:sp>
      <p:sp>
        <p:nvSpPr>
          <p:cNvPr id="10" name="Text 8"/>
          <p:cNvSpPr txBox="1"/>
          <p:nvPr/>
        </p:nvSpPr>
        <p:spPr>
          <a:xfrm>
            <a:off x="557784" y="1078992"/>
            <a:ext cx="3328416" cy="219456"/>
          </a:xfrm>
          <a:prstGeom prst="rect">
            <a:avLst/>
          </a:prstGeom>
          <a:noFill/>
          <a:ln/>
        </p:spPr>
        <p:txBody>
          <a:bodyPr wrap="square" lIns="0" tIns="0" rIns="0" bIns="0" rtlCol="0" anchor="ctr"/>
          <a:lstStyle/>
          <a:p>
            <a:pPr indent="0" marL="0">
              <a:buNone/>
            </a:pPr>
            <a:r>
              <a:rPr lang="en-US" sz="1200" b="1" spc="80" kern="0" dirty="0">
                <a:solidFill>
                  <a:srgbClr val="FFFFFF"/>
                </a:solidFill>
                <a:latin typeface="Calibri" pitchFamily="34" charset="0"/>
                <a:ea typeface="Calibri" pitchFamily="34" charset="-122"/>
                <a:cs typeface="Calibri" pitchFamily="34" charset="-120"/>
              </a:rPr>
              <a:t>LEAN</a:t>
            </a:r>
            <a:endParaRPr lang="en-US" sz="1200" dirty="0"/>
          </a:p>
        </p:txBody>
      </p:sp>
      <p:sp>
        <p:nvSpPr>
          <p:cNvPr id="11" name="Text 9"/>
          <p:cNvSpPr txBox="1"/>
          <p:nvPr/>
        </p:nvSpPr>
        <p:spPr>
          <a:xfrm>
            <a:off x="557784" y="1280160"/>
            <a:ext cx="3328416" cy="201168"/>
          </a:xfrm>
          <a:prstGeom prst="rect">
            <a:avLst/>
          </a:prstGeom>
          <a:noFill/>
          <a:ln/>
        </p:spPr>
        <p:txBody>
          <a:bodyPr wrap="square" lIns="0" tIns="0" rIns="0" bIns="0" rtlCol="0" anchor="ctr"/>
          <a:lstStyle/>
          <a:p>
            <a:pPr indent="0" marL="0">
              <a:buNone/>
            </a:pPr>
            <a:r>
              <a:rPr lang="en-US" sz="760" dirty="0">
                <a:solidFill>
                  <a:srgbClr val="DCE6EE"/>
                </a:solidFill>
                <a:latin typeface="Calibri" pitchFamily="34" charset="0"/>
                <a:ea typeface="Calibri" pitchFamily="34" charset="-122"/>
                <a:cs typeface="Calibri" pitchFamily="34" charset="-120"/>
              </a:rPr>
              <a:t>Self-service on a proven pattern</a:t>
            </a:r>
            <a:endParaRPr lang="en-US" sz="760" dirty="0"/>
          </a:p>
        </p:txBody>
      </p:sp>
      <p:sp>
        <p:nvSpPr>
          <p:cNvPr id="12" name="Text 10"/>
          <p:cNvSpPr txBox="1"/>
          <p:nvPr/>
        </p:nvSpPr>
        <p:spPr>
          <a:xfrm>
            <a:off x="557784" y="1609344"/>
            <a:ext cx="3328416" cy="164592"/>
          </a:xfrm>
          <a:prstGeom prst="rect">
            <a:avLst/>
          </a:prstGeom>
          <a:noFill/>
          <a:ln/>
        </p:spPr>
        <p:txBody>
          <a:bodyPr wrap="square" lIns="0" tIns="0" rIns="0" bIns="0" rtlCol="0" anchor="ctr"/>
          <a:lstStyle/>
          <a:p>
            <a:pPr indent="0" marL="0">
              <a:buNone/>
            </a:pPr>
            <a:r>
              <a:rPr lang="en-US" sz="660" b="1" spc="90" kern="0" dirty="0">
                <a:solidFill>
                  <a:srgbClr val="0B6E6E"/>
                </a:solidFill>
                <a:latin typeface="Calibri" pitchFamily="34" charset="0"/>
                <a:ea typeface="Calibri" pitchFamily="34" charset="-122"/>
                <a:cs typeface="Calibri" pitchFamily="34" charset="-120"/>
              </a:rPr>
              <a:t>WHAT ECM PROVIDES</a:t>
            </a:r>
            <a:endParaRPr lang="en-US" sz="660" dirty="0"/>
          </a:p>
        </p:txBody>
      </p:sp>
      <p:sp>
        <p:nvSpPr>
          <p:cNvPr id="13" name="Text 11"/>
          <p:cNvSpPr txBox="1"/>
          <p:nvPr/>
        </p:nvSpPr>
        <p:spPr>
          <a:xfrm>
            <a:off x="557784" y="1792224"/>
            <a:ext cx="3328416" cy="1335024"/>
          </a:xfrm>
          <a:prstGeom prst="rect">
            <a:avLst/>
          </a:prstGeom>
          <a:noFill/>
          <a:ln/>
        </p:spPr>
        <p:txBody>
          <a:bodyPr wrap="square" lIns="0" tIns="0" rIns="0" bIns="0" rtlCol="0" anchor="t"/>
          <a:lstStyle/>
          <a:p>
            <a:pPr indent="0" marL="0">
              <a:lnSpc>
                <a:spcPts val="940"/>
              </a:lnSpc>
              <a:spcAft>
                <a:spcPts val="200"/>
              </a:spcAft>
              <a:buNone/>
            </a:pPr>
            <a:r>
              <a:rPr lang="en-US" sz="760" dirty="0">
                <a:solidFill>
                  <a:srgbClr val="1B2432"/>
                </a:solidFill>
                <a:latin typeface="Calibri" pitchFamily="34" charset="0"/>
                <a:ea typeface="Calibri" pitchFamily="34" charset="-122"/>
                <a:cs typeface="Calibri" pitchFamily="34" charset="-120"/>
              </a:rPr>
              <a:t>— Published, versioned pattern the partner instantiates</a:t>
            </a:r>
            <a:endParaRPr lang="en-US" sz="760" dirty="0"/>
          </a:p>
          <a:p>
            <a:pPr indent="0" marL="0">
              <a:lnSpc>
                <a:spcPts val="940"/>
              </a:lnSpc>
              <a:spcAft>
                <a:spcPts val="200"/>
              </a:spcAft>
              <a:buNone/>
            </a:pPr>
            <a:r>
              <a:rPr lang="en-US" sz="760" dirty="0">
                <a:solidFill>
                  <a:srgbClr val="1B2432"/>
                </a:solidFill>
                <a:latin typeface="Calibri" pitchFamily="34" charset="0"/>
                <a:ea typeface="Calibri" pitchFamily="34" charset="-122"/>
                <a:cs typeface="Calibri" pitchFamily="34" charset="-120"/>
              </a:rPr>
              <a:t>— Self-service provisioning within policy bounds</a:t>
            </a:r>
            <a:endParaRPr lang="en-US" sz="760" dirty="0"/>
          </a:p>
          <a:p>
            <a:pPr indent="0" marL="0">
              <a:lnSpc>
                <a:spcPts val="940"/>
              </a:lnSpc>
              <a:spcAft>
                <a:spcPts val="200"/>
              </a:spcAft>
              <a:buNone/>
            </a:pPr>
            <a:r>
              <a:rPr lang="en-US" sz="760" dirty="0">
                <a:solidFill>
                  <a:srgbClr val="1B2432"/>
                </a:solidFill>
                <a:latin typeface="Calibri" pitchFamily="34" charset="0"/>
                <a:ea typeface="Calibri" pitchFamily="34" charset="-122"/>
                <a:cs typeface="Calibri" pitchFamily="34" charset="-120"/>
              </a:rPr>
              <a:t>— Automated validation at every gate</a:t>
            </a:r>
            <a:endParaRPr lang="en-US" sz="760" dirty="0"/>
          </a:p>
          <a:p>
            <a:pPr indent="0" marL="0">
              <a:lnSpc>
                <a:spcPts val="940"/>
              </a:lnSpc>
              <a:spcAft>
                <a:spcPts val="200"/>
              </a:spcAft>
              <a:buNone/>
            </a:pPr>
            <a:r>
              <a:rPr lang="en-US" sz="760" dirty="0">
                <a:solidFill>
                  <a:srgbClr val="1B2432"/>
                </a:solidFill>
                <a:latin typeface="Calibri" pitchFamily="34" charset="0"/>
                <a:ea typeface="Calibri" pitchFamily="34" charset="-122"/>
                <a:cs typeface="Calibri" pitchFamily="34" charset="-120"/>
              </a:rPr>
              <a:t>— Generated artefacts, collections, documentation</a:t>
            </a:r>
            <a:endParaRPr lang="en-US" sz="760" dirty="0"/>
          </a:p>
          <a:p>
            <a:pPr indent="0" marL="0">
              <a:lnSpc>
                <a:spcPts val="940"/>
              </a:lnSpc>
              <a:spcAft>
                <a:spcPts val="200"/>
              </a:spcAft>
              <a:buNone/>
            </a:pPr>
            <a:r>
              <a:rPr lang="en-US" sz="760" dirty="0">
                <a:solidFill>
                  <a:srgbClr val="1B2432"/>
                </a:solidFill>
                <a:latin typeface="Calibri" pitchFamily="34" charset="0"/>
                <a:ea typeface="Calibri" pitchFamily="34" charset="-122"/>
                <a:cs typeface="Calibri" pitchFamily="34" charset="-120"/>
              </a:rPr>
              <a:t>— Bookable open clinic slots</a:t>
            </a:r>
            <a:endParaRPr lang="en-US" sz="760" dirty="0"/>
          </a:p>
          <a:p>
            <a:pPr indent="0" marL="0">
              <a:lnSpc>
                <a:spcPts val="940"/>
              </a:lnSpc>
              <a:spcAft>
                <a:spcPts val="200"/>
              </a:spcAft>
              <a:buNone/>
            </a:pPr>
            <a:r>
              <a:rPr lang="en-US" sz="760" dirty="0">
                <a:solidFill>
                  <a:srgbClr val="1B2432"/>
                </a:solidFill>
                <a:latin typeface="Calibri" pitchFamily="34" charset="0"/>
                <a:ea typeface="Calibri" pitchFamily="34" charset="-122"/>
                <a:cs typeface="Calibri" pitchFamily="34" charset="-120"/>
              </a:rPr>
              <a:t>— Automatic escalation on drift</a:t>
            </a:r>
            <a:endParaRPr lang="en-US" sz="760" dirty="0"/>
          </a:p>
        </p:txBody>
      </p:sp>
      <p:sp>
        <p:nvSpPr>
          <p:cNvPr id="14" name="Text 12"/>
          <p:cNvSpPr txBox="1"/>
          <p:nvPr/>
        </p:nvSpPr>
        <p:spPr>
          <a:xfrm>
            <a:off x="557784" y="3182112"/>
            <a:ext cx="3328416" cy="164592"/>
          </a:xfrm>
          <a:prstGeom prst="rect">
            <a:avLst/>
          </a:prstGeom>
          <a:noFill/>
          <a:ln/>
        </p:spPr>
        <p:txBody>
          <a:bodyPr wrap="square" lIns="0" tIns="0" rIns="0" bIns="0" rtlCol="0" anchor="ctr"/>
          <a:lstStyle/>
          <a:p>
            <a:pPr indent="0" marL="0">
              <a:buNone/>
            </a:pPr>
            <a:r>
              <a:rPr lang="en-US" sz="660" b="1" spc="90" kern="0" dirty="0">
                <a:solidFill>
                  <a:srgbClr val="55606E"/>
                </a:solidFill>
                <a:latin typeface="Calibri" pitchFamily="34" charset="0"/>
                <a:ea typeface="Calibri" pitchFamily="34" charset="-122"/>
                <a:cs typeface="Calibri" pitchFamily="34" charset="-120"/>
              </a:rPr>
              <a:t>WHAT THE PARTNER OWNS</a:t>
            </a:r>
            <a:endParaRPr lang="en-US" sz="660" dirty="0"/>
          </a:p>
        </p:txBody>
      </p:sp>
      <p:sp>
        <p:nvSpPr>
          <p:cNvPr id="15" name="Text 13"/>
          <p:cNvSpPr txBox="1"/>
          <p:nvPr/>
        </p:nvSpPr>
        <p:spPr>
          <a:xfrm>
            <a:off x="557784" y="3364992"/>
            <a:ext cx="3328416" cy="914400"/>
          </a:xfrm>
          <a:prstGeom prst="rect">
            <a:avLst/>
          </a:prstGeom>
          <a:noFill/>
          <a:ln/>
        </p:spPr>
        <p:txBody>
          <a:bodyPr wrap="square" lIns="0" tIns="0" rIns="0" bIns="0" rtlCol="0" anchor="t"/>
          <a:lstStyle/>
          <a:p>
            <a:pPr indent="0" marL="0">
              <a:lnSpc>
                <a:spcPts val="940"/>
              </a:lnSpc>
              <a:spcAft>
                <a:spcPts val="200"/>
              </a:spcAft>
              <a:buNone/>
            </a:pPr>
            <a:r>
              <a:rPr lang="en-US" sz="760" dirty="0">
                <a:solidFill>
                  <a:srgbClr val="55606E"/>
                </a:solidFill>
                <a:latin typeface="Calibri" pitchFamily="34" charset="0"/>
                <a:ea typeface="Calibri" pitchFamily="34" charset="-122"/>
                <a:cs typeface="Calibri" pitchFamily="34" charset="-120"/>
              </a:rPr>
              <a:t>— Completing intake to the published standard</a:t>
            </a:r>
            <a:endParaRPr lang="en-US" sz="760" dirty="0"/>
          </a:p>
          <a:p>
            <a:pPr indent="0" marL="0">
              <a:lnSpc>
                <a:spcPts val="940"/>
              </a:lnSpc>
              <a:spcAft>
                <a:spcPts val="200"/>
              </a:spcAft>
              <a:buNone/>
            </a:pPr>
            <a:r>
              <a:rPr lang="en-US" sz="760" dirty="0">
                <a:solidFill>
                  <a:srgbClr val="55606E"/>
                </a:solidFill>
                <a:latin typeface="Calibri" pitchFamily="34" charset="0"/>
                <a:ea typeface="Calibri" pitchFamily="34" charset="-122"/>
                <a:cs typeface="Calibri" pitchFamily="34" charset="-120"/>
              </a:rPr>
              <a:t>— Implementing their side of the integration</a:t>
            </a:r>
            <a:endParaRPr lang="en-US" sz="760" dirty="0"/>
          </a:p>
          <a:p>
            <a:pPr indent="0" marL="0">
              <a:lnSpc>
                <a:spcPts val="940"/>
              </a:lnSpc>
              <a:spcAft>
                <a:spcPts val="200"/>
              </a:spcAft>
              <a:buNone/>
            </a:pPr>
            <a:r>
              <a:rPr lang="en-US" sz="760" dirty="0">
                <a:solidFill>
                  <a:srgbClr val="55606E"/>
                </a:solidFill>
                <a:latin typeface="Calibri" pitchFamily="34" charset="0"/>
                <a:ea typeface="Calibri" pitchFamily="34" charset="-122"/>
                <a:cs typeface="Calibri" pitchFamily="34" charset="-120"/>
              </a:rPr>
              <a:t>— Running their own functional testing</a:t>
            </a:r>
            <a:endParaRPr lang="en-US" sz="760" dirty="0"/>
          </a:p>
          <a:p>
            <a:pPr indent="0" marL="0">
              <a:lnSpc>
                <a:spcPts val="940"/>
              </a:lnSpc>
              <a:spcAft>
                <a:spcPts val="200"/>
              </a:spcAft>
              <a:buNone/>
            </a:pPr>
            <a:r>
              <a:rPr lang="en-US" sz="760" dirty="0">
                <a:solidFill>
                  <a:srgbClr val="55606E"/>
                </a:solidFill>
                <a:latin typeface="Calibri" pitchFamily="34" charset="0"/>
                <a:ea typeface="Calibri" pitchFamily="34" charset="-122"/>
                <a:cs typeface="Calibri" pitchFamily="34" charset="-120"/>
              </a:rPr>
              <a:t>— Clearing every automated gate</a:t>
            </a:r>
            <a:endParaRPr lang="en-US" sz="760" dirty="0"/>
          </a:p>
          <a:p>
            <a:pPr indent="0" marL="0">
              <a:lnSpc>
                <a:spcPts val="940"/>
              </a:lnSpc>
              <a:spcAft>
                <a:spcPts val="200"/>
              </a:spcAft>
              <a:buNone/>
            </a:pPr>
            <a:r>
              <a:rPr lang="en-US" sz="760" dirty="0">
                <a:solidFill>
                  <a:srgbClr val="55606E"/>
                </a:solidFill>
                <a:latin typeface="Calibri" pitchFamily="34" charset="0"/>
                <a:ea typeface="Calibri" pitchFamily="34" charset="-122"/>
                <a:cs typeface="Calibri" pitchFamily="34" charset="-120"/>
              </a:rPr>
              <a:t>— Holding platform certification</a:t>
            </a:r>
            <a:endParaRPr lang="en-US" sz="760" dirty="0"/>
          </a:p>
        </p:txBody>
      </p:sp>
      <p:sp>
        <p:nvSpPr>
          <p:cNvPr id="16" name="Shape 14"/>
          <p:cNvSpPr/>
          <p:nvPr/>
        </p:nvSpPr>
        <p:spPr>
          <a:xfrm>
            <a:off x="438912" y="4443984"/>
            <a:ext cx="3566160" cy="365760"/>
          </a:xfrm>
          <a:prstGeom prst="rect">
            <a:avLst/>
          </a:prstGeom>
          <a:solidFill>
            <a:srgbClr val="E6F2F1"/>
          </a:solidFill>
          <a:ln w="12700">
            <a:solidFill>
              <a:srgbClr val="333333"/>
            </a:solidFill>
            <a:prstDash val="solid"/>
          </a:ln>
        </p:spPr>
      </p:sp>
      <p:sp>
        <p:nvSpPr>
          <p:cNvPr id="17" name="Text 15"/>
          <p:cNvSpPr txBox="1"/>
          <p:nvPr/>
        </p:nvSpPr>
        <p:spPr>
          <a:xfrm>
            <a:off x="557784" y="4443984"/>
            <a:ext cx="3328416" cy="365760"/>
          </a:xfrm>
          <a:prstGeom prst="rect">
            <a:avLst/>
          </a:prstGeom>
          <a:noFill/>
          <a:ln/>
        </p:spPr>
        <p:txBody>
          <a:bodyPr wrap="square" lIns="0" tIns="0" rIns="0" bIns="0" rtlCol="0" anchor="ctr"/>
          <a:lstStyle/>
          <a:p>
            <a:pPr indent="0" marL="0">
              <a:lnSpc>
                <a:spcPts val="880"/>
              </a:lnSpc>
              <a:buNone/>
            </a:pPr>
            <a:r>
              <a:rPr lang="en-US" sz="740" b="1" dirty="0">
                <a:solidFill>
                  <a:srgbClr val="0B6E6E"/>
                </a:solidFill>
                <a:latin typeface="Calibri" pitchFamily="34" charset="0"/>
                <a:ea typeface="Calibri" pitchFamily="34" charset="-122"/>
                <a:cs typeface="Calibri" pitchFamily="34" charset="-120"/>
              </a:rPr>
              <a:t>Engagement is event-driven — no standing meetings, no allocated engineer</a:t>
            </a:r>
            <a:endParaRPr lang="en-US" sz="740" dirty="0"/>
          </a:p>
        </p:txBody>
      </p:sp>
      <p:sp>
        <p:nvSpPr>
          <p:cNvPr id="18" name="Shape 16"/>
          <p:cNvSpPr/>
          <p:nvPr/>
        </p:nvSpPr>
        <p:spPr>
          <a:xfrm>
            <a:off x="4233672" y="1042416"/>
            <a:ext cx="3621024" cy="3803904"/>
          </a:xfrm>
          <a:prstGeom prst="roundRect">
            <a:avLst>
              <a:gd name="adj" fmla="val 1263"/>
            </a:avLst>
          </a:prstGeom>
          <a:solidFill>
            <a:srgbClr val="FFFFFF"/>
          </a:solidFill>
          <a:ln w="15240">
            <a:solidFill>
              <a:srgbClr val="9A6410"/>
            </a:solidFill>
            <a:prstDash val="solid"/>
          </a:ln>
          <a:effectLst>
            <a:outerShdw sx="100000" sy="100000" kx="0" ky="0" algn="bl" rotWithShape="0" blurRad="88900" dist="12700" dir="5400000">
              <a:srgbClr val="97A3B4">
                <a:alpha val="16000"/>
              </a:srgbClr>
            </a:outerShdw>
          </a:effectLst>
        </p:spPr>
      </p:sp>
      <p:sp>
        <p:nvSpPr>
          <p:cNvPr id="19" name="Shape 17"/>
          <p:cNvSpPr/>
          <p:nvPr/>
        </p:nvSpPr>
        <p:spPr>
          <a:xfrm>
            <a:off x="4233672" y="1042416"/>
            <a:ext cx="3621024" cy="475488"/>
          </a:xfrm>
          <a:prstGeom prst="rect">
            <a:avLst/>
          </a:prstGeom>
          <a:solidFill>
            <a:srgbClr val="9A6410"/>
          </a:solidFill>
          <a:ln w="12700">
            <a:solidFill>
              <a:srgbClr val="333333"/>
            </a:solidFill>
            <a:prstDash val="solid"/>
          </a:ln>
        </p:spPr>
      </p:sp>
      <p:sp>
        <p:nvSpPr>
          <p:cNvPr id="20" name="Text 18"/>
          <p:cNvSpPr txBox="1"/>
          <p:nvPr/>
        </p:nvSpPr>
        <p:spPr>
          <a:xfrm>
            <a:off x="4379976" y="1078992"/>
            <a:ext cx="3328416" cy="219456"/>
          </a:xfrm>
          <a:prstGeom prst="rect">
            <a:avLst/>
          </a:prstGeom>
          <a:noFill/>
          <a:ln/>
        </p:spPr>
        <p:txBody>
          <a:bodyPr wrap="square" lIns="0" tIns="0" rIns="0" bIns="0" rtlCol="0" anchor="ctr"/>
          <a:lstStyle/>
          <a:p>
            <a:pPr indent="0" marL="0">
              <a:buNone/>
            </a:pPr>
            <a:r>
              <a:rPr lang="en-US" sz="1200" b="1" spc="80" kern="0" dirty="0">
                <a:solidFill>
                  <a:srgbClr val="FFFFFF"/>
                </a:solidFill>
                <a:latin typeface="Calibri" pitchFamily="34" charset="0"/>
                <a:ea typeface="Calibri" pitchFamily="34" charset="-122"/>
                <a:cs typeface="Calibri" pitchFamily="34" charset="-120"/>
              </a:rPr>
              <a:t>LEAN+</a:t>
            </a:r>
            <a:endParaRPr lang="en-US" sz="1200" dirty="0"/>
          </a:p>
        </p:txBody>
      </p:sp>
      <p:sp>
        <p:nvSpPr>
          <p:cNvPr id="21" name="Text 19"/>
          <p:cNvSpPr txBox="1"/>
          <p:nvPr/>
        </p:nvSpPr>
        <p:spPr>
          <a:xfrm>
            <a:off x="4379976" y="1280160"/>
            <a:ext cx="3328416" cy="201168"/>
          </a:xfrm>
          <a:prstGeom prst="rect">
            <a:avLst/>
          </a:prstGeom>
          <a:noFill/>
          <a:ln/>
        </p:spPr>
        <p:txBody>
          <a:bodyPr wrap="square" lIns="0" tIns="0" rIns="0" bIns="0" rtlCol="0" anchor="ctr"/>
          <a:lstStyle/>
          <a:p>
            <a:pPr indent="0" marL="0">
              <a:buNone/>
            </a:pPr>
            <a:r>
              <a:rPr lang="en-US" sz="760" dirty="0">
                <a:solidFill>
                  <a:srgbClr val="DCE6EE"/>
                </a:solidFill>
                <a:latin typeface="Calibri" pitchFamily="34" charset="0"/>
                <a:ea typeface="Calibri" pitchFamily="34" charset="-122"/>
                <a:cs typeface="Calibri" pitchFamily="34" charset="-120"/>
              </a:rPr>
              <a:t>Shared pool with scheduled design assurance</a:t>
            </a:r>
            <a:endParaRPr lang="en-US" sz="760" dirty="0"/>
          </a:p>
        </p:txBody>
      </p:sp>
      <p:sp>
        <p:nvSpPr>
          <p:cNvPr id="22" name="Text 20"/>
          <p:cNvSpPr txBox="1"/>
          <p:nvPr/>
        </p:nvSpPr>
        <p:spPr>
          <a:xfrm>
            <a:off x="4379976" y="1609344"/>
            <a:ext cx="3328416" cy="164592"/>
          </a:xfrm>
          <a:prstGeom prst="rect">
            <a:avLst/>
          </a:prstGeom>
          <a:noFill/>
          <a:ln/>
        </p:spPr>
        <p:txBody>
          <a:bodyPr wrap="square" lIns="0" tIns="0" rIns="0" bIns="0" rtlCol="0" anchor="ctr"/>
          <a:lstStyle/>
          <a:p>
            <a:pPr indent="0" marL="0">
              <a:buNone/>
            </a:pPr>
            <a:r>
              <a:rPr lang="en-US" sz="660" b="1" spc="90" kern="0" dirty="0">
                <a:solidFill>
                  <a:srgbClr val="9A6410"/>
                </a:solidFill>
                <a:latin typeface="Calibri" pitchFamily="34" charset="0"/>
                <a:ea typeface="Calibri" pitchFamily="34" charset="-122"/>
                <a:cs typeface="Calibri" pitchFamily="34" charset="-120"/>
              </a:rPr>
              <a:t>WHAT ECM PROVIDES</a:t>
            </a:r>
            <a:endParaRPr lang="en-US" sz="660" dirty="0"/>
          </a:p>
        </p:txBody>
      </p:sp>
      <p:sp>
        <p:nvSpPr>
          <p:cNvPr id="23" name="Text 21"/>
          <p:cNvSpPr txBox="1"/>
          <p:nvPr/>
        </p:nvSpPr>
        <p:spPr>
          <a:xfrm>
            <a:off x="4379976" y="1792224"/>
            <a:ext cx="3328416" cy="1335024"/>
          </a:xfrm>
          <a:prstGeom prst="rect">
            <a:avLst/>
          </a:prstGeom>
          <a:noFill/>
          <a:ln/>
        </p:spPr>
        <p:txBody>
          <a:bodyPr wrap="square" lIns="0" tIns="0" rIns="0" bIns="0" rtlCol="0" anchor="t"/>
          <a:lstStyle/>
          <a:p>
            <a:pPr indent="0" marL="0">
              <a:lnSpc>
                <a:spcPts val="940"/>
              </a:lnSpc>
              <a:spcAft>
                <a:spcPts val="200"/>
              </a:spcAft>
              <a:buNone/>
            </a:pPr>
            <a:r>
              <a:rPr lang="en-US" sz="760" dirty="0">
                <a:solidFill>
                  <a:srgbClr val="1B2432"/>
                </a:solidFill>
                <a:latin typeface="Calibri" pitchFamily="34" charset="0"/>
                <a:ea typeface="Calibri" pitchFamily="34" charset="-122"/>
                <a:cs typeface="Calibri" pitchFamily="34" charset="-120"/>
              </a:rPr>
              <a:t>— Everything in Lean, plus:</a:t>
            </a:r>
            <a:endParaRPr lang="en-US" sz="760" dirty="0"/>
          </a:p>
          <a:p>
            <a:pPr indent="0" marL="0">
              <a:lnSpc>
                <a:spcPts val="940"/>
              </a:lnSpc>
              <a:spcAft>
                <a:spcPts val="200"/>
              </a:spcAft>
              <a:buNone/>
            </a:pPr>
            <a:r>
              <a:rPr lang="en-US" sz="760" dirty="0">
                <a:solidFill>
                  <a:srgbClr val="1B2432"/>
                </a:solidFill>
                <a:latin typeface="Calibri" pitchFamily="34" charset="0"/>
                <a:ea typeface="Calibri" pitchFamily="34" charset="-122"/>
                <a:cs typeface="Calibri" pitchFamily="34" charset="-120"/>
              </a:rPr>
              <a:t>— A named enablement guide for the intake's life</a:t>
            </a:r>
            <a:endParaRPr lang="en-US" sz="760" dirty="0"/>
          </a:p>
          <a:p>
            <a:pPr indent="0" marL="0">
              <a:lnSpc>
                <a:spcPts val="940"/>
              </a:lnSpc>
              <a:spcAft>
                <a:spcPts val="200"/>
              </a:spcAft>
              <a:buNone/>
            </a:pPr>
            <a:r>
              <a:rPr lang="en-US" sz="760" dirty="0">
                <a:solidFill>
                  <a:srgbClr val="1B2432"/>
                </a:solidFill>
                <a:latin typeface="Calibri" pitchFamily="34" charset="0"/>
                <a:ea typeface="Calibri" pitchFamily="34" charset="-122"/>
                <a:cs typeface="Calibri" pitchFamily="34" charset="-120"/>
              </a:rPr>
              <a:t>— Two mandatory design reviews</a:t>
            </a:r>
            <a:endParaRPr lang="en-US" sz="760" dirty="0"/>
          </a:p>
          <a:p>
            <a:pPr indent="0" marL="0">
              <a:lnSpc>
                <a:spcPts val="940"/>
              </a:lnSpc>
              <a:spcAft>
                <a:spcPts val="200"/>
              </a:spcAft>
              <a:buNone/>
            </a:pPr>
            <a:r>
              <a:rPr lang="en-US" sz="760" dirty="0">
                <a:solidFill>
                  <a:srgbClr val="1B2432"/>
                </a:solidFill>
                <a:latin typeface="Calibri" pitchFamily="34" charset="0"/>
                <a:ea typeface="Calibri" pitchFamily="34" charset="-122"/>
                <a:cs typeface="Calibri" pitchFamily="34" charset="-120"/>
              </a:rPr>
              <a:t>— A standing weekly session, optional</a:t>
            </a:r>
            <a:endParaRPr lang="en-US" sz="760" dirty="0"/>
          </a:p>
          <a:p>
            <a:pPr indent="0" marL="0">
              <a:lnSpc>
                <a:spcPts val="940"/>
              </a:lnSpc>
              <a:spcAft>
                <a:spcPts val="200"/>
              </a:spcAft>
              <a:buNone/>
            </a:pPr>
            <a:r>
              <a:rPr lang="en-US" sz="760" dirty="0">
                <a:solidFill>
                  <a:srgbClr val="1B2432"/>
                </a:solidFill>
                <a:latin typeface="Calibri" pitchFamily="34" charset="0"/>
                <a:ea typeface="Calibri" pitchFamily="34" charset="-122"/>
                <a:cs typeface="Calibri" pitchFamily="34" charset="-120"/>
              </a:rPr>
              <a:t>— Shared-pool support for the novel elements</a:t>
            </a:r>
            <a:endParaRPr lang="en-US" sz="760" dirty="0"/>
          </a:p>
          <a:p>
            <a:pPr indent="0" marL="0">
              <a:lnSpc>
                <a:spcPts val="940"/>
              </a:lnSpc>
              <a:spcAft>
                <a:spcPts val="200"/>
              </a:spcAft>
              <a:buNone/>
            </a:pPr>
            <a:r>
              <a:rPr lang="en-US" sz="760" dirty="0">
                <a:solidFill>
                  <a:srgbClr val="1B2432"/>
                </a:solidFill>
                <a:latin typeface="Calibri" pitchFamily="34" charset="0"/>
                <a:ea typeface="Calibri" pitchFamily="34" charset="-122"/>
                <a:cs typeface="Calibri" pitchFamily="34" charset="-120"/>
              </a:rPr>
              <a:t>— Metadata mapping review, not delivery</a:t>
            </a:r>
            <a:endParaRPr lang="en-US" sz="760" dirty="0"/>
          </a:p>
        </p:txBody>
      </p:sp>
      <p:sp>
        <p:nvSpPr>
          <p:cNvPr id="24" name="Text 22"/>
          <p:cNvSpPr txBox="1"/>
          <p:nvPr/>
        </p:nvSpPr>
        <p:spPr>
          <a:xfrm>
            <a:off x="4379976" y="3182112"/>
            <a:ext cx="3328416" cy="164592"/>
          </a:xfrm>
          <a:prstGeom prst="rect">
            <a:avLst/>
          </a:prstGeom>
          <a:noFill/>
          <a:ln/>
        </p:spPr>
        <p:txBody>
          <a:bodyPr wrap="square" lIns="0" tIns="0" rIns="0" bIns="0" rtlCol="0" anchor="ctr"/>
          <a:lstStyle/>
          <a:p>
            <a:pPr indent="0" marL="0">
              <a:buNone/>
            </a:pPr>
            <a:r>
              <a:rPr lang="en-US" sz="660" b="1" spc="90" kern="0" dirty="0">
                <a:solidFill>
                  <a:srgbClr val="55606E"/>
                </a:solidFill>
                <a:latin typeface="Calibri" pitchFamily="34" charset="0"/>
                <a:ea typeface="Calibri" pitchFamily="34" charset="-122"/>
                <a:cs typeface="Calibri" pitchFamily="34" charset="-120"/>
              </a:rPr>
              <a:t>WHAT THE PARTNER OWNS</a:t>
            </a:r>
            <a:endParaRPr lang="en-US" sz="660" dirty="0"/>
          </a:p>
        </p:txBody>
      </p:sp>
      <p:sp>
        <p:nvSpPr>
          <p:cNvPr id="25" name="Text 23"/>
          <p:cNvSpPr txBox="1"/>
          <p:nvPr/>
        </p:nvSpPr>
        <p:spPr>
          <a:xfrm>
            <a:off x="4379976" y="3364992"/>
            <a:ext cx="3328416" cy="914400"/>
          </a:xfrm>
          <a:prstGeom prst="rect">
            <a:avLst/>
          </a:prstGeom>
          <a:noFill/>
          <a:ln/>
        </p:spPr>
        <p:txBody>
          <a:bodyPr wrap="square" lIns="0" tIns="0" rIns="0" bIns="0" rtlCol="0" anchor="t"/>
          <a:lstStyle/>
          <a:p>
            <a:pPr indent="0" marL="0">
              <a:lnSpc>
                <a:spcPts val="940"/>
              </a:lnSpc>
              <a:spcAft>
                <a:spcPts val="200"/>
              </a:spcAft>
              <a:buNone/>
            </a:pPr>
            <a:r>
              <a:rPr lang="en-US" sz="760" dirty="0">
                <a:solidFill>
                  <a:srgbClr val="55606E"/>
                </a:solidFill>
                <a:latin typeface="Calibri" pitchFamily="34" charset="0"/>
                <a:ea typeface="Calibri" pitchFamily="34" charset="-122"/>
                <a:cs typeface="Calibri" pitchFamily="34" charset="-120"/>
              </a:rPr>
              <a:t>— All Lean responsibilities</a:t>
            </a:r>
            <a:endParaRPr lang="en-US" sz="760" dirty="0"/>
          </a:p>
          <a:p>
            <a:pPr indent="0" marL="0">
              <a:lnSpc>
                <a:spcPts val="940"/>
              </a:lnSpc>
              <a:spcAft>
                <a:spcPts val="200"/>
              </a:spcAft>
              <a:buNone/>
            </a:pPr>
            <a:r>
              <a:rPr lang="en-US" sz="760" dirty="0">
                <a:solidFill>
                  <a:srgbClr val="55606E"/>
                </a:solidFill>
                <a:latin typeface="Calibri" pitchFamily="34" charset="0"/>
                <a:ea typeface="Calibri" pitchFamily="34" charset="-122"/>
                <a:cs typeface="Calibri" pitchFamily="34" charset="-120"/>
              </a:rPr>
              <a:t>— First draft of design artefacts for review</a:t>
            </a:r>
            <a:endParaRPr lang="en-US" sz="760" dirty="0"/>
          </a:p>
          <a:p>
            <a:pPr indent="0" marL="0">
              <a:lnSpc>
                <a:spcPts val="940"/>
              </a:lnSpc>
              <a:spcAft>
                <a:spcPts val="200"/>
              </a:spcAft>
              <a:buNone/>
            </a:pPr>
            <a:r>
              <a:rPr lang="en-US" sz="760" dirty="0">
                <a:solidFill>
                  <a:srgbClr val="55606E"/>
                </a:solidFill>
                <a:latin typeface="Calibri" pitchFamily="34" charset="0"/>
                <a:ea typeface="Calibri" pitchFamily="34" charset="-122"/>
                <a:cs typeface="Calibri" pitchFamily="34" charset="-120"/>
              </a:rPr>
              <a:t>— Driving implementation between checkpoints</a:t>
            </a:r>
            <a:endParaRPr lang="en-US" sz="760" dirty="0"/>
          </a:p>
        </p:txBody>
      </p:sp>
      <p:sp>
        <p:nvSpPr>
          <p:cNvPr id="26" name="Shape 24"/>
          <p:cNvSpPr/>
          <p:nvPr/>
        </p:nvSpPr>
        <p:spPr>
          <a:xfrm>
            <a:off x="4261104" y="4443984"/>
            <a:ext cx="3566160" cy="365760"/>
          </a:xfrm>
          <a:prstGeom prst="rect">
            <a:avLst/>
          </a:prstGeom>
          <a:solidFill>
            <a:srgbClr val="FAF1DF"/>
          </a:solidFill>
          <a:ln w="12700">
            <a:solidFill>
              <a:srgbClr val="333333"/>
            </a:solidFill>
            <a:prstDash val="solid"/>
          </a:ln>
        </p:spPr>
      </p:sp>
      <p:sp>
        <p:nvSpPr>
          <p:cNvPr id="27" name="Text 25"/>
          <p:cNvSpPr txBox="1"/>
          <p:nvPr/>
        </p:nvSpPr>
        <p:spPr>
          <a:xfrm>
            <a:off x="4379976" y="4443984"/>
            <a:ext cx="3328416" cy="365760"/>
          </a:xfrm>
          <a:prstGeom prst="rect">
            <a:avLst/>
          </a:prstGeom>
          <a:noFill/>
          <a:ln/>
        </p:spPr>
        <p:txBody>
          <a:bodyPr wrap="square" lIns="0" tIns="0" rIns="0" bIns="0" rtlCol="0" anchor="ctr"/>
          <a:lstStyle/>
          <a:p>
            <a:pPr indent="0" marL="0">
              <a:lnSpc>
                <a:spcPts val="880"/>
              </a:lnSpc>
              <a:buNone/>
            </a:pPr>
            <a:r>
              <a:rPr lang="en-US" sz="740" b="1" dirty="0">
                <a:solidFill>
                  <a:srgbClr val="9A6410"/>
                </a:solidFill>
                <a:latin typeface="Calibri" pitchFamily="34" charset="0"/>
                <a:ea typeface="Calibri" pitchFamily="34" charset="-122"/>
                <a:cs typeface="Calibri" pitchFamily="34" charset="-120"/>
              </a:rPr>
              <a:t>Engagement is scheduled — the partner knows exactly when they get attention</a:t>
            </a:r>
            <a:endParaRPr lang="en-US" sz="740" dirty="0"/>
          </a:p>
        </p:txBody>
      </p:sp>
      <p:sp>
        <p:nvSpPr>
          <p:cNvPr id="28" name="Shape 26"/>
          <p:cNvSpPr/>
          <p:nvPr/>
        </p:nvSpPr>
        <p:spPr>
          <a:xfrm>
            <a:off x="8055864" y="1042416"/>
            <a:ext cx="3621024" cy="3803904"/>
          </a:xfrm>
          <a:prstGeom prst="roundRect">
            <a:avLst>
              <a:gd name="adj" fmla="val 1263"/>
            </a:avLst>
          </a:prstGeom>
          <a:solidFill>
            <a:srgbClr val="FFFFFF"/>
          </a:solidFill>
          <a:ln w="15240">
            <a:solidFill>
              <a:srgbClr val="15304F"/>
            </a:solidFill>
            <a:prstDash val="solid"/>
          </a:ln>
          <a:effectLst>
            <a:outerShdw sx="100000" sy="100000" kx="0" ky="0" algn="bl" rotWithShape="0" blurRad="88900" dist="12700" dir="5400000">
              <a:srgbClr val="97A3B4">
                <a:alpha val="16000"/>
              </a:srgbClr>
            </a:outerShdw>
          </a:effectLst>
        </p:spPr>
      </p:sp>
      <p:sp>
        <p:nvSpPr>
          <p:cNvPr id="29" name="Shape 27"/>
          <p:cNvSpPr/>
          <p:nvPr/>
        </p:nvSpPr>
        <p:spPr>
          <a:xfrm>
            <a:off x="8055864" y="1042416"/>
            <a:ext cx="3621024" cy="475488"/>
          </a:xfrm>
          <a:prstGeom prst="rect">
            <a:avLst/>
          </a:prstGeom>
          <a:solidFill>
            <a:srgbClr val="15304F"/>
          </a:solidFill>
          <a:ln w="12700">
            <a:solidFill>
              <a:srgbClr val="333333"/>
            </a:solidFill>
            <a:prstDash val="solid"/>
          </a:ln>
        </p:spPr>
      </p:sp>
      <p:sp>
        <p:nvSpPr>
          <p:cNvPr id="30" name="Text 28"/>
          <p:cNvSpPr txBox="1"/>
          <p:nvPr/>
        </p:nvSpPr>
        <p:spPr>
          <a:xfrm>
            <a:off x="8202168" y="1078992"/>
            <a:ext cx="3328416" cy="219456"/>
          </a:xfrm>
          <a:prstGeom prst="rect">
            <a:avLst/>
          </a:prstGeom>
          <a:noFill/>
          <a:ln/>
        </p:spPr>
        <p:txBody>
          <a:bodyPr wrap="square" lIns="0" tIns="0" rIns="0" bIns="0" rtlCol="0" anchor="ctr"/>
          <a:lstStyle/>
          <a:p>
            <a:pPr indent="0" marL="0">
              <a:buNone/>
            </a:pPr>
            <a:r>
              <a:rPr lang="en-US" sz="1200" b="1" spc="80" kern="0" dirty="0">
                <a:solidFill>
                  <a:srgbClr val="FFFFFF"/>
                </a:solidFill>
                <a:latin typeface="Calibri" pitchFamily="34" charset="0"/>
                <a:ea typeface="Calibri" pitchFamily="34" charset="-122"/>
                <a:cs typeface="Calibri" pitchFamily="34" charset="-120"/>
              </a:rPr>
              <a:t>DEDICATED</a:t>
            </a:r>
            <a:endParaRPr lang="en-US" sz="1200" dirty="0"/>
          </a:p>
        </p:txBody>
      </p:sp>
      <p:sp>
        <p:nvSpPr>
          <p:cNvPr id="31" name="Text 29"/>
          <p:cNvSpPr txBox="1"/>
          <p:nvPr/>
        </p:nvSpPr>
        <p:spPr>
          <a:xfrm>
            <a:off x="8202168" y="1280160"/>
            <a:ext cx="3328416" cy="201168"/>
          </a:xfrm>
          <a:prstGeom prst="rect">
            <a:avLst/>
          </a:prstGeom>
          <a:noFill/>
          <a:ln/>
        </p:spPr>
        <p:txBody>
          <a:bodyPr wrap="square" lIns="0" tIns="0" rIns="0" bIns="0" rtlCol="0" anchor="ctr"/>
          <a:lstStyle/>
          <a:p>
            <a:pPr indent="0" marL="0">
              <a:buNone/>
            </a:pPr>
            <a:r>
              <a:rPr lang="en-US" sz="760" dirty="0">
                <a:solidFill>
                  <a:srgbClr val="DCE6EE"/>
                </a:solidFill>
                <a:latin typeface="Calibri" pitchFamily="34" charset="0"/>
                <a:ea typeface="Calibri" pitchFamily="34" charset="-122"/>
                <a:cs typeface="Calibri" pitchFamily="34" charset="-120"/>
              </a:rPr>
              <a:t>Allocated pod, inception to release</a:t>
            </a:r>
            <a:endParaRPr lang="en-US" sz="760" dirty="0"/>
          </a:p>
        </p:txBody>
      </p:sp>
      <p:sp>
        <p:nvSpPr>
          <p:cNvPr id="32" name="Text 30"/>
          <p:cNvSpPr txBox="1"/>
          <p:nvPr/>
        </p:nvSpPr>
        <p:spPr>
          <a:xfrm>
            <a:off x="8202168" y="1609344"/>
            <a:ext cx="3328416" cy="164592"/>
          </a:xfrm>
          <a:prstGeom prst="rect">
            <a:avLst/>
          </a:prstGeom>
          <a:noFill/>
          <a:ln/>
        </p:spPr>
        <p:txBody>
          <a:bodyPr wrap="square" lIns="0" tIns="0" rIns="0" bIns="0" rtlCol="0" anchor="ctr"/>
          <a:lstStyle/>
          <a:p>
            <a:pPr indent="0" marL="0">
              <a:buNone/>
            </a:pPr>
            <a:r>
              <a:rPr lang="en-US" sz="660" b="1" spc="90" kern="0" dirty="0">
                <a:solidFill>
                  <a:srgbClr val="15304F"/>
                </a:solidFill>
                <a:latin typeface="Calibri" pitchFamily="34" charset="0"/>
                <a:ea typeface="Calibri" pitchFamily="34" charset="-122"/>
                <a:cs typeface="Calibri" pitchFamily="34" charset="-120"/>
              </a:rPr>
              <a:t>WHAT ECM PROVIDES</a:t>
            </a:r>
            <a:endParaRPr lang="en-US" sz="660" dirty="0"/>
          </a:p>
        </p:txBody>
      </p:sp>
      <p:sp>
        <p:nvSpPr>
          <p:cNvPr id="33" name="Text 31"/>
          <p:cNvSpPr txBox="1"/>
          <p:nvPr/>
        </p:nvSpPr>
        <p:spPr>
          <a:xfrm>
            <a:off x="8202168" y="1792224"/>
            <a:ext cx="3328416" cy="1335024"/>
          </a:xfrm>
          <a:prstGeom prst="rect">
            <a:avLst/>
          </a:prstGeom>
          <a:noFill/>
          <a:ln/>
        </p:spPr>
        <p:txBody>
          <a:bodyPr wrap="square" lIns="0" tIns="0" rIns="0" bIns="0" rtlCol="0" anchor="t"/>
          <a:lstStyle/>
          <a:p>
            <a:pPr indent="0" marL="0">
              <a:lnSpc>
                <a:spcPts val="940"/>
              </a:lnSpc>
              <a:spcAft>
                <a:spcPts val="200"/>
              </a:spcAft>
              <a:buNone/>
            </a:pPr>
            <a:r>
              <a:rPr lang="en-US" sz="760" dirty="0">
                <a:solidFill>
                  <a:srgbClr val="1B2432"/>
                </a:solidFill>
                <a:latin typeface="Calibri" pitchFamily="34" charset="0"/>
                <a:ea typeface="Calibri" pitchFamily="34" charset="-122"/>
                <a:cs typeface="Calibri" pitchFamily="34" charset="-120"/>
              </a:rPr>
              <a:t>— An allocated cross-functional pod</a:t>
            </a:r>
            <a:endParaRPr lang="en-US" sz="760" dirty="0"/>
          </a:p>
          <a:p>
            <a:pPr indent="0" marL="0">
              <a:lnSpc>
                <a:spcPts val="940"/>
              </a:lnSpc>
              <a:spcAft>
                <a:spcPts val="200"/>
              </a:spcAft>
              <a:buNone/>
            </a:pPr>
            <a:r>
              <a:rPr lang="en-US" sz="760" dirty="0">
                <a:solidFill>
                  <a:srgbClr val="1B2432"/>
                </a:solidFill>
                <a:latin typeface="Calibri" pitchFamily="34" charset="0"/>
                <a:ea typeface="Calibri" pitchFamily="34" charset="-122"/>
                <a:cs typeface="Calibri" pitchFamily="34" charset="-120"/>
              </a:rPr>
              <a:t>— End-to-end ownership through stabilisation</a:t>
            </a:r>
            <a:endParaRPr lang="en-US" sz="760" dirty="0"/>
          </a:p>
          <a:p>
            <a:pPr indent="0" marL="0">
              <a:lnSpc>
                <a:spcPts val="940"/>
              </a:lnSpc>
              <a:spcAft>
                <a:spcPts val="200"/>
              </a:spcAft>
              <a:buNone/>
            </a:pPr>
            <a:r>
              <a:rPr lang="en-US" sz="760" dirty="0">
                <a:solidFill>
                  <a:srgbClr val="1B2432"/>
                </a:solidFill>
                <a:latin typeface="Calibri" pitchFamily="34" charset="0"/>
                <a:ea typeface="Calibri" pitchFamily="34" charset="-122"/>
                <a:cs typeface="Calibri" pitchFamily="34" charset="-120"/>
              </a:rPr>
              <a:t>— Authoring — not reviewing — design and mappings</a:t>
            </a:r>
            <a:endParaRPr lang="en-US" sz="760" dirty="0"/>
          </a:p>
          <a:p>
            <a:pPr indent="0" marL="0">
              <a:lnSpc>
                <a:spcPts val="940"/>
              </a:lnSpc>
              <a:spcAft>
                <a:spcPts val="200"/>
              </a:spcAft>
              <a:buNone/>
            </a:pPr>
            <a:r>
              <a:rPr lang="en-US" sz="760" dirty="0">
                <a:solidFill>
                  <a:srgbClr val="1B2432"/>
                </a:solidFill>
                <a:latin typeface="Calibri" pitchFamily="34" charset="0"/>
                <a:ea typeface="Calibri" pitchFamily="34" charset="-122"/>
                <a:cs typeface="Calibri" pitchFamily="34" charset="-120"/>
              </a:rPr>
              <a:t>— Continuous availability</a:t>
            </a:r>
            <a:endParaRPr lang="en-US" sz="760" dirty="0"/>
          </a:p>
          <a:p>
            <a:pPr indent="0" marL="0">
              <a:lnSpc>
                <a:spcPts val="940"/>
              </a:lnSpc>
              <a:spcAft>
                <a:spcPts val="200"/>
              </a:spcAft>
              <a:buNone/>
            </a:pPr>
            <a:r>
              <a:rPr lang="en-US" sz="760" dirty="0">
                <a:solidFill>
                  <a:srgbClr val="1B2432"/>
                </a:solidFill>
                <a:latin typeface="Calibri" pitchFamily="34" charset="0"/>
                <a:ea typeface="Calibri" pitchFamily="34" charset="-122"/>
                <a:cs typeface="Calibri" pitchFamily="34" charset="-120"/>
              </a:rPr>
              <a:t>— Direct coordination with specialist teams</a:t>
            </a:r>
            <a:endParaRPr lang="en-US" sz="760" dirty="0"/>
          </a:p>
        </p:txBody>
      </p:sp>
      <p:sp>
        <p:nvSpPr>
          <p:cNvPr id="34" name="Text 32"/>
          <p:cNvSpPr txBox="1"/>
          <p:nvPr/>
        </p:nvSpPr>
        <p:spPr>
          <a:xfrm>
            <a:off x="8202168" y="3182112"/>
            <a:ext cx="3328416" cy="164592"/>
          </a:xfrm>
          <a:prstGeom prst="rect">
            <a:avLst/>
          </a:prstGeom>
          <a:noFill/>
          <a:ln/>
        </p:spPr>
        <p:txBody>
          <a:bodyPr wrap="square" lIns="0" tIns="0" rIns="0" bIns="0" rtlCol="0" anchor="ctr"/>
          <a:lstStyle/>
          <a:p>
            <a:pPr indent="0" marL="0">
              <a:buNone/>
            </a:pPr>
            <a:r>
              <a:rPr lang="en-US" sz="660" b="1" spc="90" kern="0" dirty="0">
                <a:solidFill>
                  <a:srgbClr val="55606E"/>
                </a:solidFill>
                <a:latin typeface="Calibri" pitchFamily="34" charset="0"/>
                <a:ea typeface="Calibri" pitchFamily="34" charset="-122"/>
                <a:cs typeface="Calibri" pitchFamily="34" charset="-120"/>
              </a:rPr>
              <a:t>WHAT THE PARTNER OWNS</a:t>
            </a:r>
            <a:endParaRPr lang="en-US" sz="660" dirty="0"/>
          </a:p>
        </p:txBody>
      </p:sp>
      <p:sp>
        <p:nvSpPr>
          <p:cNvPr id="35" name="Text 33"/>
          <p:cNvSpPr txBox="1"/>
          <p:nvPr/>
        </p:nvSpPr>
        <p:spPr>
          <a:xfrm>
            <a:off x="8202168" y="3364992"/>
            <a:ext cx="3328416" cy="914400"/>
          </a:xfrm>
          <a:prstGeom prst="rect">
            <a:avLst/>
          </a:prstGeom>
          <a:noFill/>
          <a:ln/>
        </p:spPr>
        <p:txBody>
          <a:bodyPr wrap="square" lIns="0" tIns="0" rIns="0" bIns="0" rtlCol="0" anchor="t"/>
          <a:lstStyle/>
          <a:p>
            <a:pPr indent="0" marL="0">
              <a:lnSpc>
                <a:spcPts val="940"/>
              </a:lnSpc>
              <a:spcAft>
                <a:spcPts val="200"/>
              </a:spcAft>
              <a:buNone/>
            </a:pPr>
            <a:r>
              <a:rPr lang="en-US" sz="760" dirty="0">
                <a:solidFill>
                  <a:srgbClr val="55606E"/>
                </a:solidFill>
                <a:latin typeface="Calibri" pitchFamily="34" charset="0"/>
                <a:ea typeface="Calibri" pitchFamily="34" charset="-122"/>
                <a:cs typeface="Calibri" pitchFamily="34" charset="-120"/>
              </a:rPr>
              <a:t>— Requirements, samples and acceptance</a:t>
            </a:r>
            <a:endParaRPr lang="en-US" sz="760" dirty="0"/>
          </a:p>
          <a:p>
            <a:pPr indent="0" marL="0">
              <a:lnSpc>
                <a:spcPts val="940"/>
              </a:lnSpc>
              <a:spcAft>
                <a:spcPts val="200"/>
              </a:spcAft>
              <a:buNone/>
            </a:pPr>
            <a:r>
              <a:rPr lang="en-US" sz="760" dirty="0">
                <a:solidFill>
                  <a:srgbClr val="55606E"/>
                </a:solidFill>
                <a:latin typeface="Calibri" pitchFamily="34" charset="0"/>
                <a:ea typeface="Calibri" pitchFamily="34" charset="-122"/>
                <a:cs typeface="Calibri" pitchFamily="34" charset="-120"/>
              </a:rPr>
              <a:t>— Business validation and sign-off</a:t>
            </a:r>
            <a:endParaRPr lang="en-US" sz="760" dirty="0"/>
          </a:p>
        </p:txBody>
      </p:sp>
      <p:sp>
        <p:nvSpPr>
          <p:cNvPr id="36" name="Shape 34"/>
          <p:cNvSpPr/>
          <p:nvPr/>
        </p:nvSpPr>
        <p:spPr>
          <a:xfrm>
            <a:off x="8083296" y="4443984"/>
            <a:ext cx="3566160" cy="365760"/>
          </a:xfrm>
          <a:prstGeom prst="rect">
            <a:avLst/>
          </a:prstGeom>
          <a:solidFill>
            <a:srgbClr val="E8EDF4"/>
          </a:solidFill>
          <a:ln w="12700">
            <a:solidFill>
              <a:srgbClr val="333333"/>
            </a:solidFill>
            <a:prstDash val="solid"/>
          </a:ln>
        </p:spPr>
      </p:sp>
      <p:sp>
        <p:nvSpPr>
          <p:cNvPr id="37" name="Text 35"/>
          <p:cNvSpPr txBox="1"/>
          <p:nvPr/>
        </p:nvSpPr>
        <p:spPr>
          <a:xfrm>
            <a:off x="8202168" y="4443984"/>
            <a:ext cx="3328416" cy="365760"/>
          </a:xfrm>
          <a:prstGeom prst="rect">
            <a:avLst/>
          </a:prstGeom>
          <a:noFill/>
          <a:ln/>
        </p:spPr>
        <p:txBody>
          <a:bodyPr wrap="square" lIns="0" tIns="0" rIns="0" bIns="0" rtlCol="0" anchor="ctr"/>
          <a:lstStyle/>
          <a:p>
            <a:pPr indent="0" marL="0">
              <a:lnSpc>
                <a:spcPts val="880"/>
              </a:lnSpc>
              <a:buNone/>
            </a:pPr>
            <a:r>
              <a:rPr lang="en-US" sz="740" b="1" dirty="0">
                <a:solidFill>
                  <a:srgbClr val="15304F"/>
                </a:solidFill>
                <a:latin typeface="Calibri" pitchFamily="34" charset="0"/>
                <a:ea typeface="Calibri" pitchFamily="34" charset="-122"/>
                <a:cs typeface="Calibri" pitchFamily="34" charset="-120"/>
              </a:rPr>
              <a:t>Engagement is continuous — the pod is the partner's delivery team</a:t>
            </a:r>
            <a:endParaRPr lang="en-US" sz="740" dirty="0"/>
          </a:p>
        </p:txBody>
      </p:sp>
      <p:sp>
        <p:nvSpPr>
          <p:cNvPr id="38" name="Text 36"/>
          <p:cNvSpPr txBox="1"/>
          <p:nvPr/>
        </p:nvSpPr>
        <p:spPr>
          <a:xfrm>
            <a:off x="411480" y="4974336"/>
            <a:ext cx="7315200" cy="182880"/>
          </a:xfrm>
          <a:prstGeom prst="rect">
            <a:avLst/>
          </a:prstGeom>
          <a:noFill/>
          <a:ln/>
        </p:spPr>
        <p:txBody>
          <a:bodyPr wrap="square" lIns="0" tIns="0" rIns="0" bIns="0" rtlCol="0" anchor="ctr"/>
          <a:lstStyle/>
          <a:p>
            <a:pPr indent="0" marL="0">
              <a:buNone/>
            </a:pPr>
            <a:r>
              <a:rPr lang="en-US" sz="760" b="1" spc="110" kern="0" dirty="0">
                <a:solidFill>
                  <a:srgbClr val="A44A2A"/>
                </a:solidFill>
                <a:latin typeface="Calibri" pitchFamily="34" charset="0"/>
                <a:ea typeface="Calibri" pitchFamily="34" charset="-122"/>
                <a:cs typeface="Calibri" pitchFamily="34" charset="-120"/>
              </a:rPr>
              <a:t>WHAT DOES NOT CHANGE ACROSS THE THREE MODELS — NO TIER CONFERS AN EXEMPTION</a:t>
            </a:r>
            <a:endParaRPr lang="en-US" sz="760" dirty="0"/>
          </a:p>
        </p:txBody>
      </p:sp>
      <p:sp>
        <p:nvSpPr>
          <p:cNvPr id="39" name="Shape 37"/>
          <p:cNvSpPr/>
          <p:nvPr/>
        </p:nvSpPr>
        <p:spPr>
          <a:xfrm>
            <a:off x="411480" y="5175504"/>
            <a:ext cx="1316736" cy="420624"/>
          </a:xfrm>
          <a:prstGeom prst="roundRect">
            <a:avLst>
              <a:gd name="adj" fmla="val 8696"/>
            </a:avLst>
          </a:prstGeom>
          <a:solidFill>
            <a:srgbClr val="FBF0EB"/>
          </a:solidFill>
          <a:ln w="11430">
            <a:solidFill>
              <a:srgbClr val="A44A2A"/>
            </a:solidFill>
            <a:prstDash val="solid"/>
          </a:ln>
        </p:spPr>
      </p:sp>
      <p:sp>
        <p:nvSpPr>
          <p:cNvPr id="40" name="Text 38"/>
          <p:cNvSpPr txBox="1"/>
          <p:nvPr/>
        </p:nvSpPr>
        <p:spPr>
          <a:xfrm>
            <a:off x="484632" y="5175504"/>
            <a:ext cx="1170432" cy="420624"/>
          </a:xfrm>
          <a:prstGeom prst="rect">
            <a:avLst/>
          </a:prstGeom>
          <a:noFill/>
          <a:ln/>
        </p:spPr>
        <p:txBody>
          <a:bodyPr wrap="square" lIns="0" tIns="0" rIns="0" bIns="0" rtlCol="0" anchor="ctr"/>
          <a:lstStyle/>
          <a:p>
            <a:pPr algn="ctr" indent="0" marL="0">
              <a:lnSpc>
                <a:spcPts val="820"/>
              </a:lnSpc>
              <a:buNone/>
            </a:pPr>
            <a:r>
              <a:rPr lang="en-US" sz="700" b="1" dirty="0">
                <a:solidFill>
                  <a:srgbClr val="A44A2A"/>
                </a:solidFill>
                <a:latin typeface="Calibri" pitchFamily="34" charset="0"/>
                <a:ea typeface="Calibri" pitchFamily="34" charset="-122"/>
                <a:cs typeface="Calibri" pitchFamily="34" charset="-120"/>
              </a:rPr>
              <a:t>Classification determination</a:t>
            </a:r>
            <a:endParaRPr lang="en-US" sz="700" dirty="0"/>
          </a:p>
        </p:txBody>
      </p:sp>
      <p:sp>
        <p:nvSpPr>
          <p:cNvPr id="41" name="Shape 39"/>
          <p:cNvSpPr/>
          <p:nvPr/>
        </p:nvSpPr>
        <p:spPr>
          <a:xfrm>
            <a:off x="1837944" y="5175504"/>
            <a:ext cx="1316736" cy="420624"/>
          </a:xfrm>
          <a:prstGeom prst="roundRect">
            <a:avLst>
              <a:gd name="adj" fmla="val 8696"/>
            </a:avLst>
          </a:prstGeom>
          <a:solidFill>
            <a:srgbClr val="FBF0EB"/>
          </a:solidFill>
          <a:ln w="11430">
            <a:solidFill>
              <a:srgbClr val="A44A2A"/>
            </a:solidFill>
            <a:prstDash val="solid"/>
          </a:ln>
        </p:spPr>
      </p:sp>
      <p:sp>
        <p:nvSpPr>
          <p:cNvPr id="42" name="Text 40"/>
          <p:cNvSpPr txBox="1"/>
          <p:nvPr/>
        </p:nvSpPr>
        <p:spPr>
          <a:xfrm>
            <a:off x="1911096" y="5175504"/>
            <a:ext cx="1170432" cy="420624"/>
          </a:xfrm>
          <a:prstGeom prst="rect">
            <a:avLst/>
          </a:prstGeom>
          <a:noFill/>
          <a:ln/>
        </p:spPr>
        <p:txBody>
          <a:bodyPr wrap="square" lIns="0" tIns="0" rIns="0" bIns="0" rtlCol="0" anchor="ctr"/>
          <a:lstStyle/>
          <a:p>
            <a:pPr algn="ctr" indent="0" marL="0">
              <a:lnSpc>
                <a:spcPts val="820"/>
              </a:lnSpc>
              <a:buNone/>
            </a:pPr>
            <a:r>
              <a:rPr lang="en-US" sz="700" b="1" dirty="0">
                <a:solidFill>
                  <a:srgbClr val="A44A2A"/>
                </a:solidFill>
                <a:latin typeface="Calibri" pitchFamily="34" charset="0"/>
                <a:ea typeface="Calibri" pitchFamily="34" charset="-122"/>
                <a:cs typeface="Calibri" pitchFamily="34" charset="-120"/>
              </a:rPr>
              <a:t>Retention approval</a:t>
            </a:r>
            <a:endParaRPr lang="en-US" sz="700" dirty="0"/>
          </a:p>
        </p:txBody>
      </p:sp>
      <p:sp>
        <p:nvSpPr>
          <p:cNvPr id="43" name="Shape 41"/>
          <p:cNvSpPr/>
          <p:nvPr/>
        </p:nvSpPr>
        <p:spPr>
          <a:xfrm>
            <a:off x="3264408" y="5175504"/>
            <a:ext cx="1316736" cy="420624"/>
          </a:xfrm>
          <a:prstGeom prst="roundRect">
            <a:avLst>
              <a:gd name="adj" fmla="val 8696"/>
            </a:avLst>
          </a:prstGeom>
          <a:solidFill>
            <a:srgbClr val="FBF0EB"/>
          </a:solidFill>
          <a:ln w="11430">
            <a:solidFill>
              <a:srgbClr val="A44A2A"/>
            </a:solidFill>
            <a:prstDash val="solid"/>
          </a:ln>
        </p:spPr>
      </p:sp>
      <p:sp>
        <p:nvSpPr>
          <p:cNvPr id="44" name="Text 42"/>
          <p:cNvSpPr txBox="1"/>
          <p:nvPr/>
        </p:nvSpPr>
        <p:spPr>
          <a:xfrm>
            <a:off x="3337560" y="5175504"/>
            <a:ext cx="1170432" cy="420624"/>
          </a:xfrm>
          <a:prstGeom prst="rect">
            <a:avLst/>
          </a:prstGeom>
          <a:noFill/>
          <a:ln/>
        </p:spPr>
        <p:txBody>
          <a:bodyPr wrap="square" lIns="0" tIns="0" rIns="0" bIns="0" rtlCol="0" anchor="ctr"/>
          <a:lstStyle/>
          <a:p>
            <a:pPr algn="ctr" indent="0" marL="0">
              <a:lnSpc>
                <a:spcPts val="820"/>
              </a:lnSpc>
              <a:buNone/>
            </a:pPr>
            <a:r>
              <a:rPr lang="en-US" sz="700" b="1" dirty="0">
                <a:solidFill>
                  <a:srgbClr val="A44A2A"/>
                </a:solidFill>
                <a:latin typeface="Calibri" pitchFamily="34" charset="0"/>
                <a:ea typeface="Calibri" pitchFamily="34" charset="-122"/>
                <a:cs typeface="Calibri" pitchFamily="34" charset="-120"/>
              </a:rPr>
              <a:t>Security and access review</a:t>
            </a:r>
            <a:endParaRPr lang="en-US" sz="700" dirty="0"/>
          </a:p>
        </p:txBody>
      </p:sp>
      <p:sp>
        <p:nvSpPr>
          <p:cNvPr id="45" name="Shape 43"/>
          <p:cNvSpPr/>
          <p:nvPr/>
        </p:nvSpPr>
        <p:spPr>
          <a:xfrm>
            <a:off x="4690872" y="5175504"/>
            <a:ext cx="1316736" cy="420624"/>
          </a:xfrm>
          <a:prstGeom prst="roundRect">
            <a:avLst>
              <a:gd name="adj" fmla="val 8696"/>
            </a:avLst>
          </a:prstGeom>
          <a:solidFill>
            <a:srgbClr val="FBF0EB"/>
          </a:solidFill>
          <a:ln w="11430">
            <a:solidFill>
              <a:srgbClr val="A44A2A"/>
            </a:solidFill>
            <a:prstDash val="solid"/>
          </a:ln>
        </p:spPr>
      </p:sp>
      <p:sp>
        <p:nvSpPr>
          <p:cNvPr id="46" name="Text 44"/>
          <p:cNvSpPr txBox="1"/>
          <p:nvPr/>
        </p:nvSpPr>
        <p:spPr>
          <a:xfrm>
            <a:off x="4764024" y="5175504"/>
            <a:ext cx="1170432" cy="420624"/>
          </a:xfrm>
          <a:prstGeom prst="rect">
            <a:avLst/>
          </a:prstGeom>
          <a:noFill/>
          <a:ln/>
        </p:spPr>
        <p:txBody>
          <a:bodyPr wrap="square" lIns="0" tIns="0" rIns="0" bIns="0" rtlCol="0" anchor="ctr"/>
          <a:lstStyle/>
          <a:p>
            <a:pPr algn="ctr" indent="0" marL="0">
              <a:lnSpc>
                <a:spcPts val="820"/>
              </a:lnSpc>
              <a:buNone/>
            </a:pPr>
            <a:r>
              <a:rPr lang="en-US" sz="700" b="1" dirty="0">
                <a:solidFill>
                  <a:srgbClr val="A44A2A"/>
                </a:solidFill>
                <a:latin typeface="Calibri" pitchFamily="34" charset="0"/>
                <a:ea typeface="Calibri" pitchFamily="34" charset="-122"/>
                <a:cs typeface="Calibri" pitchFamily="34" charset="-120"/>
              </a:rPr>
              <a:t>Volume certification</a:t>
            </a:r>
            <a:endParaRPr lang="en-US" sz="700" dirty="0"/>
          </a:p>
        </p:txBody>
      </p:sp>
      <p:sp>
        <p:nvSpPr>
          <p:cNvPr id="47" name="Shape 45"/>
          <p:cNvSpPr/>
          <p:nvPr/>
        </p:nvSpPr>
        <p:spPr>
          <a:xfrm>
            <a:off x="6117336" y="5175504"/>
            <a:ext cx="1316736" cy="420624"/>
          </a:xfrm>
          <a:prstGeom prst="roundRect">
            <a:avLst>
              <a:gd name="adj" fmla="val 8696"/>
            </a:avLst>
          </a:prstGeom>
          <a:solidFill>
            <a:srgbClr val="FBF0EB"/>
          </a:solidFill>
          <a:ln w="11430">
            <a:solidFill>
              <a:srgbClr val="A44A2A"/>
            </a:solidFill>
            <a:prstDash val="solid"/>
          </a:ln>
        </p:spPr>
      </p:sp>
      <p:sp>
        <p:nvSpPr>
          <p:cNvPr id="48" name="Text 46"/>
          <p:cNvSpPr txBox="1"/>
          <p:nvPr/>
        </p:nvSpPr>
        <p:spPr>
          <a:xfrm>
            <a:off x="6190488" y="5175504"/>
            <a:ext cx="1170432" cy="420624"/>
          </a:xfrm>
          <a:prstGeom prst="rect">
            <a:avLst/>
          </a:prstGeom>
          <a:noFill/>
          <a:ln/>
        </p:spPr>
        <p:txBody>
          <a:bodyPr wrap="square" lIns="0" tIns="0" rIns="0" bIns="0" rtlCol="0" anchor="ctr"/>
          <a:lstStyle/>
          <a:p>
            <a:pPr algn="ctr" indent="0" marL="0">
              <a:lnSpc>
                <a:spcPts val="820"/>
              </a:lnSpc>
              <a:buNone/>
            </a:pPr>
            <a:r>
              <a:rPr lang="en-US" sz="700" b="1" dirty="0">
                <a:solidFill>
                  <a:srgbClr val="A44A2A"/>
                </a:solidFill>
                <a:latin typeface="Calibri" pitchFamily="34" charset="0"/>
                <a:ea typeface="Calibri" pitchFamily="34" charset="-122"/>
                <a:cs typeface="Calibri" pitchFamily="34" charset="-120"/>
              </a:rPr>
              <a:t>Promotion ladder</a:t>
            </a:r>
            <a:endParaRPr lang="en-US" sz="700" dirty="0"/>
          </a:p>
        </p:txBody>
      </p:sp>
      <p:sp>
        <p:nvSpPr>
          <p:cNvPr id="49" name="Shape 47"/>
          <p:cNvSpPr/>
          <p:nvPr/>
        </p:nvSpPr>
        <p:spPr>
          <a:xfrm>
            <a:off x="7543800" y="5175504"/>
            <a:ext cx="1316736" cy="420624"/>
          </a:xfrm>
          <a:prstGeom prst="roundRect">
            <a:avLst>
              <a:gd name="adj" fmla="val 8696"/>
            </a:avLst>
          </a:prstGeom>
          <a:solidFill>
            <a:srgbClr val="FBF0EB"/>
          </a:solidFill>
          <a:ln w="11430">
            <a:solidFill>
              <a:srgbClr val="A44A2A"/>
            </a:solidFill>
            <a:prstDash val="solid"/>
          </a:ln>
        </p:spPr>
      </p:sp>
      <p:sp>
        <p:nvSpPr>
          <p:cNvPr id="50" name="Text 48"/>
          <p:cNvSpPr txBox="1"/>
          <p:nvPr/>
        </p:nvSpPr>
        <p:spPr>
          <a:xfrm>
            <a:off x="7616952" y="5175504"/>
            <a:ext cx="1170432" cy="420624"/>
          </a:xfrm>
          <a:prstGeom prst="rect">
            <a:avLst/>
          </a:prstGeom>
          <a:noFill/>
          <a:ln/>
        </p:spPr>
        <p:txBody>
          <a:bodyPr wrap="square" lIns="0" tIns="0" rIns="0" bIns="0" rtlCol="0" anchor="ctr"/>
          <a:lstStyle/>
          <a:p>
            <a:pPr algn="ctr" indent="0" marL="0">
              <a:lnSpc>
                <a:spcPts val="820"/>
              </a:lnSpc>
              <a:buNone/>
            </a:pPr>
            <a:r>
              <a:rPr lang="en-US" sz="700" b="1" dirty="0">
                <a:solidFill>
                  <a:srgbClr val="A44A2A"/>
                </a:solidFill>
                <a:latin typeface="Calibri" pitchFamily="34" charset="0"/>
                <a:ea typeface="Calibri" pitchFamily="34" charset="-122"/>
                <a:cs typeface="Calibri" pitchFamily="34" charset="-120"/>
              </a:rPr>
              <a:t>Support acceptance</a:t>
            </a:r>
            <a:endParaRPr lang="en-US" sz="700" dirty="0"/>
          </a:p>
        </p:txBody>
      </p:sp>
      <p:sp>
        <p:nvSpPr>
          <p:cNvPr id="51" name="Shape 49"/>
          <p:cNvSpPr/>
          <p:nvPr/>
        </p:nvSpPr>
        <p:spPr>
          <a:xfrm>
            <a:off x="8970264" y="5175504"/>
            <a:ext cx="1316736" cy="420624"/>
          </a:xfrm>
          <a:prstGeom prst="roundRect">
            <a:avLst>
              <a:gd name="adj" fmla="val 8696"/>
            </a:avLst>
          </a:prstGeom>
          <a:solidFill>
            <a:srgbClr val="FBF0EB"/>
          </a:solidFill>
          <a:ln w="11430">
            <a:solidFill>
              <a:srgbClr val="A44A2A"/>
            </a:solidFill>
            <a:prstDash val="solid"/>
          </a:ln>
        </p:spPr>
      </p:sp>
      <p:sp>
        <p:nvSpPr>
          <p:cNvPr id="52" name="Text 50"/>
          <p:cNvSpPr txBox="1"/>
          <p:nvPr/>
        </p:nvSpPr>
        <p:spPr>
          <a:xfrm>
            <a:off x="9043416" y="5175504"/>
            <a:ext cx="1170432" cy="420624"/>
          </a:xfrm>
          <a:prstGeom prst="rect">
            <a:avLst/>
          </a:prstGeom>
          <a:noFill/>
          <a:ln/>
        </p:spPr>
        <p:txBody>
          <a:bodyPr wrap="square" lIns="0" tIns="0" rIns="0" bIns="0" rtlCol="0" anchor="ctr"/>
          <a:lstStyle/>
          <a:p>
            <a:pPr algn="ctr" indent="0" marL="0">
              <a:lnSpc>
                <a:spcPts val="820"/>
              </a:lnSpc>
              <a:buNone/>
            </a:pPr>
            <a:r>
              <a:rPr lang="en-US" sz="700" b="1" dirty="0">
                <a:solidFill>
                  <a:srgbClr val="A44A2A"/>
                </a:solidFill>
                <a:latin typeface="Calibri" pitchFamily="34" charset="0"/>
                <a:ea typeface="Calibri" pitchFamily="34" charset="-122"/>
                <a:cs typeface="Calibri" pitchFamily="34" charset="-120"/>
              </a:rPr>
              <a:t>Audit trail</a:t>
            </a:r>
            <a:endParaRPr lang="en-US" sz="700" dirty="0"/>
          </a:p>
        </p:txBody>
      </p:sp>
      <p:sp>
        <p:nvSpPr>
          <p:cNvPr id="53" name="Shape 51"/>
          <p:cNvSpPr/>
          <p:nvPr/>
        </p:nvSpPr>
        <p:spPr>
          <a:xfrm>
            <a:off x="10396728" y="5175504"/>
            <a:ext cx="1316736" cy="420624"/>
          </a:xfrm>
          <a:prstGeom prst="roundRect">
            <a:avLst>
              <a:gd name="adj" fmla="val 8696"/>
            </a:avLst>
          </a:prstGeom>
          <a:solidFill>
            <a:srgbClr val="FBF0EB"/>
          </a:solidFill>
          <a:ln w="11430">
            <a:solidFill>
              <a:srgbClr val="A44A2A"/>
            </a:solidFill>
            <a:prstDash val="solid"/>
          </a:ln>
        </p:spPr>
      </p:sp>
      <p:sp>
        <p:nvSpPr>
          <p:cNvPr id="54" name="Text 52"/>
          <p:cNvSpPr txBox="1"/>
          <p:nvPr/>
        </p:nvSpPr>
        <p:spPr>
          <a:xfrm>
            <a:off x="10469880" y="5175504"/>
            <a:ext cx="1170432" cy="420624"/>
          </a:xfrm>
          <a:prstGeom prst="rect">
            <a:avLst/>
          </a:prstGeom>
          <a:noFill/>
          <a:ln/>
        </p:spPr>
        <p:txBody>
          <a:bodyPr wrap="square" lIns="0" tIns="0" rIns="0" bIns="0" rtlCol="0" anchor="ctr"/>
          <a:lstStyle/>
          <a:p>
            <a:pPr algn="ctr" indent="0" marL="0">
              <a:lnSpc>
                <a:spcPts val="820"/>
              </a:lnSpc>
              <a:buNone/>
            </a:pPr>
            <a:r>
              <a:rPr lang="en-US" sz="700" b="1" dirty="0">
                <a:solidFill>
                  <a:srgbClr val="A44A2A"/>
                </a:solidFill>
                <a:latin typeface="Calibri" pitchFamily="34" charset="0"/>
                <a:ea typeface="Calibri" pitchFamily="34" charset="-122"/>
                <a:cs typeface="Calibri" pitchFamily="34" charset="-120"/>
              </a:rPr>
              <a:t>New document type re-review</a:t>
            </a:r>
            <a:endParaRPr lang="en-US" sz="700" dirty="0"/>
          </a:p>
        </p:txBody>
      </p:sp>
      <p:sp>
        <p:nvSpPr>
          <p:cNvPr id="55" name="Shape 53"/>
          <p:cNvSpPr/>
          <p:nvPr/>
        </p:nvSpPr>
        <p:spPr>
          <a:xfrm>
            <a:off x="411480" y="5724144"/>
            <a:ext cx="11338560" cy="438912"/>
          </a:xfrm>
          <a:prstGeom prst="roundRect">
            <a:avLst>
              <a:gd name="adj" fmla="val 10417"/>
            </a:avLst>
          </a:prstGeom>
          <a:solidFill>
            <a:srgbClr val="F4F7FA"/>
          </a:solidFill>
          <a:ln w="9525">
            <a:solidFill>
              <a:srgbClr val="D4DAE2"/>
            </a:solidFill>
            <a:prstDash val="solid"/>
          </a:ln>
        </p:spPr>
      </p:sp>
      <p:sp>
        <p:nvSpPr>
          <p:cNvPr id="56" name="Text 54"/>
          <p:cNvSpPr txBox="1"/>
          <p:nvPr/>
        </p:nvSpPr>
        <p:spPr>
          <a:xfrm>
            <a:off x="557784" y="5724144"/>
            <a:ext cx="11045952" cy="438912"/>
          </a:xfrm>
          <a:prstGeom prst="rect">
            <a:avLst/>
          </a:prstGeom>
          <a:noFill/>
          <a:ln/>
        </p:spPr>
        <p:txBody>
          <a:bodyPr wrap="square" lIns="0" tIns="0" rIns="0" bIns="0" rtlCol="0" anchor="ctr"/>
          <a:lstStyle/>
          <a:p>
            <a:pPr indent="0" marL="0">
              <a:lnSpc>
                <a:spcPts val="1040"/>
              </a:lnSpc>
              <a:buNone/>
            </a:pPr>
            <a:r>
              <a:rPr lang="en-US" sz="860" dirty="0">
                <a:solidFill>
                  <a:srgbClr val="1B2432"/>
                </a:solidFill>
                <a:latin typeface="Calibri" pitchFamily="34" charset="0"/>
                <a:ea typeface="Calibri" pitchFamily="34" charset="-122"/>
                <a:cs typeface="Calibri" pitchFamily="34" charset="-120"/>
              </a:rPr>
              <a:t>The argument to risk, audit and compliance is not that less rigour is applied in the lighter tiers. It is that the same rigour is applied by the platform rather than by an engineer's attention — which is more consistent, not less. A sampled proportion of completed Lean intakes is audited after go-live as the concrete assurance mechanism.</a:t>
            </a:r>
            <a:endParaRPr lang="en-US" sz="86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274320"/>
            <a:ext cx="274320" cy="274320"/>
          </a:xfrm>
          <a:prstGeom prst="rect">
            <a:avLst/>
          </a:prstGeom>
          <a:solidFill>
            <a:srgbClr val="15304F"/>
          </a:solidFill>
          <a:ln w="12700">
            <a:solidFill>
              <a:srgbClr val="333333"/>
            </a:solidFill>
            <a:prstDash val="solid"/>
          </a:ln>
        </p:spPr>
      </p:sp>
      <p:sp>
        <p:nvSpPr>
          <p:cNvPr id="3" name="Text 1"/>
          <p:cNvSpPr txBox="1"/>
          <p:nvPr/>
        </p:nvSpPr>
        <p:spPr>
          <a:xfrm>
            <a:off x="411480" y="2743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 name="Text 2"/>
          <p:cNvSpPr txBox="1"/>
          <p:nvPr/>
        </p:nvSpPr>
        <p:spPr>
          <a:xfrm>
            <a:off x="795528" y="219456"/>
            <a:ext cx="8778240" cy="384048"/>
          </a:xfrm>
          <a:prstGeom prst="rect">
            <a:avLst/>
          </a:prstGeom>
          <a:noFill/>
          <a:ln/>
        </p:spPr>
        <p:txBody>
          <a:bodyPr wrap="square" lIns="0" tIns="0" rIns="0" bIns="0" rtlCol="0" anchor="ctr"/>
          <a:lstStyle/>
          <a:p>
            <a:pPr indent="0" marL="0">
              <a:buNone/>
            </a:pPr>
            <a:r>
              <a:rPr lang="en-US" sz="2400" b="1" dirty="0">
                <a:solidFill>
                  <a:srgbClr val="1B2432"/>
                </a:solidFill>
                <a:latin typeface="Cambria" pitchFamily="34" charset="0"/>
                <a:ea typeface="Cambria" pitchFamily="34" charset="-122"/>
                <a:cs typeface="Cambria" pitchFamily="34" charset="-120"/>
              </a:rPr>
              <a:t>Tiering: how an intake is routed</a:t>
            </a:r>
            <a:endParaRPr lang="en-US" sz="2400" dirty="0"/>
          </a:p>
        </p:txBody>
      </p:sp>
      <p:sp>
        <p:nvSpPr>
          <p:cNvPr id="5" name="Text 3"/>
          <p:cNvSpPr txBox="1"/>
          <p:nvPr/>
        </p:nvSpPr>
        <p:spPr>
          <a:xfrm>
            <a:off x="795528" y="621792"/>
            <a:ext cx="9326880" cy="237744"/>
          </a:xfrm>
          <a:prstGeom prst="rect">
            <a:avLst/>
          </a:prstGeom>
          <a:noFill/>
          <a:ln/>
        </p:spPr>
        <p:txBody>
          <a:bodyPr wrap="square" lIns="0" tIns="0" rIns="0" bIns="0" rtlCol="0" anchor="ctr"/>
          <a:lstStyle/>
          <a:p>
            <a:pPr indent="0" marL="0">
              <a:buNone/>
            </a:pPr>
            <a:r>
              <a:rPr lang="en-US" sz="1050" dirty="0">
                <a:solidFill>
                  <a:srgbClr val="55606E"/>
                </a:solidFill>
                <a:latin typeface="Calibri" pitchFamily="34" charset="0"/>
                <a:ea typeface="Calibri" pitchFamily="34" charset="-122"/>
                <a:cs typeface="Calibri" pitchFamily="34" charset="-120"/>
              </a:rPr>
              <a:t>Seven scored determinants, three thresholds, five hard overrides</a:t>
            </a:r>
            <a:endParaRPr lang="en-US" sz="1050" dirty="0"/>
          </a:p>
        </p:txBody>
      </p:sp>
      <p:sp>
        <p:nvSpPr>
          <p:cNvPr id="6" name="Text 4"/>
          <p:cNvSpPr txBox="1"/>
          <p:nvPr/>
        </p:nvSpPr>
        <p:spPr>
          <a:xfrm>
            <a:off x="9052560" y="274320"/>
            <a:ext cx="2697480" cy="256032"/>
          </a:xfrm>
          <a:prstGeom prst="rect">
            <a:avLst/>
          </a:prstGeom>
          <a:noFill/>
          <a:ln/>
        </p:spPr>
        <p:txBody>
          <a:bodyPr wrap="square" lIns="0" tIns="0" rIns="0" bIns="0" rtlCol="0" anchor="ctr"/>
          <a:lstStyle/>
          <a:p>
            <a:pPr algn="r" indent="0" marL="0">
              <a:buNone/>
            </a:pPr>
            <a:r>
              <a:rPr lang="en-US" sz="950" b="1" spc="60" kern="0" dirty="0">
                <a:solidFill>
                  <a:srgbClr val="7C8798"/>
                </a:solidFill>
                <a:latin typeface="Calibri" pitchFamily="34" charset="0"/>
                <a:ea typeface="Calibri" pitchFamily="34" charset="-122"/>
                <a:cs typeface="Calibri" pitchFamily="34" charset="-120"/>
              </a:rPr>
              <a:t>Operating model</a:t>
            </a:r>
            <a:endParaRPr lang="en-US" sz="950" dirty="0"/>
          </a:p>
        </p:txBody>
      </p:sp>
      <p:sp>
        <p:nvSpPr>
          <p:cNvPr id="7" name="Shape 5"/>
          <p:cNvSpPr/>
          <p:nvPr/>
        </p:nvSpPr>
        <p:spPr>
          <a:xfrm>
            <a:off x="411480" y="932688"/>
            <a:ext cx="11338560" cy="0"/>
          </a:xfrm>
          <a:prstGeom prst="line">
            <a:avLst/>
          </a:prstGeom>
          <a:noFill/>
          <a:ln w="12700">
            <a:solidFill>
              <a:srgbClr val="D4DAE2"/>
            </a:solidFill>
            <a:prstDash val="solid"/>
          </a:ln>
        </p:spPr>
      </p:sp>
      <p:sp>
        <p:nvSpPr>
          <p:cNvPr id="8" name="Text 6"/>
          <p:cNvSpPr txBox="1"/>
          <p:nvPr/>
        </p:nvSpPr>
        <p:spPr>
          <a:xfrm>
            <a:off x="411480" y="1042416"/>
            <a:ext cx="7315200" cy="182880"/>
          </a:xfrm>
          <a:prstGeom prst="rect">
            <a:avLst/>
          </a:prstGeom>
          <a:noFill/>
          <a:ln/>
        </p:spPr>
        <p:txBody>
          <a:bodyPr wrap="square" lIns="0" tIns="0" rIns="0" bIns="0" rtlCol="0" anchor="ctr"/>
          <a:lstStyle/>
          <a:p>
            <a:pPr indent="0" marL="0">
              <a:buNone/>
            </a:pPr>
            <a:r>
              <a:rPr lang="en-US" sz="760" b="1" spc="110" kern="0" dirty="0">
                <a:solidFill>
                  <a:srgbClr val="1B2432"/>
                </a:solidFill>
                <a:latin typeface="Calibri" pitchFamily="34" charset="0"/>
                <a:ea typeface="Calibri" pitchFamily="34" charset="-122"/>
                <a:cs typeface="Calibri" pitchFamily="34" charset="-120"/>
              </a:rPr>
              <a:t>THE SEVEN DETERMINANTS — ABOUT THE WORK, NEVER THE REQUESTER</a:t>
            </a:r>
            <a:endParaRPr lang="en-US" sz="760" dirty="0"/>
          </a:p>
        </p:txBody>
      </p:sp>
      <p:sp>
        <p:nvSpPr>
          <p:cNvPr id="9" name="Shape 7"/>
          <p:cNvSpPr/>
          <p:nvPr/>
        </p:nvSpPr>
        <p:spPr>
          <a:xfrm>
            <a:off x="411480" y="1243584"/>
            <a:ext cx="11338560" cy="274320"/>
          </a:xfrm>
          <a:prstGeom prst="rect">
            <a:avLst/>
          </a:prstGeom>
          <a:solidFill>
            <a:srgbClr val="15304F"/>
          </a:solidFill>
          <a:ln w="6350">
            <a:solidFill>
              <a:srgbClr val="15304F"/>
            </a:solidFill>
            <a:prstDash val="solid"/>
          </a:ln>
        </p:spPr>
      </p:sp>
      <p:sp>
        <p:nvSpPr>
          <p:cNvPr id="10" name="Text 8"/>
          <p:cNvSpPr txBox="1"/>
          <p:nvPr/>
        </p:nvSpPr>
        <p:spPr>
          <a:xfrm>
            <a:off x="484632" y="1243584"/>
            <a:ext cx="356616" cy="274320"/>
          </a:xfrm>
          <a:prstGeom prst="rect">
            <a:avLst/>
          </a:prstGeom>
          <a:noFill/>
          <a:ln/>
        </p:spPr>
        <p:txBody>
          <a:bodyPr wrap="square" lIns="0" tIns="0" rIns="0" bIns="0" rtlCol="0" anchor="ctr"/>
          <a:lstStyle/>
          <a:p>
            <a:pPr algn="l" indent="0" marL="0">
              <a:buNone/>
            </a:pPr>
            <a:endParaRPr lang="en-US" sz="760" dirty="0"/>
          </a:p>
        </p:txBody>
      </p:sp>
      <p:sp>
        <p:nvSpPr>
          <p:cNvPr id="11" name="Text 9"/>
          <p:cNvSpPr txBox="1"/>
          <p:nvPr/>
        </p:nvSpPr>
        <p:spPr>
          <a:xfrm>
            <a:off x="987552" y="1243584"/>
            <a:ext cx="2093976" cy="274320"/>
          </a:xfrm>
          <a:prstGeom prst="rect">
            <a:avLst/>
          </a:prstGeom>
          <a:noFill/>
          <a:ln/>
        </p:spPr>
        <p:txBody>
          <a:bodyPr wrap="square" lIns="0" tIns="0" rIns="0" bIns="0" rtlCol="0" anchor="ctr"/>
          <a:lstStyle/>
          <a:p>
            <a:pPr algn="l" indent="0" marL="0">
              <a:buNone/>
            </a:pPr>
            <a:r>
              <a:rPr lang="en-US" sz="760" b="1" dirty="0">
                <a:solidFill>
                  <a:srgbClr val="FFFFFF"/>
                </a:solidFill>
                <a:latin typeface="Calibri" pitchFamily="34" charset="0"/>
                <a:ea typeface="Calibri" pitchFamily="34" charset="-122"/>
                <a:cs typeface="Calibri" pitchFamily="34" charset="-120"/>
              </a:rPr>
              <a:t>Determinant</a:t>
            </a:r>
            <a:endParaRPr lang="en-US" sz="760" dirty="0"/>
          </a:p>
        </p:txBody>
      </p:sp>
      <p:sp>
        <p:nvSpPr>
          <p:cNvPr id="12" name="Text 10"/>
          <p:cNvSpPr txBox="1"/>
          <p:nvPr/>
        </p:nvSpPr>
        <p:spPr>
          <a:xfrm>
            <a:off x="3227832" y="1243584"/>
            <a:ext cx="2002536" cy="274320"/>
          </a:xfrm>
          <a:prstGeom prst="rect">
            <a:avLst/>
          </a:prstGeom>
          <a:noFill/>
          <a:ln/>
        </p:spPr>
        <p:txBody>
          <a:bodyPr wrap="square" lIns="0" tIns="0" rIns="0" bIns="0" rtlCol="0" anchor="ctr"/>
          <a:lstStyle/>
          <a:p>
            <a:pPr algn="l" indent="0" marL="0">
              <a:buNone/>
            </a:pPr>
            <a:r>
              <a:rPr lang="en-US" sz="760" b="1" dirty="0">
                <a:solidFill>
                  <a:srgbClr val="FFFFFF"/>
                </a:solidFill>
                <a:latin typeface="Calibri" pitchFamily="34" charset="0"/>
                <a:ea typeface="Calibri" pitchFamily="34" charset="-122"/>
                <a:cs typeface="Calibri" pitchFamily="34" charset="-120"/>
              </a:rPr>
              <a:t>Score 0</a:t>
            </a:r>
            <a:endParaRPr lang="en-US" sz="760" dirty="0"/>
          </a:p>
        </p:txBody>
      </p:sp>
      <p:sp>
        <p:nvSpPr>
          <p:cNvPr id="13" name="Text 11"/>
          <p:cNvSpPr txBox="1"/>
          <p:nvPr/>
        </p:nvSpPr>
        <p:spPr>
          <a:xfrm>
            <a:off x="5376672" y="1243584"/>
            <a:ext cx="2002536" cy="274320"/>
          </a:xfrm>
          <a:prstGeom prst="rect">
            <a:avLst/>
          </a:prstGeom>
          <a:noFill/>
          <a:ln/>
        </p:spPr>
        <p:txBody>
          <a:bodyPr wrap="square" lIns="0" tIns="0" rIns="0" bIns="0" rtlCol="0" anchor="ctr"/>
          <a:lstStyle/>
          <a:p>
            <a:pPr algn="l" indent="0" marL="0">
              <a:buNone/>
            </a:pPr>
            <a:r>
              <a:rPr lang="en-US" sz="760" b="1" dirty="0">
                <a:solidFill>
                  <a:srgbClr val="FFFFFF"/>
                </a:solidFill>
                <a:latin typeface="Calibri" pitchFamily="34" charset="0"/>
                <a:ea typeface="Calibri" pitchFamily="34" charset="-122"/>
                <a:cs typeface="Calibri" pitchFamily="34" charset="-120"/>
              </a:rPr>
              <a:t>Score 1</a:t>
            </a:r>
            <a:endParaRPr lang="en-US" sz="760" dirty="0"/>
          </a:p>
        </p:txBody>
      </p:sp>
      <p:sp>
        <p:nvSpPr>
          <p:cNvPr id="14" name="Text 12"/>
          <p:cNvSpPr txBox="1"/>
          <p:nvPr/>
        </p:nvSpPr>
        <p:spPr>
          <a:xfrm>
            <a:off x="7525512" y="1243584"/>
            <a:ext cx="2002536" cy="274320"/>
          </a:xfrm>
          <a:prstGeom prst="rect">
            <a:avLst/>
          </a:prstGeom>
          <a:noFill/>
          <a:ln/>
        </p:spPr>
        <p:txBody>
          <a:bodyPr wrap="square" lIns="0" tIns="0" rIns="0" bIns="0" rtlCol="0" anchor="ctr"/>
          <a:lstStyle/>
          <a:p>
            <a:pPr algn="l" indent="0" marL="0">
              <a:buNone/>
            </a:pPr>
            <a:r>
              <a:rPr lang="en-US" sz="760" b="1" dirty="0">
                <a:solidFill>
                  <a:srgbClr val="FFFFFF"/>
                </a:solidFill>
                <a:latin typeface="Calibri" pitchFamily="34" charset="0"/>
                <a:ea typeface="Calibri" pitchFamily="34" charset="-122"/>
                <a:cs typeface="Calibri" pitchFamily="34" charset="-120"/>
              </a:rPr>
              <a:t>Score 2</a:t>
            </a:r>
            <a:endParaRPr lang="en-US" sz="760" dirty="0"/>
          </a:p>
        </p:txBody>
      </p:sp>
      <p:sp>
        <p:nvSpPr>
          <p:cNvPr id="15" name="Text 13"/>
          <p:cNvSpPr txBox="1"/>
          <p:nvPr/>
        </p:nvSpPr>
        <p:spPr>
          <a:xfrm>
            <a:off x="9674352" y="1243584"/>
            <a:ext cx="2002536" cy="274320"/>
          </a:xfrm>
          <a:prstGeom prst="rect">
            <a:avLst/>
          </a:prstGeom>
          <a:noFill/>
          <a:ln/>
        </p:spPr>
        <p:txBody>
          <a:bodyPr wrap="square" lIns="0" tIns="0" rIns="0" bIns="0" rtlCol="0" anchor="ctr"/>
          <a:lstStyle/>
          <a:p>
            <a:pPr algn="l" indent="0" marL="0">
              <a:buNone/>
            </a:pPr>
            <a:r>
              <a:rPr lang="en-US" sz="760" b="1" dirty="0">
                <a:solidFill>
                  <a:srgbClr val="FFFFFF"/>
                </a:solidFill>
                <a:latin typeface="Calibri" pitchFamily="34" charset="0"/>
                <a:ea typeface="Calibri" pitchFamily="34" charset="-122"/>
                <a:cs typeface="Calibri" pitchFamily="34" charset="-120"/>
              </a:rPr>
              <a:t>Score 3</a:t>
            </a:r>
            <a:endParaRPr lang="en-US" sz="760" dirty="0"/>
          </a:p>
        </p:txBody>
      </p:sp>
      <p:sp>
        <p:nvSpPr>
          <p:cNvPr id="16" name="Shape 14"/>
          <p:cNvSpPr/>
          <p:nvPr/>
        </p:nvSpPr>
        <p:spPr>
          <a:xfrm>
            <a:off x="411480" y="1517904"/>
            <a:ext cx="11338560" cy="315468"/>
          </a:xfrm>
          <a:prstGeom prst="rect">
            <a:avLst/>
          </a:prstGeom>
          <a:solidFill>
            <a:srgbClr val="FFFFFF"/>
          </a:solidFill>
          <a:ln w="6350">
            <a:solidFill>
              <a:srgbClr val="D4DAE2"/>
            </a:solidFill>
            <a:prstDash val="solid"/>
          </a:ln>
        </p:spPr>
      </p:sp>
      <p:sp>
        <p:nvSpPr>
          <p:cNvPr id="17" name="Text 15"/>
          <p:cNvSpPr txBox="1"/>
          <p:nvPr/>
        </p:nvSpPr>
        <p:spPr>
          <a:xfrm>
            <a:off x="484632" y="1517904"/>
            <a:ext cx="356616" cy="315468"/>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D1</a:t>
            </a:r>
            <a:endParaRPr lang="en-US" sz="760" dirty="0"/>
          </a:p>
        </p:txBody>
      </p:sp>
      <p:sp>
        <p:nvSpPr>
          <p:cNvPr id="18" name="Text 16"/>
          <p:cNvSpPr txBox="1"/>
          <p:nvPr/>
        </p:nvSpPr>
        <p:spPr>
          <a:xfrm>
            <a:off x="987552" y="1517904"/>
            <a:ext cx="209397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Pattern precedent and maturity</a:t>
            </a:r>
            <a:endParaRPr lang="en-US" sz="760" dirty="0"/>
          </a:p>
        </p:txBody>
      </p:sp>
      <p:sp>
        <p:nvSpPr>
          <p:cNvPr id="19" name="Text 17"/>
          <p:cNvSpPr txBox="1"/>
          <p:nvPr/>
        </p:nvSpPr>
        <p:spPr>
          <a:xfrm>
            <a:off x="3227832" y="1517904"/>
            <a:ext cx="200253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M3, exact fit</a:t>
            </a:r>
            <a:endParaRPr lang="en-US" sz="760" dirty="0"/>
          </a:p>
        </p:txBody>
      </p:sp>
      <p:sp>
        <p:nvSpPr>
          <p:cNvPr id="20" name="Text 18"/>
          <p:cNvSpPr txBox="1"/>
          <p:nvPr/>
        </p:nvSpPr>
        <p:spPr>
          <a:xfrm>
            <a:off x="5376672" y="1517904"/>
            <a:ext cx="200253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M3, tolerated variation</a:t>
            </a:r>
            <a:endParaRPr lang="en-US" sz="760" dirty="0"/>
          </a:p>
        </p:txBody>
      </p:sp>
      <p:sp>
        <p:nvSpPr>
          <p:cNvPr id="21" name="Text 19"/>
          <p:cNvSpPr txBox="1"/>
          <p:nvPr/>
        </p:nvSpPr>
        <p:spPr>
          <a:xfrm>
            <a:off x="7525512" y="1517904"/>
            <a:ext cx="200253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M1–M2 pattern</a:t>
            </a:r>
            <a:endParaRPr lang="en-US" sz="760" dirty="0"/>
          </a:p>
        </p:txBody>
      </p:sp>
      <p:sp>
        <p:nvSpPr>
          <p:cNvPr id="22" name="Text 20"/>
          <p:cNvSpPr txBox="1"/>
          <p:nvPr/>
        </p:nvSpPr>
        <p:spPr>
          <a:xfrm>
            <a:off x="9674352" y="1517904"/>
            <a:ext cx="200253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No pattern (M0 or none)</a:t>
            </a:r>
            <a:endParaRPr lang="en-US" sz="760" dirty="0"/>
          </a:p>
        </p:txBody>
      </p:sp>
      <p:sp>
        <p:nvSpPr>
          <p:cNvPr id="23" name="Shape 21"/>
          <p:cNvSpPr/>
          <p:nvPr/>
        </p:nvSpPr>
        <p:spPr>
          <a:xfrm>
            <a:off x="411480" y="1833372"/>
            <a:ext cx="11338560" cy="315468"/>
          </a:xfrm>
          <a:prstGeom prst="rect">
            <a:avLst/>
          </a:prstGeom>
          <a:solidFill>
            <a:srgbClr val="F4F7FA"/>
          </a:solidFill>
          <a:ln w="6350">
            <a:solidFill>
              <a:srgbClr val="D4DAE2"/>
            </a:solidFill>
            <a:prstDash val="solid"/>
          </a:ln>
        </p:spPr>
      </p:sp>
      <p:sp>
        <p:nvSpPr>
          <p:cNvPr id="24" name="Text 22"/>
          <p:cNvSpPr txBox="1"/>
          <p:nvPr/>
        </p:nvSpPr>
        <p:spPr>
          <a:xfrm>
            <a:off x="484632" y="1833372"/>
            <a:ext cx="356616" cy="315468"/>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D2</a:t>
            </a:r>
            <a:endParaRPr lang="en-US" sz="760" dirty="0"/>
          </a:p>
        </p:txBody>
      </p:sp>
      <p:sp>
        <p:nvSpPr>
          <p:cNvPr id="25" name="Text 23"/>
          <p:cNvSpPr txBox="1"/>
          <p:nvPr/>
        </p:nvSpPr>
        <p:spPr>
          <a:xfrm>
            <a:off x="987552" y="1833372"/>
            <a:ext cx="209397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Content trust posture</a:t>
            </a:r>
            <a:endParaRPr lang="en-US" sz="760" dirty="0"/>
          </a:p>
        </p:txBody>
      </p:sp>
      <p:sp>
        <p:nvSpPr>
          <p:cNvPr id="26" name="Text 24"/>
          <p:cNvSpPr txBox="1"/>
          <p:nvPr/>
        </p:nvSpPr>
        <p:spPr>
          <a:xfrm>
            <a:off x="3227832" y="1833372"/>
            <a:ext cx="200253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Unchanged, determined</a:t>
            </a:r>
            <a:endParaRPr lang="en-US" sz="760" dirty="0"/>
          </a:p>
        </p:txBody>
      </p:sp>
      <p:sp>
        <p:nvSpPr>
          <p:cNvPr id="27" name="Text 25"/>
          <p:cNvSpPr txBox="1"/>
          <p:nvPr/>
        </p:nvSpPr>
        <p:spPr>
          <a:xfrm>
            <a:off x="5376672" y="1833372"/>
            <a:ext cx="200253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New content, same posture</a:t>
            </a:r>
            <a:endParaRPr lang="en-US" sz="760" dirty="0"/>
          </a:p>
        </p:txBody>
      </p:sp>
      <p:sp>
        <p:nvSpPr>
          <p:cNvPr id="28" name="Text 26"/>
          <p:cNvSpPr txBox="1"/>
          <p:nvPr/>
        </p:nvSpPr>
        <p:spPr>
          <a:xfrm>
            <a:off x="7525512" y="1833372"/>
            <a:ext cx="200253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New posture for partner</a:t>
            </a:r>
            <a:endParaRPr lang="en-US" sz="760" dirty="0"/>
          </a:p>
        </p:txBody>
      </p:sp>
      <p:sp>
        <p:nvSpPr>
          <p:cNvPr id="29" name="Text 27"/>
          <p:cNvSpPr txBox="1"/>
          <p:nvPr/>
        </p:nvSpPr>
        <p:spPr>
          <a:xfrm>
            <a:off x="9674352" y="1833372"/>
            <a:ext cx="200253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Posture changing on live content</a:t>
            </a:r>
            <a:endParaRPr lang="en-US" sz="760" dirty="0"/>
          </a:p>
        </p:txBody>
      </p:sp>
      <p:sp>
        <p:nvSpPr>
          <p:cNvPr id="30" name="Shape 28"/>
          <p:cNvSpPr/>
          <p:nvPr/>
        </p:nvSpPr>
        <p:spPr>
          <a:xfrm>
            <a:off x="411480" y="2148840"/>
            <a:ext cx="11338560" cy="315468"/>
          </a:xfrm>
          <a:prstGeom prst="rect">
            <a:avLst/>
          </a:prstGeom>
          <a:solidFill>
            <a:srgbClr val="FFFFFF"/>
          </a:solidFill>
          <a:ln w="6350">
            <a:solidFill>
              <a:srgbClr val="D4DAE2"/>
            </a:solidFill>
            <a:prstDash val="solid"/>
          </a:ln>
        </p:spPr>
      </p:sp>
      <p:sp>
        <p:nvSpPr>
          <p:cNvPr id="31" name="Text 29"/>
          <p:cNvSpPr txBox="1"/>
          <p:nvPr/>
        </p:nvSpPr>
        <p:spPr>
          <a:xfrm>
            <a:off x="484632" y="2148840"/>
            <a:ext cx="356616" cy="315468"/>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D3</a:t>
            </a:r>
            <a:endParaRPr lang="en-US" sz="760" dirty="0"/>
          </a:p>
        </p:txBody>
      </p:sp>
      <p:sp>
        <p:nvSpPr>
          <p:cNvPr id="32" name="Text 30"/>
          <p:cNvSpPr txBox="1"/>
          <p:nvPr/>
        </p:nvSpPr>
        <p:spPr>
          <a:xfrm>
            <a:off x="987552" y="2148840"/>
            <a:ext cx="209397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Regulatory and records impact</a:t>
            </a:r>
            <a:endParaRPr lang="en-US" sz="760" dirty="0"/>
          </a:p>
        </p:txBody>
      </p:sp>
      <p:sp>
        <p:nvSpPr>
          <p:cNvPr id="33" name="Text 31"/>
          <p:cNvSpPr txBox="1"/>
          <p:nvPr/>
        </p:nvSpPr>
        <p:spPr>
          <a:xfrm>
            <a:off x="3227832" y="2148840"/>
            <a:ext cx="200253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None</a:t>
            </a:r>
            <a:endParaRPr lang="en-US" sz="760" dirty="0"/>
          </a:p>
        </p:txBody>
      </p:sp>
      <p:sp>
        <p:nvSpPr>
          <p:cNvPr id="34" name="Text 32"/>
          <p:cNvSpPr txBox="1"/>
          <p:nvPr/>
        </p:nvSpPr>
        <p:spPr>
          <a:xfrm>
            <a:off x="5376672" y="2148840"/>
            <a:ext cx="200253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Existing retention reused</a:t>
            </a:r>
            <a:endParaRPr lang="en-US" sz="760" dirty="0"/>
          </a:p>
        </p:txBody>
      </p:sp>
      <p:sp>
        <p:nvSpPr>
          <p:cNvPr id="35" name="Text 33"/>
          <p:cNvSpPr txBox="1"/>
          <p:nvPr/>
        </p:nvSpPr>
        <p:spPr>
          <a:xfrm>
            <a:off x="7525512" y="2148840"/>
            <a:ext cx="200253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New non-regulated retention</a:t>
            </a:r>
            <a:endParaRPr lang="en-US" sz="760" dirty="0"/>
          </a:p>
        </p:txBody>
      </p:sp>
      <p:sp>
        <p:nvSpPr>
          <p:cNvPr id="36" name="Text 34"/>
          <p:cNvSpPr txBox="1"/>
          <p:nvPr/>
        </p:nvSpPr>
        <p:spPr>
          <a:xfrm>
            <a:off x="9674352" y="2148840"/>
            <a:ext cx="200253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New regulated retention or WORM</a:t>
            </a:r>
            <a:endParaRPr lang="en-US" sz="760" dirty="0"/>
          </a:p>
        </p:txBody>
      </p:sp>
      <p:sp>
        <p:nvSpPr>
          <p:cNvPr id="37" name="Shape 35"/>
          <p:cNvSpPr/>
          <p:nvPr/>
        </p:nvSpPr>
        <p:spPr>
          <a:xfrm>
            <a:off x="411480" y="2464308"/>
            <a:ext cx="11338560" cy="315468"/>
          </a:xfrm>
          <a:prstGeom prst="rect">
            <a:avLst/>
          </a:prstGeom>
          <a:solidFill>
            <a:srgbClr val="F4F7FA"/>
          </a:solidFill>
          <a:ln w="6350">
            <a:solidFill>
              <a:srgbClr val="D4DAE2"/>
            </a:solidFill>
            <a:prstDash val="solid"/>
          </a:ln>
        </p:spPr>
      </p:sp>
      <p:sp>
        <p:nvSpPr>
          <p:cNvPr id="38" name="Text 36"/>
          <p:cNvSpPr txBox="1"/>
          <p:nvPr/>
        </p:nvSpPr>
        <p:spPr>
          <a:xfrm>
            <a:off x="484632" y="2464308"/>
            <a:ext cx="356616" cy="315468"/>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D4</a:t>
            </a:r>
            <a:endParaRPr lang="en-US" sz="760" dirty="0"/>
          </a:p>
        </p:txBody>
      </p:sp>
      <p:sp>
        <p:nvSpPr>
          <p:cNvPr id="39" name="Text 37"/>
          <p:cNvSpPr txBox="1"/>
          <p:nvPr/>
        </p:nvSpPr>
        <p:spPr>
          <a:xfrm>
            <a:off x="987552" y="2464308"/>
            <a:ext cx="209397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Classification engine change</a:t>
            </a:r>
            <a:endParaRPr lang="en-US" sz="760" dirty="0"/>
          </a:p>
        </p:txBody>
      </p:sp>
      <p:sp>
        <p:nvSpPr>
          <p:cNvPr id="40" name="Text 38"/>
          <p:cNvSpPr txBox="1"/>
          <p:nvPr/>
        </p:nvSpPr>
        <p:spPr>
          <a:xfrm>
            <a:off x="3227832" y="2464308"/>
            <a:ext cx="200253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None</a:t>
            </a:r>
            <a:endParaRPr lang="en-US" sz="760" dirty="0"/>
          </a:p>
        </p:txBody>
      </p:sp>
      <p:sp>
        <p:nvSpPr>
          <p:cNvPr id="41" name="Text 39"/>
          <p:cNvSpPr txBox="1"/>
          <p:nvPr/>
        </p:nvSpPr>
        <p:spPr>
          <a:xfrm>
            <a:off x="5376672" y="2464308"/>
            <a:ext cx="200253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Shadow or dry run only</a:t>
            </a:r>
            <a:endParaRPr lang="en-US" sz="760" dirty="0"/>
          </a:p>
        </p:txBody>
      </p:sp>
      <p:sp>
        <p:nvSpPr>
          <p:cNvPr id="42" name="Text 40"/>
          <p:cNvSpPr txBox="1"/>
          <p:nvPr/>
        </p:nvSpPr>
        <p:spPr>
          <a:xfrm>
            <a:off x="7525512" y="2464308"/>
            <a:ext cx="200253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Engine change, no new types</a:t>
            </a:r>
            <a:endParaRPr lang="en-US" sz="760" dirty="0"/>
          </a:p>
        </p:txBody>
      </p:sp>
      <p:sp>
        <p:nvSpPr>
          <p:cNvPr id="43" name="Text 41"/>
          <p:cNvSpPr txBox="1"/>
          <p:nvPr/>
        </p:nvSpPr>
        <p:spPr>
          <a:xfrm>
            <a:off x="9674352" y="2464308"/>
            <a:ext cx="200253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Engine change with new types</a:t>
            </a:r>
            <a:endParaRPr lang="en-US" sz="760" dirty="0"/>
          </a:p>
        </p:txBody>
      </p:sp>
      <p:sp>
        <p:nvSpPr>
          <p:cNvPr id="44" name="Shape 42"/>
          <p:cNvSpPr/>
          <p:nvPr/>
        </p:nvSpPr>
        <p:spPr>
          <a:xfrm>
            <a:off x="411480" y="2779776"/>
            <a:ext cx="11338560" cy="315468"/>
          </a:xfrm>
          <a:prstGeom prst="rect">
            <a:avLst/>
          </a:prstGeom>
          <a:solidFill>
            <a:srgbClr val="FFFFFF"/>
          </a:solidFill>
          <a:ln w="6350">
            <a:solidFill>
              <a:srgbClr val="D4DAE2"/>
            </a:solidFill>
            <a:prstDash val="solid"/>
          </a:ln>
        </p:spPr>
      </p:sp>
      <p:sp>
        <p:nvSpPr>
          <p:cNvPr id="45" name="Text 43"/>
          <p:cNvSpPr txBox="1"/>
          <p:nvPr/>
        </p:nvSpPr>
        <p:spPr>
          <a:xfrm>
            <a:off x="484632" y="2779776"/>
            <a:ext cx="356616" cy="315468"/>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D5</a:t>
            </a:r>
            <a:endParaRPr lang="en-US" sz="760" dirty="0"/>
          </a:p>
        </p:txBody>
      </p:sp>
      <p:sp>
        <p:nvSpPr>
          <p:cNvPr id="46" name="Text 44"/>
          <p:cNvSpPr txBox="1"/>
          <p:nvPr/>
        </p:nvSpPr>
        <p:spPr>
          <a:xfrm>
            <a:off x="987552" y="2779776"/>
            <a:ext cx="209397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Data model and metadata</a:t>
            </a:r>
            <a:endParaRPr lang="en-US" sz="760" dirty="0"/>
          </a:p>
        </p:txBody>
      </p:sp>
      <p:sp>
        <p:nvSpPr>
          <p:cNvPr id="47" name="Text 45"/>
          <p:cNvSpPr txBox="1"/>
          <p:nvPr/>
        </p:nvSpPr>
        <p:spPr>
          <a:xfrm>
            <a:off x="3227832" y="2779776"/>
            <a:ext cx="200253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No change</a:t>
            </a:r>
            <a:endParaRPr lang="en-US" sz="760" dirty="0"/>
          </a:p>
        </p:txBody>
      </p:sp>
      <p:sp>
        <p:nvSpPr>
          <p:cNvPr id="48" name="Text 46"/>
          <p:cNvSpPr txBox="1"/>
          <p:nvPr/>
        </p:nvSpPr>
        <p:spPr>
          <a:xfrm>
            <a:off x="5376672" y="2779776"/>
            <a:ext cx="200253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Additive, forward only</a:t>
            </a:r>
            <a:endParaRPr lang="en-US" sz="760" dirty="0"/>
          </a:p>
        </p:txBody>
      </p:sp>
      <p:sp>
        <p:nvSpPr>
          <p:cNvPr id="49" name="Text 47"/>
          <p:cNvSpPr txBox="1"/>
          <p:nvPr/>
        </p:nvSpPr>
        <p:spPr>
          <a:xfrm>
            <a:off x="7525512" y="2779776"/>
            <a:ext cx="200253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Structural, forward only</a:t>
            </a:r>
            <a:endParaRPr lang="en-US" sz="760" dirty="0"/>
          </a:p>
        </p:txBody>
      </p:sp>
      <p:sp>
        <p:nvSpPr>
          <p:cNvPr id="50" name="Text 48"/>
          <p:cNvSpPr txBox="1"/>
          <p:nvPr/>
        </p:nvSpPr>
        <p:spPr>
          <a:xfrm>
            <a:off x="9674352" y="2779776"/>
            <a:ext cx="200253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Historical content affected</a:t>
            </a:r>
            <a:endParaRPr lang="en-US" sz="760" dirty="0"/>
          </a:p>
        </p:txBody>
      </p:sp>
      <p:sp>
        <p:nvSpPr>
          <p:cNvPr id="51" name="Shape 49"/>
          <p:cNvSpPr/>
          <p:nvPr/>
        </p:nvSpPr>
        <p:spPr>
          <a:xfrm>
            <a:off x="411480" y="3095244"/>
            <a:ext cx="11338560" cy="315468"/>
          </a:xfrm>
          <a:prstGeom prst="rect">
            <a:avLst/>
          </a:prstGeom>
          <a:solidFill>
            <a:srgbClr val="F4F7FA"/>
          </a:solidFill>
          <a:ln w="6350">
            <a:solidFill>
              <a:srgbClr val="D4DAE2"/>
            </a:solidFill>
            <a:prstDash val="solid"/>
          </a:ln>
        </p:spPr>
      </p:sp>
      <p:sp>
        <p:nvSpPr>
          <p:cNvPr id="52" name="Text 50"/>
          <p:cNvSpPr txBox="1"/>
          <p:nvPr/>
        </p:nvSpPr>
        <p:spPr>
          <a:xfrm>
            <a:off x="484632" y="3095244"/>
            <a:ext cx="356616" cy="315468"/>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D6</a:t>
            </a:r>
            <a:endParaRPr lang="en-US" sz="760" dirty="0"/>
          </a:p>
        </p:txBody>
      </p:sp>
      <p:sp>
        <p:nvSpPr>
          <p:cNvPr id="53" name="Text 51"/>
          <p:cNvSpPr txBox="1"/>
          <p:nvPr/>
        </p:nvSpPr>
        <p:spPr>
          <a:xfrm>
            <a:off x="987552" y="3095244"/>
            <a:ext cx="209397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Volume and performance</a:t>
            </a:r>
            <a:endParaRPr lang="en-US" sz="760" dirty="0"/>
          </a:p>
        </p:txBody>
      </p:sp>
      <p:sp>
        <p:nvSpPr>
          <p:cNvPr id="54" name="Text 52"/>
          <p:cNvSpPr txBox="1"/>
          <p:nvPr/>
        </p:nvSpPr>
        <p:spPr>
          <a:xfrm>
            <a:off x="3227832" y="3095244"/>
            <a:ext cx="200253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Within current band</a:t>
            </a:r>
            <a:endParaRPr lang="en-US" sz="760" dirty="0"/>
          </a:p>
        </p:txBody>
      </p:sp>
      <p:sp>
        <p:nvSpPr>
          <p:cNvPr id="55" name="Text 53"/>
          <p:cNvSpPr txBox="1"/>
          <p:nvPr/>
        </p:nvSpPr>
        <p:spPr>
          <a:xfrm>
            <a:off x="5376672" y="3095244"/>
            <a:ext cx="200253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Band change, below threshold</a:t>
            </a:r>
            <a:endParaRPr lang="en-US" sz="760" dirty="0"/>
          </a:p>
        </p:txBody>
      </p:sp>
      <p:sp>
        <p:nvSpPr>
          <p:cNvPr id="56" name="Text 54"/>
          <p:cNvSpPr txBox="1"/>
          <p:nvPr/>
        </p:nvSpPr>
        <p:spPr>
          <a:xfrm>
            <a:off x="7525512" y="3095244"/>
            <a:ext cx="200253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Load testing triggered</a:t>
            </a:r>
            <a:endParaRPr lang="en-US" sz="760" dirty="0"/>
          </a:p>
        </p:txBody>
      </p:sp>
      <p:sp>
        <p:nvSpPr>
          <p:cNvPr id="57" name="Text 55"/>
          <p:cNvSpPr txBox="1"/>
          <p:nvPr/>
        </p:nvSpPr>
        <p:spPr>
          <a:xfrm>
            <a:off x="9674352" y="3095244"/>
            <a:ext cx="200253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Migration-scale or peak redesign</a:t>
            </a:r>
            <a:endParaRPr lang="en-US" sz="760" dirty="0"/>
          </a:p>
        </p:txBody>
      </p:sp>
      <p:sp>
        <p:nvSpPr>
          <p:cNvPr id="58" name="Shape 56"/>
          <p:cNvSpPr/>
          <p:nvPr/>
        </p:nvSpPr>
        <p:spPr>
          <a:xfrm>
            <a:off x="411480" y="3410712"/>
            <a:ext cx="11338560" cy="315468"/>
          </a:xfrm>
          <a:prstGeom prst="rect">
            <a:avLst/>
          </a:prstGeom>
          <a:solidFill>
            <a:srgbClr val="FFFFFF"/>
          </a:solidFill>
          <a:ln w="6350">
            <a:solidFill>
              <a:srgbClr val="D4DAE2"/>
            </a:solidFill>
            <a:prstDash val="solid"/>
          </a:ln>
        </p:spPr>
      </p:sp>
      <p:sp>
        <p:nvSpPr>
          <p:cNvPr id="59" name="Text 57"/>
          <p:cNvSpPr txBox="1"/>
          <p:nvPr/>
        </p:nvSpPr>
        <p:spPr>
          <a:xfrm>
            <a:off x="484632" y="3410712"/>
            <a:ext cx="356616" cy="315468"/>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D7</a:t>
            </a:r>
            <a:endParaRPr lang="en-US" sz="760" dirty="0"/>
          </a:p>
        </p:txBody>
      </p:sp>
      <p:sp>
        <p:nvSpPr>
          <p:cNvPr id="60" name="Text 58"/>
          <p:cNvSpPr txBox="1"/>
          <p:nvPr/>
        </p:nvSpPr>
        <p:spPr>
          <a:xfrm>
            <a:off x="987552" y="3410712"/>
            <a:ext cx="209397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Breadth of impact</a:t>
            </a:r>
            <a:endParaRPr lang="en-US" sz="760" dirty="0"/>
          </a:p>
        </p:txBody>
      </p:sp>
      <p:sp>
        <p:nvSpPr>
          <p:cNvPr id="61" name="Text 59"/>
          <p:cNvSpPr txBox="1"/>
          <p:nvPr/>
        </p:nvSpPr>
        <p:spPr>
          <a:xfrm>
            <a:off x="3227832" y="3410712"/>
            <a:ext cx="200253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Single partner, single flow</a:t>
            </a:r>
            <a:endParaRPr lang="en-US" sz="760" dirty="0"/>
          </a:p>
        </p:txBody>
      </p:sp>
      <p:sp>
        <p:nvSpPr>
          <p:cNvPr id="62" name="Text 60"/>
          <p:cNvSpPr txBox="1"/>
          <p:nvPr/>
        </p:nvSpPr>
        <p:spPr>
          <a:xfrm>
            <a:off x="5376672" y="3410712"/>
            <a:ext cx="200253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Single partner, many flows</a:t>
            </a:r>
            <a:endParaRPr lang="en-US" sz="760" dirty="0"/>
          </a:p>
        </p:txBody>
      </p:sp>
      <p:sp>
        <p:nvSpPr>
          <p:cNvPr id="63" name="Text 61"/>
          <p:cNvSpPr txBox="1"/>
          <p:nvPr/>
        </p:nvSpPr>
        <p:spPr>
          <a:xfrm>
            <a:off x="7525512" y="3410712"/>
            <a:ext cx="200253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Multiple business units</a:t>
            </a:r>
            <a:endParaRPr lang="en-US" sz="760" dirty="0"/>
          </a:p>
        </p:txBody>
      </p:sp>
      <p:sp>
        <p:nvSpPr>
          <p:cNvPr id="64" name="Text 62"/>
          <p:cNvSpPr txBox="1"/>
          <p:nvPr/>
        </p:nvSpPr>
        <p:spPr>
          <a:xfrm>
            <a:off x="9674352" y="3410712"/>
            <a:ext cx="200253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Multiple partners or dual-target</a:t>
            </a:r>
            <a:endParaRPr lang="en-US" sz="760" dirty="0"/>
          </a:p>
        </p:txBody>
      </p:sp>
      <p:sp>
        <p:nvSpPr>
          <p:cNvPr id="65" name="Text 63"/>
          <p:cNvSpPr txBox="1"/>
          <p:nvPr/>
        </p:nvSpPr>
        <p:spPr>
          <a:xfrm>
            <a:off x="411480" y="3767328"/>
            <a:ext cx="4572000" cy="182880"/>
          </a:xfrm>
          <a:prstGeom prst="rect">
            <a:avLst/>
          </a:prstGeom>
          <a:noFill/>
          <a:ln/>
        </p:spPr>
        <p:txBody>
          <a:bodyPr wrap="square" lIns="0" tIns="0" rIns="0" bIns="0" rtlCol="0" anchor="ctr"/>
          <a:lstStyle/>
          <a:p>
            <a:pPr indent="0" marL="0">
              <a:buNone/>
            </a:pPr>
            <a:r>
              <a:rPr lang="en-US" sz="760" b="1" spc="110" kern="0" dirty="0">
                <a:solidFill>
                  <a:srgbClr val="1B2432"/>
                </a:solidFill>
                <a:latin typeface="Calibri" pitchFamily="34" charset="0"/>
                <a:ea typeface="Calibri" pitchFamily="34" charset="-122"/>
                <a:cs typeface="Calibri" pitchFamily="34" charset="-120"/>
              </a:rPr>
              <a:t>THRESHOLDS</a:t>
            </a:r>
            <a:endParaRPr lang="en-US" sz="760" dirty="0"/>
          </a:p>
        </p:txBody>
      </p:sp>
      <p:sp>
        <p:nvSpPr>
          <p:cNvPr id="66" name="Shape 64"/>
          <p:cNvSpPr/>
          <p:nvPr/>
        </p:nvSpPr>
        <p:spPr>
          <a:xfrm>
            <a:off x="411480" y="3968496"/>
            <a:ext cx="5532120" cy="420624"/>
          </a:xfrm>
          <a:prstGeom prst="roundRect">
            <a:avLst>
              <a:gd name="adj" fmla="val 8696"/>
            </a:avLst>
          </a:prstGeom>
          <a:solidFill>
            <a:srgbClr val="FFFFFF"/>
          </a:solidFill>
          <a:ln w="11430">
            <a:solidFill>
              <a:srgbClr val="D4DAE2"/>
            </a:solidFill>
            <a:prstDash val="solid"/>
          </a:ln>
        </p:spPr>
      </p:sp>
      <p:sp>
        <p:nvSpPr>
          <p:cNvPr id="67" name="Shape 65"/>
          <p:cNvSpPr/>
          <p:nvPr/>
        </p:nvSpPr>
        <p:spPr>
          <a:xfrm>
            <a:off x="411480" y="3968496"/>
            <a:ext cx="822960" cy="420624"/>
          </a:xfrm>
          <a:prstGeom prst="rect">
            <a:avLst/>
          </a:prstGeom>
          <a:solidFill>
            <a:srgbClr val="0B6E6E"/>
          </a:solidFill>
          <a:ln w="12700">
            <a:solidFill>
              <a:srgbClr val="333333"/>
            </a:solidFill>
            <a:prstDash val="solid"/>
          </a:ln>
        </p:spPr>
      </p:sp>
      <p:sp>
        <p:nvSpPr>
          <p:cNvPr id="68" name="Text 66"/>
          <p:cNvSpPr txBox="1"/>
          <p:nvPr/>
        </p:nvSpPr>
        <p:spPr>
          <a:xfrm>
            <a:off x="411480" y="3968496"/>
            <a:ext cx="82296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 – 5</a:t>
            </a:r>
            <a:endParaRPr lang="en-US" sz="900" dirty="0"/>
          </a:p>
        </p:txBody>
      </p:sp>
      <p:sp>
        <p:nvSpPr>
          <p:cNvPr id="69" name="Text 67"/>
          <p:cNvSpPr txBox="1"/>
          <p:nvPr/>
        </p:nvSpPr>
        <p:spPr>
          <a:xfrm>
            <a:off x="1344168" y="3968496"/>
            <a:ext cx="914400" cy="420624"/>
          </a:xfrm>
          <a:prstGeom prst="rect">
            <a:avLst/>
          </a:prstGeom>
          <a:noFill/>
          <a:ln/>
        </p:spPr>
        <p:txBody>
          <a:bodyPr wrap="square" lIns="0" tIns="0" rIns="0" bIns="0" rtlCol="0" anchor="ctr"/>
          <a:lstStyle/>
          <a:p>
            <a:pPr indent="0" marL="0">
              <a:buNone/>
            </a:pPr>
            <a:r>
              <a:rPr lang="en-US" sz="950" b="1" dirty="0">
                <a:solidFill>
                  <a:srgbClr val="0B6E6E"/>
                </a:solidFill>
                <a:latin typeface="Calibri" pitchFamily="34" charset="0"/>
                <a:ea typeface="Calibri" pitchFamily="34" charset="-122"/>
                <a:cs typeface="Calibri" pitchFamily="34" charset="-120"/>
              </a:rPr>
              <a:t>Lean</a:t>
            </a:r>
            <a:endParaRPr lang="en-US" sz="950" dirty="0"/>
          </a:p>
        </p:txBody>
      </p:sp>
      <p:sp>
        <p:nvSpPr>
          <p:cNvPr id="70" name="Text 68"/>
          <p:cNvSpPr txBox="1"/>
          <p:nvPr/>
        </p:nvSpPr>
        <p:spPr>
          <a:xfrm>
            <a:off x="2258568" y="3968496"/>
            <a:ext cx="3584448" cy="420624"/>
          </a:xfrm>
          <a:prstGeom prst="rect">
            <a:avLst/>
          </a:prstGeom>
          <a:noFill/>
          <a:ln/>
        </p:spPr>
        <p:txBody>
          <a:bodyPr wrap="square" lIns="0" tIns="0" rIns="0" bIns="0" rtlCol="0" anchor="ctr"/>
          <a:lstStyle/>
          <a:p>
            <a:pPr indent="0" marL="0">
              <a:lnSpc>
                <a:spcPts val="860"/>
              </a:lnSpc>
              <a:buNone/>
            </a:pPr>
            <a:r>
              <a:rPr lang="en-US" sz="740" dirty="0">
                <a:solidFill>
                  <a:srgbClr val="55606E"/>
                </a:solidFill>
                <a:latin typeface="Calibri" pitchFamily="34" charset="0"/>
                <a:ea typeface="Calibri" pitchFamily="34" charset="-122"/>
                <a:cs typeface="Calibri" pitchFamily="34" charset="-120"/>
              </a:rPr>
              <a:t>A known pattern with known parameters. Nothing requires a decision not already made.</a:t>
            </a:r>
            <a:endParaRPr lang="en-US" sz="740" dirty="0"/>
          </a:p>
        </p:txBody>
      </p:sp>
      <p:sp>
        <p:nvSpPr>
          <p:cNvPr id="71" name="Shape 69"/>
          <p:cNvSpPr/>
          <p:nvPr/>
        </p:nvSpPr>
        <p:spPr>
          <a:xfrm>
            <a:off x="411480" y="4443984"/>
            <a:ext cx="5532120" cy="420624"/>
          </a:xfrm>
          <a:prstGeom prst="roundRect">
            <a:avLst>
              <a:gd name="adj" fmla="val 8696"/>
            </a:avLst>
          </a:prstGeom>
          <a:solidFill>
            <a:srgbClr val="FFFFFF"/>
          </a:solidFill>
          <a:ln w="11430">
            <a:solidFill>
              <a:srgbClr val="D4DAE2"/>
            </a:solidFill>
            <a:prstDash val="solid"/>
          </a:ln>
        </p:spPr>
      </p:sp>
      <p:sp>
        <p:nvSpPr>
          <p:cNvPr id="72" name="Shape 70"/>
          <p:cNvSpPr/>
          <p:nvPr/>
        </p:nvSpPr>
        <p:spPr>
          <a:xfrm>
            <a:off x="411480" y="4443984"/>
            <a:ext cx="822960" cy="420624"/>
          </a:xfrm>
          <a:prstGeom prst="rect">
            <a:avLst/>
          </a:prstGeom>
          <a:solidFill>
            <a:srgbClr val="9A6410"/>
          </a:solidFill>
          <a:ln w="12700">
            <a:solidFill>
              <a:srgbClr val="333333"/>
            </a:solidFill>
            <a:prstDash val="solid"/>
          </a:ln>
        </p:spPr>
      </p:sp>
      <p:sp>
        <p:nvSpPr>
          <p:cNvPr id="73" name="Text 71"/>
          <p:cNvSpPr txBox="1"/>
          <p:nvPr/>
        </p:nvSpPr>
        <p:spPr>
          <a:xfrm>
            <a:off x="411480" y="4443984"/>
            <a:ext cx="82296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 – 11</a:t>
            </a:r>
            <a:endParaRPr lang="en-US" sz="900" dirty="0"/>
          </a:p>
        </p:txBody>
      </p:sp>
      <p:sp>
        <p:nvSpPr>
          <p:cNvPr id="74" name="Text 72"/>
          <p:cNvSpPr txBox="1"/>
          <p:nvPr/>
        </p:nvSpPr>
        <p:spPr>
          <a:xfrm>
            <a:off x="1344168" y="4443984"/>
            <a:ext cx="914400" cy="420624"/>
          </a:xfrm>
          <a:prstGeom prst="rect">
            <a:avLst/>
          </a:prstGeom>
          <a:noFill/>
          <a:ln/>
        </p:spPr>
        <p:txBody>
          <a:bodyPr wrap="square" lIns="0" tIns="0" rIns="0" bIns="0" rtlCol="0" anchor="ctr"/>
          <a:lstStyle/>
          <a:p>
            <a:pPr indent="0" marL="0">
              <a:buNone/>
            </a:pPr>
            <a:r>
              <a:rPr lang="en-US" sz="950" b="1" dirty="0">
                <a:solidFill>
                  <a:srgbClr val="9A6410"/>
                </a:solidFill>
                <a:latin typeface="Calibri" pitchFamily="34" charset="0"/>
                <a:ea typeface="Calibri" pitchFamily="34" charset="-122"/>
                <a:cs typeface="Calibri" pitchFamily="34" charset="-120"/>
              </a:rPr>
              <a:t>Lean+</a:t>
            </a:r>
            <a:endParaRPr lang="en-US" sz="950" dirty="0"/>
          </a:p>
        </p:txBody>
      </p:sp>
      <p:sp>
        <p:nvSpPr>
          <p:cNvPr id="75" name="Text 73"/>
          <p:cNvSpPr txBox="1"/>
          <p:nvPr/>
        </p:nvSpPr>
        <p:spPr>
          <a:xfrm>
            <a:off x="2258568" y="4443984"/>
            <a:ext cx="3584448" cy="420624"/>
          </a:xfrm>
          <a:prstGeom prst="rect">
            <a:avLst/>
          </a:prstGeom>
          <a:noFill/>
          <a:ln/>
        </p:spPr>
        <p:txBody>
          <a:bodyPr wrap="square" lIns="0" tIns="0" rIns="0" bIns="0" rtlCol="0" anchor="ctr"/>
          <a:lstStyle/>
          <a:p>
            <a:pPr indent="0" marL="0">
              <a:lnSpc>
                <a:spcPts val="860"/>
              </a:lnSpc>
              <a:buNone/>
            </a:pPr>
            <a:r>
              <a:rPr lang="en-US" sz="740" dirty="0">
                <a:solidFill>
                  <a:srgbClr val="55606E"/>
                </a:solidFill>
                <a:latin typeface="Calibri" pitchFamily="34" charset="0"/>
                <a:ea typeface="Calibri" pitchFamily="34" charset="-122"/>
                <a:cs typeface="Calibri" pitchFamily="34" charset="-120"/>
              </a:rPr>
              <a:t>A known pattern with one or two elements needing judgement. Review at the right moments suffices.</a:t>
            </a:r>
            <a:endParaRPr lang="en-US" sz="740" dirty="0"/>
          </a:p>
        </p:txBody>
      </p:sp>
      <p:sp>
        <p:nvSpPr>
          <p:cNvPr id="76" name="Shape 74"/>
          <p:cNvSpPr/>
          <p:nvPr/>
        </p:nvSpPr>
        <p:spPr>
          <a:xfrm>
            <a:off x="411480" y="4919472"/>
            <a:ext cx="5532120" cy="420624"/>
          </a:xfrm>
          <a:prstGeom prst="roundRect">
            <a:avLst>
              <a:gd name="adj" fmla="val 8696"/>
            </a:avLst>
          </a:prstGeom>
          <a:solidFill>
            <a:srgbClr val="FFFFFF"/>
          </a:solidFill>
          <a:ln w="11430">
            <a:solidFill>
              <a:srgbClr val="D4DAE2"/>
            </a:solidFill>
            <a:prstDash val="solid"/>
          </a:ln>
        </p:spPr>
      </p:sp>
      <p:sp>
        <p:nvSpPr>
          <p:cNvPr id="77" name="Shape 75"/>
          <p:cNvSpPr/>
          <p:nvPr/>
        </p:nvSpPr>
        <p:spPr>
          <a:xfrm>
            <a:off x="411480" y="4919472"/>
            <a:ext cx="822960" cy="420624"/>
          </a:xfrm>
          <a:prstGeom prst="rect">
            <a:avLst/>
          </a:prstGeom>
          <a:solidFill>
            <a:srgbClr val="15304F"/>
          </a:solidFill>
          <a:ln w="12700">
            <a:solidFill>
              <a:srgbClr val="333333"/>
            </a:solidFill>
            <a:prstDash val="solid"/>
          </a:ln>
        </p:spPr>
      </p:sp>
      <p:sp>
        <p:nvSpPr>
          <p:cNvPr id="78" name="Text 76"/>
          <p:cNvSpPr txBox="1"/>
          <p:nvPr/>
        </p:nvSpPr>
        <p:spPr>
          <a:xfrm>
            <a:off x="411480" y="4919472"/>
            <a:ext cx="82296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12 – 21</a:t>
            </a:r>
            <a:endParaRPr lang="en-US" sz="900" dirty="0"/>
          </a:p>
        </p:txBody>
      </p:sp>
      <p:sp>
        <p:nvSpPr>
          <p:cNvPr id="79" name="Text 77"/>
          <p:cNvSpPr txBox="1"/>
          <p:nvPr/>
        </p:nvSpPr>
        <p:spPr>
          <a:xfrm>
            <a:off x="1344168" y="4919472"/>
            <a:ext cx="914400" cy="420624"/>
          </a:xfrm>
          <a:prstGeom prst="rect">
            <a:avLst/>
          </a:prstGeom>
          <a:noFill/>
          <a:ln/>
        </p:spPr>
        <p:txBody>
          <a:bodyPr wrap="square" lIns="0" tIns="0" rIns="0" bIns="0" rtlCol="0" anchor="ctr"/>
          <a:lstStyle/>
          <a:p>
            <a:pPr indent="0" marL="0">
              <a:buNone/>
            </a:pPr>
            <a:r>
              <a:rPr lang="en-US" sz="950" b="1" dirty="0">
                <a:solidFill>
                  <a:srgbClr val="15304F"/>
                </a:solidFill>
                <a:latin typeface="Calibri" pitchFamily="34" charset="0"/>
                <a:ea typeface="Calibri" pitchFamily="34" charset="-122"/>
                <a:cs typeface="Calibri" pitchFamily="34" charset="-120"/>
              </a:rPr>
              <a:t>Dedicated</a:t>
            </a:r>
            <a:endParaRPr lang="en-US" sz="950" dirty="0"/>
          </a:p>
        </p:txBody>
      </p:sp>
      <p:sp>
        <p:nvSpPr>
          <p:cNvPr id="80" name="Text 78"/>
          <p:cNvSpPr txBox="1"/>
          <p:nvPr/>
        </p:nvSpPr>
        <p:spPr>
          <a:xfrm>
            <a:off x="2258568" y="4919472"/>
            <a:ext cx="3584448" cy="420624"/>
          </a:xfrm>
          <a:prstGeom prst="rect">
            <a:avLst/>
          </a:prstGeom>
          <a:noFill/>
          <a:ln/>
        </p:spPr>
        <p:txBody>
          <a:bodyPr wrap="square" lIns="0" tIns="0" rIns="0" bIns="0" rtlCol="0" anchor="ctr"/>
          <a:lstStyle/>
          <a:p>
            <a:pPr indent="0" marL="0">
              <a:lnSpc>
                <a:spcPts val="860"/>
              </a:lnSpc>
              <a:buNone/>
            </a:pPr>
            <a:r>
              <a:rPr lang="en-US" sz="740" dirty="0">
                <a:solidFill>
                  <a:srgbClr val="55606E"/>
                </a:solidFill>
                <a:latin typeface="Calibri" pitchFamily="34" charset="0"/>
                <a:ea typeface="Calibri" pitchFamily="34" charset="-122"/>
                <a:cs typeface="Calibri" pitchFamily="34" charset="-120"/>
              </a:rPr>
              <a:t>Genuine design work, or consequences severe enough that assurance must be continuous.</a:t>
            </a:r>
            <a:endParaRPr lang="en-US" sz="740" dirty="0"/>
          </a:p>
        </p:txBody>
      </p:sp>
      <p:sp>
        <p:nvSpPr>
          <p:cNvPr id="81" name="Text 79"/>
          <p:cNvSpPr txBox="1"/>
          <p:nvPr/>
        </p:nvSpPr>
        <p:spPr>
          <a:xfrm>
            <a:off x="6217920" y="3767328"/>
            <a:ext cx="4572000" cy="182880"/>
          </a:xfrm>
          <a:prstGeom prst="rect">
            <a:avLst/>
          </a:prstGeom>
          <a:noFill/>
          <a:ln/>
        </p:spPr>
        <p:txBody>
          <a:bodyPr wrap="square" lIns="0" tIns="0" rIns="0" bIns="0" rtlCol="0" anchor="ctr"/>
          <a:lstStyle/>
          <a:p>
            <a:pPr indent="0" marL="0">
              <a:buNone/>
            </a:pPr>
            <a:r>
              <a:rPr lang="en-US" sz="760" b="1" spc="110" kern="0" dirty="0">
                <a:solidFill>
                  <a:srgbClr val="A44A2A"/>
                </a:solidFill>
                <a:latin typeface="Calibri" pitchFamily="34" charset="0"/>
                <a:ea typeface="Calibri" pitchFamily="34" charset="-122"/>
                <a:cs typeface="Calibri" pitchFamily="34" charset="-120"/>
              </a:rPr>
              <a:t>HARD OVERRIDES — FORCE A TIER REGARDLESS OF SCORE</a:t>
            </a:r>
            <a:endParaRPr lang="en-US" sz="760" dirty="0"/>
          </a:p>
        </p:txBody>
      </p:sp>
      <p:sp>
        <p:nvSpPr>
          <p:cNvPr id="82" name="Shape 80"/>
          <p:cNvSpPr/>
          <p:nvPr/>
        </p:nvSpPr>
        <p:spPr>
          <a:xfrm>
            <a:off x="6217920" y="3968496"/>
            <a:ext cx="5532120" cy="237744"/>
          </a:xfrm>
          <a:prstGeom prst="rect">
            <a:avLst/>
          </a:prstGeom>
          <a:solidFill>
            <a:srgbClr val="15304F"/>
          </a:solidFill>
          <a:ln w="6350">
            <a:solidFill>
              <a:srgbClr val="15304F"/>
            </a:solidFill>
            <a:prstDash val="solid"/>
          </a:ln>
        </p:spPr>
      </p:sp>
      <p:sp>
        <p:nvSpPr>
          <p:cNvPr id="83" name="Text 81"/>
          <p:cNvSpPr txBox="1"/>
          <p:nvPr/>
        </p:nvSpPr>
        <p:spPr>
          <a:xfrm>
            <a:off x="6291072" y="3968496"/>
            <a:ext cx="3282696" cy="237744"/>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Condition</a:t>
            </a:r>
            <a:endParaRPr lang="en-US" sz="800" dirty="0"/>
          </a:p>
        </p:txBody>
      </p:sp>
      <p:sp>
        <p:nvSpPr>
          <p:cNvPr id="84" name="Text 82"/>
          <p:cNvSpPr txBox="1"/>
          <p:nvPr/>
        </p:nvSpPr>
        <p:spPr>
          <a:xfrm>
            <a:off x="9720072" y="3968496"/>
            <a:ext cx="905256" cy="237744"/>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Forces</a:t>
            </a:r>
            <a:endParaRPr lang="en-US" sz="800" dirty="0"/>
          </a:p>
        </p:txBody>
      </p:sp>
      <p:sp>
        <p:nvSpPr>
          <p:cNvPr id="85" name="Text 83"/>
          <p:cNvSpPr txBox="1"/>
          <p:nvPr/>
        </p:nvSpPr>
        <p:spPr>
          <a:xfrm>
            <a:off x="10771632" y="3968496"/>
            <a:ext cx="905256" cy="237744"/>
          </a:xfrm>
          <a:prstGeom prst="rect">
            <a:avLst/>
          </a:prstGeom>
          <a:noFill/>
          <a:ln/>
        </p:spPr>
        <p:txBody>
          <a:bodyPr wrap="square" lIns="0" tIns="0" rIns="0" bIns="0" rtlCol="0" anchor="ctr"/>
          <a:lstStyle/>
          <a:p>
            <a:pPr algn="l" indent="0" marL="0">
              <a:buNone/>
            </a:pPr>
            <a:endParaRPr lang="en-US" sz="800" dirty="0"/>
          </a:p>
        </p:txBody>
      </p:sp>
      <p:sp>
        <p:nvSpPr>
          <p:cNvPr id="86" name="Shape 84"/>
          <p:cNvSpPr/>
          <p:nvPr/>
        </p:nvSpPr>
        <p:spPr>
          <a:xfrm>
            <a:off x="6217920" y="4206240"/>
            <a:ext cx="5532120" cy="274320"/>
          </a:xfrm>
          <a:prstGeom prst="rect">
            <a:avLst/>
          </a:prstGeom>
          <a:solidFill>
            <a:srgbClr val="FFFFFF"/>
          </a:solidFill>
          <a:ln w="6350">
            <a:solidFill>
              <a:srgbClr val="D4DAE2"/>
            </a:solidFill>
            <a:prstDash val="solid"/>
          </a:ln>
        </p:spPr>
      </p:sp>
      <p:sp>
        <p:nvSpPr>
          <p:cNvPr id="87" name="Text 85"/>
          <p:cNvSpPr txBox="1"/>
          <p:nvPr/>
        </p:nvSpPr>
        <p:spPr>
          <a:xfrm>
            <a:off x="6291072" y="4206240"/>
            <a:ext cx="3282696" cy="274320"/>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Pattern maturity below M3</a:t>
            </a:r>
            <a:endParaRPr lang="en-US" sz="760" dirty="0"/>
          </a:p>
        </p:txBody>
      </p:sp>
      <p:sp>
        <p:nvSpPr>
          <p:cNvPr id="88" name="Text 86"/>
          <p:cNvSpPr txBox="1"/>
          <p:nvPr/>
        </p:nvSpPr>
        <p:spPr>
          <a:xfrm>
            <a:off x="9720072" y="4206240"/>
            <a:ext cx="905256" cy="27432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Not Lean</a:t>
            </a:r>
            <a:endParaRPr lang="en-US" sz="760" dirty="0"/>
          </a:p>
        </p:txBody>
      </p:sp>
      <p:sp>
        <p:nvSpPr>
          <p:cNvPr id="89" name="Text 87"/>
          <p:cNvSpPr txBox="1"/>
          <p:nvPr/>
        </p:nvSpPr>
        <p:spPr>
          <a:xfrm>
            <a:off x="10771632" y="4206240"/>
            <a:ext cx="905256" cy="274320"/>
          </a:xfrm>
          <a:prstGeom prst="rect">
            <a:avLst/>
          </a:prstGeom>
          <a:noFill/>
          <a:ln/>
        </p:spPr>
        <p:txBody>
          <a:bodyPr wrap="square" lIns="0" tIns="0" rIns="0" bIns="0" rtlCol="0" anchor="ctr"/>
          <a:lstStyle/>
          <a:p>
            <a:pPr algn="l" indent="0" marL="0">
              <a:buNone/>
            </a:pPr>
            <a:endParaRPr lang="en-US" sz="760" dirty="0"/>
          </a:p>
        </p:txBody>
      </p:sp>
      <p:sp>
        <p:nvSpPr>
          <p:cNvPr id="90" name="Shape 88"/>
          <p:cNvSpPr/>
          <p:nvPr/>
        </p:nvSpPr>
        <p:spPr>
          <a:xfrm>
            <a:off x="6217920" y="4480560"/>
            <a:ext cx="5532120" cy="274320"/>
          </a:xfrm>
          <a:prstGeom prst="rect">
            <a:avLst/>
          </a:prstGeom>
          <a:solidFill>
            <a:srgbClr val="F4F7FA"/>
          </a:solidFill>
          <a:ln w="6350">
            <a:solidFill>
              <a:srgbClr val="D4DAE2"/>
            </a:solidFill>
            <a:prstDash val="solid"/>
          </a:ln>
        </p:spPr>
      </p:sp>
      <p:sp>
        <p:nvSpPr>
          <p:cNvPr id="91" name="Text 89"/>
          <p:cNvSpPr txBox="1"/>
          <p:nvPr/>
        </p:nvSpPr>
        <p:spPr>
          <a:xfrm>
            <a:off x="6291072" y="4480560"/>
            <a:ext cx="3282696" cy="274320"/>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Pattern maturity below M1</a:t>
            </a:r>
            <a:endParaRPr lang="en-US" sz="760" dirty="0"/>
          </a:p>
        </p:txBody>
      </p:sp>
      <p:sp>
        <p:nvSpPr>
          <p:cNvPr id="92" name="Shape 90"/>
          <p:cNvSpPr/>
          <p:nvPr/>
        </p:nvSpPr>
        <p:spPr>
          <a:xfrm>
            <a:off x="9683496" y="4512564"/>
            <a:ext cx="978408" cy="210312"/>
          </a:xfrm>
          <a:prstGeom prst="rect">
            <a:avLst/>
          </a:prstGeom>
          <a:solidFill>
            <a:srgbClr val="E8EDF4"/>
          </a:solidFill>
          <a:ln w="12700">
            <a:solidFill>
              <a:srgbClr val="333333"/>
            </a:solidFill>
            <a:prstDash val="solid"/>
          </a:ln>
        </p:spPr>
      </p:sp>
      <p:sp>
        <p:nvSpPr>
          <p:cNvPr id="93" name="Text 91"/>
          <p:cNvSpPr txBox="1"/>
          <p:nvPr/>
        </p:nvSpPr>
        <p:spPr>
          <a:xfrm>
            <a:off x="9720072" y="4480560"/>
            <a:ext cx="905256" cy="274320"/>
          </a:xfrm>
          <a:prstGeom prst="rect">
            <a:avLst/>
          </a:prstGeom>
          <a:noFill/>
          <a:ln/>
        </p:spPr>
        <p:txBody>
          <a:bodyPr wrap="square" lIns="0" tIns="0" rIns="0" bIns="0" rtlCol="0" anchor="ctr"/>
          <a:lstStyle/>
          <a:p>
            <a:pPr algn="ctr" indent="0" marL="0">
              <a:buNone/>
            </a:pPr>
            <a:r>
              <a:rPr lang="en-US" sz="760" b="1" dirty="0">
                <a:solidFill>
                  <a:srgbClr val="15304F"/>
                </a:solidFill>
                <a:latin typeface="Calibri" pitchFamily="34" charset="0"/>
                <a:ea typeface="Calibri" pitchFamily="34" charset="-122"/>
                <a:cs typeface="Calibri" pitchFamily="34" charset="-120"/>
              </a:rPr>
              <a:t>Dedicated</a:t>
            </a:r>
            <a:endParaRPr lang="en-US" sz="760" dirty="0"/>
          </a:p>
        </p:txBody>
      </p:sp>
      <p:sp>
        <p:nvSpPr>
          <p:cNvPr id="94" name="Text 92"/>
          <p:cNvSpPr txBox="1"/>
          <p:nvPr/>
        </p:nvSpPr>
        <p:spPr>
          <a:xfrm>
            <a:off x="10771632" y="4480560"/>
            <a:ext cx="905256" cy="274320"/>
          </a:xfrm>
          <a:prstGeom prst="rect">
            <a:avLst/>
          </a:prstGeom>
          <a:noFill/>
          <a:ln/>
        </p:spPr>
        <p:txBody>
          <a:bodyPr wrap="square" lIns="0" tIns="0" rIns="0" bIns="0" rtlCol="0" anchor="ctr"/>
          <a:lstStyle/>
          <a:p>
            <a:pPr algn="l" indent="0" marL="0">
              <a:buNone/>
            </a:pPr>
            <a:endParaRPr lang="en-US" sz="760" dirty="0"/>
          </a:p>
        </p:txBody>
      </p:sp>
      <p:sp>
        <p:nvSpPr>
          <p:cNvPr id="95" name="Shape 93"/>
          <p:cNvSpPr/>
          <p:nvPr/>
        </p:nvSpPr>
        <p:spPr>
          <a:xfrm>
            <a:off x="6217920" y="4754880"/>
            <a:ext cx="5532120" cy="274320"/>
          </a:xfrm>
          <a:prstGeom prst="rect">
            <a:avLst/>
          </a:prstGeom>
          <a:solidFill>
            <a:srgbClr val="FFFFFF"/>
          </a:solidFill>
          <a:ln w="6350">
            <a:solidFill>
              <a:srgbClr val="D4DAE2"/>
            </a:solidFill>
            <a:prstDash val="solid"/>
          </a:ln>
        </p:spPr>
      </p:sp>
      <p:sp>
        <p:nvSpPr>
          <p:cNvPr id="96" name="Text 94"/>
          <p:cNvSpPr txBox="1"/>
          <p:nvPr/>
        </p:nvSpPr>
        <p:spPr>
          <a:xfrm>
            <a:off x="6291072" y="4754880"/>
            <a:ext cx="3282696" cy="274320"/>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Existing content or metadata remediated</a:t>
            </a:r>
            <a:endParaRPr lang="en-US" sz="760" dirty="0"/>
          </a:p>
        </p:txBody>
      </p:sp>
      <p:sp>
        <p:nvSpPr>
          <p:cNvPr id="97" name="Shape 95"/>
          <p:cNvSpPr/>
          <p:nvPr/>
        </p:nvSpPr>
        <p:spPr>
          <a:xfrm>
            <a:off x="9683496" y="4786884"/>
            <a:ext cx="978408" cy="210312"/>
          </a:xfrm>
          <a:prstGeom prst="rect">
            <a:avLst/>
          </a:prstGeom>
          <a:solidFill>
            <a:srgbClr val="E8EDF4"/>
          </a:solidFill>
          <a:ln w="12700">
            <a:solidFill>
              <a:srgbClr val="333333"/>
            </a:solidFill>
            <a:prstDash val="solid"/>
          </a:ln>
        </p:spPr>
      </p:sp>
      <p:sp>
        <p:nvSpPr>
          <p:cNvPr id="98" name="Text 96"/>
          <p:cNvSpPr txBox="1"/>
          <p:nvPr/>
        </p:nvSpPr>
        <p:spPr>
          <a:xfrm>
            <a:off x="9720072" y="4754880"/>
            <a:ext cx="905256" cy="274320"/>
          </a:xfrm>
          <a:prstGeom prst="rect">
            <a:avLst/>
          </a:prstGeom>
          <a:noFill/>
          <a:ln/>
        </p:spPr>
        <p:txBody>
          <a:bodyPr wrap="square" lIns="0" tIns="0" rIns="0" bIns="0" rtlCol="0" anchor="ctr"/>
          <a:lstStyle/>
          <a:p>
            <a:pPr algn="ctr" indent="0" marL="0">
              <a:buNone/>
            </a:pPr>
            <a:r>
              <a:rPr lang="en-US" sz="760" b="1" dirty="0">
                <a:solidFill>
                  <a:srgbClr val="15304F"/>
                </a:solidFill>
                <a:latin typeface="Calibri" pitchFamily="34" charset="0"/>
                <a:ea typeface="Calibri" pitchFamily="34" charset="-122"/>
                <a:cs typeface="Calibri" pitchFamily="34" charset="-120"/>
              </a:rPr>
              <a:t>Dedicated</a:t>
            </a:r>
            <a:endParaRPr lang="en-US" sz="760" dirty="0"/>
          </a:p>
        </p:txBody>
      </p:sp>
      <p:sp>
        <p:nvSpPr>
          <p:cNvPr id="99" name="Text 97"/>
          <p:cNvSpPr txBox="1"/>
          <p:nvPr/>
        </p:nvSpPr>
        <p:spPr>
          <a:xfrm>
            <a:off x="10771632" y="4754880"/>
            <a:ext cx="905256" cy="27432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or Factory</a:t>
            </a:r>
            <a:endParaRPr lang="en-US" sz="760" dirty="0"/>
          </a:p>
        </p:txBody>
      </p:sp>
      <p:sp>
        <p:nvSpPr>
          <p:cNvPr id="100" name="Shape 98"/>
          <p:cNvSpPr/>
          <p:nvPr/>
        </p:nvSpPr>
        <p:spPr>
          <a:xfrm>
            <a:off x="6217920" y="5029200"/>
            <a:ext cx="5532120" cy="274320"/>
          </a:xfrm>
          <a:prstGeom prst="rect">
            <a:avLst/>
          </a:prstGeom>
          <a:solidFill>
            <a:srgbClr val="F4F7FA"/>
          </a:solidFill>
          <a:ln w="6350">
            <a:solidFill>
              <a:srgbClr val="D4DAE2"/>
            </a:solidFill>
            <a:prstDash val="solid"/>
          </a:ln>
        </p:spPr>
      </p:sp>
      <p:sp>
        <p:nvSpPr>
          <p:cNvPr id="101" name="Text 99"/>
          <p:cNvSpPr txBox="1"/>
          <p:nvPr/>
        </p:nvSpPr>
        <p:spPr>
          <a:xfrm>
            <a:off x="6291072" y="5029200"/>
            <a:ext cx="3282696" cy="274320"/>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New regulated retention or WORM</a:t>
            </a:r>
            <a:endParaRPr lang="en-US" sz="760" dirty="0"/>
          </a:p>
        </p:txBody>
      </p:sp>
      <p:sp>
        <p:nvSpPr>
          <p:cNvPr id="102" name="Shape 100"/>
          <p:cNvSpPr/>
          <p:nvPr/>
        </p:nvSpPr>
        <p:spPr>
          <a:xfrm>
            <a:off x="9683496" y="5061204"/>
            <a:ext cx="978408" cy="210312"/>
          </a:xfrm>
          <a:prstGeom prst="rect">
            <a:avLst/>
          </a:prstGeom>
          <a:solidFill>
            <a:srgbClr val="E8EDF4"/>
          </a:solidFill>
          <a:ln w="12700">
            <a:solidFill>
              <a:srgbClr val="333333"/>
            </a:solidFill>
            <a:prstDash val="solid"/>
          </a:ln>
        </p:spPr>
      </p:sp>
      <p:sp>
        <p:nvSpPr>
          <p:cNvPr id="103" name="Text 101"/>
          <p:cNvSpPr txBox="1"/>
          <p:nvPr/>
        </p:nvSpPr>
        <p:spPr>
          <a:xfrm>
            <a:off x="9720072" y="5029200"/>
            <a:ext cx="905256" cy="274320"/>
          </a:xfrm>
          <a:prstGeom prst="rect">
            <a:avLst/>
          </a:prstGeom>
          <a:noFill/>
          <a:ln/>
        </p:spPr>
        <p:txBody>
          <a:bodyPr wrap="square" lIns="0" tIns="0" rIns="0" bIns="0" rtlCol="0" anchor="ctr"/>
          <a:lstStyle/>
          <a:p>
            <a:pPr algn="ctr" indent="0" marL="0">
              <a:buNone/>
            </a:pPr>
            <a:r>
              <a:rPr lang="en-US" sz="760" b="1" dirty="0">
                <a:solidFill>
                  <a:srgbClr val="15304F"/>
                </a:solidFill>
                <a:latin typeface="Calibri" pitchFamily="34" charset="0"/>
                <a:ea typeface="Calibri" pitchFamily="34" charset="-122"/>
                <a:cs typeface="Calibri" pitchFamily="34" charset="-120"/>
              </a:rPr>
              <a:t>Dedicated</a:t>
            </a:r>
            <a:endParaRPr lang="en-US" sz="760" dirty="0"/>
          </a:p>
        </p:txBody>
      </p:sp>
      <p:sp>
        <p:nvSpPr>
          <p:cNvPr id="104" name="Text 102"/>
          <p:cNvSpPr txBox="1"/>
          <p:nvPr/>
        </p:nvSpPr>
        <p:spPr>
          <a:xfrm>
            <a:off x="10771632" y="5029200"/>
            <a:ext cx="905256" cy="274320"/>
          </a:xfrm>
          <a:prstGeom prst="rect">
            <a:avLst/>
          </a:prstGeom>
          <a:noFill/>
          <a:ln/>
        </p:spPr>
        <p:txBody>
          <a:bodyPr wrap="square" lIns="0" tIns="0" rIns="0" bIns="0" rtlCol="0" anchor="ctr"/>
          <a:lstStyle/>
          <a:p>
            <a:pPr algn="l" indent="0" marL="0">
              <a:buNone/>
            </a:pPr>
            <a:endParaRPr lang="en-US" sz="760" dirty="0"/>
          </a:p>
        </p:txBody>
      </p:sp>
      <p:sp>
        <p:nvSpPr>
          <p:cNvPr id="105" name="Shape 103"/>
          <p:cNvSpPr/>
          <p:nvPr/>
        </p:nvSpPr>
        <p:spPr>
          <a:xfrm>
            <a:off x="6217920" y="5303520"/>
            <a:ext cx="5532120" cy="274320"/>
          </a:xfrm>
          <a:prstGeom prst="rect">
            <a:avLst/>
          </a:prstGeom>
          <a:solidFill>
            <a:srgbClr val="FFFFFF"/>
          </a:solidFill>
          <a:ln w="6350">
            <a:solidFill>
              <a:srgbClr val="D4DAE2"/>
            </a:solidFill>
            <a:prstDash val="solid"/>
          </a:ln>
        </p:spPr>
      </p:sp>
      <p:sp>
        <p:nvSpPr>
          <p:cNvPr id="106" name="Text 104"/>
          <p:cNvSpPr txBox="1"/>
          <p:nvPr/>
        </p:nvSpPr>
        <p:spPr>
          <a:xfrm>
            <a:off x="6291072" y="5303520"/>
            <a:ext cx="3282696" cy="274320"/>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Multiple LOBs or multiple partners</a:t>
            </a:r>
            <a:endParaRPr lang="en-US" sz="760" dirty="0"/>
          </a:p>
        </p:txBody>
      </p:sp>
      <p:sp>
        <p:nvSpPr>
          <p:cNvPr id="107" name="Shape 105"/>
          <p:cNvSpPr/>
          <p:nvPr/>
        </p:nvSpPr>
        <p:spPr>
          <a:xfrm>
            <a:off x="9683496" y="5335524"/>
            <a:ext cx="978408" cy="210312"/>
          </a:xfrm>
          <a:prstGeom prst="rect">
            <a:avLst/>
          </a:prstGeom>
          <a:solidFill>
            <a:srgbClr val="E8EDF4"/>
          </a:solidFill>
          <a:ln w="12700">
            <a:solidFill>
              <a:srgbClr val="333333"/>
            </a:solidFill>
            <a:prstDash val="solid"/>
          </a:ln>
        </p:spPr>
      </p:sp>
      <p:sp>
        <p:nvSpPr>
          <p:cNvPr id="108" name="Text 106"/>
          <p:cNvSpPr txBox="1"/>
          <p:nvPr/>
        </p:nvSpPr>
        <p:spPr>
          <a:xfrm>
            <a:off x="9720072" y="5303520"/>
            <a:ext cx="905256" cy="274320"/>
          </a:xfrm>
          <a:prstGeom prst="rect">
            <a:avLst/>
          </a:prstGeom>
          <a:noFill/>
          <a:ln/>
        </p:spPr>
        <p:txBody>
          <a:bodyPr wrap="square" lIns="0" tIns="0" rIns="0" bIns="0" rtlCol="0" anchor="ctr"/>
          <a:lstStyle/>
          <a:p>
            <a:pPr algn="ctr" indent="0" marL="0">
              <a:buNone/>
            </a:pPr>
            <a:r>
              <a:rPr lang="en-US" sz="760" b="1" dirty="0">
                <a:solidFill>
                  <a:srgbClr val="15304F"/>
                </a:solidFill>
                <a:latin typeface="Calibri" pitchFamily="34" charset="0"/>
                <a:ea typeface="Calibri" pitchFamily="34" charset="-122"/>
                <a:cs typeface="Calibri" pitchFamily="34" charset="-120"/>
              </a:rPr>
              <a:t>Dedicated</a:t>
            </a:r>
            <a:endParaRPr lang="en-US" sz="760" dirty="0"/>
          </a:p>
        </p:txBody>
      </p:sp>
      <p:sp>
        <p:nvSpPr>
          <p:cNvPr id="109" name="Text 107"/>
          <p:cNvSpPr txBox="1"/>
          <p:nvPr/>
        </p:nvSpPr>
        <p:spPr>
          <a:xfrm>
            <a:off x="10771632" y="5303520"/>
            <a:ext cx="905256" cy="274320"/>
          </a:xfrm>
          <a:prstGeom prst="rect">
            <a:avLst/>
          </a:prstGeom>
          <a:noFill/>
          <a:ln/>
        </p:spPr>
        <p:txBody>
          <a:bodyPr wrap="square" lIns="0" tIns="0" rIns="0" bIns="0" rtlCol="0" anchor="ctr"/>
          <a:lstStyle/>
          <a:p>
            <a:pPr algn="l" indent="0" marL="0">
              <a:buNone/>
            </a:pPr>
            <a:endParaRPr lang="en-US" sz="760" dirty="0"/>
          </a:p>
        </p:txBody>
      </p:sp>
      <p:sp>
        <p:nvSpPr>
          <p:cNvPr id="110" name="Shape 108"/>
          <p:cNvSpPr/>
          <p:nvPr/>
        </p:nvSpPr>
        <p:spPr>
          <a:xfrm>
            <a:off x="411480" y="5687568"/>
            <a:ext cx="11338560" cy="438912"/>
          </a:xfrm>
          <a:prstGeom prst="roundRect">
            <a:avLst>
              <a:gd name="adj" fmla="val 10417"/>
            </a:avLst>
          </a:prstGeom>
          <a:solidFill>
            <a:srgbClr val="FBF0EB"/>
          </a:solidFill>
          <a:ln w="12700">
            <a:solidFill>
              <a:srgbClr val="A44A2A"/>
            </a:solidFill>
            <a:prstDash val="solid"/>
          </a:ln>
        </p:spPr>
      </p:sp>
      <p:sp>
        <p:nvSpPr>
          <p:cNvPr id="111" name="Text 109"/>
          <p:cNvSpPr txBox="1"/>
          <p:nvPr/>
        </p:nvSpPr>
        <p:spPr>
          <a:xfrm>
            <a:off x="557784" y="5687568"/>
            <a:ext cx="11045952" cy="438912"/>
          </a:xfrm>
          <a:prstGeom prst="rect">
            <a:avLst/>
          </a:prstGeom>
          <a:noFill/>
          <a:ln/>
        </p:spPr>
        <p:txBody>
          <a:bodyPr wrap="square" lIns="0" tIns="0" rIns="0" bIns="0" rtlCol="0" anchor="ctr"/>
          <a:lstStyle/>
          <a:p>
            <a:pPr indent="0" marL="0">
              <a:lnSpc>
                <a:spcPts val="1040"/>
              </a:lnSpc>
              <a:buNone/>
            </a:pPr>
            <a:r>
              <a:rPr lang="en-US" sz="860" dirty="0">
                <a:solidFill>
                  <a:srgbClr val="1B2432"/>
                </a:solidFill>
                <a:latin typeface="Calibri" pitchFamily="34" charset="0"/>
                <a:ea typeface="Calibri" pitchFamily="34" charset="-122"/>
                <a:cs typeface="Calibri" pitchFamily="34" charset="-120"/>
              </a:rPr>
              <a:t>Tier is assigned by ECM against the published rubric and is never selected by the partner. If partners self-select, every partner selects Dedicated — not out of bad faith, but because from any one partner's view more attention is always better. Appeal is allowed once, within five working days, and must name which determinant is wrongly scored. Repeated successful appeals on the same determinant are a rubric defect, not partner gaming.</a:t>
            </a:r>
            <a:endParaRPr lang="en-US" sz="86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274320"/>
            <a:ext cx="274320" cy="274320"/>
          </a:xfrm>
          <a:prstGeom prst="rect">
            <a:avLst/>
          </a:prstGeom>
          <a:solidFill>
            <a:srgbClr val="15304F"/>
          </a:solidFill>
          <a:ln w="12700">
            <a:solidFill>
              <a:srgbClr val="333333"/>
            </a:solidFill>
            <a:prstDash val="solid"/>
          </a:ln>
        </p:spPr>
      </p:sp>
      <p:sp>
        <p:nvSpPr>
          <p:cNvPr id="3" name="Text 1"/>
          <p:cNvSpPr txBox="1"/>
          <p:nvPr/>
        </p:nvSpPr>
        <p:spPr>
          <a:xfrm>
            <a:off x="411480" y="2743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4" name="Text 2"/>
          <p:cNvSpPr txBox="1"/>
          <p:nvPr/>
        </p:nvSpPr>
        <p:spPr>
          <a:xfrm>
            <a:off x="795528" y="219456"/>
            <a:ext cx="8778240" cy="384048"/>
          </a:xfrm>
          <a:prstGeom prst="rect">
            <a:avLst/>
          </a:prstGeom>
          <a:noFill/>
          <a:ln/>
        </p:spPr>
        <p:txBody>
          <a:bodyPr wrap="square" lIns="0" tIns="0" rIns="0" bIns="0" rtlCol="0" anchor="ctr"/>
          <a:lstStyle/>
          <a:p>
            <a:pPr indent="0" marL="0">
              <a:buNone/>
            </a:pPr>
            <a:r>
              <a:rPr lang="en-US" sz="2400" b="1" dirty="0">
                <a:solidFill>
                  <a:srgbClr val="1B2432"/>
                </a:solidFill>
                <a:latin typeface="Cambria" pitchFamily="34" charset="0"/>
                <a:ea typeface="Cambria" pitchFamily="34" charset="-122"/>
                <a:cs typeface="Cambria" pitchFamily="34" charset="-120"/>
              </a:rPr>
              <a:t>The 38 scenarios, tiered</a:t>
            </a:r>
            <a:endParaRPr lang="en-US" sz="2400" dirty="0"/>
          </a:p>
        </p:txBody>
      </p:sp>
      <p:sp>
        <p:nvSpPr>
          <p:cNvPr id="5" name="Text 3"/>
          <p:cNvSpPr txBox="1"/>
          <p:nvPr/>
        </p:nvSpPr>
        <p:spPr>
          <a:xfrm>
            <a:off x="795528" y="621792"/>
            <a:ext cx="9326880" cy="237744"/>
          </a:xfrm>
          <a:prstGeom prst="rect">
            <a:avLst/>
          </a:prstGeom>
          <a:noFill/>
          <a:ln/>
        </p:spPr>
        <p:txBody>
          <a:bodyPr wrap="square" lIns="0" tIns="0" rIns="0" bIns="0" rtlCol="0" anchor="ctr"/>
          <a:lstStyle/>
          <a:p>
            <a:pPr indent="0" marL="0">
              <a:buNone/>
            </a:pPr>
            <a:r>
              <a:rPr lang="en-US" sz="1050" dirty="0">
                <a:solidFill>
                  <a:srgbClr val="55606E"/>
                </a:solidFill>
                <a:latin typeface="Calibri" pitchFamily="34" charset="0"/>
                <a:ea typeface="Calibri" pitchFamily="34" charset="-122"/>
                <a:cs typeface="Calibri" pitchFamily="34" charset="-120"/>
              </a:rPr>
              <a:t>Entry distribution, the trajectory, and what drives each assessment</a:t>
            </a:r>
            <a:endParaRPr lang="en-US" sz="1050" dirty="0"/>
          </a:p>
        </p:txBody>
      </p:sp>
      <p:sp>
        <p:nvSpPr>
          <p:cNvPr id="6" name="Text 4"/>
          <p:cNvSpPr txBox="1"/>
          <p:nvPr/>
        </p:nvSpPr>
        <p:spPr>
          <a:xfrm>
            <a:off x="9052560" y="274320"/>
            <a:ext cx="2697480" cy="256032"/>
          </a:xfrm>
          <a:prstGeom prst="rect">
            <a:avLst/>
          </a:prstGeom>
          <a:noFill/>
          <a:ln/>
        </p:spPr>
        <p:txBody>
          <a:bodyPr wrap="square" lIns="0" tIns="0" rIns="0" bIns="0" rtlCol="0" anchor="ctr"/>
          <a:lstStyle/>
          <a:p>
            <a:pPr algn="r" indent="0" marL="0">
              <a:buNone/>
            </a:pPr>
            <a:r>
              <a:rPr lang="en-US" sz="950" b="1" spc="60" kern="0" dirty="0">
                <a:solidFill>
                  <a:srgbClr val="7C8798"/>
                </a:solidFill>
                <a:latin typeface="Calibri" pitchFamily="34" charset="0"/>
                <a:ea typeface="Calibri" pitchFamily="34" charset="-122"/>
                <a:cs typeface="Calibri" pitchFamily="34" charset="-120"/>
              </a:rPr>
              <a:t>Operating model</a:t>
            </a:r>
            <a:endParaRPr lang="en-US" sz="950" dirty="0"/>
          </a:p>
        </p:txBody>
      </p:sp>
      <p:sp>
        <p:nvSpPr>
          <p:cNvPr id="7" name="Shape 5"/>
          <p:cNvSpPr/>
          <p:nvPr/>
        </p:nvSpPr>
        <p:spPr>
          <a:xfrm>
            <a:off x="411480" y="932688"/>
            <a:ext cx="11338560" cy="0"/>
          </a:xfrm>
          <a:prstGeom prst="line">
            <a:avLst/>
          </a:prstGeom>
          <a:noFill/>
          <a:ln w="12700">
            <a:solidFill>
              <a:srgbClr val="D4DAE2"/>
            </a:solidFill>
            <a:prstDash val="solid"/>
          </a:ln>
        </p:spPr>
      </p:sp>
      <p:sp>
        <p:nvSpPr>
          <p:cNvPr id="8" name="Text 6"/>
          <p:cNvSpPr txBox="1"/>
          <p:nvPr/>
        </p:nvSpPr>
        <p:spPr>
          <a:xfrm>
            <a:off x="411480" y="1042416"/>
            <a:ext cx="7315200" cy="182880"/>
          </a:xfrm>
          <a:prstGeom prst="rect">
            <a:avLst/>
          </a:prstGeom>
          <a:noFill/>
          <a:ln/>
        </p:spPr>
        <p:txBody>
          <a:bodyPr wrap="square" lIns="0" tIns="0" rIns="0" bIns="0" rtlCol="0" anchor="ctr"/>
          <a:lstStyle/>
          <a:p>
            <a:pPr indent="0" marL="0">
              <a:buNone/>
            </a:pPr>
            <a:r>
              <a:rPr lang="en-US" sz="760" b="1" spc="110" kern="0" dirty="0">
                <a:solidFill>
                  <a:srgbClr val="1B2432"/>
                </a:solidFill>
                <a:latin typeface="Calibri" pitchFamily="34" charset="0"/>
                <a:ea typeface="Calibri" pitchFamily="34" charset="-122"/>
                <a:cs typeface="Calibri" pitchFamily="34" charset="-120"/>
              </a:rPr>
              <a:t>DISTRIBUTION AT ENTRY AND AT STEADY STATE</a:t>
            </a:r>
            <a:endParaRPr lang="en-US" sz="760" dirty="0"/>
          </a:p>
        </p:txBody>
      </p:sp>
      <p:sp>
        <p:nvSpPr>
          <p:cNvPr id="9" name="Text 7"/>
          <p:cNvSpPr txBox="1"/>
          <p:nvPr/>
        </p:nvSpPr>
        <p:spPr>
          <a:xfrm>
            <a:off x="411480" y="1280160"/>
            <a:ext cx="1097280" cy="384048"/>
          </a:xfrm>
          <a:prstGeom prst="rect">
            <a:avLst/>
          </a:prstGeom>
          <a:noFill/>
          <a:ln/>
        </p:spPr>
        <p:txBody>
          <a:bodyPr wrap="square" lIns="0" tIns="0" rIns="0" bIns="0" rtlCol="0" anchor="ctr"/>
          <a:lstStyle/>
          <a:p>
            <a:pPr indent="0" marL="0">
              <a:buNone/>
            </a:pPr>
            <a:r>
              <a:rPr lang="en-US" sz="900" b="1" dirty="0">
                <a:solidFill>
                  <a:srgbClr val="1B2432"/>
                </a:solidFill>
                <a:latin typeface="Calibri" pitchFamily="34" charset="0"/>
                <a:ea typeface="Calibri" pitchFamily="34" charset="-122"/>
                <a:cs typeface="Calibri" pitchFamily="34" charset="-120"/>
              </a:rPr>
              <a:t>At entry</a:t>
            </a:r>
            <a:endParaRPr lang="en-US" sz="900" dirty="0"/>
          </a:p>
        </p:txBody>
      </p:sp>
      <p:sp>
        <p:nvSpPr>
          <p:cNvPr id="10" name="Shape 8"/>
          <p:cNvSpPr/>
          <p:nvPr/>
        </p:nvSpPr>
        <p:spPr>
          <a:xfrm>
            <a:off x="1563624" y="1280160"/>
            <a:ext cx="2124296" cy="384048"/>
          </a:xfrm>
          <a:prstGeom prst="roundRect">
            <a:avLst>
              <a:gd name="adj" fmla="val 7143"/>
            </a:avLst>
          </a:prstGeom>
          <a:solidFill>
            <a:srgbClr val="0B6E6E"/>
          </a:solidFill>
          <a:ln w="12700">
            <a:solidFill>
              <a:srgbClr val="333333"/>
            </a:solidFill>
            <a:prstDash val="solid"/>
          </a:ln>
        </p:spPr>
      </p:sp>
      <p:sp>
        <p:nvSpPr>
          <p:cNvPr id="11" name="Text 9"/>
          <p:cNvSpPr txBox="1"/>
          <p:nvPr/>
        </p:nvSpPr>
        <p:spPr>
          <a:xfrm>
            <a:off x="1563624" y="1280160"/>
            <a:ext cx="2124296"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Lean 8</a:t>
            </a:r>
            <a:endParaRPr lang="en-US" sz="900" dirty="0"/>
          </a:p>
        </p:txBody>
      </p:sp>
      <p:sp>
        <p:nvSpPr>
          <p:cNvPr id="12" name="Shape 10"/>
          <p:cNvSpPr/>
          <p:nvPr/>
        </p:nvSpPr>
        <p:spPr>
          <a:xfrm>
            <a:off x="3719924" y="1280160"/>
            <a:ext cx="3717517" cy="384048"/>
          </a:xfrm>
          <a:prstGeom prst="roundRect">
            <a:avLst>
              <a:gd name="adj" fmla="val 7143"/>
            </a:avLst>
          </a:prstGeom>
          <a:solidFill>
            <a:srgbClr val="9A6410"/>
          </a:solidFill>
          <a:ln w="12700">
            <a:solidFill>
              <a:srgbClr val="333333"/>
            </a:solidFill>
            <a:prstDash val="solid"/>
          </a:ln>
        </p:spPr>
      </p:sp>
      <p:sp>
        <p:nvSpPr>
          <p:cNvPr id="13" name="Text 11"/>
          <p:cNvSpPr txBox="1"/>
          <p:nvPr/>
        </p:nvSpPr>
        <p:spPr>
          <a:xfrm>
            <a:off x="3719924" y="1280160"/>
            <a:ext cx="3717517"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Lean+ 14</a:t>
            </a:r>
            <a:endParaRPr lang="en-US" sz="900" dirty="0"/>
          </a:p>
        </p:txBody>
      </p:sp>
      <p:sp>
        <p:nvSpPr>
          <p:cNvPr id="14" name="Shape 12"/>
          <p:cNvSpPr/>
          <p:nvPr/>
        </p:nvSpPr>
        <p:spPr>
          <a:xfrm>
            <a:off x="7469445" y="1280160"/>
            <a:ext cx="3717517" cy="384048"/>
          </a:xfrm>
          <a:prstGeom prst="roundRect">
            <a:avLst>
              <a:gd name="adj" fmla="val 7143"/>
            </a:avLst>
          </a:prstGeom>
          <a:solidFill>
            <a:srgbClr val="15304F"/>
          </a:solidFill>
          <a:ln w="12700">
            <a:solidFill>
              <a:srgbClr val="333333"/>
            </a:solidFill>
            <a:prstDash val="solid"/>
          </a:ln>
        </p:spPr>
      </p:sp>
      <p:sp>
        <p:nvSpPr>
          <p:cNvPr id="15" name="Text 13"/>
          <p:cNvSpPr txBox="1"/>
          <p:nvPr/>
        </p:nvSpPr>
        <p:spPr>
          <a:xfrm>
            <a:off x="7469445" y="1280160"/>
            <a:ext cx="3717517"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Dedicated 14</a:t>
            </a:r>
            <a:endParaRPr lang="en-US" sz="900" dirty="0"/>
          </a:p>
        </p:txBody>
      </p:sp>
      <p:sp>
        <p:nvSpPr>
          <p:cNvPr id="16" name="Shape 14"/>
          <p:cNvSpPr/>
          <p:nvPr/>
        </p:nvSpPr>
        <p:spPr>
          <a:xfrm>
            <a:off x="11218966" y="1280160"/>
            <a:ext cx="531074" cy="384048"/>
          </a:xfrm>
          <a:prstGeom prst="roundRect">
            <a:avLst>
              <a:gd name="adj" fmla="val 7143"/>
            </a:avLst>
          </a:prstGeom>
          <a:solidFill>
            <a:srgbClr val="5B4A72"/>
          </a:solidFill>
          <a:ln w="12700">
            <a:solidFill>
              <a:srgbClr val="333333"/>
            </a:solidFill>
            <a:prstDash val="solid"/>
          </a:ln>
        </p:spPr>
      </p:sp>
      <p:sp>
        <p:nvSpPr>
          <p:cNvPr id="17" name="Text 15"/>
          <p:cNvSpPr txBox="1"/>
          <p:nvPr/>
        </p:nvSpPr>
        <p:spPr>
          <a:xfrm>
            <a:off x="11218966" y="1280160"/>
            <a:ext cx="531074"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8" name="Text 16"/>
          <p:cNvSpPr txBox="1"/>
          <p:nvPr/>
        </p:nvSpPr>
        <p:spPr>
          <a:xfrm>
            <a:off x="411480" y="1792224"/>
            <a:ext cx="1097280" cy="384048"/>
          </a:xfrm>
          <a:prstGeom prst="rect">
            <a:avLst/>
          </a:prstGeom>
          <a:noFill/>
          <a:ln/>
        </p:spPr>
        <p:txBody>
          <a:bodyPr wrap="square" lIns="0" tIns="0" rIns="0" bIns="0" rtlCol="0" anchor="ctr"/>
          <a:lstStyle/>
          <a:p>
            <a:pPr indent="0" marL="0">
              <a:buNone/>
            </a:pPr>
            <a:r>
              <a:rPr lang="en-US" sz="900" b="1" dirty="0">
                <a:solidFill>
                  <a:srgbClr val="1B2432"/>
                </a:solidFill>
                <a:latin typeface="Calibri" pitchFamily="34" charset="0"/>
                <a:ea typeface="Calibri" pitchFamily="34" charset="-122"/>
                <a:cs typeface="Calibri" pitchFamily="34" charset="-120"/>
              </a:rPr>
              <a:t>Steady state</a:t>
            </a:r>
            <a:endParaRPr lang="en-US" sz="900" dirty="0"/>
          </a:p>
        </p:txBody>
      </p:sp>
      <p:sp>
        <p:nvSpPr>
          <p:cNvPr id="19" name="Shape 17"/>
          <p:cNvSpPr/>
          <p:nvPr/>
        </p:nvSpPr>
        <p:spPr>
          <a:xfrm>
            <a:off x="1563624" y="1792224"/>
            <a:ext cx="4248591" cy="384048"/>
          </a:xfrm>
          <a:prstGeom prst="roundRect">
            <a:avLst>
              <a:gd name="adj" fmla="val 7143"/>
            </a:avLst>
          </a:prstGeom>
          <a:solidFill>
            <a:srgbClr val="0B6E6E"/>
          </a:solidFill>
          <a:ln w="12700">
            <a:solidFill>
              <a:srgbClr val="333333"/>
            </a:solidFill>
            <a:prstDash val="solid"/>
          </a:ln>
        </p:spPr>
      </p:sp>
      <p:sp>
        <p:nvSpPr>
          <p:cNvPr id="20" name="Text 18"/>
          <p:cNvSpPr txBox="1"/>
          <p:nvPr/>
        </p:nvSpPr>
        <p:spPr>
          <a:xfrm>
            <a:off x="1563624" y="1792224"/>
            <a:ext cx="4248591"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Lean 16</a:t>
            </a:r>
            <a:endParaRPr lang="en-US" sz="900" dirty="0"/>
          </a:p>
        </p:txBody>
      </p:sp>
      <p:sp>
        <p:nvSpPr>
          <p:cNvPr id="21" name="Shape 19"/>
          <p:cNvSpPr/>
          <p:nvPr/>
        </p:nvSpPr>
        <p:spPr>
          <a:xfrm>
            <a:off x="5844219" y="1792224"/>
            <a:ext cx="3451980" cy="384048"/>
          </a:xfrm>
          <a:prstGeom prst="roundRect">
            <a:avLst>
              <a:gd name="adj" fmla="val 7143"/>
            </a:avLst>
          </a:prstGeom>
          <a:solidFill>
            <a:srgbClr val="9A6410"/>
          </a:solidFill>
          <a:ln w="12700">
            <a:solidFill>
              <a:srgbClr val="333333"/>
            </a:solidFill>
            <a:prstDash val="solid"/>
          </a:ln>
        </p:spPr>
      </p:sp>
      <p:sp>
        <p:nvSpPr>
          <p:cNvPr id="22" name="Text 20"/>
          <p:cNvSpPr txBox="1"/>
          <p:nvPr/>
        </p:nvSpPr>
        <p:spPr>
          <a:xfrm>
            <a:off x="5844219" y="1792224"/>
            <a:ext cx="345198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Lean+ 13</a:t>
            </a:r>
            <a:endParaRPr lang="en-US" sz="900" dirty="0"/>
          </a:p>
        </p:txBody>
      </p:sp>
      <p:sp>
        <p:nvSpPr>
          <p:cNvPr id="23" name="Shape 21"/>
          <p:cNvSpPr/>
          <p:nvPr/>
        </p:nvSpPr>
        <p:spPr>
          <a:xfrm>
            <a:off x="9328203" y="1792224"/>
            <a:ext cx="1858759" cy="384048"/>
          </a:xfrm>
          <a:prstGeom prst="roundRect">
            <a:avLst>
              <a:gd name="adj" fmla="val 7143"/>
            </a:avLst>
          </a:prstGeom>
          <a:solidFill>
            <a:srgbClr val="15304F"/>
          </a:solidFill>
          <a:ln w="12700">
            <a:solidFill>
              <a:srgbClr val="333333"/>
            </a:solidFill>
            <a:prstDash val="solid"/>
          </a:ln>
        </p:spPr>
      </p:sp>
      <p:sp>
        <p:nvSpPr>
          <p:cNvPr id="24" name="Text 22"/>
          <p:cNvSpPr txBox="1"/>
          <p:nvPr/>
        </p:nvSpPr>
        <p:spPr>
          <a:xfrm>
            <a:off x="9328203" y="1792224"/>
            <a:ext cx="1858759"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Ded 7</a:t>
            </a:r>
            <a:endParaRPr lang="en-US" sz="900" dirty="0"/>
          </a:p>
        </p:txBody>
      </p:sp>
      <p:sp>
        <p:nvSpPr>
          <p:cNvPr id="25" name="Shape 23"/>
          <p:cNvSpPr/>
          <p:nvPr/>
        </p:nvSpPr>
        <p:spPr>
          <a:xfrm>
            <a:off x="11218966" y="1792224"/>
            <a:ext cx="531074" cy="384048"/>
          </a:xfrm>
          <a:prstGeom prst="roundRect">
            <a:avLst>
              <a:gd name="adj" fmla="val 7143"/>
            </a:avLst>
          </a:prstGeom>
          <a:solidFill>
            <a:srgbClr val="5B4A72"/>
          </a:solidFill>
          <a:ln w="12700">
            <a:solidFill>
              <a:srgbClr val="333333"/>
            </a:solidFill>
            <a:prstDash val="solid"/>
          </a:ln>
        </p:spPr>
      </p:sp>
      <p:sp>
        <p:nvSpPr>
          <p:cNvPr id="26" name="Text 24"/>
          <p:cNvSpPr txBox="1"/>
          <p:nvPr/>
        </p:nvSpPr>
        <p:spPr>
          <a:xfrm>
            <a:off x="11218966" y="1792224"/>
            <a:ext cx="531074"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27" name="Text 25"/>
          <p:cNvSpPr txBox="1"/>
          <p:nvPr/>
        </p:nvSpPr>
        <p:spPr>
          <a:xfrm>
            <a:off x="411480" y="2395728"/>
            <a:ext cx="7315200" cy="182880"/>
          </a:xfrm>
          <a:prstGeom prst="rect">
            <a:avLst/>
          </a:prstGeom>
          <a:noFill/>
          <a:ln/>
        </p:spPr>
        <p:txBody>
          <a:bodyPr wrap="square" lIns="0" tIns="0" rIns="0" bIns="0" rtlCol="0" anchor="ctr"/>
          <a:lstStyle/>
          <a:p>
            <a:pPr indent="0" marL="0">
              <a:buNone/>
            </a:pPr>
            <a:r>
              <a:rPr lang="en-US" sz="760" b="1" spc="110" kern="0" dirty="0">
                <a:solidFill>
                  <a:srgbClr val="1B2432"/>
                </a:solidFill>
                <a:latin typeface="Calibri" pitchFamily="34" charset="0"/>
                <a:ea typeface="Calibri" pitchFamily="34" charset="-122"/>
                <a:cs typeface="Calibri" pitchFamily="34" charset="-120"/>
              </a:rPr>
              <a:t>REPRESENTATIVE SCENARIOS AND WHAT DROVE THE ASSESSMENT</a:t>
            </a:r>
            <a:endParaRPr lang="en-US" sz="760" dirty="0"/>
          </a:p>
        </p:txBody>
      </p:sp>
      <p:sp>
        <p:nvSpPr>
          <p:cNvPr id="28" name="Shape 26"/>
          <p:cNvSpPr/>
          <p:nvPr/>
        </p:nvSpPr>
        <p:spPr>
          <a:xfrm>
            <a:off x="411480" y="2596896"/>
            <a:ext cx="11338560" cy="256032"/>
          </a:xfrm>
          <a:prstGeom prst="rect">
            <a:avLst/>
          </a:prstGeom>
          <a:solidFill>
            <a:srgbClr val="15304F"/>
          </a:solidFill>
          <a:ln w="6350">
            <a:solidFill>
              <a:srgbClr val="15304F"/>
            </a:solidFill>
            <a:prstDash val="solid"/>
          </a:ln>
        </p:spPr>
      </p:sp>
      <p:sp>
        <p:nvSpPr>
          <p:cNvPr id="29" name="Text 27"/>
          <p:cNvSpPr txBox="1"/>
          <p:nvPr/>
        </p:nvSpPr>
        <p:spPr>
          <a:xfrm>
            <a:off x="484632" y="2596896"/>
            <a:ext cx="356616" cy="256032"/>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30" name="Text 28"/>
          <p:cNvSpPr txBox="1"/>
          <p:nvPr/>
        </p:nvSpPr>
        <p:spPr>
          <a:xfrm>
            <a:off x="987552" y="2596896"/>
            <a:ext cx="4745736" cy="256032"/>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Scenario</a:t>
            </a:r>
            <a:endParaRPr lang="en-US" sz="800" dirty="0"/>
          </a:p>
        </p:txBody>
      </p:sp>
      <p:sp>
        <p:nvSpPr>
          <p:cNvPr id="31" name="Text 29"/>
          <p:cNvSpPr txBox="1"/>
          <p:nvPr/>
        </p:nvSpPr>
        <p:spPr>
          <a:xfrm>
            <a:off x="5879592" y="2596896"/>
            <a:ext cx="1956816" cy="256032"/>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Driving determinants</a:t>
            </a:r>
            <a:endParaRPr lang="en-US" sz="800" dirty="0"/>
          </a:p>
        </p:txBody>
      </p:sp>
      <p:sp>
        <p:nvSpPr>
          <p:cNvPr id="32" name="Text 30"/>
          <p:cNvSpPr txBox="1"/>
          <p:nvPr/>
        </p:nvSpPr>
        <p:spPr>
          <a:xfrm>
            <a:off x="7982712" y="2596896"/>
            <a:ext cx="1042416" cy="256032"/>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Tier</a:t>
            </a:r>
            <a:endParaRPr lang="en-US" sz="800" dirty="0"/>
          </a:p>
        </p:txBody>
      </p:sp>
      <p:sp>
        <p:nvSpPr>
          <p:cNvPr id="33" name="Text 31"/>
          <p:cNvSpPr txBox="1"/>
          <p:nvPr/>
        </p:nvSpPr>
        <p:spPr>
          <a:xfrm>
            <a:off x="9171432" y="2596896"/>
            <a:ext cx="2505456" cy="256032"/>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Condition / escalation</a:t>
            </a:r>
            <a:endParaRPr lang="en-US" sz="800" dirty="0"/>
          </a:p>
        </p:txBody>
      </p:sp>
      <p:sp>
        <p:nvSpPr>
          <p:cNvPr id="34" name="Shape 32"/>
          <p:cNvSpPr/>
          <p:nvPr/>
        </p:nvSpPr>
        <p:spPr>
          <a:xfrm>
            <a:off x="411480" y="2852928"/>
            <a:ext cx="11338560" cy="278892"/>
          </a:xfrm>
          <a:prstGeom prst="rect">
            <a:avLst/>
          </a:prstGeom>
          <a:solidFill>
            <a:srgbClr val="FFFFFF"/>
          </a:solidFill>
          <a:ln w="6350">
            <a:solidFill>
              <a:srgbClr val="D4DAE2"/>
            </a:solidFill>
            <a:prstDash val="solid"/>
          </a:ln>
        </p:spPr>
      </p:sp>
      <p:sp>
        <p:nvSpPr>
          <p:cNvPr id="35" name="Text 33"/>
          <p:cNvSpPr txBox="1"/>
          <p:nvPr/>
        </p:nvSpPr>
        <p:spPr>
          <a:xfrm>
            <a:off x="484632" y="2852928"/>
            <a:ext cx="356616" cy="278892"/>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1</a:t>
            </a:r>
            <a:endParaRPr lang="en-US" sz="760" dirty="0"/>
          </a:p>
        </p:txBody>
      </p:sp>
      <p:sp>
        <p:nvSpPr>
          <p:cNvPr id="36" name="Text 34"/>
          <p:cNvSpPr txBox="1"/>
          <p:nvPr/>
        </p:nvSpPr>
        <p:spPr>
          <a:xfrm>
            <a:off x="987552" y="2852928"/>
            <a:ext cx="4745736" cy="278892"/>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New Apigee subscription to call services</a:t>
            </a:r>
            <a:endParaRPr lang="en-US" sz="760" dirty="0"/>
          </a:p>
        </p:txBody>
      </p:sp>
      <p:sp>
        <p:nvSpPr>
          <p:cNvPr id="37" name="Text 35"/>
          <p:cNvSpPr txBox="1"/>
          <p:nvPr/>
        </p:nvSpPr>
        <p:spPr>
          <a:xfrm>
            <a:off x="5879592" y="2852928"/>
            <a:ext cx="1956816" cy="278892"/>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D1:0 · no posture or retention change</a:t>
            </a:r>
            <a:endParaRPr lang="en-US" sz="760" dirty="0"/>
          </a:p>
        </p:txBody>
      </p:sp>
      <p:sp>
        <p:nvSpPr>
          <p:cNvPr id="38" name="Shape 36"/>
          <p:cNvSpPr/>
          <p:nvPr/>
        </p:nvSpPr>
        <p:spPr>
          <a:xfrm>
            <a:off x="7946136" y="2884932"/>
            <a:ext cx="1115568" cy="214884"/>
          </a:xfrm>
          <a:prstGeom prst="rect">
            <a:avLst/>
          </a:prstGeom>
          <a:solidFill>
            <a:srgbClr val="E6F2F1"/>
          </a:solidFill>
          <a:ln w="12700">
            <a:solidFill>
              <a:srgbClr val="333333"/>
            </a:solidFill>
            <a:prstDash val="solid"/>
          </a:ln>
        </p:spPr>
      </p:sp>
      <p:sp>
        <p:nvSpPr>
          <p:cNvPr id="39" name="Text 37"/>
          <p:cNvSpPr txBox="1"/>
          <p:nvPr/>
        </p:nvSpPr>
        <p:spPr>
          <a:xfrm>
            <a:off x="7982712" y="2852928"/>
            <a:ext cx="1042416" cy="278892"/>
          </a:xfrm>
          <a:prstGeom prst="rect">
            <a:avLst/>
          </a:prstGeom>
          <a:noFill/>
          <a:ln/>
        </p:spPr>
        <p:txBody>
          <a:bodyPr wrap="square" lIns="0" tIns="0" rIns="0" bIns="0" rtlCol="0" anchor="ctr"/>
          <a:lstStyle/>
          <a:p>
            <a:pPr algn="ctr" indent="0" marL="0">
              <a:buNone/>
            </a:pPr>
            <a:r>
              <a:rPr lang="en-US" sz="760" b="1" dirty="0">
                <a:solidFill>
                  <a:srgbClr val="0B6E6E"/>
                </a:solidFill>
                <a:latin typeface="Calibri" pitchFamily="34" charset="0"/>
                <a:ea typeface="Calibri" pitchFamily="34" charset="-122"/>
                <a:cs typeface="Calibri" pitchFamily="34" charset="-120"/>
              </a:rPr>
              <a:t>Lean</a:t>
            </a:r>
            <a:endParaRPr lang="en-US" sz="760" dirty="0"/>
          </a:p>
        </p:txBody>
      </p:sp>
      <p:sp>
        <p:nvSpPr>
          <p:cNvPr id="40" name="Text 38"/>
          <p:cNvSpPr txBox="1"/>
          <p:nvPr/>
        </p:nvSpPr>
        <p:spPr>
          <a:xfrm>
            <a:off x="9171432" y="2852928"/>
            <a:ext cx="2505456" cy="278892"/>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Escalates if the partner is not yet certified</a:t>
            </a:r>
            <a:endParaRPr lang="en-US" sz="760" dirty="0"/>
          </a:p>
        </p:txBody>
      </p:sp>
      <p:sp>
        <p:nvSpPr>
          <p:cNvPr id="41" name="Shape 39"/>
          <p:cNvSpPr/>
          <p:nvPr/>
        </p:nvSpPr>
        <p:spPr>
          <a:xfrm>
            <a:off x="411480" y="3131820"/>
            <a:ext cx="11338560" cy="278892"/>
          </a:xfrm>
          <a:prstGeom prst="rect">
            <a:avLst/>
          </a:prstGeom>
          <a:solidFill>
            <a:srgbClr val="F4F7FA"/>
          </a:solidFill>
          <a:ln w="6350">
            <a:solidFill>
              <a:srgbClr val="D4DAE2"/>
            </a:solidFill>
            <a:prstDash val="solid"/>
          </a:ln>
        </p:spPr>
      </p:sp>
      <p:sp>
        <p:nvSpPr>
          <p:cNvPr id="42" name="Text 40"/>
          <p:cNvSpPr txBox="1"/>
          <p:nvPr/>
        </p:nvSpPr>
        <p:spPr>
          <a:xfrm>
            <a:off x="484632" y="3131820"/>
            <a:ext cx="356616" cy="278892"/>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9</a:t>
            </a:r>
            <a:endParaRPr lang="en-US" sz="760" dirty="0"/>
          </a:p>
        </p:txBody>
      </p:sp>
      <p:sp>
        <p:nvSpPr>
          <p:cNvPr id="43" name="Text 41"/>
          <p:cNvSpPr txBox="1"/>
          <p:nvPr/>
        </p:nvSpPr>
        <p:spPr>
          <a:xfrm>
            <a:off x="987552" y="3131820"/>
            <a:ext cx="4745736" cy="278892"/>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Existing patterns, new content, same flows</a:t>
            </a:r>
            <a:endParaRPr lang="en-US" sz="760" dirty="0"/>
          </a:p>
        </p:txBody>
      </p:sp>
      <p:sp>
        <p:nvSpPr>
          <p:cNvPr id="44" name="Text 42"/>
          <p:cNvSpPr txBox="1"/>
          <p:nvPr/>
        </p:nvSpPr>
        <p:spPr>
          <a:xfrm>
            <a:off x="5879592" y="3131820"/>
            <a:ext cx="1956816" cy="278892"/>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D1:0 · D2:1</a:t>
            </a:r>
            <a:endParaRPr lang="en-US" sz="760" dirty="0"/>
          </a:p>
        </p:txBody>
      </p:sp>
      <p:sp>
        <p:nvSpPr>
          <p:cNvPr id="45" name="Shape 43"/>
          <p:cNvSpPr/>
          <p:nvPr/>
        </p:nvSpPr>
        <p:spPr>
          <a:xfrm>
            <a:off x="7946136" y="3163824"/>
            <a:ext cx="1115568" cy="214884"/>
          </a:xfrm>
          <a:prstGeom prst="rect">
            <a:avLst/>
          </a:prstGeom>
          <a:solidFill>
            <a:srgbClr val="E6F2F1"/>
          </a:solidFill>
          <a:ln w="12700">
            <a:solidFill>
              <a:srgbClr val="333333"/>
            </a:solidFill>
            <a:prstDash val="solid"/>
          </a:ln>
        </p:spPr>
      </p:sp>
      <p:sp>
        <p:nvSpPr>
          <p:cNvPr id="46" name="Text 44"/>
          <p:cNvSpPr txBox="1"/>
          <p:nvPr/>
        </p:nvSpPr>
        <p:spPr>
          <a:xfrm>
            <a:off x="7982712" y="3131820"/>
            <a:ext cx="1042416" cy="278892"/>
          </a:xfrm>
          <a:prstGeom prst="rect">
            <a:avLst/>
          </a:prstGeom>
          <a:noFill/>
          <a:ln/>
        </p:spPr>
        <p:txBody>
          <a:bodyPr wrap="square" lIns="0" tIns="0" rIns="0" bIns="0" rtlCol="0" anchor="ctr"/>
          <a:lstStyle/>
          <a:p>
            <a:pPr algn="ctr" indent="0" marL="0">
              <a:buNone/>
            </a:pPr>
            <a:r>
              <a:rPr lang="en-US" sz="760" b="1" dirty="0">
                <a:solidFill>
                  <a:srgbClr val="0B6E6E"/>
                </a:solidFill>
                <a:latin typeface="Calibri" pitchFamily="34" charset="0"/>
                <a:ea typeface="Calibri" pitchFamily="34" charset="-122"/>
                <a:cs typeface="Calibri" pitchFamily="34" charset="-120"/>
              </a:rPr>
              <a:t>Lean</a:t>
            </a:r>
            <a:endParaRPr lang="en-US" sz="760" dirty="0"/>
          </a:p>
        </p:txBody>
      </p:sp>
      <p:sp>
        <p:nvSpPr>
          <p:cNvPr id="47" name="Text 45"/>
          <p:cNvSpPr txBox="1"/>
          <p:nvPr/>
        </p:nvSpPr>
        <p:spPr>
          <a:xfrm>
            <a:off x="9171432" y="3131820"/>
            <a:ext cx="2505456" cy="278892"/>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Escalates if a new type has no determination</a:t>
            </a:r>
            <a:endParaRPr lang="en-US" sz="760" dirty="0"/>
          </a:p>
        </p:txBody>
      </p:sp>
      <p:sp>
        <p:nvSpPr>
          <p:cNvPr id="48" name="Shape 46"/>
          <p:cNvSpPr/>
          <p:nvPr/>
        </p:nvSpPr>
        <p:spPr>
          <a:xfrm>
            <a:off x="411480" y="3410712"/>
            <a:ext cx="11338560" cy="278892"/>
          </a:xfrm>
          <a:prstGeom prst="rect">
            <a:avLst/>
          </a:prstGeom>
          <a:solidFill>
            <a:srgbClr val="FFFFFF"/>
          </a:solidFill>
          <a:ln w="6350">
            <a:solidFill>
              <a:srgbClr val="D4DAE2"/>
            </a:solidFill>
            <a:prstDash val="solid"/>
          </a:ln>
        </p:spPr>
      </p:sp>
      <p:sp>
        <p:nvSpPr>
          <p:cNvPr id="49" name="Text 47"/>
          <p:cNvSpPr txBox="1"/>
          <p:nvPr/>
        </p:nvSpPr>
        <p:spPr>
          <a:xfrm>
            <a:off x="484632" y="3410712"/>
            <a:ext cx="356616" cy="278892"/>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5</a:t>
            </a:r>
            <a:endParaRPr lang="en-US" sz="760" dirty="0"/>
          </a:p>
        </p:txBody>
      </p:sp>
      <p:sp>
        <p:nvSpPr>
          <p:cNvPr id="50" name="Text 48"/>
          <p:cNvSpPr txBox="1"/>
          <p:nvPr/>
        </p:nvSpPr>
        <p:spPr>
          <a:xfrm>
            <a:off x="987552" y="3410712"/>
            <a:ext cx="4745736" cy="278892"/>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Move from APIGEE-based to KAFKA-based ingestion</a:t>
            </a:r>
            <a:endParaRPr lang="en-US" sz="760" dirty="0"/>
          </a:p>
        </p:txBody>
      </p:sp>
      <p:sp>
        <p:nvSpPr>
          <p:cNvPr id="51" name="Text 49"/>
          <p:cNvSpPr txBox="1"/>
          <p:nvPr/>
        </p:nvSpPr>
        <p:spPr>
          <a:xfrm>
            <a:off x="5879592" y="3410712"/>
            <a:ext cx="1956816" cy="278892"/>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D1:1 · D6:1</a:t>
            </a:r>
            <a:endParaRPr lang="en-US" sz="760" dirty="0"/>
          </a:p>
        </p:txBody>
      </p:sp>
      <p:sp>
        <p:nvSpPr>
          <p:cNvPr id="52" name="Shape 50"/>
          <p:cNvSpPr/>
          <p:nvPr/>
        </p:nvSpPr>
        <p:spPr>
          <a:xfrm>
            <a:off x="7946136" y="3442716"/>
            <a:ext cx="1115568" cy="214884"/>
          </a:xfrm>
          <a:prstGeom prst="rect">
            <a:avLst/>
          </a:prstGeom>
          <a:solidFill>
            <a:srgbClr val="FAF1DF"/>
          </a:solidFill>
          <a:ln w="12700">
            <a:solidFill>
              <a:srgbClr val="333333"/>
            </a:solidFill>
            <a:prstDash val="solid"/>
          </a:ln>
        </p:spPr>
      </p:sp>
      <p:sp>
        <p:nvSpPr>
          <p:cNvPr id="53" name="Text 51"/>
          <p:cNvSpPr txBox="1"/>
          <p:nvPr/>
        </p:nvSpPr>
        <p:spPr>
          <a:xfrm>
            <a:off x="7982712" y="3410712"/>
            <a:ext cx="1042416" cy="278892"/>
          </a:xfrm>
          <a:prstGeom prst="rect">
            <a:avLst/>
          </a:prstGeom>
          <a:noFill/>
          <a:ln/>
        </p:spPr>
        <p:txBody>
          <a:bodyPr wrap="square" lIns="0" tIns="0" rIns="0" bIns="0" rtlCol="0" anchor="ctr"/>
          <a:lstStyle/>
          <a:p>
            <a:pPr algn="ctr" indent="0" marL="0">
              <a:buNone/>
            </a:pPr>
            <a:r>
              <a:rPr lang="en-US" sz="760" b="1" dirty="0">
                <a:solidFill>
                  <a:srgbClr val="9A6410"/>
                </a:solidFill>
                <a:latin typeface="Calibri" pitchFamily="34" charset="0"/>
                <a:ea typeface="Calibri" pitchFamily="34" charset="-122"/>
                <a:cs typeface="Calibri" pitchFamily="34" charset="-120"/>
              </a:rPr>
              <a:t>Lean+</a:t>
            </a:r>
            <a:endParaRPr lang="en-US" sz="760" dirty="0"/>
          </a:p>
        </p:txBody>
      </p:sp>
      <p:sp>
        <p:nvSpPr>
          <p:cNvPr id="54" name="Text 52"/>
          <p:cNvSpPr txBox="1"/>
          <p:nvPr/>
        </p:nvSpPr>
        <p:spPr>
          <a:xfrm>
            <a:off x="9171432" y="3410712"/>
            <a:ext cx="2505456" cy="278892"/>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Dedicated if reconciliation semantics change</a:t>
            </a:r>
            <a:endParaRPr lang="en-US" sz="760" dirty="0"/>
          </a:p>
        </p:txBody>
      </p:sp>
      <p:sp>
        <p:nvSpPr>
          <p:cNvPr id="55" name="Shape 53"/>
          <p:cNvSpPr/>
          <p:nvPr/>
        </p:nvSpPr>
        <p:spPr>
          <a:xfrm>
            <a:off x="411480" y="3689604"/>
            <a:ext cx="11338560" cy="278892"/>
          </a:xfrm>
          <a:prstGeom prst="rect">
            <a:avLst/>
          </a:prstGeom>
          <a:solidFill>
            <a:srgbClr val="F4F7FA"/>
          </a:solidFill>
          <a:ln w="6350">
            <a:solidFill>
              <a:srgbClr val="D4DAE2"/>
            </a:solidFill>
            <a:prstDash val="solid"/>
          </a:ln>
        </p:spPr>
      </p:sp>
      <p:sp>
        <p:nvSpPr>
          <p:cNvPr id="56" name="Text 54"/>
          <p:cNvSpPr txBox="1"/>
          <p:nvPr/>
        </p:nvSpPr>
        <p:spPr>
          <a:xfrm>
            <a:off x="484632" y="3689604"/>
            <a:ext cx="356616" cy="278892"/>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12</a:t>
            </a:r>
            <a:endParaRPr lang="en-US" sz="760" dirty="0"/>
          </a:p>
        </p:txBody>
      </p:sp>
      <p:sp>
        <p:nvSpPr>
          <p:cNvPr id="57" name="Text 55"/>
          <p:cNvSpPr txBox="1"/>
          <p:nvPr/>
        </p:nvSpPr>
        <p:spPr>
          <a:xfrm>
            <a:off x="987552" y="3689604"/>
            <a:ext cx="4745736" cy="278892"/>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Existing partner and flows — data model update</a:t>
            </a:r>
            <a:endParaRPr lang="en-US" sz="760" dirty="0"/>
          </a:p>
        </p:txBody>
      </p:sp>
      <p:sp>
        <p:nvSpPr>
          <p:cNvPr id="58" name="Text 56"/>
          <p:cNvSpPr txBox="1"/>
          <p:nvPr/>
        </p:nvSpPr>
        <p:spPr>
          <a:xfrm>
            <a:off x="5879592" y="3689604"/>
            <a:ext cx="1956816" cy="278892"/>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D5:1–3</a:t>
            </a:r>
            <a:endParaRPr lang="en-US" sz="760" dirty="0"/>
          </a:p>
        </p:txBody>
      </p:sp>
      <p:sp>
        <p:nvSpPr>
          <p:cNvPr id="59" name="Shape 57"/>
          <p:cNvSpPr/>
          <p:nvPr/>
        </p:nvSpPr>
        <p:spPr>
          <a:xfrm>
            <a:off x="7946136" y="3721608"/>
            <a:ext cx="1115568" cy="214884"/>
          </a:xfrm>
          <a:prstGeom prst="rect">
            <a:avLst/>
          </a:prstGeom>
          <a:solidFill>
            <a:srgbClr val="FAF1DF"/>
          </a:solidFill>
          <a:ln w="12700">
            <a:solidFill>
              <a:srgbClr val="333333"/>
            </a:solidFill>
            <a:prstDash val="solid"/>
          </a:ln>
        </p:spPr>
      </p:sp>
      <p:sp>
        <p:nvSpPr>
          <p:cNvPr id="60" name="Text 58"/>
          <p:cNvSpPr txBox="1"/>
          <p:nvPr/>
        </p:nvSpPr>
        <p:spPr>
          <a:xfrm>
            <a:off x="7982712" y="3689604"/>
            <a:ext cx="1042416" cy="278892"/>
          </a:xfrm>
          <a:prstGeom prst="rect">
            <a:avLst/>
          </a:prstGeom>
          <a:noFill/>
          <a:ln/>
        </p:spPr>
        <p:txBody>
          <a:bodyPr wrap="square" lIns="0" tIns="0" rIns="0" bIns="0" rtlCol="0" anchor="ctr"/>
          <a:lstStyle/>
          <a:p>
            <a:pPr algn="ctr" indent="0" marL="0">
              <a:buNone/>
            </a:pPr>
            <a:r>
              <a:rPr lang="en-US" sz="760" b="1" dirty="0">
                <a:solidFill>
                  <a:srgbClr val="9A6410"/>
                </a:solidFill>
                <a:latin typeface="Calibri" pitchFamily="34" charset="0"/>
                <a:ea typeface="Calibri" pitchFamily="34" charset="-122"/>
                <a:cs typeface="Calibri" pitchFamily="34" charset="-120"/>
              </a:rPr>
              <a:t>Lean+</a:t>
            </a:r>
            <a:endParaRPr lang="en-US" sz="760" dirty="0"/>
          </a:p>
        </p:txBody>
      </p:sp>
      <p:sp>
        <p:nvSpPr>
          <p:cNvPr id="61" name="Text 59"/>
          <p:cNvSpPr txBox="1"/>
          <p:nvPr/>
        </p:nvSpPr>
        <p:spPr>
          <a:xfrm>
            <a:off x="9171432" y="3689604"/>
            <a:ext cx="2505456" cy="278892"/>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Dedicated if historical content affected</a:t>
            </a:r>
            <a:endParaRPr lang="en-US" sz="760" dirty="0"/>
          </a:p>
        </p:txBody>
      </p:sp>
      <p:sp>
        <p:nvSpPr>
          <p:cNvPr id="62" name="Shape 60"/>
          <p:cNvSpPr/>
          <p:nvPr/>
        </p:nvSpPr>
        <p:spPr>
          <a:xfrm>
            <a:off x="411480" y="3968496"/>
            <a:ext cx="11338560" cy="278892"/>
          </a:xfrm>
          <a:prstGeom prst="rect">
            <a:avLst/>
          </a:prstGeom>
          <a:solidFill>
            <a:srgbClr val="FFFFFF"/>
          </a:solidFill>
          <a:ln w="6350">
            <a:solidFill>
              <a:srgbClr val="D4DAE2"/>
            </a:solidFill>
            <a:prstDash val="solid"/>
          </a:ln>
        </p:spPr>
      </p:sp>
      <p:sp>
        <p:nvSpPr>
          <p:cNvPr id="63" name="Text 61"/>
          <p:cNvSpPr txBox="1"/>
          <p:nvPr/>
        </p:nvSpPr>
        <p:spPr>
          <a:xfrm>
            <a:off x="484632" y="3968496"/>
            <a:ext cx="356616" cy="278892"/>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22</a:t>
            </a:r>
            <a:endParaRPr lang="en-US" sz="760" dirty="0"/>
          </a:p>
        </p:txBody>
      </p:sp>
      <p:sp>
        <p:nvSpPr>
          <p:cNvPr id="64" name="Text 62"/>
          <p:cNvSpPr txBox="1"/>
          <p:nvPr/>
        </p:nvSpPr>
        <p:spPr>
          <a:xfrm>
            <a:off x="987552" y="3968496"/>
            <a:ext cx="4745736" cy="278892"/>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New ingestions — untrusted and non-regulated</a:t>
            </a:r>
            <a:endParaRPr lang="en-US" sz="760" dirty="0"/>
          </a:p>
        </p:txBody>
      </p:sp>
      <p:sp>
        <p:nvSpPr>
          <p:cNvPr id="65" name="Text 63"/>
          <p:cNvSpPr txBox="1"/>
          <p:nvPr/>
        </p:nvSpPr>
        <p:spPr>
          <a:xfrm>
            <a:off x="5879592" y="3968496"/>
            <a:ext cx="1956816" cy="278892"/>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D2:2 · D4:2</a:t>
            </a:r>
            <a:endParaRPr lang="en-US" sz="760" dirty="0"/>
          </a:p>
        </p:txBody>
      </p:sp>
      <p:sp>
        <p:nvSpPr>
          <p:cNvPr id="66" name="Shape 64"/>
          <p:cNvSpPr/>
          <p:nvPr/>
        </p:nvSpPr>
        <p:spPr>
          <a:xfrm>
            <a:off x="7946136" y="4000500"/>
            <a:ext cx="1115568" cy="214884"/>
          </a:xfrm>
          <a:prstGeom prst="rect">
            <a:avLst/>
          </a:prstGeom>
          <a:solidFill>
            <a:srgbClr val="FAF1DF"/>
          </a:solidFill>
          <a:ln w="12700">
            <a:solidFill>
              <a:srgbClr val="333333"/>
            </a:solidFill>
            <a:prstDash val="solid"/>
          </a:ln>
        </p:spPr>
      </p:sp>
      <p:sp>
        <p:nvSpPr>
          <p:cNvPr id="67" name="Text 65"/>
          <p:cNvSpPr txBox="1"/>
          <p:nvPr/>
        </p:nvSpPr>
        <p:spPr>
          <a:xfrm>
            <a:off x="7982712" y="3968496"/>
            <a:ext cx="1042416" cy="278892"/>
          </a:xfrm>
          <a:prstGeom prst="rect">
            <a:avLst/>
          </a:prstGeom>
          <a:noFill/>
          <a:ln/>
        </p:spPr>
        <p:txBody>
          <a:bodyPr wrap="square" lIns="0" tIns="0" rIns="0" bIns="0" rtlCol="0" anchor="ctr"/>
          <a:lstStyle/>
          <a:p>
            <a:pPr algn="ctr" indent="0" marL="0">
              <a:buNone/>
            </a:pPr>
            <a:r>
              <a:rPr lang="en-US" sz="760" b="1" dirty="0">
                <a:solidFill>
                  <a:srgbClr val="9A6410"/>
                </a:solidFill>
                <a:latin typeface="Calibri" pitchFamily="34" charset="0"/>
                <a:ea typeface="Calibri" pitchFamily="34" charset="-122"/>
                <a:cs typeface="Calibri" pitchFamily="34" charset="-120"/>
              </a:rPr>
              <a:t>Lean+</a:t>
            </a:r>
            <a:endParaRPr lang="en-US" sz="760" dirty="0"/>
          </a:p>
        </p:txBody>
      </p:sp>
      <p:sp>
        <p:nvSpPr>
          <p:cNvPr id="68" name="Text 66"/>
          <p:cNvSpPr txBox="1"/>
          <p:nvPr/>
        </p:nvSpPr>
        <p:spPr>
          <a:xfrm>
            <a:off x="9171432" y="3968496"/>
            <a:ext cx="2505456" cy="278892"/>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Dedicated if DKE coverage is thin</a:t>
            </a:r>
            <a:endParaRPr lang="en-US" sz="760" dirty="0"/>
          </a:p>
        </p:txBody>
      </p:sp>
      <p:sp>
        <p:nvSpPr>
          <p:cNvPr id="69" name="Shape 67"/>
          <p:cNvSpPr/>
          <p:nvPr/>
        </p:nvSpPr>
        <p:spPr>
          <a:xfrm>
            <a:off x="411480" y="4247388"/>
            <a:ext cx="11338560" cy="278892"/>
          </a:xfrm>
          <a:prstGeom prst="rect">
            <a:avLst/>
          </a:prstGeom>
          <a:solidFill>
            <a:srgbClr val="F4F7FA"/>
          </a:solidFill>
          <a:ln w="6350">
            <a:solidFill>
              <a:srgbClr val="D4DAE2"/>
            </a:solidFill>
            <a:prstDash val="solid"/>
          </a:ln>
        </p:spPr>
      </p:sp>
      <p:sp>
        <p:nvSpPr>
          <p:cNvPr id="70" name="Text 68"/>
          <p:cNvSpPr txBox="1"/>
          <p:nvPr/>
        </p:nvSpPr>
        <p:spPr>
          <a:xfrm>
            <a:off x="484632" y="4247388"/>
            <a:ext cx="356616" cy="278892"/>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14</a:t>
            </a:r>
            <a:endParaRPr lang="en-US" sz="760" dirty="0"/>
          </a:p>
        </p:txBody>
      </p:sp>
      <p:sp>
        <p:nvSpPr>
          <p:cNvPr id="71" name="Text 69"/>
          <p:cNvSpPr txBox="1"/>
          <p:nvPr/>
        </p:nvSpPr>
        <p:spPr>
          <a:xfrm>
            <a:off x="987552" y="4247388"/>
            <a:ext cx="4745736" cy="278892"/>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Untrusted content: legacy KOFAX to iDocs</a:t>
            </a:r>
            <a:endParaRPr lang="en-US" sz="760" dirty="0"/>
          </a:p>
        </p:txBody>
      </p:sp>
      <p:sp>
        <p:nvSpPr>
          <p:cNvPr id="72" name="Text 70"/>
          <p:cNvSpPr txBox="1"/>
          <p:nvPr/>
        </p:nvSpPr>
        <p:spPr>
          <a:xfrm>
            <a:off x="5879592" y="4247388"/>
            <a:ext cx="1956816" cy="278892"/>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D4:3 · D2:2</a:t>
            </a:r>
            <a:endParaRPr lang="en-US" sz="760" dirty="0"/>
          </a:p>
        </p:txBody>
      </p:sp>
      <p:sp>
        <p:nvSpPr>
          <p:cNvPr id="73" name="Shape 71"/>
          <p:cNvSpPr/>
          <p:nvPr/>
        </p:nvSpPr>
        <p:spPr>
          <a:xfrm>
            <a:off x="7946136" y="4279392"/>
            <a:ext cx="1115568" cy="214884"/>
          </a:xfrm>
          <a:prstGeom prst="rect">
            <a:avLst/>
          </a:prstGeom>
          <a:solidFill>
            <a:srgbClr val="E8EDF4"/>
          </a:solidFill>
          <a:ln w="12700">
            <a:solidFill>
              <a:srgbClr val="333333"/>
            </a:solidFill>
            <a:prstDash val="solid"/>
          </a:ln>
        </p:spPr>
      </p:sp>
      <p:sp>
        <p:nvSpPr>
          <p:cNvPr id="74" name="Text 72"/>
          <p:cNvSpPr txBox="1"/>
          <p:nvPr/>
        </p:nvSpPr>
        <p:spPr>
          <a:xfrm>
            <a:off x="7982712" y="4247388"/>
            <a:ext cx="1042416" cy="278892"/>
          </a:xfrm>
          <a:prstGeom prst="rect">
            <a:avLst/>
          </a:prstGeom>
          <a:noFill/>
          <a:ln/>
        </p:spPr>
        <p:txBody>
          <a:bodyPr wrap="square" lIns="0" tIns="0" rIns="0" bIns="0" rtlCol="0" anchor="ctr"/>
          <a:lstStyle/>
          <a:p>
            <a:pPr algn="ctr" indent="0" marL="0">
              <a:buNone/>
            </a:pPr>
            <a:r>
              <a:rPr lang="en-US" sz="760" b="1" dirty="0">
                <a:solidFill>
                  <a:srgbClr val="15304F"/>
                </a:solidFill>
                <a:latin typeface="Calibri" pitchFamily="34" charset="0"/>
                <a:ea typeface="Calibri" pitchFamily="34" charset="-122"/>
                <a:cs typeface="Calibri" pitchFamily="34" charset="-120"/>
              </a:rPr>
              <a:t>Dedicated</a:t>
            </a:r>
            <a:endParaRPr lang="en-US" sz="760" dirty="0"/>
          </a:p>
        </p:txBody>
      </p:sp>
      <p:sp>
        <p:nvSpPr>
          <p:cNvPr id="75" name="Text 73"/>
          <p:cNvSpPr txBox="1"/>
          <p:nvPr/>
        </p:nvSpPr>
        <p:spPr>
          <a:xfrm>
            <a:off x="9171432" y="4247388"/>
            <a:ext cx="2505456" cy="278892"/>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DKE coverage assessed before scoping</a:t>
            </a:r>
            <a:endParaRPr lang="en-US" sz="760" dirty="0"/>
          </a:p>
        </p:txBody>
      </p:sp>
      <p:sp>
        <p:nvSpPr>
          <p:cNvPr id="76" name="Shape 74"/>
          <p:cNvSpPr/>
          <p:nvPr/>
        </p:nvSpPr>
        <p:spPr>
          <a:xfrm>
            <a:off x="411480" y="4526280"/>
            <a:ext cx="11338560" cy="278892"/>
          </a:xfrm>
          <a:prstGeom prst="rect">
            <a:avLst/>
          </a:prstGeom>
          <a:solidFill>
            <a:srgbClr val="FFFFFF"/>
          </a:solidFill>
          <a:ln w="6350">
            <a:solidFill>
              <a:srgbClr val="D4DAE2"/>
            </a:solidFill>
            <a:prstDash val="solid"/>
          </a:ln>
        </p:spPr>
      </p:sp>
      <p:sp>
        <p:nvSpPr>
          <p:cNvPr id="77" name="Text 75"/>
          <p:cNvSpPr txBox="1"/>
          <p:nvPr/>
        </p:nvSpPr>
        <p:spPr>
          <a:xfrm>
            <a:off x="484632" y="4526280"/>
            <a:ext cx="356616" cy="278892"/>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19</a:t>
            </a:r>
            <a:endParaRPr lang="en-US" sz="760" dirty="0"/>
          </a:p>
        </p:txBody>
      </p:sp>
      <p:sp>
        <p:nvSpPr>
          <p:cNvPr id="78" name="Text 76"/>
          <p:cNvSpPr txBox="1"/>
          <p:nvPr/>
        </p:nvSpPr>
        <p:spPr>
          <a:xfrm>
            <a:off x="987552" y="4526280"/>
            <a:ext cx="4745736" cy="278892"/>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New ingestions — trusted and regulated</a:t>
            </a:r>
            <a:endParaRPr lang="en-US" sz="760" dirty="0"/>
          </a:p>
        </p:txBody>
      </p:sp>
      <p:sp>
        <p:nvSpPr>
          <p:cNvPr id="79" name="Text 77"/>
          <p:cNvSpPr txBox="1"/>
          <p:nvPr/>
        </p:nvSpPr>
        <p:spPr>
          <a:xfrm>
            <a:off x="5879592" y="4526280"/>
            <a:ext cx="1956816" cy="278892"/>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D3:3</a:t>
            </a:r>
            <a:endParaRPr lang="en-US" sz="760" dirty="0"/>
          </a:p>
        </p:txBody>
      </p:sp>
      <p:sp>
        <p:nvSpPr>
          <p:cNvPr id="80" name="Shape 78"/>
          <p:cNvSpPr/>
          <p:nvPr/>
        </p:nvSpPr>
        <p:spPr>
          <a:xfrm>
            <a:off x="7946136" y="4558284"/>
            <a:ext cx="1115568" cy="214884"/>
          </a:xfrm>
          <a:prstGeom prst="rect">
            <a:avLst/>
          </a:prstGeom>
          <a:solidFill>
            <a:srgbClr val="E8EDF4"/>
          </a:solidFill>
          <a:ln w="12700">
            <a:solidFill>
              <a:srgbClr val="333333"/>
            </a:solidFill>
            <a:prstDash val="solid"/>
          </a:ln>
        </p:spPr>
      </p:sp>
      <p:sp>
        <p:nvSpPr>
          <p:cNvPr id="81" name="Text 79"/>
          <p:cNvSpPr txBox="1"/>
          <p:nvPr/>
        </p:nvSpPr>
        <p:spPr>
          <a:xfrm>
            <a:off x="7982712" y="4526280"/>
            <a:ext cx="1042416" cy="278892"/>
          </a:xfrm>
          <a:prstGeom prst="rect">
            <a:avLst/>
          </a:prstGeom>
          <a:noFill/>
          <a:ln/>
        </p:spPr>
        <p:txBody>
          <a:bodyPr wrap="square" lIns="0" tIns="0" rIns="0" bIns="0" rtlCol="0" anchor="ctr"/>
          <a:lstStyle/>
          <a:p>
            <a:pPr algn="ctr" indent="0" marL="0">
              <a:buNone/>
            </a:pPr>
            <a:r>
              <a:rPr lang="en-US" sz="760" b="1" dirty="0">
                <a:solidFill>
                  <a:srgbClr val="15304F"/>
                </a:solidFill>
                <a:latin typeface="Calibri" pitchFamily="34" charset="0"/>
                <a:ea typeface="Calibri" pitchFamily="34" charset="-122"/>
                <a:cs typeface="Calibri" pitchFamily="34" charset="-120"/>
              </a:rPr>
              <a:t>Dedicated</a:t>
            </a:r>
            <a:endParaRPr lang="en-US" sz="760" dirty="0"/>
          </a:p>
        </p:txBody>
      </p:sp>
      <p:sp>
        <p:nvSpPr>
          <p:cNvPr id="82" name="Text 80"/>
          <p:cNvSpPr txBox="1"/>
          <p:nvPr/>
        </p:nvSpPr>
        <p:spPr>
          <a:xfrm>
            <a:off x="9171432" y="4526280"/>
            <a:ext cx="2505456" cy="278892"/>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Hard override — new regulated retention</a:t>
            </a:r>
            <a:endParaRPr lang="en-US" sz="760" dirty="0"/>
          </a:p>
        </p:txBody>
      </p:sp>
      <p:sp>
        <p:nvSpPr>
          <p:cNvPr id="83" name="Shape 81"/>
          <p:cNvSpPr/>
          <p:nvPr/>
        </p:nvSpPr>
        <p:spPr>
          <a:xfrm>
            <a:off x="411480" y="4805172"/>
            <a:ext cx="11338560" cy="278892"/>
          </a:xfrm>
          <a:prstGeom prst="rect">
            <a:avLst/>
          </a:prstGeom>
          <a:solidFill>
            <a:srgbClr val="F4F7FA"/>
          </a:solidFill>
          <a:ln w="6350">
            <a:solidFill>
              <a:srgbClr val="D4DAE2"/>
            </a:solidFill>
            <a:prstDash val="solid"/>
          </a:ln>
        </p:spPr>
      </p:sp>
      <p:sp>
        <p:nvSpPr>
          <p:cNvPr id="84" name="Text 82"/>
          <p:cNvSpPr txBox="1"/>
          <p:nvPr/>
        </p:nvSpPr>
        <p:spPr>
          <a:xfrm>
            <a:off x="484632" y="4805172"/>
            <a:ext cx="356616" cy="278892"/>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25</a:t>
            </a:r>
            <a:endParaRPr lang="en-US" sz="760" dirty="0"/>
          </a:p>
        </p:txBody>
      </p:sp>
      <p:sp>
        <p:nvSpPr>
          <p:cNvPr id="85" name="Text 83"/>
          <p:cNvSpPr txBox="1"/>
          <p:nvPr/>
        </p:nvSpPr>
        <p:spPr>
          <a:xfrm>
            <a:off x="987552" y="4805172"/>
            <a:ext cx="4745736" cy="278892"/>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New ingestions spanning multiple business units</a:t>
            </a:r>
            <a:endParaRPr lang="en-US" sz="760" dirty="0"/>
          </a:p>
        </p:txBody>
      </p:sp>
      <p:sp>
        <p:nvSpPr>
          <p:cNvPr id="86" name="Text 84"/>
          <p:cNvSpPr txBox="1"/>
          <p:nvPr/>
        </p:nvSpPr>
        <p:spPr>
          <a:xfrm>
            <a:off x="5879592" y="4805172"/>
            <a:ext cx="1956816" cy="278892"/>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D7:2</a:t>
            </a:r>
            <a:endParaRPr lang="en-US" sz="760" dirty="0"/>
          </a:p>
        </p:txBody>
      </p:sp>
      <p:sp>
        <p:nvSpPr>
          <p:cNvPr id="87" name="Shape 85"/>
          <p:cNvSpPr/>
          <p:nvPr/>
        </p:nvSpPr>
        <p:spPr>
          <a:xfrm>
            <a:off x="7946136" y="4837176"/>
            <a:ext cx="1115568" cy="214884"/>
          </a:xfrm>
          <a:prstGeom prst="rect">
            <a:avLst/>
          </a:prstGeom>
          <a:solidFill>
            <a:srgbClr val="E8EDF4"/>
          </a:solidFill>
          <a:ln w="12700">
            <a:solidFill>
              <a:srgbClr val="333333"/>
            </a:solidFill>
            <a:prstDash val="solid"/>
          </a:ln>
        </p:spPr>
      </p:sp>
      <p:sp>
        <p:nvSpPr>
          <p:cNvPr id="88" name="Text 86"/>
          <p:cNvSpPr txBox="1"/>
          <p:nvPr/>
        </p:nvSpPr>
        <p:spPr>
          <a:xfrm>
            <a:off x="7982712" y="4805172"/>
            <a:ext cx="1042416" cy="278892"/>
          </a:xfrm>
          <a:prstGeom prst="rect">
            <a:avLst/>
          </a:prstGeom>
          <a:noFill/>
          <a:ln/>
        </p:spPr>
        <p:txBody>
          <a:bodyPr wrap="square" lIns="0" tIns="0" rIns="0" bIns="0" rtlCol="0" anchor="ctr"/>
          <a:lstStyle/>
          <a:p>
            <a:pPr algn="ctr" indent="0" marL="0">
              <a:buNone/>
            </a:pPr>
            <a:r>
              <a:rPr lang="en-US" sz="760" b="1" dirty="0">
                <a:solidFill>
                  <a:srgbClr val="15304F"/>
                </a:solidFill>
                <a:latin typeface="Calibri" pitchFamily="34" charset="0"/>
                <a:ea typeface="Calibri" pitchFamily="34" charset="-122"/>
                <a:cs typeface="Calibri" pitchFamily="34" charset="-120"/>
              </a:rPr>
              <a:t>Dedicated</a:t>
            </a:r>
            <a:endParaRPr lang="en-US" sz="760" dirty="0"/>
          </a:p>
        </p:txBody>
      </p:sp>
      <p:sp>
        <p:nvSpPr>
          <p:cNvPr id="89" name="Text 87"/>
          <p:cNvSpPr txBox="1"/>
          <p:nvPr/>
        </p:nvSpPr>
        <p:spPr>
          <a:xfrm>
            <a:off x="9171432" y="4805172"/>
            <a:ext cx="2505456" cy="278892"/>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Hard override — multi-LOB</a:t>
            </a:r>
            <a:endParaRPr lang="en-US" sz="760" dirty="0"/>
          </a:p>
        </p:txBody>
      </p:sp>
      <p:sp>
        <p:nvSpPr>
          <p:cNvPr id="90" name="Shape 88"/>
          <p:cNvSpPr/>
          <p:nvPr/>
        </p:nvSpPr>
        <p:spPr>
          <a:xfrm>
            <a:off x="411480" y="5084064"/>
            <a:ext cx="11338560" cy="278892"/>
          </a:xfrm>
          <a:prstGeom prst="rect">
            <a:avLst/>
          </a:prstGeom>
          <a:solidFill>
            <a:srgbClr val="FFFFFF"/>
          </a:solidFill>
          <a:ln w="6350">
            <a:solidFill>
              <a:srgbClr val="D4DAE2"/>
            </a:solidFill>
            <a:prstDash val="solid"/>
          </a:ln>
        </p:spPr>
      </p:sp>
      <p:sp>
        <p:nvSpPr>
          <p:cNvPr id="91" name="Text 89"/>
          <p:cNvSpPr txBox="1"/>
          <p:nvPr/>
        </p:nvSpPr>
        <p:spPr>
          <a:xfrm>
            <a:off x="484632" y="5084064"/>
            <a:ext cx="356616" cy="278892"/>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34</a:t>
            </a:r>
            <a:endParaRPr lang="en-US" sz="760" dirty="0"/>
          </a:p>
        </p:txBody>
      </p:sp>
      <p:sp>
        <p:nvSpPr>
          <p:cNvPr id="92" name="Text 90"/>
          <p:cNvSpPr txBox="1"/>
          <p:nvPr/>
        </p:nvSpPr>
        <p:spPr>
          <a:xfrm>
            <a:off x="987552" y="5084064"/>
            <a:ext cx="4745736" cy="278892"/>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Making non-compliant systems or documents compliant</a:t>
            </a:r>
            <a:endParaRPr lang="en-US" sz="760" dirty="0"/>
          </a:p>
        </p:txBody>
      </p:sp>
      <p:sp>
        <p:nvSpPr>
          <p:cNvPr id="93" name="Text 91"/>
          <p:cNvSpPr txBox="1"/>
          <p:nvPr/>
        </p:nvSpPr>
        <p:spPr>
          <a:xfrm>
            <a:off x="5879592" y="5084064"/>
            <a:ext cx="1956816" cy="278892"/>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D2:3 · D5:3</a:t>
            </a:r>
            <a:endParaRPr lang="en-US" sz="760" dirty="0"/>
          </a:p>
        </p:txBody>
      </p:sp>
      <p:sp>
        <p:nvSpPr>
          <p:cNvPr id="94" name="Shape 92"/>
          <p:cNvSpPr/>
          <p:nvPr/>
        </p:nvSpPr>
        <p:spPr>
          <a:xfrm>
            <a:off x="7946136" y="5116068"/>
            <a:ext cx="1115568" cy="214884"/>
          </a:xfrm>
          <a:prstGeom prst="rect">
            <a:avLst/>
          </a:prstGeom>
          <a:solidFill>
            <a:srgbClr val="E8EDF4"/>
          </a:solidFill>
          <a:ln w="12700">
            <a:solidFill>
              <a:srgbClr val="333333"/>
            </a:solidFill>
            <a:prstDash val="solid"/>
          </a:ln>
        </p:spPr>
      </p:sp>
      <p:sp>
        <p:nvSpPr>
          <p:cNvPr id="95" name="Text 93"/>
          <p:cNvSpPr txBox="1"/>
          <p:nvPr/>
        </p:nvSpPr>
        <p:spPr>
          <a:xfrm>
            <a:off x="7982712" y="5084064"/>
            <a:ext cx="1042416" cy="278892"/>
          </a:xfrm>
          <a:prstGeom prst="rect">
            <a:avLst/>
          </a:prstGeom>
          <a:noFill/>
          <a:ln/>
        </p:spPr>
        <p:txBody>
          <a:bodyPr wrap="square" lIns="0" tIns="0" rIns="0" bIns="0" rtlCol="0" anchor="ctr"/>
          <a:lstStyle/>
          <a:p>
            <a:pPr algn="ctr" indent="0" marL="0">
              <a:buNone/>
            </a:pPr>
            <a:r>
              <a:rPr lang="en-US" sz="760" b="1" dirty="0">
                <a:solidFill>
                  <a:srgbClr val="15304F"/>
                </a:solidFill>
                <a:latin typeface="Calibri" pitchFamily="34" charset="0"/>
                <a:ea typeface="Calibri" pitchFamily="34" charset="-122"/>
                <a:cs typeface="Calibri" pitchFamily="34" charset="-120"/>
              </a:rPr>
              <a:t>Dedicated</a:t>
            </a:r>
            <a:endParaRPr lang="en-US" sz="760" dirty="0"/>
          </a:p>
        </p:txBody>
      </p:sp>
      <p:sp>
        <p:nvSpPr>
          <p:cNvPr id="96" name="Text 94"/>
          <p:cNvSpPr txBox="1"/>
          <p:nvPr/>
        </p:nvSpPr>
        <p:spPr>
          <a:xfrm>
            <a:off x="9171432" y="5084064"/>
            <a:ext cx="2505456" cy="278892"/>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Hard override — remediation of live content</a:t>
            </a:r>
            <a:endParaRPr lang="en-US" sz="760" dirty="0"/>
          </a:p>
        </p:txBody>
      </p:sp>
      <p:sp>
        <p:nvSpPr>
          <p:cNvPr id="97" name="Shape 95"/>
          <p:cNvSpPr/>
          <p:nvPr/>
        </p:nvSpPr>
        <p:spPr>
          <a:xfrm>
            <a:off x="411480" y="5362956"/>
            <a:ext cx="11338560" cy="278892"/>
          </a:xfrm>
          <a:prstGeom prst="rect">
            <a:avLst/>
          </a:prstGeom>
          <a:solidFill>
            <a:srgbClr val="F4F7FA"/>
          </a:solidFill>
          <a:ln w="6350">
            <a:solidFill>
              <a:srgbClr val="D4DAE2"/>
            </a:solidFill>
            <a:prstDash val="solid"/>
          </a:ln>
        </p:spPr>
      </p:sp>
      <p:sp>
        <p:nvSpPr>
          <p:cNvPr id="98" name="Text 96"/>
          <p:cNvSpPr txBox="1"/>
          <p:nvPr/>
        </p:nvSpPr>
        <p:spPr>
          <a:xfrm>
            <a:off x="484632" y="5362956"/>
            <a:ext cx="356616" cy="278892"/>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30</a:t>
            </a:r>
            <a:endParaRPr lang="en-US" sz="760" dirty="0"/>
          </a:p>
        </p:txBody>
      </p:sp>
      <p:sp>
        <p:nvSpPr>
          <p:cNvPr id="99" name="Text 97"/>
          <p:cNvSpPr txBox="1"/>
          <p:nvPr/>
        </p:nvSpPr>
        <p:spPr>
          <a:xfrm>
            <a:off x="987552" y="5362956"/>
            <a:ext cx="4745736" cy="278892"/>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RM remediation</a:t>
            </a:r>
            <a:endParaRPr lang="en-US" sz="760" dirty="0"/>
          </a:p>
        </p:txBody>
      </p:sp>
      <p:sp>
        <p:nvSpPr>
          <p:cNvPr id="100" name="Text 98"/>
          <p:cNvSpPr txBox="1"/>
          <p:nvPr/>
        </p:nvSpPr>
        <p:spPr>
          <a:xfrm>
            <a:off x="5879592" y="5362956"/>
            <a:ext cx="1956816" cy="278892"/>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D5:3</a:t>
            </a:r>
            <a:endParaRPr lang="en-US" sz="760" dirty="0"/>
          </a:p>
        </p:txBody>
      </p:sp>
      <p:sp>
        <p:nvSpPr>
          <p:cNvPr id="101" name="Shape 99"/>
          <p:cNvSpPr/>
          <p:nvPr/>
        </p:nvSpPr>
        <p:spPr>
          <a:xfrm>
            <a:off x="7946136" y="5394960"/>
            <a:ext cx="1115568" cy="214884"/>
          </a:xfrm>
          <a:prstGeom prst="rect">
            <a:avLst/>
          </a:prstGeom>
          <a:solidFill>
            <a:srgbClr val="F1EEF6"/>
          </a:solidFill>
          <a:ln w="12700">
            <a:solidFill>
              <a:srgbClr val="333333"/>
            </a:solidFill>
            <a:prstDash val="solid"/>
          </a:ln>
        </p:spPr>
      </p:sp>
      <p:sp>
        <p:nvSpPr>
          <p:cNvPr id="102" name="Text 100"/>
          <p:cNvSpPr txBox="1"/>
          <p:nvPr/>
        </p:nvSpPr>
        <p:spPr>
          <a:xfrm>
            <a:off x="7982712" y="5362956"/>
            <a:ext cx="1042416" cy="278892"/>
          </a:xfrm>
          <a:prstGeom prst="rect">
            <a:avLst/>
          </a:prstGeom>
          <a:noFill/>
          <a:ln/>
        </p:spPr>
        <p:txBody>
          <a:bodyPr wrap="square" lIns="0" tIns="0" rIns="0" bIns="0" rtlCol="0" anchor="ctr"/>
          <a:lstStyle/>
          <a:p>
            <a:pPr algn="ctr" indent="0" marL="0">
              <a:buNone/>
            </a:pPr>
            <a:r>
              <a:rPr lang="en-US" sz="760" b="1" dirty="0">
                <a:solidFill>
                  <a:srgbClr val="5B4A72"/>
                </a:solidFill>
                <a:latin typeface="Calibri" pitchFamily="34" charset="0"/>
                <a:ea typeface="Calibri" pitchFamily="34" charset="-122"/>
                <a:cs typeface="Calibri" pitchFamily="34" charset="-120"/>
              </a:rPr>
              <a:t>Factory</a:t>
            </a:r>
            <a:endParaRPr lang="en-US" sz="760" dirty="0"/>
          </a:p>
        </p:txBody>
      </p:sp>
      <p:sp>
        <p:nvSpPr>
          <p:cNvPr id="103" name="Text 101"/>
          <p:cNvSpPr txBox="1"/>
          <p:nvPr/>
        </p:nvSpPr>
        <p:spPr>
          <a:xfrm>
            <a:off x="9171432" y="5362956"/>
            <a:ext cx="2505456" cy="278892"/>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Dedicated if confined to one partner, novel scope</a:t>
            </a:r>
            <a:endParaRPr lang="en-US" sz="760" dirty="0"/>
          </a:p>
        </p:txBody>
      </p:sp>
      <p:sp>
        <p:nvSpPr>
          <p:cNvPr id="104" name="Shape 102"/>
          <p:cNvSpPr/>
          <p:nvPr/>
        </p:nvSpPr>
        <p:spPr>
          <a:xfrm>
            <a:off x="411480" y="5833872"/>
            <a:ext cx="11338560" cy="749808"/>
          </a:xfrm>
          <a:prstGeom prst="roundRect">
            <a:avLst>
              <a:gd name="adj" fmla="val 6098"/>
            </a:avLst>
          </a:prstGeom>
          <a:solidFill>
            <a:srgbClr val="E6F2F1"/>
          </a:solidFill>
          <a:ln w="12700">
            <a:solidFill>
              <a:srgbClr val="0B6E6E"/>
            </a:solidFill>
            <a:prstDash val="solid"/>
          </a:ln>
        </p:spPr>
      </p:sp>
      <p:sp>
        <p:nvSpPr>
          <p:cNvPr id="105" name="Text 103"/>
          <p:cNvSpPr txBox="1"/>
          <p:nvPr/>
        </p:nvSpPr>
        <p:spPr>
          <a:xfrm>
            <a:off x="557784" y="5916168"/>
            <a:ext cx="11045952" cy="182880"/>
          </a:xfrm>
          <a:prstGeom prst="rect">
            <a:avLst/>
          </a:prstGeom>
          <a:noFill/>
          <a:ln/>
        </p:spPr>
        <p:txBody>
          <a:bodyPr wrap="square" lIns="0" tIns="0" rIns="0" bIns="0" rtlCol="0" anchor="ctr"/>
          <a:lstStyle/>
          <a:p>
            <a:pPr indent="0" marL="0">
              <a:buNone/>
            </a:pPr>
            <a:r>
              <a:rPr lang="en-US" sz="760" b="1" spc="100" kern="0" dirty="0">
                <a:solidFill>
                  <a:srgbClr val="0B6E6E"/>
                </a:solidFill>
                <a:latin typeface="Calibri" pitchFamily="34" charset="0"/>
                <a:ea typeface="Calibri" pitchFamily="34" charset="-122"/>
                <a:cs typeface="Calibri" pitchFamily="34" charset="-120"/>
              </a:rPr>
              <a:t>READ THE TRAJECTORY, NOT THE ENTRY FIGURE</a:t>
            </a:r>
            <a:endParaRPr lang="en-US" sz="760" dirty="0"/>
          </a:p>
        </p:txBody>
      </p:sp>
      <p:sp>
        <p:nvSpPr>
          <p:cNvPr id="106" name="Text 104"/>
          <p:cNvSpPr txBox="1"/>
          <p:nvPr/>
        </p:nvSpPr>
        <p:spPr>
          <a:xfrm>
            <a:off x="557784" y="6108192"/>
            <a:ext cx="11045952" cy="384048"/>
          </a:xfrm>
          <a:prstGeom prst="rect">
            <a:avLst/>
          </a:prstGeom>
          <a:noFill/>
          <a:ln/>
        </p:spPr>
        <p:txBody>
          <a:bodyPr wrap="square" lIns="0" tIns="0" rIns="0" bIns="0" rtlCol="0" anchor="t"/>
          <a:lstStyle/>
          <a:p>
            <a:pPr indent="0" marL="0">
              <a:lnSpc>
                <a:spcPts val="1100"/>
              </a:lnSpc>
              <a:buNone/>
            </a:pPr>
            <a:r>
              <a:rPr lang="en-US" sz="900" dirty="0">
                <a:solidFill>
                  <a:srgbClr val="1B2432"/>
                </a:solidFill>
                <a:latin typeface="Calibri" pitchFamily="34" charset="0"/>
                <a:ea typeface="Calibri" pitchFamily="34" charset="-122"/>
                <a:cs typeface="Calibri" pitchFamily="34" charset="-120"/>
              </a:rPr>
              <a:t>Nine of the fourteen Lean+ scenarios move to Lean once their patterns reach M3. Four of the fourteen Dedicated scenarios move to Lean+ once delivered twice and harvested. Nothing migrates on its own — every leftward move is a pattern that a pod built and platform engineering hardened. This table is therefore also the platform backlog, prioritised: build first the patterns serving the highest-frequency scenarios currently sitting one tier too heavy.</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274320"/>
            <a:ext cx="274320" cy="274320"/>
          </a:xfrm>
          <a:prstGeom prst="rect">
            <a:avLst/>
          </a:prstGeom>
          <a:solidFill>
            <a:srgbClr val="15304F"/>
          </a:solidFill>
          <a:ln w="12700">
            <a:solidFill>
              <a:srgbClr val="333333"/>
            </a:solidFill>
            <a:prstDash val="solid"/>
          </a:ln>
        </p:spPr>
      </p:sp>
      <p:sp>
        <p:nvSpPr>
          <p:cNvPr id="3" name="Text 1"/>
          <p:cNvSpPr txBox="1"/>
          <p:nvPr/>
        </p:nvSpPr>
        <p:spPr>
          <a:xfrm>
            <a:off x="411480" y="2743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4" name="Text 2"/>
          <p:cNvSpPr txBox="1"/>
          <p:nvPr/>
        </p:nvSpPr>
        <p:spPr>
          <a:xfrm>
            <a:off x="795528" y="219456"/>
            <a:ext cx="8778240" cy="384048"/>
          </a:xfrm>
          <a:prstGeom prst="rect">
            <a:avLst/>
          </a:prstGeom>
          <a:noFill/>
          <a:ln/>
        </p:spPr>
        <p:txBody>
          <a:bodyPr wrap="square" lIns="0" tIns="0" rIns="0" bIns="0" rtlCol="0" anchor="ctr"/>
          <a:lstStyle/>
          <a:p>
            <a:pPr indent="0" marL="0">
              <a:buNone/>
            </a:pPr>
            <a:r>
              <a:rPr lang="en-US" sz="2400" b="1" dirty="0">
                <a:solidFill>
                  <a:srgbClr val="1B2432"/>
                </a:solidFill>
                <a:latin typeface="Cambria" pitchFamily="34" charset="0"/>
                <a:ea typeface="Cambria" pitchFamily="34" charset="-122"/>
                <a:cs typeface="Cambria" pitchFamily="34" charset="-120"/>
              </a:rPr>
              <a:t>Drift, escalation and certification</a:t>
            </a:r>
            <a:endParaRPr lang="en-US" sz="2400" dirty="0"/>
          </a:p>
        </p:txBody>
      </p:sp>
      <p:sp>
        <p:nvSpPr>
          <p:cNvPr id="5" name="Text 3"/>
          <p:cNvSpPr txBox="1"/>
          <p:nvPr/>
        </p:nvSpPr>
        <p:spPr>
          <a:xfrm>
            <a:off x="795528" y="621792"/>
            <a:ext cx="9326880" cy="237744"/>
          </a:xfrm>
          <a:prstGeom prst="rect">
            <a:avLst/>
          </a:prstGeom>
          <a:noFill/>
          <a:ln/>
        </p:spPr>
        <p:txBody>
          <a:bodyPr wrap="square" lIns="0" tIns="0" rIns="0" bIns="0" rtlCol="0" anchor="ctr"/>
          <a:lstStyle/>
          <a:p>
            <a:pPr indent="0" marL="0">
              <a:buNone/>
            </a:pPr>
            <a:r>
              <a:rPr lang="en-US" sz="1050" dirty="0">
                <a:solidFill>
                  <a:srgbClr val="55606E"/>
                </a:solidFill>
                <a:latin typeface="Calibri" pitchFamily="34" charset="0"/>
                <a:ea typeface="Calibri" pitchFamily="34" charset="-122"/>
                <a:cs typeface="Calibri" pitchFamily="34" charset="-120"/>
              </a:rPr>
              <a:t>Novelty is not always visible at qualification — the model must handle that without a restart</a:t>
            </a:r>
            <a:endParaRPr lang="en-US" sz="1050" dirty="0"/>
          </a:p>
        </p:txBody>
      </p:sp>
      <p:sp>
        <p:nvSpPr>
          <p:cNvPr id="6" name="Text 4"/>
          <p:cNvSpPr txBox="1"/>
          <p:nvPr/>
        </p:nvSpPr>
        <p:spPr>
          <a:xfrm>
            <a:off x="9052560" y="274320"/>
            <a:ext cx="2697480" cy="256032"/>
          </a:xfrm>
          <a:prstGeom prst="rect">
            <a:avLst/>
          </a:prstGeom>
          <a:noFill/>
          <a:ln/>
        </p:spPr>
        <p:txBody>
          <a:bodyPr wrap="square" lIns="0" tIns="0" rIns="0" bIns="0" rtlCol="0" anchor="ctr"/>
          <a:lstStyle/>
          <a:p>
            <a:pPr algn="r" indent="0" marL="0">
              <a:buNone/>
            </a:pPr>
            <a:r>
              <a:rPr lang="en-US" sz="950" b="1" spc="60" kern="0" dirty="0">
                <a:solidFill>
                  <a:srgbClr val="7C8798"/>
                </a:solidFill>
                <a:latin typeface="Calibri" pitchFamily="34" charset="0"/>
                <a:ea typeface="Calibri" pitchFamily="34" charset="-122"/>
                <a:cs typeface="Calibri" pitchFamily="34" charset="-120"/>
              </a:rPr>
              <a:t>Operating model</a:t>
            </a:r>
            <a:endParaRPr lang="en-US" sz="950" dirty="0"/>
          </a:p>
        </p:txBody>
      </p:sp>
      <p:sp>
        <p:nvSpPr>
          <p:cNvPr id="7" name="Shape 5"/>
          <p:cNvSpPr/>
          <p:nvPr/>
        </p:nvSpPr>
        <p:spPr>
          <a:xfrm>
            <a:off x="411480" y="932688"/>
            <a:ext cx="11338560" cy="0"/>
          </a:xfrm>
          <a:prstGeom prst="line">
            <a:avLst/>
          </a:prstGeom>
          <a:noFill/>
          <a:ln w="12700">
            <a:solidFill>
              <a:srgbClr val="D4DAE2"/>
            </a:solidFill>
            <a:prstDash val="solid"/>
          </a:ln>
        </p:spPr>
      </p:sp>
      <p:sp>
        <p:nvSpPr>
          <p:cNvPr id="8" name="Text 6"/>
          <p:cNvSpPr txBox="1"/>
          <p:nvPr/>
        </p:nvSpPr>
        <p:spPr>
          <a:xfrm>
            <a:off x="411480" y="1042416"/>
            <a:ext cx="7315200" cy="182880"/>
          </a:xfrm>
          <a:prstGeom prst="rect">
            <a:avLst/>
          </a:prstGeom>
          <a:noFill/>
          <a:ln/>
        </p:spPr>
        <p:txBody>
          <a:bodyPr wrap="square" lIns="0" tIns="0" rIns="0" bIns="0" rtlCol="0" anchor="ctr"/>
          <a:lstStyle/>
          <a:p>
            <a:pPr indent="0" marL="0">
              <a:buNone/>
            </a:pPr>
            <a:r>
              <a:rPr lang="en-US" sz="760" b="1" spc="110" kern="0" dirty="0">
                <a:solidFill>
                  <a:srgbClr val="1B2432"/>
                </a:solidFill>
                <a:latin typeface="Calibri" pitchFamily="34" charset="0"/>
                <a:ea typeface="Calibri" pitchFamily="34" charset="-122"/>
                <a:cs typeface="Calibri" pitchFamily="34" charset="-120"/>
              </a:rPr>
              <a:t>ESCALATION TRIGGERS — DETECTED AT ANY POINT, RE-TIER AUTOMATICALLY</a:t>
            </a:r>
            <a:endParaRPr lang="en-US" sz="760" dirty="0"/>
          </a:p>
        </p:txBody>
      </p:sp>
      <p:sp>
        <p:nvSpPr>
          <p:cNvPr id="9" name="Shape 7"/>
          <p:cNvSpPr/>
          <p:nvPr/>
        </p:nvSpPr>
        <p:spPr>
          <a:xfrm>
            <a:off x="411480" y="1243584"/>
            <a:ext cx="11338560" cy="256032"/>
          </a:xfrm>
          <a:prstGeom prst="rect">
            <a:avLst/>
          </a:prstGeom>
          <a:solidFill>
            <a:srgbClr val="15304F"/>
          </a:solidFill>
          <a:ln w="6350">
            <a:solidFill>
              <a:srgbClr val="15304F"/>
            </a:solidFill>
            <a:prstDash val="solid"/>
          </a:ln>
        </p:spPr>
      </p:sp>
      <p:sp>
        <p:nvSpPr>
          <p:cNvPr id="10" name="Text 8"/>
          <p:cNvSpPr txBox="1"/>
          <p:nvPr/>
        </p:nvSpPr>
        <p:spPr>
          <a:xfrm>
            <a:off x="484632" y="1243584"/>
            <a:ext cx="4014216" cy="256032"/>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Trigger</a:t>
            </a:r>
            <a:endParaRPr lang="en-US" sz="800" dirty="0"/>
          </a:p>
        </p:txBody>
      </p:sp>
      <p:sp>
        <p:nvSpPr>
          <p:cNvPr id="11" name="Text 9"/>
          <p:cNvSpPr txBox="1"/>
          <p:nvPr/>
        </p:nvSpPr>
        <p:spPr>
          <a:xfrm>
            <a:off x="4645152" y="1243584"/>
            <a:ext cx="1362456" cy="256032"/>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Escalates to</a:t>
            </a:r>
            <a:endParaRPr lang="en-US" sz="800" dirty="0"/>
          </a:p>
        </p:txBody>
      </p:sp>
      <p:sp>
        <p:nvSpPr>
          <p:cNvPr id="12" name="Text 10"/>
          <p:cNvSpPr txBox="1"/>
          <p:nvPr/>
        </p:nvSpPr>
        <p:spPr>
          <a:xfrm>
            <a:off x="6153912" y="1243584"/>
            <a:ext cx="5522976" cy="256032"/>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Why it cannot wait</a:t>
            </a:r>
            <a:endParaRPr lang="en-US" sz="800" dirty="0"/>
          </a:p>
        </p:txBody>
      </p:sp>
      <p:sp>
        <p:nvSpPr>
          <p:cNvPr id="13" name="Shape 11"/>
          <p:cNvSpPr/>
          <p:nvPr/>
        </p:nvSpPr>
        <p:spPr>
          <a:xfrm>
            <a:off x="411480" y="1499616"/>
            <a:ext cx="11338560" cy="297180"/>
          </a:xfrm>
          <a:prstGeom prst="rect">
            <a:avLst/>
          </a:prstGeom>
          <a:solidFill>
            <a:srgbClr val="FFFFFF"/>
          </a:solidFill>
          <a:ln w="6350">
            <a:solidFill>
              <a:srgbClr val="D4DAE2"/>
            </a:solidFill>
            <a:prstDash val="solid"/>
          </a:ln>
        </p:spPr>
      </p:sp>
      <p:sp>
        <p:nvSpPr>
          <p:cNvPr id="14" name="Text 12"/>
          <p:cNvSpPr txBox="1"/>
          <p:nvPr/>
        </p:nvSpPr>
        <p:spPr>
          <a:xfrm>
            <a:off x="484632" y="1499616"/>
            <a:ext cx="4014216" cy="297180"/>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A document type is introduced with no determination</a:t>
            </a:r>
            <a:endParaRPr lang="en-US" sz="760" dirty="0"/>
          </a:p>
        </p:txBody>
      </p:sp>
      <p:sp>
        <p:nvSpPr>
          <p:cNvPr id="15" name="Shape 13"/>
          <p:cNvSpPr/>
          <p:nvPr/>
        </p:nvSpPr>
        <p:spPr>
          <a:xfrm>
            <a:off x="4608576" y="1531620"/>
            <a:ext cx="1435608" cy="233172"/>
          </a:xfrm>
          <a:prstGeom prst="rect">
            <a:avLst/>
          </a:prstGeom>
          <a:solidFill>
            <a:srgbClr val="FAF1DF"/>
          </a:solidFill>
          <a:ln w="12700">
            <a:solidFill>
              <a:srgbClr val="333333"/>
            </a:solidFill>
            <a:prstDash val="solid"/>
          </a:ln>
        </p:spPr>
      </p:sp>
      <p:sp>
        <p:nvSpPr>
          <p:cNvPr id="16" name="Text 14"/>
          <p:cNvSpPr txBox="1"/>
          <p:nvPr/>
        </p:nvSpPr>
        <p:spPr>
          <a:xfrm>
            <a:off x="4645152" y="1499616"/>
            <a:ext cx="1362456" cy="297180"/>
          </a:xfrm>
          <a:prstGeom prst="rect">
            <a:avLst/>
          </a:prstGeom>
          <a:noFill/>
          <a:ln/>
        </p:spPr>
        <p:txBody>
          <a:bodyPr wrap="square" lIns="0" tIns="0" rIns="0" bIns="0" rtlCol="0" anchor="ctr"/>
          <a:lstStyle/>
          <a:p>
            <a:pPr algn="ctr" indent="0" marL="0">
              <a:buNone/>
            </a:pPr>
            <a:r>
              <a:rPr lang="en-US" sz="760" b="1" dirty="0">
                <a:solidFill>
                  <a:srgbClr val="9A6410"/>
                </a:solidFill>
                <a:latin typeface="Calibri" pitchFamily="34" charset="0"/>
                <a:ea typeface="Calibri" pitchFamily="34" charset="-122"/>
                <a:cs typeface="Calibri" pitchFamily="34" charset="-120"/>
              </a:rPr>
              <a:t>Lean+</a:t>
            </a:r>
            <a:endParaRPr lang="en-US" sz="760" dirty="0"/>
          </a:p>
        </p:txBody>
      </p:sp>
      <p:sp>
        <p:nvSpPr>
          <p:cNvPr id="17" name="Text 15"/>
          <p:cNvSpPr txBox="1"/>
          <p:nvPr/>
        </p:nvSpPr>
        <p:spPr>
          <a:xfrm>
            <a:off x="6153912" y="1499616"/>
            <a:ext cx="552297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Governance must decide before any content configuration proceeds</a:t>
            </a:r>
            <a:endParaRPr lang="en-US" sz="760" dirty="0"/>
          </a:p>
        </p:txBody>
      </p:sp>
      <p:sp>
        <p:nvSpPr>
          <p:cNvPr id="18" name="Shape 16"/>
          <p:cNvSpPr/>
          <p:nvPr/>
        </p:nvSpPr>
        <p:spPr>
          <a:xfrm>
            <a:off x="411480" y="1796796"/>
            <a:ext cx="11338560" cy="297180"/>
          </a:xfrm>
          <a:prstGeom prst="rect">
            <a:avLst/>
          </a:prstGeom>
          <a:solidFill>
            <a:srgbClr val="F4F7FA"/>
          </a:solidFill>
          <a:ln w="6350">
            <a:solidFill>
              <a:srgbClr val="D4DAE2"/>
            </a:solidFill>
            <a:prstDash val="solid"/>
          </a:ln>
        </p:spPr>
      </p:sp>
      <p:sp>
        <p:nvSpPr>
          <p:cNvPr id="19" name="Text 17"/>
          <p:cNvSpPr txBox="1"/>
          <p:nvPr/>
        </p:nvSpPr>
        <p:spPr>
          <a:xfrm>
            <a:off x="484632" y="1796796"/>
            <a:ext cx="4014216" cy="297180"/>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DKE coverage gap identified for untrusted types</a:t>
            </a:r>
            <a:endParaRPr lang="en-US" sz="760" dirty="0"/>
          </a:p>
        </p:txBody>
      </p:sp>
      <p:sp>
        <p:nvSpPr>
          <p:cNvPr id="20" name="Shape 18"/>
          <p:cNvSpPr/>
          <p:nvPr/>
        </p:nvSpPr>
        <p:spPr>
          <a:xfrm>
            <a:off x="4608576" y="1828800"/>
            <a:ext cx="1435608" cy="233172"/>
          </a:xfrm>
          <a:prstGeom prst="rect">
            <a:avLst/>
          </a:prstGeom>
          <a:solidFill>
            <a:srgbClr val="E8EDF4"/>
          </a:solidFill>
          <a:ln w="12700">
            <a:solidFill>
              <a:srgbClr val="333333"/>
            </a:solidFill>
            <a:prstDash val="solid"/>
          </a:ln>
        </p:spPr>
      </p:sp>
      <p:sp>
        <p:nvSpPr>
          <p:cNvPr id="21" name="Text 19"/>
          <p:cNvSpPr txBox="1"/>
          <p:nvPr/>
        </p:nvSpPr>
        <p:spPr>
          <a:xfrm>
            <a:off x="4645152" y="1796796"/>
            <a:ext cx="1362456" cy="297180"/>
          </a:xfrm>
          <a:prstGeom prst="rect">
            <a:avLst/>
          </a:prstGeom>
          <a:noFill/>
          <a:ln/>
        </p:spPr>
        <p:txBody>
          <a:bodyPr wrap="square" lIns="0" tIns="0" rIns="0" bIns="0" rtlCol="0" anchor="ctr"/>
          <a:lstStyle/>
          <a:p>
            <a:pPr algn="ctr" indent="0" marL="0">
              <a:buNone/>
            </a:pPr>
            <a:r>
              <a:rPr lang="en-US" sz="760" b="1" dirty="0">
                <a:solidFill>
                  <a:srgbClr val="15304F"/>
                </a:solidFill>
                <a:latin typeface="Calibri" pitchFamily="34" charset="0"/>
                <a:ea typeface="Calibri" pitchFamily="34" charset="-122"/>
                <a:cs typeface="Calibri" pitchFamily="34" charset="-120"/>
              </a:rPr>
              <a:t>Dedicated</a:t>
            </a:r>
            <a:endParaRPr lang="en-US" sz="760" dirty="0"/>
          </a:p>
        </p:txBody>
      </p:sp>
      <p:sp>
        <p:nvSpPr>
          <p:cNvPr id="22" name="Text 20"/>
          <p:cNvSpPr txBox="1"/>
          <p:nvPr/>
        </p:nvSpPr>
        <p:spPr>
          <a:xfrm>
            <a:off x="6153912" y="1796796"/>
            <a:ext cx="552297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Classification accuracy cannot be configured around; the engine must be extended</a:t>
            </a:r>
            <a:endParaRPr lang="en-US" sz="760" dirty="0"/>
          </a:p>
        </p:txBody>
      </p:sp>
      <p:sp>
        <p:nvSpPr>
          <p:cNvPr id="23" name="Shape 21"/>
          <p:cNvSpPr/>
          <p:nvPr/>
        </p:nvSpPr>
        <p:spPr>
          <a:xfrm>
            <a:off x="411480" y="2093976"/>
            <a:ext cx="11338560" cy="297180"/>
          </a:xfrm>
          <a:prstGeom prst="rect">
            <a:avLst/>
          </a:prstGeom>
          <a:solidFill>
            <a:srgbClr val="FFFFFF"/>
          </a:solidFill>
          <a:ln w="6350">
            <a:solidFill>
              <a:srgbClr val="D4DAE2"/>
            </a:solidFill>
            <a:prstDash val="solid"/>
          </a:ln>
        </p:spPr>
      </p:sp>
      <p:sp>
        <p:nvSpPr>
          <p:cNvPr id="24" name="Text 22"/>
          <p:cNvSpPr txBox="1"/>
          <p:nvPr/>
        </p:nvSpPr>
        <p:spPr>
          <a:xfrm>
            <a:off x="484632" y="2093976"/>
            <a:ext cx="4014216" cy="297180"/>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Volume profile breaches the load-testing threshold</a:t>
            </a:r>
            <a:endParaRPr lang="en-US" sz="760" dirty="0"/>
          </a:p>
        </p:txBody>
      </p:sp>
      <p:sp>
        <p:nvSpPr>
          <p:cNvPr id="25" name="Shape 23"/>
          <p:cNvSpPr/>
          <p:nvPr/>
        </p:nvSpPr>
        <p:spPr>
          <a:xfrm>
            <a:off x="4608576" y="2125980"/>
            <a:ext cx="1435608" cy="233172"/>
          </a:xfrm>
          <a:prstGeom prst="rect">
            <a:avLst/>
          </a:prstGeom>
          <a:solidFill>
            <a:srgbClr val="FAF1DF"/>
          </a:solidFill>
          <a:ln w="12700">
            <a:solidFill>
              <a:srgbClr val="333333"/>
            </a:solidFill>
            <a:prstDash val="solid"/>
          </a:ln>
        </p:spPr>
      </p:sp>
      <p:sp>
        <p:nvSpPr>
          <p:cNvPr id="26" name="Text 24"/>
          <p:cNvSpPr txBox="1"/>
          <p:nvPr/>
        </p:nvSpPr>
        <p:spPr>
          <a:xfrm>
            <a:off x="4645152" y="2093976"/>
            <a:ext cx="1362456" cy="297180"/>
          </a:xfrm>
          <a:prstGeom prst="rect">
            <a:avLst/>
          </a:prstGeom>
          <a:noFill/>
          <a:ln/>
        </p:spPr>
        <p:txBody>
          <a:bodyPr wrap="square" lIns="0" tIns="0" rIns="0" bIns="0" rtlCol="0" anchor="ctr"/>
          <a:lstStyle/>
          <a:p>
            <a:pPr algn="ctr" indent="0" marL="0">
              <a:buNone/>
            </a:pPr>
            <a:r>
              <a:rPr lang="en-US" sz="760" b="1" dirty="0">
                <a:solidFill>
                  <a:srgbClr val="9A6410"/>
                </a:solidFill>
                <a:latin typeface="Calibri" pitchFamily="34" charset="0"/>
                <a:ea typeface="Calibri" pitchFamily="34" charset="-122"/>
                <a:cs typeface="Calibri" pitchFamily="34" charset="-120"/>
              </a:rPr>
              <a:t>Lean+</a:t>
            </a:r>
            <a:endParaRPr lang="en-US" sz="760" dirty="0"/>
          </a:p>
        </p:txBody>
      </p:sp>
      <p:sp>
        <p:nvSpPr>
          <p:cNvPr id="27" name="Text 25"/>
          <p:cNvSpPr txBox="1"/>
          <p:nvPr/>
        </p:nvSpPr>
        <p:spPr>
          <a:xfrm>
            <a:off x="6153912" y="2093976"/>
            <a:ext cx="552297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Performance validation becomes a gating activity with its own lead time</a:t>
            </a:r>
            <a:endParaRPr lang="en-US" sz="760" dirty="0"/>
          </a:p>
        </p:txBody>
      </p:sp>
      <p:sp>
        <p:nvSpPr>
          <p:cNvPr id="28" name="Shape 26"/>
          <p:cNvSpPr/>
          <p:nvPr/>
        </p:nvSpPr>
        <p:spPr>
          <a:xfrm>
            <a:off x="411480" y="2391156"/>
            <a:ext cx="11338560" cy="297180"/>
          </a:xfrm>
          <a:prstGeom prst="rect">
            <a:avLst/>
          </a:prstGeom>
          <a:solidFill>
            <a:srgbClr val="F4F7FA"/>
          </a:solidFill>
          <a:ln w="6350">
            <a:solidFill>
              <a:srgbClr val="D4DAE2"/>
            </a:solidFill>
            <a:prstDash val="solid"/>
          </a:ln>
        </p:spPr>
      </p:sp>
      <p:sp>
        <p:nvSpPr>
          <p:cNvPr id="29" name="Text 27"/>
          <p:cNvSpPr txBox="1"/>
          <p:nvPr/>
        </p:nvSpPr>
        <p:spPr>
          <a:xfrm>
            <a:off x="484632" y="2391156"/>
            <a:ext cx="4014216" cy="297180"/>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Retention position changes to regulated</a:t>
            </a:r>
            <a:endParaRPr lang="en-US" sz="760" dirty="0"/>
          </a:p>
        </p:txBody>
      </p:sp>
      <p:sp>
        <p:nvSpPr>
          <p:cNvPr id="30" name="Shape 28"/>
          <p:cNvSpPr/>
          <p:nvPr/>
        </p:nvSpPr>
        <p:spPr>
          <a:xfrm>
            <a:off x="4608576" y="2423160"/>
            <a:ext cx="1435608" cy="233172"/>
          </a:xfrm>
          <a:prstGeom prst="rect">
            <a:avLst/>
          </a:prstGeom>
          <a:solidFill>
            <a:srgbClr val="E8EDF4"/>
          </a:solidFill>
          <a:ln w="12700">
            <a:solidFill>
              <a:srgbClr val="333333"/>
            </a:solidFill>
            <a:prstDash val="solid"/>
          </a:ln>
        </p:spPr>
      </p:sp>
      <p:sp>
        <p:nvSpPr>
          <p:cNvPr id="31" name="Text 29"/>
          <p:cNvSpPr txBox="1"/>
          <p:nvPr/>
        </p:nvSpPr>
        <p:spPr>
          <a:xfrm>
            <a:off x="4645152" y="2391156"/>
            <a:ext cx="1362456" cy="297180"/>
          </a:xfrm>
          <a:prstGeom prst="rect">
            <a:avLst/>
          </a:prstGeom>
          <a:noFill/>
          <a:ln/>
        </p:spPr>
        <p:txBody>
          <a:bodyPr wrap="square" lIns="0" tIns="0" rIns="0" bIns="0" rtlCol="0" anchor="ctr"/>
          <a:lstStyle/>
          <a:p>
            <a:pPr algn="ctr" indent="0" marL="0">
              <a:buNone/>
            </a:pPr>
            <a:r>
              <a:rPr lang="en-US" sz="760" b="1" dirty="0">
                <a:solidFill>
                  <a:srgbClr val="15304F"/>
                </a:solidFill>
                <a:latin typeface="Calibri" pitchFamily="34" charset="0"/>
                <a:ea typeface="Calibri" pitchFamily="34" charset="-122"/>
                <a:cs typeface="Calibri" pitchFamily="34" charset="-120"/>
              </a:rPr>
              <a:t>Dedicated</a:t>
            </a:r>
            <a:endParaRPr lang="en-US" sz="760" dirty="0"/>
          </a:p>
        </p:txBody>
      </p:sp>
      <p:sp>
        <p:nvSpPr>
          <p:cNvPr id="32" name="Text 30"/>
          <p:cNvSpPr txBox="1"/>
          <p:nvPr/>
        </p:nvSpPr>
        <p:spPr>
          <a:xfrm>
            <a:off x="6153912" y="2391156"/>
            <a:ext cx="552297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A regulated position must be authored and approved, not reviewed</a:t>
            </a:r>
            <a:endParaRPr lang="en-US" sz="760" dirty="0"/>
          </a:p>
        </p:txBody>
      </p:sp>
      <p:sp>
        <p:nvSpPr>
          <p:cNvPr id="33" name="Shape 31"/>
          <p:cNvSpPr/>
          <p:nvPr/>
        </p:nvSpPr>
        <p:spPr>
          <a:xfrm>
            <a:off x="411480" y="2688336"/>
            <a:ext cx="11338560" cy="297180"/>
          </a:xfrm>
          <a:prstGeom prst="rect">
            <a:avLst/>
          </a:prstGeom>
          <a:solidFill>
            <a:srgbClr val="FFFFFF"/>
          </a:solidFill>
          <a:ln w="6350">
            <a:solidFill>
              <a:srgbClr val="D4DAE2"/>
            </a:solidFill>
            <a:prstDash val="solid"/>
          </a:ln>
        </p:spPr>
      </p:sp>
      <p:sp>
        <p:nvSpPr>
          <p:cNvPr id="34" name="Text 32"/>
          <p:cNvSpPr txBox="1"/>
          <p:nvPr/>
        </p:nvSpPr>
        <p:spPr>
          <a:xfrm>
            <a:off x="484632" y="2688336"/>
            <a:ext cx="4014216" cy="297180"/>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Historical content comes into scope</a:t>
            </a:r>
            <a:endParaRPr lang="en-US" sz="760" dirty="0"/>
          </a:p>
        </p:txBody>
      </p:sp>
      <p:sp>
        <p:nvSpPr>
          <p:cNvPr id="35" name="Shape 33"/>
          <p:cNvSpPr/>
          <p:nvPr/>
        </p:nvSpPr>
        <p:spPr>
          <a:xfrm>
            <a:off x="4608576" y="2720340"/>
            <a:ext cx="1435608" cy="233172"/>
          </a:xfrm>
          <a:prstGeom prst="rect">
            <a:avLst/>
          </a:prstGeom>
          <a:solidFill>
            <a:srgbClr val="E8EDF4"/>
          </a:solidFill>
          <a:ln w="12700">
            <a:solidFill>
              <a:srgbClr val="333333"/>
            </a:solidFill>
            <a:prstDash val="solid"/>
          </a:ln>
        </p:spPr>
      </p:sp>
      <p:sp>
        <p:nvSpPr>
          <p:cNvPr id="36" name="Text 34"/>
          <p:cNvSpPr txBox="1"/>
          <p:nvPr/>
        </p:nvSpPr>
        <p:spPr>
          <a:xfrm>
            <a:off x="4645152" y="2688336"/>
            <a:ext cx="1362456" cy="297180"/>
          </a:xfrm>
          <a:prstGeom prst="rect">
            <a:avLst/>
          </a:prstGeom>
          <a:noFill/>
          <a:ln/>
        </p:spPr>
        <p:txBody>
          <a:bodyPr wrap="square" lIns="0" tIns="0" rIns="0" bIns="0" rtlCol="0" anchor="ctr"/>
          <a:lstStyle/>
          <a:p>
            <a:pPr algn="ctr" indent="0" marL="0">
              <a:buNone/>
            </a:pPr>
            <a:r>
              <a:rPr lang="en-US" sz="760" b="1" dirty="0">
                <a:solidFill>
                  <a:srgbClr val="15304F"/>
                </a:solidFill>
                <a:latin typeface="Calibri" pitchFamily="34" charset="0"/>
                <a:ea typeface="Calibri" pitchFamily="34" charset="-122"/>
                <a:cs typeface="Calibri" pitchFamily="34" charset="-120"/>
              </a:rPr>
              <a:t>Dedicated</a:t>
            </a:r>
            <a:endParaRPr lang="en-US" sz="760" dirty="0"/>
          </a:p>
        </p:txBody>
      </p:sp>
      <p:sp>
        <p:nvSpPr>
          <p:cNvPr id="37" name="Text 35"/>
          <p:cNvSpPr txBox="1"/>
          <p:nvPr/>
        </p:nvSpPr>
        <p:spPr>
          <a:xfrm>
            <a:off x="6153912" y="2688336"/>
            <a:ext cx="552297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Remediation of content under retention is a different risk class</a:t>
            </a:r>
            <a:endParaRPr lang="en-US" sz="760" dirty="0"/>
          </a:p>
        </p:txBody>
      </p:sp>
      <p:sp>
        <p:nvSpPr>
          <p:cNvPr id="38" name="Shape 36"/>
          <p:cNvSpPr/>
          <p:nvPr/>
        </p:nvSpPr>
        <p:spPr>
          <a:xfrm>
            <a:off x="411480" y="2985516"/>
            <a:ext cx="11338560" cy="297180"/>
          </a:xfrm>
          <a:prstGeom prst="rect">
            <a:avLst/>
          </a:prstGeom>
          <a:solidFill>
            <a:srgbClr val="F4F7FA"/>
          </a:solidFill>
          <a:ln w="6350">
            <a:solidFill>
              <a:srgbClr val="D4DAE2"/>
            </a:solidFill>
            <a:prstDash val="solid"/>
          </a:ln>
        </p:spPr>
      </p:sp>
      <p:sp>
        <p:nvSpPr>
          <p:cNvPr id="39" name="Text 37"/>
          <p:cNvSpPr txBox="1"/>
          <p:nvPr/>
        </p:nvSpPr>
        <p:spPr>
          <a:xfrm>
            <a:off x="484632" y="2985516"/>
            <a:ext cx="4014216" cy="297180"/>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Three consecutive failures on the same gate</a:t>
            </a:r>
            <a:endParaRPr lang="en-US" sz="760" dirty="0"/>
          </a:p>
        </p:txBody>
      </p:sp>
      <p:sp>
        <p:nvSpPr>
          <p:cNvPr id="40" name="Shape 38"/>
          <p:cNvSpPr/>
          <p:nvPr/>
        </p:nvSpPr>
        <p:spPr>
          <a:xfrm>
            <a:off x="4608576" y="3017520"/>
            <a:ext cx="1435608" cy="233172"/>
          </a:xfrm>
          <a:prstGeom prst="rect">
            <a:avLst/>
          </a:prstGeom>
          <a:solidFill>
            <a:srgbClr val="FAF1DF"/>
          </a:solidFill>
          <a:ln w="12700">
            <a:solidFill>
              <a:srgbClr val="333333"/>
            </a:solidFill>
            <a:prstDash val="solid"/>
          </a:ln>
        </p:spPr>
      </p:sp>
      <p:sp>
        <p:nvSpPr>
          <p:cNvPr id="41" name="Text 39"/>
          <p:cNvSpPr txBox="1"/>
          <p:nvPr/>
        </p:nvSpPr>
        <p:spPr>
          <a:xfrm>
            <a:off x="4645152" y="2985516"/>
            <a:ext cx="1362456" cy="297180"/>
          </a:xfrm>
          <a:prstGeom prst="rect">
            <a:avLst/>
          </a:prstGeom>
          <a:noFill/>
          <a:ln/>
        </p:spPr>
        <p:txBody>
          <a:bodyPr wrap="square" lIns="0" tIns="0" rIns="0" bIns="0" rtlCol="0" anchor="ctr"/>
          <a:lstStyle/>
          <a:p>
            <a:pPr algn="ctr" indent="0" marL="0">
              <a:buNone/>
            </a:pPr>
            <a:r>
              <a:rPr lang="en-US" sz="760" b="1" dirty="0">
                <a:solidFill>
                  <a:srgbClr val="9A6410"/>
                </a:solidFill>
                <a:latin typeface="Calibri" pitchFamily="34" charset="0"/>
                <a:ea typeface="Calibri" pitchFamily="34" charset="-122"/>
                <a:cs typeface="Calibri" pitchFamily="34" charset="-120"/>
              </a:rPr>
              <a:t>Lean+</a:t>
            </a:r>
            <a:endParaRPr lang="en-US" sz="760" dirty="0"/>
          </a:p>
        </p:txBody>
      </p:sp>
      <p:sp>
        <p:nvSpPr>
          <p:cNvPr id="42" name="Text 40"/>
          <p:cNvSpPr txBox="1"/>
          <p:nvPr/>
        </p:nvSpPr>
        <p:spPr>
          <a:xfrm>
            <a:off x="6153912" y="2985516"/>
            <a:ext cx="552297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The partner is stuck and self-service is not resolving it — this is the design-help signal</a:t>
            </a:r>
            <a:endParaRPr lang="en-US" sz="760" dirty="0"/>
          </a:p>
        </p:txBody>
      </p:sp>
      <p:sp>
        <p:nvSpPr>
          <p:cNvPr id="43" name="Shape 41"/>
          <p:cNvSpPr/>
          <p:nvPr/>
        </p:nvSpPr>
        <p:spPr>
          <a:xfrm>
            <a:off x="411480" y="3282696"/>
            <a:ext cx="11338560" cy="297180"/>
          </a:xfrm>
          <a:prstGeom prst="rect">
            <a:avLst/>
          </a:prstGeom>
          <a:solidFill>
            <a:srgbClr val="FFFFFF"/>
          </a:solidFill>
          <a:ln w="6350">
            <a:solidFill>
              <a:srgbClr val="D4DAE2"/>
            </a:solidFill>
            <a:prstDash val="solid"/>
          </a:ln>
        </p:spPr>
      </p:sp>
      <p:sp>
        <p:nvSpPr>
          <p:cNvPr id="44" name="Text 42"/>
          <p:cNvSpPr txBox="1"/>
          <p:nvPr/>
        </p:nvSpPr>
        <p:spPr>
          <a:xfrm>
            <a:off x="484632" y="3282696"/>
            <a:ext cx="4014216" cy="297180"/>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Pattern variation falls outside declared tolerance</a:t>
            </a:r>
            <a:endParaRPr lang="en-US" sz="760" dirty="0"/>
          </a:p>
        </p:txBody>
      </p:sp>
      <p:sp>
        <p:nvSpPr>
          <p:cNvPr id="45" name="Shape 43"/>
          <p:cNvSpPr/>
          <p:nvPr/>
        </p:nvSpPr>
        <p:spPr>
          <a:xfrm>
            <a:off x="4608576" y="3314700"/>
            <a:ext cx="1435608" cy="233172"/>
          </a:xfrm>
          <a:prstGeom prst="rect">
            <a:avLst/>
          </a:prstGeom>
          <a:solidFill>
            <a:srgbClr val="FAF1DF"/>
          </a:solidFill>
          <a:ln w="12700">
            <a:solidFill>
              <a:srgbClr val="333333"/>
            </a:solidFill>
            <a:prstDash val="solid"/>
          </a:ln>
        </p:spPr>
      </p:sp>
      <p:sp>
        <p:nvSpPr>
          <p:cNvPr id="46" name="Text 44"/>
          <p:cNvSpPr txBox="1"/>
          <p:nvPr/>
        </p:nvSpPr>
        <p:spPr>
          <a:xfrm>
            <a:off x="4645152" y="3282696"/>
            <a:ext cx="1362456" cy="297180"/>
          </a:xfrm>
          <a:prstGeom prst="rect">
            <a:avLst/>
          </a:prstGeom>
          <a:noFill/>
          <a:ln/>
        </p:spPr>
        <p:txBody>
          <a:bodyPr wrap="square" lIns="0" tIns="0" rIns="0" bIns="0" rtlCol="0" anchor="ctr"/>
          <a:lstStyle/>
          <a:p>
            <a:pPr algn="ctr" indent="0" marL="0">
              <a:buNone/>
            </a:pPr>
            <a:r>
              <a:rPr lang="en-US" sz="760" b="1" dirty="0">
                <a:solidFill>
                  <a:srgbClr val="9A6410"/>
                </a:solidFill>
                <a:latin typeface="Calibri" pitchFamily="34" charset="0"/>
                <a:ea typeface="Calibri" pitchFamily="34" charset="-122"/>
                <a:cs typeface="Calibri" pitchFamily="34" charset="-120"/>
              </a:rPr>
              <a:t>Lean+</a:t>
            </a:r>
            <a:endParaRPr lang="en-US" sz="760" dirty="0"/>
          </a:p>
        </p:txBody>
      </p:sp>
      <p:sp>
        <p:nvSpPr>
          <p:cNvPr id="47" name="Text 45"/>
          <p:cNvSpPr txBox="1"/>
          <p:nvPr/>
        </p:nvSpPr>
        <p:spPr>
          <a:xfrm>
            <a:off x="6153912" y="3282696"/>
            <a:ext cx="552297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The instantiated pattern no longer describes what is being built</a:t>
            </a:r>
            <a:endParaRPr lang="en-US" sz="760" dirty="0"/>
          </a:p>
        </p:txBody>
      </p:sp>
      <p:sp>
        <p:nvSpPr>
          <p:cNvPr id="48" name="Shape 46"/>
          <p:cNvSpPr/>
          <p:nvPr/>
        </p:nvSpPr>
        <p:spPr>
          <a:xfrm>
            <a:off x="411480" y="3579876"/>
            <a:ext cx="11338560" cy="297180"/>
          </a:xfrm>
          <a:prstGeom prst="rect">
            <a:avLst/>
          </a:prstGeom>
          <a:solidFill>
            <a:srgbClr val="F4F7FA"/>
          </a:solidFill>
          <a:ln w="6350">
            <a:solidFill>
              <a:srgbClr val="D4DAE2"/>
            </a:solidFill>
            <a:prstDash val="solid"/>
          </a:ln>
        </p:spPr>
      </p:sp>
      <p:sp>
        <p:nvSpPr>
          <p:cNvPr id="49" name="Text 47"/>
          <p:cNvSpPr txBox="1"/>
          <p:nvPr/>
        </p:nvSpPr>
        <p:spPr>
          <a:xfrm>
            <a:off x="484632" y="3579876"/>
            <a:ext cx="4014216" cy="297180"/>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A second line of business joins the scope</a:t>
            </a:r>
            <a:endParaRPr lang="en-US" sz="760" dirty="0"/>
          </a:p>
        </p:txBody>
      </p:sp>
      <p:sp>
        <p:nvSpPr>
          <p:cNvPr id="50" name="Shape 48"/>
          <p:cNvSpPr/>
          <p:nvPr/>
        </p:nvSpPr>
        <p:spPr>
          <a:xfrm>
            <a:off x="4608576" y="3611880"/>
            <a:ext cx="1435608" cy="233172"/>
          </a:xfrm>
          <a:prstGeom prst="rect">
            <a:avLst/>
          </a:prstGeom>
          <a:solidFill>
            <a:srgbClr val="E8EDF4"/>
          </a:solidFill>
          <a:ln w="12700">
            <a:solidFill>
              <a:srgbClr val="333333"/>
            </a:solidFill>
            <a:prstDash val="solid"/>
          </a:ln>
        </p:spPr>
      </p:sp>
      <p:sp>
        <p:nvSpPr>
          <p:cNvPr id="51" name="Text 49"/>
          <p:cNvSpPr txBox="1"/>
          <p:nvPr/>
        </p:nvSpPr>
        <p:spPr>
          <a:xfrm>
            <a:off x="4645152" y="3579876"/>
            <a:ext cx="1362456" cy="297180"/>
          </a:xfrm>
          <a:prstGeom prst="rect">
            <a:avLst/>
          </a:prstGeom>
          <a:noFill/>
          <a:ln/>
        </p:spPr>
        <p:txBody>
          <a:bodyPr wrap="square" lIns="0" tIns="0" rIns="0" bIns="0" rtlCol="0" anchor="ctr"/>
          <a:lstStyle/>
          <a:p>
            <a:pPr algn="ctr" indent="0" marL="0">
              <a:buNone/>
            </a:pPr>
            <a:r>
              <a:rPr lang="en-US" sz="760" b="1" dirty="0">
                <a:solidFill>
                  <a:srgbClr val="15304F"/>
                </a:solidFill>
                <a:latin typeface="Calibri" pitchFamily="34" charset="0"/>
                <a:ea typeface="Calibri" pitchFamily="34" charset="-122"/>
                <a:cs typeface="Calibri" pitchFamily="34" charset="-120"/>
              </a:rPr>
              <a:t>Dedicated</a:t>
            </a:r>
            <a:endParaRPr lang="en-US" sz="760" dirty="0"/>
          </a:p>
        </p:txBody>
      </p:sp>
      <p:sp>
        <p:nvSpPr>
          <p:cNvPr id="52" name="Text 50"/>
          <p:cNvSpPr txBox="1"/>
          <p:nvPr/>
        </p:nvSpPr>
        <p:spPr>
          <a:xfrm>
            <a:off x="6153912" y="3579876"/>
            <a:ext cx="552297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Coordination across owners cannot be delegated to a partner</a:t>
            </a:r>
            <a:endParaRPr lang="en-US" sz="760" dirty="0"/>
          </a:p>
        </p:txBody>
      </p:sp>
      <p:sp>
        <p:nvSpPr>
          <p:cNvPr id="53" name="Shape 51"/>
          <p:cNvSpPr/>
          <p:nvPr/>
        </p:nvSpPr>
        <p:spPr>
          <a:xfrm>
            <a:off x="411480" y="4059936"/>
            <a:ext cx="3675888" cy="1609344"/>
          </a:xfrm>
          <a:prstGeom prst="roundRect">
            <a:avLst>
              <a:gd name="adj" fmla="val 2841"/>
            </a:avLst>
          </a:prstGeom>
          <a:solidFill>
            <a:srgbClr val="FFFFFF"/>
          </a:solidFill>
          <a:ln w="15875">
            <a:solidFill>
              <a:srgbClr val="0B6E6E"/>
            </a:solidFill>
            <a:prstDash val="solid"/>
          </a:ln>
          <a:effectLst>
            <a:outerShdw sx="100000" sy="100000" kx="0" ky="0" algn="bl" rotWithShape="0" blurRad="88900" dist="12700" dir="5400000">
              <a:srgbClr val="97A3B4">
                <a:alpha val="16000"/>
              </a:srgbClr>
            </a:outerShdw>
          </a:effectLst>
        </p:spPr>
      </p:sp>
      <p:sp>
        <p:nvSpPr>
          <p:cNvPr id="54" name="Text 52"/>
          <p:cNvSpPr txBox="1"/>
          <p:nvPr/>
        </p:nvSpPr>
        <p:spPr>
          <a:xfrm>
            <a:off x="557784" y="4187952"/>
            <a:ext cx="3383280" cy="164592"/>
          </a:xfrm>
          <a:prstGeom prst="rect">
            <a:avLst/>
          </a:prstGeom>
          <a:noFill/>
          <a:ln/>
        </p:spPr>
        <p:txBody>
          <a:bodyPr wrap="square" lIns="0" tIns="0" rIns="0" bIns="0" rtlCol="0" anchor="ctr"/>
          <a:lstStyle/>
          <a:p>
            <a:pPr indent="0" marL="0">
              <a:buNone/>
            </a:pPr>
            <a:r>
              <a:rPr lang="en-US" sz="720" b="1" spc="100" kern="0" dirty="0">
                <a:solidFill>
                  <a:srgbClr val="0B6E6E"/>
                </a:solidFill>
                <a:latin typeface="Calibri" pitchFamily="34" charset="0"/>
                <a:ea typeface="Calibri" pitchFamily="34" charset="-122"/>
                <a:cs typeface="Calibri" pitchFamily="34" charset="-120"/>
              </a:rPr>
              <a:t>RELEASING SCARCE CAPACITY</a:t>
            </a:r>
            <a:endParaRPr lang="en-US" sz="720" dirty="0"/>
          </a:p>
        </p:txBody>
      </p:sp>
      <p:sp>
        <p:nvSpPr>
          <p:cNvPr id="55" name="Text 53"/>
          <p:cNvSpPr txBox="1"/>
          <p:nvPr/>
        </p:nvSpPr>
        <p:spPr>
          <a:xfrm>
            <a:off x="557784" y="4370832"/>
            <a:ext cx="3383280" cy="310896"/>
          </a:xfrm>
          <a:prstGeom prst="rect">
            <a:avLst/>
          </a:prstGeom>
          <a:noFill/>
          <a:ln/>
        </p:spPr>
        <p:txBody>
          <a:bodyPr wrap="square" lIns="0" tIns="0" rIns="0" bIns="0" rtlCol="0" anchor="t"/>
          <a:lstStyle/>
          <a:p>
            <a:pPr indent="0" marL="0">
              <a:lnSpc>
                <a:spcPts val="1350"/>
              </a:lnSpc>
              <a:buNone/>
            </a:pPr>
            <a:r>
              <a:rPr lang="en-US" sz="1100" b="1" dirty="0">
                <a:solidFill>
                  <a:srgbClr val="1B2432"/>
                </a:solidFill>
                <a:latin typeface="Calibri" pitchFamily="34" charset="0"/>
                <a:ea typeface="Calibri" pitchFamily="34" charset="-122"/>
                <a:cs typeface="Calibri" pitchFamily="34" charset="-120"/>
              </a:rPr>
              <a:t>De-escalation</a:t>
            </a:r>
            <a:endParaRPr lang="en-US" sz="1100" dirty="0"/>
          </a:p>
        </p:txBody>
      </p:sp>
      <p:sp>
        <p:nvSpPr>
          <p:cNvPr id="56" name="Text 54"/>
          <p:cNvSpPr txBox="1"/>
          <p:nvPr/>
        </p:nvSpPr>
        <p:spPr>
          <a:xfrm>
            <a:off x="557784" y="4681728"/>
            <a:ext cx="3383280" cy="841248"/>
          </a:xfrm>
          <a:prstGeom prst="rect">
            <a:avLst/>
          </a:prstGeom>
          <a:noFill/>
          <a:ln/>
        </p:spPr>
        <p:txBody>
          <a:bodyPr wrap="square" lIns="0" tIns="0" rIns="0" bIns="0" rtlCol="0" anchor="t"/>
          <a:lstStyle/>
          <a:p>
            <a:pPr indent="0" marL="0">
              <a:lnSpc>
                <a:spcPts val="1040"/>
              </a:lnSpc>
              <a:spcAft>
                <a:spcPts val="250"/>
              </a:spcAft>
              <a:buNone/>
            </a:pPr>
            <a:r>
              <a:rPr lang="en-US" sz="780" dirty="0">
                <a:solidFill>
                  <a:srgbClr val="55606E"/>
                </a:solidFill>
                <a:latin typeface="Calibri" pitchFamily="34" charset="0"/>
                <a:ea typeface="Calibri" pitchFamily="34" charset="-122"/>
                <a:cs typeface="Calibri" pitchFamily="34" charset="-120"/>
              </a:rPr>
              <a:t>Downward movement is allowed but deliberate.</a:t>
            </a:r>
            <a:endParaRPr lang="en-US" sz="780" dirty="0"/>
          </a:p>
          <a:p>
            <a:pPr indent="0" marL="0">
              <a:lnSpc>
                <a:spcPts val="1040"/>
              </a:lnSpc>
              <a:spcAft>
                <a:spcPts val="250"/>
              </a:spcAft>
              <a:buNone/>
            </a:pPr>
            <a:r>
              <a:rPr lang="en-US" sz="780" dirty="0">
                <a:solidFill>
                  <a:srgbClr val="55606E"/>
                </a:solidFill>
                <a:latin typeface="Calibri" pitchFamily="34" charset="0"/>
                <a:ea typeface="Calibri" pitchFamily="34" charset="-122"/>
                <a:cs typeface="Calibri" pitchFamily="34" charset="-120"/>
              </a:rPr>
              <a:t>A Dedicated intake that completes its novel element and reverts to routine configuration may be de-tiered to Lean+ for the remainder, releasing the pod.</a:t>
            </a:r>
            <a:endParaRPr lang="en-US" sz="780" dirty="0"/>
          </a:p>
          <a:p>
            <a:pPr indent="0" marL="0">
              <a:lnSpc>
                <a:spcPts val="1040"/>
              </a:lnSpc>
              <a:spcAft>
                <a:spcPts val="250"/>
              </a:spcAft>
              <a:buNone/>
            </a:pPr>
            <a:r>
              <a:rPr lang="en-US" sz="780" dirty="0">
                <a:solidFill>
                  <a:srgbClr val="55606E"/>
                </a:solidFill>
                <a:latin typeface="Calibri" pitchFamily="34" charset="0"/>
                <a:ea typeface="Calibri" pitchFamily="34" charset="-122"/>
                <a:cs typeface="Calibri" pitchFamily="34" charset="-120"/>
              </a:rPr>
              <a:t>Taken at a phase gate, recorded with reason, never applied retroactively.</a:t>
            </a:r>
            <a:endParaRPr lang="en-US" sz="780" dirty="0"/>
          </a:p>
        </p:txBody>
      </p:sp>
      <p:sp>
        <p:nvSpPr>
          <p:cNvPr id="57" name="Shape 55"/>
          <p:cNvSpPr/>
          <p:nvPr/>
        </p:nvSpPr>
        <p:spPr>
          <a:xfrm>
            <a:off x="4251960" y="4059936"/>
            <a:ext cx="3675888" cy="1609344"/>
          </a:xfrm>
          <a:prstGeom prst="roundRect">
            <a:avLst>
              <a:gd name="adj" fmla="val 2841"/>
            </a:avLst>
          </a:prstGeom>
          <a:solidFill>
            <a:srgbClr val="FFFFFF"/>
          </a:solidFill>
          <a:ln w="15875">
            <a:solidFill>
              <a:srgbClr val="9A6410"/>
            </a:solidFill>
            <a:prstDash val="solid"/>
          </a:ln>
          <a:effectLst>
            <a:outerShdw sx="100000" sy="100000" kx="0" ky="0" algn="bl" rotWithShape="0" blurRad="88900" dist="12700" dir="5400000">
              <a:srgbClr val="97A3B4">
                <a:alpha val="16000"/>
              </a:srgbClr>
            </a:outerShdw>
          </a:effectLst>
        </p:spPr>
      </p:sp>
      <p:sp>
        <p:nvSpPr>
          <p:cNvPr id="58" name="Text 56"/>
          <p:cNvSpPr txBox="1"/>
          <p:nvPr/>
        </p:nvSpPr>
        <p:spPr>
          <a:xfrm>
            <a:off x="4398264" y="4187952"/>
            <a:ext cx="3383280" cy="164592"/>
          </a:xfrm>
          <a:prstGeom prst="rect">
            <a:avLst/>
          </a:prstGeom>
          <a:noFill/>
          <a:ln/>
        </p:spPr>
        <p:txBody>
          <a:bodyPr wrap="square" lIns="0" tIns="0" rIns="0" bIns="0" rtlCol="0" anchor="ctr"/>
          <a:lstStyle/>
          <a:p>
            <a:pPr indent="0" marL="0">
              <a:buNone/>
            </a:pPr>
            <a:r>
              <a:rPr lang="en-US" sz="720" b="1" spc="100" kern="0" dirty="0">
                <a:solidFill>
                  <a:srgbClr val="9A6410"/>
                </a:solidFill>
                <a:latin typeface="Calibri" pitchFamily="34" charset="0"/>
                <a:ea typeface="Calibri" pitchFamily="34" charset="-122"/>
                <a:cs typeface="Calibri" pitchFamily="34" charset="-120"/>
              </a:rPr>
              <a:t>KEEPING TIERING ARGUABLE</a:t>
            </a:r>
            <a:endParaRPr lang="en-US" sz="720" dirty="0"/>
          </a:p>
        </p:txBody>
      </p:sp>
      <p:sp>
        <p:nvSpPr>
          <p:cNvPr id="59" name="Text 57"/>
          <p:cNvSpPr txBox="1"/>
          <p:nvPr/>
        </p:nvSpPr>
        <p:spPr>
          <a:xfrm>
            <a:off x="4398264" y="4370832"/>
            <a:ext cx="3383280" cy="310896"/>
          </a:xfrm>
          <a:prstGeom prst="rect">
            <a:avLst/>
          </a:prstGeom>
          <a:noFill/>
          <a:ln/>
        </p:spPr>
        <p:txBody>
          <a:bodyPr wrap="square" lIns="0" tIns="0" rIns="0" bIns="0" rtlCol="0" anchor="t"/>
          <a:lstStyle/>
          <a:p>
            <a:pPr indent="0" marL="0">
              <a:lnSpc>
                <a:spcPts val="1350"/>
              </a:lnSpc>
              <a:buNone/>
            </a:pPr>
            <a:r>
              <a:rPr lang="en-US" sz="1100" b="1" dirty="0">
                <a:solidFill>
                  <a:srgbClr val="1B2432"/>
                </a:solidFill>
                <a:latin typeface="Calibri" pitchFamily="34" charset="0"/>
                <a:ea typeface="Calibri" pitchFamily="34" charset="-122"/>
                <a:cs typeface="Calibri" pitchFamily="34" charset="-120"/>
              </a:rPr>
              <a:t>Appeal</a:t>
            </a:r>
            <a:endParaRPr lang="en-US" sz="1100" dirty="0"/>
          </a:p>
        </p:txBody>
      </p:sp>
      <p:sp>
        <p:nvSpPr>
          <p:cNvPr id="60" name="Text 58"/>
          <p:cNvSpPr txBox="1"/>
          <p:nvPr/>
        </p:nvSpPr>
        <p:spPr>
          <a:xfrm>
            <a:off x="4398264" y="4681728"/>
            <a:ext cx="3383280" cy="841248"/>
          </a:xfrm>
          <a:prstGeom prst="rect">
            <a:avLst/>
          </a:prstGeom>
          <a:noFill/>
          <a:ln/>
        </p:spPr>
        <p:txBody>
          <a:bodyPr wrap="square" lIns="0" tIns="0" rIns="0" bIns="0" rtlCol="0" anchor="t"/>
          <a:lstStyle/>
          <a:p>
            <a:pPr indent="0" marL="0">
              <a:lnSpc>
                <a:spcPts val="1040"/>
              </a:lnSpc>
              <a:spcAft>
                <a:spcPts val="250"/>
              </a:spcAft>
              <a:buNone/>
            </a:pPr>
            <a:r>
              <a:rPr lang="en-US" sz="780" dirty="0">
                <a:solidFill>
                  <a:srgbClr val="55606E"/>
                </a:solidFill>
                <a:latin typeface="Calibri" pitchFamily="34" charset="0"/>
                <a:ea typeface="Calibri" pitchFamily="34" charset="-122"/>
                <a:cs typeface="Calibri" pitchFamily="34" charset="-120"/>
              </a:rPr>
              <a:t>One appeal, to the enablement lead, within five working days of assignment.</a:t>
            </a:r>
            <a:endParaRPr lang="en-US" sz="780" dirty="0"/>
          </a:p>
          <a:p>
            <a:pPr indent="0" marL="0">
              <a:lnSpc>
                <a:spcPts val="1040"/>
              </a:lnSpc>
              <a:spcAft>
                <a:spcPts val="250"/>
              </a:spcAft>
              <a:buNone/>
            </a:pPr>
            <a:r>
              <a:rPr lang="en-US" sz="780" dirty="0">
                <a:solidFill>
                  <a:srgbClr val="55606E"/>
                </a:solidFill>
                <a:latin typeface="Calibri" pitchFamily="34" charset="0"/>
                <a:ea typeface="Calibri" pitchFamily="34" charset="-122"/>
                <a:cs typeface="Calibri" pitchFamily="34" charset="-120"/>
              </a:rPr>
              <a:t>Must identify which determinant is wrongly scored, and why.</a:t>
            </a:r>
            <a:endParaRPr lang="en-US" sz="780" dirty="0"/>
          </a:p>
          <a:p>
            <a:pPr indent="0" marL="0">
              <a:lnSpc>
                <a:spcPts val="1040"/>
              </a:lnSpc>
              <a:spcAft>
                <a:spcPts val="250"/>
              </a:spcAft>
              <a:buNone/>
            </a:pPr>
            <a:r>
              <a:rPr lang="en-US" sz="780" dirty="0">
                <a:solidFill>
                  <a:srgbClr val="55606E"/>
                </a:solidFill>
                <a:latin typeface="Calibri" pitchFamily="34" charset="0"/>
                <a:ea typeface="Calibri" pitchFamily="34" charset="-122"/>
                <a:cs typeface="Calibri" pitchFamily="34" charset="-120"/>
              </a:rPr>
              <a:t>Outcome recorded and fed into the quarterly rubric review.</a:t>
            </a:r>
            <a:endParaRPr lang="en-US" sz="780" dirty="0"/>
          </a:p>
          <a:p>
            <a:pPr indent="0" marL="0">
              <a:lnSpc>
                <a:spcPts val="1040"/>
              </a:lnSpc>
              <a:spcAft>
                <a:spcPts val="250"/>
              </a:spcAft>
              <a:buNone/>
            </a:pPr>
            <a:r>
              <a:rPr lang="en-US" sz="780" dirty="0">
                <a:solidFill>
                  <a:srgbClr val="55606E"/>
                </a:solidFill>
                <a:latin typeface="Calibri" pitchFamily="34" charset="0"/>
                <a:ea typeface="Calibri" pitchFamily="34" charset="-122"/>
                <a:cs typeface="Calibri" pitchFamily="34" charset="-120"/>
              </a:rPr>
              <a:t>Repeated success on the same determinant means the rubric is wrong — recalibrate.</a:t>
            </a:r>
            <a:endParaRPr lang="en-US" sz="780" dirty="0"/>
          </a:p>
        </p:txBody>
      </p:sp>
      <p:sp>
        <p:nvSpPr>
          <p:cNvPr id="61" name="Shape 59"/>
          <p:cNvSpPr/>
          <p:nvPr/>
        </p:nvSpPr>
        <p:spPr>
          <a:xfrm>
            <a:off x="8092440" y="4059936"/>
            <a:ext cx="3657600" cy="1609344"/>
          </a:xfrm>
          <a:prstGeom prst="roundRect">
            <a:avLst>
              <a:gd name="adj" fmla="val 2841"/>
            </a:avLst>
          </a:prstGeom>
          <a:solidFill>
            <a:srgbClr val="FFFFFF"/>
          </a:solidFill>
          <a:ln w="15875">
            <a:solidFill>
              <a:srgbClr val="15304F"/>
            </a:solidFill>
            <a:prstDash val="solid"/>
          </a:ln>
          <a:effectLst>
            <a:outerShdw sx="100000" sy="100000" kx="0" ky="0" algn="bl" rotWithShape="0" blurRad="88900" dist="12700" dir="5400000">
              <a:srgbClr val="97A3B4">
                <a:alpha val="16000"/>
              </a:srgbClr>
            </a:outerShdw>
          </a:effectLst>
        </p:spPr>
      </p:sp>
      <p:sp>
        <p:nvSpPr>
          <p:cNvPr id="62" name="Text 60"/>
          <p:cNvSpPr txBox="1"/>
          <p:nvPr/>
        </p:nvSpPr>
        <p:spPr>
          <a:xfrm>
            <a:off x="8238744" y="4187952"/>
            <a:ext cx="3364992" cy="164592"/>
          </a:xfrm>
          <a:prstGeom prst="rect">
            <a:avLst/>
          </a:prstGeom>
          <a:noFill/>
          <a:ln/>
        </p:spPr>
        <p:txBody>
          <a:bodyPr wrap="square" lIns="0" tIns="0" rIns="0" bIns="0" rtlCol="0" anchor="ctr"/>
          <a:lstStyle/>
          <a:p>
            <a:pPr indent="0" marL="0">
              <a:buNone/>
            </a:pPr>
            <a:r>
              <a:rPr lang="en-US" sz="720" b="1" spc="100" kern="0" dirty="0">
                <a:solidFill>
                  <a:srgbClr val="15304F"/>
                </a:solidFill>
                <a:latin typeface="Calibri" pitchFamily="34" charset="0"/>
                <a:ea typeface="Calibri" pitchFamily="34" charset="-122"/>
                <a:cs typeface="Calibri" pitchFamily="34" charset="-120"/>
              </a:rPr>
              <a:t>A PARTNER EARNS LEAN</a:t>
            </a:r>
            <a:endParaRPr lang="en-US" sz="720" dirty="0"/>
          </a:p>
        </p:txBody>
      </p:sp>
      <p:sp>
        <p:nvSpPr>
          <p:cNvPr id="63" name="Text 61"/>
          <p:cNvSpPr txBox="1"/>
          <p:nvPr/>
        </p:nvSpPr>
        <p:spPr>
          <a:xfrm>
            <a:off x="8238744" y="4370832"/>
            <a:ext cx="3364992" cy="310896"/>
          </a:xfrm>
          <a:prstGeom prst="rect">
            <a:avLst/>
          </a:prstGeom>
          <a:noFill/>
          <a:ln/>
        </p:spPr>
        <p:txBody>
          <a:bodyPr wrap="square" lIns="0" tIns="0" rIns="0" bIns="0" rtlCol="0" anchor="t"/>
          <a:lstStyle/>
          <a:p>
            <a:pPr indent="0" marL="0">
              <a:lnSpc>
                <a:spcPts val="1350"/>
              </a:lnSpc>
              <a:buNone/>
            </a:pPr>
            <a:r>
              <a:rPr lang="en-US" sz="1100" b="1" dirty="0">
                <a:solidFill>
                  <a:srgbClr val="1B2432"/>
                </a:solidFill>
                <a:latin typeface="Calibri" pitchFamily="34" charset="0"/>
                <a:ea typeface="Calibri" pitchFamily="34" charset="-122"/>
                <a:cs typeface="Calibri" pitchFamily="34" charset="-120"/>
              </a:rPr>
              <a:t>Certification — the gate on Lean</a:t>
            </a:r>
            <a:endParaRPr lang="en-US" sz="1100" dirty="0"/>
          </a:p>
        </p:txBody>
      </p:sp>
      <p:sp>
        <p:nvSpPr>
          <p:cNvPr id="64" name="Text 62"/>
          <p:cNvSpPr txBox="1"/>
          <p:nvPr/>
        </p:nvSpPr>
        <p:spPr>
          <a:xfrm>
            <a:off x="8238744" y="4846320"/>
            <a:ext cx="3364992" cy="676656"/>
          </a:xfrm>
          <a:prstGeom prst="rect">
            <a:avLst/>
          </a:prstGeom>
          <a:noFill/>
          <a:ln/>
        </p:spPr>
        <p:txBody>
          <a:bodyPr wrap="square" lIns="0" tIns="0" rIns="0" bIns="0" rtlCol="0" anchor="t"/>
          <a:lstStyle/>
          <a:p>
            <a:pPr indent="0" marL="0">
              <a:lnSpc>
                <a:spcPts val="1040"/>
              </a:lnSpc>
              <a:spcAft>
                <a:spcPts val="250"/>
              </a:spcAft>
              <a:buNone/>
            </a:pPr>
            <a:r>
              <a:rPr lang="en-US" sz="780" dirty="0">
                <a:solidFill>
                  <a:srgbClr val="55606E"/>
                </a:solidFill>
                <a:latin typeface="Calibri" pitchFamily="34" charset="0"/>
                <a:ea typeface="Calibri" pitchFamily="34" charset="-122"/>
                <a:cs typeface="Calibri" pitchFamily="34" charset="-120"/>
              </a:rPr>
              <a:t>Platform onboarding completed by named contacts</a:t>
            </a:r>
            <a:endParaRPr lang="en-US" sz="780" dirty="0"/>
          </a:p>
          <a:p>
            <a:pPr indent="0" marL="0">
              <a:lnSpc>
                <a:spcPts val="1040"/>
              </a:lnSpc>
              <a:spcAft>
                <a:spcPts val="250"/>
              </a:spcAft>
              <a:buNone/>
            </a:pPr>
            <a:r>
              <a:rPr lang="en-US" sz="780" dirty="0">
                <a:solidFill>
                  <a:srgbClr val="55606E"/>
                </a:solidFill>
                <a:latin typeface="Calibri" pitchFamily="34" charset="0"/>
                <a:ea typeface="Calibri" pitchFamily="34" charset="-122"/>
                <a:cs typeface="Calibri" pitchFamily="34" charset="-120"/>
              </a:rPr>
              <a:t>At least one prior successful intake at Lean+ or Dedicated</a:t>
            </a:r>
            <a:endParaRPr lang="en-US" sz="780" dirty="0"/>
          </a:p>
          <a:p>
            <a:pPr indent="0" marL="0">
              <a:lnSpc>
                <a:spcPts val="1040"/>
              </a:lnSpc>
              <a:spcAft>
                <a:spcPts val="250"/>
              </a:spcAft>
              <a:buNone/>
            </a:pPr>
            <a:r>
              <a:rPr lang="en-US" sz="780" dirty="0">
                <a:solidFill>
                  <a:srgbClr val="55606E"/>
                </a:solidFill>
                <a:latin typeface="Calibri" pitchFamily="34" charset="0"/>
                <a:ea typeface="Calibri" pitchFamily="34" charset="-122"/>
                <a:cs typeface="Calibri" pitchFamily="34" charset="-120"/>
              </a:rPr>
              <a:t>A nominated technical owner, not a distribution list</a:t>
            </a:r>
            <a:endParaRPr lang="en-US" sz="780" dirty="0"/>
          </a:p>
          <a:p>
            <a:pPr indent="0" marL="0">
              <a:lnSpc>
                <a:spcPts val="1040"/>
              </a:lnSpc>
              <a:spcAft>
                <a:spcPts val="250"/>
              </a:spcAft>
              <a:buNone/>
            </a:pPr>
            <a:r>
              <a:rPr lang="en-US" sz="780" dirty="0">
                <a:solidFill>
                  <a:srgbClr val="55606E"/>
                </a:solidFill>
                <a:latin typeface="Calibri" pitchFamily="34" charset="0"/>
                <a:ea typeface="Calibri" pitchFamily="34" charset="-122"/>
                <a:cs typeface="Calibri" pitchFamily="34" charset="-120"/>
              </a:rPr>
              <a:t>Acceptance of the operating terms — no allocated capacity</a:t>
            </a:r>
            <a:endParaRPr lang="en-US" sz="780" dirty="0"/>
          </a:p>
          <a:p>
            <a:pPr indent="0" marL="0">
              <a:lnSpc>
                <a:spcPts val="1040"/>
              </a:lnSpc>
              <a:spcAft>
                <a:spcPts val="250"/>
              </a:spcAft>
              <a:buNone/>
            </a:pPr>
            <a:r>
              <a:rPr lang="en-US" sz="780" dirty="0">
                <a:solidFill>
                  <a:srgbClr val="55606E"/>
                </a:solidFill>
                <a:latin typeface="Calibri" pitchFamily="34" charset="0"/>
                <a:ea typeface="Calibri" pitchFamily="34" charset="-122"/>
                <a:cs typeface="Calibri" pitchFamily="34" charset="-120"/>
              </a:rPr>
              <a:t>Good standing: no unresolved compliance findings</a:t>
            </a:r>
            <a:endParaRPr lang="en-US" sz="780" dirty="0"/>
          </a:p>
        </p:txBody>
      </p:sp>
      <p:sp>
        <p:nvSpPr>
          <p:cNvPr id="65" name="Shape 63"/>
          <p:cNvSpPr/>
          <p:nvPr/>
        </p:nvSpPr>
        <p:spPr>
          <a:xfrm>
            <a:off x="411480" y="5815584"/>
            <a:ext cx="11338560" cy="438912"/>
          </a:xfrm>
          <a:prstGeom prst="roundRect">
            <a:avLst>
              <a:gd name="adj" fmla="val 10417"/>
            </a:avLst>
          </a:prstGeom>
          <a:solidFill>
            <a:srgbClr val="F4F7FA"/>
          </a:solidFill>
          <a:ln w="9525">
            <a:solidFill>
              <a:srgbClr val="D4DAE2"/>
            </a:solidFill>
            <a:prstDash val="solid"/>
          </a:ln>
        </p:spPr>
      </p:sp>
      <p:sp>
        <p:nvSpPr>
          <p:cNvPr id="66" name="Text 64"/>
          <p:cNvSpPr txBox="1"/>
          <p:nvPr/>
        </p:nvSpPr>
        <p:spPr>
          <a:xfrm>
            <a:off x="557784" y="5815584"/>
            <a:ext cx="11045952" cy="438912"/>
          </a:xfrm>
          <a:prstGeom prst="rect">
            <a:avLst/>
          </a:prstGeom>
          <a:noFill/>
          <a:ln/>
        </p:spPr>
        <p:txBody>
          <a:bodyPr wrap="square" lIns="0" tIns="0" rIns="0" bIns="0" rtlCol="0" anchor="ctr"/>
          <a:lstStyle/>
          <a:p>
            <a:pPr indent="0" marL="0">
              <a:lnSpc>
                <a:spcPts val="1040"/>
              </a:lnSpc>
              <a:buNone/>
            </a:pPr>
            <a:r>
              <a:rPr lang="en-US" sz="860" dirty="0">
                <a:solidFill>
                  <a:srgbClr val="1B2432"/>
                </a:solidFill>
                <a:latin typeface="Calibri" pitchFamily="34" charset="0"/>
                <a:ea typeface="Calibri" pitchFamily="34" charset="-122"/>
                <a:cs typeface="Calibri" pitchFamily="34" charset="-120"/>
              </a:rPr>
              <a:t>Certification is held at partner level and persists, which means the first intake for any new partner is never Lean. That is deliberate: it gives ECM the opportunity to establish the relationship, and it guarantees a Dedicated or Lean+ delivery from which a pattern can be harvested.</a:t>
            </a:r>
            <a:endParaRPr lang="en-US" sz="86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274320"/>
            <a:ext cx="274320" cy="274320"/>
          </a:xfrm>
          <a:prstGeom prst="rect">
            <a:avLst/>
          </a:prstGeom>
          <a:solidFill>
            <a:srgbClr val="15304F"/>
          </a:solidFill>
          <a:ln w="12700">
            <a:solidFill>
              <a:srgbClr val="333333"/>
            </a:solidFill>
            <a:prstDash val="solid"/>
          </a:ln>
        </p:spPr>
      </p:sp>
      <p:sp>
        <p:nvSpPr>
          <p:cNvPr id="3" name="Text 1"/>
          <p:cNvSpPr txBox="1"/>
          <p:nvPr/>
        </p:nvSpPr>
        <p:spPr>
          <a:xfrm>
            <a:off x="411480" y="2743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4" name="Text 2"/>
          <p:cNvSpPr txBox="1"/>
          <p:nvPr/>
        </p:nvSpPr>
        <p:spPr>
          <a:xfrm>
            <a:off x="795528" y="219456"/>
            <a:ext cx="8778240" cy="384048"/>
          </a:xfrm>
          <a:prstGeom prst="rect">
            <a:avLst/>
          </a:prstGeom>
          <a:noFill/>
          <a:ln/>
        </p:spPr>
        <p:txBody>
          <a:bodyPr wrap="square" lIns="0" tIns="0" rIns="0" bIns="0" rtlCol="0" anchor="ctr"/>
          <a:lstStyle/>
          <a:p>
            <a:pPr indent="0" marL="0">
              <a:buNone/>
            </a:pPr>
            <a:r>
              <a:rPr lang="en-US" sz="2400" b="1" dirty="0">
                <a:solidFill>
                  <a:srgbClr val="1B2432"/>
                </a:solidFill>
                <a:latin typeface="Cambria" pitchFamily="34" charset="0"/>
                <a:ea typeface="Cambria" pitchFamily="34" charset="-122"/>
                <a:cs typeface="Cambria" pitchFamily="34" charset="-120"/>
              </a:rPr>
              <a:t>Platform capability architecture</a:t>
            </a:r>
            <a:endParaRPr lang="en-US" sz="2400" dirty="0"/>
          </a:p>
        </p:txBody>
      </p:sp>
      <p:sp>
        <p:nvSpPr>
          <p:cNvPr id="5" name="Text 3"/>
          <p:cNvSpPr txBox="1"/>
          <p:nvPr/>
        </p:nvSpPr>
        <p:spPr>
          <a:xfrm>
            <a:off x="795528" y="621792"/>
            <a:ext cx="9326880" cy="237744"/>
          </a:xfrm>
          <a:prstGeom prst="rect">
            <a:avLst/>
          </a:prstGeom>
          <a:noFill/>
          <a:ln/>
        </p:spPr>
        <p:txBody>
          <a:bodyPr wrap="square" lIns="0" tIns="0" rIns="0" bIns="0" rtlCol="0" anchor="ctr"/>
          <a:lstStyle/>
          <a:p>
            <a:pPr indent="0" marL="0">
              <a:buNone/>
            </a:pPr>
            <a:r>
              <a:rPr lang="en-US" sz="1050" dirty="0">
                <a:solidFill>
                  <a:srgbClr val="55606E"/>
                </a:solidFill>
                <a:latin typeface="Calibri" pitchFamily="34" charset="0"/>
                <a:ea typeface="Calibri" pitchFamily="34" charset="-122"/>
                <a:cs typeface="Calibri" pitchFamily="34" charset="-120"/>
              </a:rPr>
              <a:t>Five layers. Each independently useful, each a prerequisite for the one above.</a:t>
            </a:r>
            <a:endParaRPr lang="en-US" sz="1050" dirty="0"/>
          </a:p>
        </p:txBody>
      </p:sp>
      <p:sp>
        <p:nvSpPr>
          <p:cNvPr id="6" name="Text 4"/>
          <p:cNvSpPr txBox="1"/>
          <p:nvPr/>
        </p:nvSpPr>
        <p:spPr>
          <a:xfrm>
            <a:off x="9052560" y="274320"/>
            <a:ext cx="2697480" cy="256032"/>
          </a:xfrm>
          <a:prstGeom prst="rect">
            <a:avLst/>
          </a:prstGeom>
          <a:noFill/>
          <a:ln/>
        </p:spPr>
        <p:txBody>
          <a:bodyPr wrap="square" lIns="0" tIns="0" rIns="0" bIns="0" rtlCol="0" anchor="ctr"/>
          <a:lstStyle/>
          <a:p>
            <a:pPr algn="r" indent="0" marL="0">
              <a:buNone/>
            </a:pPr>
            <a:r>
              <a:rPr lang="en-US" sz="950" b="1" spc="60" kern="0" dirty="0">
                <a:solidFill>
                  <a:srgbClr val="7C8798"/>
                </a:solidFill>
                <a:latin typeface="Calibri" pitchFamily="34" charset="0"/>
                <a:ea typeface="Calibri" pitchFamily="34" charset="-122"/>
                <a:cs typeface="Calibri" pitchFamily="34" charset="-120"/>
              </a:rPr>
              <a:t>Architecture</a:t>
            </a:r>
            <a:endParaRPr lang="en-US" sz="950" dirty="0"/>
          </a:p>
        </p:txBody>
      </p:sp>
      <p:sp>
        <p:nvSpPr>
          <p:cNvPr id="7" name="Shape 5"/>
          <p:cNvSpPr/>
          <p:nvPr/>
        </p:nvSpPr>
        <p:spPr>
          <a:xfrm>
            <a:off x="411480" y="932688"/>
            <a:ext cx="11338560" cy="0"/>
          </a:xfrm>
          <a:prstGeom prst="line">
            <a:avLst/>
          </a:prstGeom>
          <a:noFill/>
          <a:ln w="12700">
            <a:solidFill>
              <a:srgbClr val="D4DAE2"/>
            </a:solidFill>
            <a:prstDash val="solid"/>
          </a:ln>
        </p:spPr>
      </p:sp>
      <p:sp>
        <p:nvSpPr>
          <p:cNvPr id="8" name="Shape 6"/>
          <p:cNvSpPr/>
          <p:nvPr/>
        </p:nvSpPr>
        <p:spPr>
          <a:xfrm>
            <a:off x="411480" y="1060704"/>
            <a:ext cx="7406640" cy="566928"/>
          </a:xfrm>
          <a:prstGeom prst="roundRect">
            <a:avLst>
              <a:gd name="adj" fmla="val 6452"/>
            </a:avLst>
          </a:prstGeom>
          <a:solidFill>
            <a:srgbClr val="FFFFFF"/>
          </a:solidFill>
          <a:ln w="13970">
            <a:solidFill>
              <a:srgbClr val="0B6E6E"/>
            </a:solidFill>
            <a:prstDash val="solid"/>
          </a:ln>
        </p:spPr>
      </p:sp>
      <p:sp>
        <p:nvSpPr>
          <p:cNvPr id="9" name="Shape 7"/>
          <p:cNvSpPr/>
          <p:nvPr/>
        </p:nvSpPr>
        <p:spPr>
          <a:xfrm>
            <a:off x="411480" y="1060704"/>
            <a:ext cx="475488" cy="566928"/>
          </a:xfrm>
          <a:prstGeom prst="rect">
            <a:avLst/>
          </a:prstGeom>
          <a:solidFill>
            <a:srgbClr val="0B6E6E"/>
          </a:solidFill>
          <a:ln w="12700">
            <a:solidFill>
              <a:srgbClr val="333333"/>
            </a:solidFill>
            <a:prstDash val="solid"/>
          </a:ln>
        </p:spPr>
      </p:sp>
      <p:sp>
        <p:nvSpPr>
          <p:cNvPr id="10" name="Text 8"/>
          <p:cNvSpPr txBox="1"/>
          <p:nvPr/>
        </p:nvSpPr>
        <p:spPr>
          <a:xfrm>
            <a:off x="411480" y="1060704"/>
            <a:ext cx="47548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5</a:t>
            </a:r>
            <a:endParaRPr lang="en-US" sz="1700" dirty="0"/>
          </a:p>
        </p:txBody>
      </p:sp>
      <p:sp>
        <p:nvSpPr>
          <p:cNvPr id="11" name="Text 9"/>
          <p:cNvSpPr txBox="1"/>
          <p:nvPr/>
        </p:nvSpPr>
        <p:spPr>
          <a:xfrm>
            <a:off x="1014984" y="1133856"/>
            <a:ext cx="2743200" cy="219456"/>
          </a:xfrm>
          <a:prstGeom prst="rect">
            <a:avLst/>
          </a:prstGeom>
          <a:noFill/>
          <a:ln/>
        </p:spPr>
        <p:txBody>
          <a:bodyPr wrap="square" lIns="0" tIns="0" rIns="0" bIns="0" rtlCol="0" anchor="ctr"/>
          <a:lstStyle/>
          <a:p>
            <a:pPr indent="0" marL="0">
              <a:buNone/>
            </a:pPr>
            <a:r>
              <a:rPr lang="en-US" sz="1000" b="1" dirty="0">
                <a:solidFill>
                  <a:srgbClr val="1B2432"/>
                </a:solidFill>
                <a:latin typeface="Calibri" pitchFamily="34" charset="0"/>
                <a:ea typeface="Calibri" pitchFamily="34" charset="-122"/>
                <a:cs typeface="Calibri" pitchFamily="34" charset="-120"/>
              </a:rPr>
              <a:t>Partner cockpit and clinic</a:t>
            </a:r>
            <a:endParaRPr lang="en-US" sz="1000" dirty="0"/>
          </a:p>
        </p:txBody>
      </p:sp>
      <p:sp>
        <p:nvSpPr>
          <p:cNvPr id="12" name="Text 10"/>
          <p:cNvSpPr txBox="1"/>
          <p:nvPr/>
        </p:nvSpPr>
        <p:spPr>
          <a:xfrm>
            <a:off x="1014984" y="1335024"/>
            <a:ext cx="6675120" cy="256032"/>
          </a:xfrm>
          <a:prstGeom prst="rect">
            <a:avLst/>
          </a:prstGeom>
          <a:noFill/>
          <a:ln/>
        </p:spPr>
        <p:txBody>
          <a:bodyPr wrap="square" lIns="0" tIns="0" rIns="0" bIns="0" rtlCol="0" anchor="ctr"/>
          <a:lstStyle/>
          <a:p>
            <a:pPr indent="0" marL="0">
              <a:lnSpc>
                <a:spcPts val="880"/>
              </a:lnSpc>
              <a:buNone/>
            </a:pPr>
            <a:r>
              <a:rPr lang="en-US" sz="760" dirty="0">
                <a:solidFill>
                  <a:srgbClr val="55606E"/>
                </a:solidFill>
                <a:latin typeface="Calibri" pitchFamily="34" charset="0"/>
                <a:ea typeface="Calibri" pitchFamily="34" charset="-122"/>
                <a:cs typeface="Calibri" pitchFamily="34" charset="-120"/>
              </a:rPr>
              <a:t>Where an intake is raised, state is visible, self-service actions are taken, clinic slots are booked and generated artefacts collected</a:t>
            </a:r>
            <a:endParaRPr lang="en-US" sz="760" dirty="0"/>
          </a:p>
        </p:txBody>
      </p:sp>
      <p:sp>
        <p:nvSpPr>
          <p:cNvPr id="13" name="Shape 11"/>
          <p:cNvSpPr/>
          <p:nvPr/>
        </p:nvSpPr>
        <p:spPr>
          <a:xfrm>
            <a:off x="411480" y="1700784"/>
            <a:ext cx="7406640" cy="566928"/>
          </a:xfrm>
          <a:prstGeom prst="roundRect">
            <a:avLst>
              <a:gd name="adj" fmla="val 6452"/>
            </a:avLst>
          </a:prstGeom>
          <a:solidFill>
            <a:srgbClr val="FFFFFF"/>
          </a:solidFill>
          <a:ln w="13970">
            <a:solidFill>
              <a:srgbClr val="9A6410"/>
            </a:solidFill>
            <a:prstDash val="solid"/>
          </a:ln>
        </p:spPr>
      </p:sp>
      <p:sp>
        <p:nvSpPr>
          <p:cNvPr id="14" name="Shape 12"/>
          <p:cNvSpPr/>
          <p:nvPr/>
        </p:nvSpPr>
        <p:spPr>
          <a:xfrm>
            <a:off x="411480" y="1700784"/>
            <a:ext cx="475488" cy="566928"/>
          </a:xfrm>
          <a:prstGeom prst="rect">
            <a:avLst/>
          </a:prstGeom>
          <a:solidFill>
            <a:srgbClr val="9A6410"/>
          </a:solidFill>
          <a:ln w="12700">
            <a:solidFill>
              <a:srgbClr val="333333"/>
            </a:solidFill>
            <a:prstDash val="solid"/>
          </a:ln>
        </p:spPr>
      </p:sp>
      <p:sp>
        <p:nvSpPr>
          <p:cNvPr id="15" name="Text 13"/>
          <p:cNvSpPr txBox="1"/>
          <p:nvPr/>
        </p:nvSpPr>
        <p:spPr>
          <a:xfrm>
            <a:off x="411480" y="1700784"/>
            <a:ext cx="47548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16" name="Text 14"/>
          <p:cNvSpPr txBox="1"/>
          <p:nvPr/>
        </p:nvSpPr>
        <p:spPr>
          <a:xfrm>
            <a:off x="1014984" y="1773936"/>
            <a:ext cx="2743200" cy="219456"/>
          </a:xfrm>
          <a:prstGeom prst="rect">
            <a:avLst/>
          </a:prstGeom>
          <a:noFill/>
          <a:ln/>
        </p:spPr>
        <p:txBody>
          <a:bodyPr wrap="square" lIns="0" tIns="0" rIns="0" bIns="0" rtlCol="0" anchor="ctr"/>
          <a:lstStyle/>
          <a:p>
            <a:pPr indent="0" marL="0">
              <a:buNone/>
            </a:pPr>
            <a:r>
              <a:rPr lang="en-US" sz="1000" b="1" dirty="0">
                <a:solidFill>
                  <a:srgbClr val="1B2432"/>
                </a:solidFill>
                <a:latin typeface="Calibri" pitchFamily="34" charset="0"/>
                <a:ea typeface="Calibri" pitchFamily="34" charset="-122"/>
                <a:cs typeface="Calibri" pitchFamily="34" charset="-120"/>
              </a:rPr>
              <a:t>Gate and policy engine</a:t>
            </a:r>
            <a:endParaRPr lang="en-US" sz="1000" dirty="0"/>
          </a:p>
        </p:txBody>
      </p:sp>
      <p:sp>
        <p:nvSpPr>
          <p:cNvPr id="17" name="Text 15"/>
          <p:cNvSpPr txBox="1"/>
          <p:nvPr/>
        </p:nvSpPr>
        <p:spPr>
          <a:xfrm>
            <a:off x="1014984" y="1975104"/>
            <a:ext cx="6675120" cy="256032"/>
          </a:xfrm>
          <a:prstGeom prst="rect">
            <a:avLst/>
          </a:prstGeom>
          <a:noFill/>
          <a:ln/>
        </p:spPr>
        <p:txBody>
          <a:bodyPr wrap="square" lIns="0" tIns="0" rIns="0" bIns="0" rtlCol="0" anchor="ctr"/>
          <a:lstStyle/>
          <a:p>
            <a:pPr indent="0" marL="0">
              <a:lnSpc>
                <a:spcPts val="880"/>
              </a:lnSpc>
              <a:buNone/>
            </a:pPr>
            <a:r>
              <a:rPr lang="en-US" sz="760" dirty="0">
                <a:solidFill>
                  <a:srgbClr val="55606E"/>
                </a:solidFill>
                <a:latin typeface="Calibri" pitchFamily="34" charset="0"/>
                <a:ea typeface="Calibri" pitchFamily="34" charset="-122"/>
                <a:cs typeface="Calibri" pitchFamily="34" charset="-120"/>
              </a:rPr>
              <a:t>Evaluates whether an intake may advance, independently of who is asking. Deterministic, replayable, identical across tiers.</a:t>
            </a:r>
            <a:endParaRPr lang="en-US" sz="760" dirty="0"/>
          </a:p>
        </p:txBody>
      </p:sp>
      <p:sp>
        <p:nvSpPr>
          <p:cNvPr id="18" name="Shape 16"/>
          <p:cNvSpPr/>
          <p:nvPr/>
        </p:nvSpPr>
        <p:spPr>
          <a:xfrm>
            <a:off x="411480" y="2340864"/>
            <a:ext cx="7406640" cy="566928"/>
          </a:xfrm>
          <a:prstGeom prst="roundRect">
            <a:avLst>
              <a:gd name="adj" fmla="val 6452"/>
            </a:avLst>
          </a:prstGeom>
          <a:solidFill>
            <a:srgbClr val="FFFFFF"/>
          </a:solidFill>
          <a:ln w="13970">
            <a:solidFill>
              <a:srgbClr val="A44A2A"/>
            </a:solidFill>
            <a:prstDash val="solid"/>
          </a:ln>
        </p:spPr>
      </p:sp>
      <p:sp>
        <p:nvSpPr>
          <p:cNvPr id="19" name="Shape 17"/>
          <p:cNvSpPr/>
          <p:nvPr/>
        </p:nvSpPr>
        <p:spPr>
          <a:xfrm>
            <a:off x="411480" y="2340864"/>
            <a:ext cx="475488" cy="566928"/>
          </a:xfrm>
          <a:prstGeom prst="rect">
            <a:avLst/>
          </a:prstGeom>
          <a:solidFill>
            <a:srgbClr val="A44A2A"/>
          </a:solidFill>
          <a:ln w="12700">
            <a:solidFill>
              <a:srgbClr val="333333"/>
            </a:solidFill>
            <a:prstDash val="solid"/>
          </a:ln>
        </p:spPr>
      </p:sp>
      <p:sp>
        <p:nvSpPr>
          <p:cNvPr id="20" name="Text 18"/>
          <p:cNvSpPr txBox="1"/>
          <p:nvPr/>
        </p:nvSpPr>
        <p:spPr>
          <a:xfrm>
            <a:off x="411480" y="2340864"/>
            <a:ext cx="47548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21" name="Text 19"/>
          <p:cNvSpPr txBox="1"/>
          <p:nvPr/>
        </p:nvSpPr>
        <p:spPr>
          <a:xfrm>
            <a:off x="1014984" y="2414016"/>
            <a:ext cx="2743200" cy="219456"/>
          </a:xfrm>
          <a:prstGeom prst="rect">
            <a:avLst/>
          </a:prstGeom>
          <a:noFill/>
          <a:ln/>
        </p:spPr>
        <p:txBody>
          <a:bodyPr wrap="square" lIns="0" tIns="0" rIns="0" bIns="0" rtlCol="0" anchor="ctr"/>
          <a:lstStyle/>
          <a:p>
            <a:pPr indent="0" marL="0">
              <a:buNone/>
            </a:pPr>
            <a:r>
              <a:rPr lang="en-US" sz="1000" b="1" dirty="0">
                <a:solidFill>
                  <a:srgbClr val="1B2432"/>
                </a:solidFill>
                <a:latin typeface="Calibri" pitchFamily="34" charset="0"/>
                <a:ea typeface="Calibri" pitchFamily="34" charset="-122"/>
                <a:cs typeface="Calibri" pitchFamily="34" charset="-120"/>
              </a:rPr>
              <a:t>Provisioning engine</a:t>
            </a:r>
            <a:endParaRPr lang="en-US" sz="1000" dirty="0"/>
          </a:p>
        </p:txBody>
      </p:sp>
      <p:sp>
        <p:nvSpPr>
          <p:cNvPr id="22" name="Text 20"/>
          <p:cNvSpPr txBox="1"/>
          <p:nvPr/>
        </p:nvSpPr>
        <p:spPr>
          <a:xfrm>
            <a:off x="1014984" y="2615184"/>
            <a:ext cx="6675120" cy="256032"/>
          </a:xfrm>
          <a:prstGeom prst="rect">
            <a:avLst/>
          </a:prstGeom>
          <a:noFill/>
          <a:ln/>
        </p:spPr>
        <p:txBody>
          <a:bodyPr wrap="square" lIns="0" tIns="0" rIns="0" bIns="0" rtlCol="0" anchor="ctr"/>
          <a:lstStyle/>
          <a:p>
            <a:pPr indent="0" marL="0">
              <a:lnSpc>
                <a:spcPts val="880"/>
              </a:lnSpc>
              <a:buNone/>
            </a:pPr>
            <a:r>
              <a:rPr lang="en-US" sz="760" dirty="0">
                <a:solidFill>
                  <a:srgbClr val="55606E"/>
                </a:solidFill>
                <a:latin typeface="Calibri" pitchFamily="34" charset="0"/>
                <a:ea typeface="Calibri" pitchFamily="34" charset="-122"/>
                <a:cs typeface="Calibri" pitchFamily="34" charset="-120"/>
              </a:rPr>
              <a:t>Turns a selected pattern plus a completed intake into actual configuration, within policy-approved bounds. Refuses rather than guesses.</a:t>
            </a:r>
            <a:endParaRPr lang="en-US" sz="760" dirty="0"/>
          </a:p>
        </p:txBody>
      </p:sp>
      <p:sp>
        <p:nvSpPr>
          <p:cNvPr id="23" name="Shape 21"/>
          <p:cNvSpPr/>
          <p:nvPr/>
        </p:nvSpPr>
        <p:spPr>
          <a:xfrm>
            <a:off x="411480" y="2980944"/>
            <a:ext cx="7406640" cy="566928"/>
          </a:xfrm>
          <a:prstGeom prst="roundRect">
            <a:avLst>
              <a:gd name="adj" fmla="val 6452"/>
            </a:avLst>
          </a:prstGeom>
          <a:solidFill>
            <a:srgbClr val="FFFFFF"/>
          </a:solidFill>
          <a:ln w="13970">
            <a:solidFill>
              <a:srgbClr val="5B4A72"/>
            </a:solidFill>
            <a:prstDash val="solid"/>
          </a:ln>
        </p:spPr>
      </p:sp>
      <p:sp>
        <p:nvSpPr>
          <p:cNvPr id="24" name="Shape 22"/>
          <p:cNvSpPr/>
          <p:nvPr/>
        </p:nvSpPr>
        <p:spPr>
          <a:xfrm>
            <a:off x="411480" y="2980944"/>
            <a:ext cx="475488" cy="566928"/>
          </a:xfrm>
          <a:prstGeom prst="rect">
            <a:avLst/>
          </a:prstGeom>
          <a:solidFill>
            <a:srgbClr val="5B4A72"/>
          </a:solidFill>
          <a:ln w="12700">
            <a:solidFill>
              <a:srgbClr val="333333"/>
            </a:solidFill>
            <a:prstDash val="solid"/>
          </a:ln>
        </p:spPr>
      </p:sp>
      <p:sp>
        <p:nvSpPr>
          <p:cNvPr id="25" name="Text 23"/>
          <p:cNvSpPr txBox="1"/>
          <p:nvPr/>
        </p:nvSpPr>
        <p:spPr>
          <a:xfrm>
            <a:off x="411480" y="2980944"/>
            <a:ext cx="47548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26" name="Text 24"/>
          <p:cNvSpPr txBox="1"/>
          <p:nvPr/>
        </p:nvSpPr>
        <p:spPr>
          <a:xfrm>
            <a:off x="1014984" y="3054096"/>
            <a:ext cx="2743200" cy="219456"/>
          </a:xfrm>
          <a:prstGeom prst="rect">
            <a:avLst/>
          </a:prstGeom>
          <a:noFill/>
          <a:ln/>
        </p:spPr>
        <p:txBody>
          <a:bodyPr wrap="square" lIns="0" tIns="0" rIns="0" bIns="0" rtlCol="0" anchor="ctr"/>
          <a:lstStyle/>
          <a:p>
            <a:pPr indent="0" marL="0">
              <a:buNone/>
            </a:pPr>
            <a:r>
              <a:rPr lang="en-US" sz="1000" b="1" dirty="0">
                <a:solidFill>
                  <a:srgbClr val="1B2432"/>
                </a:solidFill>
                <a:latin typeface="Calibri" pitchFamily="34" charset="0"/>
                <a:ea typeface="Calibri" pitchFamily="34" charset="-122"/>
                <a:cs typeface="Calibri" pitchFamily="34" charset="-120"/>
              </a:rPr>
              <a:t>Pattern catalogue</a:t>
            </a:r>
            <a:endParaRPr lang="en-US" sz="1000" dirty="0"/>
          </a:p>
        </p:txBody>
      </p:sp>
      <p:sp>
        <p:nvSpPr>
          <p:cNvPr id="27" name="Text 25"/>
          <p:cNvSpPr txBox="1"/>
          <p:nvPr/>
        </p:nvSpPr>
        <p:spPr>
          <a:xfrm>
            <a:off x="1014984" y="3255264"/>
            <a:ext cx="6675120" cy="256032"/>
          </a:xfrm>
          <a:prstGeom prst="rect">
            <a:avLst/>
          </a:prstGeom>
          <a:noFill/>
          <a:ln/>
        </p:spPr>
        <p:txBody>
          <a:bodyPr wrap="square" lIns="0" tIns="0" rIns="0" bIns="0" rtlCol="0" anchor="ctr"/>
          <a:lstStyle/>
          <a:p>
            <a:pPr indent="0" marL="0">
              <a:lnSpc>
                <a:spcPts val="880"/>
              </a:lnSpc>
              <a:buNone/>
            </a:pPr>
            <a:r>
              <a:rPr lang="en-US" sz="760" dirty="0">
                <a:solidFill>
                  <a:srgbClr val="55606E"/>
                </a:solidFill>
                <a:latin typeface="Calibri" pitchFamily="34" charset="0"/>
                <a:ea typeface="Calibri" pitchFamily="34" charset="-122"/>
                <a:cs typeface="Calibri" pitchFamily="34" charset="-120"/>
              </a:rPr>
              <a:t>Versioned, executable descriptions of known onboarding shapes — steps, configuration, validations, tolerated variation</a:t>
            </a:r>
            <a:endParaRPr lang="en-US" sz="760" dirty="0"/>
          </a:p>
        </p:txBody>
      </p:sp>
      <p:sp>
        <p:nvSpPr>
          <p:cNvPr id="28" name="Shape 26"/>
          <p:cNvSpPr/>
          <p:nvPr/>
        </p:nvSpPr>
        <p:spPr>
          <a:xfrm>
            <a:off x="411480" y="3621024"/>
            <a:ext cx="7406640" cy="566928"/>
          </a:xfrm>
          <a:prstGeom prst="roundRect">
            <a:avLst>
              <a:gd name="adj" fmla="val 6452"/>
            </a:avLst>
          </a:prstGeom>
          <a:solidFill>
            <a:srgbClr val="FFFFFF"/>
          </a:solidFill>
          <a:ln w="13970">
            <a:solidFill>
              <a:srgbClr val="15304F"/>
            </a:solidFill>
            <a:prstDash val="solid"/>
          </a:ln>
        </p:spPr>
      </p:sp>
      <p:sp>
        <p:nvSpPr>
          <p:cNvPr id="29" name="Shape 27"/>
          <p:cNvSpPr/>
          <p:nvPr/>
        </p:nvSpPr>
        <p:spPr>
          <a:xfrm>
            <a:off x="411480" y="3621024"/>
            <a:ext cx="475488" cy="566928"/>
          </a:xfrm>
          <a:prstGeom prst="rect">
            <a:avLst/>
          </a:prstGeom>
          <a:solidFill>
            <a:srgbClr val="15304F"/>
          </a:solidFill>
          <a:ln w="12700">
            <a:solidFill>
              <a:srgbClr val="333333"/>
            </a:solidFill>
            <a:prstDash val="solid"/>
          </a:ln>
        </p:spPr>
      </p:sp>
      <p:sp>
        <p:nvSpPr>
          <p:cNvPr id="30" name="Text 28"/>
          <p:cNvSpPr txBox="1"/>
          <p:nvPr/>
        </p:nvSpPr>
        <p:spPr>
          <a:xfrm>
            <a:off x="411480" y="3621024"/>
            <a:ext cx="47548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31" name="Text 29"/>
          <p:cNvSpPr txBox="1"/>
          <p:nvPr/>
        </p:nvSpPr>
        <p:spPr>
          <a:xfrm>
            <a:off x="1014984" y="3694176"/>
            <a:ext cx="2743200" cy="219456"/>
          </a:xfrm>
          <a:prstGeom prst="rect">
            <a:avLst/>
          </a:prstGeom>
          <a:noFill/>
          <a:ln/>
        </p:spPr>
        <p:txBody>
          <a:bodyPr wrap="square" lIns="0" tIns="0" rIns="0" bIns="0" rtlCol="0" anchor="ctr"/>
          <a:lstStyle/>
          <a:p>
            <a:pPr indent="0" marL="0">
              <a:buNone/>
            </a:pPr>
            <a:r>
              <a:rPr lang="en-US" sz="1000" b="1" dirty="0">
                <a:solidFill>
                  <a:srgbClr val="1B2432"/>
                </a:solidFill>
                <a:latin typeface="Calibri" pitchFamily="34" charset="0"/>
                <a:ea typeface="Calibri" pitchFamily="34" charset="-122"/>
                <a:cs typeface="Calibri" pitchFamily="34" charset="-120"/>
              </a:rPr>
              <a:t>Enablement record</a:t>
            </a:r>
            <a:endParaRPr lang="en-US" sz="1000" dirty="0"/>
          </a:p>
        </p:txBody>
      </p:sp>
      <p:sp>
        <p:nvSpPr>
          <p:cNvPr id="32" name="Text 30"/>
          <p:cNvSpPr txBox="1"/>
          <p:nvPr/>
        </p:nvSpPr>
        <p:spPr>
          <a:xfrm>
            <a:off x="1014984" y="3895344"/>
            <a:ext cx="6675120" cy="256032"/>
          </a:xfrm>
          <a:prstGeom prst="rect">
            <a:avLst/>
          </a:prstGeom>
          <a:noFill/>
          <a:ln/>
        </p:spPr>
        <p:txBody>
          <a:bodyPr wrap="square" lIns="0" tIns="0" rIns="0" bIns="0" rtlCol="0" anchor="ctr"/>
          <a:lstStyle/>
          <a:p>
            <a:pPr indent="0" marL="0">
              <a:lnSpc>
                <a:spcPts val="880"/>
              </a:lnSpc>
              <a:buNone/>
            </a:pPr>
            <a:r>
              <a:rPr lang="en-US" sz="760" dirty="0">
                <a:solidFill>
                  <a:srgbClr val="55606E"/>
                </a:solidFill>
                <a:latin typeface="Calibri" pitchFamily="34" charset="0"/>
                <a:ea typeface="Calibri" pitchFamily="34" charset="-122"/>
                <a:cs typeface="Calibri" pitchFamily="34" charset="-120"/>
              </a:rPr>
              <a:t>The durable record: scope, tier, every determination, every artefact, state across all phases, full audit trail</a:t>
            </a:r>
            <a:endParaRPr lang="en-US" sz="760" dirty="0"/>
          </a:p>
        </p:txBody>
      </p:sp>
      <p:sp>
        <p:nvSpPr>
          <p:cNvPr id="33" name="Shape 31"/>
          <p:cNvSpPr/>
          <p:nvPr/>
        </p:nvSpPr>
        <p:spPr>
          <a:xfrm>
            <a:off x="8019288" y="1060704"/>
            <a:ext cx="3730752" cy="1847088"/>
          </a:xfrm>
          <a:prstGeom prst="roundRect">
            <a:avLst>
              <a:gd name="adj" fmla="val 2475"/>
            </a:avLst>
          </a:prstGeom>
          <a:solidFill>
            <a:srgbClr val="FFFFFF"/>
          </a:solidFill>
          <a:ln w="15875">
            <a:solidFill>
              <a:srgbClr val="0B6E6E"/>
            </a:solidFill>
            <a:prstDash val="solid"/>
          </a:ln>
          <a:effectLst>
            <a:outerShdw sx="100000" sy="100000" kx="0" ky="0" algn="bl" rotWithShape="0" blurRad="88900" dist="12700" dir="5400000">
              <a:srgbClr val="97A3B4">
                <a:alpha val="16000"/>
              </a:srgbClr>
            </a:outerShdw>
          </a:effectLst>
        </p:spPr>
      </p:sp>
      <p:sp>
        <p:nvSpPr>
          <p:cNvPr id="34" name="Text 32"/>
          <p:cNvSpPr txBox="1"/>
          <p:nvPr/>
        </p:nvSpPr>
        <p:spPr>
          <a:xfrm>
            <a:off x="8165592" y="1188720"/>
            <a:ext cx="3438144" cy="164592"/>
          </a:xfrm>
          <a:prstGeom prst="rect">
            <a:avLst/>
          </a:prstGeom>
          <a:noFill/>
          <a:ln/>
        </p:spPr>
        <p:txBody>
          <a:bodyPr wrap="square" lIns="0" tIns="0" rIns="0" bIns="0" rtlCol="0" anchor="ctr"/>
          <a:lstStyle/>
          <a:p>
            <a:pPr indent="0" marL="0">
              <a:buNone/>
            </a:pPr>
            <a:r>
              <a:rPr lang="en-US" sz="720" b="1" spc="100" kern="0" dirty="0">
                <a:solidFill>
                  <a:srgbClr val="0B6E6E"/>
                </a:solidFill>
                <a:latin typeface="Calibri" pitchFamily="34" charset="0"/>
                <a:ea typeface="Calibri" pitchFamily="34" charset="-122"/>
                <a:cs typeface="Calibri" pitchFamily="34" charset="-120"/>
              </a:rPr>
              <a:t>THE DEPENDENCY</a:t>
            </a:r>
            <a:endParaRPr lang="en-US" sz="720" dirty="0"/>
          </a:p>
        </p:txBody>
      </p:sp>
      <p:sp>
        <p:nvSpPr>
          <p:cNvPr id="35" name="Text 33"/>
          <p:cNvSpPr txBox="1"/>
          <p:nvPr/>
        </p:nvSpPr>
        <p:spPr>
          <a:xfrm>
            <a:off x="8165592" y="1371600"/>
            <a:ext cx="3438144" cy="310896"/>
          </a:xfrm>
          <a:prstGeom prst="rect">
            <a:avLst/>
          </a:prstGeom>
          <a:noFill/>
          <a:ln/>
        </p:spPr>
        <p:txBody>
          <a:bodyPr wrap="square" lIns="0" tIns="0" rIns="0" bIns="0" rtlCol="0" anchor="t"/>
          <a:lstStyle/>
          <a:p>
            <a:pPr indent="0" marL="0">
              <a:lnSpc>
                <a:spcPts val="1350"/>
              </a:lnSpc>
              <a:buNone/>
            </a:pPr>
            <a:r>
              <a:rPr lang="en-US" sz="1100" b="1" dirty="0">
                <a:solidFill>
                  <a:srgbClr val="1B2432"/>
                </a:solidFill>
                <a:latin typeface="Calibri" pitchFamily="34" charset="0"/>
                <a:ea typeface="Calibri" pitchFamily="34" charset="-122"/>
                <a:cs typeface="Calibri" pitchFamily="34" charset="-120"/>
              </a:rPr>
              <a:t>What replaces the engineer in Lean</a:t>
            </a:r>
            <a:endParaRPr lang="en-US" sz="1100" dirty="0"/>
          </a:p>
        </p:txBody>
      </p:sp>
      <p:sp>
        <p:nvSpPr>
          <p:cNvPr id="36" name="Text 34"/>
          <p:cNvSpPr txBox="1"/>
          <p:nvPr/>
        </p:nvSpPr>
        <p:spPr>
          <a:xfrm>
            <a:off x="8165592" y="1847088"/>
            <a:ext cx="3438144" cy="914400"/>
          </a:xfrm>
          <a:prstGeom prst="rect">
            <a:avLst/>
          </a:prstGeom>
          <a:noFill/>
          <a:ln/>
        </p:spPr>
        <p:txBody>
          <a:bodyPr wrap="square" lIns="0" tIns="0" rIns="0" bIns="0" rtlCol="0" anchor="t"/>
          <a:lstStyle/>
          <a:p>
            <a:pPr indent="0" marL="0">
              <a:lnSpc>
                <a:spcPts val="1020"/>
              </a:lnSpc>
              <a:spcAft>
                <a:spcPts val="250"/>
              </a:spcAft>
              <a:buNone/>
            </a:pPr>
            <a:r>
              <a:rPr lang="en-US" sz="760" dirty="0">
                <a:solidFill>
                  <a:srgbClr val="55606E"/>
                </a:solidFill>
                <a:latin typeface="Calibri" pitchFamily="34" charset="0"/>
                <a:ea typeface="Calibri" pitchFamily="34" charset="-122"/>
                <a:cs typeface="Calibri" pitchFamily="34" charset="-120"/>
              </a:rPr>
              <a:t>Knowledge of what to do next  →  pattern catalogue</a:t>
            </a:r>
            <a:endParaRPr lang="en-US" sz="760" dirty="0"/>
          </a:p>
          <a:p>
            <a:pPr indent="0" marL="0">
              <a:lnSpc>
                <a:spcPts val="1020"/>
              </a:lnSpc>
              <a:spcAft>
                <a:spcPts val="250"/>
              </a:spcAft>
              <a:buNone/>
            </a:pPr>
            <a:r>
              <a:rPr lang="en-US" sz="760" dirty="0">
                <a:solidFill>
                  <a:srgbClr val="55606E"/>
                </a:solidFill>
                <a:latin typeface="Calibri" pitchFamily="34" charset="0"/>
                <a:ea typeface="Calibri" pitchFamily="34" charset="-122"/>
                <a:cs typeface="Calibri" pitchFamily="34" charset="-120"/>
              </a:rPr>
              <a:t>Authority to provision  →  provisioning engine with policy bounds</a:t>
            </a:r>
            <a:endParaRPr lang="en-US" sz="760" dirty="0"/>
          </a:p>
          <a:p>
            <a:pPr indent="0" marL="0">
              <a:lnSpc>
                <a:spcPts val="1020"/>
              </a:lnSpc>
              <a:spcAft>
                <a:spcPts val="250"/>
              </a:spcAft>
              <a:buNone/>
            </a:pPr>
            <a:r>
              <a:rPr lang="en-US" sz="760" dirty="0">
                <a:solidFill>
                  <a:srgbClr val="55606E"/>
                </a:solidFill>
                <a:latin typeface="Calibri" pitchFamily="34" charset="0"/>
                <a:ea typeface="Calibri" pitchFamily="34" charset="-122"/>
                <a:cs typeface="Calibri" pitchFamily="34" charset="-120"/>
              </a:rPr>
              <a:t>Judgement that something is wrong  →  gate engine with explicit reasons</a:t>
            </a:r>
            <a:endParaRPr lang="en-US" sz="760" dirty="0"/>
          </a:p>
          <a:p>
            <a:pPr indent="0" marL="0">
              <a:lnSpc>
                <a:spcPts val="1020"/>
              </a:lnSpc>
              <a:spcAft>
                <a:spcPts val="250"/>
              </a:spcAft>
              <a:buNone/>
            </a:pPr>
            <a:r>
              <a:rPr lang="en-US" sz="760" dirty="0">
                <a:solidFill>
                  <a:srgbClr val="55606E"/>
                </a:solidFill>
                <a:latin typeface="Calibri" pitchFamily="34" charset="0"/>
                <a:ea typeface="Calibri" pitchFamily="34" charset="-122"/>
                <a:cs typeface="Calibri" pitchFamily="34" charset="-120"/>
              </a:rPr>
              <a:t>Memory of what was agreed  →  enablement record</a:t>
            </a:r>
            <a:endParaRPr lang="en-US" sz="760" dirty="0"/>
          </a:p>
          <a:p>
            <a:pPr indent="0" marL="0">
              <a:lnSpc>
                <a:spcPts val="1020"/>
              </a:lnSpc>
              <a:spcAft>
                <a:spcPts val="250"/>
              </a:spcAft>
              <a:buNone/>
            </a:pPr>
            <a:r>
              <a:rPr lang="en-US" sz="760" dirty="0">
                <a:solidFill>
                  <a:srgbClr val="55606E"/>
                </a:solidFill>
                <a:latin typeface="Calibri" pitchFamily="34" charset="0"/>
                <a:ea typeface="Calibri" pitchFamily="34" charset="-122"/>
                <a:cs typeface="Calibri" pitchFamily="34" charset="-120"/>
              </a:rPr>
              <a:t>Chasing and coordination  →  workflow and notification</a:t>
            </a:r>
            <a:endParaRPr lang="en-US" sz="760" dirty="0"/>
          </a:p>
          <a:p>
            <a:pPr indent="0" marL="0">
              <a:lnSpc>
                <a:spcPts val="1020"/>
              </a:lnSpc>
              <a:spcAft>
                <a:spcPts val="250"/>
              </a:spcAft>
              <a:buNone/>
            </a:pPr>
            <a:r>
              <a:rPr lang="en-US" sz="760" dirty="0">
                <a:solidFill>
                  <a:srgbClr val="55606E"/>
                </a:solidFill>
                <a:latin typeface="Calibri" pitchFamily="34" charset="0"/>
                <a:ea typeface="Calibri" pitchFamily="34" charset="-122"/>
                <a:cs typeface="Calibri" pitchFamily="34" charset="-120"/>
              </a:rPr>
              <a:t>Document production  →  artefact generation</a:t>
            </a:r>
            <a:endParaRPr lang="en-US" sz="760" dirty="0"/>
          </a:p>
        </p:txBody>
      </p:sp>
      <p:sp>
        <p:nvSpPr>
          <p:cNvPr id="37" name="Shape 35"/>
          <p:cNvSpPr/>
          <p:nvPr/>
        </p:nvSpPr>
        <p:spPr>
          <a:xfrm>
            <a:off x="8019288" y="3017520"/>
            <a:ext cx="3730752" cy="1883664"/>
          </a:xfrm>
          <a:prstGeom prst="roundRect">
            <a:avLst>
              <a:gd name="adj" fmla="val 2427"/>
            </a:avLst>
          </a:prstGeom>
          <a:solidFill>
            <a:srgbClr val="FFFFFF"/>
          </a:solidFill>
          <a:ln w="15875">
            <a:solidFill>
              <a:srgbClr val="A44A2A"/>
            </a:solidFill>
            <a:prstDash val="solid"/>
          </a:ln>
          <a:effectLst>
            <a:outerShdw sx="100000" sy="100000" kx="0" ky="0" algn="bl" rotWithShape="0" blurRad="88900" dist="12700" dir="5400000">
              <a:srgbClr val="97A3B4">
                <a:alpha val="16000"/>
              </a:srgbClr>
            </a:outerShdw>
          </a:effectLst>
        </p:spPr>
      </p:sp>
      <p:sp>
        <p:nvSpPr>
          <p:cNvPr id="38" name="Text 36"/>
          <p:cNvSpPr txBox="1"/>
          <p:nvPr/>
        </p:nvSpPr>
        <p:spPr>
          <a:xfrm>
            <a:off x="8165592" y="3145536"/>
            <a:ext cx="3438144" cy="164592"/>
          </a:xfrm>
          <a:prstGeom prst="rect">
            <a:avLst/>
          </a:prstGeom>
          <a:noFill/>
          <a:ln/>
        </p:spPr>
        <p:txBody>
          <a:bodyPr wrap="square" lIns="0" tIns="0" rIns="0" bIns="0" rtlCol="0" anchor="ctr"/>
          <a:lstStyle/>
          <a:p>
            <a:pPr indent="0" marL="0">
              <a:buNone/>
            </a:pPr>
            <a:r>
              <a:rPr lang="en-US" sz="720" b="1" spc="100" kern="0" dirty="0">
                <a:solidFill>
                  <a:srgbClr val="A44A2A"/>
                </a:solidFill>
                <a:latin typeface="Calibri" pitchFamily="34" charset="0"/>
                <a:ea typeface="Calibri" pitchFamily="34" charset="-122"/>
                <a:cs typeface="Calibri" pitchFamily="34" charset="-120"/>
              </a:rPr>
              <a:t>SCOPE DISCIPLINE</a:t>
            </a:r>
            <a:endParaRPr lang="en-US" sz="720" dirty="0"/>
          </a:p>
        </p:txBody>
      </p:sp>
      <p:sp>
        <p:nvSpPr>
          <p:cNvPr id="39" name="Text 37"/>
          <p:cNvSpPr txBox="1"/>
          <p:nvPr/>
        </p:nvSpPr>
        <p:spPr>
          <a:xfrm>
            <a:off x="8165592" y="3328416"/>
            <a:ext cx="3438144" cy="310896"/>
          </a:xfrm>
          <a:prstGeom prst="rect">
            <a:avLst/>
          </a:prstGeom>
          <a:noFill/>
          <a:ln/>
        </p:spPr>
        <p:txBody>
          <a:bodyPr wrap="square" lIns="0" tIns="0" rIns="0" bIns="0" rtlCol="0" anchor="t"/>
          <a:lstStyle/>
          <a:p>
            <a:pPr indent="0" marL="0">
              <a:lnSpc>
                <a:spcPts val="1350"/>
              </a:lnSpc>
              <a:buNone/>
            </a:pPr>
            <a:r>
              <a:rPr lang="en-US" sz="1100" b="1" dirty="0">
                <a:solidFill>
                  <a:srgbClr val="1B2432"/>
                </a:solidFill>
                <a:latin typeface="Calibri" pitchFamily="34" charset="0"/>
                <a:ea typeface="Calibri" pitchFamily="34" charset="-122"/>
                <a:cs typeface="Calibri" pitchFamily="34" charset="-120"/>
              </a:rPr>
              <a:t>What the platform deliberately does not do</a:t>
            </a:r>
            <a:endParaRPr lang="en-US" sz="1100" dirty="0"/>
          </a:p>
        </p:txBody>
      </p:sp>
      <p:sp>
        <p:nvSpPr>
          <p:cNvPr id="40" name="Text 38"/>
          <p:cNvSpPr txBox="1"/>
          <p:nvPr/>
        </p:nvSpPr>
        <p:spPr>
          <a:xfrm>
            <a:off x="8165592" y="3803904"/>
            <a:ext cx="3438144" cy="950976"/>
          </a:xfrm>
          <a:prstGeom prst="rect">
            <a:avLst/>
          </a:prstGeom>
          <a:noFill/>
          <a:ln/>
        </p:spPr>
        <p:txBody>
          <a:bodyPr wrap="square" lIns="0" tIns="0" rIns="0" bIns="0" rtlCol="0" anchor="t"/>
          <a:lstStyle/>
          <a:p>
            <a:pPr indent="0" marL="0">
              <a:lnSpc>
                <a:spcPts val="1020"/>
              </a:lnSpc>
              <a:spcAft>
                <a:spcPts val="250"/>
              </a:spcAft>
              <a:buNone/>
            </a:pPr>
            <a:r>
              <a:rPr lang="en-US" sz="760" dirty="0">
                <a:solidFill>
                  <a:srgbClr val="55606E"/>
                </a:solidFill>
                <a:latin typeface="Calibri" pitchFamily="34" charset="0"/>
                <a:ea typeface="Calibri" pitchFamily="34" charset="-122"/>
                <a:cs typeface="Calibri" pitchFamily="34" charset="-120"/>
              </a:rPr>
              <a:t>Make content classification determinations</a:t>
            </a:r>
            <a:endParaRPr lang="en-US" sz="760" dirty="0"/>
          </a:p>
          <a:p>
            <a:pPr indent="0" marL="0">
              <a:lnSpc>
                <a:spcPts val="1020"/>
              </a:lnSpc>
              <a:spcAft>
                <a:spcPts val="250"/>
              </a:spcAft>
              <a:buNone/>
            </a:pPr>
            <a:r>
              <a:rPr lang="en-US" sz="760" dirty="0">
                <a:solidFill>
                  <a:srgbClr val="55606E"/>
                </a:solidFill>
                <a:latin typeface="Calibri" pitchFamily="34" charset="0"/>
                <a:ea typeface="Calibri" pitchFamily="34" charset="-122"/>
                <a:cs typeface="Calibri" pitchFamily="34" charset="-120"/>
              </a:rPr>
              <a:t>Decide retention positions</a:t>
            </a:r>
            <a:endParaRPr lang="en-US" sz="760" dirty="0"/>
          </a:p>
          <a:p>
            <a:pPr indent="0" marL="0">
              <a:lnSpc>
                <a:spcPts val="1020"/>
              </a:lnSpc>
              <a:spcAft>
                <a:spcPts val="250"/>
              </a:spcAft>
              <a:buNone/>
            </a:pPr>
            <a:r>
              <a:rPr lang="en-US" sz="760" dirty="0">
                <a:solidFill>
                  <a:srgbClr val="55606E"/>
                </a:solidFill>
                <a:latin typeface="Calibri" pitchFamily="34" charset="0"/>
                <a:ea typeface="Calibri" pitchFamily="34" charset="-122"/>
                <a:cs typeface="Calibri" pitchFamily="34" charset="-120"/>
              </a:rPr>
              <a:t>Replace architecture judgement on novel patterns</a:t>
            </a:r>
            <a:endParaRPr lang="en-US" sz="760" dirty="0"/>
          </a:p>
          <a:p>
            <a:pPr indent="0" marL="0">
              <a:lnSpc>
                <a:spcPts val="1020"/>
              </a:lnSpc>
              <a:spcAft>
                <a:spcPts val="250"/>
              </a:spcAft>
              <a:buNone/>
            </a:pPr>
            <a:r>
              <a:rPr lang="en-US" sz="760" dirty="0">
                <a:solidFill>
                  <a:srgbClr val="55606E"/>
                </a:solidFill>
                <a:latin typeface="Calibri" pitchFamily="34" charset="0"/>
                <a:ea typeface="Calibri" pitchFamily="34" charset="-122"/>
                <a:cs typeface="Calibri" pitchFamily="34" charset="-120"/>
              </a:rPr>
              <a:t>Grant approvals of any kind</a:t>
            </a:r>
            <a:endParaRPr lang="en-US" sz="760" dirty="0"/>
          </a:p>
          <a:p>
            <a:pPr indent="0" marL="0">
              <a:lnSpc>
                <a:spcPts val="1020"/>
              </a:lnSpc>
              <a:spcAft>
                <a:spcPts val="250"/>
              </a:spcAft>
              <a:buNone/>
            </a:pPr>
            <a:r>
              <a:rPr lang="en-US" sz="760" dirty="0">
                <a:solidFill>
                  <a:srgbClr val="55606E"/>
                </a:solidFill>
                <a:latin typeface="Calibri" pitchFamily="34" charset="0"/>
                <a:ea typeface="Calibri" pitchFamily="34" charset="-122"/>
                <a:cs typeface="Calibri" pitchFamily="34" charset="-120"/>
              </a:rPr>
              <a:t>Build the partner's own integration</a:t>
            </a:r>
            <a:endParaRPr lang="en-US" sz="760" dirty="0"/>
          </a:p>
          <a:p>
            <a:pPr indent="0" marL="0">
              <a:lnSpc>
                <a:spcPts val="1020"/>
              </a:lnSpc>
              <a:spcAft>
                <a:spcPts val="250"/>
              </a:spcAft>
              <a:buNone/>
            </a:pPr>
            <a:r>
              <a:rPr lang="en-US" sz="760" dirty="0">
                <a:solidFill>
                  <a:srgbClr val="55606E"/>
                </a:solidFill>
                <a:latin typeface="Calibri" pitchFamily="34" charset="0"/>
                <a:ea typeface="Calibri" pitchFamily="34" charset="-122"/>
                <a:cs typeface="Calibri" pitchFamily="34" charset="-120"/>
              </a:rPr>
              <a:t>Replace the enablement relationship in Dedicated</a:t>
            </a:r>
            <a:endParaRPr lang="en-US" sz="760" dirty="0"/>
          </a:p>
        </p:txBody>
      </p:sp>
      <p:sp>
        <p:nvSpPr>
          <p:cNvPr id="41" name="Shape 39"/>
          <p:cNvSpPr/>
          <p:nvPr/>
        </p:nvSpPr>
        <p:spPr>
          <a:xfrm>
            <a:off x="411480" y="4315968"/>
            <a:ext cx="7406640" cy="804672"/>
          </a:xfrm>
          <a:prstGeom prst="roundRect">
            <a:avLst>
              <a:gd name="adj" fmla="val 5682"/>
            </a:avLst>
          </a:prstGeom>
          <a:solidFill>
            <a:srgbClr val="E9EEF4"/>
          </a:solidFill>
          <a:ln w="12700">
            <a:solidFill>
              <a:srgbClr val="15304F"/>
            </a:solidFill>
            <a:prstDash val="solid"/>
          </a:ln>
        </p:spPr>
      </p:sp>
      <p:sp>
        <p:nvSpPr>
          <p:cNvPr id="42" name="Text 40"/>
          <p:cNvSpPr txBox="1"/>
          <p:nvPr/>
        </p:nvSpPr>
        <p:spPr>
          <a:xfrm>
            <a:off x="557784" y="4398264"/>
            <a:ext cx="7114032" cy="182880"/>
          </a:xfrm>
          <a:prstGeom prst="rect">
            <a:avLst/>
          </a:prstGeom>
          <a:noFill/>
          <a:ln/>
        </p:spPr>
        <p:txBody>
          <a:bodyPr wrap="square" lIns="0" tIns="0" rIns="0" bIns="0" rtlCol="0" anchor="ctr"/>
          <a:lstStyle/>
          <a:p>
            <a:pPr indent="0" marL="0">
              <a:buNone/>
            </a:pPr>
            <a:r>
              <a:rPr lang="en-US" sz="760" b="1" spc="100" kern="0" dirty="0">
                <a:solidFill>
                  <a:srgbClr val="15304F"/>
                </a:solidFill>
                <a:latin typeface="Calibri" pitchFamily="34" charset="0"/>
                <a:ea typeface="Calibri" pitchFamily="34" charset="-122"/>
                <a:cs typeface="Calibri" pitchFamily="34" charset="-120"/>
              </a:rPr>
              <a:t>CHEAPER THAN IT LOOKS</a:t>
            </a:r>
            <a:endParaRPr lang="en-US" sz="760" dirty="0"/>
          </a:p>
        </p:txBody>
      </p:sp>
      <p:sp>
        <p:nvSpPr>
          <p:cNvPr id="43" name="Text 41"/>
          <p:cNvSpPr txBox="1"/>
          <p:nvPr/>
        </p:nvSpPr>
        <p:spPr>
          <a:xfrm>
            <a:off x="557784" y="4590288"/>
            <a:ext cx="7114032" cy="438912"/>
          </a:xfrm>
          <a:prstGeom prst="rect">
            <a:avLst/>
          </a:prstGeom>
          <a:noFill/>
          <a:ln/>
        </p:spPr>
        <p:txBody>
          <a:bodyPr wrap="square" lIns="0" tIns="0" rIns="0" bIns="0" rtlCol="0" anchor="t"/>
          <a:lstStyle/>
          <a:p>
            <a:pPr indent="0" marL="0">
              <a:lnSpc>
                <a:spcPts val="1100"/>
              </a:lnSpc>
              <a:buNone/>
            </a:pPr>
            <a:r>
              <a:rPr lang="en-US" sz="900" dirty="0">
                <a:solidFill>
                  <a:srgbClr val="1B2432"/>
                </a:solidFill>
                <a:latin typeface="Calibri" pitchFamily="34" charset="0"/>
                <a:ea typeface="Calibri" pitchFamily="34" charset="-122"/>
                <a:cs typeface="Calibri" pitchFamily="34" charset="-120"/>
              </a:rPr>
              <a:t>Automate the decisions before automating the systems. A rule returning the correct answer — which project, which access path, whether this may promote — delivers most of an integration's value at a fraction of the cost, because the expensive part of integration is the connection, not the logic. Generation beats integration for the same reason.</a:t>
            </a:r>
            <a:endParaRPr lang="en-US" sz="900" dirty="0"/>
          </a:p>
        </p:txBody>
      </p:sp>
      <p:sp>
        <p:nvSpPr>
          <p:cNvPr id="44" name="Shape 42"/>
          <p:cNvSpPr/>
          <p:nvPr/>
        </p:nvSpPr>
        <p:spPr>
          <a:xfrm>
            <a:off x="411480" y="5248656"/>
            <a:ext cx="11338560" cy="438912"/>
          </a:xfrm>
          <a:prstGeom prst="roundRect">
            <a:avLst>
              <a:gd name="adj" fmla="val 10417"/>
            </a:avLst>
          </a:prstGeom>
          <a:solidFill>
            <a:srgbClr val="F4F7FA"/>
          </a:solidFill>
          <a:ln w="9525">
            <a:solidFill>
              <a:srgbClr val="D4DAE2"/>
            </a:solidFill>
            <a:prstDash val="solid"/>
          </a:ln>
        </p:spPr>
      </p:sp>
      <p:sp>
        <p:nvSpPr>
          <p:cNvPr id="45" name="Text 43"/>
          <p:cNvSpPr txBox="1"/>
          <p:nvPr/>
        </p:nvSpPr>
        <p:spPr>
          <a:xfrm>
            <a:off x="557784" y="5248656"/>
            <a:ext cx="11045952" cy="438912"/>
          </a:xfrm>
          <a:prstGeom prst="rect">
            <a:avLst/>
          </a:prstGeom>
          <a:noFill/>
          <a:ln/>
        </p:spPr>
        <p:txBody>
          <a:bodyPr wrap="square" lIns="0" tIns="0" rIns="0" bIns="0" rtlCol="0" anchor="ctr"/>
          <a:lstStyle/>
          <a:p>
            <a:pPr indent="0" marL="0">
              <a:lnSpc>
                <a:spcPts val="1040"/>
              </a:lnSpc>
              <a:buNone/>
            </a:pPr>
            <a:r>
              <a:rPr lang="en-US" sz="860" dirty="0">
                <a:solidFill>
                  <a:srgbClr val="1B2432"/>
                </a:solidFill>
                <a:latin typeface="Calibri" pitchFamily="34" charset="0"/>
                <a:ea typeface="Calibri" pitchFamily="34" charset="-122"/>
                <a:cs typeface="Calibri" pitchFamily="34" charset="-120"/>
              </a:rPr>
              <a:t>Layer 1 is the layer that replaces one person's working memory, and everything above it depends on it being authoritative. Build it on existing tooling wherever possible — a new system of record is not required, and attempting one is how this becomes an eighteen-month programme.</a:t>
            </a:r>
            <a:endParaRPr lang="en-US" sz="860" dirty="0"/>
          </a:p>
        </p:txBody>
      </p:sp>
      <p:sp>
        <p:nvSpPr>
          <p:cNvPr id="46" name="Text 44"/>
          <p:cNvSpPr txBox="1"/>
          <p:nvPr/>
        </p:nvSpPr>
        <p:spPr>
          <a:xfrm>
            <a:off x="411480" y="5742432"/>
            <a:ext cx="7315200" cy="182880"/>
          </a:xfrm>
          <a:prstGeom prst="rect">
            <a:avLst/>
          </a:prstGeom>
          <a:noFill/>
          <a:ln/>
        </p:spPr>
        <p:txBody>
          <a:bodyPr wrap="square" lIns="0" tIns="0" rIns="0" bIns="0" rtlCol="0" anchor="ctr"/>
          <a:lstStyle/>
          <a:p>
            <a:pPr indent="0" marL="0">
              <a:buNone/>
            </a:pPr>
            <a:r>
              <a:rPr lang="en-US" sz="760" b="1" spc="110" kern="0" dirty="0">
                <a:solidFill>
                  <a:srgbClr val="1B2432"/>
                </a:solidFill>
                <a:latin typeface="Calibri" pitchFamily="34" charset="0"/>
                <a:ea typeface="Calibri" pitchFamily="34" charset="-122"/>
                <a:cs typeface="Calibri" pitchFamily="34" charset="-120"/>
              </a:rPr>
              <a:t>BUILD SEQUENCE IMPLIED BY THE LAYERING</a:t>
            </a:r>
            <a:endParaRPr lang="en-US" sz="760" dirty="0"/>
          </a:p>
        </p:txBody>
      </p:sp>
      <p:sp>
        <p:nvSpPr>
          <p:cNvPr id="47" name="Shape 45"/>
          <p:cNvSpPr/>
          <p:nvPr/>
        </p:nvSpPr>
        <p:spPr>
          <a:xfrm>
            <a:off x="411480" y="5925312"/>
            <a:ext cx="2179930" cy="585216"/>
          </a:xfrm>
          <a:prstGeom prst="roundRect">
            <a:avLst>
              <a:gd name="adj" fmla="val 7813"/>
            </a:avLst>
          </a:prstGeom>
          <a:solidFill>
            <a:srgbClr val="E9EEF4"/>
          </a:solidFill>
          <a:ln w="15240">
            <a:solidFill>
              <a:srgbClr val="15304F"/>
            </a:solidFill>
            <a:prstDash val="solid"/>
          </a:ln>
        </p:spPr>
      </p:sp>
      <p:sp>
        <p:nvSpPr>
          <p:cNvPr id="48" name="Text 46"/>
          <p:cNvSpPr txBox="1"/>
          <p:nvPr/>
        </p:nvSpPr>
        <p:spPr>
          <a:xfrm>
            <a:off x="502920" y="5989320"/>
            <a:ext cx="1997050" cy="182880"/>
          </a:xfrm>
          <a:prstGeom prst="rect">
            <a:avLst/>
          </a:prstGeom>
          <a:noFill/>
          <a:ln/>
        </p:spPr>
        <p:txBody>
          <a:bodyPr wrap="square" lIns="0" tIns="0" rIns="0" bIns="0" rtlCol="0" anchor="ctr"/>
          <a:lstStyle/>
          <a:p>
            <a:pPr indent="0" marL="0">
              <a:buNone/>
            </a:pPr>
            <a:r>
              <a:rPr lang="en-US" sz="720" b="1" spc="80" kern="0" dirty="0">
                <a:solidFill>
                  <a:srgbClr val="15304F"/>
                </a:solidFill>
                <a:latin typeface="Calibri" pitchFamily="34" charset="0"/>
                <a:ea typeface="Calibri" pitchFamily="34" charset="-122"/>
                <a:cs typeface="Calibri" pitchFamily="34" charset="-120"/>
              </a:rPr>
              <a:t>FIRST</a:t>
            </a:r>
            <a:endParaRPr lang="en-US" sz="720" dirty="0"/>
          </a:p>
        </p:txBody>
      </p:sp>
      <p:sp>
        <p:nvSpPr>
          <p:cNvPr id="49" name="Text 47"/>
          <p:cNvSpPr txBox="1"/>
          <p:nvPr/>
        </p:nvSpPr>
        <p:spPr>
          <a:xfrm>
            <a:off x="502920" y="6163056"/>
            <a:ext cx="1997050" cy="420624"/>
          </a:xfrm>
          <a:prstGeom prst="rect">
            <a:avLst/>
          </a:prstGeom>
          <a:noFill/>
          <a:ln/>
        </p:spPr>
        <p:txBody>
          <a:bodyPr wrap="square" lIns="0" tIns="0" rIns="0" bIns="0" rtlCol="0" anchor="t"/>
          <a:lstStyle/>
          <a:p>
            <a:pPr indent="0" marL="0">
              <a:lnSpc>
                <a:spcPts val="1040"/>
              </a:lnSpc>
              <a:buNone/>
            </a:pPr>
            <a:r>
              <a:rPr lang="en-US" sz="840" b="1" dirty="0">
                <a:solidFill>
                  <a:srgbClr val="1B2432"/>
                </a:solidFill>
                <a:latin typeface="Calibri" pitchFamily="34" charset="0"/>
                <a:ea typeface="Calibri" pitchFamily="34" charset="-122"/>
                <a:cs typeface="Calibri" pitchFamily="34" charset="-120"/>
              </a:rPr>
              <a:t>Enablement record + intake capture</a:t>
            </a:r>
            <a:endParaRPr lang="en-US" sz="840" dirty="0"/>
          </a:p>
        </p:txBody>
      </p:sp>
      <p:sp>
        <p:nvSpPr>
          <p:cNvPr id="50" name="Text 48"/>
          <p:cNvSpPr txBox="1"/>
          <p:nvPr/>
        </p:nvSpPr>
        <p:spPr>
          <a:xfrm>
            <a:off x="2573122" y="6071616"/>
            <a:ext cx="146304" cy="292608"/>
          </a:xfrm>
          <a:prstGeom prst="rect">
            <a:avLst/>
          </a:prstGeom>
          <a:noFill/>
          <a:ln/>
        </p:spPr>
        <p:txBody>
          <a:bodyPr wrap="square" lIns="0" tIns="0" rIns="0" bIns="0" rtlCol="0" anchor="ctr"/>
          <a:lstStyle/>
          <a:p>
            <a:pPr algn="ctr" indent="0" marL="0">
              <a:buNone/>
            </a:pPr>
            <a:r>
              <a:rPr lang="en-US" sz="1100" b="1" dirty="0">
                <a:solidFill>
                  <a:srgbClr val="7C8798"/>
                </a:solidFill>
                <a:latin typeface="Calibri" pitchFamily="34" charset="0"/>
                <a:ea typeface="Calibri" pitchFamily="34" charset="-122"/>
                <a:cs typeface="Calibri" pitchFamily="34" charset="-120"/>
              </a:rPr>
              <a:t>&gt;</a:t>
            </a:r>
            <a:endParaRPr lang="en-US" sz="1100" dirty="0"/>
          </a:p>
        </p:txBody>
      </p:sp>
      <p:sp>
        <p:nvSpPr>
          <p:cNvPr id="51" name="Shape 49"/>
          <p:cNvSpPr/>
          <p:nvPr/>
        </p:nvSpPr>
        <p:spPr>
          <a:xfrm>
            <a:off x="2701138" y="5925312"/>
            <a:ext cx="2179930" cy="585216"/>
          </a:xfrm>
          <a:prstGeom prst="roundRect">
            <a:avLst>
              <a:gd name="adj" fmla="val 7813"/>
            </a:avLst>
          </a:prstGeom>
          <a:solidFill>
            <a:srgbClr val="F1EEF6"/>
          </a:solidFill>
          <a:ln w="15240">
            <a:solidFill>
              <a:srgbClr val="5B4A72"/>
            </a:solidFill>
            <a:prstDash val="solid"/>
          </a:ln>
        </p:spPr>
      </p:sp>
      <p:sp>
        <p:nvSpPr>
          <p:cNvPr id="52" name="Text 50"/>
          <p:cNvSpPr txBox="1"/>
          <p:nvPr/>
        </p:nvSpPr>
        <p:spPr>
          <a:xfrm>
            <a:off x="2792578" y="5989320"/>
            <a:ext cx="1997050" cy="182880"/>
          </a:xfrm>
          <a:prstGeom prst="rect">
            <a:avLst/>
          </a:prstGeom>
          <a:noFill/>
          <a:ln/>
        </p:spPr>
        <p:txBody>
          <a:bodyPr wrap="square" lIns="0" tIns="0" rIns="0" bIns="0" rtlCol="0" anchor="ctr"/>
          <a:lstStyle/>
          <a:p>
            <a:pPr indent="0" marL="0">
              <a:buNone/>
            </a:pPr>
            <a:r>
              <a:rPr lang="en-US" sz="720" b="1" spc="80" kern="0" dirty="0">
                <a:solidFill>
                  <a:srgbClr val="5B4A72"/>
                </a:solidFill>
                <a:latin typeface="Calibri" pitchFamily="34" charset="0"/>
                <a:ea typeface="Calibri" pitchFamily="34" charset="-122"/>
                <a:cs typeface="Calibri" pitchFamily="34" charset="-120"/>
              </a:rPr>
              <a:t>THEN</a:t>
            </a:r>
            <a:endParaRPr lang="en-US" sz="720" dirty="0"/>
          </a:p>
        </p:txBody>
      </p:sp>
      <p:sp>
        <p:nvSpPr>
          <p:cNvPr id="53" name="Text 51"/>
          <p:cNvSpPr txBox="1"/>
          <p:nvPr/>
        </p:nvSpPr>
        <p:spPr>
          <a:xfrm>
            <a:off x="2792578" y="6163056"/>
            <a:ext cx="1997050" cy="420624"/>
          </a:xfrm>
          <a:prstGeom prst="rect">
            <a:avLst/>
          </a:prstGeom>
          <a:noFill/>
          <a:ln/>
        </p:spPr>
        <p:txBody>
          <a:bodyPr wrap="square" lIns="0" tIns="0" rIns="0" bIns="0" rtlCol="0" anchor="t"/>
          <a:lstStyle/>
          <a:p>
            <a:pPr indent="0" marL="0">
              <a:lnSpc>
                <a:spcPts val="1040"/>
              </a:lnSpc>
              <a:buNone/>
            </a:pPr>
            <a:r>
              <a:rPr lang="en-US" sz="840" b="1" dirty="0">
                <a:solidFill>
                  <a:srgbClr val="1B2432"/>
                </a:solidFill>
                <a:latin typeface="Calibri" pitchFamily="34" charset="0"/>
                <a:ea typeface="Calibri" pitchFamily="34" charset="-122"/>
                <a:cs typeface="Calibri" pitchFamily="34" charset="-120"/>
              </a:rPr>
              <a:t>Pattern catalogue at M1</a:t>
            </a:r>
            <a:endParaRPr lang="en-US" sz="840" dirty="0"/>
          </a:p>
        </p:txBody>
      </p:sp>
      <p:sp>
        <p:nvSpPr>
          <p:cNvPr id="54" name="Text 52"/>
          <p:cNvSpPr txBox="1"/>
          <p:nvPr/>
        </p:nvSpPr>
        <p:spPr>
          <a:xfrm>
            <a:off x="4862779" y="6071616"/>
            <a:ext cx="146304" cy="292608"/>
          </a:xfrm>
          <a:prstGeom prst="rect">
            <a:avLst/>
          </a:prstGeom>
          <a:noFill/>
          <a:ln/>
        </p:spPr>
        <p:txBody>
          <a:bodyPr wrap="square" lIns="0" tIns="0" rIns="0" bIns="0" rtlCol="0" anchor="ctr"/>
          <a:lstStyle/>
          <a:p>
            <a:pPr algn="ctr" indent="0" marL="0">
              <a:buNone/>
            </a:pPr>
            <a:r>
              <a:rPr lang="en-US" sz="1100" b="1" dirty="0">
                <a:solidFill>
                  <a:srgbClr val="7C8798"/>
                </a:solidFill>
                <a:latin typeface="Calibri" pitchFamily="34" charset="0"/>
                <a:ea typeface="Calibri" pitchFamily="34" charset="-122"/>
                <a:cs typeface="Calibri" pitchFamily="34" charset="-120"/>
              </a:rPr>
              <a:t>&gt;</a:t>
            </a:r>
            <a:endParaRPr lang="en-US" sz="1100" dirty="0"/>
          </a:p>
        </p:txBody>
      </p:sp>
      <p:sp>
        <p:nvSpPr>
          <p:cNvPr id="55" name="Shape 53"/>
          <p:cNvSpPr/>
          <p:nvPr/>
        </p:nvSpPr>
        <p:spPr>
          <a:xfrm>
            <a:off x="4990795" y="5925312"/>
            <a:ext cx="2179930" cy="585216"/>
          </a:xfrm>
          <a:prstGeom prst="roundRect">
            <a:avLst>
              <a:gd name="adj" fmla="val 7813"/>
            </a:avLst>
          </a:prstGeom>
          <a:solidFill>
            <a:srgbClr val="FAF1DF"/>
          </a:solidFill>
          <a:ln w="15240">
            <a:solidFill>
              <a:srgbClr val="9A6410"/>
            </a:solidFill>
            <a:prstDash val="solid"/>
          </a:ln>
        </p:spPr>
      </p:sp>
      <p:sp>
        <p:nvSpPr>
          <p:cNvPr id="56" name="Text 54"/>
          <p:cNvSpPr txBox="1"/>
          <p:nvPr/>
        </p:nvSpPr>
        <p:spPr>
          <a:xfrm>
            <a:off x="5082235" y="5989320"/>
            <a:ext cx="1997050" cy="182880"/>
          </a:xfrm>
          <a:prstGeom prst="rect">
            <a:avLst/>
          </a:prstGeom>
          <a:noFill/>
          <a:ln/>
        </p:spPr>
        <p:txBody>
          <a:bodyPr wrap="square" lIns="0" tIns="0" rIns="0" bIns="0" rtlCol="0" anchor="ctr"/>
          <a:lstStyle/>
          <a:p>
            <a:pPr indent="0" marL="0">
              <a:buNone/>
            </a:pPr>
            <a:r>
              <a:rPr lang="en-US" sz="720" b="1" spc="80" kern="0" dirty="0">
                <a:solidFill>
                  <a:srgbClr val="9A6410"/>
                </a:solidFill>
                <a:latin typeface="Calibri" pitchFamily="34" charset="0"/>
                <a:ea typeface="Calibri" pitchFamily="34" charset="-122"/>
                <a:cs typeface="Calibri" pitchFamily="34" charset="-120"/>
              </a:rPr>
              <a:t>THEN</a:t>
            </a:r>
            <a:endParaRPr lang="en-US" sz="720" dirty="0"/>
          </a:p>
        </p:txBody>
      </p:sp>
      <p:sp>
        <p:nvSpPr>
          <p:cNvPr id="57" name="Text 55"/>
          <p:cNvSpPr txBox="1"/>
          <p:nvPr/>
        </p:nvSpPr>
        <p:spPr>
          <a:xfrm>
            <a:off x="5082235" y="6163056"/>
            <a:ext cx="1997050" cy="420624"/>
          </a:xfrm>
          <a:prstGeom prst="rect">
            <a:avLst/>
          </a:prstGeom>
          <a:noFill/>
          <a:ln/>
        </p:spPr>
        <p:txBody>
          <a:bodyPr wrap="square" lIns="0" tIns="0" rIns="0" bIns="0" rtlCol="0" anchor="t"/>
          <a:lstStyle/>
          <a:p>
            <a:pPr indent="0" marL="0">
              <a:lnSpc>
                <a:spcPts val="1040"/>
              </a:lnSpc>
              <a:buNone/>
            </a:pPr>
            <a:r>
              <a:rPr lang="en-US" sz="840" b="1" dirty="0">
                <a:solidFill>
                  <a:srgbClr val="1B2432"/>
                </a:solidFill>
                <a:latin typeface="Calibri" pitchFamily="34" charset="0"/>
                <a:ea typeface="Calibri" pitchFamily="34" charset="-122"/>
                <a:cs typeface="Calibri" pitchFamily="34" charset="-120"/>
              </a:rPr>
              <a:t>Gate engine + routing rules</a:t>
            </a:r>
            <a:endParaRPr lang="en-US" sz="840" dirty="0"/>
          </a:p>
        </p:txBody>
      </p:sp>
      <p:sp>
        <p:nvSpPr>
          <p:cNvPr id="58" name="Text 56"/>
          <p:cNvSpPr txBox="1"/>
          <p:nvPr/>
        </p:nvSpPr>
        <p:spPr>
          <a:xfrm>
            <a:off x="7152437" y="6071616"/>
            <a:ext cx="146304" cy="292608"/>
          </a:xfrm>
          <a:prstGeom prst="rect">
            <a:avLst/>
          </a:prstGeom>
          <a:noFill/>
          <a:ln/>
        </p:spPr>
        <p:txBody>
          <a:bodyPr wrap="square" lIns="0" tIns="0" rIns="0" bIns="0" rtlCol="0" anchor="ctr"/>
          <a:lstStyle/>
          <a:p>
            <a:pPr algn="ctr" indent="0" marL="0">
              <a:buNone/>
            </a:pPr>
            <a:r>
              <a:rPr lang="en-US" sz="1100" b="1" dirty="0">
                <a:solidFill>
                  <a:srgbClr val="7C8798"/>
                </a:solidFill>
                <a:latin typeface="Calibri" pitchFamily="34" charset="0"/>
                <a:ea typeface="Calibri" pitchFamily="34" charset="-122"/>
                <a:cs typeface="Calibri" pitchFamily="34" charset="-120"/>
              </a:rPr>
              <a:t>&gt;</a:t>
            </a:r>
            <a:endParaRPr lang="en-US" sz="1100" dirty="0"/>
          </a:p>
        </p:txBody>
      </p:sp>
      <p:sp>
        <p:nvSpPr>
          <p:cNvPr id="59" name="Shape 57"/>
          <p:cNvSpPr/>
          <p:nvPr/>
        </p:nvSpPr>
        <p:spPr>
          <a:xfrm>
            <a:off x="7280453" y="5925312"/>
            <a:ext cx="2179930" cy="585216"/>
          </a:xfrm>
          <a:prstGeom prst="roundRect">
            <a:avLst>
              <a:gd name="adj" fmla="val 7813"/>
            </a:avLst>
          </a:prstGeom>
          <a:solidFill>
            <a:srgbClr val="FBF0EB"/>
          </a:solidFill>
          <a:ln w="15240">
            <a:solidFill>
              <a:srgbClr val="A44A2A"/>
            </a:solidFill>
            <a:prstDash val="solid"/>
          </a:ln>
        </p:spPr>
      </p:sp>
      <p:sp>
        <p:nvSpPr>
          <p:cNvPr id="60" name="Text 58"/>
          <p:cNvSpPr txBox="1"/>
          <p:nvPr/>
        </p:nvSpPr>
        <p:spPr>
          <a:xfrm>
            <a:off x="7371893" y="5989320"/>
            <a:ext cx="1997050" cy="182880"/>
          </a:xfrm>
          <a:prstGeom prst="rect">
            <a:avLst/>
          </a:prstGeom>
          <a:noFill/>
          <a:ln/>
        </p:spPr>
        <p:txBody>
          <a:bodyPr wrap="square" lIns="0" tIns="0" rIns="0" bIns="0" rtlCol="0" anchor="ctr"/>
          <a:lstStyle/>
          <a:p>
            <a:pPr indent="0" marL="0">
              <a:buNone/>
            </a:pPr>
            <a:r>
              <a:rPr lang="en-US" sz="720" b="1" spc="80" kern="0" dirty="0">
                <a:solidFill>
                  <a:srgbClr val="A44A2A"/>
                </a:solidFill>
                <a:latin typeface="Calibri" pitchFamily="34" charset="0"/>
                <a:ea typeface="Calibri" pitchFamily="34" charset="-122"/>
                <a:cs typeface="Calibri" pitchFamily="34" charset="-120"/>
              </a:rPr>
              <a:t>THEN</a:t>
            </a:r>
            <a:endParaRPr lang="en-US" sz="720" dirty="0"/>
          </a:p>
        </p:txBody>
      </p:sp>
      <p:sp>
        <p:nvSpPr>
          <p:cNvPr id="61" name="Text 59"/>
          <p:cNvSpPr txBox="1"/>
          <p:nvPr/>
        </p:nvSpPr>
        <p:spPr>
          <a:xfrm>
            <a:off x="7371893" y="6163056"/>
            <a:ext cx="1997050" cy="420624"/>
          </a:xfrm>
          <a:prstGeom prst="rect">
            <a:avLst/>
          </a:prstGeom>
          <a:noFill/>
          <a:ln/>
        </p:spPr>
        <p:txBody>
          <a:bodyPr wrap="square" lIns="0" tIns="0" rIns="0" bIns="0" rtlCol="0" anchor="t"/>
          <a:lstStyle/>
          <a:p>
            <a:pPr indent="0" marL="0">
              <a:lnSpc>
                <a:spcPts val="1040"/>
              </a:lnSpc>
              <a:buNone/>
            </a:pPr>
            <a:r>
              <a:rPr lang="en-US" sz="840" b="1" dirty="0">
                <a:solidFill>
                  <a:srgbClr val="1B2432"/>
                </a:solidFill>
                <a:latin typeface="Calibri" pitchFamily="34" charset="0"/>
                <a:ea typeface="Calibri" pitchFamily="34" charset="-122"/>
                <a:cs typeface="Calibri" pitchFamily="34" charset="-120"/>
              </a:rPr>
              <a:t>Provisioning on one pattern</a:t>
            </a:r>
            <a:endParaRPr lang="en-US" sz="840" dirty="0"/>
          </a:p>
        </p:txBody>
      </p:sp>
      <p:sp>
        <p:nvSpPr>
          <p:cNvPr id="62" name="Text 60"/>
          <p:cNvSpPr txBox="1"/>
          <p:nvPr/>
        </p:nvSpPr>
        <p:spPr>
          <a:xfrm>
            <a:off x="9442094" y="6071616"/>
            <a:ext cx="146304" cy="292608"/>
          </a:xfrm>
          <a:prstGeom prst="rect">
            <a:avLst/>
          </a:prstGeom>
          <a:noFill/>
          <a:ln/>
        </p:spPr>
        <p:txBody>
          <a:bodyPr wrap="square" lIns="0" tIns="0" rIns="0" bIns="0" rtlCol="0" anchor="ctr"/>
          <a:lstStyle/>
          <a:p>
            <a:pPr algn="ctr" indent="0" marL="0">
              <a:buNone/>
            </a:pPr>
            <a:r>
              <a:rPr lang="en-US" sz="1100" b="1" dirty="0">
                <a:solidFill>
                  <a:srgbClr val="7C8798"/>
                </a:solidFill>
                <a:latin typeface="Calibri" pitchFamily="34" charset="0"/>
                <a:ea typeface="Calibri" pitchFamily="34" charset="-122"/>
                <a:cs typeface="Calibri" pitchFamily="34" charset="-120"/>
              </a:rPr>
              <a:t>&gt;</a:t>
            </a:r>
            <a:endParaRPr lang="en-US" sz="1100" dirty="0"/>
          </a:p>
        </p:txBody>
      </p:sp>
      <p:sp>
        <p:nvSpPr>
          <p:cNvPr id="63" name="Shape 61"/>
          <p:cNvSpPr/>
          <p:nvPr/>
        </p:nvSpPr>
        <p:spPr>
          <a:xfrm>
            <a:off x="9570110" y="5925312"/>
            <a:ext cx="2179930" cy="585216"/>
          </a:xfrm>
          <a:prstGeom prst="roundRect">
            <a:avLst>
              <a:gd name="adj" fmla="val 7813"/>
            </a:avLst>
          </a:prstGeom>
          <a:solidFill>
            <a:srgbClr val="E6F2F1"/>
          </a:solidFill>
          <a:ln w="15240">
            <a:solidFill>
              <a:srgbClr val="0B6E6E"/>
            </a:solidFill>
            <a:prstDash val="solid"/>
          </a:ln>
        </p:spPr>
      </p:sp>
      <p:sp>
        <p:nvSpPr>
          <p:cNvPr id="64" name="Text 62"/>
          <p:cNvSpPr txBox="1"/>
          <p:nvPr/>
        </p:nvSpPr>
        <p:spPr>
          <a:xfrm>
            <a:off x="9661550" y="5989320"/>
            <a:ext cx="1997050" cy="182880"/>
          </a:xfrm>
          <a:prstGeom prst="rect">
            <a:avLst/>
          </a:prstGeom>
          <a:noFill/>
          <a:ln/>
        </p:spPr>
        <p:txBody>
          <a:bodyPr wrap="square" lIns="0" tIns="0" rIns="0" bIns="0" rtlCol="0" anchor="ctr"/>
          <a:lstStyle/>
          <a:p>
            <a:pPr indent="0" marL="0">
              <a:buNone/>
            </a:pPr>
            <a:r>
              <a:rPr lang="en-US" sz="720" b="1" spc="80" kern="0" dirty="0">
                <a:solidFill>
                  <a:srgbClr val="0B6E6E"/>
                </a:solidFill>
                <a:latin typeface="Calibri" pitchFamily="34" charset="0"/>
                <a:ea typeface="Calibri" pitchFamily="34" charset="-122"/>
                <a:cs typeface="Calibri" pitchFamily="34" charset="-120"/>
              </a:rPr>
              <a:t>LAST</a:t>
            </a:r>
            <a:endParaRPr lang="en-US" sz="720" dirty="0"/>
          </a:p>
        </p:txBody>
      </p:sp>
      <p:sp>
        <p:nvSpPr>
          <p:cNvPr id="65" name="Text 63"/>
          <p:cNvSpPr txBox="1"/>
          <p:nvPr/>
        </p:nvSpPr>
        <p:spPr>
          <a:xfrm>
            <a:off x="9661550" y="6163056"/>
            <a:ext cx="1997050" cy="420624"/>
          </a:xfrm>
          <a:prstGeom prst="rect">
            <a:avLst/>
          </a:prstGeom>
          <a:noFill/>
          <a:ln/>
        </p:spPr>
        <p:txBody>
          <a:bodyPr wrap="square" lIns="0" tIns="0" rIns="0" bIns="0" rtlCol="0" anchor="t"/>
          <a:lstStyle/>
          <a:p>
            <a:pPr indent="0" marL="0">
              <a:lnSpc>
                <a:spcPts val="1040"/>
              </a:lnSpc>
              <a:buNone/>
            </a:pPr>
            <a:r>
              <a:rPr lang="en-US" sz="840" b="1" dirty="0">
                <a:solidFill>
                  <a:srgbClr val="1B2432"/>
                </a:solidFill>
                <a:latin typeface="Calibri" pitchFamily="34" charset="0"/>
                <a:ea typeface="Calibri" pitchFamily="34" charset="-122"/>
                <a:cs typeface="Calibri" pitchFamily="34" charset="-120"/>
              </a:rPr>
              <a:t>Cockpit and self-service</a:t>
            </a:r>
            <a:endParaRPr lang="en-US" sz="84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274320"/>
            <a:ext cx="274320" cy="274320"/>
          </a:xfrm>
          <a:prstGeom prst="rect">
            <a:avLst/>
          </a:prstGeom>
          <a:solidFill>
            <a:srgbClr val="15304F"/>
          </a:solidFill>
          <a:ln w="12700">
            <a:solidFill>
              <a:srgbClr val="333333"/>
            </a:solidFill>
            <a:prstDash val="solid"/>
          </a:ln>
        </p:spPr>
      </p:sp>
      <p:sp>
        <p:nvSpPr>
          <p:cNvPr id="3" name="Text 1"/>
          <p:cNvSpPr txBox="1"/>
          <p:nvPr/>
        </p:nvSpPr>
        <p:spPr>
          <a:xfrm>
            <a:off x="411480" y="2743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
        <p:nvSpPr>
          <p:cNvPr id="4" name="Text 2"/>
          <p:cNvSpPr txBox="1"/>
          <p:nvPr/>
        </p:nvSpPr>
        <p:spPr>
          <a:xfrm>
            <a:off x="795528" y="219456"/>
            <a:ext cx="8778240" cy="384048"/>
          </a:xfrm>
          <a:prstGeom prst="rect">
            <a:avLst/>
          </a:prstGeom>
          <a:noFill/>
          <a:ln/>
        </p:spPr>
        <p:txBody>
          <a:bodyPr wrap="square" lIns="0" tIns="0" rIns="0" bIns="0" rtlCol="0" anchor="ctr"/>
          <a:lstStyle/>
          <a:p>
            <a:pPr indent="0" marL="0">
              <a:buNone/>
            </a:pPr>
            <a:r>
              <a:rPr lang="en-US" sz="2400" b="1" dirty="0">
                <a:solidFill>
                  <a:srgbClr val="1B2432"/>
                </a:solidFill>
                <a:latin typeface="Cambria" pitchFamily="34" charset="0"/>
                <a:ea typeface="Cambria" pitchFamily="34" charset="-122"/>
                <a:cs typeface="Cambria" pitchFamily="34" charset="-120"/>
              </a:rPr>
              <a:t>The pattern catalogue</a:t>
            </a:r>
            <a:endParaRPr lang="en-US" sz="2400" dirty="0"/>
          </a:p>
        </p:txBody>
      </p:sp>
      <p:sp>
        <p:nvSpPr>
          <p:cNvPr id="5" name="Text 3"/>
          <p:cNvSpPr txBox="1"/>
          <p:nvPr/>
        </p:nvSpPr>
        <p:spPr>
          <a:xfrm>
            <a:off x="795528" y="621792"/>
            <a:ext cx="9326880" cy="237744"/>
          </a:xfrm>
          <a:prstGeom prst="rect">
            <a:avLst/>
          </a:prstGeom>
          <a:noFill/>
          <a:ln/>
        </p:spPr>
        <p:txBody>
          <a:bodyPr wrap="square" lIns="0" tIns="0" rIns="0" bIns="0" rtlCol="0" anchor="ctr"/>
          <a:lstStyle/>
          <a:p>
            <a:pPr indent="0" marL="0">
              <a:buNone/>
            </a:pPr>
            <a:r>
              <a:rPr lang="en-US" sz="1050" dirty="0">
                <a:solidFill>
                  <a:srgbClr val="55606E"/>
                </a:solidFill>
                <a:latin typeface="Calibri" pitchFamily="34" charset="0"/>
                <a:ea typeface="Calibri" pitchFamily="34" charset="-122"/>
                <a:cs typeface="Calibri" pitchFamily="34" charset="-120"/>
              </a:rPr>
              <a:t>The asset that decides whether any of this works</a:t>
            </a:r>
            <a:endParaRPr lang="en-US" sz="1050" dirty="0"/>
          </a:p>
        </p:txBody>
      </p:sp>
      <p:sp>
        <p:nvSpPr>
          <p:cNvPr id="6" name="Text 4"/>
          <p:cNvSpPr txBox="1"/>
          <p:nvPr/>
        </p:nvSpPr>
        <p:spPr>
          <a:xfrm>
            <a:off x="9052560" y="274320"/>
            <a:ext cx="2697480" cy="256032"/>
          </a:xfrm>
          <a:prstGeom prst="rect">
            <a:avLst/>
          </a:prstGeom>
          <a:noFill/>
          <a:ln/>
        </p:spPr>
        <p:txBody>
          <a:bodyPr wrap="square" lIns="0" tIns="0" rIns="0" bIns="0" rtlCol="0" anchor="ctr"/>
          <a:lstStyle/>
          <a:p>
            <a:pPr algn="r" indent="0" marL="0">
              <a:buNone/>
            </a:pPr>
            <a:r>
              <a:rPr lang="en-US" sz="950" b="1" spc="60" kern="0" dirty="0">
                <a:solidFill>
                  <a:srgbClr val="7C8798"/>
                </a:solidFill>
                <a:latin typeface="Calibri" pitchFamily="34" charset="0"/>
                <a:ea typeface="Calibri" pitchFamily="34" charset="-122"/>
                <a:cs typeface="Calibri" pitchFamily="34" charset="-120"/>
              </a:rPr>
              <a:t>Architecture</a:t>
            </a:r>
            <a:endParaRPr lang="en-US" sz="950" dirty="0"/>
          </a:p>
        </p:txBody>
      </p:sp>
      <p:sp>
        <p:nvSpPr>
          <p:cNvPr id="7" name="Shape 5"/>
          <p:cNvSpPr/>
          <p:nvPr/>
        </p:nvSpPr>
        <p:spPr>
          <a:xfrm>
            <a:off x="411480" y="932688"/>
            <a:ext cx="11338560" cy="0"/>
          </a:xfrm>
          <a:prstGeom prst="line">
            <a:avLst/>
          </a:prstGeom>
          <a:noFill/>
          <a:ln w="12700">
            <a:solidFill>
              <a:srgbClr val="D4DAE2"/>
            </a:solidFill>
            <a:prstDash val="solid"/>
          </a:ln>
        </p:spPr>
      </p:sp>
      <p:sp>
        <p:nvSpPr>
          <p:cNvPr id="8" name="Text 6"/>
          <p:cNvSpPr txBox="1"/>
          <p:nvPr/>
        </p:nvSpPr>
        <p:spPr>
          <a:xfrm>
            <a:off x="411480" y="1042416"/>
            <a:ext cx="7315200" cy="182880"/>
          </a:xfrm>
          <a:prstGeom prst="rect">
            <a:avLst/>
          </a:prstGeom>
          <a:noFill/>
          <a:ln/>
        </p:spPr>
        <p:txBody>
          <a:bodyPr wrap="square" lIns="0" tIns="0" rIns="0" bIns="0" rtlCol="0" anchor="ctr"/>
          <a:lstStyle/>
          <a:p>
            <a:pPr indent="0" marL="0">
              <a:buNone/>
            </a:pPr>
            <a:r>
              <a:rPr lang="en-US" sz="760" b="1" spc="110" kern="0" dirty="0">
                <a:solidFill>
                  <a:srgbClr val="1B2432"/>
                </a:solidFill>
                <a:latin typeface="Calibri" pitchFamily="34" charset="0"/>
                <a:ea typeface="Calibri" pitchFamily="34" charset="-122"/>
                <a:cs typeface="Calibri" pitchFamily="34" charset="-120"/>
              </a:rPr>
              <a:t>WHAT A PATTERN CONTAINS</a:t>
            </a:r>
            <a:endParaRPr lang="en-US" sz="760" dirty="0"/>
          </a:p>
        </p:txBody>
      </p:sp>
      <p:sp>
        <p:nvSpPr>
          <p:cNvPr id="9" name="Shape 7"/>
          <p:cNvSpPr/>
          <p:nvPr/>
        </p:nvSpPr>
        <p:spPr>
          <a:xfrm>
            <a:off x="411480" y="1243584"/>
            <a:ext cx="3602736" cy="329184"/>
          </a:xfrm>
          <a:prstGeom prst="roundRect">
            <a:avLst>
              <a:gd name="adj" fmla="val 8333"/>
            </a:avLst>
          </a:prstGeom>
          <a:solidFill>
            <a:srgbClr val="F4F7FA"/>
          </a:solidFill>
          <a:ln w="12700">
            <a:solidFill>
              <a:srgbClr val="333333"/>
            </a:solidFill>
            <a:prstDash val="solid"/>
          </a:ln>
        </p:spPr>
      </p:sp>
      <p:sp>
        <p:nvSpPr>
          <p:cNvPr id="10" name="Text 8"/>
          <p:cNvSpPr txBox="1"/>
          <p:nvPr/>
        </p:nvSpPr>
        <p:spPr>
          <a:xfrm>
            <a:off x="521208" y="1243584"/>
            <a:ext cx="1426464" cy="329184"/>
          </a:xfrm>
          <a:prstGeom prst="rect">
            <a:avLst/>
          </a:prstGeom>
          <a:noFill/>
          <a:ln/>
        </p:spPr>
        <p:txBody>
          <a:bodyPr wrap="square" lIns="0" tIns="0" rIns="0" bIns="0" rtlCol="0" anchor="ctr"/>
          <a:lstStyle/>
          <a:p>
            <a:pPr indent="0" marL="0">
              <a:buNone/>
            </a:pPr>
            <a:r>
              <a:rPr lang="en-US" sz="780" b="1" dirty="0">
                <a:solidFill>
                  <a:srgbClr val="1B2432"/>
                </a:solidFill>
                <a:latin typeface="Calibri" pitchFamily="34" charset="0"/>
                <a:ea typeface="Calibri" pitchFamily="34" charset="-122"/>
                <a:cs typeface="Calibri" pitchFamily="34" charset="-120"/>
              </a:rPr>
              <a:t>Identity and version</a:t>
            </a:r>
            <a:endParaRPr lang="en-US" sz="780" dirty="0"/>
          </a:p>
        </p:txBody>
      </p:sp>
      <p:sp>
        <p:nvSpPr>
          <p:cNvPr id="11" name="Text 9"/>
          <p:cNvSpPr txBox="1"/>
          <p:nvPr/>
        </p:nvSpPr>
        <p:spPr>
          <a:xfrm>
            <a:off x="1984248" y="1243584"/>
            <a:ext cx="1938528" cy="329184"/>
          </a:xfrm>
          <a:prstGeom prst="rect">
            <a:avLst/>
          </a:prstGeom>
          <a:noFill/>
          <a:ln/>
        </p:spPr>
        <p:txBody>
          <a:bodyPr wrap="square" lIns="0" tIns="0" rIns="0" bIns="0" rtlCol="0" anchor="ctr"/>
          <a:lstStyle/>
          <a:p>
            <a:pPr indent="0" marL="0">
              <a:lnSpc>
                <a:spcPts val="800"/>
              </a:lnSpc>
              <a:buNone/>
            </a:pPr>
            <a:r>
              <a:rPr lang="en-US" sz="690" dirty="0">
                <a:solidFill>
                  <a:srgbClr val="55606E"/>
                </a:solidFill>
                <a:latin typeface="Calibri" pitchFamily="34" charset="0"/>
                <a:ea typeface="Calibri" pitchFamily="34" charset="-122"/>
                <a:cs typeface="Calibri" pitchFamily="34" charset="-120"/>
              </a:rPr>
              <a:t>Stable identifier; intakes record which version they instantiated</a:t>
            </a:r>
            <a:endParaRPr lang="en-US" sz="690" dirty="0"/>
          </a:p>
        </p:txBody>
      </p:sp>
      <p:sp>
        <p:nvSpPr>
          <p:cNvPr id="12" name="Shape 10"/>
          <p:cNvSpPr/>
          <p:nvPr/>
        </p:nvSpPr>
        <p:spPr>
          <a:xfrm>
            <a:off x="4160520" y="1243584"/>
            <a:ext cx="3602736" cy="329184"/>
          </a:xfrm>
          <a:prstGeom prst="roundRect">
            <a:avLst>
              <a:gd name="adj" fmla="val 8333"/>
            </a:avLst>
          </a:prstGeom>
          <a:solidFill>
            <a:srgbClr val="F4F7FA"/>
          </a:solidFill>
          <a:ln w="12700">
            <a:solidFill>
              <a:srgbClr val="333333"/>
            </a:solidFill>
            <a:prstDash val="solid"/>
          </a:ln>
        </p:spPr>
      </p:sp>
      <p:sp>
        <p:nvSpPr>
          <p:cNvPr id="13" name="Text 11"/>
          <p:cNvSpPr txBox="1"/>
          <p:nvPr/>
        </p:nvSpPr>
        <p:spPr>
          <a:xfrm>
            <a:off x="4270248" y="1243584"/>
            <a:ext cx="1426464" cy="329184"/>
          </a:xfrm>
          <a:prstGeom prst="rect">
            <a:avLst/>
          </a:prstGeom>
          <a:noFill/>
          <a:ln/>
        </p:spPr>
        <p:txBody>
          <a:bodyPr wrap="square" lIns="0" tIns="0" rIns="0" bIns="0" rtlCol="0" anchor="ctr"/>
          <a:lstStyle/>
          <a:p>
            <a:pPr indent="0" marL="0">
              <a:buNone/>
            </a:pPr>
            <a:r>
              <a:rPr lang="en-US" sz="780" b="1" dirty="0">
                <a:solidFill>
                  <a:srgbClr val="1B2432"/>
                </a:solidFill>
                <a:latin typeface="Calibri" pitchFamily="34" charset="0"/>
                <a:ea typeface="Calibri" pitchFamily="34" charset="-122"/>
                <a:cs typeface="Calibri" pitchFamily="34" charset="-120"/>
              </a:rPr>
              <a:t>Applicability</a:t>
            </a:r>
            <a:endParaRPr lang="en-US" sz="780" dirty="0"/>
          </a:p>
        </p:txBody>
      </p:sp>
      <p:sp>
        <p:nvSpPr>
          <p:cNvPr id="14" name="Text 12"/>
          <p:cNvSpPr txBox="1"/>
          <p:nvPr/>
        </p:nvSpPr>
        <p:spPr>
          <a:xfrm>
            <a:off x="5733288" y="1243584"/>
            <a:ext cx="1938528" cy="329184"/>
          </a:xfrm>
          <a:prstGeom prst="rect">
            <a:avLst/>
          </a:prstGeom>
          <a:noFill/>
          <a:ln/>
        </p:spPr>
        <p:txBody>
          <a:bodyPr wrap="square" lIns="0" tIns="0" rIns="0" bIns="0" rtlCol="0" anchor="ctr"/>
          <a:lstStyle/>
          <a:p>
            <a:pPr indent="0" marL="0">
              <a:lnSpc>
                <a:spcPts val="800"/>
              </a:lnSpc>
              <a:buNone/>
            </a:pPr>
            <a:r>
              <a:rPr lang="en-US" sz="690" dirty="0">
                <a:solidFill>
                  <a:srgbClr val="55606E"/>
                </a:solidFill>
                <a:latin typeface="Calibri" pitchFamily="34" charset="0"/>
                <a:ea typeface="Calibri" pitchFamily="34" charset="-122"/>
                <a:cs typeface="Calibri" pitchFamily="34" charset="-120"/>
              </a:rPr>
              <a:t>Channel, trust posture, regulatory status, content type, volume band</a:t>
            </a:r>
            <a:endParaRPr lang="en-US" sz="690" dirty="0"/>
          </a:p>
        </p:txBody>
      </p:sp>
      <p:sp>
        <p:nvSpPr>
          <p:cNvPr id="15" name="Shape 13"/>
          <p:cNvSpPr/>
          <p:nvPr/>
        </p:nvSpPr>
        <p:spPr>
          <a:xfrm>
            <a:off x="411480" y="1627632"/>
            <a:ext cx="3602736" cy="329184"/>
          </a:xfrm>
          <a:prstGeom prst="roundRect">
            <a:avLst>
              <a:gd name="adj" fmla="val 8333"/>
            </a:avLst>
          </a:prstGeom>
          <a:solidFill>
            <a:srgbClr val="F4F7FA"/>
          </a:solidFill>
          <a:ln w="12700">
            <a:solidFill>
              <a:srgbClr val="333333"/>
            </a:solidFill>
            <a:prstDash val="solid"/>
          </a:ln>
        </p:spPr>
      </p:sp>
      <p:sp>
        <p:nvSpPr>
          <p:cNvPr id="16" name="Text 14"/>
          <p:cNvSpPr txBox="1"/>
          <p:nvPr/>
        </p:nvSpPr>
        <p:spPr>
          <a:xfrm>
            <a:off x="521208" y="1627632"/>
            <a:ext cx="1426464" cy="329184"/>
          </a:xfrm>
          <a:prstGeom prst="rect">
            <a:avLst/>
          </a:prstGeom>
          <a:noFill/>
          <a:ln/>
        </p:spPr>
        <p:txBody>
          <a:bodyPr wrap="square" lIns="0" tIns="0" rIns="0" bIns="0" rtlCol="0" anchor="ctr"/>
          <a:lstStyle/>
          <a:p>
            <a:pPr indent="0" marL="0">
              <a:buNone/>
            </a:pPr>
            <a:r>
              <a:rPr lang="en-US" sz="780" b="1" dirty="0">
                <a:solidFill>
                  <a:srgbClr val="1B2432"/>
                </a:solidFill>
                <a:latin typeface="Calibri" pitchFamily="34" charset="0"/>
                <a:ea typeface="Calibri" pitchFamily="34" charset="-122"/>
                <a:cs typeface="Calibri" pitchFamily="34" charset="-120"/>
              </a:rPr>
              <a:t>Step sequence</a:t>
            </a:r>
            <a:endParaRPr lang="en-US" sz="780" dirty="0"/>
          </a:p>
        </p:txBody>
      </p:sp>
      <p:sp>
        <p:nvSpPr>
          <p:cNvPr id="17" name="Text 15"/>
          <p:cNvSpPr txBox="1"/>
          <p:nvPr/>
        </p:nvSpPr>
        <p:spPr>
          <a:xfrm>
            <a:off x="1984248" y="1627632"/>
            <a:ext cx="1938528" cy="329184"/>
          </a:xfrm>
          <a:prstGeom prst="rect">
            <a:avLst/>
          </a:prstGeom>
          <a:noFill/>
          <a:ln/>
        </p:spPr>
        <p:txBody>
          <a:bodyPr wrap="square" lIns="0" tIns="0" rIns="0" bIns="0" rtlCol="0" anchor="ctr"/>
          <a:lstStyle/>
          <a:p>
            <a:pPr indent="0" marL="0">
              <a:lnSpc>
                <a:spcPts val="800"/>
              </a:lnSpc>
              <a:buNone/>
            </a:pPr>
            <a:r>
              <a:rPr lang="en-US" sz="690" dirty="0">
                <a:solidFill>
                  <a:srgbClr val="55606E"/>
                </a:solidFill>
                <a:latin typeface="Calibri" pitchFamily="34" charset="0"/>
                <a:ea typeface="Calibri" pitchFamily="34" charset="-122"/>
                <a:cs typeface="Calibri" pitchFamily="34" charset="-120"/>
              </a:rPr>
              <a:t>Ordered work with owner per step, split by who performs it in each tier</a:t>
            </a:r>
            <a:endParaRPr lang="en-US" sz="690" dirty="0"/>
          </a:p>
        </p:txBody>
      </p:sp>
      <p:sp>
        <p:nvSpPr>
          <p:cNvPr id="18" name="Shape 16"/>
          <p:cNvSpPr/>
          <p:nvPr/>
        </p:nvSpPr>
        <p:spPr>
          <a:xfrm>
            <a:off x="4160520" y="1627632"/>
            <a:ext cx="3602736" cy="329184"/>
          </a:xfrm>
          <a:prstGeom prst="roundRect">
            <a:avLst>
              <a:gd name="adj" fmla="val 8333"/>
            </a:avLst>
          </a:prstGeom>
          <a:solidFill>
            <a:srgbClr val="F4F7FA"/>
          </a:solidFill>
          <a:ln w="12700">
            <a:solidFill>
              <a:srgbClr val="333333"/>
            </a:solidFill>
            <a:prstDash val="solid"/>
          </a:ln>
        </p:spPr>
      </p:sp>
      <p:sp>
        <p:nvSpPr>
          <p:cNvPr id="19" name="Text 17"/>
          <p:cNvSpPr txBox="1"/>
          <p:nvPr/>
        </p:nvSpPr>
        <p:spPr>
          <a:xfrm>
            <a:off x="4270248" y="1627632"/>
            <a:ext cx="1426464" cy="329184"/>
          </a:xfrm>
          <a:prstGeom prst="rect">
            <a:avLst/>
          </a:prstGeom>
          <a:noFill/>
          <a:ln/>
        </p:spPr>
        <p:txBody>
          <a:bodyPr wrap="square" lIns="0" tIns="0" rIns="0" bIns="0" rtlCol="0" anchor="ctr"/>
          <a:lstStyle/>
          <a:p>
            <a:pPr indent="0" marL="0">
              <a:buNone/>
            </a:pPr>
            <a:r>
              <a:rPr lang="en-US" sz="780" b="1" dirty="0">
                <a:solidFill>
                  <a:srgbClr val="1B2432"/>
                </a:solidFill>
                <a:latin typeface="Calibri" pitchFamily="34" charset="0"/>
                <a:ea typeface="Calibri" pitchFamily="34" charset="-122"/>
                <a:cs typeface="Calibri" pitchFamily="34" charset="-120"/>
              </a:rPr>
              <a:t>Configuration template</a:t>
            </a:r>
            <a:endParaRPr lang="en-US" sz="780" dirty="0"/>
          </a:p>
        </p:txBody>
      </p:sp>
      <p:sp>
        <p:nvSpPr>
          <p:cNvPr id="20" name="Text 18"/>
          <p:cNvSpPr txBox="1"/>
          <p:nvPr/>
        </p:nvSpPr>
        <p:spPr>
          <a:xfrm>
            <a:off x="5733288" y="1627632"/>
            <a:ext cx="1938528" cy="329184"/>
          </a:xfrm>
          <a:prstGeom prst="rect">
            <a:avLst/>
          </a:prstGeom>
          <a:noFill/>
          <a:ln/>
        </p:spPr>
        <p:txBody>
          <a:bodyPr wrap="square" lIns="0" tIns="0" rIns="0" bIns="0" rtlCol="0" anchor="ctr"/>
          <a:lstStyle/>
          <a:p>
            <a:pPr indent="0" marL="0">
              <a:lnSpc>
                <a:spcPts val="800"/>
              </a:lnSpc>
              <a:buNone/>
            </a:pPr>
            <a:r>
              <a:rPr lang="en-US" sz="690" dirty="0">
                <a:solidFill>
                  <a:srgbClr val="55606E"/>
                </a:solidFill>
                <a:latin typeface="Calibri" pitchFamily="34" charset="0"/>
                <a:ea typeface="Calibri" pitchFamily="34" charset="-122"/>
                <a:cs typeface="Calibri" pitchFamily="34" charset="-120"/>
              </a:rPr>
              <a:t>The platform configuration produced, parameterised against intake values</a:t>
            </a:r>
            <a:endParaRPr lang="en-US" sz="690" dirty="0"/>
          </a:p>
        </p:txBody>
      </p:sp>
      <p:sp>
        <p:nvSpPr>
          <p:cNvPr id="21" name="Shape 19"/>
          <p:cNvSpPr/>
          <p:nvPr/>
        </p:nvSpPr>
        <p:spPr>
          <a:xfrm>
            <a:off x="411480" y="2011680"/>
            <a:ext cx="3602736" cy="329184"/>
          </a:xfrm>
          <a:prstGeom prst="roundRect">
            <a:avLst>
              <a:gd name="adj" fmla="val 8333"/>
            </a:avLst>
          </a:prstGeom>
          <a:solidFill>
            <a:srgbClr val="F4F7FA"/>
          </a:solidFill>
          <a:ln w="12700">
            <a:solidFill>
              <a:srgbClr val="333333"/>
            </a:solidFill>
            <a:prstDash val="solid"/>
          </a:ln>
        </p:spPr>
      </p:sp>
      <p:sp>
        <p:nvSpPr>
          <p:cNvPr id="22" name="Text 20"/>
          <p:cNvSpPr txBox="1"/>
          <p:nvPr/>
        </p:nvSpPr>
        <p:spPr>
          <a:xfrm>
            <a:off x="521208" y="2011680"/>
            <a:ext cx="1426464" cy="329184"/>
          </a:xfrm>
          <a:prstGeom prst="rect">
            <a:avLst/>
          </a:prstGeom>
          <a:noFill/>
          <a:ln/>
        </p:spPr>
        <p:txBody>
          <a:bodyPr wrap="square" lIns="0" tIns="0" rIns="0" bIns="0" rtlCol="0" anchor="ctr"/>
          <a:lstStyle/>
          <a:p>
            <a:pPr indent="0" marL="0">
              <a:buNone/>
            </a:pPr>
            <a:r>
              <a:rPr lang="en-US" sz="780" b="1" dirty="0">
                <a:solidFill>
                  <a:srgbClr val="1B2432"/>
                </a:solidFill>
                <a:latin typeface="Calibri" pitchFamily="34" charset="0"/>
                <a:ea typeface="Calibri" pitchFamily="34" charset="-122"/>
                <a:cs typeface="Calibri" pitchFamily="34" charset="-120"/>
              </a:rPr>
              <a:t>Required inputs</a:t>
            </a:r>
            <a:endParaRPr lang="en-US" sz="780" dirty="0"/>
          </a:p>
        </p:txBody>
      </p:sp>
      <p:sp>
        <p:nvSpPr>
          <p:cNvPr id="23" name="Text 21"/>
          <p:cNvSpPr txBox="1"/>
          <p:nvPr/>
        </p:nvSpPr>
        <p:spPr>
          <a:xfrm>
            <a:off x="1984248" y="2011680"/>
            <a:ext cx="1938528" cy="329184"/>
          </a:xfrm>
          <a:prstGeom prst="rect">
            <a:avLst/>
          </a:prstGeom>
          <a:noFill/>
          <a:ln/>
        </p:spPr>
        <p:txBody>
          <a:bodyPr wrap="square" lIns="0" tIns="0" rIns="0" bIns="0" rtlCol="0" anchor="ctr"/>
          <a:lstStyle/>
          <a:p>
            <a:pPr indent="0" marL="0">
              <a:lnSpc>
                <a:spcPts val="800"/>
              </a:lnSpc>
              <a:buNone/>
            </a:pPr>
            <a:r>
              <a:rPr lang="en-US" sz="690" dirty="0">
                <a:solidFill>
                  <a:srgbClr val="55606E"/>
                </a:solidFill>
                <a:latin typeface="Calibri" pitchFamily="34" charset="0"/>
                <a:ea typeface="Calibri" pitchFamily="34" charset="-122"/>
                <a:cs typeface="Calibri" pitchFamily="34" charset="-120"/>
              </a:rPr>
              <a:t>What the partner must supply, with a validation rule for each</a:t>
            </a:r>
            <a:endParaRPr lang="en-US" sz="690" dirty="0"/>
          </a:p>
        </p:txBody>
      </p:sp>
      <p:sp>
        <p:nvSpPr>
          <p:cNvPr id="24" name="Shape 22"/>
          <p:cNvSpPr/>
          <p:nvPr/>
        </p:nvSpPr>
        <p:spPr>
          <a:xfrm>
            <a:off x="4160520" y="2011680"/>
            <a:ext cx="3602736" cy="329184"/>
          </a:xfrm>
          <a:prstGeom prst="roundRect">
            <a:avLst>
              <a:gd name="adj" fmla="val 8333"/>
            </a:avLst>
          </a:prstGeom>
          <a:solidFill>
            <a:srgbClr val="F4F7FA"/>
          </a:solidFill>
          <a:ln w="12700">
            <a:solidFill>
              <a:srgbClr val="333333"/>
            </a:solidFill>
            <a:prstDash val="solid"/>
          </a:ln>
        </p:spPr>
      </p:sp>
      <p:sp>
        <p:nvSpPr>
          <p:cNvPr id="25" name="Text 23"/>
          <p:cNvSpPr txBox="1"/>
          <p:nvPr/>
        </p:nvSpPr>
        <p:spPr>
          <a:xfrm>
            <a:off x="4270248" y="2011680"/>
            <a:ext cx="1426464" cy="329184"/>
          </a:xfrm>
          <a:prstGeom prst="rect">
            <a:avLst/>
          </a:prstGeom>
          <a:noFill/>
          <a:ln/>
        </p:spPr>
        <p:txBody>
          <a:bodyPr wrap="square" lIns="0" tIns="0" rIns="0" bIns="0" rtlCol="0" anchor="ctr"/>
          <a:lstStyle/>
          <a:p>
            <a:pPr indent="0" marL="0">
              <a:buNone/>
            </a:pPr>
            <a:r>
              <a:rPr lang="en-US" sz="780" b="1" dirty="0">
                <a:solidFill>
                  <a:srgbClr val="1B2432"/>
                </a:solidFill>
                <a:latin typeface="Calibri" pitchFamily="34" charset="0"/>
                <a:ea typeface="Calibri" pitchFamily="34" charset="-122"/>
                <a:cs typeface="Calibri" pitchFamily="34" charset="-120"/>
              </a:rPr>
              <a:t>Gate set</a:t>
            </a:r>
            <a:endParaRPr lang="en-US" sz="780" dirty="0"/>
          </a:p>
        </p:txBody>
      </p:sp>
      <p:sp>
        <p:nvSpPr>
          <p:cNvPr id="26" name="Text 24"/>
          <p:cNvSpPr txBox="1"/>
          <p:nvPr/>
        </p:nvSpPr>
        <p:spPr>
          <a:xfrm>
            <a:off x="5733288" y="2011680"/>
            <a:ext cx="1938528" cy="329184"/>
          </a:xfrm>
          <a:prstGeom prst="rect">
            <a:avLst/>
          </a:prstGeom>
          <a:noFill/>
          <a:ln/>
        </p:spPr>
        <p:txBody>
          <a:bodyPr wrap="square" lIns="0" tIns="0" rIns="0" bIns="0" rtlCol="0" anchor="ctr"/>
          <a:lstStyle/>
          <a:p>
            <a:pPr indent="0" marL="0">
              <a:lnSpc>
                <a:spcPts val="800"/>
              </a:lnSpc>
              <a:buNone/>
            </a:pPr>
            <a:r>
              <a:rPr lang="en-US" sz="690" dirty="0">
                <a:solidFill>
                  <a:srgbClr val="55606E"/>
                </a:solidFill>
                <a:latin typeface="Calibri" pitchFamily="34" charset="0"/>
                <a:ea typeface="Calibri" pitchFamily="34" charset="-122"/>
                <a:cs typeface="Calibri" pitchFamily="34" charset="-120"/>
              </a:rPr>
              <a:t>Which gates apply and the evidence each requires</a:t>
            </a:r>
            <a:endParaRPr lang="en-US" sz="690" dirty="0"/>
          </a:p>
        </p:txBody>
      </p:sp>
      <p:sp>
        <p:nvSpPr>
          <p:cNvPr id="27" name="Shape 25"/>
          <p:cNvSpPr/>
          <p:nvPr/>
        </p:nvSpPr>
        <p:spPr>
          <a:xfrm>
            <a:off x="411480" y="2395728"/>
            <a:ext cx="3602736" cy="329184"/>
          </a:xfrm>
          <a:prstGeom prst="roundRect">
            <a:avLst>
              <a:gd name="adj" fmla="val 8333"/>
            </a:avLst>
          </a:prstGeom>
          <a:solidFill>
            <a:srgbClr val="F4F7FA"/>
          </a:solidFill>
          <a:ln w="12700">
            <a:solidFill>
              <a:srgbClr val="333333"/>
            </a:solidFill>
            <a:prstDash val="solid"/>
          </a:ln>
        </p:spPr>
      </p:sp>
      <p:sp>
        <p:nvSpPr>
          <p:cNvPr id="28" name="Text 26"/>
          <p:cNvSpPr txBox="1"/>
          <p:nvPr/>
        </p:nvSpPr>
        <p:spPr>
          <a:xfrm>
            <a:off x="521208" y="2395728"/>
            <a:ext cx="1426464" cy="329184"/>
          </a:xfrm>
          <a:prstGeom prst="rect">
            <a:avLst/>
          </a:prstGeom>
          <a:noFill/>
          <a:ln/>
        </p:spPr>
        <p:txBody>
          <a:bodyPr wrap="square" lIns="0" tIns="0" rIns="0" bIns="0" rtlCol="0" anchor="ctr"/>
          <a:lstStyle/>
          <a:p>
            <a:pPr indent="0" marL="0">
              <a:buNone/>
            </a:pPr>
            <a:r>
              <a:rPr lang="en-US" sz="780" b="1" dirty="0">
                <a:solidFill>
                  <a:srgbClr val="1B2432"/>
                </a:solidFill>
                <a:latin typeface="Calibri" pitchFamily="34" charset="0"/>
                <a:ea typeface="Calibri" pitchFamily="34" charset="-122"/>
                <a:cs typeface="Calibri" pitchFamily="34" charset="-120"/>
              </a:rPr>
              <a:t>Tolerated variation</a:t>
            </a:r>
            <a:endParaRPr lang="en-US" sz="780" dirty="0"/>
          </a:p>
        </p:txBody>
      </p:sp>
      <p:sp>
        <p:nvSpPr>
          <p:cNvPr id="29" name="Text 27"/>
          <p:cNvSpPr txBox="1"/>
          <p:nvPr/>
        </p:nvSpPr>
        <p:spPr>
          <a:xfrm>
            <a:off x="1984248" y="2395728"/>
            <a:ext cx="1938528" cy="329184"/>
          </a:xfrm>
          <a:prstGeom prst="rect">
            <a:avLst/>
          </a:prstGeom>
          <a:noFill/>
          <a:ln/>
        </p:spPr>
        <p:txBody>
          <a:bodyPr wrap="square" lIns="0" tIns="0" rIns="0" bIns="0" rtlCol="0" anchor="ctr"/>
          <a:lstStyle/>
          <a:p>
            <a:pPr indent="0" marL="0">
              <a:lnSpc>
                <a:spcPts val="800"/>
              </a:lnSpc>
              <a:buNone/>
            </a:pPr>
            <a:r>
              <a:rPr lang="en-US" sz="690" dirty="0">
                <a:solidFill>
                  <a:srgbClr val="55606E"/>
                </a:solidFill>
                <a:latin typeface="Calibri" pitchFamily="34" charset="0"/>
                <a:ea typeface="Calibri" pitchFamily="34" charset="-122"/>
                <a:cs typeface="Calibri" pitchFamily="34" charset="-120"/>
              </a:rPr>
              <a:t>Parameters that may differ without making the intake novel</a:t>
            </a:r>
            <a:endParaRPr lang="en-US" sz="690" dirty="0"/>
          </a:p>
        </p:txBody>
      </p:sp>
      <p:sp>
        <p:nvSpPr>
          <p:cNvPr id="30" name="Shape 28"/>
          <p:cNvSpPr/>
          <p:nvPr/>
        </p:nvSpPr>
        <p:spPr>
          <a:xfrm>
            <a:off x="4160520" y="2395728"/>
            <a:ext cx="3602736" cy="329184"/>
          </a:xfrm>
          <a:prstGeom prst="roundRect">
            <a:avLst>
              <a:gd name="adj" fmla="val 8333"/>
            </a:avLst>
          </a:prstGeom>
          <a:solidFill>
            <a:srgbClr val="F4F7FA"/>
          </a:solidFill>
          <a:ln w="12700">
            <a:solidFill>
              <a:srgbClr val="333333"/>
            </a:solidFill>
            <a:prstDash val="solid"/>
          </a:ln>
        </p:spPr>
      </p:sp>
      <p:sp>
        <p:nvSpPr>
          <p:cNvPr id="31" name="Text 29"/>
          <p:cNvSpPr txBox="1"/>
          <p:nvPr/>
        </p:nvSpPr>
        <p:spPr>
          <a:xfrm>
            <a:off x="4270248" y="2395728"/>
            <a:ext cx="1426464" cy="329184"/>
          </a:xfrm>
          <a:prstGeom prst="rect">
            <a:avLst/>
          </a:prstGeom>
          <a:noFill/>
          <a:ln/>
        </p:spPr>
        <p:txBody>
          <a:bodyPr wrap="square" lIns="0" tIns="0" rIns="0" bIns="0" rtlCol="0" anchor="ctr"/>
          <a:lstStyle/>
          <a:p>
            <a:pPr indent="0" marL="0">
              <a:buNone/>
            </a:pPr>
            <a:r>
              <a:rPr lang="en-US" sz="780" b="1" dirty="0">
                <a:solidFill>
                  <a:srgbClr val="1B2432"/>
                </a:solidFill>
                <a:latin typeface="Calibri" pitchFamily="34" charset="0"/>
                <a:ea typeface="Calibri" pitchFamily="34" charset="-122"/>
                <a:cs typeface="Calibri" pitchFamily="34" charset="-120"/>
              </a:rPr>
              <a:t>Escalation triggers</a:t>
            </a:r>
            <a:endParaRPr lang="en-US" sz="780" dirty="0"/>
          </a:p>
        </p:txBody>
      </p:sp>
      <p:sp>
        <p:nvSpPr>
          <p:cNvPr id="32" name="Text 30"/>
          <p:cNvSpPr txBox="1"/>
          <p:nvPr/>
        </p:nvSpPr>
        <p:spPr>
          <a:xfrm>
            <a:off x="5733288" y="2395728"/>
            <a:ext cx="1938528" cy="329184"/>
          </a:xfrm>
          <a:prstGeom prst="rect">
            <a:avLst/>
          </a:prstGeom>
          <a:noFill/>
          <a:ln/>
        </p:spPr>
        <p:txBody>
          <a:bodyPr wrap="square" lIns="0" tIns="0" rIns="0" bIns="0" rtlCol="0" anchor="ctr"/>
          <a:lstStyle/>
          <a:p>
            <a:pPr indent="0" marL="0">
              <a:lnSpc>
                <a:spcPts val="800"/>
              </a:lnSpc>
              <a:buNone/>
            </a:pPr>
            <a:r>
              <a:rPr lang="en-US" sz="690" dirty="0">
                <a:solidFill>
                  <a:srgbClr val="55606E"/>
                </a:solidFill>
                <a:latin typeface="Calibri" pitchFamily="34" charset="0"/>
                <a:ea typeface="Calibri" pitchFamily="34" charset="-122"/>
                <a:cs typeface="Calibri" pitchFamily="34" charset="-120"/>
              </a:rPr>
              <a:t>Conditions that invalidate this pattern and force re-tiering</a:t>
            </a:r>
            <a:endParaRPr lang="en-US" sz="690" dirty="0"/>
          </a:p>
        </p:txBody>
      </p:sp>
      <p:sp>
        <p:nvSpPr>
          <p:cNvPr id="33" name="Shape 31"/>
          <p:cNvSpPr/>
          <p:nvPr/>
        </p:nvSpPr>
        <p:spPr>
          <a:xfrm>
            <a:off x="411480" y="2779776"/>
            <a:ext cx="3602736" cy="329184"/>
          </a:xfrm>
          <a:prstGeom prst="roundRect">
            <a:avLst>
              <a:gd name="adj" fmla="val 8333"/>
            </a:avLst>
          </a:prstGeom>
          <a:solidFill>
            <a:srgbClr val="F4F7FA"/>
          </a:solidFill>
          <a:ln w="12700">
            <a:solidFill>
              <a:srgbClr val="333333"/>
            </a:solidFill>
            <a:prstDash val="solid"/>
          </a:ln>
        </p:spPr>
      </p:sp>
      <p:sp>
        <p:nvSpPr>
          <p:cNvPr id="34" name="Text 32"/>
          <p:cNvSpPr txBox="1"/>
          <p:nvPr/>
        </p:nvSpPr>
        <p:spPr>
          <a:xfrm>
            <a:off x="521208" y="2779776"/>
            <a:ext cx="1426464" cy="329184"/>
          </a:xfrm>
          <a:prstGeom prst="rect">
            <a:avLst/>
          </a:prstGeom>
          <a:noFill/>
          <a:ln/>
        </p:spPr>
        <p:txBody>
          <a:bodyPr wrap="square" lIns="0" tIns="0" rIns="0" bIns="0" rtlCol="0" anchor="ctr"/>
          <a:lstStyle/>
          <a:p>
            <a:pPr indent="0" marL="0">
              <a:buNone/>
            </a:pPr>
            <a:r>
              <a:rPr lang="en-US" sz="780" b="1" dirty="0">
                <a:solidFill>
                  <a:srgbClr val="1B2432"/>
                </a:solidFill>
                <a:latin typeface="Calibri" pitchFamily="34" charset="0"/>
                <a:ea typeface="Calibri" pitchFamily="34" charset="-122"/>
                <a:cs typeface="Calibri" pitchFamily="34" charset="-120"/>
              </a:rPr>
              <a:t>Generated artefacts</a:t>
            </a:r>
            <a:endParaRPr lang="en-US" sz="780" dirty="0"/>
          </a:p>
        </p:txBody>
      </p:sp>
      <p:sp>
        <p:nvSpPr>
          <p:cNvPr id="35" name="Text 33"/>
          <p:cNvSpPr txBox="1"/>
          <p:nvPr/>
        </p:nvSpPr>
        <p:spPr>
          <a:xfrm>
            <a:off x="1984248" y="2779776"/>
            <a:ext cx="1938528" cy="329184"/>
          </a:xfrm>
          <a:prstGeom prst="rect">
            <a:avLst/>
          </a:prstGeom>
          <a:noFill/>
          <a:ln/>
        </p:spPr>
        <p:txBody>
          <a:bodyPr wrap="square" lIns="0" tIns="0" rIns="0" bIns="0" rtlCol="0" anchor="ctr"/>
          <a:lstStyle/>
          <a:p>
            <a:pPr indent="0" marL="0">
              <a:lnSpc>
                <a:spcPts val="800"/>
              </a:lnSpc>
              <a:buNone/>
            </a:pPr>
            <a:r>
              <a:rPr lang="en-US" sz="690" dirty="0">
                <a:solidFill>
                  <a:srgbClr val="55606E"/>
                </a:solidFill>
                <a:latin typeface="Calibri" pitchFamily="34" charset="0"/>
                <a:ea typeface="Calibri" pitchFamily="34" charset="-122"/>
                <a:cs typeface="Calibri" pitchFamily="34" charset="-120"/>
              </a:rPr>
              <a:t>Documentation, collections and runbooks produced on completion</a:t>
            </a:r>
            <a:endParaRPr lang="en-US" sz="690" dirty="0"/>
          </a:p>
        </p:txBody>
      </p:sp>
      <p:sp>
        <p:nvSpPr>
          <p:cNvPr id="36" name="Shape 34"/>
          <p:cNvSpPr/>
          <p:nvPr/>
        </p:nvSpPr>
        <p:spPr>
          <a:xfrm>
            <a:off x="4160520" y="2779776"/>
            <a:ext cx="3602736" cy="329184"/>
          </a:xfrm>
          <a:prstGeom prst="roundRect">
            <a:avLst>
              <a:gd name="adj" fmla="val 8333"/>
            </a:avLst>
          </a:prstGeom>
          <a:solidFill>
            <a:srgbClr val="F4F7FA"/>
          </a:solidFill>
          <a:ln w="12700">
            <a:solidFill>
              <a:srgbClr val="333333"/>
            </a:solidFill>
            <a:prstDash val="solid"/>
          </a:ln>
        </p:spPr>
      </p:sp>
      <p:sp>
        <p:nvSpPr>
          <p:cNvPr id="37" name="Text 35"/>
          <p:cNvSpPr txBox="1"/>
          <p:nvPr/>
        </p:nvSpPr>
        <p:spPr>
          <a:xfrm>
            <a:off x="4270248" y="2779776"/>
            <a:ext cx="1426464" cy="329184"/>
          </a:xfrm>
          <a:prstGeom prst="rect">
            <a:avLst/>
          </a:prstGeom>
          <a:noFill/>
          <a:ln/>
        </p:spPr>
        <p:txBody>
          <a:bodyPr wrap="square" lIns="0" tIns="0" rIns="0" bIns="0" rtlCol="0" anchor="ctr"/>
          <a:lstStyle/>
          <a:p>
            <a:pPr indent="0" marL="0">
              <a:buNone/>
            </a:pPr>
            <a:r>
              <a:rPr lang="en-US" sz="780" b="1" dirty="0">
                <a:solidFill>
                  <a:srgbClr val="1B2432"/>
                </a:solidFill>
                <a:latin typeface="Calibri" pitchFamily="34" charset="0"/>
                <a:ea typeface="Calibri" pitchFamily="34" charset="-122"/>
                <a:cs typeface="Calibri" pitchFamily="34" charset="-120"/>
              </a:rPr>
              <a:t>Precedent</a:t>
            </a:r>
            <a:endParaRPr lang="en-US" sz="780" dirty="0"/>
          </a:p>
        </p:txBody>
      </p:sp>
      <p:sp>
        <p:nvSpPr>
          <p:cNvPr id="38" name="Text 36"/>
          <p:cNvSpPr txBox="1"/>
          <p:nvPr/>
        </p:nvSpPr>
        <p:spPr>
          <a:xfrm>
            <a:off x="5733288" y="2779776"/>
            <a:ext cx="1938528" cy="329184"/>
          </a:xfrm>
          <a:prstGeom prst="rect">
            <a:avLst/>
          </a:prstGeom>
          <a:noFill/>
          <a:ln/>
        </p:spPr>
        <p:txBody>
          <a:bodyPr wrap="square" lIns="0" tIns="0" rIns="0" bIns="0" rtlCol="0" anchor="ctr"/>
          <a:lstStyle/>
          <a:p>
            <a:pPr indent="0" marL="0">
              <a:lnSpc>
                <a:spcPts val="800"/>
              </a:lnSpc>
              <a:buNone/>
            </a:pPr>
            <a:r>
              <a:rPr lang="en-US" sz="690" dirty="0">
                <a:solidFill>
                  <a:srgbClr val="55606E"/>
                </a:solidFill>
                <a:latin typeface="Calibri" pitchFamily="34" charset="0"/>
                <a:ea typeface="Calibri" pitchFamily="34" charset="-122"/>
                <a:cs typeface="Calibri" pitchFamily="34" charset="-120"/>
              </a:rPr>
              <a:t>Prior intakes using this pattern, with outcomes and known difficulties</a:t>
            </a:r>
            <a:endParaRPr lang="en-US" sz="690" dirty="0"/>
          </a:p>
        </p:txBody>
      </p:sp>
      <p:sp>
        <p:nvSpPr>
          <p:cNvPr id="39" name="Text 37"/>
          <p:cNvSpPr txBox="1"/>
          <p:nvPr/>
        </p:nvSpPr>
        <p:spPr>
          <a:xfrm>
            <a:off x="8001000" y="1042416"/>
            <a:ext cx="3657600" cy="182880"/>
          </a:xfrm>
          <a:prstGeom prst="rect">
            <a:avLst/>
          </a:prstGeom>
          <a:noFill/>
          <a:ln/>
        </p:spPr>
        <p:txBody>
          <a:bodyPr wrap="square" lIns="0" tIns="0" rIns="0" bIns="0" rtlCol="0" anchor="ctr"/>
          <a:lstStyle/>
          <a:p>
            <a:pPr indent="0" marL="0">
              <a:buNone/>
            </a:pPr>
            <a:r>
              <a:rPr lang="en-US" sz="760" b="1" spc="110" kern="0" dirty="0">
                <a:solidFill>
                  <a:srgbClr val="1B2432"/>
                </a:solidFill>
                <a:latin typeface="Calibri" pitchFamily="34" charset="0"/>
                <a:ea typeface="Calibri" pitchFamily="34" charset="-122"/>
                <a:cs typeface="Calibri" pitchFamily="34" charset="-120"/>
              </a:rPr>
              <a:t>MATURITY LADDER</a:t>
            </a:r>
            <a:endParaRPr lang="en-US" sz="760" dirty="0"/>
          </a:p>
        </p:txBody>
      </p:sp>
      <p:sp>
        <p:nvSpPr>
          <p:cNvPr id="40" name="Shape 38"/>
          <p:cNvSpPr/>
          <p:nvPr/>
        </p:nvSpPr>
        <p:spPr>
          <a:xfrm>
            <a:off x="8001000" y="1243584"/>
            <a:ext cx="3749040" cy="457200"/>
          </a:xfrm>
          <a:prstGeom prst="roundRect">
            <a:avLst>
              <a:gd name="adj" fmla="val 8000"/>
            </a:avLst>
          </a:prstGeom>
          <a:solidFill>
            <a:srgbClr val="FFFFFF"/>
          </a:solidFill>
          <a:ln w="13335">
            <a:solidFill>
              <a:srgbClr val="0B6E6E"/>
            </a:solidFill>
            <a:prstDash val="solid"/>
          </a:ln>
        </p:spPr>
      </p:sp>
      <p:sp>
        <p:nvSpPr>
          <p:cNvPr id="41" name="Shape 39"/>
          <p:cNvSpPr/>
          <p:nvPr/>
        </p:nvSpPr>
        <p:spPr>
          <a:xfrm>
            <a:off x="8001000" y="1243584"/>
            <a:ext cx="512064" cy="457200"/>
          </a:xfrm>
          <a:prstGeom prst="rect">
            <a:avLst/>
          </a:prstGeom>
          <a:solidFill>
            <a:srgbClr val="0B6E6E"/>
          </a:solidFill>
          <a:ln w="12700">
            <a:solidFill>
              <a:srgbClr val="333333"/>
            </a:solidFill>
            <a:prstDash val="solid"/>
          </a:ln>
        </p:spPr>
      </p:sp>
      <p:sp>
        <p:nvSpPr>
          <p:cNvPr id="42" name="Text 40"/>
          <p:cNvSpPr txBox="1"/>
          <p:nvPr/>
        </p:nvSpPr>
        <p:spPr>
          <a:xfrm>
            <a:off x="8001000" y="1243584"/>
            <a:ext cx="512064"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M3</a:t>
            </a:r>
            <a:endParaRPr lang="en-US" sz="1000" dirty="0"/>
          </a:p>
        </p:txBody>
      </p:sp>
      <p:sp>
        <p:nvSpPr>
          <p:cNvPr id="43" name="Text 41"/>
          <p:cNvSpPr txBox="1"/>
          <p:nvPr/>
        </p:nvSpPr>
        <p:spPr>
          <a:xfrm>
            <a:off x="8622792" y="1280160"/>
            <a:ext cx="1188720" cy="201168"/>
          </a:xfrm>
          <a:prstGeom prst="rect">
            <a:avLst/>
          </a:prstGeom>
          <a:noFill/>
          <a:ln/>
        </p:spPr>
        <p:txBody>
          <a:bodyPr wrap="square" lIns="0" tIns="0" rIns="0" bIns="0" rtlCol="0" anchor="ctr"/>
          <a:lstStyle/>
          <a:p>
            <a:pPr indent="0" marL="0">
              <a:buNone/>
            </a:pPr>
            <a:r>
              <a:rPr lang="en-US" sz="860" b="1" dirty="0">
                <a:solidFill>
                  <a:srgbClr val="1B2432"/>
                </a:solidFill>
                <a:latin typeface="Calibri" pitchFamily="34" charset="0"/>
                <a:ea typeface="Calibri" pitchFamily="34" charset="-122"/>
                <a:cs typeface="Calibri" pitchFamily="34" charset="-120"/>
              </a:rPr>
              <a:t>Self-service</a:t>
            </a:r>
            <a:endParaRPr lang="en-US" sz="860" dirty="0"/>
          </a:p>
        </p:txBody>
      </p:sp>
      <p:sp>
        <p:nvSpPr>
          <p:cNvPr id="44" name="Text 42"/>
          <p:cNvSpPr txBox="1"/>
          <p:nvPr/>
        </p:nvSpPr>
        <p:spPr>
          <a:xfrm>
            <a:off x="9811512" y="1280160"/>
            <a:ext cx="1828800" cy="201168"/>
          </a:xfrm>
          <a:prstGeom prst="rect">
            <a:avLst/>
          </a:prstGeom>
          <a:noFill/>
          <a:ln/>
        </p:spPr>
        <p:txBody>
          <a:bodyPr wrap="square" lIns="0" tIns="0" rIns="0" bIns="0" rtlCol="0" anchor="ctr"/>
          <a:lstStyle/>
          <a:p>
            <a:pPr algn="r" indent="0" marL="0">
              <a:buNone/>
            </a:pPr>
            <a:r>
              <a:rPr lang="en-US" sz="740" b="1" dirty="0">
                <a:solidFill>
                  <a:srgbClr val="0B6E6E"/>
                </a:solidFill>
                <a:latin typeface="Calibri" pitchFamily="34" charset="0"/>
                <a:ea typeface="Calibri" pitchFamily="34" charset="-122"/>
                <a:cs typeface="Calibri" pitchFamily="34" charset="-120"/>
              </a:rPr>
              <a:t>Lean, Lean+</a:t>
            </a:r>
            <a:endParaRPr lang="en-US" sz="740" dirty="0"/>
          </a:p>
        </p:txBody>
      </p:sp>
      <p:sp>
        <p:nvSpPr>
          <p:cNvPr id="45" name="Text 43"/>
          <p:cNvSpPr txBox="1"/>
          <p:nvPr/>
        </p:nvSpPr>
        <p:spPr>
          <a:xfrm>
            <a:off x="8622792" y="1472184"/>
            <a:ext cx="3017520" cy="201168"/>
          </a:xfrm>
          <a:prstGeom prst="rect">
            <a:avLst/>
          </a:prstGeom>
          <a:noFill/>
          <a:ln/>
        </p:spPr>
        <p:txBody>
          <a:bodyPr wrap="square" lIns="0" tIns="0" rIns="0" bIns="0" rtlCol="0" anchor="ctr"/>
          <a:lstStyle/>
          <a:p>
            <a:pPr indent="0" marL="0">
              <a:buNone/>
            </a:pPr>
            <a:r>
              <a:rPr lang="en-US" sz="690" dirty="0">
                <a:solidFill>
                  <a:srgbClr val="55606E"/>
                </a:solidFill>
                <a:latin typeface="Calibri" pitchFamily="34" charset="0"/>
                <a:ea typeface="Calibri" pitchFamily="34" charset="-122"/>
                <a:cs typeface="Calibri" pitchFamily="34" charset="-120"/>
              </a:rPr>
              <a:t>Fully provisionable by the partner within policy bounds</a:t>
            </a:r>
            <a:endParaRPr lang="en-US" sz="690" dirty="0"/>
          </a:p>
        </p:txBody>
      </p:sp>
      <p:sp>
        <p:nvSpPr>
          <p:cNvPr id="46" name="Shape 44"/>
          <p:cNvSpPr/>
          <p:nvPr/>
        </p:nvSpPr>
        <p:spPr>
          <a:xfrm>
            <a:off x="8001000" y="1755648"/>
            <a:ext cx="3749040" cy="457200"/>
          </a:xfrm>
          <a:prstGeom prst="roundRect">
            <a:avLst>
              <a:gd name="adj" fmla="val 8000"/>
            </a:avLst>
          </a:prstGeom>
          <a:solidFill>
            <a:srgbClr val="FFFFFF"/>
          </a:solidFill>
          <a:ln w="13335">
            <a:solidFill>
              <a:srgbClr val="9A6410"/>
            </a:solidFill>
            <a:prstDash val="solid"/>
          </a:ln>
        </p:spPr>
      </p:sp>
      <p:sp>
        <p:nvSpPr>
          <p:cNvPr id="47" name="Shape 45"/>
          <p:cNvSpPr/>
          <p:nvPr/>
        </p:nvSpPr>
        <p:spPr>
          <a:xfrm>
            <a:off x="8001000" y="1755648"/>
            <a:ext cx="512064" cy="457200"/>
          </a:xfrm>
          <a:prstGeom prst="rect">
            <a:avLst/>
          </a:prstGeom>
          <a:solidFill>
            <a:srgbClr val="9A6410"/>
          </a:solidFill>
          <a:ln w="12700">
            <a:solidFill>
              <a:srgbClr val="333333"/>
            </a:solidFill>
            <a:prstDash val="solid"/>
          </a:ln>
        </p:spPr>
      </p:sp>
      <p:sp>
        <p:nvSpPr>
          <p:cNvPr id="48" name="Text 46"/>
          <p:cNvSpPr txBox="1"/>
          <p:nvPr/>
        </p:nvSpPr>
        <p:spPr>
          <a:xfrm>
            <a:off x="8001000" y="1755648"/>
            <a:ext cx="512064"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M2</a:t>
            </a:r>
            <a:endParaRPr lang="en-US" sz="1000" dirty="0"/>
          </a:p>
        </p:txBody>
      </p:sp>
      <p:sp>
        <p:nvSpPr>
          <p:cNvPr id="49" name="Text 47"/>
          <p:cNvSpPr txBox="1"/>
          <p:nvPr/>
        </p:nvSpPr>
        <p:spPr>
          <a:xfrm>
            <a:off x="8622792" y="1792224"/>
            <a:ext cx="1188720" cy="201168"/>
          </a:xfrm>
          <a:prstGeom prst="rect">
            <a:avLst/>
          </a:prstGeom>
          <a:noFill/>
          <a:ln/>
        </p:spPr>
        <p:txBody>
          <a:bodyPr wrap="square" lIns="0" tIns="0" rIns="0" bIns="0" rtlCol="0" anchor="ctr"/>
          <a:lstStyle/>
          <a:p>
            <a:pPr indent="0" marL="0">
              <a:buNone/>
            </a:pPr>
            <a:r>
              <a:rPr lang="en-US" sz="860" b="1" dirty="0">
                <a:solidFill>
                  <a:srgbClr val="1B2432"/>
                </a:solidFill>
                <a:latin typeface="Calibri" pitchFamily="34" charset="0"/>
                <a:ea typeface="Calibri" pitchFamily="34" charset="-122"/>
                <a:cs typeface="Calibri" pitchFamily="34" charset="-120"/>
              </a:rPr>
              <a:t>Validated</a:t>
            </a:r>
            <a:endParaRPr lang="en-US" sz="860" dirty="0"/>
          </a:p>
        </p:txBody>
      </p:sp>
      <p:sp>
        <p:nvSpPr>
          <p:cNvPr id="50" name="Text 48"/>
          <p:cNvSpPr txBox="1"/>
          <p:nvPr/>
        </p:nvSpPr>
        <p:spPr>
          <a:xfrm>
            <a:off x="9811512" y="1792224"/>
            <a:ext cx="1828800" cy="201168"/>
          </a:xfrm>
          <a:prstGeom prst="rect">
            <a:avLst/>
          </a:prstGeom>
          <a:noFill/>
          <a:ln/>
        </p:spPr>
        <p:txBody>
          <a:bodyPr wrap="square" lIns="0" tIns="0" rIns="0" bIns="0" rtlCol="0" anchor="ctr"/>
          <a:lstStyle/>
          <a:p>
            <a:pPr algn="r" indent="0" marL="0">
              <a:buNone/>
            </a:pPr>
            <a:r>
              <a:rPr lang="en-US" sz="740" b="1" dirty="0">
                <a:solidFill>
                  <a:srgbClr val="9A6410"/>
                </a:solidFill>
                <a:latin typeface="Calibri" pitchFamily="34" charset="0"/>
                <a:ea typeface="Calibri" pitchFamily="34" charset="-122"/>
                <a:cs typeface="Calibri" pitchFamily="34" charset="-120"/>
              </a:rPr>
              <a:t>Lean+</a:t>
            </a:r>
            <a:endParaRPr lang="en-US" sz="740" dirty="0"/>
          </a:p>
        </p:txBody>
      </p:sp>
      <p:sp>
        <p:nvSpPr>
          <p:cNvPr id="51" name="Text 49"/>
          <p:cNvSpPr txBox="1"/>
          <p:nvPr/>
        </p:nvSpPr>
        <p:spPr>
          <a:xfrm>
            <a:off x="8622792" y="1984248"/>
            <a:ext cx="3017520" cy="201168"/>
          </a:xfrm>
          <a:prstGeom prst="rect">
            <a:avLst/>
          </a:prstGeom>
          <a:noFill/>
          <a:ln/>
        </p:spPr>
        <p:txBody>
          <a:bodyPr wrap="square" lIns="0" tIns="0" rIns="0" bIns="0" rtlCol="0" anchor="ctr"/>
          <a:lstStyle/>
          <a:p>
            <a:pPr indent="0" marL="0">
              <a:buNone/>
            </a:pPr>
            <a:r>
              <a:rPr lang="en-US" sz="690" dirty="0">
                <a:solidFill>
                  <a:srgbClr val="55606E"/>
                </a:solidFill>
                <a:latin typeface="Calibri" pitchFamily="34" charset="0"/>
                <a:ea typeface="Calibri" pitchFamily="34" charset="-122"/>
                <a:cs typeface="Calibri" pitchFamily="34" charset="-120"/>
              </a:rPr>
              <a:t>Automated gates; configuration generated, applied with review</a:t>
            </a:r>
            <a:endParaRPr lang="en-US" sz="690" dirty="0"/>
          </a:p>
        </p:txBody>
      </p:sp>
      <p:sp>
        <p:nvSpPr>
          <p:cNvPr id="52" name="Shape 50"/>
          <p:cNvSpPr/>
          <p:nvPr/>
        </p:nvSpPr>
        <p:spPr>
          <a:xfrm>
            <a:off x="8001000" y="2267712"/>
            <a:ext cx="3749040" cy="457200"/>
          </a:xfrm>
          <a:prstGeom prst="roundRect">
            <a:avLst>
              <a:gd name="adj" fmla="val 8000"/>
            </a:avLst>
          </a:prstGeom>
          <a:solidFill>
            <a:srgbClr val="FFFFFF"/>
          </a:solidFill>
          <a:ln w="13335">
            <a:solidFill>
              <a:srgbClr val="A44A2A"/>
            </a:solidFill>
            <a:prstDash val="solid"/>
          </a:ln>
        </p:spPr>
      </p:sp>
      <p:sp>
        <p:nvSpPr>
          <p:cNvPr id="53" name="Shape 51"/>
          <p:cNvSpPr/>
          <p:nvPr/>
        </p:nvSpPr>
        <p:spPr>
          <a:xfrm>
            <a:off x="8001000" y="2267712"/>
            <a:ext cx="512064" cy="457200"/>
          </a:xfrm>
          <a:prstGeom prst="rect">
            <a:avLst/>
          </a:prstGeom>
          <a:solidFill>
            <a:srgbClr val="A44A2A"/>
          </a:solidFill>
          <a:ln w="12700">
            <a:solidFill>
              <a:srgbClr val="333333"/>
            </a:solidFill>
            <a:prstDash val="solid"/>
          </a:ln>
        </p:spPr>
      </p:sp>
      <p:sp>
        <p:nvSpPr>
          <p:cNvPr id="54" name="Text 52"/>
          <p:cNvSpPr txBox="1"/>
          <p:nvPr/>
        </p:nvSpPr>
        <p:spPr>
          <a:xfrm>
            <a:off x="8001000" y="2267712"/>
            <a:ext cx="512064"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M1</a:t>
            </a:r>
            <a:endParaRPr lang="en-US" sz="1000" dirty="0"/>
          </a:p>
        </p:txBody>
      </p:sp>
      <p:sp>
        <p:nvSpPr>
          <p:cNvPr id="55" name="Text 53"/>
          <p:cNvSpPr txBox="1"/>
          <p:nvPr/>
        </p:nvSpPr>
        <p:spPr>
          <a:xfrm>
            <a:off x="8622792" y="2304288"/>
            <a:ext cx="1188720" cy="201168"/>
          </a:xfrm>
          <a:prstGeom prst="rect">
            <a:avLst/>
          </a:prstGeom>
          <a:noFill/>
          <a:ln/>
        </p:spPr>
        <p:txBody>
          <a:bodyPr wrap="square" lIns="0" tIns="0" rIns="0" bIns="0" rtlCol="0" anchor="ctr"/>
          <a:lstStyle/>
          <a:p>
            <a:pPr indent="0" marL="0">
              <a:buNone/>
            </a:pPr>
            <a:r>
              <a:rPr lang="en-US" sz="860" b="1" dirty="0">
                <a:solidFill>
                  <a:srgbClr val="1B2432"/>
                </a:solidFill>
                <a:latin typeface="Calibri" pitchFamily="34" charset="0"/>
                <a:ea typeface="Calibri" pitchFamily="34" charset="-122"/>
                <a:cs typeface="Calibri" pitchFamily="34" charset="-120"/>
              </a:rPr>
              <a:t>Described</a:t>
            </a:r>
            <a:endParaRPr lang="en-US" sz="860" dirty="0"/>
          </a:p>
        </p:txBody>
      </p:sp>
      <p:sp>
        <p:nvSpPr>
          <p:cNvPr id="56" name="Text 54"/>
          <p:cNvSpPr txBox="1"/>
          <p:nvPr/>
        </p:nvSpPr>
        <p:spPr>
          <a:xfrm>
            <a:off x="9811512" y="2304288"/>
            <a:ext cx="1828800" cy="201168"/>
          </a:xfrm>
          <a:prstGeom prst="rect">
            <a:avLst/>
          </a:prstGeom>
          <a:noFill/>
          <a:ln/>
        </p:spPr>
        <p:txBody>
          <a:bodyPr wrap="square" lIns="0" tIns="0" rIns="0" bIns="0" rtlCol="0" anchor="ctr"/>
          <a:lstStyle/>
          <a:p>
            <a:pPr algn="r" indent="0" marL="0">
              <a:buNone/>
            </a:pPr>
            <a:r>
              <a:rPr lang="en-US" sz="740" b="1" dirty="0">
                <a:solidFill>
                  <a:srgbClr val="A44A2A"/>
                </a:solidFill>
                <a:latin typeface="Calibri" pitchFamily="34" charset="0"/>
                <a:ea typeface="Calibri" pitchFamily="34" charset="-122"/>
                <a:cs typeface="Calibri" pitchFamily="34" charset="-120"/>
              </a:rPr>
              <a:t>Dedicated, Lean+</a:t>
            </a:r>
            <a:endParaRPr lang="en-US" sz="740" dirty="0"/>
          </a:p>
        </p:txBody>
      </p:sp>
      <p:sp>
        <p:nvSpPr>
          <p:cNvPr id="57" name="Text 55"/>
          <p:cNvSpPr txBox="1"/>
          <p:nvPr/>
        </p:nvSpPr>
        <p:spPr>
          <a:xfrm>
            <a:off x="8622792" y="2496312"/>
            <a:ext cx="3017520" cy="201168"/>
          </a:xfrm>
          <a:prstGeom prst="rect">
            <a:avLst/>
          </a:prstGeom>
          <a:noFill/>
          <a:ln/>
        </p:spPr>
        <p:txBody>
          <a:bodyPr wrap="square" lIns="0" tIns="0" rIns="0" bIns="0" rtlCol="0" anchor="ctr"/>
          <a:lstStyle/>
          <a:p>
            <a:pPr indent="0" marL="0">
              <a:buNone/>
            </a:pPr>
            <a:r>
              <a:rPr lang="en-US" sz="690" dirty="0">
                <a:solidFill>
                  <a:srgbClr val="55606E"/>
                </a:solidFill>
                <a:latin typeface="Calibri" pitchFamily="34" charset="0"/>
                <a:ea typeface="Calibri" pitchFamily="34" charset="-122"/>
                <a:cs typeface="Calibri" pitchFamily="34" charset="-120"/>
              </a:rPr>
              <a:t>Generalised, required inputs defined</a:t>
            </a:r>
            <a:endParaRPr lang="en-US" sz="690" dirty="0"/>
          </a:p>
        </p:txBody>
      </p:sp>
      <p:sp>
        <p:nvSpPr>
          <p:cNvPr id="58" name="Shape 56"/>
          <p:cNvSpPr/>
          <p:nvPr/>
        </p:nvSpPr>
        <p:spPr>
          <a:xfrm>
            <a:off x="8001000" y="2779776"/>
            <a:ext cx="3749040" cy="457200"/>
          </a:xfrm>
          <a:prstGeom prst="roundRect">
            <a:avLst>
              <a:gd name="adj" fmla="val 8000"/>
            </a:avLst>
          </a:prstGeom>
          <a:solidFill>
            <a:srgbClr val="FFFFFF"/>
          </a:solidFill>
          <a:ln w="13335">
            <a:solidFill>
              <a:srgbClr val="7C8798"/>
            </a:solidFill>
            <a:prstDash val="solid"/>
          </a:ln>
        </p:spPr>
      </p:sp>
      <p:sp>
        <p:nvSpPr>
          <p:cNvPr id="59" name="Shape 57"/>
          <p:cNvSpPr/>
          <p:nvPr/>
        </p:nvSpPr>
        <p:spPr>
          <a:xfrm>
            <a:off x="8001000" y="2779776"/>
            <a:ext cx="512064" cy="457200"/>
          </a:xfrm>
          <a:prstGeom prst="rect">
            <a:avLst/>
          </a:prstGeom>
          <a:solidFill>
            <a:srgbClr val="7C8798"/>
          </a:solidFill>
          <a:ln w="12700">
            <a:solidFill>
              <a:srgbClr val="333333"/>
            </a:solidFill>
            <a:prstDash val="solid"/>
          </a:ln>
        </p:spPr>
      </p:sp>
      <p:sp>
        <p:nvSpPr>
          <p:cNvPr id="60" name="Text 58"/>
          <p:cNvSpPr txBox="1"/>
          <p:nvPr/>
        </p:nvSpPr>
        <p:spPr>
          <a:xfrm>
            <a:off x="8001000" y="2779776"/>
            <a:ext cx="512064"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M0</a:t>
            </a:r>
            <a:endParaRPr lang="en-US" sz="1000" dirty="0"/>
          </a:p>
        </p:txBody>
      </p:sp>
      <p:sp>
        <p:nvSpPr>
          <p:cNvPr id="61" name="Text 59"/>
          <p:cNvSpPr txBox="1"/>
          <p:nvPr/>
        </p:nvSpPr>
        <p:spPr>
          <a:xfrm>
            <a:off x="8622792" y="2816352"/>
            <a:ext cx="1188720" cy="201168"/>
          </a:xfrm>
          <a:prstGeom prst="rect">
            <a:avLst/>
          </a:prstGeom>
          <a:noFill/>
          <a:ln/>
        </p:spPr>
        <p:txBody>
          <a:bodyPr wrap="square" lIns="0" tIns="0" rIns="0" bIns="0" rtlCol="0" anchor="ctr"/>
          <a:lstStyle/>
          <a:p>
            <a:pPr indent="0" marL="0">
              <a:buNone/>
            </a:pPr>
            <a:r>
              <a:rPr lang="en-US" sz="860" b="1" dirty="0">
                <a:solidFill>
                  <a:srgbClr val="1B2432"/>
                </a:solidFill>
                <a:latin typeface="Calibri" pitchFamily="34" charset="0"/>
                <a:ea typeface="Calibri" pitchFamily="34" charset="-122"/>
                <a:cs typeface="Calibri" pitchFamily="34" charset="-120"/>
              </a:rPr>
              <a:t>Observed</a:t>
            </a:r>
            <a:endParaRPr lang="en-US" sz="860" dirty="0"/>
          </a:p>
        </p:txBody>
      </p:sp>
      <p:sp>
        <p:nvSpPr>
          <p:cNvPr id="62" name="Text 60"/>
          <p:cNvSpPr txBox="1"/>
          <p:nvPr/>
        </p:nvSpPr>
        <p:spPr>
          <a:xfrm>
            <a:off x="9811512" y="2816352"/>
            <a:ext cx="1828800" cy="201168"/>
          </a:xfrm>
          <a:prstGeom prst="rect">
            <a:avLst/>
          </a:prstGeom>
          <a:noFill/>
          <a:ln/>
        </p:spPr>
        <p:txBody>
          <a:bodyPr wrap="square" lIns="0" tIns="0" rIns="0" bIns="0" rtlCol="0" anchor="ctr"/>
          <a:lstStyle/>
          <a:p>
            <a:pPr algn="r" indent="0" marL="0">
              <a:buNone/>
            </a:pPr>
            <a:r>
              <a:rPr lang="en-US" sz="740" b="1" dirty="0">
                <a:solidFill>
                  <a:srgbClr val="7C8798"/>
                </a:solidFill>
                <a:latin typeface="Calibri" pitchFamily="34" charset="0"/>
                <a:ea typeface="Calibri" pitchFamily="34" charset="-122"/>
                <a:cs typeface="Calibri" pitchFamily="34" charset="-120"/>
              </a:rPr>
              <a:t>Dedicated only</a:t>
            </a:r>
            <a:endParaRPr lang="en-US" sz="740" dirty="0"/>
          </a:p>
        </p:txBody>
      </p:sp>
      <p:sp>
        <p:nvSpPr>
          <p:cNvPr id="63" name="Text 61"/>
          <p:cNvSpPr txBox="1"/>
          <p:nvPr/>
        </p:nvSpPr>
        <p:spPr>
          <a:xfrm>
            <a:off x="8622792" y="3008376"/>
            <a:ext cx="3017520" cy="201168"/>
          </a:xfrm>
          <a:prstGeom prst="rect">
            <a:avLst/>
          </a:prstGeom>
          <a:noFill/>
          <a:ln/>
        </p:spPr>
        <p:txBody>
          <a:bodyPr wrap="square" lIns="0" tIns="0" rIns="0" bIns="0" rtlCol="0" anchor="ctr"/>
          <a:lstStyle/>
          <a:p>
            <a:pPr indent="0" marL="0">
              <a:buNone/>
            </a:pPr>
            <a:r>
              <a:rPr lang="en-US" sz="690" dirty="0">
                <a:solidFill>
                  <a:srgbClr val="55606E"/>
                </a:solidFill>
                <a:latin typeface="Calibri" pitchFamily="34" charset="0"/>
                <a:ea typeface="Calibri" pitchFamily="34" charset="-122"/>
                <a:cs typeface="Calibri" pitchFamily="34" charset="-120"/>
              </a:rPr>
              <a:t>Delivered once; documented, not generalised</a:t>
            </a:r>
            <a:endParaRPr lang="en-US" sz="690" dirty="0"/>
          </a:p>
        </p:txBody>
      </p:sp>
      <p:sp>
        <p:nvSpPr>
          <p:cNvPr id="64" name="Text 62"/>
          <p:cNvSpPr txBox="1"/>
          <p:nvPr/>
        </p:nvSpPr>
        <p:spPr>
          <a:xfrm>
            <a:off x="411480" y="3401568"/>
            <a:ext cx="7315200" cy="182880"/>
          </a:xfrm>
          <a:prstGeom prst="rect">
            <a:avLst/>
          </a:prstGeom>
          <a:noFill/>
          <a:ln/>
        </p:spPr>
        <p:txBody>
          <a:bodyPr wrap="square" lIns="0" tIns="0" rIns="0" bIns="0" rtlCol="0" anchor="ctr"/>
          <a:lstStyle/>
          <a:p>
            <a:pPr indent="0" marL="0">
              <a:buNone/>
            </a:pPr>
            <a:r>
              <a:rPr lang="en-US" sz="760" b="1" spc="110" kern="0" dirty="0">
                <a:solidFill>
                  <a:srgbClr val="1B2432"/>
                </a:solidFill>
                <a:latin typeface="Calibri" pitchFamily="34" charset="0"/>
                <a:ea typeface="Calibri" pitchFamily="34" charset="-122"/>
                <a:cs typeface="Calibri" pitchFamily="34" charset="-120"/>
              </a:rPr>
              <a:t>HOW PATTERNS ARE BORN — THE COMPOUNDING LOOP</a:t>
            </a:r>
            <a:endParaRPr lang="en-US" sz="760" dirty="0"/>
          </a:p>
        </p:txBody>
      </p:sp>
      <p:sp>
        <p:nvSpPr>
          <p:cNvPr id="65" name="Shape 63"/>
          <p:cNvSpPr/>
          <p:nvPr/>
        </p:nvSpPr>
        <p:spPr>
          <a:xfrm>
            <a:off x="411480" y="3602736"/>
            <a:ext cx="2179930" cy="841248"/>
          </a:xfrm>
          <a:prstGeom prst="roundRect">
            <a:avLst>
              <a:gd name="adj" fmla="val 5435"/>
            </a:avLst>
          </a:prstGeom>
          <a:solidFill>
            <a:srgbClr val="E8EDF4"/>
          </a:solidFill>
          <a:ln w="15240">
            <a:solidFill>
              <a:srgbClr val="15304F"/>
            </a:solidFill>
            <a:prstDash val="solid"/>
          </a:ln>
        </p:spPr>
      </p:sp>
      <p:sp>
        <p:nvSpPr>
          <p:cNvPr id="66" name="Text 64"/>
          <p:cNvSpPr txBox="1"/>
          <p:nvPr/>
        </p:nvSpPr>
        <p:spPr>
          <a:xfrm>
            <a:off x="502920" y="3666744"/>
            <a:ext cx="1997050" cy="182880"/>
          </a:xfrm>
          <a:prstGeom prst="rect">
            <a:avLst/>
          </a:prstGeom>
          <a:noFill/>
          <a:ln/>
        </p:spPr>
        <p:txBody>
          <a:bodyPr wrap="square" lIns="0" tIns="0" rIns="0" bIns="0" rtlCol="0" anchor="ctr"/>
          <a:lstStyle/>
          <a:p>
            <a:pPr indent="0" marL="0">
              <a:buNone/>
            </a:pPr>
            <a:r>
              <a:rPr lang="en-US" sz="720" b="1" spc="80" kern="0" dirty="0">
                <a:solidFill>
                  <a:srgbClr val="15304F"/>
                </a:solidFill>
                <a:latin typeface="Calibri" pitchFamily="34" charset="0"/>
                <a:ea typeface="Calibri" pitchFamily="34" charset="-122"/>
                <a:cs typeface="Calibri" pitchFamily="34" charset="-120"/>
              </a:rPr>
              <a:t>STEP 1</a:t>
            </a:r>
            <a:endParaRPr lang="en-US" sz="720" dirty="0"/>
          </a:p>
        </p:txBody>
      </p:sp>
      <p:sp>
        <p:nvSpPr>
          <p:cNvPr id="67" name="Text 65"/>
          <p:cNvSpPr txBox="1"/>
          <p:nvPr/>
        </p:nvSpPr>
        <p:spPr>
          <a:xfrm>
            <a:off x="502920" y="3840480"/>
            <a:ext cx="1997050" cy="420624"/>
          </a:xfrm>
          <a:prstGeom prst="rect">
            <a:avLst/>
          </a:prstGeom>
          <a:noFill/>
          <a:ln/>
        </p:spPr>
        <p:txBody>
          <a:bodyPr wrap="square" lIns="0" tIns="0" rIns="0" bIns="0" rtlCol="0" anchor="t"/>
          <a:lstStyle/>
          <a:p>
            <a:pPr indent="0" marL="0">
              <a:lnSpc>
                <a:spcPts val="1040"/>
              </a:lnSpc>
              <a:buNone/>
            </a:pPr>
            <a:r>
              <a:rPr lang="en-US" sz="840" b="1" dirty="0">
                <a:solidFill>
                  <a:srgbClr val="1B2432"/>
                </a:solidFill>
                <a:latin typeface="Calibri" pitchFamily="34" charset="0"/>
                <a:ea typeface="Calibri" pitchFamily="34" charset="-122"/>
                <a:cs typeface="Calibri" pitchFamily="34" charset="-120"/>
              </a:rPr>
              <a:t>Pod delivers a novel intake</a:t>
            </a:r>
            <a:endParaRPr lang="en-US" sz="840" dirty="0"/>
          </a:p>
        </p:txBody>
      </p:sp>
      <p:sp>
        <p:nvSpPr>
          <p:cNvPr id="68" name="Text 66"/>
          <p:cNvSpPr txBox="1"/>
          <p:nvPr/>
        </p:nvSpPr>
        <p:spPr>
          <a:xfrm>
            <a:off x="502920" y="3950208"/>
            <a:ext cx="1997050" cy="438912"/>
          </a:xfrm>
          <a:prstGeom prst="rect">
            <a:avLst/>
          </a:prstGeom>
          <a:noFill/>
          <a:ln/>
        </p:spPr>
        <p:txBody>
          <a:bodyPr wrap="square" lIns="0" tIns="0" rIns="0" bIns="0" rtlCol="0" anchor="b"/>
          <a:lstStyle/>
          <a:p>
            <a:pPr indent="0" marL="0">
              <a:lnSpc>
                <a:spcPts val="860"/>
              </a:lnSpc>
              <a:buNone/>
            </a:pPr>
            <a:r>
              <a:rPr lang="en-US" sz="720" dirty="0">
                <a:solidFill>
                  <a:srgbClr val="55606E"/>
                </a:solidFill>
                <a:latin typeface="Calibri" pitchFamily="34" charset="0"/>
                <a:ea typeface="Calibri" pitchFamily="34" charset="-122"/>
                <a:cs typeface="Calibri" pitchFamily="34" charset="-120"/>
              </a:rPr>
              <a:t>Dedicated tier, end to end</a:t>
            </a:r>
            <a:endParaRPr lang="en-US" sz="720" dirty="0"/>
          </a:p>
        </p:txBody>
      </p:sp>
      <p:sp>
        <p:nvSpPr>
          <p:cNvPr id="69" name="Text 67"/>
          <p:cNvSpPr txBox="1"/>
          <p:nvPr/>
        </p:nvSpPr>
        <p:spPr>
          <a:xfrm>
            <a:off x="2573122" y="3877056"/>
            <a:ext cx="146304" cy="292608"/>
          </a:xfrm>
          <a:prstGeom prst="rect">
            <a:avLst/>
          </a:prstGeom>
          <a:noFill/>
          <a:ln/>
        </p:spPr>
        <p:txBody>
          <a:bodyPr wrap="square" lIns="0" tIns="0" rIns="0" bIns="0" rtlCol="0" anchor="ctr"/>
          <a:lstStyle/>
          <a:p>
            <a:pPr algn="ctr" indent="0" marL="0">
              <a:buNone/>
            </a:pPr>
            <a:r>
              <a:rPr lang="en-US" sz="1100" b="1" dirty="0">
                <a:solidFill>
                  <a:srgbClr val="7C8798"/>
                </a:solidFill>
                <a:latin typeface="Calibri" pitchFamily="34" charset="0"/>
                <a:ea typeface="Calibri" pitchFamily="34" charset="-122"/>
                <a:cs typeface="Calibri" pitchFamily="34" charset="-120"/>
              </a:rPr>
              <a:t>&gt;</a:t>
            </a:r>
            <a:endParaRPr lang="en-US" sz="1100" dirty="0"/>
          </a:p>
        </p:txBody>
      </p:sp>
      <p:sp>
        <p:nvSpPr>
          <p:cNvPr id="70" name="Shape 68"/>
          <p:cNvSpPr/>
          <p:nvPr/>
        </p:nvSpPr>
        <p:spPr>
          <a:xfrm>
            <a:off x="2701138" y="3602736"/>
            <a:ext cx="2179930" cy="841248"/>
          </a:xfrm>
          <a:prstGeom prst="roundRect">
            <a:avLst>
              <a:gd name="adj" fmla="val 5435"/>
            </a:avLst>
          </a:prstGeom>
          <a:solidFill>
            <a:srgbClr val="FBF0EB"/>
          </a:solidFill>
          <a:ln w="15240">
            <a:solidFill>
              <a:srgbClr val="A44A2A"/>
            </a:solidFill>
            <a:prstDash val="solid"/>
          </a:ln>
        </p:spPr>
      </p:sp>
      <p:sp>
        <p:nvSpPr>
          <p:cNvPr id="71" name="Text 69"/>
          <p:cNvSpPr txBox="1"/>
          <p:nvPr/>
        </p:nvSpPr>
        <p:spPr>
          <a:xfrm>
            <a:off x="2792578" y="3666744"/>
            <a:ext cx="1997050" cy="182880"/>
          </a:xfrm>
          <a:prstGeom prst="rect">
            <a:avLst/>
          </a:prstGeom>
          <a:noFill/>
          <a:ln/>
        </p:spPr>
        <p:txBody>
          <a:bodyPr wrap="square" lIns="0" tIns="0" rIns="0" bIns="0" rtlCol="0" anchor="ctr"/>
          <a:lstStyle/>
          <a:p>
            <a:pPr indent="0" marL="0">
              <a:buNone/>
            </a:pPr>
            <a:r>
              <a:rPr lang="en-US" sz="720" b="1" spc="80" kern="0" dirty="0">
                <a:solidFill>
                  <a:srgbClr val="A44A2A"/>
                </a:solidFill>
                <a:latin typeface="Calibri" pitchFamily="34" charset="0"/>
                <a:ea typeface="Calibri" pitchFamily="34" charset="-122"/>
                <a:cs typeface="Calibri" pitchFamily="34" charset="-120"/>
              </a:rPr>
              <a:t>STEP 2</a:t>
            </a:r>
            <a:endParaRPr lang="en-US" sz="720" dirty="0"/>
          </a:p>
        </p:txBody>
      </p:sp>
      <p:sp>
        <p:nvSpPr>
          <p:cNvPr id="72" name="Text 70"/>
          <p:cNvSpPr txBox="1"/>
          <p:nvPr/>
        </p:nvSpPr>
        <p:spPr>
          <a:xfrm>
            <a:off x="2792578" y="3840480"/>
            <a:ext cx="1997050" cy="420624"/>
          </a:xfrm>
          <a:prstGeom prst="rect">
            <a:avLst/>
          </a:prstGeom>
          <a:noFill/>
          <a:ln/>
        </p:spPr>
        <p:txBody>
          <a:bodyPr wrap="square" lIns="0" tIns="0" rIns="0" bIns="0" rtlCol="0" anchor="t"/>
          <a:lstStyle/>
          <a:p>
            <a:pPr indent="0" marL="0">
              <a:lnSpc>
                <a:spcPts val="1040"/>
              </a:lnSpc>
              <a:buNone/>
            </a:pPr>
            <a:r>
              <a:rPr lang="en-US" sz="840" b="1" dirty="0">
                <a:solidFill>
                  <a:srgbClr val="1B2432"/>
                </a:solidFill>
                <a:latin typeface="Calibri" pitchFamily="34" charset="0"/>
                <a:ea typeface="Calibri" pitchFamily="34" charset="-122"/>
                <a:cs typeface="Calibri" pitchFamily="34" charset="-120"/>
              </a:rPr>
              <a:t>Pod produces a pattern candidate</a:t>
            </a:r>
            <a:endParaRPr lang="en-US" sz="840" dirty="0"/>
          </a:p>
        </p:txBody>
      </p:sp>
      <p:sp>
        <p:nvSpPr>
          <p:cNvPr id="73" name="Text 71"/>
          <p:cNvSpPr txBox="1"/>
          <p:nvPr/>
        </p:nvSpPr>
        <p:spPr>
          <a:xfrm>
            <a:off x="2792578" y="3950208"/>
            <a:ext cx="1997050" cy="438912"/>
          </a:xfrm>
          <a:prstGeom prst="rect">
            <a:avLst/>
          </a:prstGeom>
          <a:noFill/>
          <a:ln/>
        </p:spPr>
        <p:txBody>
          <a:bodyPr wrap="square" lIns="0" tIns="0" rIns="0" bIns="0" rtlCol="0" anchor="b"/>
          <a:lstStyle/>
          <a:p>
            <a:pPr indent="0" marL="0">
              <a:lnSpc>
                <a:spcPts val="860"/>
              </a:lnSpc>
              <a:buNone/>
            </a:pPr>
            <a:r>
              <a:rPr lang="en-US" sz="720" dirty="0">
                <a:solidFill>
                  <a:srgbClr val="55606E"/>
                </a:solidFill>
                <a:latin typeface="Calibri" pitchFamily="34" charset="0"/>
                <a:ea typeface="Calibri" pitchFamily="34" charset="-122"/>
                <a:cs typeface="Calibri" pitchFamily="34" charset="-120"/>
              </a:rPr>
              <a:t>A closure condition, not a retrospective</a:t>
            </a:r>
            <a:endParaRPr lang="en-US" sz="720" dirty="0"/>
          </a:p>
        </p:txBody>
      </p:sp>
      <p:sp>
        <p:nvSpPr>
          <p:cNvPr id="74" name="Text 72"/>
          <p:cNvSpPr txBox="1"/>
          <p:nvPr/>
        </p:nvSpPr>
        <p:spPr>
          <a:xfrm>
            <a:off x="4862779" y="3877056"/>
            <a:ext cx="146304" cy="292608"/>
          </a:xfrm>
          <a:prstGeom prst="rect">
            <a:avLst/>
          </a:prstGeom>
          <a:noFill/>
          <a:ln/>
        </p:spPr>
        <p:txBody>
          <a:bodyPr wrap="square" lIns="0" tIns="0" rIns="0" bIns="0" rtlCol="0" anchor="ctr"/>
          <a:lstStyle/>
          <a:p>
            <a:pPr algn="ctr" indent="0" marL="0">
              <a:buNone/>
            </a:pPr>
            <a:r>
              <a:rPr lang="en-US" sz="1100" b="1" dirty="0">
                <a:solidFill>
                  <a:srgbClr val="7C8798"/>
                </a:solidFill>
                <a:latin typeface="Calibri" pitchFamily="34" charset="0"/>
                <a:ea typeface="Calibri" pitchFamily="34" charset="-122"/>
                <a:cs typeface="Calibri" pitchFamily="34" charset="-120"/>
              </a:rPr>
              <a:t>&gt;</a:t>
            </a:r>
            <a:endParaRPr lang="en-US" sz="1100" dirty="0"/>
          </a:p>
        </p:txBody>
      </p:sp>
      <p:sp>
        <p:nvSpPr>
          <p:cNvPr id="75" name="Shape 73"/>
          <p:cNvSpPr/>
          <p:nvPr/>
        </p:nvSpPr>
        <p:spPr>
          <a:xfrm>
            <a:off x="4990795" y="3602736"/>
            <a:ext cx="2179930" cy="841248"/>
          </a:xfrm>
          <a:prstGeom prst="roundRect">
            <a:avLst>
              <a:gd name="adj" fmla="val 5435"/>
            </a:avLst>
          </a:prstGeom>
          <a:solidFill>
            <a:srgbClr val="FAF1DF"/>
          </a:solidFill>
          <a:ln w="15240">
            <a:solidFill>
              <a:srgbClr val="9A6410"/>
            </a:solidFill>
            <a:prstDash val="solid"/>
          </a:ln>
        </p:spPr>
      </p:sp>
      <p:sp>
        <p:nvSpPr>
          <p:cNvPr id="76" name="Text 74"/>
          <p:cNvSpPr txBox="1"/>
          <p:nvPr/>
        </p:nvSpPr>
        <p:spPr>
          <a:xfrm>
            <a:off x="5082235" y="3666744"/>
            <a:ext cx="1997050" cy="182880"/>
          </a:xfrm>
          <a:prstGeom prst="rect">
            <a:avLst/>
          </a:prstGeom>
          <a:noFill/>
          <a:ln/>
        </p:spPr>
        <p:txBody>
          <a:bodyPr wrap="square" lIns="0" tIns="0" rIns="0" bIns="0" rtlCol="0" anchor="ctr"/>
          <a:lstStyle/>
          <a:p>
            <a:pPr indent="0" marL="0">
              <a:buNone/>
            </a:pPr>
            <a:r>
              <a:rPr lang="en-US" sz="720" b="1" spc="80" kern="0" dirty="0">
                <a:solidFill>
                  <a:srgbClr val="9A6410"/>
                </a:solidFill>
                <a:latin typeface="Calibri" pitchFamily="34" charset="0"/>
                <a:ea typeface="Calibri" pitchFamily="34" charset="-122"/>
                <a:cs typeface="Calibri" pitchFamily="34" charset="-120"/>
              </a:rPr>
              <a:t>STEP 3</a:t>
            </a:r>
            <a:endParaRPr lang="en-US" sz="720" dirty="0"/>
          </a:p>
        </p:txBody>
      </p:sp>
      <p:sp>
        <p:nvSpPr>
          <p:cNvPr id="77" name="Text 75"/>
          <p:cNvSpPr txBox="1"/>
          <p:nvPr/>
        </p:nvSpPr>
        <p:spPr>
          <a:xfrm>
            <a:off x="5082235" y="3840480"/>
            <a:ext cx="1997050" cy="420624"/>
          </a:xfrm>
          <a:prstGeom prst="rect">
            <a:avLst/>
          </a:prstGeom>
          <a:noFill/>
          <a:ln/>
        </p:spPr>
        <p:txBody>
          <a:bodyPr wrap="square" lIns="0" tIns="0" rIns="0" bIns="0" rtlCol="0" anchor="t"/>
          <a:lstStyle/>
          <a:p>
            <a:pPr indent="0" marL="0">
              <a:lnSpc>
                <a:spcPts val="1040"/>
              </a:lnSpc>
              <a:buNone/>
            </a:pPr>
            <a:r>
              <a:rPr lang="en-US" sz="840" b="1" dirty="0">
                <a:solidFill>
                  <a:srgbClr val="1B2432"/>
                </a:solidFill>
                <a:latin typeface="Calibri" pitchFamily="34" charset="0"/>
                <a:ea typeface="Calibri" pitchFamily="34" charset="-122"/>
                <a:cs typeface="Calibri" pitchFamily="34" charset="-120"/>
              </a:rPr>
              <a:t>Platform engineering hardens it</a:t>
            </a:r>
            <a:endParaRPr lang="en-US" sz="840" dirty="0"/>
          </a:p>
        </p:txBody>
      </p:sp>
      <p:sp>
        <p:nvSpPr>
          <p:cNvPr id="78" name="Text 76"/>
          <p:cNvSpPr txBox="1"/>
          <p:nvPr/>
        </p:nvSpPr>
        <p:spPr>
          <a:xfrm>
            <a:off x="5082235" y="3950208"/>
            <a:ext cx="1997050" cy="438912"/>
          </a:xfrm>
          <a:prstGeom prst="rect">
            <a:avLst/>
          </a:prstGeom>
          <a:noFill/>
          <a:ln/>
        </p:spPr>
        <p:txBody>
          <a:bodyPr wrap="square" lIns="0" tIns="0" rIns="0" bIns="0" rtlCol="0" anchor="b"/>
          <a:lstStyle/>
          <a:p>
            <a:pPr indent="0" marL="0">
              <a:lnSpc>
                <a:spcPts val="860"/>
              </a:lnSpc>
              <a:buNone/>
            </a:pPr>
            <a:r>
              <a:rPr lang="en-US" sz="720" dirty="0">
                <a:solidFill>
                  <a:srgbClr val="55606E"/>
                </a:solidFill>
                <a:latin typeface="Calibri" pitchFamily="34" charset="0"/>
                <a:ea typeface="Calibri" pitchFamily="34" charset="-122"/>
                <a:cs typeface="Calibri" pitchFamily="34" charset="-120"/>
              </a:rPr>
              <a:t>Generalise, validate, wire gates, build provisioning</a:t>
            </a:r>
            <a:endParaRPr lang="en-US" sz="720" dirty="0"/>
          </a:p>
        </p:txBody>
      </p:sp>
      <p:sp>
        <p:nvSpPr>
          <p:cNvPr id="79" name="Text 77"/>
          <p:cNvSpPr txBox="1"/>
          <p:nvPr/>
        </p:nvSpPr>
        <p:spPr>
          <a:xfrm>
            <a:off x="7152437" y="3877056"/>
            <a:ext cx="146304" cy="292608"/>
          </a:xfrm>
          <a:prstGeom prst="rect">
            <a:avLst/>
          </a:prstGeom>
          <a:noFill/>
          <a:ln/>
        </p:spPr>
        <p:txBody>
          <a:bodyPr wrap="square" lIns="0" tIns="0" rIns="0" bIns="0" rtlCol="0" anchor="ctr"/>
          <a:lstStyle/>
          <a:p>
            <a:pPr algn="ctr" indent="0" marL="0">
              <a:buNone/>
            </a:pPr>
            <a:r>
              <a:rPr lang="en-US" sz="1100" b="1" dirty="0">
                <a:solidFill>
                  <a:srgbClr val="7C8798"/>
                </a:solidFill>
                <a:latin typeface="Calibri" pitchFamily="34" charset="0"/>
                <a:ea typeface="Calibri" pitchFamily="34" charset="-122"/>
                <a:cs typeface="Calibri" pitchFamily="34" charset="-120"/>
              </a:rPr>
              <a:t>&gt;</a:t>
            </a:r>
            <a:endParaRPr lang="en-US" sz="1100" dirty="0"/>
          </a:p>
        </p:txBody>
      </p:sp>
      <p:sp>
        <p:nvSpPr>
          <p:cNvPr id="80" name="Shape 78"/>
          <p:cNvSpPr/>
          <p:nvPr/>
        </p:nvSpPr>
        <p:spPr>
          <a:xfrm>
            <a:off x="7280453" y="3602736"/>
            <a:ext cx="2179930" cy="841248"/>
          </a:xfrm>
          <a:prstGeom prst="roundRect">
            <a:avLst>
              <a:gd name="adj" fmla="val 5435"/>
            </a:avLst>
          </a:prstGeom>
          <a:solidFill>
            <a:srgbClr val="F1EEF6"/>
          </a:solidFill>
          <a:ln w="15240">
            <a:solidFill>
              <a:srgbClr val="5B4A72"/>
            </a:solidFill>
            <a:prstDash val="solid"/>
          </a:ln>
        </p:spPr>
      </p:sp>
      <p:sp>
        <p:nvSpPr>
          <p:cNvPr id="81" name="Text 79"/>
          <p:cNvSpPr txBox="1"/>
          <p:nvPr/>
        </p:nvSpPr>
        <p:spPr>
          <a:xfrm>
            <a:off x="7371893" y="3666744"/>
            <a:ext cx="1997050" cy="182880"/>
          </a:xfrm>
          <a:prstGeom prst="rect">
            <a:avLst/>
          </a:prstGeom>
          <a:noFill/>
          <a:ln/>
        </p:spPr>
        <p:txBody>
          <a:bodyPr wrap="square" lIns="0" tIns="0" rIns="0" bIns="0" rtlCol="0" anchor="ctr"/>
          <a:lstStyle/>
          <a:p>
            <a:pPr indent="0" marL="0">
              <a:buNone/>
            </a:pPr>
            <a:r>
              <a:rPr lang="en-US" sz="720" b="1" spc="80" kern="0" dirty="0">
                <a:solidFill>
                  <a:srgbClr val="5B4A72"/>
                </a:solidFill>
                <a:latin typeface="Calibri" pitchFamily="34" charset="0"/>
                <a:ea typeface="Calibri" pitchFamily="34" charset="-122"/>
                <a:cs typeface="Calibri" pitchFamily="34" charset="-120"/>
              </a:rPr>
              <a:t>STEP 4</a:t>
            </a:r>
            <a:endParaRPr lang="en-US" sz="720" dirty="0"/>
          </a:p>
        </p:txBody>
      </p:sp>
      <p:sp>
        <p:nvSpPr>
          <p:cNvPr id="82" name="Text 80"/>
          <p:cNvSpPr txBox="1"/>
          <p:nvPr/>
        </p:nvSpPr>
        <p:spPr>
          <a:xfrm>
            <a:off x="7371893" y="3840480"/>
            <a:ext cx="1997050" cy="420624"/>
          </a:xfrm>
          <a:prstGeom prst="rect">
            <a:avLst/>
          </a:prstGeom>
          <a:noFill/>
          <a:ln/>
        </p:spPr>
        <p:txBody>
          <a:bodyPr wrap="square" lIns="0" tIns="0" rIns="0" bIns="0" rtlCol="0" anchor="t"/>
          <a:lstStyle/>
          <a:p>
            <a:pPr indent="0" marL="0">
              <a:lnSpc>
                <a:spcPts val="1040"/>
              </a:lnSpc>
              <a:buNone/>
            </a:pPr>
            <a:r>
              <a:rPr lang="en-US" sz="840" b="1" dirty="0">
                <a:solidFill>
                  <a:srgbClr val="1B2432"/>
                </a:solidFill>
                <a:latin typeface="Calibri" pitchFamily="34" charset="0"/>
                <a:ea typeface="Calibri" pitchFamily="34" charset="-122"/>
                <a:cs typeface="Calibri" pitchFamily="34" charset="-120"/>
              </a:rPr>
              <a:t>Pattern enters catalogue at a maturity level</a:t>
            </a:r>
            <a:endParaRPr lang="en-US" sz="840" dirty="0"/>
          </a:p>
        </p:txBody>
      </p:sp>
      <p:sp>
        <p:nvSpPr>
          <p:cNvPr id="83" name="Text 81"/>
          <p:cNvSpPr txBox="1"/>
          <p:nvPr/>
        </p:nvSpPr>
        <p:spPr>
          <a:xfrm>
            <a:off x="7371893" y="3950208"/>
            <a:ext cx="1997050" cy="438912"/>
          </a:xfrm>
          <a:prstGeom prst="rect">
            <a:avLst/>
          </a:prstGeom>
          <a:noFill/>
          <a:ln/>
        </p:spPr>
        <p:txBody>
          <a:bodyPr wrap="square" lIns="0" tIns="0" rIns="0" bIns="0" rtlCol="0" anchor="b"/>
          <a:lstStyle/>
          <a:p>
            <a:pPr indent="0" marL="0">
              <a:lnSpc>
                <a:spcPts val="860"/>
              </a:lnSpc>
              <a:buNone/>
            </a:pPr>
            <a:r>
              <a:rPr lang="en-US" sz="720" dirty="0">
                <a:solidFill>
                  <a:srgbClr val="55606E"/>
                </a:solidFill>
                <a:latin typeface="Calibri" pitchFamily="34" charset="0"/>
                <a:ea typeface="Calibri" pitchFamily="34" charset="-122"/>
                <a:cs typeface="Calibri" pitchFamily="34" charset="-120"/>
              </a:rPr>
              <a:t>M1, M2 or M3</a:t>
            </a:r>
            <a:endParaRPr lang="en-US" sz="720" dirty="0"/>
          </a:p>
        </p:txBody>
      </p:sp>
      <p:sp>
        <p:nvSpPr>
          <p:cNvPr id="84" name="Text 82"/>
          <p:cNvSpPr txBox="1"/>
          <p:nvPr/>
        </p:nvSpPr>
        <p:spPr>
          <a:xfrm>
            <a:off x="9442094" y="3877056"/>
            <a:ext cx="146304" cy="292608"/>
          </a:xfrm>
          <a:prstGeom prst="rect">
            <a:avLst/>
          </a:prstGeom>
          <a:noFill/>
          <a:ln/>
        </p:spPr>
        <p:txBody>
          <a:bodyPr wrap="square" lIns="0" tIns="0" rIns="0" bIns="0" rtlCol="0" anchor="ctr"/>
          <a:lstStyle/>
          <a:p>
            <a:pPr algn="ctr" indent="0" marL="0">
              <a:buNone/>
            </a:pPr>
            <a:r>
              <a:rPr lang="en-US" sz="1100" b="1" dirty="0">
                <a:solidFill>
                  <a:srgbClr val="7C8798"/>
                </a:solidFill>
                <a:latin typeface="Calibri" pitchFamily="34" charset="0"/>
                <a:ea typeface="Calibri" pitchFamily="34" charset="-122"/>
                <a:cs typeface="Calibri" pitchFamily="34" charset="-120"/>
              </a:rPr>
              <a:t>&gt;</a:t>
            </a:r>
            <a:endParaRPr lang="en-US" sz="1100" dirty="0"/>
          </a:p>
        </p:txBody>
      </p:sp>
      <p:sp>
        <p:nvSpPr>
          <p:cNvPr id="85" name="Shape 83"/>
          <p:cNvSpPr/>
          <p:nvPr/>
        </p:nvSpPr>
        <p:spPr>
          <a:xfrm>
            <a:off x="9570110" y="3602736"/>
            <a:ext cx="2179930" cy="841248"/>
          </a:xfrm>
          <a:prstGeom prst="roundRect">
            <a:avLst>
              <a:gd name="adj" fmla="val 5435"/>
            </a:avLst>
          </a:prstGeom>
          <a:solidFill>
            <a:srgbClr val="E6F2F1"/>
          </a:solidFill>
          <a:ln w="15240">
            <a:solidFill>
              <a:srgbClr val="0B6E6E"/>
            </a:solidFill>
            <a:prstDash val="solid"/>
          </a:ln>
        </p:spPr>
      </p:sp>
      <p:sp>
        <p:nvSpPr>
          <p:cNvPr id="86" name="Text 84"/>
          <p:cNvSpPr txBox="1"/>
          <p:nvPr/>
        </p:nvSpPr>
        <p:spPr>
          <a:xfrm>
            <a:off x="9661550" y="3666744"/>
            <a:ext cx="1997050" cy="182880"/>
          </a:xfrm>
          <a:prstGeom prst="rect">
            <a:avLst/>
          </a:prstGeom>
          <a:noFill/>
          <a:ln/>
        </p:spPr>
        <p:txBody>
          <a:bodyPr wrap="square" lIns="0" tIns="0" rIns="0" bIns="0" rtlCol="0" anchor="ctr"/>
          <a:lstStyle/>
          <a:p>
            <a:pPr indent="0" marL="0">
              <a:buNone/>
            </a:pPr>
            <a:r>
              <a:rPr lang="en-US" sz="720" b="1" spc="80" kern="0" dirty="0">
                <a:solidFill>
                  <a:srgbClr val="0B6E6E"/>
                </a:solidFill>
                <a:latin typeface="Calibri" pitchFamily="34" charset="0"/>
                <a:ea typeface="Calibri" pitchFamily="34" charset="-122"/>
                <a:cs typeface="Calibri" pitchFamily="34" charset="-120"/>
              </a:rPr>
              <a:t>STEP 5</a:t>
            </a:r>
            <a:endParaRPr lang="en-US" sz="720" dirty="0"/>
          </a:p>
        </p:txBody>
      </p:sp>
      <p:sp>
        <p:nvSpPr>
          <p:cNvPr id="87" name="Text 85"/>
          <p:cNvSpPr txBox="1"/>
          <p:nvPr/>
        </p:nvSpPr>
        <p:spPr>
          <a:xfrm>
            <a:off x="9661550" y="3840480"/>
            <a:ext cx="1997050" cy="420624"/>
          </a:xfrm>
          <a:prstGeom prst="rect">
            <a:avLst/>
          </a:prstGeom>
          <a:noFill/>
          <a:ln/>
        </p:spPr>
        <p:txBody>
          <a:bodyPr wrap="square" lIns="0" tIns="0" rIns="0" bIns="0" rtlCol="0" anchor="t"/>
          <a:lstStyle/>
          <a:p>
            <a:pPr indent="0" marL="0">
              <a:lnSpc>
                <a:spcPts val="1040"/>
              </a:lnSpc>
              <a:buNone/>
            </a:pPr>
            <a:r>
              <a:rPr lang="en-US" sz="840" b="1" dirty="0">
                <a:solidFill>
                  <a:srgbClr val="1B2432"/>
                </a:solidFill>
                <a:latin typeface="Calibri" pitchFamily="34" charset="0"/>
                <a:ea typeface="Calibri" pitchFamily="34" charset="-122"/>
                <a:cs typeface="Calibri" pitchFamily="34" charset="-120"/>
              </a:rPr>
              <a:t>Matching intakes become eligible for lighter tiers</a:t>
            </a:r>
            <a:endParaRPr lang="en-US" sz="840" dirty="0"/>
          </a:p>
        </p:txBody>
      </p:sp>
      <p:sp>
        <p:nvSpPr>
          <p:cNvPr id="88" name="Text 86"/>
          <p:cNvSpPr txBox="1"/>
          <p:nvPr/>
        </p:nvSpPr>
        <p:spPr>
          <a:xfrm>
            <a:off x="9661550" y="3950208"/>
            <a:ext cx="1997050" cy="438912"/>
          </a:xfrm>
          <a:prstGeom prst="rect">
            <a:avLst/>
          </a:prstGeom>
          <a:noFill/>
          <a:ln/>
        </p:spPr>
        <p:txBody>
          <a:bodyPr wrap="square" lIns="0" tIns="0" rIns="0" bIns="0" rtlCol="0" anchor="b"/>
          <a:lstStyle/>
          <a:p>
            <a:pPr indent="0" marL="0">
              <a:lnSpc>
                <a:spcPts val="860"/>
              </a:lnSpc>
              <a:buNone/>
            </a:pPr>
            <a:r>
              <a:rPr lang="en-US" sz="720" dirty="0">
                <a:solidFill>
                  <a:srgbClr val="55606E"/>
                </a:solidFill>
                <a:latin typeface="Calibri" pitchFamily="34" charset="0"/>
                <a:ea typeface="Calibri" pitchFamily="34" charset="-122"/>
                <a:cs typeface="Calibri" pitchFamily="34" charset="-120"/>
              </a:rPr>
              <a:t>The distribution shifts</a:t>
            </a:r>
            <a:endParaRPr lang="en-US" sz="720" dirty="0"/>
          </a:p>
        </p:txBody>
      </p:sp>
      <p:sp>
        <p:nvSpPr>
          <p:cNvPr id="89" name="Shape 87"/>
          <p:cNvSpPr/>
          <p:nvPr/>
        </p:nvSpPr>
        <p:spPr>
          <a:xfrm>
            <a:off x="411480" y="4645152"/>
            <a:ext cx="11338560" cy="713232"/>
          </a:xfrm>
          <a:prstGeom prst="roundRect">
            <a:avLst>
              <a:gd name="adj" fmla="val 6410"/>
            </a:avLst>
          </a:prstGeom>
          <a:solidFill>
            <a:srgbClr val="E9EEF4"/>
          </a:solidFill>
          <a:ln w="12700">
            <a:solidFill>
              <a:srgbClr val="15304F"/>
            </a:solidFill>
            <a:prstDash val="solid"/>
          </a:ln>
        </p:spPr>
      </p:sp>
      <p:sp>
        <p:nvSpPr>
          <p:cNvPr id="90" name="Text 88"/>
          <p:cNvSpPr txBox="1"/>
          <p:nvPr/>
        </p:nvSpPr>
        <p:spPr>
          <a:xfrm>
            <a:off x="557784" y="4727448"/>
            <a:ext cx="11045952" cy="182880"/>
          </a:xfrm>
          <a:prstGeom prst="rect">
            <a:avLst/>
          </a:prstGeom>
          <a:noFill/>
          <a:ln/>
        </p:spPr>
        <p:txBody>
          <a:bodyPr wrap="square" lIns="0" tIns="0" rIns="0" bIns="0" rtlCol="0" anchor="ctr"/>
          <a:lstStyle/>
          <a:p>
            <a:pPr indent="0" marL="0">
              <a:buNone/>
            </a:pPr>
            <a:r>
              <a:rPr lang="en-US" sz="760" b="1" spc="100" kern="0" dirty="0">
                <a:solidFill>
                  <a:srgbClr val="15304F"/>
                </a:solidFill>
                <a:latin typeface="Calibri" pitchFamily="34" charset="0"/>
                <a:ea typeface="Calibri" pitchFamily="34" charset="-122"/>
                <a:cs typeface="Calibri" pitchFamily="34" charset="-120"/>
              </a:rPr>
              <a:t>THIS IS THE ENGINE OF THE WHOLE MODEL</a:t>
            </a:r>
            <a:endParaRPr lang="en-US" sz="760" dirty="0"/>
          </a:p>
        </p:txBody>
      </p:sp>
      <p:sp>
        <p:nvSpPr>
          <p:cNvPr id="91" name="Text 89"/>
          <p:cNvSpPr txBox="1"/>
          <p:nvPr/>
        </p:nvSpPr>
        <p:spPr>
          <a:xfrm>
            <a:off x="557784" y="4919472"/>
            <a:ext cx="11045952" cy="347472"/>
          </a:xfrm>
          <a:prstGeom prst="rect">
            <a:avLst/>
          </a:prstGeom>
          <a:noFill/>
          <a:ln/>
        </p:spPr>
        <p:txBody>
          <a:bodyPr wrap="square" lIns="0" tIns="0" rIns="0" bIns="0" rtlCol="0" anchor="t"/>
          <a:lstStyle/>
          <a:p>
            <a:pPr indent="0" marL="0">
              <a:lnSpc>
                <a:spcPts val="1100"/>
              </a:lnSpc>
              <a:buNone/>
            </a:pPr>
            <a:r>
              <a:rPr lang="en-US" sz="900" dirty="0">
                <a:solidFill>
                  <a:srgbClr val="1B2432"/>
                </a:solidFill>
                <a:latin typeface="Calibri" pitchFamily="34" charset="0"/>
                <a:ea typeface="Calibri" pitchFamily="34" charset="-122"/>
                <a:cs typeface="Calibri" pitchFamily="34" charset="-120"/>
              </a:rPr>
              <a:t>Dedicated work is not just delivery — it is pattern acquisition. A pod that delivers a partner successfully but produces no reusable pattern has done half its job, and the next identical intake stays just as expensive. That expectation must be built into how pods are measured, or the model quietly becomes a one-off efficiency exercise instead of a compounding one.</a:t>
            </a:r>
            <a:endParaRPr lang="en-US" sz="900" dirty="0"/>
          </a:p>
        </p:txBody>
      </p:sp>
      <p:sp>
        <p:nvSpPr>
          <p:cNvPr id="92" name="Shape 90"/>
          <p:cNvSpPr/>
          <p:nvPr/>
        </p:nvSpPr>
        <p:spPr>
          <a:xfrm>
            <a:off x="411480" y="5486400"/>
            <a:ext cx="11338560" cy="438912"/>
          </a:xfrm>
          <a:prstGeom prst="roundRect">
            <a:avLst>
              <a:gd name="adj" fmla="val 10417"/>
            </a:avLst>
          </a:prstGeom>
          <a:solidFill>
            <a:srgbClr val="F4F7FA"/>
          </a:solidFill>
          <a:ln w="9525">
            <a:solidFill>
              <a:srgbClr val="D4DAE2"/>
            </a:solidFill>
            <a:prstDash val="solid"/>
          </a:ln>
        </p:spPr>
      </p:sp>
      <p:sp>
        <p:nvSpPr>
          <p:cNvPr id="93" name="Text 91"/>
          <p:cNvSpPr txBox="1"/>
          <p:nvPr/>
        </p:nvSpPr>
        <p:spPr>
          <a:xfrm>
            <a:off x="557784" y="5486400"/>
            <a:ext cx="11045952" cy="438912"/>
          </a:xfrm>
          <a:prstGeom prst="rect">
            <a:avLst/>
          </a:prstGeom>
          <a:noFill/>
          <a:ln/>
        </p:spPr>
        <p:txBody>
          <a:bodyPr wrap="square" lIns="0" tIns="0" rIns="0" bIns="0" rtlCol="0" anchor="ctr"/>
          <a:lstStyle/>
          <a:p>
            <a:pPr indent="0" marL="0">
              <a:lnSpc>
                <a:spcPts val="1040"/>
              </a:lnSpc>
              <a:buNone/>
            </a:pPr>
            <a:r>
              <a:rPr lang="en-US" sz="860" dirty="0">
                <a:solidFill>
                  <a:srgbClr val="1B2432"/>
                </a:solidFill>
                <a:latin typeface="Calibri" pitchFamily="34" charset="0"/>
                <a:ea typeface="Calibri" pitchFamily="34" charset="-122"/>
                <a:cs typeface="Calibri" pitchFamily="34" charset="-120"/>
              </a:rPr>
              <a:t>An intake can only be tiered to Lean if its pattern has reached M3. That gives the tiering rubric an objective constraint it cannot argue around, and it gives platform engineering an unambiguous backlog: move high-frequency patterns up the ladder, in frequency order.</a:t>
            </a:r>
            <a:endParaRPr lang="en-US" sz="86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274320"/>
            <a:ext cx="274320" cy="274320"/>
          </a:xfrm>
          <a:prstGeom prst="rect">
            <a:avLst/>
          </a:prstGeom>
          <a:solidFill>
            <a:srgbClr val="15304F"/>
          </a:solidFill>
          <a:ln w="12700">
            <a:solidFill>
              <a:srgbClr val="333333"/>
            </a:solidFill>
            <a:prstDash val="solid"/>
          </a:ln>
        </p:spPr>
      </p:sp>
      <p:sp>
        <p:nvSpPr>
          <p:cNvPr id="3" name="Text 1"/>
          <p:cNvSpPr txBox="1"/>
          <p:nvPr/>
        </p:nvSpPr>
        <p:spPr>
          <a:xfrm>
            <a:off x="411480" y="2743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11</a:t>
            </a:r>
            <a:endParaRPr lang="en-US" sz="1200" dirty="0"/>
          </a:p>
        </p:txBody>
      </p:sp>
      <p:sp>
        <p:nvSpPr>
          <p:cNvPr id="4" name="Text 2"/>
          <p:cNvSpPr txBox="1"/>
          <p:nvPr/>
        </p:nvSpPr>
        <p:spPr>
          <a:xfrm>
            <a:off x="795528" y="219456"/>
            <a:ext cx="8778240" cy="384048"/>
          </a:xfrm>
          <a:prstGeom prst="rect">
            <a:avLst/>
          </a:prstGeom>
          <a:noFill/>
          <a:ln/>
        </p:spPr>
        <p:txBody>
          <a:bodyPr wrap="square" lIns="0" tIns="0" rIns="0" bIns="0" rtlCol="0" anchor="ctr"/>
          <a:lstStyle/>
          <a:p>
            <a:pPr indent="0" marL="0">
              <a:buNone/>
            </a:pPr>
            <a:r>
              <a:rPr lang="en-US" sz="2400" b="1" dirty="0">
                <a:solidFill>
                  <a:srgbClr val="1B2432"/>
                </a:solidFill>
                <a:latin typeface="Cambria" pitchFamily="34" charset="0"/>
                <a:ea typeface="Cambria" pitchFamily="34" charset="-122"/>
                <a:cs typeface="Cambria" pitchFamily="34" charset="-120"/>
              </a:rPr>
              <a:t>AI enablement and its guardrails</a:t>
            </a:r>
            <a:endParaRPr lang="en-US" sz="2400" dirty="0"/>
          </a:p>
        </p:txBody>
      </p:sp>
      <p:sp>
        <p:nvSpPr>
          <p:cNvPr id="5" name="Text 3"/>
          <p:cNvSpPr txBox="1"/>
          <p:nvPr/>
        </p:nvSpPr>
        <p:spPr>
          <a:xfrm>
            <a:off x="795528" y="621792"/>
            <a:ext cx="9326880" cy="237744"/>
          </a:xfrm>
          <a:prstGeom prst="rect">
            <a:avLst/>
          </a:prstGeom>
          <a:noFill/>
          <a:ln/>
        </p:spPr>
        <p:txBody>
          <a:bodyPr wrap="square" lIns="0" tIns="0" rIns="0" bIns="0" rtlCol="0" anchor="ctr"/>
          <a:lstStyle/>
          <a:p>
            <a:pPr indent="0" marL="0">
              <a:buNone/>
            </a:pPr>
            <a:r>
              <a:rPr lang="en-US" sz="1050" dirty="0">
                <a:solidFill>
                  <a:srgbClr val="55606E"/>
                </a:solidFill>
                <a:latin typeface="Calibri" pitchFamily="34" charset="0"/>
                <a:ea typeface="Calibri" pitchFamily="34" charset="-122"/>
                <a:cs typeface="Calibri" pitchFamily="34" charset="-120"/>
              </a:rPr>
              <a:t>Separate proposal from decision from action — this is what makes AI acceptable here</a:t>
            </a:r>
            <a:endParaRPr lang="en-US" sz="1050" dirty="0"/>
          </a:p>
        </p:txBody>
      </p:sp>
      <p:sp>
        <p:nvSpPr>
          <p:cNvPr id="6" name="Text 4"/>
          <p:cNvSpPr txBox="1"/>
          <p:nvPr/>
        </p:nvSpPr>
        <p:spPr>
          <a:xfrm>
            <a:off x="9052560" y="274320"/>
            <a:ext cx="2697480" cy="256032"/>
          </a:xfrm>
          <a:prstGeom prst="rect">
            <a:avLst/>
          </a:prstGeom>
          <a:noFill/>
          <a:ln/>
        </p:spPr>
        <p:txBody>
          <a:bodyPr wrap="square" lIns="0" tIns="0" rIns="0" bIns="0" rtlCol="0" anchor="ctr"/>
          <a:lstStyle/>
          <a:p>
            <a:pPr algn="r" indent="0" marL="0">
              <a:buNone/>
            </a:pPr>
            <a:r>
              <a:rPr lang="en-US" sz="950" b="1" spc="60" kern="0" dirty="0">
                <a:solidFill>
                  <a:srgbClr val="7C8798"/>
                </a:solidFill>
                <a:latin typeface="Calibri" pitchFamily="34" charset="0"/>
                <a:ea typeface="Calibri" pitchFamily="34" charset="-122"/>
                <a:cs typeface="Calibri" pitchFamily="34" charset="-120"/>
              </a:rPr>
              <a:t>Architecture</a:t>
            </a:r>
            <a:endParaRPr lang="en-US" sz="950" dirty="0"/>
          </a:p>
        </p:txBody>
      </p:sp>
      <p:sp>
        <p:nvSpPr>
          <p:cNvPr id="7" name="Shape 5"/>
          <p:cNvSpPr/>
          <p:nvPr/>
        </p:nvSpPr>
        <p:spPr>
          <a:xfrm>
            <a:off x="411480" y="932688"/>
            <a:ext cx="11338560" cy="0"/>
          </a:xfrm>
          <a:prstGeom prst="line">
            <a:avLst/>
          </a:prstGeom>
          <a:noFill/>
          <a:ln w="12700">
            <a:solidFill>
              <a:srgbClr val="D4DAE2"/>
            </a:solidFill>
            <a:prstDash val="solid"/>
          </a:ln>
        </p:spPr>
      </p:sp>
      <p:sp>
        <p:nvSpPr>
          <p:cNvPr id="8" name="Shape 6"/>
          <p:cNvSpPr/>
          <p:nvPr/>
        </p:nvSpPr>
        <p:spPr>
          <a:xfrm>
            <a:off x="411480" y="1060704"/>
            <a:ext cx="11338560" cy="585216"/>
          </a:xfrm>
          <a:prstGeom prst="roundRect">
            <a:avLst>
              <a:gd name="adj" fmla="val 6250"/>
            </a:avLst>
          </a:prstGeom>
          <a:solidFill>
            <a:srgbClr val="FFFFFF"/>
          </a:solidFill>
          <a:ln w="13970">
            <a:solidFill>
              <a:srgbClr val="0B6E6E"/>
            </a:solidFill>
            <a:prstDash val="solid"/>
          </a:ln>
        </p:spPr>
      </p:sp>
      <p:sp>
        <p:nvSpPr>
          <p:cNvPr id="9" name="Shape 7"/>
          <p:cNvSpPr/>
          <p:nvPr/>
        </p:nvSpPr>
        <p:spPr>
          <a:xfrm>
            <a:off x="411480" y="1060704"/>
            <a:ext cx="1298448" cy="585216"/>
          </a:xfrm>
          <a:prstGeom prst="rect">
            <a:avLst/>
          </a:prstGeom>
          <a:solidFill>
            <a:srgbClr val="0B6E6E"/>
          </a:solidFill>
          <a:ln w="12700">
            <a:solidFill>
              <a:srgbClr val="333333"/>
            </a:solidFill>
            <a:prstDash val="solid"/>
          </a:ln>
        </p:spPr>
      </p:sp>
      <p:sp>
        <p:nvSpPr>
          <p:cNvPr id="10" name="Text 8"/>
          <p:cNvSpPr txBox="1"/>
          <p:nvPr/>
        </p:nvSpPr>
        <p:spPr>
          <a:xfrm>
            <a:off x="411480" y="1133856"/>
            <a:ext cx="1298448" cy="219456"/>
          </a:xfrm>
          <a:prstGeom prst="rect">
            <a:avLst/>
          </a:prstGeom>
          <a:noFill/>
          <a:ln/>
        </p:spPr>
        <p:txBody>
          <a:bodyPr wrap="square" lIns="0" tIns="0" rIns="0" bIns="0" rtlCol="0" anchor="ctr"/>
          <a:lstStyle/>
          <a:p>
            <a:pPr algn="ctr" indent="0" marL="0">
              <a:buNone/>
            </a:pPr>
            <a:r>
              <a:rPr lang="en-US" sz="1000" b="1" spc="80" kern="0" dirty="0">
                <a:solidFill>
                  <a:srgbClr val="FFFFFF"/>
                </a:solidFill>
                <a:latin typeface="Calibri" pitchFamily="34" charset="0"/>
                <a:ea typeface="Calibri" pitchFamily="34" charset="-122"/>
                <a:cs typeface="Calibri" pitchFamily="34" charset="-120"/>
              </a:rPr>
              <a:t>PROPOSE</a:t>
            </a:r>
            <a:endParaRPr lang="en-US" sz="1000" dirty="0"/>
          </a:p>
        </p:txBody>
      </p:sp>
      <p:sp>
        <p:nvSpPr>
          <p:cNvPr id="11" name="Text 9"/>
          <p:cNvSpPr txBox="1"/>
          <p:nvPr/>
        </p:nvSpPr>
        <p:spPr>
          <a:xfrm>
            <a:off x="484632" y="1353312"/>
            <a:ext cx="1152144" cy="237744"/>
          </a:xfrm>
          <a:prstGeom prst="rect">
            <a:avLst/>
          </a:prstGeom>
          <a:noFill/>
          <a:ln/>
        </p:spPr>
        <p:txBody>
          <a:bodyPr wrap="square" lIns="0" tIns="0" rIns="0" bIns="0" rtlCol="0" anchor="ctr"/>
          <a:lstStyle/>
          <a:p>
            <a:pPr algn="ctr" indent="0" marL="0">
              <a:lnSpc>
                <a:spcPts val="720"/>
              </a:lnSpc>
              <a:buNone/>
            </a:pPr>
            <a:r>
              <a:rPr lang="en-US" sz="620" dirty="0">
                <a:solidFill>
                  <a:srgbClr val="E0E8F0"/>
                </a:solidFill>
                <a:latin typeface="Calibri" pitchFamily="34" charset="0"/>
                <a:ea typeface="Calibri" pitchFamily="34" charset="-122"/>
                <a:cs typeface="Calibri" pitchFamily="34" charset="-120"/>
              </a:rPr>
              <a:t>AI assistance, grounded in the catalogue and record</a:t>
            </a:r>
            <a:endParaRPr lang="en-US" sz="620" dirty="0"/>
          </a:p>
        </p:txBody>
      </p:sp>
      <p:sp>
        <p:nvSpPr>
          <p:cNvPr id="12" name="Text 10"/>
          <p:cNvSpPr txBox="1"/>
          <p:nvPr/>
        </p:nvSpPr>
        <p:spPr>
          <a:xfrm>
            <a:off x="1856232" y="1124712"/>
            <a:ext cx="548640" cy="164592"/>
          </a:xfrm>
          <a:prstGeom prst="rect">
            <a:avLst/>
          </a:prstGeom>
          <a:noFill/>
          <a:ln/>
        </p:spPr>
        <p:txBody>
          <a:bodyPr wrap="square" lIns="0" tIns="0" rIns="0" bIns="0" rtlCol="0" anchor="ctr"/>
          <a:lstStyle/>
          <a:p>
            <a:pPr indent="0" marL="0">
              <a:buNone/>
            </a:pPr>
            <a:r>
              <a:rPr lang="en-US" sz="620" b="1" spc="70" kern="0" dirty="0">
                <a:solidFill>
                  <a:srgbClr val="55606E"/>
                </a:solidFill>
                <a:latin typeface="Calibri" pitchFamily="34" charset="0"/>
                <a:ea typeface="Calibri" pitchFamily="34" charset="-122"/>
                <a:cs typeface="Calibri" pitchFamily="34" charset="-120"/>
              </a:rPr>
              <a:t>DOES</a:t>
            </a:r>
            <a:endParaRPr lang="en-US" sz="620" dirty="0"/>
          </a:p>
        </p:txBody>
      </p:sp>
      <p:sp>
        <p:nvSpPr>
          <p:cNvPr id="13" name="Text 11"/>
          <p:cNvSpPr txBox="1"/>
          <p:nvPr/>
        </p:nvSpPr>
        <p:spPr>
          <a:xfrm>
            <a:off x="1856232" y="1289304"/>
            <a:ext cx="5029200" cy="310896"/>
          </a:xfrm>
          <a:prstGeom prst="rect">
            <a:avLst/>
          </a:prstGeom>
          <a:noFill/>
          <a:ln/>
        </p:spPr>
        <p:txBody>
          <a:bodyPr wrap="square" lIns="0" tIns="0" rIns="0" bIns="0" rtlCol="0" anchor="ctr"/>
          <a:lstStyle/>
          <a:p>
            <a:pPr indent="0" marL="0">
              <a:lnSpc>
                <a:spcPts val="940"/>
              </a:lnSpc>
              <a:buNone/>
            </a:pPr>
            <a:r>
              <a:rPr lang="en-US" sz="800" dirty="0">
                <a:solidFill>
                  <a:srgbClr val="1B2432"/>
                </a:solidFill>
                <a:latin typeface="Calibri" pitchFamily="34" charset="0"/>
                <a:ea typeface="Calibri" pitchFamily="34" charset="-122"/>
                <a:cs typeface="Calibri" pitchFamily="34" charset="-120"/>
              </a:rPr>
              <a:t>Suggests a tier, a pattern, a scope, a mapping, a draft artefact, an answer to a question</a:t>
            </a:r>
            <a:endParaRPr lang="en-US" sz="800" dirty="0"/>
          </a:p>
        </p:txBody>
      </p:sp>
      <p:sp>
        <p:nvSpPr>
          <p:cNvPr id="14" name="Text 12"/>
          <p:cNvSpPr txBox="1"/>
          <p:nvPr/>
        </p:nvSpPr>
        <p:spPr>
          <a:xfrm>
            <a:off x="7086600" y="1124712"/>
            <a:ext cx="1097280" cy="164592"/>
          </a:xfrm>
          <a:prstGeom prst="rect">
            <a:avLst/>
          </a:prstGeom>
          <a:noFill/>
          <a:ln/>
        </p:spPr>
        <p:txBody>
          <a:bodyPr wrap="square" lIns="0" tIns="0" rIns="0" bIns="0" rtlCol="0" anchor="ctr"/>
          <a:lstStyle/>
          <a:p>
            <a:pPr indent="0" marL="0">
              <a:buNone/>
            </a:pPr>
            <a:r>
              <a:rPr lang="en-US" sz="620" b="1" spc="70" kern="0" dirty="0">
                <a:solidFill>
                  <a:srgbClr val="A44A2A"/>
                </a:solidFill>
                <a:latin typeface="Calibri" pitchFamily="34" charset="0"/>
                <a:ea typeface="Calibri" pitchFamily="34" charset="-122"/>
                <a:cs typeface="Calibri" pitchFamily="34" charset="-120"/>
              </a:rPr>
              <a:t>MAY NEVER</a:t>
            </a:r>
            <a:endParaRPr lang="en-US" sz="620" dirty="0"/>
          </a:p>
        </p:txBody>
      </p:sp>
      <p:sp>
        <p:nvSpPr>
          <p:cNvPr id="15" name="Text 13"/>
          <p:cNvSpPr txBox="1"/>
          <p:nvPr/>
        </p:nvSpPr>
        <p:spPr>
          <a:xfrm>
            <a:off x="7086600" y="1289304"/>
            <a:ext cx="4572000" cy="310896"/>
          </a:xfrm>
          <a:prstGeom prst="rect">
            <a:avLst/>
          </a:prstGeom>
          <a:noFill/>
          <a:ln/>
        </p:spPr>
        <p:txBody>
          <a:bodyPr wrap="square" lIns="0" tIns="0" rIns="0" bIns="0" rtlCol="0" anchor="ctr"/>
          <a:lstStyle/>
          <a:p>
            <a:pPr indent="0" marL="0">
              <a:lnSpc>
                <a:spcPts val="940"/>
              </a:lnSpc>
              <a:buNone/>
            </a:pPr>
            <a:r>
              <a:rPr lang="en-US" sz="800" dirty="0">
                <a:solidFill>
                  <a:srgbClr val="A44A2A"/>
                </a:solidFill>
                <a:latin typeface="Calibri" pitchFamily="34" charset="0"/>
                <a:ea typeface="Calibri" pitchFamily="34" charset="-122"/>
                <a:cs typeface="Calibri" pitchFamily="34" charset="-120"/>
              </a:rPr>
              <a:t>Decide anything · write to a system of record · clear a gate</a:t>
            </a:r>
            <a:endParaRPr lang="en-US" sz="800" dirty="0"/>
          </a:p>
        </p:txBody>
      </p:sp>
      <p:sp>
        <p:nvSpPr>
          <p:cNvPr id="16" name="Shape 14"/>
          <p:cNvSpPr/>
          <p:nvPr/>
        </p:nvSpPr>
        <p:spPr>
          <a:xfrm>
            <a:off x="411480" y="1719072"/>
            <a:ext cx="11338560" cy="585216"/>
          </a:xfrm>
          <a:prstGeom prst="roundRect">
            <a:avLst>
              <a:gd name="adj" fmla="val 6250"/>
            </a:avLst>
          </a:prstGeom>
          <a:solidFill>
            <a:srgbClr val="FFFFFF"/>
          </a:solidFill>
          <a:ln w="13970">
            <a:solidFill>
              <a:srgbClr val="9A6410"/>
            </a:solidFill>
            <a:prstDash val="solid"/>
          </a:ln>
        </p:spPr>
      </p:sp>
      <p:sp>
        <p:nvSpPr>
          <p:cNvPr id="17" name="Shape 15"/>
          <p:cNvSpPr/>
          <p:nvPr/>
        </p:nvSpPr>
        <p:spPr>
          <a:xfrm>
            <a:off x="411480" y="1719072"/>
            <a:ext cx="1298448" cy="585216"/>
          </a:xfrm>
          <a:prstGeom prst="rect">
            <a:avLst/>
          </a:prstGeom>
          <a:solidFill>
            <a:srgbClr val="9A6410"/>
          </a:solidFill>
          <a:ln w="12700">
            <a:solidFill>
              <a:srgbClr val="333333"/>
            </a:solidFill>
            <a:prstDash val="solid"/>
          </a:ln>
        </p:spPr>
      </p:sp>
      <p:sp>
        <p:nvSpPr>
          <p:cNvPr id="18" name="Text 16"/>
          <p:cNvSpPr txBox="1"/>
          <p:nvPr/>
        </p:nvSpPr>
        <p:spPr>
          <a:xfrm>
            <a:off x="411480" y="1792224"/>
            <a:ext cx="1298448" cy="219456"/>
          </a:xfrm>
          <a:prstGeom prst="rect">
            <a:avLst/>
          </a:prstGeom>
          <a:noFill/>
          <a:ln/>
        </p:spPr>
        <p:txBody>
          <a:bodyPr wrap="square" lIns="0" tIns="0" rIns="0" bIns="0" rtlCol="0" anchor="ctr"/>
          <a:lstStyle/>
          <a:p>
            <a:pPr algn="ctr" indent="0" marL="0">
              <a:buNone/>
            </a:pPr>
            <a:r>
              <a:rPr lang="en-US" sz="1000" b="1" spc="80" kern="0" dirty="0">
                <a:solidFill>
                  <a:srgbClr val="FFFFFF"/>
                </a:solidFill>
                <a:latin typeface="Calibri" pitchFamily="34" charset="0"/>
                <a:ea typeface="Calibri" pitchFamily="34" charset="-122"/>
                <a:cs typeface="Calibri" pitchFamily="34" charset="-120"/>
              </a:rPr>
              <a:t>DECIDE</a:t>
            </a:r>
            <a:endParaRPr lang="en-US" sz="1000" dirty="0"/>
          </a:p>
        </p:txBody>
      </p:sp>
      <p:sp>
        <p:nvSpPr>
          <p:cNvPr id="19" name="Text 17"/>
          <p:cNvSpPr txBox="1"/>
          <p:nvPr/>
        </p:nvSpPr>
        <p:spPr>
          <a:xfrm>
            <a:off x="484632" y="2011680"/>
            <a:ext cx="1152144" cy="237744"/>
          </a:xfrm>
          <a:prstGeom prst="rect">
            <a:avLst/>
          </a:prstGeom>
          <a:noFill/>
          <a:ln/>
        </p:spPr>
        <p:txBody>
          <a:bodyPr wrap="square" lIns="0" tIns="0" rIns="0" bIns="0" rtlCol="0" anchor="ctr"/>
          <a:lstStyle/>
          <a:p>
            <a:pPr algn="ctr" indent="0" marL="0">
              <a:lnSpc>
                <a:spcPts val="720"/>
              </a:lnSpc>
              <a:buNone/>
            </a:pPr>
            <a:r>
              <a:rPr lang="en-US" sz="620" dirty="0">
                <a:solidFill>
                  <a:srgbClr val="E0E8F0"/>
                </a:solidFill>
                <a:latin typeface="Calibri" pitchFamily="34" charset="0"/>
                <a:ea typeface="Calibri" pitchFamily="34" charset="-122"/>
                <a:cs typeface="Calibri" pitchFamily="34" charset="-120"/>
              </a:rPr>
              <a:t>Deterministic rules — codified policy, not a model</a:t>
            </a:r>
            <a:endParaRPr lang="en-US" sz="620" dirty="0"/>
          </a:p>
        </p:txBody>
      </p:sp>
      <p:sp>
        <p:nvSpPr>
          <p:cNvPr id="20" name="Text 18"/>
          <p:cNvSpPr txBox="1"/>
          <p:nvPr/>
        </p:nvSpPr>
        <p:spPr>
          <a:xfrm>
            <a:off x="1856232" y="1783080"/>
            <a:ext cx="548640" cy="164592"/>
          </a:xfrm>
          <a:prstGeom prst="rect">
            <a:avLst/>
          </a:prstGeom>
          <a:noFill/>
          <a:ln/>
        </p:spPr>
        <p:txBody>
          <a:bodyPr wrap="square" lIns="0" tIns="0" rIns="0" bIns="0" rtlCol="0" anchor="ctr"/>
          <a:lstStyle/>
          <a:p>
            <a:pPr indent="0" marL="0">
              <a:buNone/>
            </a:pPr>
            <a:r>
              <a:rPr lang="en-US" sz="620" b="1" spc="70" kern="0" dirty="0">
                <a:solidFill>
                  <a:srgbClr val="55606E"/>
                </a:solidFill>
                <a:latin typeface="Calibri" pitchFamily="34" charset="0"/>
                <a:ea typeface="Calibri" pitchFamily="34" charset="-122"/>
                <a:cs typeface="Calibri" pitchFamily="34" charset="-120"/>
              </a:rPr>
              <a:t>DOES</a:t>
            </a:r>
            <a:endParaRPr lang="en-US" sz="620" dirty="0"/>
          </a:p>
        </p:txBody>
      </p:sp>
      <p:sp>
        <p:nvSpPr>
          <p:cNvPr id="21" name="Text 19"/>
          <p:cNvSpPr txBox="1"/>
          <p:nvPr/>
        </p:nvSpPr>
        <p:spPr>
          <a:xfrm>
            <a:off x="1856232" y="1947672"/>
            <a:ext cx="5029200" cy="310896"/>
          </a:xfrm>
          <a:prstGeom prst="rect">
            <a:avLst/>
          </a:prstGeom>
          <a:noFill/>
          <a:ln/>
        </p:spPr>
        <p:txBody>
          <a:bodyPr wrap="square" lIns="0" tIns="0" rIns="0" bIns="0" rtlCol="0" anchor="ctr"/>
          <a:lstStyle/>
          <a:p>
            <a:pPr indent="0" marL="0">
              <a:lnSpc>
                <a:spcPts val="940"/>
              </a:lnSpc>
              <a:buNone/>
            </a:pPr>
            <a:r>
              <a:rPr lang="en-US" sz="800" dirty="0">
                <a:solidFill>
                  <a:srgbClr val="1B2432"/>
                </a:solidFill>
                <a:latin typeface="Calibri" pitchFamily="34" charset="0"/>
                <a:ea typeface="Calibri" pitchFamily="34" charset="-122"/>
                <a:cs typeface="Calibri" pitchFamily="34" charset="-120"/>
              </a:rPr>
              <a:t>Evaluates eligibility, completeness, routing, gate satisfaction, escalation triggers</a:t>
            </a:r>
            <a:endParaRPr lang="en-US" sz="800" dirty="0"/>
          </a:p>
        </p:txBody>
      </p:sp>
      <p:sp>
        <p:nvSpPr>
          <p:cNvPr id="22" name="Text 20"/>
          <p:cNvSpPr txBox="1"/>
          <p:nvPr/>
        </p:nvSpPr>
        <p:spPr>
          <a:xfrm>
            <a:off x="7086600" y="1783080"/>
            <a:ext cx="1097280" cy="164592"/>
          </a:xfrm>
          <a:prstGeom prst="rect">
            <a:avLst/>
          </a:prstGeom>
          <a:noFill/>
          <a:ln/>
        </p:spPr>
        <p:txBody>
          <a:bodyPr wrap="square" lIns="0" tIns="0" rIns="0" bIns="0" rtlCol="0" anchor="ctr"/>
          <a:lstStyle/>
          <a:p>
            <a:pPr indent="0" marL="0">
              <a:buNone/>
            </a:pPr>
            <a:r>
              <a:rPr lang="en-US" sz="620" b="1" spc="70" kern="0" dirty="0">
                <a:solidFill>
                  <a:srgbClr val="A44A2A"/>
                </a:solidFill>
                <a:latin typeface="Calibri" pitchFamily="34" charset="0"/>
                <a:ea typeface="Calibri" pitchFamily="34" charset="-122"/>
                <a:cs typeface="Calibri" pitchFamily="34" charset="-120"/>
              </a:rPr>
              <a:t>MAY NEVER</a:t>
            </a:r>
            <a:endParaRPr lang="en-US" sz="620" dirty="0"/>
          </a:p>
        </p:txBody>
      </p:sp>
      <p:sp>
        <p:nvSpPr>
          <p:cNvPr id="23" name="Text 21"/>
          <p:cNvSpPr txBox="1"/>
          <p:nvPr/>
        </p:nvSpPr>
        <p:spPr>
          <a:xfrm>
            <a:off x="7086600" y="1947672"/>
            <a:ext cx="4572000" cy="310896"/>
          </a:xfrm>
          <a:prstGeom prst="rect">
            <a:avLst/>
          </a:prstGeom>
          <a:noFill/>
          <a:ln/>
        </p:spPr>
        <p:txBody>
          <a:bodyPr wrap="square" lIns="0" tIns="0" rIns="0" bIns="0" rtlCol="0" anchor="ctr"/>
          <a:lstStyle/>
          <a:p>
            <a:pPr indent="0" marL="0">
              <a:lnSpc>
                <a:spcPts val="940"/>
              </a:lnSpc>
              <a:buNone/>
            </a:pPr>
            <a:r>
              <a:rPr lang="en-US" sz="800" dirty="0">
                <a:solidFill>
                  <a:srgbClr val="A44A2A"/>
                </a:solidFill>
                <a:latin typeface="Calibri" pitchFamily="34" charset="0"/>
                <a:ea typeface="Calibri" pitchFamily="34" charset="-122"/>
                <a:cs typeface="Calibri" pitchFamily="34" charset="-120"/>
              </a:rPr>
              <a:t>Infer · approximate · give a different answer for the same input</a:t>
            </a:r>
            <a:endParaRPr lang="en-US" sz="800" dirty="0"/>
          </a:p>
        </p:txBody>
      </p:sp>
      <p:sp>
        <p:nvSpPr>
          <p:cNvPr id="24" name="Shape 22"/>
          <p:cNvSpPr/>
          <p:nvPr/>
        </p:nvSpPr>
        <p:spPr>
          <a:xfrm>
            <a:off x="411480" y="2377440"/>
            <a:ext cx="11338560" cy="585216"/>
          </a:xfrm>
          <a:prstGeom prst="roundRect">
            <a:avLst>
              <a:gd name="adj" fmla="val 6250"/>
            </a:avLst>
          </a:prstGeom>
          <a:solidFill>
            <a:srgbClr val="FFFFFF"/>
          </a:solidFill>
          <a:ln w="13970">
            <a:solidFill>
              <a:srgbClr val="A44A2A"/>
            </a:solidFill>
            <a:prstDash val="solid"/>
          </a:ln>
        </p:spPr>
      </p:sp>
      <p:sp>
        <p:nvSpPr>
          <p:cNvPr id="25" name="Shape 23"/>
          <p:cNvSpPr/>
          <p:nvPr/>
        </p:nvSpPr>
        <p:spPr>
          <a:xfrm>
            <a:off x="411480" y="2377440"/>
            <a:ext cx="1298448" cy="585216"/>
          </a:xfrm>
          <a:prstGeom prst="rect">
            <a:avLst/>
          </a:prstGeom>
          <a:solidFill>
            <a:srgbClr val="A44A2A"/>
          </a:solidFill>
          <a:ln w="12700">
            <a:solidFill>
              <a:srgbClr val="333333"/>
            </a:solidFill>
            <a:prstDash val="solid"/>
          </a:ln>
        </p:spPr>
      </p:sp>
      <p:sp>
        <p:nvSpPr>
          <p:cNvPr id="26" name="Text 24"/>
          <p:cNvSpPr txBox="1"/>
          <p:nvPr/>
        </p:nvSpPr>
        <p:spPr>
          <a:xfrm>
            <a:off x="411480" y="2450592"/>
            <a:ext cx="1298448" cy="219456"/>
          </a:xfrm>
          <a:prstGeom prst="rect">
            <a:avLst/>
          </a:prstGeom>
          <a:noFill/>
          <a:ln/>
        </p:spPr>
        <p:txBody>
          <a:bodyPr wrap="square" lIns="0" tIns="0" rIns="0" bIns="0" rtlCol="0" anchor="ctr"/>
          <a:lstStyle/>
          <a:p>
            <a:pPr algn="ctr" indent="0" marL="0">
              <a:buNone/>
            </a:pPr>
            <a:r>
              <a:rPr lang="en-US" sz="1000" b="1" spc="80" kern="0" dirty="0">
                <a:solidFill>
                  <a:srgbClr val="FFFFFF"/>
                </a:solidFill>
                <a:latin typeface="Calibri" pitchFamily="34" charset="0"/>
                <a:ea typeface="Calibri" pitchFamily="34" charset="-122"/>
                <a:cs typeface="Calibri" pitchFamily="34" charset="-120"/>
              </a:rPr>
              <a:t>ACT</a:t>
            </a:r>
            <a:endParaRPr lang="en-US" sz="1000" dirty="0"/>
          </a:p>
        </p:txBody>
      </p:sp>
      <p:sp>
        <p:nvSpPr>
          <p:cNvPr id="27" name="Text 25"/>
          <p:cNvSpPr txBox="1"/>
          <p:nvPr/>
        </p:nvSpPr>
        <p:spPr>
          <a:xfrm>
            <a:off x="484632" y="2670048"/>
            <a:ext cx="1152144" cy="237744"/>
          </a:xfrm>
          <a:prstGeom prst="rect">
            <a:avLst/>
          </a:prstGeom>
          <a:noFill/>
          <a:ln/>
        </p:spPr>
        <p:txBody>
          <a:bodyPr wrap="square" lIns="0" tIns="0" rIns="0" bIns="0" rtlCol="0" anchor="ctr"/>
          <a:lstStyle/>
          <a:p>
            <a:pPr algn="ctr" indent="0" marL="0">
              <a:lnSpc>
                <a:spcPts val="720"/>
              </a:lnSpc>
              <a:buNone/>
            </a:pPr>
            <a:r>
              <a:rPr lang="en-US" sz="620" dirty="0">
                <a:solidFill>
                  <a:srgbClr val="E0E8F0"/>
                </a:solidFill>
                <a:latin typeface="Calibri" pitchFamily="34" charset="0"/>
                <a:ea typeface="Calibri" pitchFamily="34" charset="-122"/>
                <a:cs typeface="Calibri" pitchFamily="34" charset="-120"/>
              </a:rPr>
              <a:t>Platform execution within policy bounds</a:t>
            </a:r>
            <a:endParaRPr lang="en-US" sz="620" dirty="0"/>
          </a:p>
        </p:txBody>
      </p:sp>
      <p:sp>
        <p:nvSpPr>
          <p:cNvPr id="28" name="Text 26"/>
          <p:cNvSpPr txBox="1"/>
          <p:nvPr/>
        </p:nvSpPr>
        <p:spPr>
          <a:xfrm>
            <a:off x="1856232" y="2441448"/>
            <a:ext cx="548640" cy="164592"/>
          </a:xfrm>
          <a:prstGeom prst="rect">
            <a:avLst/>
          </a:prstGeom>
          <a:noFill/>
          <a:ln/>
        </p:spPr>
        <p:txBody>
          <a:bodyPr wrap="square" lIns="0" tIns="0" rIns="0" bIns="0" rtlCol="0" anchor="ctr"/>
          <a:lstStyle/>
          <a:p>
            <a:pPr indent="0" marL="0">
              <a:buNone/>
            </a:pPr>
            <a:r>
              <a:rPr lang="en-US" sz="620" b="1" spc="70" kern="0" dirty="0">
                <a:solidFill>
                  <a:srgbClr val="55606E"/>
                </a:solidFill>
                <a:latin typeface="Calibri" pitchFamily="34" charset="0"/>
                <a:ea typeface="Calibri" pitchFamily="34" charset="-122"/>
                <a:cs typeface="Calibri" pitchFamily="34" charset="-120"/>
              </a:rPr>
              <a:t>DOES</a:t>
            </a:r>
            <a:endParaRPr lang="en-US" sz="620" dirty="0"/>
          </a:p>
        </p:txBody>
      </p:sp>
      <p:sp>
        <p:nvSpPr>
          <p:cNvPr id="29" name="Text 27"/>
          <p:cNvSpPr txBox="1"/>
          <p:nvPr/>
        </p:nvSpPr>
        <p:spPr>
          <a:xfrm>
            <a:off x="1856232" y="2606040"/>
            <a:ext cx="5029200" cy="310896"/>
          </a:xfrm>
          <a:prstGeom prst="rect">
            <a:avLst/>
          </a:prstGeom>
          <a:noFill/>
          <a:ln/>
        </p:spPr>
        <p:txBody>
          <a:bodyPr wrap="square" lIns="0" tIns="0" rIns="0" bIns="0" rtlCol="0" anchor="ctr"/>
          <a:lstStyle/>
          <a:p>
            <a:pPr indent="0" marL="0">
              <a:lnSpc>
                <a:spcPts val="940"/>
              </a:lnSpc>
              <a:buNone/>
            </a:pPr>
            <a:r>
              <a:rPr lang="en-US" sz="800" dirty="0">
                <a:solidFill>
                  <a:srgbClr val="1B2432"/>
                </a:solidFill>
                <a:latin typeface="Calibri" pitchFamily="34" charset="0"/>
                <a:ea typeface="Calibri" pitchFamily="34" charset="-122"/>
                <a:cs typeface="Calibri" pitchFamily="34" charset="-120"/>
              </a:rPr>
              <a:t>Provisions configuration, raises requests, promotes environments, writes the audit trail</a:t>
            </a:r>
            <a:endParaRPr lang="en-US" sz="800" dirty="0"/>
          </a:p>
        </p:txBody>
      </p:sp>
      <p:sp>
        <p:nvSpPr>
          <p:cNvPr id="30" name="Text 28"/>
          <p:cNvSpPr txBox="1"/>
          <p:nvPr/>
        </p:nvSpPr>
        <p:spPr>
          <a:xfrm>
            <a:off x="7086600" y="2441448"/>
            <a:ext cx="1097280" cy="164592"/>
          </a:xfrm>
          <a:prstGeom prst="rect">
            <a:avLst/>
          </a:prstGeom>
          <a:noFill/>
          <a:ln/>
        </p:spPr>
        <p:txBody>
          <a:bodyPr wrap="square" lIns="0" tIns="0" rIns="0" bIns="0" rtlCol="0" anchor="ctr"/>
          <a:lstStyle/>
          <a:p>
            <a:pPr indent="0" marL="0">
              <a:buNone/>
            </a:pPr>
            <a:r>
              <a:rPr lang="en-US" sz="620" b="1" spc="70" kern="0" dirty="0">
                <a:solidFill>
                  <a:srgbClr val="A44A2A"/>
                </a:solidFill>
                <a:latin typeface="Calibri" pitchFamily="34" charset="0"/>
                <a:ea typeface="Calibri" pitchFamily="34" charset="-122"/>
                <a:cs typeface="Calibri" pitchFamily="34" charset="-120"/>
              </a:rPr>
              <a:t>MAY NEVER</a:t>
            </a:r>
            <a:endParaRPr lang="en-US" sz="620" dirty="0"/>
          </a:p>
        </p:txBody>
      </p:sp>
      <p:sp>
        <p:nvSpPr>
          <p:cNvPr id="31" name="Text 29"/>
          <p:cNvSpPr txBox="1"/>
          <p:nvPr/>
        </p:nvSpPr>
        <p:spPr>
          <a:xfrm>
            <a:off x="7086600" y="2606040"/>
            <a:ext cx="4572000" cy="310896"/>
          </a:xfrm>
          <a:prstGeom prst="rect">
            <a:avLst/>
          </a:prstGeom>
          <a:noFill/>
          <a:ln/>
        </p:spPr>
        <p:txBody>
          <a:bodyPr wrap="square" lIns="0" tIns="0" rIns="0" bIns="0" rtlCol="0" anchor="ctr"/>
          <a:lstStyle/>
          <a:p>
            <a:pPr indent="0" marL="0">
              <a:lnSpc>
                <a:spcPts val="940"/>
              </a:lnSpc>
              <a:buNone/>
            </a:pPr>
            <a:r>
              <a:rPr lang="en-US" sz="800" dirty="0">
                <a:solidFill>
                  <a:srgbClr val="A44A2A"/>
                </a:solidFill>
                <a:latin typeface="Calibri" pitchFamily="34" charset="0"/>
                <a:ea typeface="Calibri" pitchFamily="34" charset="-122"/>
                <a:cs typeface="Calibri" pitchFamily="34" charset="-120"/>
              </a:rPr>
              <a:t>Act on a proposal that has not become a decision</a:t>
            </a:r>
            <a:endParaRPr lang="en-US" sz="800" dirty="0"/>
          </a:p>
        </p:txBody>
      </p:sp>
      <p:sp>
        <p:nvSpPr>
          <p:cNvPr id="32" name="Shape 30"/>
          <p:cNvSpPr/>
          <p:nvPr/>
        </p:nvSpPr>
        <p:spPr>
          <a:xfrm>
            <a:off x="411480" y="3035808"/>
            <a:ext cx="11338560" cy="585216"/>
          </a:xfrm>
          <a:prstGeom prst="roundRect">
            <a:avLst>
              <a:gd name="adj" fmla="val 6250"/>
            </a:avLst>
          </a:prstGeom>
          <a:solidFill>
            <a:srgbClr val="FFFFFF"/>
          </a:solidFill>
          <a:ln w="13970">
            <a:solidFill>
              <a:srgbClr val="15304F"/>
            </a:solidFill>
            <a:prstDash val="solid"/>
          </a:ln>
        </p:spPr>
      </p:sp>
      <p:sp>
        <p:nvSpPr>
          <p:cNvPr id="33" name="Shape 31"/>
          <p:cNvSpPr/>
          <p:nvPr/>
        </p:nvSpPr>
        <p:spPr>
          <a:xfrm>
            <a:off x="411480" y="3035808"/>
            <a:ext cx="1298448" cy="585216"/>
          </a:xfrm>
          <a:prstGeom prst="rect">
            <a:avLst/>
          </a:prstGeom>
          <a:solidFill>
            <a:srgbClr val="15304F"/>
          </a:solidFill>
          <a:ln w="12700">
            <a:solidFill>
              <a:srgbClr val="333333"/>
            </a:solidFill>
            <a:prstDash val="solid"/>
          </a:ln>
        </p:spPr>
      </p:sp>
      <p:sp>
        <p:nvSpPr>
          <p:cNvPr id="34" name="Text 32"/>
          <p:cNvSpPr txBox="1"/>
          <p:nvPr/>
        </p:nvSpPr>
        <p:spPr>
          <a:xfrm>
            <a:off x="411480" y="3108960"/>
            <a:ext cx="1298448" cy="219456"/>
          </a:xfrm>
          <a:prstGeom prst="rect">
            <a:avLst/>
          </a:prstGeom>
          <a:noFill/>
          <a:ln/>
        </p:spPr>
        <p:txBody>
          <a:bodyPr wrap="square" lIns="0" tIns="0" rIns="0" bIns="0" rtlCol="0" anchor="ctr"/>
          <a:lstStyle/>
          <a:p>
            <a:pPr algn="ctr" indent="0" marL="0">
              <a:buNone/>
            </a:pPr>
            <a:r>
              <a:rPr lang="en-US" sz="1000" b="1" spc="80" kern="0" dirty="0">
                <a:solidFill>
                  <a:srgbClr val="FFFFFF"/>
                </a:solidFill>
                <a:latin typeface="Calibri" pitchFamily="34" charset="0"/>
                <a:ea typeface="Calibri" pitchFamily="34" charset="-122"/>
                <a:cs typeface="Calibri" pitchFamily="34" charset="-120"/>
              </a:rPr>
              <a:t>AUTHORISE</a:t>
            </a:r>
            <a:endParaRPr lang="en-US" sz="1000" dirty="0"/>
          </a:p>
        </p:txBody>
      </p:sp>
      <p:sp>
        <p:nvSpPr>
          <p:cNvPr id="35" name="Text 33"/>
          <p:cNvSpPr txBox="1"/>
          <p:nvPr/>
        </p:nvSpPr>
        <p:spPr>
          <a:xfrm>
            <a:off x="484632" y="3328416"/>
            <a:ext cx="1152144" cy="237744"/>
          </a:xfrm>
          <a:prstGeom prst="rect">
            <a:avLst/>
          </a:prstGeom>
          <a:noFill/>
          <a:ln/>
        </p:spPr>
        <p:txBody>
          <a:bodyPr wrap="square" lIns="0" tIns="0" rIns="0" bIns="0" rtlCol="0" anchor="ctr"/>
          <a:lstStyle/>
          <a:p>
            <a:pPr algn="ctr" indent="0" marL="0">
              <a:lnSpc>
                <a:spcPts val="720"/>
              </a:lnSpc>
              <a:buNone/>
            </a:pPr>
            <a:r>
              <a:rPr lang="en-US" sz="620" dirty="0">
                <a:solidFill>
                  <a:srgbClr val="E0E8F0"/>
                </a:solidFill>
                <a:latin typeface="Calibri" pitchFamily="34" charset="0"/>
                <a:ea typeface="Calibri" pitchFamily="34" charset="-122"/>
                <a:cs typeface="Calibri" pitchFamily="34" charset="-120"/>
              </a:rPr>
              <a:t>Named humans, exactly as today</a:t>
            </a:r>
            <a:endParaRPr lang="en-US" sz="620" dirty="0"/>
          </a:p>
        </p:txBody>
      </p:sp>
      <p:sp>
        <p:nvSpPr>
          <p:cNvPr id="36" name="Text 34"/>
          <p:cNvSpPr txBox="1"/>
          <p:nvPr/>
        </p:nvSpPr>
        <p:spPr>
          <a:xfrm>
            <a:off x="1856232" y="3099816"/>
            <a:ext cx="548640" cy="164592"/>
          </a:xfrm>
          <a:prstGeom prst="rect">
            <a:avLst/>
          </a:prstGeom>
          <a:noFill/>
          <a:ln/>
        </p:spPr>
        <p:txBody>
          <a:bodyPr wrap="square" lIns="0" tIns="0" rIns="0" bIns="0" rtlCol="0" anchor="ctr"/>
          <a:lstStyle/>
          <a:p>
            <a:pPr indent="0" marL="0">
              <a:buNone/>
            </a:pPr>
            <a:r>
              <a:rPr lang="en-US" sz="620" b="1" spc="70" kern="0" dirty="0">
                <a:solidFill>
                  <a:srgbClr val="55606E"/>
                </a:solidFill>
                <a:latin typeface="Calibri" pitchFamily="34" charset="0"/>
                <a:ea typeface="Calibri" pitchFamily="34" charset="-122"/>
                <a:cs typeface="Calibri" pitchFamily="34" charset="-120"/>
              </a:rPr>
              <a:t>DOES</a:t>
            </a:r>
            <a:endParaRPr lang="en-US" sz="620" dirty="0"/>
          </a:p>
        </p:txBody>
      </p:sp>
      <p:sp>
        <p:nvSpPr>
          <p:cNvPr id="37" name="Text 35"/>
          <p:cNvSpPr txBox="1"/>
          <p:nvPr/>
        </p:nvSpPr>
        <p:spPr>
          <a:xfrm>
            <a:off x="1856232" y="3264408"/>
            <a:ext cx="5029200" cy="310896"/>
          </a:xfrm>
          <a:prstGeom prst="rect">
            <a:avLst/>
          </a:prstGeom>
          <a:noFill/>
          <a:ln/>
        </p:spPr>
        <p:txBody>
          <a:bodyPr wrap="square" lIns="0" tIns="0" rIns="0" bIns="0" rtlCol="0" anchor="ctr"/>
          <a:lstStyle/>
          <a:p>
            <a:pPr indent="0" marL="0">
              <a:lnSpc>
                <a:spcPts val="940"/>
              </a:lnSpc>
              <a:buNone/>
            </a:pPr>
            <a:r>
              <a:rPr lang="en-US" sz="800" dirty="0">
                <a:solidFill>
                  <a:srgbClr val="1B2432"/>
                </a:solidFill>
                <a:latin typeface="Calibri" pitchFamily="34" charset="0"/>
                <a:ea typeface="Calibri" pitchFamily="34" charset="-122"/>
                <a:cs typeface="Calibri" pitchFamily="34" charset="-120"/>
              </a:rPr>
              <a:t>Governance determinations, records approvals, security approvals, go-live sign-off</a:t>
            </a:r>
            <a:endParaRPr lang="en-US" sz="800" dirty="0"/>
          </a:p>
        </p:txBody>
      </p:sp>
      <p:sp>
        <p:nvSpPr>
          <p:cNvPr id="38" name="Text 36"/>
          <p:cNvSpPr txBox="1"/>
          <p:nvPr/>
        </p:nvSpPr>
        <p:spPr>
          <a:xfrm>
            <a:off x="7086600" y="3099816"/>
            <a:ext cx="1097280" cy="164592"/>
          </a:xfrm>
          <a:prstGeom prst="rect">
            <a:avLst/>
          </a:prstGeom>
          <a:noFill/>
          <a:ln/>
        </p:spPr>
        <p:txBody>
          <a:bodyPr wrap="square" lIns="0" tIns="0" rIns="0" bIns="0" rtlCol="0" anchor="ctr"/>
          <a:lstStyle/>
          <a:p>
            <a:pPr indent="0" marL="0">
              <a:buNone/>
            </a:pPr>
            <a:r>
              <a:rPr lang="en-US" sz="620" b="1" spc="70" kern="0" dirty="0">
                <a:solidFill>
                  <a:srgbClr val="A44A2A"/>
                </a:solidFill>
                <a:latin typeface="Calibri" pitchFamily="34" charset="0"/>
                <a:ea typeface="Calibri" pitchFamily="34" charset="-122"/>
                <a:cs typeface="Calibri" pitchFamily="34" charset="-120"/>
              </a:rPr>
              <a:t>MAY NEVER</a:t>
            </a:r>
            <a:endParaRPr lang="en-US" sz="620" dirty="0"/>
          </a:p>
        </p:txBody>
      </p:sp>
      <p:sp>
        <p:nvSpPr>
          <p:cNvPr id="39" name="Text 37"/>
          <p:cNvSpPr txBox="1"/>
          <p:nvPr/>
        </p:nvSpPr>
        <p:spPr>
          <a:xfrm>
            <a:off x="7086600" y="3264408"/>
            <a:ext cx="4572000" cy="310896"/>
          </a:xfrm>
          <a:prstGeom prst="rect">
            <a:avLst/>
          </a:prstGeom>
          <a:noFill/>
          <a:ln/>
        </p:spPr>
        <p:txBody>
          <a:bodyPr wrap="square" lIns="0" tIns="0" rIns="0" bIns="0" rtlCol="0" anchor="ctr"/>
          <a:lstStyle/>
          <a:p>
            <a:pPr indent="0" marL="0">
              <a:lnSpc>
                <a:spcPts val="940"/>
              </a:lnSpc>
              <a:buNone/>
            </a:pPr>
            <a:r>
              <a:rPr lang="en-US" sz="800" dirty="0">
                <a:solidFill>
                  <a:srgbClr val="A44A2A"/>
                </a:solidFill>
                <a:latin typeface="Calibri" pitchFamily="34" charset="0"/>
                <a:ea typeface="Calibri" pitchFamily="34" charset="-122"/>
                <a:cs typeface="Calibri" pitchFamily="34" charset="-120"/>
              </a:rPr>
              <a:t>Be delegated to any of the three layers above</a:t>
            </a:r>
            <a:endParaRPr lang="en-US" sz="800" dirty="0"/>
          </a:p>
        </p:txBody>
      </p:sp>
      <p:sp>
        <p:nvSpPr>
          <p:cNvPr id="40" name="Text 38"/>
          <p:cNvSpPr txBox="1"/>
          <p:nvPr/>
        </p:nvSpPr>
        <p:spPr>
          <a:xfrm>
            <a:off x="411480" y="3767328"/>
            <a:ext cx="5486400" cy="182880"/>
          </a:xfrm>
          <a:prstGeom prst="rect">
            <a:avLst/>
          </a:prstGeom>
          <a:noFill/>
          <a:ln/>
        </p:spPr>
        <p:txBody>
          <a:bodyPr wrap="square" lIns="0" tIns="0" rIns="0" bIns="0" rtlCol="0" anchor="ctr"/>
          <a:lstStyle/>
          <a:p>
            <a:pPr indent="0" marL="0">
              <a:buNone/>
            </a:pPr>
            <a:r>
              <a:rPr lang="en-US" sz="760" b="1" spc="110" kern="0" dirty="0">
                <a:solidFill>
                  <a:srgbClr val="1B2432"/>
                </a:solidFill>
                <a:latin typeface="Calibri" pitchFamily="34" charset="0"/>
                <a:ea typeface="Calibri" pitchFamily="34" charset="-122"/>
                <a:cs typeface="Calibri" pitchFamily="34" charset="-120"/>
              </a:rPr>
              <a:t>THE TEN CAPABILITIES, ORDERED BY VALUE PER UNIT OF BUILD EFFORT</a:t>
            </a:r>
            <a:endParaRPr lang="en-US" sz="760" dirty="0"/>
          </a:p>
        </p:txBody>
      </p:sp>
      <p:sp>
        <p:nvSpPr>
          <p:cNvPr id="41" name="Shape 39"/>
          <p:cNvSpPr/>
          <p:nvPr/>
        </p:nvSpPr>
        <p:spPr>
          <a:xfrm>
            <a:off x="411480" y="3968496"/>
            <a:ext cx="1069848" cy="566928"/>
          </a:xfrm>
          <a:prstGeom prst="roundRect">
            <a:avLst>
              <a:gd name="adj" fmla="val 6452"/>
            </a:avLst>
          </a:prstGeom>
          <a:solidFill>
            <a:srgbClr val="FFFFFF"/>
          </a:solidFill>
          <a:ln w="12700">
            <a:solidFill>
              <a:srgbClr val="A44A2A"/>
            </a:solidFill>
            <a:prstDash val="solid"/>
          </a:ln>
        </p:spPr>
      </p:sp>
      <p:sp>
        <p:nvSpPr>
          <p:cNvPr id="42" name="Text 40"/>
          <p:cNvSpPr txBox="1"/>
          <p:nvPr/>
        </p:nvSpPr>
        <p:spPr>
          <a:xfrm>
            <a:off x="484632" y="4023360"/>
            <a:ext cx="274320" cy="164592"/>
          </a:xfrm>
          <a:prstGeom prst="rect">
            <a:avLst/>
          </a:prstGeom>
          <a:noFill/>
          <a:ln/>
        </p:spPr>
        <p:txBody>
          <a:bodyPr wrap="square" lIns="0" tIns="0" rIns="0" bIns="0" rtlCol="0" anchor="ctr"/>
          <a:lstStyle/>
          <a:p>
            <a:pPr indent="0" marL="0">
              <a:buNone/>
            </a:pPr>
            <a:r>
              <a:rPr lang="en-US" sz="740" b="1" dirty="0">
                <a:solidFill>
                  <a:srgbClr val="A44A2A"/>
                </a:solidFill>
                <a:latin typeface="Calibri" pitchFamily="34" charset="0"/>
                <a:ea typeface="Calibri" pitchFamily="34" charset="-122"/>
                <a:cs typeface="Calibri" pitchFamily="34" charset="-120"/>
              </a:rPr>
              <a:t>A</a:t>
            </a:r>
            <a:endParaRPr lang="en-US" sz="740" dirty="0"/>
          </a:p>
        </p:txBody>
      </p:sp>
      <p:sp>
        <p:nvSpPr>
          <p:cNvPr id="43" name="Text 41"/>
          <p:cNvSpPr txBox="1"/>
          <p:nvPr/>
        </p:nvSpPr>
        <p:spPr>
          <a:xfrm>
            <a:off x="484632" y="4187952"/>
            <a:ext cx="923544" cy="310896"/>
          </a:xfrm>
          <a:prstGeom prst="rect">
            <a:avLst/>
          </a:prstGeom>
          <a:noFill/>
          <a:ln/>
        </p:spPr>
        <p:txBody>
          <a:bodyPr wrap="square" lIns="0" tIns="0" rIns="0" bIns="0" rtlCol="0" anchor="ctr"/>
          <a:lstStyle/>
          <a:p>
            <a:pPr indent="0" marL="0">
              <a:lnSpc>
                <a:spcPts val="840"/>
              </a:lnSpc>
              <a:buNone/>
            </a:pPr>
            <a:r>
              <a:rPr lang="en-US" sz="720" b="1" dirty="0">
                <a:solidFill>
                  <a:srgbClr val="1B2432"/>
                </a:solidFill>
                <a:latin typeface="Calibri" pitchFamily="34" charset="0"/>
                <a:ea typeface="Calibri" pitchFamily="34" charset="-122"/>
                <a:cs typeface="Calibri" pitchFamily="34" charset="-120"/>
              </a:rPr>
              <a:t>Intake Copilot</a:t>
            </a:r>
            <a:endParaRPr lang="en-US" sz="720" dirty="0"/>
          </a:p>
        </p:txBody>
      </p:sp>
      <p:sp>
        <p:nvSpPr>
          <p:cNvPr id="44" name="Shape 42"/>
          <p:cNvSpPr/>
          <p:nvPr/>
        </p:nvSpPr>
        <p:spPr>
          <a:xfrm>
            <a:off x="1552651" y="3968496"/>
            <a:ext cx="1069848" cy="566928"/>
          </a:xfrm>
          <a:prstGeom prst="roundRect">
            <a:avLst>
              <a:gd name="adj" fmla="val 6452"/>
            </a:avLst>
          </a:prstGeom>
          <a:solidFill>
            <a:srgbClr val="FFFFFF"/>
          </a:solidFill>
          <a:ln w="12700">
            <a:solidFill>
              <a:srgbClr val="A44A2A"/>
            </a:solidFill>
            <a:prstDash val="solid"/>
          </a:ln>
        </p:spPr>
      </p:sp>
      <p:sp>
        <p:nvSpPr>
          <p:cNvPr id="45" name="Text 43"/>
          <p:cNvSpPr txBox="1"/>
          <p:nvPr/>
        </p:nvSpPr>
        <p:spPr>
          <a:xfrm>
            <a:off x="1625803" y="4023360"/>
            <a:ext cx="274320" cy="164592"/>
          </a:xfrm>
          <a:prstGeom prst="rect">
            <a:avLst/>
          </a:prstGeom>
          <a:noFill/>
          <a:ln/>
        </p:spPr>
        <p:txBody>
          <a:bodyPr wrap="square" lIns="0" tIns="0" rIns="0" bIns="0" rtlCol="0" anchor="ctr"/>
          <a:lstStyle/>
          <a:p>
            <a:pPr indent="0" marL="0">
              <a:buNone/>
            </a:pPr>
            <a:r>
              <a:rPr lang="en-US" sz="740" b="1" dirty="0">
                <a:solidFill>
                  <a:srgbClr val="A44A2A"/>
                </a:solidFill>
                <a:latin typeface="Calibri" pitchFamily="34" charset="0"/>
                <a:ea typeface="Calibri" pitchFamily="34" charset="-122"/>
                <a:cs typeface="Calibri" pitchFamily="34" charset="-120"/>
              </a:rPr>
              <a:t>B</a:t>
            </a:r>
            <a:endParaRPr lang="en-US" sz="740" dirty="0"/>
          </a:p>
        </p:txBody>
      </p:sp>
      <p:sp>
        <p:nvSpPr>
          <p:cNvPr id="46" name="Text 44"/>
          <p:cNvSpPr txBox="1"/>
          <p:nvPr/>
        </p:nvSpPr>
        <p:spPr>
          <a:xfrm>
            <a:off x="1625803" y="4187952"/>
            <a:ext cx="923544" cy="310896"/>
          </a:xfrm>
          <a:prstGeom prst="rect">
            <a:avLst/>
          </a:prstGeom>
          <a:noFill/>
          <a:ln/>
        </p:spPr>
        <p:txBody>
          <a:bodyPr wrap="square" lIns="0" tIns="0" rIns="0" bIns="0" rtlCol="0" anchor="ctr"/>
          <a:lstStyle/>
          <a:p>
            <a:pPr indent="0" marL="0">
              <a:lnSpc>
                <a:spcPts val="840"/>
              </a:lnSpc>
              <a:buNone/>
            </a:pPr>
            <a:r>
              <a:rPr lang="en-US" sz="720" b="1" dirty="0">
                <a:solidFill>
                  <a:srgbClr val="1B2432"/>
                </a:solidFill>
                <a:latin typeface="Calibri" pitchFamily="34" charset="0"/>
                <a:ea typeface="Calibri" pitchFamily="34" charset="-122"/>
                <a:cs typeface="Calibri" pitchFamily="34" charset="-120"/>
              </a:rPr>
              <a:t>Pattern Matcher</a:t>
            </a:r>
            <a:endParaRPr lang="en-US" sz="720" dirty="0"/>
          </a:p>
        </p:txBody>
      </p:sp>
      <p:sp>
        <p:nvSpPr>
          <p:cNvPr id="47" name="Shape 45"/>
          <p:cNvSpPr/>
          <p:nvPr/>
        </p:nvSpPr>
        <p:spPr>
          <a:xfrm>
            <a:off x="2693822" y="3968496"/>
            <a:ext cx="1069848" cy="566928"/>
          </a:xfrm>
          <a:prstGeom prst="roundRect">
            <a:avLst>
              <a:gd name="adj" fmla="val 6452"/>
            </a:avLst>
          </a:prstGeom>
          <a:solidFill>
            <a:srgbClr val="FFFFFF"/>
          </a:solidFill>
          <a:ln w="12700">
            <a:solidFill>
              <a:srgbClr val="A44A2A"/>
            </a:solidFill>
            <a:prstDash val="solid"/>
          </a:ln>
        </p:spPr>
      </p:sp>
      <p:sp>
        <p:nvSpPr>
          <p:cNvPr id="48" name="Text 46"/>
          <p:cNvSpPr txBox="1"/>
          <p:nvPr/>
        </p:nvSpPr>
        <p:spPr>
          <a:xfrm>
            <a:off x="2766974" y="4023360"/>
            <a:ext cx="274320" cy="164592"/>
          </a:xfrm>
          <a:prstGeom prst="rect">
            <a:avLst/>
          </a:prstGeom>
          <a:noFill/>
          <a:ln/>
        </p:spPr>
        <p:txBody>
          <a:bodyPr wrap="square" lIns="0" tIns="0" rIns="0" bIns="0" rtlCol="0" anchor="ctr"/>
          <a:lstStyle/>
          <a:p>
            <a:pPr indent="0" marL="0">
              <a:buNone/>
            </a:pPr>
            <a:r>
              <a:rPr lang="en-US" sz="740" b="1" dirty="0">
                <a:solidFill>
                  <a:srgbClr val="A44A2A"/>
                </a:solidFill>
                <a:latin typeface="Calibri" pitchFamily="34" charset="0"/>
                <a:ea typeface="Calibri" pitchFamily="34" charset="-122"/>
                <a:cs typeface="Calibri" pitchFamily="34" charset="-120"/>
              </a:rPr>
              <a:t>C</a:t>
            </a:r>
            <a:endParaRPr lang="en-US" sz="740" dirty="0"/>
          </a:p>
        </p:txBody>
      </p:sp>
      <p:sp>
        <p:nvSpPr>
          <p:cNvPr id="49" name="Text 47"/>
          <p:cNvSpPr txBox="1"/>
          <p:nvPr/>
        </p:nvSpPr>
        <p:spPr>
          <a:xfrm>
            <a:off x="2766974" y="4187952"/>
            <a:ext cx="923544" cy="310896"/>
          </a:xfrm>
          <a:prstGeom prst="rect">
            <a:avLst/>
          </a:prstGeom>
          <a:noFill/>
          <a:ln/>
        </p:spPr>
        <p:txBody>
          <a:bodyPr wrap="square" lIns="0" tIns="0" rIns="0" bIns="0" rtlCol="0" anchor="ctr"/>
          <a:lstStyle/>
          <a:p>
            <a:pPr indent="0" marL="0">
              <a:lnSpc>
                <a:spcPts val="840"/>
              </a:lnSpc>
              <a:buNone/>
            </a:pPr>
            <a:r>
              <a:rPr lang="en-US" sz="720" b="1" dirty="0">
                <a:solidFill>
                  <a:srgbClr val="1B2432"/>
                </a:solidFill>
                <a:latin typeface="Calibri" pitchFamily="34" charset="0"/>
                <a:ea typeface="Calibri" pitchFamily="34" charset="-122"/>
                <a:cs typeface="Calibri" pitchFamily="34" charset="-120"/>
              </a:rPr>
              <a:t>Tiering Assistant</a:t>
            </a:r>
            <a:endParaRPr lang="en-US" sz="720" dirty="0"/>
          </a:p>
        </p:txBody>
      </p:sp>
      <p:sp>
        <p:nvSpPr>
          <p:cNvPr id="50" name="Shape 48"/>
          <p:cNvSpPr/>
          <p:nvPr/>
        </p:nvSpPr>
        <p:spPr>
          <a:xfrm>
            <a:off x="3834994" y="3968496"/>
            <a:ext cx="1069848" cy="566928"/>
          </a:xfrm>
          <a:prstGeom prst="roundRect">
            <a:avLst>
              <a:gd name="adj" fmla="val 6452"/>
            </a:avLst>
          </a:prstGeom>
          <a:solidFill>
            <a:srgbClr val="FFFFFF"/>
          </a:solidFill>
          <a:ln w="12700">
            <a:solidFill>
              <a:srgbClr val="A44A2A"/>
            </a:solidFill>
            <a:prstDash val="solid"/>
          </a:ln>
        </p:spPr>
      </p:sp>
      <p:sp>
        <p:nvSpPr>
          <p:cNvPr id="51" name="Text 49"/>
          <p:cNvSpPr txBox="1"/>
          <p:nvPr/>
        </p:nvSpPr>
        <p:spPr>
          <a:xfrm>
            <a:off x="3908146" y="4023360"/>
            <a:ext cx="274320" cy="164592"/>
          </a:xfrm>
          <a:prstGeom prst="rect">
            <a:avLst/>
          </a:prstGeom>
          <a:noFill/>
          <a:ln/>
        </p:spPr>
        <p:txBody>
          <a:bodyPr wrap="square" lIns="0" tIns="0" rIns="0" bIns="0" rtlCol="0" anchor="ctr"/>
          <a:lstStyle/>
          <a:p>
            <a:pPr indent="0" marL="0">
              <a:buNone/>
            </a:pPr>
            <a:r>
              <a:rPr lang="en-US" sz="740" b="1" dirty="0">
                <a:solidFill>
                  <a:srgbClr val="A44A2A"/>
                </a:solidFill>
                <a:latin typeface="Calibri" pitchFamily="34" charset="0"/>
                <a:ea typeface="Calibri" pitchFamily="34" charset="-122"/>
                <a:cs typeface="Calibri" pitchFamily="34" charset="-120"/>
              </a:rPr>
              <a:t>D</a:t>
            </a:r>
            <a:endParaRPr lang="en-US" sz="740" dirty="0"/>
          </a:p>
        </p:txBody>
      </p:sp>
      <p:sp>
        <p:nvSpPr>
          <p:cNvPr id="52" name="Text 50"/>
          <p:cNvSpPr txBox="1"/>
          <p:nvPr/>
        </p:nvSpPr>
        <p:spPr>
          <a:xfrm>
            <a:off x="3908146" y="4187952"/>
            <a:ext cx="923544" cy="310896"/>
          </a:xfrm>
          <a:prstGeom prst="rect">
            <a:avLst/>
          </a:prstGeom>
          <a:noFill/>
          <a:ln/>
        </p:spPr>
        <p:txBody>
          <a:bodyPr wrap="square" lIns="0" tIns="0" rIns="0" bIns="0" rtlCol="0" anchor="ctr"/>
          <a:lstStyle/>
          <a:p>
            <a:pPr indent="0" marL="0">
              <a:lnSpc>
                <a:spcPts val="840"/>
              </a:lnSpc>
              <a:buNone/>
            </a:pPr>
            <a:r>
              <a:rPr lang="en-US" sz="720" b="1" dirty="0">
                <a:solidFill>
                  <a:srgbClr val="1B2432"/>
                </a:solidFill>
                <a:latin typeface="Calibri" pitchFamily="34" charset="0"/>
                <a:ea typeface="Calibri" pitchFamily="34" charset="-122"/>
                <a:cs typeface="Calibri" pitchFamily="34" charset="-120"/>
              </a:rPr>
              <a:t>Scope Derivation</a:t>
            </a:r>
            <a:endParaRPr lang="en-US" sz="720" dirty="0"/>
          </a:p>
        </p:txBody>
      </p:sp>
      <p:sp>
        <p:nvSpPr>
          <p:cNvPr id="53" name="Shape 51"/>
          <p:cNvSpPr/>
          <p:nvPr/>
        </p:nvSpPr>
        <p:spPr>
          <a:xfrm>
            <a:off x="4976165" y="3968496"/>
            <a:ext cx="1069848" cy="566928"/>
          </a:xfrm>
          <a:prstGeom prst="roundRect">
            <a:avLst>
              <a:gd name="adj" fmla="val 6452"/>
            </a:avLst>
          </a:prstGeom>
          <a:solidFill>
            <a:srgbClr val="FFFFFF"/>
          </a:solidFill>
          <a:ln w="12700">
            <a:solidFill>
              <a:srgbClr val="9A6410"/>
            </a:solidFill>
            <a:prstDash val="solid"/>
          </a:ln>
        </p:spPr>
      </p:sp>
      <p:sp>
        <p:nvSpPr>
          <p:cNvPr id="54" name="Text 52"/>
          <p:cNvSpPr txBox="1"/>
          <p:nvPr/>
        </p:nvSpPr>
        <p:spPr>
          <a:xfrm>
            <a:off x="5049317" y="4023360"/>
            <a:ext cx="274320" cy="164592"/>
          </a:xfrm>
          <a:prstGeom prst="rect">
            <a:avLst/>
          </a:prstGeom>
          <a:noFill/>
          <a:ln/>
        </p:spPr>
        <p:txBody>
          <a:bodyPr wrap="square" lIns="0" tIns="0" rIns="0" bIns="0" rtlCol="0" anchor="ctr"/>
          <a:lstStyle/>
          <a:p>
            <a:pPr indent="0" marL="0">
              <a:buNone/>
            </a:pPr>
            <a:r>
              <a:rPr lang="en-US" sz="740" b="1" dirty="0">
                <a:solidFill>
                  <a:srgbClr val="9A6410"/>
                </a:solidFill>
                <a:latin typeface="Calibri" pitchFamily="34" charset="0"/>
                <a:ea typeface="Calibri" pitchFamily="34" charset="-122"/>
                <a:cs typeface="Calibri" pitchFamily="34" charset="-120"/>
              </a:rPr>
              <a:t>E</a:t>
            </a:r>
            <a:endParaRPr lang="en-US" sz="740" dirty="0"/>
          </a:p>
        </p:txBody>
      </p:sp>
      <p:sp>
        <p:nvSpPr>
          <p:cNvPr id="55" name="Text 53"/>
          <p:cNvSpPr txBox="1"/>
          <p:nvPr/>
        </p:nvSpPr>
        <p:spPr>
          <a:xfrm>
            <a:off x="5049317" y="4187952"/>
            <a:ext cx="923544" cy="310896"/>
          </a:xfrm>
          <a:prstGeom prst="rect">
            <a:avLst/>
          </a:prstGeom>
          <a:noFill/>
          <a:ln/>
        </p:spPr>
        <p:txBody>
          <a:bodyPr wrap="square" lIns="0" tIns="0" rIns="0" bIns="0" rtlCol="0" anchor="ctr"/>
          <a:lstStyle/>
          <a:p>
            <a:pPr indent="0" marL="0">
              <a:lnSpc>
                <a:spcPts val="840"/>
              </a:lnSpc>
              <a:buNone/>
            </a:pPr>
            <a:r>
              <a:rPr lang="en-US" sz="720" b="1" dirty="0">
                <a:solidFill>
                  <a:srgbClr val="1B2432"/>
                </a:solidFill>
                <a:latin typeface="Calibri" pitchFamily="34" charset="0"/>
                <a:ea typeface="Calibri" pitchFamily="34" charset="-122"/>
                <a:cs typeface="Calibri" pitchFamily="34" charset="-120"/>
              </a:rPr>
              <a:t>Artefact Generator</a:t>
            </a:r>
            <a:endParaRPr lang="en-US" sz="720" dirty="0"/>
          </a:p>
        </p:txBody>
      </p:sp>
      <p:sp>
        <p:nvSpPr>
          <p:cNvPr id="56" name="Shape 54"/>
          <p:cNvSpPr/>
          <p:nvPr/>
        </p:nvSpPr>
        <p:spPr>
          <a:xfrm>
            <a:off x="6117336" y="3968496"/>
            <a:ext cx="1069848" cy="566928"/>
          </a:xfrm>
          <a:prstGeom prst="roundRect">
            <a:avLst>
              <a:gd name="adj" fmla="val 6452"/>
            </a:avLst>
          </a:prstGeom>
          <a:solidFill>
            <a:srgbClr val="FFFFFF"/>
          </a:solidFill>
          <a:ln w="12700">
            <a:solidFill>
              <a:srgbClr val="15304F"/>
            </a:solidFill>
            <a:prstDash val="solid"/>
          </a:ln>
        </p:spPr>
      </p:sp>
      <p:sp>
        <p:nvSpPr>
          <p:cNvPr id="57" name="Text 55"/>
          <p:cNvSpPr txBox="1"/>
          <p:nvPr/>
        </p:nvSpPr>
        <p:spPr>
          <a:xfrm>
            <a:off x="6190488" y="4023360"/>
            <a:ext cx="274320" cy="164592"/>
          </a:xfrm>
          <a:prstGeom prst="rect">
            <a:avLst/>
          </a:prstGeom>
          <a:noFill/>
          <a:ln/>
        </p:spPr>
        <p:txBody>
          <a:bodyPr wrap="square" lIns="0" tIns="0" rIns="0" bIns="0" rtlCol="0" anchor="ctr"/>
          <a:lstStyle/>
          <a:p>
            <a:pPr indent="0" marL="0">
              <a:buNone/>
            </a:pPr>
            <a:r>
              <a:rPr lang="en-US" sz="740" b="1" dirty="0">
                <a:solidFill>
                  <a:srgbClr val="15304F"/>
                </a:solidFill>
                <a:latin typeface="Calibri" pitchFamily="34" charset="0"/>
                <a:ea typeface="Calibri" pitchFamily="34" charset="-122"/>
                <a:cs typeface="Calibri" pitchFamily="34" charset="-120"/>
              </a:rPr>
              <a:t>F</a:t>
            </a:r>
            <a:endParaRPr lang="en-US" sz="740" dirty="0"/>
          </a:p>
        </p:txBody>
      </p:sp>
      <p:sp>
        <p:nvSpPr>
          <p:cNvPr id="58" name="Text 56"/>
          <p:cNvSpPr txBox="1"/>
          <p:nvPr/>
        </p:nvSpPr>
        <p:spPr>
          <a:xfrm>
            <a:off x="6190488" y="4187952"/>
            <a:ext cx="923544" cy="310896"/>
          </a:xfrm>
          <a:prstGeom prst="rect">
            <a:avLst/>
          </a:prstGeom>
          <a:noFill/>
          <a:ln/>
        </p:spPr>
        <p:txBody>
          <a:bodyPr wrap="square" lIns="0" tIns="0" rIns="0" bIns="0" rtlCol="0" anchor="ctr"/>
          <a:lstStyle/>
          <a:p>
            <a:pPr indent="0" marL="0">
              <a:lnSpc>
                <a:spcPts val="840"/>
              </a:lnSpc>
              <a:buNone/>
            </a:pPr>
            <a:r>
              <a:rPr lang="en-US" sz="720" b="1" dirty="0">
                <a:solidFill>
                  <a:srgbClr val="1B2432"/>
                </a:solidFill>
                <a:latin typeface="Calibri" pitchFamily="34" charset="0"/>
                <a:ea typeface="Calibri" pitchFamily="34" charset="-122"/>
                <a:cs typeface="Calibri" pitchFamily="34" charset="-120"/>
              </a:rPr>
              <a:t>Gate Engine</a:t>
            </a:r>
            <a:endParaRPr lang="en-US" sz="720" dirty="0"/>
          </a:p>
        </p:txBody>
      </p:sp>
      <p:sp>
        <p:nvSpPr>
          <p:cNvPr id="59" name="Shape 57"/>
          <p:cNvSpPr/>
          <p:nvPr/>
        </p:nvSpPr>
        <p:spPr>
          <a:xfrm>
            <a:off x="7258507" y="3968496"/>
            <a:ext cx="1069848" cy="566928"/>
          </a:xfrm>
          <a:prstGeom prst="roundRect">
            <a:avLst>
              <a:gd name="adj" fmla="val 6452"/>
            </a:avLst>
          </a:prstGeom>
          <a:solidFill>
            <a:srgbClr val="FFFFFF"/>
          </a:solidFill>
          <a:ln w="12700">
            <a:solidFill>
              <a:srgbClr val="9A6410"/>
            </a:solidFill>
            <a:prstDash val="solid"/>
          </a:ln>
        </p:spPr>
      </p:sp>
      <p:sp>
        <p:nvSpPr>
          <p:cNvPr id="60" name="Text 58"/>
          <p:cNvSpPr txBox="1"/>
          <p:nvPr/>
        </p:nvSpPr>
        <p:spPr>
          <a:xfrm>
            <a:off x="7331659" y="4023360"/>
            <a:ext cx="274320" cy="164592"/>
          </a:xfrm>
          <a:prstGeom prst="rect">
            <a:avLst/>
          </a:prstGeom>
          <a:noFill/>
          <a:ln/>
        </p:spPr>
        <p:txBody>
          <a:bodyPr wrap="square" lIns="0" tIns="0" rIns="0" bIns="0" rtlCol="0" anchor="ctr"/>
          <a:lstStyle/>
          <a:p>
            <a:pPr indent="0" marL="0">
              <a:buNone/>
            </a:pPr>
            <a:r>
              <a:rPr lang="en-US" sz="740" b="1" dirty="0">
                <a:solidFill>
                  <a:srgbClr val="9A6410"/>
                </a:solidFill>
                <a:latin typeface="Calibri" pitchFamily="34" charset="0"/>
                <a:ea typeface="Calibri" pitchFamily="34" charset="-122"/>
                <a:cs typeface="Calibri" pitchFamily="34" charset="-120"/>
              </a:rPr>
              <a:t>G</a:t>
            </a:r>
            <a:endParaRPr lang="en-US" sz="740" dirty="0"/>
          </a:p>
        </p:txBody>
      </p:sp>
      <p:sp>
        <p:nvSpPr>
          <p:cNvPr id="61" name="Text 59"/>
          <p:cNvSpPr txBox="1"/>
          <p:nvPr/>
        </p:nvSpPr>
        <p:spPr>
          <a:xfrm>
            <a:off x="7331659" y="4187952"/>
            <a:ext cx="923544" cy="310896"/>
          </a:xfrm>
          <a:prstGeom prst="rect">
            <a:avLst/>
          </a:prstGeom>
          <a:noFill/>
          <a:ln/>
        </p:spPr>
        <p:txBody>
          <a:bodyPr wrap="square" lIns="0" tIns="0" rIns="0" bIns="0" rtlCol="0" anchor="ctr"/>
          <a:lstStyle/>
          <a:p>
            <a:pPr indent="0" marL="0">
              <a:lnSpc>
                <a:spcPts val="840"/>
              </a:lnSpc>
              <a:buNone/>
            </a:pPr>
            <a:r>
              <a:rPr lang="en-US" sz="720" b="1" dirty="0">
                <a:solidFill>
                  <a:srgbClr val="1B2432"/>
                </a:solidFill>
                <a:latin typeface="Calibri" pitchFamily="34" charset="0"/>
                <a:ea typeface="Calibri" pitchFamily="34" charset="-122"/>
                <a:cs typeface="Calibri" pitchFamily="34" charset="-120"/>
              </a:rPr>
              <a:t>Onboarding Assistant</a:t>
            </a:r>
            <a:endParaRPr lang="en-US" sz="720" dirty="0"/>
          </a:p>
        </p:txBody>
      </p:sp>
      <p:sp>
        <p:nvSpPr>
          <p:cNvPr id="62" name="Shape 60"/>
          <p:cNvSpPr/>
          <p:nvPr/>
        </p:nvSpPr>
        <p:spPr>
          <a:xfrm>
            <a:off x="8399678" y="3968496"/>
            <a:ext cx="1069848" cy="566928"/>
          </a:xfrm>
          <a:prstGeom prst="roundRect">
            <a:avLst>
              <a:gd name="adj" fmla="val 6452"/>
            </a:avLst>
          </a:prstGeom>
          <a:solidFill>
            <a:srgbClr val="FFFFFF"/>
          </a:solidFill>
          <a:ln w="12700">
            <a:solidFill>
              <a:srgbClr val="0B6E6E"/>
            </a:solidFill>
            <a:prstDash val="solid"/>
          </a:ln>
        </p:spPr>
      </p:sp>
      <p:sp>
        <p:nvSpPr>
          <p:cNvPr id="63" name="Text 61"/>
          <p:cNvSpPr txBox="1"/>
          <p:nvPr/>
        </p:nvSpPr>
        <p:spPr>
          <a:xfrm>
            <a:off x="8472830" y="4023360"/>
            <a:ext cx="274320" cy="164592"/>
          </a:xfrm>
          <a:prstGeom prst="rect">
            <a:avLst/>
          </a:prstGeom>
          <a:noFill/>
          <a:ln/>
        </p:spPr>
        <p:txBody>
          <a:bodyPr wrap="square" lIns="0" tIns="0" rIns="0" bIns="0" rtlCol="0" anchor="ctr"/>
          <a:lstStyle/>
          <a:p>
            <a:pPr indent="0" marL="0">
              <a:buNone/>
            </a:pPr>
            <a:r>
              <a:rPr lang="en-US" sz="740" b="1" dirty="0">
                <a:solidFill>
                  <a:srgbClr val="0B6E6E"/>
                </a:solidFill>
                <a:latin typeface="Calibri" pitchFamily="34" charset="0"/>
                <a:ea typeface="Calibri" pitchFamily="34" charset="-122"/>
                <a:cs typeface="Calibri" pitchFamily="34" charset="-120"/>
              </a:rPr>
              <a:t>H</a:t>
            </a:r>
            <a:endParaRPr lang="en-US" sz="740" dirty="0"/>
          </a:p>
        </p:txBody>
      </p:sp>
      <p:sp>
        <p:nvSpPr>
          <p:cNvPr id="64" name="Text 62"/>
          <p:cNvSpPr txBox="1"/>
          <p:nvPr/>
        </p:nvSpPr>
        <p:spPr>
          <a:xfrm>
            <a:off x="8472830" y="4187952"/>
            <a:ext cx="923544" cy="310896"/>
          </a:xfrm>
          <a:prstGeom prst="rect">
            <a:avLst/>
          </a:prstGeom>
          <a:noFill/>
          <a:ln/>
        </p:spPr>
        <p:txBody>
          <a:bodyPr wrap="square" lIns="0" tIns="0" rIns="0" bIns="0" rtlCol="0" anchor="ctr"/>
          <a:lstStyle/>
          <a:p>
            <a:pPr indent="0" marL="0">
              <a:lnSpc>
                <a:spcPts val="840"/>
              </a:lnSpc>
              <a:buNone/>
            </a:pPr>
            <a:r>
              <a:rPr lang="en-US" sz="720" b="1" dirty="0">
                <a:solidFill>
                  <a:srgbClr val="1B2432"/>
                </a:solidFill>
                <a:latin typeface="Calibri" pitchFamily="34" charset="0"/>
                <a:ea typeface="Calibri" pitchFamily="34" charset="-122"/>
                <a:cs typeface="Calibri" pitchFamily="34" charset="-120"/>
              </a:rPr>
              <a:t>Drift Detector</a:t>
            </a:r>
            <a:endParaRPr lang="en-US" sz="720" dirty="0"/>
          </a:p>
        </p:txBody>
      </p:sp>
      <p:sp>
        <p:nvSpPr>
          <p:cNvPr id="65" name="Shape 63"/>
          <p:cNvSpPr/>
          <p:nvPr/>
        </p:nvSpPr>
        <p:spPr>
          <a:xfrm>
            <a:off x="9540850" y="3968496"/>
            <a:ext cx="1069848" cy="566928"/>
          </a:xfrm>
          <a:prstGeom prst="roundRect">
            <a:avLst>
              <a:gd name="adj" fmla="val 6452"/>
            </a:avLst>
          </a:prstGeom>
          <a:solidFill>
            <a:srgbClr val="FFFFFF"/>
          </a:solidFill>
          <a:ln w="12700">
            <a:solidFill>
              <a:srgbClr val="0B6E6E"/>
            </a:solidFill>
            <a:prstDash val="solid"/>
          </a:ln>
        </p:spPr>
      </p:sp>
      <p:sp>
        <p:nvSpPr>
          <p:cNvPr id="66" name="Text 64"/>
          <p:cNvSpPr txBox="1"/>
          <p:nvPr/>
        </p:nvSpPr>
        <p:spPr>
          <a:xfrm>
            <a:off x="9614002" y="4023360"/>
            <a:ext cx="274320" cy="164592"/>
          </a:xfrm>
          <a:prstGeom prst="rect">
            <a:avLst/>
          </a:prstGeom>
          <a:noFill/>
          <a:ln/>
        </p:spPr>
        <p:txBody>
          <a:bodyPr wrap="square" lIns="0" tIns="0" rIns="0" bIns="0" rtlCol="0" anchor="ctr"/>
          <a:lstStyle/>
          <a:p>
            <a:pPr indent="0" marL="0">
              <a:buNone/>
            </a:pPr>
            <a:r>
              <a:rPr lang="en-US" sz="740" b="1" dirty="0">
                <a:solidFill>
                  <a:srgbClr val="0B6E6E"/>
                </a:solidFill>
                <a:latin typeface="Calibri" pitchFamily="34" charset="0"/>
                <a:ea typeface="Calibri" pitchFamily="34" charset="-122"/>
                <a:cs typeface="Calibri" pitchFamily="34" charset="-120"/>
              </a:rPr>
              <a:t>I</a:t>
            </a:r>
            <a:endParaRPr lang="en-US" sz="740" dirty="0"/>
          </a:p>
        </p:txBody>
      </p:sp>
      <p:sp>
        <p:nvSpPr>
          <p:cNvPr id="67" name="Text 65"/>
          <p:cNvSpPr txBox="1"/>
          <p:nvPr/>
        </p:nvSpPr>
        <p:spPr>
          <a:xfrm>
            <a:off x="9614002" y="4187952"/>
            <a:ext cx="923544" cy="310896"/>
          </a:xfrm>
          <a:prstGeom prst="rect">
            <a:avLst/>
          </a:prstGeom>
          <a:noFill/>
          <a:ln/>
        </p:spPr>
        <p:txBody>
          <a:bodyPr wrap="square" lIns="0" tIns="0" rIns="0" bIns="0" rtlCol="0" anchor="ctr"/>
          <a:lstStyle/>
          <a:p>
            <a:pPr indent="0" marL="0">
              <a:lnSpc>
                <a:spcPts val="840"/>
              </a:lnSpc>
              <a:buNone/>
            </a:pPr>
            <a:r>
              <a:rPr lang="en-US" sz="720" b="1" dirty="0">
                <a:solidFill>
                  <a:srgbClr val="1B2432"/>
                </a:solidFill>
                <a:latin typeface="Calibri" pitchFamily="34" charset="0"/>
                <a:ea typeface="Calibri" pitchFamily="34" charset="-122"/>
                <a:cs typeface="Calibri" pitchFamily="34" charset="-120"/>
              </a:rPr>
              <a:t>Precedent Retrieval</a:t>
            </a:r>
            <a:endParaRPr lang="en-US" sz="720" dirty="0"/>
          </a:p>
        </p:txBody>
      </p:sp>
      <p:sp>
        <p:nvSpPr>
          <p:cNvPr id="68" name="Shape 66"/>
          <p:cNvSpPr/>
          <p:nvPr/>
        </p:nvSpPr>
        <p:spPr>
          <a:xfrm>
            <a:off x="10682021" y="3968496"/>
            <a:ext cx="1069848" cy="566928"/>
          </a:xfrm>
          <a:prstGeom prst="roundRect">
            <a:avLst>
              <a:gd name="adj" fmla="val 6452"/>
            </a:avLst>
          </a:prstGeom>
          <a:solidFill>
            <a:srgbClr val="FFFFFF"/>
          </a:solidFill>
          <a:ln w="12700">
            <a:solidFill>
              <a:srgbClr val="0B6E6E"/>
            </a:solidFill>
            <a:prstDash val="solid"/>
          </a:ln>
        </p:spPr>
      </p:sp>
      <p:sp>
        <p:nvSpPr>
          <p:cNvPr id="69" name="Text 67"/>
          <p:cNvSpPr txBox="1"/>
          <p:nvPr/>
        </p:nvSpPr>
        <p:spPr>
          <a:xfrm>
            <a:off x="10755173" y="4023360"/>
            <a:ext cx="274320" cy="164592"/>
          </a:xfrm>
          <a:prstGeom prst="rect">
            <a:avLst/>
          </a:prstGeom>
          <a:noFill/>
          <a:ln/>
        </p:spPr>
        <p:txBody>
          <a:bodyPr wrap="square" lIns="0" tIns="0" rIns="0" bIns="0" rtlCol="0" anchor="ctr"/>
          <a:lstStyle/>
          <a:p>
            <a:pPr indent="0" marL="0">
              <a:buNone/>
            </a:pPr>
            <a:r>
              <a:rPr lang="en-US" sz="740" b="1" dirty="0">
                <a:solidFill>
                  <a:srgbClr val="0B6E6E"/>
                </a:solidFill>
                <a:latin typeface="Calibri" pitchFamily="34" charset="0"/>
                <a:ea typeface="Calibri" pitchFamily="34" charset="-122"/>
                <a:cs typeface="Calibri" pitchFamily="34" charset="-120"/>
              </a:rPr>
              <a:t>J</a:t>
            </a:r>
            <a:endParaRPr lang="en-US" sz="740" dirty="0"/>
          </a:p>
        </p:txBody>
      </p:sp>
      <p:sp>
        <p:nvSpPr>
          <p:cNvPr id="70" name="Text 68"/>
          <p:cNvSpPr txBox="1"/>
          <p:nvPr/>
        </p:nvSpPr>
        <p:spPr>
          <a:xfrm>
            <a:off x="10755173" y="4187952"/>
            <a:ext cx="923544" cy="310896"/>
          </a:xfrm>
          <a:prstGeom prst="rect">
            <a:avLst/>
          </a:prstGeom>
          <a:noFill/>
          <a:ln/>
        </p:spPr>
        <p:txBody>
          <a:bodyPr wrap="square" lIns="0" tIns="0" rIns="0" bIns="0" rtlCol="0" anchor="ctr"/>
          <a:lstStyle/>
          <a:p>
            <a:pPr indent="0" marL="0">
              <a:lnSpc>
                <a:spcPts val="840"/>
              </a:lnSpc>
              <a:buNone/>
            </a:pPr>
            <a:r>
              <a:rPr lang="en-US" sz="720" b="1" dirty="0">
                <a:solidFill>
                  <a:srgbClr val="1B2432"/>
                </a:solidFill>
                <a:latin typeface="Calibri" pitchFamily="34" charset="0"/>
                <a:ea typeface="Calibri" pitchFamily="34" charset="-122"/>
                <a:cs typeface="Calibri" pitchFamily="34" charset="-120"/>
              </a:rPr>
              <a:t>Clinic Triage</a:t>
            </a:r>
            <a:endParaRPr lang="en-US" sz="720" dirty="0"/>
          </a:p>
        </p:txBody>
      </p:sp>
      <p:sp>
        <p:nvSpPr>
          <p:cNvPr id="71" name="Text 69"/>
          <p:cNvSpPr txBox="1"/>
          <p:nvPr/>
        </p:nvSpPr>
        <p:spPr>
          <a:xfrm>
            <a:off x="411480" y="4608576"/>
            <a:ext cx="11338560" cy="201168"/>
          </a:xfrm>
          <a:prstGeom prst="rect">
            <a:avLst/>
          </a:prstGeom>
          <a:noFill/>
          <a:ln/>
        </p:spPr>
        <p:txBody>
          <a:bodyPr wrap="square" lIns="0" tIns="0" rIns="0" bIns="0" rtlCol="0" anchor="ctr"/>
          <a:lstStyle/>
          <a:p>
            <a:pPr indent="0" marL="0">
              <a:buNone/>
            </a:pPr>
            <a:r>
              <a:rPr lang="en-US" sz="780" i="1" dirty="0">
                <a:solidFill>
                  <a:srgbClr val="55606E"/>
                </a:solidFill>
                <a:latin typeface="Calibri" pitchFamily="34" charset="0"/>
                <a:ea typeface="Calibri" pitchFamily="34" charset="-122"/>
                <a:cs typeface="Calibri" pitchFamily="34" charset="-120"/>
              </a:rPr>
              <a:t>The first four carry most of the benefit and none requires deep integration.   ·   F is explicitly not AI — gates are codified policy, replayable and explainable by pointing at a rule.</a:t>
            </a:r>
            <a:endParaRPr lang="en-US" sz="780" dirty="0"/>
          </a:p>
        </p:txBody>
      </p:sp>
      <p:sp>
        <p:nvSpPr>
          <p:cNvPr id="72" name="Text 70"/>
          <p:cNvSpPr txBox="1"/>
          <p:nvPr/>
        </p:nvSpPr>
        <p:spPr>
          <a:xfrm>
            <a:off x="411480" y="4901184"/>
            <a:ext cx="5486400" cy="182880"/>
          </a:xfrm>
          <a:prstGeom prst="rect">
            <a:avLst/>
          </a:prstGeom>
          <a:noFill/>
          <a:ln/>
        </p:spPr>
        <p:txBody>
          <a:bodyPr wrap="square" lIns="0" tIns="0" rIns="0" bIns="0" rtlCol="0" anchor="ctr"/>
          <a:lstStyle/>
          <a:p>
            <a:pPr indent="0" marL="0">
              <a:buNone/>
            </a:pPr>
            <a:r>
              <a:rPr lang="en-US" sz="760" b="1" spc="110" kern="0" dirty="0">
                <a:solidFill>
                  <a:srgbClr val="A44A2A"/>
                </a:solidFill>
                <a:latin typeface="Calibri" pitchFamily="34" charset="0"/>
                <a:ea typeface="Calibri" pitchFamily="34" charset="-122"/>
                <a:cs typeface="Calibri" pitchFamily="34" charset="-120"/>
              </a:rPr>
              <a:t>AI-SPECIFIC GUARDRAILS</a:t>
            </a:r>
            <a:endParaRPr lang="en-US" sz="760" dirty="0"/>
          </a:p>
        </p:txBody>
      </p:sp>
      <p:sp>
        <p:nvSpPr>
          <p:cNvPr id="73" name="Shape 71"/>
          <p:cNvSpPr/>
          <p:nvPr/>
        </p:nvSpPr>
        <p:spPr>
          <a:xfrm>
            <a:off x="411480" y="5102352"/>
            <a:ext cx="2743200" cy="347472"/>
          </a:xfrm>
          <a:prstGeom prst="roundRect">
            <a:avLst>
              <a:gd name="adj" fmla="val 7895"/>
            </a:avLst>
          </a:prstGeom>
          <a:solidFill>
            <a:srgbClr val="FBF0EB"/>
          </a:solidFill>
          <a:ln w="10795">
            <a:solidFill>
              <a:srgbClr val="A44A2A"/>
            </a:solidFill>
            <a:prstDash val="solid"/>
          </a:ln>
        </p:spPr>
      </p:sp>
      <p:sp>
        <p:nvSpPr>
          <p:cNvPr id="74" name="Text 72"/>
          <p:cNvSpPr txBox="1"/>
          <p:nvPr/>
        </p:nvSpPr>
        <p:spPr>
          <a:xfrm>
            <a:off x="502920" y="5102352"/>
            <a:ext cx="2560320" cy="347472"/>
          </a:xfrm>
          <a:prstGeom prst="rect">
            <a:avLst/>
          </a:prstGeom>
          <a:noFill/>
          <a:ln/>
        </p:spPr>
        <p:txBody>
          <a:bodyPr wrap="square" lIns="0" tIns="0" rIns="0" bIns="0" rtlCol="0" anchor="ctr"/>
          <a:lstStyle/>
          <a:p>
            <a:pPr indent="0" marL="0">
              <a:lnSpc>
                <a:spcPts val="840"/>
              </a:lnSpc>
              <a:buNone/>
            </a:pPr>
            <a:r>
              <a:rPr lang="en-US" sz="720" b="1" dirty="0">
                <a:solidFill>
                  <a:srgbClr val="A44A2A"/>
                </a:solidFill>
                <a:latin typeface="Calibri" pitchFamily="34" charset="0"/>
                <a:ea typeface="Calibri" pitchFamily="34" charset="-122"/>
                <a:cs typeface="Calibri" pitchFamily="34" charset="-120"/>
              </a:rPr>
              <a:t>No AI output is a gate decision</a:t>
            </a:r>
            <a:endParaRPr lang="en-US" sz="720" dirty="0"/>
          </a:p>
        </p:txBody>
      </p:sp>
      <p:sp>
        <p:nvSpPr>
          <p:cNvPr id="75" name="Shape 73"/>
          <p:cNvSpPr/>
          <p:nvPr/>
        </p:nvSpPr>
        <p:spPr>
          <a:xfrm>
            <a:off x="3291840" y="5102352"/>
            <a:ext cx="2743200" cy="347472"/>
          </a:xfrm>
          <a:prstGeom prst="roundRect">
            <a:avLst>
              <a:gd name="adj" fmla="val 7895"/>
            </a:avLst>
          </a:prstGeom>
          <a:solidFill>
            <a:srgbClr val="FBF0EB"/>
          </a:solidFill>
          <a:ln w="10795">
            <a:solidFill>
              <a:srgbClr val="A44A2A"/>
            </a:solidFill>
            <a:prstDash val="solid"/>
          </a:ln>
        </p:spPr>
      </p:sp>
      <p:sp>
        <p:nvSpPr>
          <p:cNvPr id="76" name="Text 74"/>
          <p:cNvSpPr txBox="1"/>
          <p:nvPr/>
        </p:nvSpPr>
        <p:spPr>
          <a:xfrm>
            <a:off x="3383280" y="5102352"/>
            <a:ext cx="2560320" cy="347472"/>
          </a:xfrm>
          <a:prstGeom prst="rect">
            <a:avLst/>
          </a:prstGeom>
          <a:noFill/>
          <a:ln/>
        </p:spPr>
        <p:txBody>
          <a:bodyPr wrap="square" lIns="0" tIns="0" rIns="0" bIns="0" rtlCol="0" anchor="ctr"/>
          <a:lstStyle/>
          <a:p>
            <a:pPr indent="0" marL="0">
              <a:lnSpc>
                <a:spcPts val="840"/>
              </a:lnSpc>
              <a:buNone/>
            </a:pPr>
            <a:r>
              <a:rPr lang="en-US" sz="720" b="1" dirty="0">
                <a:solidFill>
                  <a:srgbClr val="A44A2A"/>
                </a:solidFill>
                <a:latin typeface="Calibri" pitchFamily="34" charset="0"/>
                <a:ea typeface="Calibri" pitchFamily="34" charset="-122"/>
                <a:cs typeface="Calibri" pitchFamily="34" charset="-120"/>
              </a:rPr>
              <a:t>Every output grounded and cited</a:t>
            </a:r>
            <a:endParaRPr lang="en-US" sz="720" dirty="0"/>
          </a:p>
        </p:txBody>
      </p:sp>
      <p:sp>
        <p:nvSpPr>
          <p:cNvPr id="77" name="Shape 75"/>
          <p:cNvSpPr/>
          <p:nvPr/>
        </p:nvSpPr>
        <p:spPr>
          <a:xfrm>
            <a:off x="6172200" y="5102352"/>
            <a:ext cx="2743200" cy="347472"/>
          </a:xfrm>
          <a:prstGeom prst="roundRect">
            <a:avLst>
              <a:gd name="adj" fmla="val 7895"/>
            </a:avLst>
          </a:prstGeom>
          <a:solidFill>
            <a:srgbClr val="FBF0EB"/>
          </a:solidFill>
          <a:ln w="10795">
            <a:solidFill>
              <a:srgbClr val="A44A2A"/>
            </a:solidFill>
            <a:prstDash val="solid"/>
          </a:ln>
        </p:spPr>
      </p:sp>
      <p:sp>
        <p:nvSpPr>
          <p:cNvPr id="78" name="Text 76"/>
          <p:cNvSpPr txBox="1"/>
          <p:nvPr/>
        </p:nvSpPr>
        <p:spPr>
          <a:xfrm>
            <a:off x="6263640" y="5102352"/>
            <a:ext cx="2560320" cy="347472"/>
          </a:xfrm>
          <a:prstGeom prst="rect">
            <a:avLst/>
          </a:prstGeom>
          <a:noFill/>
          <a:ln/>
        </p:spPr>
        <p:txBody>
          <a:bodyPr wrap="square" lIns="0" tIns="0" rIns="0" bIns="0" rtlCol="0" anchor="ctr"/>
          <a:lstStyle/>
          <a:p>
            <a:pPr indent="0" marL="0">
              <a:lnSpc>
                <a:spcPts val="840"/>
              </a:lnSpc>
              <a:buNone/>
            </a:pPr>
            <a:r>
              <a:rPr lang="en-US" sz="720" b="1" dirty="0">
                <a:solidFill>
                  <a:srgbClr val="A44A2A"/>
                </a:solidFill>
                <a:latin typeface="Calibri" pitchFamily="34" charset="0"/>
                <a:ea typeface="Calibri" pitchFamily="34" charset="-122"/>
                <a:cs typeface="Calibri" pitchFamily="34" charset="-120"/>
              </a:rPr>
              <a:t>Confidence thresholds, with refusal below them</a:t>
            </a:r>
            <a:endParaRPr lang="en-US" sz="720" dirty="0"/>
          </a:p>
        </p:txBody>
      </p:sp>
      <p:sp>
        <p:nvSpPr>
          <p:cNvPr id="79" name="Shape 77"/>
          <p:cNvSpPr/>
          <p:nvPr/>
        </p:nvSpPr>
        <p:spPr>
          <a:xfrm>
            <a:off x="9052560" y="5102352"/>
            <a:ext cx="2743200" cy="347472"/>
          </a:xfrm>
          <a:prstGeom prst="roundRect">
            <a:avLst>
              <a:gd name="adj" fmla="val 7895"/>
            </a:avLst>
          </a:prstGeom>
          <a:solidFill>
            <a:srgbClr val="FBF0EB"/>
          </a:solidFill>
          <a:ln w="10795">
            <a:solidFill>
              <a:srgbClr val="A44A2A"/>
            </a:solidFill>
            <a:prstDash val="solid"/>
          </a:ln>
        </p:spPr>
      </p:sp>
      <p:sp>
        <p:nvSpPr>
          <p:cNvPr id="80" name="Text 78"/>
          <p:cNvSpPr txBox="1"/>
          <p:nvPr/>
        </p:nvSpPr>
        <p:spPr>
          <a:xfrm>
            <a:off x="9144000" y="5102352"/>
            <a:ext cx="2560320" cy="347472"/>
          </a:xfrm>
          <a:prstGeom prst="rect">
            <a:avLst/>
          </a:prstGeom>
          <a:noFill/>
          <a:ln/>
        </p:spPr>
        <p:txBody>
          <a:bodyPr wrap="square" lIns="0" tIns="0" rIns="0" bIns="0" rtlCol="0" anchor="ctr"/>
          <a:lstStyle/>
          <a:p>
            <a:pPr indent="0" marL="0">
              <a:lnSpc>
                <a:spcPts val="840"/>
              </a:lnSpc>
              <a:buNone/>
            </a:pPr>
            <a:r>
              <a:rPr lang="en-US" sz="720" b="1" dirty="0">
                <a:solidFill>
                  <a:srgbClr val="A44A2A"/>
                </a:solidFill>
                <a:latin typeface="Calibri" pitchFamily="34" charset="0"/>
                <a:ea typeface="Calibri" pitchFamily="34" charset="-122"/>
                <a:cs typeface="Calibri" pitchFamily="34" charset="-120"/>
              </a:rPr>
              <a:t>Human acceptance before any write to a system of record</a:t>
            </a:r>
            <a:endParaRPr lang="en-US" sz="720" dirty="0"/>
          </a:p>
        </p:txBody>
      </p:sp>
      <p:sp>
        <p:nvSpPr>
          <p:cNvPr id="81" name="Shape 79"/>
          <p:cNvSpPr/>
          <p:nvPr/>
        </p:nvSpPr>
        <p:spPr>
          <a:xfrm>
            <a:off x="411480" y="5504688"/>
            <a:ext cx="2743200" cy="347472"/>
          </a:xfrm>
          <a:prstGeom prst="roundRect">
            <a:avLst>
              <a:gd name="adj" fmla="val 7895"/>
            </a:avLst>
          </a:prstGeom>
          <a:solidFill>
            <a:srgbClr val="FBF0EB"/>
          </a:solidFill>
          <a:ln w="10795">
            <a:solidFill>
              <a:srgbClr val="A44A2A"/>
            </a:solidFill>
            <a:prstDash val="solid"/>
          </a:ln>
        </p:spPr>
      </p:sp>
      <p:sp>
        <p:nvSpPr>
          <p:cNvPr id="82" name="Text 80"/>
          <p:cNvSpPr txBox="1"/>
          <p:nvPr/>
        </p:nvSpPr>
        <p:spPr>
          <a:xfrm>
            <a:off x="502920" y="5504688"/>
            <a:ext cx="2560320" cy="347472"/>
          </a:xfrm>
          <a:prstGeom prst="rect">
            <a:avLst/>
          </a:prstGeom>
          <a:noFill/>
          <a:ln/>
        </p:spPr>
        <p:txBody>
          <a:bodyPr wrap="square" lIns="0" tIns="0" rIns="0" bIns="0" rtlCol="0" anchor="ctr"/>
          <a:lstStyle/>
          <a:p>
            <a:pPr indent="0" marL="0">
              <a:lnSpc>
                <a:spcPts val="840"/>
              </a:lnSpc>
              <a:buNone/>
            </a:pPr>
            <a:r>
              <a:rPr lang="en-US" sz="720" b="1" dirty="0">
                <a:solidFill>
                  <a:srgbClr val="A44A2A"/>
                </a:solidFill>
                <a:latin typeface="Calibri" pitchFamily="34" charset="0"/>
                <a:ea typeface="Calibri" pitchFamily="34" charset="-122"/>
                <a:cs typeface="Calibri" pitchFamily="34" charset="-120"/>
              </a:rPr>
              <a:t>No AI determination of classification, retention or security posture</a:t>
            </a:r>
            <a:endParaRPr lang="en-US" sz="720" dirty="0"/>
          </a:p>
        </p:txBody>
      </p:sp>
      <p:sp>
        <p:nvSpPr>
          <p:cNvPr id="83" name="Shape 81"/>
          <p:cNvSpPr/>
          <p:nvPr/>
        </p:nvSpPr>
        <p:spPr>
          <a:xfrm>
            <a:off x="3291840" y="5504688"/>
            <a:ext cx="2743200" cy="347472"/>
          </a:xfrm>
          <a:prstGeom prst="roundRect">
            <a:avLst>
              <a:gd name="adj" fmla="val 7895"/>
            </a:avLst>
          </a:prstGeom>
          <a:solidFill>
            <a:srgbClr val="FBF0EB"/>
          </a:solidFill>
          <a:ln w="10795">
            <a:solidFill>
              <a:srgbClr val="A44A2A"/>
            </a:solidFill>
            <a:prstDash val="solid"/>
          </a:ln>
        </p:spPr>
      </p:sp>
      <p:sp>
        <p:nvSpPr>
          <p:cNvPr id="84" name="Text 82"/>
          <p:cNvSpPr txBox="1"/>
          <p:nvPr/>
        </p:nvSpPr>
        <p:spPr>
          <a:xfrm>
            <a:off x="3383280" y="5504688"/>
            <a:ext cx="2560320" cy="347472"/>
          </a:xfrm>
          <a:prstGeom prst="rect">
            <a:avLst/>
          </a:prstGeom>
          <a:noFill/>
          <a:ln/>
        </p:spPr>
        <p:txBody>
          <a:bodyPr wrap="square" lIns="0" tIns="0" rIns="0" bIns="0" rtlCol="0" anchor="ctr"/>
          <a:lstStyle/>
          <a:p>
            <a:pPr indent="0" marL="0">
              <a:lnSpc>
                <a:spcPts val="840"/>
              </a:lnSpc>
              <a:buNone/>
            </a:pPr>
            <a:r>
              <a:rPr lang="en-US" sz="720" b="1" dirty="0">
                <a:solidFill>
                  <a:srgbClr val="A44A2A"/>
                </a:solidFill>
                <a:latin typeface="Calibri" pitchFamily="34" charset="0"/>
                <a:ea typeface="Calibri" pitchFamily="34" charset="-122"/>
                <a:cs typeface="Calibri" pitchFamily="34" charset="-120"/>
              </a:rPr>
              <a:t>Proposal and acceptance both recorded</a:t>
            </a:r>
            <a:endParaRPr lang="en-US" sz="720" dirty="0"/>
          </a:p>
        </p:txBody>
      </p:sp>
      <p:sp>
        <p:nvSpPr>
          <p:cNvPr id="85" name="Shape 83"/>
          <p:cNvSpPr/>
          <p:nvPr/>
        </p:nvSpPr>
        <p:spPr>
          <a:xfrm>
            <a:off x="6172200" y="5504688"/>
            <a:ext cx="2743200" cy="347472"/>
          </a:xfrm>
          <a:prstGeom prst="roundRect">
            <a:avLst>
              <a:gd name="adj" fmla="val 7895"/>
            </a:avLst>
          </a:prstGeom>
          <a:solidFill>
            <a:srgbClr val="FBF0EB"/>
          </a:solidFill>
          <a:ln w="10795">
            <a:solidFill>
              <a:srgbClr val="A44A2A"/>
            </a:solidFill>
            <a:prstDash val="solid"/>
          </a:ln>
        </p:spPr>
      </p:sp>
      <p:sp>
        <p:nvSpPr>
          <p:cNvPr id="86" name="Text 84"/>
          <p:cNvSpPr txBox="1"/>
          <p:nvPr/>
        </p:nvSpPr>
        <p:spPr>
          <a:xfrm>
            <a:off x="6263640" y="5504688"/>
            <a:ext cx="2560320" cy="347472"/>
          </a:xfrm>
          <a:prstGeom prst="rect">
            <a:avLst/>
          </a:prstGeom>
          <a:noFill/>
          <a:ln/>
        </p:spPr>
        <p:txBody>
          <a:bodyPr wrap="square" lIns="0" tIns="0" rIns="0" bIns="0" rtlCol="0" anchor="ctr"/>
          <a:lstStyle/>
          <a:p>
            <a:pPr indent="0" marL="0">
              <a:lnSpc>
                <a:spcPts val="840"/>
              </a:lnSpc>
              <a:buNone/>
            </a:pPr>
            <a:r>
              <a:rPr lang="en-US" sz="720" b="1" dirty="0">
                <a:solidFill>
                  <a:srgbClr val="A44A2A"/>
                </a:solidFill>
                <a:latin typeface="Calibri" pitchFamily="34" charset="0"/>
                <a:ea typeface="Calibri" pitchFamily="34" charset="-122"/>
                <a:cs typeface="Calibri" pitchFamily="34" charset="-120"/>
              </a:rPr>
              <a:t>Partner-facing assistant has no write access</a:t>
            </a:r>
            <a:endParaRPr lang="en-US" sz="720" dirty="0"/>
          </a:p>
        </p:txBody>
      </p:sp>
      <p:sp>
        <p:nvSpPr>
          <p:cNvPr id="87" name="Shape 85"/>
          <p:cNvSpPr/>
          <p:nvPr/>
        </p:nvSpPr>
        <p:spPr>
          <a:xfrm>
            <a:off x="9052560" y="5504688"/>
            <a:ext cx="2743200" cy="347472"/>
          </a:xfrm>
          <a:prstGeom prst="roundRect">
            <a:avLst>
              <a:gd name="adj" fmla="val 7895"/>
            </a:avLst>
          </a:prstGeom>
          <a:solidFill>
            <a:srgbClr val="FBF0EB"/>
          </a:solidFill>
          <a:ln w="10795">
            <a:solidFill>
              <a:srgbClr val="A44A2A"/>
            </a:solidFill>
            <a:prstDash val="solid"/>
          </a:ln>
        </p:spPr>
      </p:sp>
      <p:sp>
        <p:nvSpPr>
          <p:cNvPr id="88" name="Text 86"/>
          <p:cNvSpPr txBox="1"/>
          <p:nvPr/>
        </p:nvSpPr>
        <p:spPr>
          <a:xfrm>
            <a:off x="9144000" y="5504688"/>
            <a:ext cx="2560320" cy="347472"/>
          </a:xfrm>
          <a:prstGeom prst="rect">
            <a:avLst/>
          </a:prstGeom>
          <a:noFill/>
          <a:ln/>
        </p:spPr>
        <p:txBody>
          <a:bodyPr wrap="square" lIns="0" tIns="0" rIns="0" bIns="0" rtlCol="0" anchor="ctr"/>
          <a:lstStyle/>
          <a:p>
            <a:pPr indent="0" marL="0">
              <a:lnSpc>
                <a:spcPts val="840"/>
              </a:lnSpc>
              <a:buNone/>
            </a:pPr>
            <a:r>
              <a:rPr lang="en-US" sz="720" b="1" dirty="0">
                <a:solidFill>
                  <a:srgbClr val="A44A2A"/>
                </a:solidFill>
                <a:latin typeface="Calibri" pitchFamily="34" charset="0"/>
                <a:ea typeface="Calibri" pitchFamily="34" charset="-122"/>
                <a:cs typeface="Calibri" pitchFamily="34" charset="-120"/>
              </a:rPr>
              <a:t>Spot-audit of AI-assisted intakes</a:t>
            </a:r>
            <a:endParaRPr lang="en-US" sz="720" dirty="0"/>
          </a:p>
        </p:txBody>
      </p:sp>
      <p:sp>
        <p:nvSpPr>
          <p:cNvPr id="89" name="Shape 87"/>
          <p:cNvSpPr/>
          <p:nvPr/>
        </p:nvSpPr>
        <p:spPr>
          <a:xfrm>
            <a:off x="411480" y="5998464"/>
            <a:ext cx="11338560" cy="438912"/>
          </a:xfrm>
          <a:prstGeom prst="roundRect">
            <a:avLst>
              <a:gd name="adj" fmla="val 10417"/>
            </a:avLst>
          </a:prstGeom>
          <a:solidFill>
            <a:srgbClr val="F4F7FA"/>
          </a:solidFill>
          <a:ln w="9525">
            <a:solidFill>
              <a:srgbClr val="D4DAE2"/>
            </a:solidFill>
            <a:prstDash val="solid"/>
          </a:ln>
        </p:spPr>
      </p:sp>
      <p:sp>
        <p:nvSpPr>
          <p:cNvPr id="90" name="Text 88"/>
          <p:cNvSpPr txBox="1"/>
          <p:nvPr/>
        </p:nvSpPr>
        <p:spPr>
          <a:xfrm>
            <a:off x="557784" y="5998464"/>
            <a:ext cx="11045952" cy="438912"/>
          </a:xfrm>
          <a:prstGeom prst="rect">
            <a:avLst/>
          </a:prstGeom>
          <a:noFill/>
          <a:ln/>
        </p:spPr>
        <p:txBody>
          <a:bodyPr wrap="square" lIns="0" tIns="0" rIns="0" bIns="0" rtlCol="0" anchor="ctr"/>
          <a:lstStyle/>
          <a:p>
            <a:pPr indent="0" marL="0">
              <a:lnSpc>
                <a:spcPts val="1040"/>
              </a:lnSpc>
              <a:buNone/>
            </a:pPr>
            <a:r>
              <a:rPr lang="en-US" sz="860" dirty="0">
                <a:solidFill>
                  <a:srgbClr val="1B2432"/>
                </a:solidFill>
                <a:latin typeface="Calibri" pitchFamily="34" charset="0"/>
                <a:ea typeface="Calibri" pitchFamily="34" charset="-122"/>
                <a:cs typeface="Calibri" pitchFamily="34" charset="-120"/>
              </a:rPr>
              <a:t>Read the four-layer table to a compliance audience and the conversation changes. Their concern with AI in a regulated content platform is never that it drafts a document — it is that it decides something consequential and nobody can reconstruct why. Here AI never decides, a deterministic rule does, a human authorises anything with consequence, and every step is recorded.</a:t>
            </a:r>
            <a:endParaRPr lang="en-US" sz="86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274320"/>
            <a:ext cx="274320" cy="274320"/>
          </a:xfrm>
          <a:prstGeom prst="rect">
            <a:avLst/>
          </a:prstGeom>
          <a:solidFill>
            <a:srgbClr val="15304F"/>
          </a:solidFill>
          <a:ln w="12700">
            <a:solidFill>
              <a:srgbClr val="333333"/>
            </a:solidFill>
            <a:prstDash val="solid"/>
          </a:ln>
        </p:spPr>
      </p:sp>
      <p:sp>
        <p:nvSpPr>
          <p:cNvPr id="3" name="Text 1"/>
          <p:cNvSpPr txBox="1"/>
          <p:nvPr/>
        </p:nvSpPr>
        <p:spPr>
          <a:xfrm>
            <a:off x="411480" y="2743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12</a:t>
            </a:r>
            <a:endParaRPr lang="en-US" sz="1200" dirty="0"/>
          </a:p>
        </p:txBody>
      </p:sp>
      <p:sp>
        <p:nvSpPr>
          <p:cNvPr id="4" name="Text 2"/>
          <p:cNvSpPr txBox="1"/>
          <p:nvPr/>
        </p:nvSpPr>
        <p:spPr>
          <a:xfrm>
            <a:off x="795528" y="219456"/>
            <a:ext cx="8778240" cy="384048"/>
          </a:xfrm>
          <a:prstGeom prst="rect">
            <a:avLst/>
          </a:prstGeom>
          <a:noFill/>
          <a:ln/>
        </p:spPr>
        <p:txBody>
          <a:bodyPr wrap="square" lIns="0" tIns="0" rIns="0" bIns="0" rtlCol="0" anchor="ctr"/>
          <a:lstStyle/>
          <a:p>
            <a:pPr indent="0" marL="0">
              <a:buNone/>
            </a:pPr>
            <a:r>
              <a:rPr lang="en-US" sz="2400" b="1" dirty="0">
                <a:solidFill>
                  <a:srgbClr val="1B2432"/>
                </a:solidFill>
                <a:latin typeface="Cambria" pitchFamily="34" charset="0"/>
                <a:ea typeface="Cambria" pitchFamily="34" charset="-122"/>
                <a:cs typeface="Cambria" pitchFamily="34" charset="-120"/>
              </a:rPr>
              <a:t>The phase model</a:t>
            </a:r>
            <a:endParaRPr lang="en-US" sz="2400" dirty="0"/>
          </a:p>
        </p:txBody>
      </p:sp>
      <p:sp>
        <p:nvSpPr>
          <p:cNvPr id="5" name="Text 3"/>
          <p:cNvSpPr txBox="1"/>
          <p:nvPr/>
        </p:nvSpPr>
        <p:spPr>
          <a:xfrm>
            <a:off x="795528" y="621792"/>
            <a:ext cx="9326880" cy="237744"/>
          </a:xfrm>
          <a:prstGeom prst="rect">
            <a:avLst/>
          </a:prstGeom>
          <a:noFill/>
          <a:ln/>
        </p:spPr>
        <p:txBody>
          <a:bodyPr wrap="square" lIns="0" tIns="0" rIns="0" bIns="0" rtlCol="0" anchor="ctr"/>
          <a:lstStyle/>
          <a:p>
            <a:pPr indent="0" marL="0">
              <a:buNone/>
            </a:pPr>
            <a:r>
              <a:rPr lang="en-US" sz="1050" dirty="0">
                <a:solidFill>
                  <a:srgbClr val="55606E"/>
                </a:solidFill>
                <a:latin typeface="Calibri" pitchFamily="34" charset="0"/>
                <a:ea typeface="Calibri" pitchFamily="34" charset="-122"/>
                <a:cs typeface="Calibri" pitchFamily="34" charset="-120"/>
              </a:rPr>
              <a:t>Six phases, same gates in every tier — only who does the work changes</a:t>
            </a:r>
            <a:endParaRPr lang="en-US" sz="1050" dirty="0"/>
          </a:p>
        </p:txBody>
      </p:sp>
      <p:sp>
        <p:nvSpPr>
          <p:cNvPr id="6" name="Text 4"/>
          <p:cNvSpPr txBox="1"/>
          <p:nvPr/>
        </p:nvSpPr>
        <p:spPr>
          <a:xfrm>
            <a:off x="9052560" y="274320"/>
            <a:ext cx="2697480" cy="256032"/>
          </a:xfrm>
          <a:prstGeom prst="rect">
            <a:avLst/>
          </a:prstGeom>
          <a:noFill/>
          <a:ln/>
        </p:spPr>
        <p:txBody>
          <a:bodyPr wrap="square" lIns="0" tIns="0" rIns="0" bIns="0" rtlCol="0" anchor="ctr"/>
          <a:lstStyle/>
          <a:p>
            <a:pPr algn="r" indent="0" marL="0">
              <a:buNone/>
            </a:pPr>
            <a:r>
              <a:rPr lang="en-US" sz="950" b="1" spc="60" kern="0" dirty="0">
                <a:solidFill>
                  <a:srgbClr val="7C8798"/>
                </a:solidFill>
                <a:latin typeface="Calibri" pitchFamily="34" charset="0"/>
                <a:ea typeface="Calibri" pitchFamily="34" charset="-122"/>
                <a:cs typeface="Calibri" pitchFamily="34" charset="-120"/>
              </a:rPr>
              <a:t>Operating model</a:t>
            </a:r>
            <a:endParaRPr lang="en-US" sz="950" dirty="0"/>
          </a:p>
        </p:txBody>
      </p:sp>
      <p:sp>
        <p:nvSpPr>
          <p:cNvPr id="7" name="Shape 5"/>
          <p:cNvSpPr/>
          <p:nvPr/>
        </p:nvSpPr>
        <p:spPr>
          <a:xfrm>
            <a:off x="411480" y="932688"/>
            <a:ext cx="11338560" cy="0"/>
          </a:xfrm>
          <a:prstGeom prst="line">
            <a:avLst/>
          </a:prstGeom>
          <a:noFill/>
          <a:ln w="12700">
            <a:solidFill>
              <a:srgbClr val="D4DAE2"/>
            </a:solidFill>
            <a:prstDash val="solid"/>
          </a:ln>
        </p:spPr>
      </p:sp>
      <p:sp>
        <p:nvSpPr>
          <p:cNvPr id="8" name="Shape 6"/>
          <p:cNvSpPr/>
          <p:nvPr/>
        </p:nvSpPr>
        <p:spPr>
          <a:xfrm>
            <a:off x="411480" y="1042416"/>
            <a:ext cx="11338560" cy="274320"/>
          </a:xfrm>
          <a:prstGeom prst="rect">
            <a:avLst/>
          </a:prstGeom>
          <a:solidFill>
            <a:srgbClr val="15304F"/>
          </a:solidFill>
          <a:ln w="6350">
            <a:solidFill>
              <a:srgbClr val="15304F"/>
            </a:solidFill>
            <a:prstDash val="solid"/>
          </a:ln>
        </p:spPr>
      </p:sp>
      <p:sp>
        <p:nvSpPr>
          <p:cNvPr id="9" name="Text 7"/>
          <p:cNvSpPr txBox="1"/>
          <p:nvPr/>
        </p:nvSpPr>
        <p:spPr>
          <a:xfrm>
            <a:off x="484632" y="1042416"/>
            <a:ext cx="905256" cy="274320"/>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Phase</a:t>
            </a:r>
            <a:endParaRPr lang="en-US" sz="800" dirty="0"/>
          </a:p>
        </p:txBody>
      </p:sp>
      <p:sp>
        <p:nvSpPr>
          <p:cNvPr id="10" name="Text 8"/>
          <p:cNvSpPr txBox="1"/>
          <p:nvPr/>
        </p:nvSpPr>
        <p:spPr>
          <a:xfrm>
            <a:off x="1536192" y="1042416"/>
            <a:ext cx="2185416" cy="274320"/>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Gate</a:t>
            </a:r>
            <a:endParaRPr lang="en-US" sz="800" dirty="0"/>
          </a:p>
        </p:txBody>
      </p:sp>
      <p:sp>
        <p:nvSpPr>
          <p:cNvPr id="11" name="Text 9"/>
          <p:cNvSpPr txBox="1"/>
          <p:nvPr/>
        </p:nvSpPr>
        <p:spPr>
          <a:xfrm>
            <a:off x="3867912" y="1042416"/>
            <a:ext cx="2505456" cy="274320"/>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Lean</a:t>
            </a:r>
            <a:endParaRPr lang="en-US" sz="800" dirty="0"/>
          </a:p>
        </p:txBody>
      </p:sp>
      <p:sp>
        <p:nvSpPr>
          <p:cNvPr id="12" name="Text 10"/>
          <p:cNvSpPr txBox="1"/>
          <p:nvPr/>
        </p:nvSpPr>
        <p:spPr>
          <a:xfrm>
            <a:off x="6519672" y="1042416"/>
            <a:ext cx="2505456" cy="274320"/>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Lean+</a:t>
            </a:r>
            <a:endParaRPr lang="en-US" sz="800" dirty="0"/>
          </a:p>
        </p:txBody>
      </p:sp>
      <p:sp>
        <p:nvSpPr>
          <p:cNvPr id="13" name="Text 11"/>
          <p:cNvSpPr txBox="1"/>
          <p:nvPr/>
        </p:nvSpPr>
        <p:spPr>
          <a:xfrm>
            <a:off x="9171432" y="1042416"/>
            <a:ext cx="2505456" cy="274320"/>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Dedicated</a:t>
            </a:r>
            <a:endParaRPr lang="en-US" sz="800" dirty="0"/>
          </a:p>
        </p:txBody>
      </p:sp>
      <p:sp>
        <p:nvSpPr>
          <p:cNvPr id="14" name="Shape 12"/>
          <p:cNvSpPr/>
          <p:nvPr/>
        </p:nvSpPr>
        <p:spPr>
          <a:xfrm>
            <a:off x="411480" y="1316736"/>
            <a:ext cx="11338560" cy="416052"/>
          </a:xfrm>
          <a:prstGeom prst="rect">
            <a:avLst/>
          </a:prstGeom>
          <a:solidFill>
            <a:srgbClr val="FFFFFF"/>
          </a:solidFill>
          <a:ln w="6350">
            <a:solidFill>
              <a:srgbClr val="D4DAE2"/>
            </a:solidFill>
            <a:prstDash val="solid"/>
          </a:ln>
        </p:spPr>
      </p:sp>
      <p:sp>
        <p:nvSpPr>
          <p:cNvPr id="15" name="Text 13"/>
          <p:cNvSpPr txBox="1"/>
          <p:nvPr/>
        </p:nvSpPr>
        <p:spPr>
          <a:xfrm>
            <a:off x="484632" y="1316736"/>
            <a:ext cx="905256" cy="416052"/>
          </a:xfrm>
          <a:prstGeom prst="rect">
            <a:avLst/>
          </a:prstGeom>
          <a:noFill/>
          <a:ln/>
        </p:spPr>
        <p:txBody>
          <a:bodyPr wrap="square" lIns="0" tIns="0" rIns="0" bIns="0" rtlCol="0" anchor="ctr"/>
          <a:lstStyle/>
          <a:p>
            <a:pPr algn="l" indent="0" marL="0">
              <a:buNone/>
            </a:pPr>
            <a:r>
              <a:rPr lang="en-US" sz="780" b="1" dirty="0">
                <a:solidFill>
                  <a:srgbClr val="1B2432"/>
                </a:solidFill>
                <a:latin typeface="Calibri" pitchFamily="34" charset="0"/>
                <a:ea typeface="Calibri" pitchFamily="34" charset="-122"/>
                <a:cs typeface="Calibri" pitchFamily="34" charset="-120"/>
              </a:rPr>
              <a:t>P0  Qualify</a:t>
            </a:r>
            <a:endParaRPr lang="en-US" sz="780" dirty="0"/>
          </a:p>
        </p:txBody>
      </p:sp>
      <p:sp>
        <p:nvSpPr>
          <p:cNvPr id="16" name="Text 14"/>
          <p:cNvSpPr txBox="1"/>
          <p:nvPr/>
        </p:nvSpPr>
        <p:spPr>
          <a:xfrm>
            <a:off x="1536192" y="1316736"/>
            <a:ext cx="2185416" cy="416052"/>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Qualified</a:t>
            </a:r>
            <a:endParaRPr lang="en-US" sz="780" dirty="0"/>
          </a:p>
        </p:txBody>
      </p:sp>
      <p:sp>
        <p:nvSpPr>
          <p:cNvPr id="17" name="Text 15"/>
          <p:cNvSpPr txBox="1"/>
          <p:nvPr/>
        </p:nvSpPr>
        <p:spPr>
          <a:xfrm>
            <a:off x="3867912" y="1316736"/>
            <a:ext cx="2505456" cy="416052"/>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Automated match; platform confirms tier</a:t>
            </a:r>
            <a:endParaRPr lang="en-US" sz="780" dirty="0"/>
          </a:p>
        </p:txBody>
      </p:sp>
      <p:sp>
        <p:nvSpPr>
          <p:cNvPr id="18" name="Text 16"/>
          <p:cNvSpPr txBox="1"/>
          <p:nvPr/>
        </p:nvSpPr>
        <p:spPr>
          <a:xfrm>
            <a:off x="6519672" y="1316736"/>
            <a:ext cx="2505456" cy="416052"/>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Automated match; lead confirms; guide assigned</a:t>
            </a:r>
            <a:endParaRPr lang="en-US" sz="780" dirty="0"/>
          </a:p>
        </p:txBody>
      </p:sp>
      <p:sp>
        <p:nvSpPr>
          <p:cNvPr id="19" name="Text 17"/>
          <p:cNvSpPr txBox="1"/>
          <p:nvPr/>
        </p:nvSpPr>
        <p:spPr>
          <a:xfrm>
            <a:off x="9171432" y="1316736"/>
            <a:ext cx="2505456" cy="416052"/>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Lead determines; pod assigned or queued</a:t>
            </a:r>
            <a:endParaRPr lang="en-US" sz="780" dirty="0"/>
          </a:p>
        </p:txBody>
      </p:sp>
      <p:sp>
        <p:nvSpPr>
          <p:cNvPr id="20" name="Shape 18"/>
          <p:cNvSpPr/>
          <p:nvPr/>
        </p:nvSpPr>
        <p:spPr>
          <a:xfrm>
            <a:off x="411480" y="1732788"/>
            <a:ext cx="11338560" cy="416052"/>
          </a:xfrm>
          <a:prstGeom prst="rect">
            <a:avLst/>
          </a:prstGeom>
          <a:solidFill>
            <a:srgbClr val="F4F7FA"/>
          </a:solidFill>
          <a:ln w="6350">
            <a:solidFill>
              <a:srgbClr val="D4DAE2"/>
            </a:solidFill>
            <a:prstDash val="solid"/>
          </a:ln>
        </p:spPr>
      </p:sp>
      <p:sp>
        <p:nvSpPr>
          <p:cNvPr id="21" name="Text 19"/>
          <p:cNvSpPr txBox="1"/>
          <p:nvPr/>
        </p:nvSpPr>
        <p:spPr>
          <a:xfrm>
            <a:off x="484632" y="1732788"/>
            <a:ext cx="905256" cy="416052"/>
          </a:xfrm>
          <a:prstGeom prst="rect">
            <a:avLst/>
          </a:prstGeom>
          <a:noFill/>
          <a:ln/>
        </p:spPr>
        <p:txBody>
          <a:bodyPr wrap="square" lIns="0" tIns="0" rIns="0" bIns="0" rtlCol="0" anchor="ctr"/>
          <a:lstStyle/>
          <a:p>
            <a:pPr algn="l" indent="0" marL="0">
              <a:buNone/>
            </a:pPr>
            <a:r>
              <a:rPr lang="en-US" sz="780" b="1" dirty="0">
                <a:solidFill>
                  <a:srgbClr val="1B2432"/>
                </a:solidFill>
                <a:latin typeface="Calibri" pitchFamily="34" charset="0"/>
                <a:ea typeface="Calibri" pitchFamily="34" charset="-122"/>
                <a:cs typeface="Calibri" pitchFamily="34" charset="-120"/>
              </a:rPr>
              <a:t>P1  Design</a:t>
            </a:r>
            <a:endParaRPr lang="en-US" sz="780" dirty="0"/>
          </a:p>
        </p:txBody>
      </p:sp>
      <p:sp>
        <p:nvSpPr>
          <p:cNvPr id="22" name="Text 20"/>
          <p:cNvSpPr txBox="1"/>
          <p:nvPr/>
        </p:nvSpPr>
        <p:spPr>
          <a:xfrm>
            <a:off x="1536192" y="1732788"/>
            <a:ext cx="2185416" cy="416052"/>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Design baselined</a:t>
            </a:r>
            <a:endParaRPr lang="en-US" sz="780" dirty="0"/>
          </a:p>
        </p:txBody>
      </p:sp>
      <p:sp>
        <p:nvSpPr>
          <p:cNvPr id="23" name="Text 21"/>
          <p:cNvSpPr txBox="1"/>
          <p:nvPr/>
        </p:nvSpPr>
        <p:spPr>
          <a:xfrm>
            <a:off x="3867912" y="1732788"/>
            <a:ext cx="2505456" cy="416052"/>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Pattern is the design — determinations pre-made</a:t>
            </a:r>
            <a:endParaRPr lang="en-US" sz="780" dirty="0"/>
          </a:p>
        </p:txBody>
      </p:sp>
      <p:sp>
        <p:nvSpPr>
          <p:cNvPr id="24" name="Text 22"/>
          <p:cNvSpPr txBox="1"/>
          <p:nvPr/>
        </p:nvSpPr>
        <p:spPr>
          <a:xfrm>
            <a:off x="6519672" y="1732788"/>
            <a:ext cx="2505456" cy="416052"/>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Partner drafts; guide reviews at checkpoint 1</a:t>
            </a:r>
            <a:endParaRPr lang="en-US" sz="780" dirty="0"/>
          </a:p>
        </p:txBody>
      </p:sp>
      <p:sp>
        <p:nvSpPr>
          <p:cNvPr id="25" name="Text 23"/>
          <p:cNvSpPr txBox="1"/>
          <p:nvPr/>
        </p:nvSpPr>
        <p:spPr>
          <a:xfrm>
            <a:off x="9171432" y="1732788"/>
            <a:ext cx="2505456" cy="416052"/>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Pod authors with partner, governance and RM</a:t>
            </a:r>
            <a:endParaRPr lang="en-US" sz="780" dirty="0"/>
          </a:p>
        </p:txBody>
      </p:sp>
      <p:sp>
        <p:nvSpPr>
          <p:cNvPr id="26" name="Shape 24"/>
          <p:cNvSpPr/>
          <p:nvPr/>
        </p:nvSpPr>
        <p:spPr>
          <a:xfrm>
            <a:off x="411480" y="2148840"/>
            <a:ext cx="11338560" cy="416052"/>
          </a:xfrm>
          <a:prstGeom prst="rect">
            <a:avLst/>
          </a:prstGeom>
          <a:solidFill>
            <a:srgbClr val="FFFFFF"/>
          </a:solidFill>
          <a:ln w="6350">
            <a:solidFill>
              <a:srgbClr val="D4DAE2"/>
            </a:solidFill>
            <a:prstDash val="solid"/>
          </a:ln>
        </p:spPr>
      </p:sp>
      <p:sp>
        <p:nvSpPr>
          <p:cNvPr id="27" name="Text 25"/>
          <p:cNvSpPr txBox="1"/>
          <p:nvPr/>
        </p:nvSpPr>
        <p:spPr>
          <a:xfrm>
            <a:off x="484632" y="2148840"/>
            <a:ext cx="905256" cy="416052"/>
          </a:xfrm>
          <a:prstGeom prst="rect">
            <a:avLst/>
          </a:prstGeom>
          <a:noFill/>
          <a:ln/>
        </p:spPr>
        <p:txBody>
          <a:bodyPr wrap="square" lIns="0" tIns="0" rIns="0" bIns="0" rtlCol="0" anchor="ctr"/>
          <a:lstStyle/>
          <a:p>
            <a:pPr algn="l" indent="0" marL="0">
              <a:buNone/>
            </a:pPr>
            <a:r>
              <a:rPr lang="en-US" sz="780" b="1" dirty="0">
                <a:solidFill>
                  <a:srgbClr val="1B2432"/>
                </a:solidFill>
                <a:latin typeface="Calibri" pitchFamily="34" charset="0"/>
                <a:ea typeface="Calibri" pitchFamily="34" charset="-122"/>
                <a:cs typeface="Calibri" pitchFamily="34" charset="-120"/>
              </a:rPr>
              <a:t>P2  Provision</a:t>
            </a:r>
            <a:endParaRPr lang="en-US" sz="780" dirty="0"/>
          </a:p>
        </p:txBody>
      </p:sp>
      <p:sp>
        <p:nvSpPr>
          <p:cNvPr id="28" name="Text 26"/>
          <p:cNvSpPr txBox="1"/>
          <p:nvPr/>
        </p:nvSpPr>
        <p:spPr>
          <a:xfrm>
            <a:off x="1536192" y="2148840"/>
            <a:ext cx="2185416" cy="416052"/>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Provisioned</a:t>
            </a:r>
            <a:endParaRPr lang="en-US" sz="780" dirty="0"/>
          </a:p>
        </p:txBody>
      </p:sp>
      <p:sp>
        <p:nvSpPr>
          <p:cNvPr id="29" name="Text 27"/>
          <p:cNvSpPr txBox="1"/>
          <p:nvPr/>
        </p:nvSpPr>
        <p:spPr>
          <a:xfrm>
            <a:off x="3867912" y="2148840"/>
            <a:ext cx="2505456" cy="416052"/>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Partner self-serves within policy bounds</a:t>
            </a:r>
            <a:endParaRPr lang="en-US" sz="780" dirty="0"/>
          </a:p>
        </p:txBody>
      </p:sp>
      <p:sp>
        <p:nvSpPr>
          <p:cNvPr id="30" name="Text 28"/>
          <p:cNvSpPr txBox="1"/>
          <p:nvPr/>
        </p:nvSpPr>
        <p:spPr>
          <a:xfrm>
            <a:off x="6519672" y="2148840"/>
            <a:ext cx="2505456" cy="416052"/>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Partner self-serves; ECM handles exceptions</a:t>
            </a:r>
            <a:endParaRPr lang="en-US" sz="780" dirty="0"/>
          </a:p>
        </p:txBody>
      </p:sp>
      <p:sp>
        <p:nvSpPr>
          <p:cNvPr id="31" name="Text 29"/>
          <p:cNvSpPr txBox="1"/>
          <p:nvPr/>
        </p:nvSpPr>
        <p:spPr>
          <a:xfrm>
            <a:off x="9171432" y="2148840"/>
            <a:ext cx="2505456" cy="416052"/>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ECM provisions on the partner's behalf</a:t>
            </a:r>
            <a:endParaRPr lang="en-US" sz="780" dirty="0"/>
          </a:p>
        </p:txBody>
      </p:sp>
      <p:sp>
        <p:nvSpPr>
          <p:cNvPr id="32" name="Shape 30"/>
          <p:cNvSpPr/>
          <p:nvPr/>
        </p:nvSpPr>
        <p:spPr>
          <a:xfrm>
            <a:off x="411480" y="2564892"/>
            <a:ext cx="11338560" cy="416052"/>
          </a:xfrm>
          <a:prstGeom prst="rect">
            <a:avLst/>
          </a:prstGeom>
          <a:solidFill>
            <a:srgbClr val="F4F7FA"/>
          </a:solidFill>
          <a:ln w="6350">
            <a:solidFill>
              <a:srgbClr val="D4DAE2"/>
            </a:solidFill>
            <a:prstDash val="solid"/>
          </a:ln>
        </p:spPr>
      </p:sp>
      <p:sp>
        <p:nvSpPr>
          <p:cNvPr id="33" name="Text 31"/>
          <p:cNvSpPr txBox="1"/>
          <p:nvPr/>
        </p:nvSpPr>
        <p:spPr>
          <a:xfrm>
            <a:off x="484632" y="2564892"/>
            <a:ext cx="905256" cy="416052"/>
          </a:xfrm>
          <a:prstGeom prst="rect">
            <a:avLst/>
          </a:prstGeom>
          <a:noFill/>
          <a:ln/>
        </p:spPr>
        <p:txBody>
          <a:bodyPr wrap="square" lIns="0" tIns="0" rIns="0" bIns="0" rtlCol="0" anchor="ctr"/>
          <a:lstStyle/>
          <a:p>
            <a:pPr algn="l" indent="0" marL="0">
              <a:buNone/>
            </a:pPr>
            <a:r>
              <a:rPr lang="en-US" sz="780" b="1" dirty="0">
                <a:solidFill>
                  <a:srgbClr val="1B2432"/>
                </a:solidFill>
                <a:latin typeface="Calibri" pitchFamily="34" charset="0"/>
                <a:ea typeface="Calibri" pitchFamily="34" charset="-122"/>
                <a:cs typeface="Calibri" pitchFamily="34" charset="-120"/>
              </a:rPr>
              <a:t>P3  Build</a:t>
            </a:r>
            <a:endParaRPr lang="en-US" sz="780" dirty="0"/>
          </a:p>
        </p:txBody>
      </p:sp>
      <p:sp>
        <p:nvSpPr>
          <p:cNvPr id="34" name="Text 32"/>
          <p:cNvSpPr txBox="1"/>
          <p:nvPr/>
        </p:nvSpPr>
        <p:spPr>
          <a:xfrm>
            <a:off x="1536192" y="2564892"/>
            <a:ext cx="2185416" cy="416052"/>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Integration complete</a:t>
            </a:r>
            <a:endParaRPr lang="en-US" sz="780" dirty="0"/>
          </a:p>
        </p:txBody>
      </p:sp>
      <p:sp>
        <p:nvSpPr>
          <p:cNvPr id="35" name="Text 33"/>
          <p:cNvSpPr txBox="1"/>
          <p:nvPr/>
        </p:nvSpPr>
        <p:spPr>
          <a:xfrm>
            <a:off x="3867912" y="2564892"/>
            <a:ext cx="2505456" cy="416052"/>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Unsupported, pattern-guided; clinic if blocked</a:t>
            </a:r>
            <a:endParaRPr lang="en-US" sz="780" dirty="0"/>
          </a:p>
        </p:txBody>
      </p:sp>
      <p:sp>
        <p:nvSpPr>
          <p:cNvPr id="36" name="Text 34"/>
          <p:cNvSpPr txBox="1"/>
          <p:nvPr/>
        </p:nvSpPr>
        <p:spPr>
          <a:xfrm>
            <a:off x="6519672" y="2564892"/>
            <a:ext cx="2505456" cy="416052"/>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Weekly optional session; guide brokers</a:t>
            </a:r>
            <a:endParaRPr lang="en-US" sz="780" dirty="0"/>
          </a:p>
        </p:txBody>
      </p:sp>
      <p:sp>
        <p:nvSpPr>
          <p:cNvPr id="37" name="Text 35"/>
          <p:cNvSpPr txBox="1"/>
          <p:nvPr/>
        </p:nvSpPr>
        <p:spPr>
          <a:xfrm>
            <a:off x="9171432" y="2564892"/>
            <a:ext cx="2505456" cy="416052"/>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Joint working; pod brokers directly</a:t>
            </a:r>
            <a:endParaRPr lang="en-US" sz="780" dirty="0"/>
          </a:p>
        </p:txBody>
      </p:sp>
      <p:sp>
        <p:nvSpPr>
          <p:cNvPr id="38" name="Shape 36"/>
          <p:cNvSpPr/>
          <p:nvPr/>
        </p:nvSpPr>
        <p:spPr>
          <a:xfrm>
            <a:off x="411480" y="2980944"/>
            <a:ext cx="11338560" cy="416052"/>
          </a:xfrm>
          <a:prstGeom prst="rect">
            <a:avLst/>
          </a:prstGeom>
          <a:solidFill>
            <a:srgbClr val="FFFFFF"/>
          </a:solidFill>
          <a:ln w="6350">
            <a:solidFill>
              <a:srgbClr val="D4DAE2"/>
            </a:solidFill>
            <a:prstDash val="solid"/>
          </a:ln>
        </p:spPr>
      </p:sp>
      <p:sp>
        <p:nvSpPr>
          <p:cNvPr id="39" name="Text 37"/>
          <p:cNvSpPr txBox="1"/>
          <p:nvPr/>
        </p:nvSpPr>
        <p:spPr>
          <a:xfrm>
            <a:off x="484632" y="2980944"/>
            <a:ext cx="905256" cy="416052"/>
          </a:xfrm>
          <a:prstGeom prst="rect">
            <a:avLst/>
          </a:prstGeom>
          <a:noFill/>
          <a:ln/>
        </p:spPr>
        <p:txBody>
          <a:bodyPr wrap="square" lIns="0" tIns="0" rIns="0" bIns="0" rtlCol="0" anchor="ctr"/>
          <a:lstStyle/>
          <a:p>
            <a:pPr algn="l" indent="0" marL="0">
              <a:buNone/>
            </a:pPr>
            <a:r>
              <a:rPr lang="en-US" sz="780" b="1" dirty="0">
                <a:solidFill>
                  <a:srgbClr val="1B2432"/>
                </a:solidFill>
                <a:latin typeface="Calibri" pitchFamily="34" charset="0"/>
                <a:ea typeface="Calibri" pitchFamily="34" charset="-122"/>
                <a:cs typeface="Calibri" pitchFamily="34" charset="-120"/>
              </a:rPr>
              <a:t>P4  Validate</a:t>
            </a:r>
            <a:endParaRPr lang="en-US" sz="780" dirty="0"/>
          </a:p>
        </p:txBody>
      </p:sp>
      <p:sp>
        <p:nvSpPr>
          <p:cNvPr id="40" name="Text 38"/>
          <p:cNvSpPr txBox="1"/>
          <p:nvPr/>
        </p:nvSpPr>
        <p:spPr>
          <a:xfrm>
            <a:off x="1536192" y="2980944"/>
            <a:ext cx="2185416" cy="416052"/>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Certified</a:t>
            </a:r>
            <a:endParaRPr lang="en-US" sz="780" dirty="0"/>
          </a:p>
        </p:txBody>
      </p:sp>
      <p:sp>
        <p:nvSpPr>
          <p:cNvPr id="41" name="Text 39"/>
          <p:cNvSpPr txBox="1"/>
          <p:nvPr/>
        </p:nvSpPr>
        <p:spPr>
          <a:xfrm>
            <a:off x="3867912" y="2980944"/>
            <a:ext cx="2505456" cy="416052"/>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Generated test plans; partner executes</a:t>
            </a:r>
            <a:endParaRPr lang="en-US" sz="780" dirty="0"/>
          </a:p>
        </p:txBody>
      </p:sp>
      <p:sp>
        <p:nvSpPr>
          <p:cNvPr id="42" name="Text 40"/>
          <p:cNvSpPr txBox="1"/>
          <p:nvPr/>
        </p:nvSpPr>
        <p:spPr>
          <a:xfrm>
            <a:off x="6519672" y="2980944"/>
            <a:ext cx="2505456" cy="416052"/>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Guide reviews scope at checkpoint 2</a:t>
            </a:r>
            <a:endParaRPr lang="en-US" sz="780" dirty="0"/>
          </a:p>
        </p:txBody>
      </p:sp>
      <p:sp>
        <p:nvSpPr>
          <p:cNvPr id="43" name="Text 41"/>
          <p:cNvSpPr txBox="1"/>
          <p:nvPr/>
        </p:nvSpPr>
        <p:spPr>
          <a:xfrm>
            <a:off x="9171432" y="2980944"/>
            <a:ext cx="2505456" cy="416052"/>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Pod authors plans and works alongside</a:t>
            </a:r>
            <a:endParaRPr lang="en-US" sz="780" dirty="0"/>
          </a:p>
        </p:txBody>
      </p:sp>
      <p:sp>
        <p:nvSpPr>
          <p:cNvPr id="44" name="Shape 42"/>
          <p:cNvSpPr/>
          <p:nvPr/>
        </p:nvSpPr>
        <p:spPr>
          <a:xfrm>
            <a:off x="411480" y="3396996"/>
            <a:ext cx="11338560" cy="416052"/>
          </a:xfrm>
          <a:prstGeom prst="rect">
            <a:avLst/>
          </a:prstGeom>
          <a:solidFill>
            <a:srgbClr val="F4F7FA"/>
          </a:solidFill>
          <a:ln w="6350">
            <a:solidFill>
              <a:srgbClr val="D4DAE2"/>
            </a:solidFill>
            <a:prstDash val="solid"/>
          </a:ln>
        </p:spPr>
      </p:sp>
      <p:sp>
        <p:nvSpPr>
          <p:cNvPr id="45" name="Text 43"/>
          <p:cNvSpPr txBox="1"/>
          <p:nvPr/>
        </p:nvSpPr>
        <p:spPr>
          <a:xfrm>
            <a:off x="484632" y="3396996"/>
            <a:ext cx="905256" cy="416052"/>
          </a:xfrm>
          <a:prstGeom prst="rect">
            <a:avLst/>
          </a:prstGeom>
          <a:noFill/>
          <a:ln/>
        </p:spPr>
        <p:txBody>
          <a:bodyPr wrap="square" lIns="0" tIns="0" rIns="0" bIns="0" rtlCol="0" anchor="ctr"/>
          <a:lstStyle/>
          <a:p>
            <a:pPr algn="l" indent="0" marL="0">
              <a:buNone/>
            </a:pPr>
            <a:r>
              <a:rPr lang="en-US" sz="780" b="1" dirty="0">
                <a:solidFill>
                  <a:srgbClr val="1B2432"/>
                </a:solidFill>
                <a:latin typeface="Calibri" pitchFamily="34" charset="0"/>
                <a:ea typeface="Calibri" pitchFamily="34" charset="-122"/>
                <a:cs typeface="Calibri" pitchFamily="34" charset="-120"/>
              </a:rPr>
              <a:t>P5  Release</a:t>
            </a:r>
            <a:endParaRPr lang="en-US" sz="780" dirty="0"/>
          </a:p>
        </p:txBody>
      </p:sp>
      <p:sp>
        <p:nvSpPr>
          <p:cNvPr id="46" name="Text 44"/>
          <p:cNvSpPr txBox="1"/>
          <p:nvPr/>
        </p:nvSpPr>
        <p:spPr>
          <a:xfrm>
            <a:off x="1536192" y="3396996"/>
            <a:ext cx="2185416" cy="416052"/>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Live and supported</a:t>
            </a:r>
            <a:endParaRPr lang="en-US" sz="780" dirty="0"/>
          </a:p>
        </p:txBody>
      </p:sp>
      <p:sp>
        <p:nvSpPr>
          <p:cNvPr id="47" name="Text 45"/>
          <p:cNvSpPr txBox="1"/>
          <p:nvPr/>
        </p:nvSpPr>
        <p:spPr>
          <a:xfrm>
            <a:off x="3867912" y="3396996"/>
            <a:ext cx="2505456" cy="416052"/>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Standard handover; straight to BAU</a:t>
            </a:r>
            <a:endParaRPr lang="en-US" sz="780" dirty="0"/>
          </a:p>
        </p:txBody>
      </p:sp>
      <p:sp>
        <p:nvSpPr>
          <p:cNvPr id="48" name="Text 46"/>
          <p:cNvSpPr txBox="1"/>
          <p:nvPr/>
        </p:nvSpPr>
        <p:spPr>
          <a:xfrm>
            <a:off x="6519672" y="3396996"/>
            <a:ext cx="2505456" cy="416052"/>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Guide on call; two weeks availability</a:t>
            </a:r>
            <a:endParaRPr lang="en-US" sz="780" dirty="0"/>
          </a:p>
        </p:txBody>
      </p:sp>
      <p:sp>
        <p:nvSpPr>
          <p:cNvPr id="49" name="Text 47"/>
          <p:cNvSpPr txBox="1"/>
          <p:nvPr/>
        </p:nvSpPr>
        <p:spPr>
          <a:xfrm>
            <a:off x="9171432" y="3396996"/>
            <a:ext cx="2505456" cy="416052"/>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Pod present; four weeks stabilisation</a:t>
            </a:r>
            <a:endParaRPr lang="en-US" sz="780" dirty="0"/>
          </a:p>
        </p:txBody>
      </p:sp>
      <p:sp>
        <p:nvSpPr>
          <p:cNvPr id="50" name="Shape 48"/>
          <p:cNvSpPr/>
          <p:nvPr/>
        </p:nvSpPr>
        <p:spPr>
          <a:xfrm>
            <a:off x="411480" y="4059936"/>
            <a:ext cx="11338560" cy="566928"/>
          </a:xfrm>
          <a:prstGeom prst="roundRect">
            <a:avLst>
              <a:gd name="adj" fmla="val 8065"/>
            </a:avLst>
          </a:prstGeom>
          <a:solidFill>
            <a:srgbClr val="E9EEF4"/>
          </a:solidFill>
          <a:ln w="12700">
            <a:solidFill>
              <a:srgbClr val="15304F"/>
            </a:solidFill>
            <a:prstDash val="solid"/>
          </a:ln>
        </p:spPr>
      </p:sp>
      <p:sp>
        <p:nvSpPr>
          <p:cNvPr id="51" name="Text 49"/>
          <p:cNvSpPr txBox="1"/>
          <p:nvPr/>
        </p:nvSpPr>
        <p:spPr>
          <a:xfrm>
            <a:off x="557784" y="4142232"/>
            <a:ext cx="11045952" cy="182880"/>
          </a:xfrm>
          <a:prstGeom prst="rect">
            <a:avLst/>
          </a:prstGeom>
          <a:noFill/>
          <a:ln/>
        </p:spPr>
        <p:txBody>
          <a:bodyPr wrap="square" lIns="0" tIns="0" rIns="0" bIns="0" rtlCol="0" anchor="ctr"/>
          <a:lstStyle/>
          <a:p>
            <a:pPr indent="0" marL="0">
              <a:buNone/>
            </a:pPr>
            <a:r>
              <a:rPr lang="en-US" sz="760" b="1" spc="100" kern="0" dirty="0">
                <a:solidFill>
                  <a:srgbClr val="15304F"/>
                </a:solidFill>
                <a:latin typeface="Calibri" pitchFamily="34" charset="0"/>
                <a:ea typeface="Calibri" pitchFamily="34" charset="-122"/>
                <a:cs typeface="Calibri" pitchFamily="34" charset="-120"/>
              </a:rPr>
              <a:t>ONE ROW IS IDENTICAL IN ALL THREE COLUMNS</a:t>
            </a:r>
            <a:endParaRPr lang="en-US" sz="760" dirty="0"/>
          </a:p>
        </p:txBody>
      </p:sp>
      <p:sp>
        <p:nvSpPr>
          <p:cNvPr id="52" name="Text 50"/>
          <p:cNvSpPr txBox="1"/>
          <p:nvPr/>
        </p:nvSpPr>
        <p:spPr>
          <a:xfrm>
            <a:off x="557784" y="4334256"/>
            <a:ext cx="11045952" cy="201168"/>
          </a:xfrm>
          <a:prstGeom prst="rect">
            <a:avLst/>
          </a:prstGeom>
          <a:noFill/>
          <a:ln/>
        </p:spPr>
        <p:txBody>
          <a:bodyPr wrap="square" lIns="0" tIns="0" rIns="0" bIns="0" rtlCol="0" anchor="t"/>
          <a:lstStyle/>
          <a:p>
            <a:pPr indent="0" marL="0">
              <a:lnSpc>
                <a:spcPts val="1100"/>
              </a:lnSpc>
              <a:buNone/>
            </a:pPr>
            <a:r>
              <a:rPr lang="en-US" sz="900" dirty="0">
                <a:solidFill>
                  <a:srgbClr val="1B2432"/>
                </a:solidFill>
                <a:latin typeface="Calibri" pitchFamily="34" charset="0"/>
                <a:ea typeface="Calibri" pitchFamily="34" charset="-122"/>
                <a:cs typeface="Calibri" pitchFamily="34" charset="-120"/>
              </a:rPr>
              <a:t>Promotion is a platform action in every tier, never a human one. A Lean intake is not progressing on a lower standard — it is progressing on exactly the same standard, evaluated by the same engine. That uniformity is the entire compliance defence for the lighter tiers.</a:t>
            </a:r>
            <a:endParaRPr lang="en-US" sz="900" dirty="0"/>
          </a:p>
        </p:txBody>
      </p:sp>
      <p:sp>
        <p:nvSpPr>
          <p:cNvPr id="53" name="Text 51"/>
          <p:cNvSpPr txBox="1"/>
          <p:nvPr/>
        </p:nvSpPr>
        <p:spPr>
          <a:xfrm>
            <a:off x="411480" y="4773168"/>
            <a:ext cx="7315200" cy="182880"/>
          </a:xfrm>
          <a:prstGeom prst="rect">
            <a:avLst/>
          </a:prstGeom>
          <a:noFill/>
          <a:ln/>
        </p:spPr>
        <p:txBody>
          <a:bodyPr wrap="square" lIns="0" tIns="0" rIns="0" bIns="0" rtlCol="0" anchor="ctr"/>
          <a:lstStyle/>
          <a:p>
            <a:pPr indent="0" marL="0">
              <a:buNone/>
            </a:pPr>
            <a:r>
              <a:rPr lang="en-US" sz="760" b="1" spc="110" kern="0" dirty="0">
                <a:solidFill>
                  <a:srgbClr val="1B2432"/>
                </a:solidFill>
                <a:latin typeface="Calibri" pitchFamily="34" charset="0"/>
                <a:ea typeface="Calibri" pitchFamily="34" charset="-122"/>
                <a:cs typeface="Calibri" pitchFamily="34" charset="-120"/>
              </a:rPr>
              <a:t>WHERE EACH PHASE IS HEAVIEST, AND WHY</a:t>
            </a:r>
            <a:endParaRPr lang="en-US" sz="760" dirty="0"/>
          </a:p>
        </p:txBody>
      </p:sp>
      <p:sp>
        <p:nvSpPr>
          <p:cNvPr id="54" name="Shape 52"/>
          <p:cNvSpPr/>
          <p:nvPr/>
        </p:nvSpPr>
        <p:spPr>
          <a:xfrm>
            <a:off x="411480" y="4974336"/>
            <a:ext cx="3675888" cy="457200"/>
          </a:xfrm>
          <a:prstGeom prst="roundRect">
            <a:avLst>
              <a:gd name="adj" fmla="val 8000"/>
            </a:avLst>
          </a:prstGeom>
          <a:solidFill>
            <a:srgbClr val="FFFFFF"/>
          </a:solidFill>
          <a:ln w="11430">
            <a:solidFill>
              <a:srgbClr val="D4DAE2"/>
            </a:solidFill>
            <a:prstDash val="solid"/>
          </a:ln>
        </p:spPr>
      </p:sp>
      <p:sp>
        <p:nvSpPr>
          <p:cNvPr id="55" name="Shape 53"/>
          <p:cNvSpPr/>
          <p:nvPr/>
        </p:nvSpPr>
        <p:spPr>
          <a:xfrm>
            <a:off x="411480" y="4974336"/>
            <a:ext cx="45720" cy="457200"/>
          </a:xfrm>
          <a:prstGeom prst="rect">
            <a:avLst/>
          </a:prstGeom>
          <a:solidFill>
            <a:srgbClr val="0B6E6E"/>
          </a:solidFill>
          <a:ln w="12700">
            <a:solidFill>
              <a:srgbClr val="333333"/>
            </a:solidFill>
            <a:prstDash val="solid"/>
          </a:ln>
        </p:spPr>
      </p:sp>
      <p:sp>
        <p:nvSpPr>
          <p:cNvPr id="56" name="Text 54"/>
          <p:cNvSpPr txBox="1"/>
          <p:nvPr/>
        </p:nvSpPr>
        <p:spPr>
          <a:xfrm>
            <a:off x="539496" y="5010912"/>
            <a:ext cx="3456432" cy="201168"/>
          </a:xfrm>
          <a:prstGeom prst="rect">
            <a:avLst/>
          </a:prstGeom>
          <a:noFill/>
          <a:ln/>
        </p:spPr>
        <p:txBody>
          <a:bodyPr wrap="square" lIns="0" tIns="0" rIns="0" bIns="0" rtlCol="0" anchor="ctr"/>
          <a:lstStyle/>
          <a:p>
            <a:pPr indent="0" marL="0">
              <a:buNone/>
            </a:pPr>
            <a:r>
              <a:rPr lang="en-US" sz="800" b="1" dirty="0">
                <a:solidFill>
                  <a:srgbClr val="1B2432"/>
                </a:solidFill>
                <a:latin typeface="Calibri" pitchFamily="34" charset="0"/>
                <a:ea typeface="Calibri" pitchFamily="34" charset="-122"/>
                <a:cs typeface="Calibri" pitchFamily="34" charset="-120"/>
              </a:rPr>
              <a:t>P0  Light in every tier</a:t>
            </a:r>
            <a:endParaRPr lang="en-US" sz="800" dirty="0"/>
          </a:p>
        </p:txBody>
      </p:sp>
      <p:sp>
        <p:nvSpPr>
          <p:cNvPr id="57" name="Text 55"/>
          <p:cNvSpPr txBox="1"/>
          <p:nvPr/>
        </p:nvSpPr>
        <p:spPr>
          <a:xfrm>
            <a:off x="539496" y="5202936"/>
            <a:ext cx="3456432" cy="201168"/>
          </a:xfrm>
          <a:prstGeom prst="rect">
            <a:avLst/>
          </a:prstGeom>
          <a:noFill/>
          <a:ln/>
        </p:spPr>
        <p:txBody>
          <a:bodyPr wrap="square" lIns="0" tIns="0" rIns="0" bIns="0" rtlCol="0" anchor="ctr"/>
          <a:lstStyle/>
          <a:p>
            <a:pPr indent="0" marL="0">
              <a:buNone/>
            </a:pPr>
            <a:r>
              <a:rPr lang="en-US" sz="720" dirty="0">
                <a:solidFill>
                  <a:srgbClr val="55606E"/>
                </a:solidFill>
                <a:latin typeface="Calibri" pitchFamily="34" charset="0"/>
                <a:ea typeface="Calibri" pitchFamily="34" charset="-122"/>
                <a:cs typeface="Calibri" pitchFamily="34" charset="-120"/>
              </a:rPr>
              <a:t>The work is routing, not delivery</a:t>
            </a:r>
            <a:endParaRPr lang="en-US" sz="720" dirty="0"/>
          </a:p>
        </p:txBody>
      </p:sp>
      <p:sp>
        <p:nvSpPr>
          <p:cNvPr id="58" name="Shape 56"/>
          <p:cNvSpPr/>
          <p:nvPr/>
        </p:nvSpPr>
        <p:spPr>
          <a:xfrm>
            <a:off x="4233672" y="4974336"/>
            <a:ext cx="3675888" cy="457200"/>
          </a:xfrm>
          <a:prstGeom prst="roundRect">
            <a:avLst>
              <a:gd name="adj" fmla="val 8000"/>
            </a:avLst>
          </a:prstGeom>
          <a:solidFill>
            <a:srgbClr val="FFFFFF"/>
          </a:solidFill>
          <a:ln w="11430">
            <a:solidFill>
              <a:srgbClr val="D4DAE2"/>
            </a:solidFill>
            <a:prstDash val="solid"/>
          </a:ln>
        </p:spPr>
      </p:sp>
      <p:sp>
        <p:nvSpPr>
          <p:cNvPr id="59" name="Shape 57"/>
          <p:cNvSpPr/>
          <p:nvPr/>
        </p:nvSpPr>
        <p:spPr>
          <a:xfrm>
            <a:off x="4233672" y="4974336"/>
            <a:ext cx="45720" cy="457200"/>
          </a:xfrm>
          <a:prstGeom prst="rect">
            <a:avLst/>
          </a:prstGeom>
          <a:solidFill>
            <a:srgbClr val="9A6410"/>
          </a:solidFill>
          <a:ln w="12700">
            <a:solidFill>
              <a:srgbClr val="333333"/>
            </a:solidFill>
            <a:prstDash val="solid"/>
          </a:ln>
        </p:spPr>
      </p:sp>
      <p:sp>
        <p:nvSpPr>
          <p:cNvPr id="60" name="Text 58"/>
          <p:cNvSpPr txBox="1"/>
          <p:nvPr/>
        </p:nvSpPr>
        <p:spPr>
          <a:xfrm>
            <a:off x="4361688" y="5010912"/>
            <a:ext cx="3456432" cy="201168"/>
          </a:xfrm>
          <a:prstGeom prst="rect">
            <a:avLst/>
          </a:prstGeom>
          <a:noFill/>
          <a:ln/>
        </p:spPr>
        <p:txBody>
          <a:bodyPr wrap="square" lIns="0" tIns="0" rIns="0" bIns="0" rtlCol="0" anchor="ctr"/>
          <a:lstStyle/>
          <a:p>
            <a:pPr indent="0" marL="0">
              <a:buNone/>
            </a:pPr>
            <a:r>
              <a:rPr lang="en-US" sz="800" b="1" dirty="0">
                <a:solidFill>
                  <a:srgbClr val="1B2432"/>
                </a:solidFill>
                <a:latin typeface="Calibri" pitchFamily="34" charset="0"/>
                <a:ea typeface="Calibri" pitchFamily="34" charset="-122"/>
                <a:cs typeface="Calibri" pitchFamily="34" charset="-120"/>
              </a:rPr>
              <a:t>P1  Heaviest in Dedicated, near-zero in Lean</a:t>
            </a:r>
            <a:endParaRPr lang="en-US" sz="800" dirty="0"/>
          </a:p>
        </p:txBody>
      </p:sp>
      <p:sp>
        <p:nvSpPr>
          <p:cNvPr id="61" name="Text 59"/>
          <p:cNvSpPr txBox="1"/>
          <p:nvPr/>
        </p:nvSpPr>
        <p:spPr>
          <a:xfrm>
            <a:off x="4361688" y="5202936"/>
            <a:ext cx="3456432" cy="201168"/>
          </a:xfrm>
          <a:prstGeom prst="rect">
            <a:avLst/>
          </a:prstGeom>
          <a:noFill/>
          <a:ln/>
        </p:spPr>
        <p:txBody>
          <a:bodyPr wrap="square" lIns="0" tIns="0" rIns="0" bIns="0" rtlCol="0" anchor="ctr"/>
          <a:lstStyle/>
          <a:p>
            <a:pPr indent="0" marL="0">
              <a:buNone/>
            </a:pPr>
            <a:r>
              <a:rPr lang="en-US" sz="720" dirty="0">
                <a:solidFill>
                  <a:srgbClr val="55606E"/>
                </a:solidFill>
                <a:latin typeface="Calibri" pitchFamily="34" charset="0"/>
                <a:ea typeface="Calibri" pitchFamily="34" charset="-122"/>
                <a:cs typeface="Calibri" pitchFamily="34" charset="-120"/>
              </a:rPr>
              <a:t>In Lean the determinations were made when the pattern was built</a:t>
            </a:r>
            <a:endParaRPr lang="en-US" sz="720" dirty="0"/>
          </a:p>
        </p:txBody>
      </p:sp>
      <p:sp>
        <p:nvSpPr>
          <p:cNvPr id="62" name="Shape 60"/>
          <p:cNvSpPr/>
          <p:nvPr/>
        </p:nvSpPr>
        <p:spPr>
          <a:xfrm>
            <a:off x="8055864" y="4974336"/>
            <a:ext cx="3675888" cy="457200"/>
          </a:xfrm>
          <a:prstGeom prst="roundRect">
            <a:avLst>
              <a:gd name="adj" fmla="val 8000"/>
            </a:avLst>
          </a:prstGeom>
          <a:solidFill>
            <a:srgbClr val="FFFFFF"/>
          </a:solidFill>
          <a:ln w="11430">
            <a:solidFill>
              <a:srgbClr val="D4DAE2"/>
            </a:solidFill>
            <a:prstDash val="solid"/>
          </a:ln>
        </p:spPr>
      </p:sp>
      <p:sp>
        <p:nvSpPr>
          <p:cNvPr id="63" name="Shape 61"/>
          <p:cNvSpPr/>
          <p:nvPr/>
        </p:nvSpPr>
        <p:spPr>
          <a:xfrm>
            <a:off x="8055864" y="4974336"/>
            <a:ext cx="45720" cy="457200"/>
          </a:xfrm>
          <a:prstGeom prst="rect">
            <a:avLst/>
          </a:prstGeom>
          <a:solidFill>
            <a:srgbClr val="A44A2A"/>
          </a:solidFill>
          <a:ln w="12700">
            <a:solidFill>
              <a:srgbClr val="333333"/>
            </a:solidFill>
            <a:prstDash val="solid"/>
          </a:ln>
        </p:spPr>
      </p:sp>
      <p:sp>
        <p:nvSpPr>
          <p:cNvPr id="64" name="Text 62"/>
          <p:cNvSpPr txBox="1"/>
          <p:nvPr/>
        </p:nvSpPr>
        <p:spPr>
          <a:xfrm>
            <a:off x="8183880" y="5010912"/>
            <a:ext cx="3456432" cy="201168"/>
          </a:xfrm>
          <a:prstGeom prst="rect">
            <a:avLst/>
          </a:prstGeom>
          <a:noFill/>
          <a:ln/>
        </p:spPr>
        <p:txBody>
          <a:bodyPr wrap="square" lIns="0" tIns="0" rIns="0" bIns="0" rtlCol="0" anchor="ctr"/>
          <a:lstStyle/>
          <a:p>
            <a:pPr indent="0" marL="0">
              <a:buNone/>
            </a:pPr>
            <a:r>
              <a:rPr lang="en-US" sz="800" b="1" dirty="0">
                <a:solidFill>
                  <a:srgbClr val="1B2432"/>
                </a:solidFill>
                <a:latin typeface="Calibri" pitchFamily="34" charset="0"/>
                <a:ea typeface="Calibri" pitchFamily="34" charset="-122"/>
                <a:cs typeface="Calibri" pitchFamily="34" charset="-120"/>
              </a:rPr>
              <a:t>P2  Highest automation yield of any phase</a:t>
            </a:r>
            <a:endParaRPr lang="en-US" sz="800" dirty="0"/>
          </a:p>
        </p:txBody>
      </p:sp>
      <p:sp>
        <p:nvSpPr>
          <p:cNvPr id="65" name="Text 63"/>
          <p:cNvSpPr txBox="1"/>
          <p:nvPr/>
        </p:nvSpPr>
        <p:spPr>
          <a:xfrm>
            <a:off x="8183880" y="5202936"/>
            <a:ext cx="3456432" cy="201168"/>
          </a:xfrm>
          <a:prstGeom prst="rect">
            <a:avLst/>
          </a:prstGeom>
          <a:noFill/>
          <a:ln/>
        </p:spPr>
        <p:txBody>
          <a:bodyPr wrap="square" lIns="0" tIns="0" rIns="0" bIns="0" rtlCol="0" anchor="ctr"/>
          <a:lstStyle/>
          <a:p>
            <a:pPr indent="0" marL="0">
              <a:buNone/>
            </a:pPr>
            <a:r>
              <a:rPr lang="en-US" sz="720" dirty="0">
                <a:solidFill>
                  <a:srgbClr val="55606E"/>
                </a:solidFill>
                <a:latin typeface="Calibri" pitchFamily="34" charset="0"/>
                <a:ea typeface="Calibri" pitchFamily="34" charset="-122"/>
                <a:cs typeface="Calibri" pitchFamily="34" charset="-120"/>
              </a:rPr>
              <a:t>Almost entirely rule-application and request-routing</a:t>
            </a:r>
            <a:endParaRPr lang="en-US" sz="720" dirty="0"/>
          </a:p>
        </p:txBody>
      </p:sp>
      <p:sp>
        <p:nvSpPr>
          <p:cNvPr id="66" name="Shape 64"/>
          <p:cNvSpPr/>
          <p:nvPr/>
        </p:nvSpPr>
        <p:spPr>
          <a:xfrm>
            <a:off x="411480" y="5486400"/>
            <a:ext cx="3675888" cy="457200"/>
          </a:xfrm>
          <a:prstGeom prst="roundRect">
            <a:avLst>
              <a:gd name="adj" fmla="val 8000"/>
            </a:avLst>
          </a:prstGeom>
          <a:solidFill>
            <a:srgbClr val="FFFFFF"/>
          </a:solidFill>
          <a:ln w="11430">
            <a:solidFill>
              <a:srgbClr val="D4DAE2"/>
            </a:solidFill>
            <a:prstDash val="solid"/>
          </a:ln>
        </p:spPr>
      </p:sp>
      <p:sp>
        <p:nvSpPr>
          <p:cNvPr id="67" name="Shape 65"/>
          <p:cNvSpPr/>
          <p:nvPr/>
        </p:nvSpPr>
        <p:spPr>
          <a:xfrm>
            <a:off x="411480" y="5486400"/>
            <a:ext cx="45720" cy="457200"/>
          </a:xfrm>
          <a:prstGeom prst="rect">
            <a:avLst/>
          </a:prstGeom>
          <a:solidFill>
            <a:srgbClr val="0B6E6E"/>
          </a:solidFill>
          <a:ln w="12700">
            <a:solidFill>
              <a:srgbClr val="333333"/>
            </a:solidFill>
            <a:prstDash val="solid"/>
          </a:ln>
        </p:spPr>
      </p:sp>
      <p:sp>
        <p:nvSpPr>
          <p:cNvPr id="68" name="Text 66"/>
          <p:cNvSpPr txBox="1"/>
          <p:nvPr/>
        </p:nvSpPr>
        <p:spPr>
          <a:xfrm>
            <a:off x="539496" y="5522976"/>
            <a:ext cx="3456432" cy="201168"/>
          </a:xfrm>
          <a:prstGeom prst="rect">
            <a:avLst/>
          </a:prstGeom>
          <a:noFill/>
          <a:ln/>
        </p:spPr>
        <p:txBody>
          <a:bodyPr wrap="square" lIns="0" tIns="0" rIns="0" bIns="0" rtlCol="0" anchor="ctr"/>
          <a:lstStyle/>
          <a:p>
            <a:pPr indent="0" marL="0">
              <a:buNone/>
            </a:pPr>
            <a:r>
              <a:rPr lang="en-US" sz="800" b="1" dirty="0">
                <a:solidFill>
                  <a:srgbClr val="1B2432"/>
                </a:solidFill>
                <a:latin typeface="Calibri" pitchFamily="34" charset="0"/>
                <a:ea typeface="Calibri" pitchFamily="34" charset="-122"/>
                <a:cs typeface="Calibri" pitchFamily="34" charset="-120"/>
              </a:rPr>
              <a:t>P3  Smallest ECM role in every tier</a:t>
            </a:r>
            <a:endParaRPr lang="en-US" sz="800" dirty="0"/>
          </a:p>
        </p:txBody>
      </p:sp>
      <p:sp>
        <p:nvSpPr>
          <p:cNvPr id="69" name="Text 67"/>
          <p:cNvSpPr txBox="1"/>
          <p:nvPr/>
        </p:nvSpPr>
        <p:spPr>
          <a:xfrm>
            <a:off x="539496" y="5715000"/>
            <a:ext cx="3456432" cy="201168"/>
          </a:xfrm>
          <a:prstGeom prst="rect">
            <a:avLst/>
          </a:prstGeom>
          <a:noFill/>
          <a:ln/>
        </p:spPr>
        <p:txBody>
          <a:bodyPr wrap="square" lIns="0" tIns="0" rIns="0" bIns="0" rtlCol="0" anchor="ctr"/>
          <a:lstStyle/>
          <a:p>
            <a:pPr indent="0" marL="0">
              <a:buNone/>
            </a:pPr>
            <a:r>
              <a:rPr lang="en-US" sz="720" dirty="0">
                <a:solidFill>
                  <a:srgbClr val="55606E"/>
                </a:solidFill>
                <a:latin typeface="Calibri" pitchFamily="34" charset="0"/>
                <a:ea typeface="Calibri" pitchFamily="34" charset="-122"/>
                <a:cs typeface="Calibri" pitchFamily="34" charset="-120"/>
              </a:rPr>
              <a:t>The work is substantially the partner's own development</a:t>
            </a:r>
            <a:endParaRPr lang="en-US" sz="720" dirty="0"/>
          </a:p>
        </p:txBody>
      </p:sp>
      <p:sp>
        <p:nvSpPr>
          <p:cNvPr id="70" name="Shape 68"/>
          <p:cNvSpPr/>
          <p:nvPr/>
        </p:nvSpPr>
        <p:spPr>
          <a:xfrm>
            <a:off x="4233672" y="5486400"/>
            <a:ext cx="3675888" cy="457200"/>
          </a:xfrm>
          <a:prstGeom prst="roundRect">
            <a:avLst>
              <a:gd name="adj" fmla="val 8000"/>
            </a:avLst>
          </a:prstGeom>
          <a:solidFill>
            <a:srgbClr val="FFFFFF"/>
          </a:solidFill>
          <a:ln w="11430">
            <a:solidFill>
              <a:srgbClr val="D4DAE2"/>
            </a:solidFill>
            <a:prstDash val="solid"/>
          </a:ln>
        </p:spPr>
      </p:sp>
      <p:sp>
        <p:nvSpPr>
          <p:cNvPr id="71" name="Shape 69"/>
          <p:cNvSpPr/>
          <p:nvPr/>
        </p:nvSpPr>
        <p:spPr>
          <a:xfrm>
            <a:off x="4233672" y="5486400"/>
            <a:ext cx="45720" cy="457200"/>
          </a:xfrm>
          <a:prstGeom prst="rect">
            <a:avLst/>
          </a:prstGeom>
          <a:solidFill>
            <a:srgbClr val="15304F"/>
          </a:solidFill>
          <a:ln w="12700">
            <a:solidFill>
              <a:srgbClr val="333333"/>
            </a:solidFill>
            <a:prstDash val="solid"/>
          </a:ln>
        </p:spPr>
      </p:sp>
      <p:sp>
        <p:nvSpPr>
          <p:cNvPr id="72" name="Text 70"/>
          <p:cNvSpPr txBox="1"/>
          <p:nvPr/>
        </p:nvSpPr>
        <p:spPr>
          <a:xfrm>
            <a:off x="4361688" y="5522976"/>
            <a:ext cx="3456432" cy="201168"/>
          </a:xfrm>
          <a:prstGeom prst="rect">
            <a:avLst/>
          </a:prstGeom>
          <a:noFill/>
          <a:ln/>
        </p:spPr>
        <p:txBody>
          <a:bodyPr wrap="square" lIns="0" tIns="0" rIns="0" bIns="0" rtlCol="0" anchor="ctr"/>
          <a:lstStyle/>
          <a:p>
            <a:pPr indent="0" marL="0">
              <a:buNone/>
            </a:pPr>
            <a:r>
              <a:rPr lang="en-US" sz="800" b="1" dirty="0">
                <a:solidFill>
                  <a:srgbClr val="1B2432"/>
                </a:solidFill>
                <a:latin typeface="Calibri" pitchFamily="34" charset="0"/>
                <a:ea typeface="Calibri" pitchFamily="34" charset="-122"/>
                <a:cs typeface="Calibri" pitchFamily="34" charset="-120"/>
              </a:rPr>
              <a:t>P4  Gate density is highest; identical across tiers</a:t>
            </a:r>
            <a:endParaRPr lang="en-US" sz="800" dirty="0"/>
          </a:p>
        </p:txBody>
      </p:sp>
      <p:sp>
        <p:nvSpPr>
          <p:cNvPr id="73" name="Text 71"/>
          <p:cNvSpPr txBox="1"/>
          <p:nvPr/>
        </p:nvSpPr>
        <p:spPr>
          <a:xfrm>
            <a:off x="4361688" y="5715000"/>
            <a:ext cx="3456432" cy="201168"/>
          </a:xfrm>
          <a:prstGeom prst="rect">
            <a:avLst/>
          </a:prstGeom>
          <a:noFill/>
          <a:ln/>
        </p:spPr>
        <p:txBody>
          <a:bodyPr wrap="square" lIns="0" tIns="0" rIns="0" bIns="0" rtlCol="0" anchor="ctr"/>
          <a:lstStyle/>
          <a:p>
            <a:pPr indent="0" marL="0">
              <a:buNone/>
            </a:pPr>
            <a:r>
              <a:rPr lang="en-US" sz="720" dirty="0">
                <a:solidFill>
                  <a:srgbClr val="55606E"/>
                </a:solidFill>
                <a:latin typeface="Calibri" pitchFamily="34" charset="0"/>
                <a:ea typeface="Calibri" pitchFamily="34" charset="-122"/>
                <a:cs typeface="Calibri" pitchFamily="34" charset="-120"/>
              </a:rPr>
              <a:t>Evidence requirements do not vary by tier</a:t>
            </a:r>
            <a:endParaRPr lang="en-US" sz="720" dirty="0"/>
          </a:p>
        </p:txBody>
      </p:sp>
      <p:sp>
        <p:nvSpPr>
          <p:cNvPr id="74" name="Shape 72"/>
          <p:cNvSpPr/>
          <p:nvPr/>
        </p:nvSpPr>
        <p:spPr>
          <a:xfrm>
            <a:off x="8055864" y="5486400"/>
            <a:ext cx="3675888" cy="457200"/>
          </a:xfrm>
          <a:prstGeom prst="roundRect">
            <a:avLst>
              <a:gd name="adj" fmla="val 8000"/>
            </a:avLst>
          </a:prstGeom>
          <a:solidFill>
            <a:srgbClr val="FFFFFF"/>
          </a:solidFill>
          <a:ln w="11430">
            <a:solidFill>
              <a:srgbClr val="D4DAE2"/>
            </a:solidFill>
            <a:prstDash val="solid"/>
          </a:ln>
        </p:spPr>
      </p:sp>
      <p:sp>
        <p:nvSpPr>
          <p:cNvPr id="75" name="Shape 73"/>
          <p:cNvSpPr/>
          <p:nvPr/>
        </p:nvSpPr>
        <p:spPr>
          <a:xfrm>
            <a:off x="8055864" y="5486400"/>
            <a:ext cx="45720" cy="457200"/>
          </a:xfrm>
          <a:prstGeom prst="rect">
            <a:avLst/>
          </a:prstGeom>
          <a:solidFill>
            <a:srgbClr val="5B4A72"/>
          </a:solidFill>
          <a:ln w="12700">
            <a:solidFill>
              <a:srgbClr val="333333"/>
            </a:solidFill>
            <a:prstDash val="solid"/>
          </a:ln>
        </p:spPr>
      </p:sp>
      <p:sp>
        <p:nvSpPr>
          <p:cNvPr id="76" name="Text 74"/>
          <p:cNvSpPr txBox="1"/>
          <p:nvPr/>
        </p:nvSpPr>
        <p:spPr>
          <a:xfrm>
            <a:off x="8183880" y="5522976"/>
            <a:ext cx="3456432" cy="201168"/>
          </a:xfrm>
          <a:prstGeom prst="rect">
            <a:avLst/>
          </a:prstGeom>
          <a:noFill/>
          <a:ln/>
        </p:spPr>
        <p:txBody>
          <a:bodyPr wrap="square" lIns="0" tIns="0" rIns="0" bIns="0" rtlCol="0" anchor="ctr"/>
          <a:lstStyle/>
          <a:p>
            <a:pPr indent="0" marL="0">
              <a:buNone/>
            </a:pPr>
            <a:r>
              <a:rPr lang="en-US" sz="800" b="1" dirty="0">
                <a:solidFill>
                  <a:srgbClr val="1B2432"/>
                </a:solidFill>
                <a:latin typeface="Calibri" pitchFamily="34" charset="0"/>
                <a:ea typeface="Calibri" pitchFamily="34" charset="-122"/>
                <a:cs typeface="Calibri" pitchFamily="34" charset="-120"/>
              </a:rPr>
              <a:t>P5  Largely generation plus a small human core</a:t>
            </a:r>
            <a:endParaRPr lang="en-US" sz="800" dirty="0"/>
          </a:p>
        </p:txBody>
      </p:sp>
      <p:sp>
        <p:nvSpPr>
          <p:cNvPr id="77" name="Text 75"/>
          <p:cNvSpPr txBox="1"/>
          <p:nvPr/>
        </p:nvSpPr>
        <p:spPr>
          <a:xfrm>
            <a:off x="8183880" y="5715000"/>
            <a:ext cx="3456432" cy="201168"/>
          </a:xfrm>
          <a:prstGeom prst="rect">
            <a:avLst/>
          </a:prstGeom>
          <a:noFill/>
          <a:ln/>
        </p:spPr>
        <p:txBody>
          <a:bodyPr wrap="square" lIns="0" tIns="0" rIns="0" bIns="0" rtlCol="0" anchor="ctr"/>
          <a:lstStyle/>
          <a:p>
            <a:pPr indent="0" marL="0">
              <a:buNone/>
            </a:pPr>
            <a:r>
              <a:rPr lang="en-US" sz="720" dirty="0">
                <a:solidFill>
                  <a:srgbClr val="55606E"/>
                </a:solidFill>
                <a:latin typeface="Calibri" pitchFamily="34" charset="0"/>
                <a:ea typeface="Calibri" pitchFamily="34" charset="-122"/>
                <a:cs typeface="Calibri" pitchFamily="34" charset="-120"/>
              </a:rPr>
              <a:t>Transition page and runbooks generate; release night does not</a:t>
            </a:r>
            <a:endParaRPr lang="en-US" sz="720" dirty="0"/>
          </a:p>
        </p:txBody>
      </p:sp>
      <p:sp>
        <p:nvSpPr>
          <p:cNvPr id="78" name="Shape 76"/>
          <p:cNvSpPr/>
          <p:nvPr/>
        </p:nvSpPr>
        <p:spPr>
          <a:xfrm>
            <a:off x="411480" y="6053328"/>
            <a:ext cx="11338560" cy="438912"/>
          </a:xfrm>
          <a:prstGeom prst="roundRect">
            <a:avLst>
              <a:gd name="adj" fmla="val 10417"/>
            </a:avLst>
          </a:prstGeom>
          <a:solidFill>
            <a:srgbClr val="F4F7FA"/>
          </a:solidFill>
          <a:ln w="9525">
            <a:solidFill>
              <a:srgbClr val="D4DAE2"/>
            </a:solidFill>
            <a:prstDash val="solid"/>
          </a:ln>
        </p:spPr>
      </p:sp>
      <p:sp>
        <p:nvSpPr>
          <p:cNvPr id="79" name="Text 77"/>
          <p:cNvSpPr txBox="1"/>
          <p:nvPr/>
        </p:nvSpPr>
        <p:spPr>
          <a:xfrm>
            <a:off x="557784" y="6053328"/>
            <a:ext cx="11045952" cy="438912"/>
          </a:xfrm>
          <a:prstGeom prst="rect">
            <a:avLst/>
          </a:prstGeom>
          <a:noFill/>
          <a:ln/>
        </p:spPr>
        <p:txBody>
          <a:bodyPr wrap="square" lIns="0" tIns="0" rIns="0" bIns="0" rtlCol="0" anchor="ctr"/>
          <a:lstStyle/>
          <a:p>
            <a:pPr indent="0" marL="0">
              <a:lnSpc>
                <a:spcPts val="1040"/>
              </a:lnSpc>
              <a:buNone/>
            </a:pPr>
            <a:r>
              <a:rPr lang="en-US" sz="860" dirty="0">
                <a:solidFill>
                  <a:srgbClr val="1B2432"/>
                </a:solidFill>
                <a:latin typeface="Calibri" pitchFamily="34" charset="0"/>
                <a:ea typeface="Calibri" pitchFamily="34" charset="-122"/>
                <a:cs typeface="Calibri" pitchFamily="34" charset="-120"/>
              </a:rPr>
              <a:t>P2 deserves particular attention in the build plan. Almost everything in it is rule-application and request routing — the work that consumes the most engineer attention for the least design value, and where misrouting fails silently rather than loudly. It is the highest-yield automation target in the entire lifecycle.</a:t>
            </a:r>
            <a:endParaRPr lang="en-US" sz="86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274320"/>
            <a:ext cx="274320" cy="274320"/>
          </a:xfrm>
          <a:prstGeom prst="rect">
            <a:avLst/>
          </a:prstGeom>
          <a:solidFill>
            <a:srgbClr val="15304F"/>
          </a:solidFill>
          <a:ln w="12700">
            <a:solidFill>
              <a:srgbClr val="333333"/>
            </a:solidFill>
            <a:prstDash val="solid"/>
          </a:ln>
        </p:spPr>
      </p:sp>
      <p:sp>
        <p:nvSpPr>
          <p:cNvPr id="3" name="Text 1"/>
          <p:cNvSpPr txBox="1"/>
          <p:nvPr/>
        </p:nvSpPr>
        <p:spPr>
          <a:xfrm>
            <a:off x="411480" y="2743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13</a:t>
            </a:r>
            <a:endParaRPr lang="en-US" sz="1200" dirty="0"/>
          </a:p>
        </p:txBody>
      </p:sp>
      <p:sp>
        <p:nvSpPr>
          <p:cNvPr id="4" name="Text 2"/>
          <p:cNvSpPr txBox="1"/>
          <p:nvPr/>
        </p:nvSpPr>
        <p:spPr>
          <a:xfrm>
            <a:off x="795528" y="219456"/>
            <a:ext cx="8778240" cy="384048"/>
          </a:xfrm>
          <a:prstGeom prst="rect">
            <a:avLst/>
          </a:prstGeom>
          <a:noFill/>
          <a:ln/>
        </p:spPr>
        <p:txBody>
          <a:bodyPr wrap="square" lIns="0" tIns="0" rIns="0" bIns="0" rtlCol="0" anchor="ctr"/>
          <a:lstStyle/>
          <a:p>
            <a:pPr indent="0" marL="0">
              <a:buNone/>
            </a:pPr>
            <a:r>
              <a:rPr lang="en-US" sz="2400" b="1" dirty="0">
                <a:solidFill>
                  <a:srgbClr val="1B2432"/>
                </a:solidFill>
                <a:latin typeface="Cambria" pitchFamily="34" charset="0"/>
                <a:ea typeface="Cambria" pitchFamily="34" charset="-122"/>
                <a:cs typeface="Cambria" pitchFamily="34" charset="-120"/>
              </a:rPr>
              <a:t>Guardrails</a:t>
            </a:r>
            <a:endParaRPr lang="en-US" sz="2400" dirty="0"/>
          </a:p>
        </p:txBody>
      </p:sp>
      <p:sp>
        <p:nvSpPr>
          <p:cNvPr id="5" name="Text 3"/>
          <p:cNvSpPr txBox="1"/>
          <p:nvPr/>
        </p:nvSpPr>
        <p:spPr>
          <a:xfrm>
            <a:off x="795528" y="621792"/>
            <a:ext cx="9326880" cy="237744"/>
          </a:xfrm>
          <a:prstGeom prst="rect">
            <a:avLst/>
          </a:prstGeom>
          <a:noFill/>
          <a:ln/>
        </p:spPr>
        <p:txBody>
          <a:bodyPr wrap="square" lIns="0" tIns="0" rIns="0" bIns="0" rtlCol="0" anchor="ctr"/>
          <a:lstStyle/>
          <a:p>
            <a:pPr indent="0" marL="0">
              <a:buNone/>
            </a:pPr>
            <a:r>
              <a:rPr lang="en-US" sz="1050" dirty="0">
                <a:solidFill>
                  <a:srgbClr val="55606E"/>
                </a:solidFill>
                <a:latin typeface="Calibri" pitchFamily="34" charset="0"/>
                <a:ea typeface="Calibri" pitchFamily="34" charset="-122"/>
                <a:cs typeface="Calibri" pitchFamily="34" charset="-120"/>
              </a:rPr>
              <a:t>What makes the lighter tiers defensible — and what keeps the model itself healthy</a:t>
            </a:r>
            <a:endParaRPr lang="en-US" sz="1050" dirty="0"/>
          </a:p>
        </p:txBody>
      </p:sp>
      <p:sp>
        <p:nvSpPr>
          <p:cNvPr id="6" name="Text 4"/>
          <p:cNvSpPr txBox="1"/>
          <p:nvPr/>
        </p:nvSpPr>
        <p:spPr>
          <a:xfrm>
            <a:off x="9052560" y="274320"/>
            <a:ext cx="2697480" cy="256032"/>
          </a:xfrm>
          <a:prstGeom prst="rect">
            <a:avLst/>
          </a:prstGeom>
          <a:noFill/>
          <a:ln/>
        </p:spPr>
        <p:txBody>
          <a:bodyPr wrap="square" lIns="0" tIns="0" rIns="0" bIns="0" rtlCol="0" anchor="ctr"/>
          <a:lstStyle/>
          <a:p>
            <a:pPr algn="r" indent="0" marL="0">
              <a:buNone/>
            </a:pPr>
            <a:r>
              <a:rPr lang="en-US" sz="950" b="1" spc="60" kern="0" dirty="0">
                <a:solidFill>
                  <a:srgbClr val="7C8798"/>
                </a:solidFill>
                <a:latin typeface="Calibri" pitchFamily="34" charset="0"/>
                <a:ea typeface="Calibri" pitchFamily="34" charset="-122"/>
                <a:cs typeface="Calibri" pitchFamily="34" charset="-120"/>
              </a:rPr>
              <a:t>Guardrails</a:t>
            </a:r>
            <a:endParaRPr lang="en-US" sz="950" dirty="0"/>
          </a:p>
        </p:txBody>
      </p:sp>
      <p:sp>
        <p:nvSpPr>
          <p:cNvPr id="7" name="Shape 5"/>
          <p:cNvSpPr/>
          <p:nvPr/>
        </p:nvSpPr>
        <p:spPr>
          <a:xfrm>
            <a:off x="411480" y="932688"/>
            <a:ext cx="11338560" cy="0"/>
          </a:xfrm>
          <a:prstGeom prst="line">
            <a:avLst/>
          </a:prstGeom>
          <a:noFill/>
          <a:ln w="12700">
            <a:solidFill>
              <a:srgbClr val="D4DAE2"/>
            </a:solidFill>
            <a:prstDash val="solid"/>
          </a:ln>
        </p:spPr>
      </p:sp>
      <p:sp>
        <p:nvSpPr>
          <p:cNvPr id="8" name="Text 6"/>
          <p:cNvSpPr txBox="1"/>
          <p:nvPr/>
        </p:nvSpPr>
        <p:spPr>
          <a:xfrm>
            <a:off x="411480" y="1042416"/>
            <a:ext cx="7315200" cy="182880"/>
          </a:xfrm>
          <a:prstGeom prst="rect">
            <a:avLst/>
          </a:prstGeom>
          <a:noFill/>
          <a:ln/>
        </p:spPr>
        <p:txBody>
          <a:bodyPr wrap="square" lIns="0" tIns="0" rIns="0" bIns="0" rtlCol="0" anchor="ctr"/>
          <a:lstStyle/>
          <a:p>
            <a:pPr indent="0" marL="0">
              <a:buNone/>
            </a:pPr>
            <a:r>
              <a:rPr lang="en-US" sz="760" b="1" spc="110" kern="0" dirty="0">
                <a:solidFill>
                  <a:srgbClr val="A44A2A"/>
                </a:solidFill>
                <a:latin typeface="Calibri" pitchFamily="34" charset="0"/>
                <a:ea typeface="Calibri" pitchFamily="34" charset="-122"/>
                <a:cs typeface="Calibri" pitchFamily="34" charset="-120"/>
              </a:rPr>
              <a:t>UNIVERSAL — ALL TIERS, NO EXCEPTIONS</a:t>
            </a:r>
            <a:endParaRPr lang="en-US" sz="760" dirty="0"/>
          </a:p>
        </p:txBody>
      </p:sp>
      <p:sp>
        <p:nvSpPr>
          <p:cNvPr id="9" name="Shape 7"/>
          <p:cNvSpPr/>
          <p:nvPr/>
        </p:nvSpPr>
        <p:spPr>
          <a:xfrm>
            <a:off x="411480" y="1243584"/>
            <a:ext cx="11338560" cy="256032"/>
          </a:xfrm>
          <a:prstGeom prst="rect">
            <a:avLst/>
          </a:prstGeom>
          <a:solidFill>
            <a:srgbClr val="15304F"/>
          </a:solidFill>
          <a:ln w="6350">
            <a:solidFill>
              <a:srgbClr val="15304F"/>
            </a:solidFill>
            <a:prstDash val="solid"/>
          </a:ln>
        </p:spPr>
      </p:sp>
      <p:sp>
        <p:nvSpPr>
          <p:cNvPr id="10" name="Text 8"/>
          <p:cNvSpPr txBox="1"/>
          <p:nvPr/>
        </p:nvSpPr>
        <p:spPr>
          <a:xfrm>
            <a:off x="484632" y="1243584"/>
            <a:ext cx="2231136" cy="256032"/>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Guardrail</a:t>
            </a:r>
            <a:endParaRPr lang="en-US" sz="800" dirty="0"/>
          </a:p>
        </p:txBody>
      </p:sp>
      <p:sp>
        <p:nvSpPr>
          <p:cNvPr id="11" name="Text 9"/>
          <p:cNvSpPr txBox="1"/>
          <p:nvPr/>
        </p:nvSpPr>
        <p:spPr>
          <a:xfrm>
            <a:off x="2862072" y="1243584"/>
            <a:ext cx="4334256" cy="256032"/>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What it enforces</a:t>
            </a:r>
            <a:endParaRPr lang="en-US" sz="800" dirty="0"/>
          </a:p>
        </p:txBody>
      </p:sp>
      <p:sp>
        <p:nvSpPr>
          <p:cNvPr id="12" name="Text 10"/>
          <p:cNvSpPr txBox="1"/>
          <p:nvPr/>
        </p:nvSpPr>
        <p:spPr>
          <a:xfrm>
            <a:off x="7342632" y="1243584"/>
            <a:ext cx="4334256" cy="256032"/>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How</a:t>
            </a:r>
            <a:endParaRPr lang="en-US" sz="800" dirty="0"/>
          </a:p>
        </p:txBody>
      </p:sp>
      <p:sp>
        <p:nvSpPr>
          <p:cNvPr id="13" name="Shape 11"/>
          <p:cNvSpPr/>
          <p:nvPr/>
        </p:nvSpPr>
        <p:spPr>
          <a:xfrm>
            <a:off x="411480" y="1499616"/>
            <a:ext cx="11338560" cy="315468"/>
          </a:xfrm>
          <a:prstGeom prst="rect">
            <a:avLst/>
          </a:prstGeom>
          <a:solidFill>
            <a:srgbClr val="FFFFFF"/>
          </a:solidFill>
          <a:ln w="6350">
            <a:solidFill>
              <a:srgbClr val="D4DAE2"/>
            </a:solidFill>
            <a:prstDash val="solid"/>
          </a:ln>
        </p:spPr>
      </p:sp>
      <p:sp>
        <p:nvSpPr>
          <p:cNvPr id="14" name="Text 12"/>
          <p:cNvSpPr txBox="1"/>
          <p:nvPr/>
        </p:nvSpPr>
        <p:spPr>
          <a:xfrm>
            <a:off x="484632" y="1499616"/>
            <a:ext cx="2231136" cy="315468"/>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Classification determination</a:t>
            </a:r>
            <a:endParaRPr lang="en-US" sz="760" dirty="0"/>
          </a:p>
        </p:txBody>
      </p:sp>
      <p:sp>
        <p:nvSpPr>
          <p:cNvPr id="15" name="Text 13"/>
          <p:cNvSpPr txBox="1"/>
          <p:nvPr/>
        </p:nvSpPr>
        <p:spPr>
          <a:xfrm>
            <a:off x="2862072" y="1499616"/>
            <a:ext cx="433425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No content configured against an asserted posture or classification</a:t>
            </a:r>
            <a:endParaRPr lang="en-US" sz="760" dirty="0"/>
          </a:p>
        </p:txBody>
      </p:sp>
      <p:sp>
        <p:nvSpPr>
          <p:cNvPr id="16" name="Text 14"/>
          <p:cNvSpPr txBox="1"/>
          <p:nvPr/>
        </p:nvSpPr>
        <p:spPr>
          <a:xfrm>
            <a:off x="7342632" y="1499616"/>
            <a:ext cx="433425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Gate engine blocks P1 exit; provisioning refuses without a registered determination</a:t>
            </a:r>
            <a:endParaRPr lang="en-US" sz="760" dirty="0"/>
          </a:p>
        </p:txBody>
      </p:sp>
      <p:sp>
        <p:nvSpPr>
          <p:cNvPr id="17" name="Shape 15"/>
          <p:cNvSpPr/>
          <p:nvPr/>
        </p:nvSpPr>
        <p:spPr>
          <a:xfrm>
            <a:off x="411480" y="1815084"/>
            <a:ext cx="11338560" cy="315468"/>
          </a:xfrm>
          <a:prstGeom prst="rect">
            <a:avLst/>
          </a:prstGeom>
          <a:solidFill>
            <a:srgbClr val="F4F7FA"/>
          </a:solidFill>
          <a:ln w="6350">
            <a:solidFill>
              <a:srgbClr val="D4DAE2"/>
            </a:solidFill>
            <a:prstDash val="solid"/>
          </a:ln>
        </p:spPr>
      </p:sp>
      <p:sp>
        <p:nvSpPr>
          <p:cNvPr id="18" name="Text 16"/>
          <p:cNvSpPr txBox="1"/>
          <p:nvPr/>
        </p:nvSpPr>
        <p:spPr>
          <a:xfrm>
            <a:off x="484632" y="1815084"/>
            <a:ext cx="2231136" cy="315468"/>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Retention approval</a:t>
            </a:r>
            <a:endParaRPr lang="en-US" sz="760" dirty="0"/>
          </a:p>
        </p:txBody>
      </p:sp>
      <p:sp>
        <p:nvSpPr>
          <p:cNvPr id="19" name="Text 17"/>
          <p:cNvSpPr txBox="1"/>
          <p:nvPr/>
        </p:nvSpPr>
        <p:spPr>
          <a:xfrm>
            <a:off x="2862072" y="1815084"/>
            <a:ext cx="433425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No retention configured without RM approval against a stated obligation</a:t>
            </a:r>
            <a:endParaRPr lang="en-US" sz="760" dirty="0"/>
          </a:p>
        </p:txBody>
      </p:sp>
      <p:sp>
        <p:nvSpPr>
          <p:cNvPr id="20" name="Text 18"/>
          <p:cNvSpPr txBox="1"/>
          <p:nvPr/>
        </p:nvSpPr>
        <p:spPr>
          <a:xfrm>
            <a:off x="7342632" y="1815084"/>
            <a:ext cx="433425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Gate engine blocks P2 exit; never a self-service action in any tier</a:t>
            </a:r>
            <a:endParaRPr lang="en-US" sz="760" dirty="0"/>
          </a:p>
        </p:txBody>
      </p:sp>
      <p:sp>
        <p:nvSpPr>
          <p:cNvPr id="21" name="Shape 19"/>
          <p:cNvSpPr/>
          <p:nvPr/>
        </p:nvSpPr>
        <p:spPr>
          <a:xfrm>
            <a:off x="411480" y="2130552"/>
            <a:ext cx="11338560" cy="315468"/>
          </a:xfrm>
          <a:prstGeom prst="rect">
            <a:avLst/>
          </a:prstGeom>
          <a:solidFill>
            <a:srgbClr val="FFFFFF"/>
          </a:solidFill>
          <a:ln w="6350">
            <a:solidFill>
              <a:srgbClr val="D4DAE2"/>
            </a:solidFill>
            <a:prstDash val="solid"/>
          </a:ln>
        </p:spPr>
      </p:sp>
      <p:sp>
        <p:nvSpPr>
          <p:cNvPr id="22" name="Text 20"/>
          <p:cNvSpPr txBox="1"/>
          <p:nvPr/>
        </p:nvSpPr>
        <p:spPr>
          <a:xfrm>
            <a:off x="484632" y="2130552"/>
            <a:ext cx="2231136" cy="315468"/>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Security and access</a:t>
            </a:r>
            <a:endParaRPr lang="en-US" sz="760" dirty="0"/>
          </a:p>
        </p:txBody>
      </p:sp>
      <p:sp>
        <p:nvSpPr>
          <p:cNvPr id="23" name="Text 21"/>
          <p:cNvSpPr txBox="1"/>
          <p:nvPr/>
        </p:nvSpPr>
        <p:spPr>
          <a:xfrm>
            <a:off x="2862072" y="2130552"/>
            <a:ext cx="433425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Routing follows published rules; production access needs approval</a:t>
            </a:r>
            <a:endParaRPr lang="en-US" sz="760" dirty="0"/>
          </a:p>
        </p:txBody>
      </p:sp>
      <p:sp>
        <p:nvSpPr>
          <p:cNvPr id="24" name="Text 22"/>
          <p:cNvSpPr txBox="1"/>
          <p:nvPr/>
        </p:nvSpPr>
        <p:spPr>
          <a:xfrm>
            <a:off x="7342632" y="2130552"/>
            <a:ext cx="433425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Platform resolves routing and refuses rather than guessing</a:t>
            </a:r>
            <a:endParaRPr lang="en-US" sz="760" dirty="0"/>
          </a:p>
        </p:txBody>
      </p:sp>
      <p:sp>
        <p:nvSpPr>
          <p:cNvPr id="25" name="Shape 23"/>
          <p:cNvSpPr/>
          <p:nvPr/>
        </p:nvSpPr>
        <p:spPr>
          <a:xfrm>
            <a:off x="411480" y="2446020"/>
            <a:ext cx="11338560" cy="315468"/>
          </a:xfrm>
          <a:prstGeom prst="rect">
            <a:avLst/>
          </a:prstGeom>
          <a:solidFill>
            <a:srgbClr val="F4F7FA"/>
          </a:solidFill>
          <a:ln w="6350">
            <a:solidFill>
              <a:srgbClr val="D4DAE2"/>
            </a:solidFill>
            <a:prstDash val="solid"/>
          </a:ln>
        </p:spPr>
      </p:sp>
      <p:sp>
        <p:nvSpPr>
          <p:cNvPr id="26" name="Text 24"/>
          <p:cNvSpPr txBox="1"/>
          <p:nvPr/>
        </p:nvSpPr>
        <p:spPr>
          <a:xfrm>
            <a:off x="484632" y="2446020"/>
            <a:ext cx="2231136" cy="315468"/>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Promotion ladder</a:t>
            </a:r>
            <a:endParaRPr lang="en-US" sz="760" dirty="0"/>
          </a:p>
        </p:txBody>
      </p:sp>
      <p:sp>
        <p:nvSpPr>
          <p:cNvPr id="27" name="Text 25"/>
          <p:cNvSpPr txBox="1"/>
          <p:nvPr/>
        </p:nvSpPr>
        <p:spPr>
          <a:xfrm>
            <a:off x="2862072" y="2446020"/>
            <a:ext cx="433425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No environment skipped, no gate bypassed</a:t>
            </a:r>
            <a:endParaRPr lang="en-US" sz="760" dirty="0"/>
          </a:p>
        </p:txBody>
      </p:sp>
      <p:sp>
        <p:nvSpPr>
          <p:cNvPr id="28" name="Text 26"/>
          <p:cNvSpPr txBox="1"/>
          <p:nvPr/>
        </p:nvSpPr>
        <p:spPr>
          <a:xfrm>
            <a:off x="7342632" y="2446020"/>
            <a:ext cx="433425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Promotion is a platform action, never a human one</a:t>
            </a:r>
            <a:endParaRPr lang="en-US" sz="760" dirty="0"/>
          </a:p>
        </p:txBody>
      </p:sp>
      <p:sp>
        <p:nvSpPr>
          <p:cNvPr id="29" name="Shape 27"/>
          <p:cNvSpPr/>
          <p:nvPr/>
        </p:nvSpPr>
        <p:spPr>
          <a:xfrm>
            <a:off x="411480" y="2761488"/>
            <a:ext cx="11338560" cy="315468"/>
          </a:xfrm>
          <a:prstGeom prst="rect">
            <a:avLst/>
          </a:prstGeom>
          <a:solidFill>
            <a:srgbClr val="FFFFFF"/>
          </a:solidFill>
          <a:ln w="6350">
            <a:solidFill>
              <a:srgbClr val="D4DAE2"/>
            </a:solidFill>
            <a:prstDash val="solid"/>
          </a:ln>
        </p:spPr>
      </p:sp>
      <p:sp>
        <p:nvSpPr>
          <p:cNvPr id="30" name="Text 28"/>
          <p:cNvSpPr txBox="1"/>
          <p:nvPr/>
        </p:nvSpPr>
        <p:spPr>
          <a:xfrm>
            <a:off x="484632" y="2761488"/>
            <a:ext cx="2231136" cy="315468"/>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New document type</a:t>
            </a:r>
            <a:endParaRPr lang="en-US" sz="760" dirty="0"/>
          </a:p>
        </p:txBody>
      </p:sp>
      <p:sp>
        <p:nvSpPr>
          <p:cNvPr id="31" name="Text 29"/>
          <p:cNvSpPr txBox="1"/>
          <p:nvPr/>
        </p:nvSpPr>
        <p:spPr>
          <a:xfrm>
            <a:off x="2862072" y="2761488"/>
            <a:ext cx="433425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A later type does not inherit an existing classification</a:t>
            </a:r>
            <a:endParaRPr lang="en-US" sz="760" dirty="0"/>
          </a:p>
        </p:txBody>
      </p:sp>
      <p:sp>
        <p:nvSpPr>
          <p:cNvPr id="32" name="Text 30"/>
          <p:cNvSpPr txBox="1"/>
          <p:nvPr/>
        </p:nvSpPr>
        <p:spPr>
          <a:xfrm>
            <a:off x="7342632" y="2761488"/>
            <a:ext cx="433425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Detected automatically; forces escalation and a fresh determination</a:t>
            </a:r>
            <a:endParaRPr lang="en-US" sz="760" dirty="0"/>
          </a:p>
        </p:txBody>
      </p:sp>
      <p:sp>
        <p:nvSpPr>
          <p:cNvPr id="33" name="Shape 31"/>
          <p:cNvSpPr/>
          <p:nvPr/>
        </p:nvSpPr>
        <p:spPr>
          <a:xfrm>
            <a:off x="411480" y="3076956"/>
            <a:ext cx="11338560" cy="315468"/>
          </a:xfrm>
          <a:prstGeom prst="rect">
            <a:avLst/>
          </a:prstGeom>
          <a:solidFill>
            <a:srgbClr val="F4F7FA"/>
          </a:solidFill>
          <a:ln w="6350">
            <a:solidFill>
              <a:srgbClr val="D4DAE2"/>
            </a:solidFill>
            <a:prstDash val="solid"/>
          </a:ln>
        </p:spPr>
      </p:sp>
      <p:sp>
        <p:nvSpPr>
          <p:cNvPr id="34" name="Text 32"/>
          <p:cNvSpPr txBox="1"/>
          <p:nvPr/>
        </p:nvSpPr>
        <p:spPr>
          <a:xfrm>
            <a:off x="484632" y="3076956"/>
            <a:ext cx="2231136" cy="315468"/>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Audit trail</a:t>
            </a:r>
            <a:endParaRPr lang="en-US" sz="760" dirty="0"/>
          </a:p>
        </p:txBody>
      </p:sp>
      <p:sp>
        <p:nvSpPr>
          <p:cNvPr id="35" name="Text 33"/>
          <p:cNvSpPr txBox="1"/>
          <p:nvPr/>
        </p:nvSpPr>
        <p:spPr>
          <a:xfrm>
            <a:off x="2862072" y="3076956"/>
            <a:ext cx="433425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Every action, approval and promotion is attributable</a:t>
            </a:r>
            <a:endParaRPr lang="en-US" sz="760" dirty="0"/>
          </a:p>
        </p:txBody>
      </p:sp>
      <p:sp>
        <p:nvSpPr>
          <p:cNvPr id="36" name="Text 34"/>
          <p:cNvSpPr txBox="1"/>
          <p:nvPr/>
        </p:nvSpPr>
        <p:spPr>
          <a:xfrm>
            <a:off x="7342632" y="3076956"/>
            <a:ext cx="433425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Written at the point of action; not reconstructable afterwards</a:t>
            </a:r>
            <a:endParaRPr lang="en-US" sz="760" dirty="0"/>
          </a:p>
        </p:txBody>
      </p:sp>
      <p:sp>
        <p:nvSpPr>
          <p:cNvPr id="37" name="Text 35"/>
          <p:cNvSpPr txBox="1"/>
          <p:nvPr/>
        </p:nvSpPr>
        <p:spPr>
          <a:xfrm>
            <a:off x="411480" y="3529584"/>
            <a:ext cx="5486400" cy="182880"/>
          </a:xfrm>
          <a:prstGeom prst="rect">
            <a:avLst/>
          </a:prstGeom>
          <a:noFill/>
          <a:ln/>
        </p:spPr>
        <p:txBody>
          <a:bodyPr wrap="square" lIns="0" tIns="0" rIns="0" bIns="0" rtlCol="0" anchor="ctr"/>
          <a:lstStyle/>
          <a:p>
            <a:pPr indent="0" marL="0">
              <a:buNone/>
            </a:pPr>
            <a:r>
              <a:rPr lang="en-US" sz="760" b="1" spc="110" kern="0" dirty="0">
                <a:solidFill>
                  <a:srgbClr val="1B2432"/>
                </a:solidFill>
                <a:latin typeface="Calibri" pitchFamily="34" charset="0"/>
                <a:ea typeface="Calibri" pitchFamily="34" charset="-122"/>
                <a:cs typeface="Calibri" pitchFamily="34" charset="-120"/>
              </a:rPr>
              <a:t>TIER-SPECIFIC</a:t>
            </a:r>
            <a:endParaRPr lang="en-US" sz="760" dirty="0"/>
          </a:p>
        </p:txBody>
      </p:sp>
      <p:sp>
        <p:nvSpPr>
          <p:cNvPr id="38" name="Shape 36"/>
          <p:cNvSpPr/>
          <p:nvPr/>
        </p:nvSpPr>
        <p:spPr>
          <a:xfrm>
            <a:off x="411480" y="3730752"/>
            <a:ext cx="3675888" cy="1572768"/>
          </a:xfrm>
          <a:prstGeom prst="roundRect">
            <a:avLst>
              <a:gd name="adj" fmla="val 2907"/>
            </a:avLst>
          </a:prstGeom>
          <a:solidFill>
            <a:srgbClr val="FFFFFF"/>
          </a:solidFill>
          <a:ln w="14605">
            <a:solidFill>
              <a:srgbClr val="0B6E6E"/>
            </a:solidFill>
            <a:prstDash val="solid"/>
          </a:ln>
        </p:spPr>
      </p:sp>
      <p:sp>
        <p:nvSpPr>
          <p:cNvPr id="39" name="Shape 37"/>
          <p:cNvSpPr/>
          <p:nvPr/>
        </p:nvSpPr>
        <p:spPr>
          <a:xfrm>
            <a:off x="411480" y="3730752"/>
            <a:ext cx="3675888" cy="274320"/>
          </a:xfrm>
          <a:prstGeom prst="rect">
            <a:avLst/>
          </a:prstGeom>
          <a:solidFill>
            <a:srgbClr val="0B6E6E"/>
          </a:solidFill>
          <a:ln w="12700">
            <a:solidFill>
              <a:srgbClr val="333333"/>
            </a:solidFill>
            <a:prstDash val="solid"/>
          </a:ln>
        </p:spPr>
      </p:sp>
      <p:sp>
        <p:nvSpPr>
          <p:cNvPr id="40" name="Text 38"/>
          <p:cNvSpPr txBox="1"/>
          <p:nvPr/>
        </p:nvSpPr>
        <p:spPr>
          <a:xfrm>
            <a:off x="539496" y="3730752"/>
            <a:ext cx="3419856" cy="274320"/>
          </a:xfrm>
          <a:prstGeom prst="rect">
            <a:avLst/>
          </a:prstGeom>
          <a:noFill/>
          <a:ln/>
        </p:spPr>
        <p:txBody>
          <a:bodyPr wrap="square" lIns="0" tIns="0" rIns="0" bIns="0" rtlCol="0" anchor="ctr"/>
          <a:lstStyle/>
          <a:p>
            <a:pPr indent="0" marL="0">
              <a:buNone/>
            </a:pPr>
            <a:r>
              <a:rPr lang="en-US" sz="900" b="1" spc="70" kern="0" dirty="0">
                <a:solidFill>
                  <a:srgbClr val="FFFFFF"/>
                </a:solidFill>
                <a:latin typeface="Calibri" pitchFamily="34" charset="0"/>
                <a:ea typeface="Calibri" pitchFamily="34" charset="-122"/>
                <a:cs typeface="Calibri" pitchFamily="34" charset="-120"/>
              </a:rPr>
              <a:t>LEAN</a:t>
            </a:r>
            <a:endParaRPr lang="en-US" sz="900" dirty="0"/>
          </a:p>
        </p:txBody>
      </p:sp>
      <p:sp>
        <p:nvSpPr>
          <p:cNvPr id="41" name="Text 39"/>
          <p:cNvSpPr txBox="1"/>
          <p:nvPr/>
        </p:nvSpPr>
        <p:spPr>
          <a:xfrm>
            <a:off x="539496" y="4078224"/>
            <a:ext cx="3419856" cy="1152144"/>
          </a:xfrm>
          <a:prstGeom prst="rect">
            <a:avLst/>
          </a:prstGeom>
          <a:noFill/>
          <a:ln/>
        </p:spPr>
        <p:txBody>
          <a:bodyPr wrap="square" lIns="0" tIns="0" rIns="0" bIns="0" rtlCol="0" anchor="t"/>
          <a:lstStyle/>
          <a:p>
            <a:pPr indent="0" marL="0">
              <a:lnSpc>
                <a:spcPts val="900"/>
              </a:lnSpc>
              <a:spcAft>
                <a:spcPts val="200"/>
              </a:spcAft>
              <a:buNone/>
            </a:pPr>
            <a:r>
              <a:rPr lang="en-US" sz="740" dirty="0">
                <a:solidFill>
                  <a:srgbClr val="1B2432"/>
                </a:solidFill>
                <a:latin typeface="Calibri" pitchFamily="34" charset="0"/>
                <a:ea typeface="Calibri" pitchFamily="34" charset="-122"/>
                <a:cs typeface="Calibri" pitchFamily="34" charset="-120"/>
              </a:rPr>
              <a:t>— Certification prerequisite — first intake is never Lean</a:t>
            </a:r>
            <a:endParaRPr lang="en-US" sz="740" dirty="0"/>
          </a:p>
          <a:p>
            <a:pPr indent="0" marL="0">
              <a:lnSpc>
                <a:spcPts val="900"/>
              </a:lnSpc>
              <a:spcAft>
                <a:spcPts val="200"/>
              </a:spcAft>
              <a:buNone/>
            </a:pPr>
            <a:r>
              <a:rPr lang="en-US" sz="740" dirty="0">
                <a:solidFill>
                  <a:srgbClr val="1B2432"/>
                </a:solidFill>
                <a:latin typeface="Calibri" pitchFamily="34" charset="0"/>
                <a:ea typeface="Calibri" pitchFamily="34" charset="-122"/>
                <a:cs typeface="Calibri" pitchFamily="34" charset="-120"/>
              </a:rPr>
              <a:t>— M3 pattern required</a:t>
            </a:r>
            <a:endParaRPr lang="en-US" sz="740" dirty="0"/>
          </a:p>
          <a:p>
            <a:pPr indent="0" marL="0">
              <a:lnSpc>
                <a:spcPts val="900"/>
              </a:lnSpc>
              <a:spcAft>
                <a:spcPts val="200"/>
              </a:spcAft>
              <a:buNone/>
            </a:pPr>
            <a:r>
              <a:rPr lang="en-US" sz="740" dirty="0">
                <a:solidFill>
                  <a:srgbClr val="1B2432"/>
                </a:solidFill>
                <a:latin typeface="Calibri" pitchFamily="34" charset="0"/>
                <a:ea typeface="Calibri" pitchFamily="34" charset="-122"/>
                <a:cs typeface="Calibri" pitchFamily="34" charset="-120"/>
              </a:rPr>
              <a:t>— Tolerated variation explicit and narrow</a:t>
            </a:r>
            <a:endParaRPr lang="en-US" sz="740" dirty="0"/>
          </a:p>
          <a:p>
            <a:pPr indent="0" marL="0">
              <a:lnSpc>
                <a:spcPts val="900"/>
              </a:lnSpc>
              <a:spcAft>
                <a:spcPts val="200"/>
              </a:spcAft>
              <a:buNone/>
            </a:pPr>
            <a:r>
              <a:rPr lang="en-US" sz="740" dirty="0">
                <a:solidFill>
                  <a:srgbClr val="1B2432"/>
                </a:solidFill>
                <a:latin typeface="Calibri" pitchFamily="34" charset="0"/>
                <a:ea typeface="Calibri" pitchFamily="34" charset="-122"/>
                <a:cs typeface="Calibri" pitchFamily="34" charset="-120"/>
              </a:rPr>
              <a:t>— Three-strike escalation on repeated gate failure</a:t>
            </a:r>
            <a:endParaRPr lang="en-US" sz="740" dirty="0"/>
          </a:p>
          <a:p>
            <a:pPr indent="0" marL="0">
              <a:lnSpc>
                <a:spcPts val="900"/>
              </a:lnSpc>
              <a:spcAft>
                <a:spcPts val="200"/>
              </a:spcAft>
              <a:buNone/>
            </a:pPr>
            <a:r>
              <a:rPr lang="en-US" sz="740" dirty="0">
                <a:solidFill>
                  <a:srgbClr val="1B2432"/>
                </a:solidFill>
                <a:latin typeface="Calibri" pitchFamily="34" charset="0"/>
                <a:ea typeface="Calibri" pitchFamily="34" charset="-122"/>
                <a:cs typeface="Calibri" pitchFamily="34" charset="-120"/>
              </a:rPr>
              <a:t>— No silent exceptions — refuse rather than guess</a:t>
            </a:r>
            <a:endParaRPr lang="en-US" sz="740" dirty="0"/>
          </a:p>
          <a:p>
            <a:pPr indent="0" marL="0">
              <a:lnSpc>
                <a:spcPts val="900"/>
              </a:lnSpc>
              <a:spcAft>
                <a:spcPts val="200"/>
              </a:spcAft>
              <a:buNone/>
            </a:pPr>
            <a:r>
              <a:rPr lang="en-US" sz="740" dirty="0">
                <a:solidFill>
                  <a:srgbClr val="1B2432"/>
                </a:solidFill>
                <a:latin typeface="Calibri" pitchFamily="34" charset="0"/>
                <a:ea typeface="Calibri" pitchFamily="34" charset="-122"/>
                <a:cs typeface="Calibri" pitchFamily="34" charset="-120"/>
              </a:rPr>
              <a:t>— Compliance spot-audit after go-live</a:t>
            </a:r>
            <a:endParaRPr lang="en-US" sz="740" dirty="0"/>
          </a:p>
          <a:p>
            <a:pPr indent="0" marL="0">
              <a:lnSpc>
                <a:spcPts val="900"/>
              </a:lnSpc>
              <a:spcAft>
                <a:spcPts val="200"/>
              </a:spcAft>
              <a:buNone/>
            </a:pPr>
            <a:r>
              <a:rPr lang="en-US" sz="740" dirty="0">
                <a:solidFill>
                  <a:srgbClr val="1B2432"/>
                </a:solidFill>
                <a:latin typeface="Calibri" pitchFamily="34" charset="0"/>
                <a:ea typeface="Calibri" pitchFamily="34" charset="-122"/>
                <a:cs typeface="Calibri" pitchFamily="34" charset="-120"/>
              </a:rPr>
              <a:t>— Clinic access guaranteed, not optional</a:t>
            </a:r>
            <a:endParaRPr lang="en-US" sz="740" dirty="0"/>
          </a:p>
        </p:txBody>
      </p:sp>
      <p:sp>
        <p:nvSpPr>
          <p:cNvPr id="42" name="Shape 40"/>
          <p:cNvSpPr/>
          <p:nvPr/>
        </p:nvSpPr>
        <p:spPr>
          <a:xfrm>
            <a:off x="4233672" y="3730752"/>
            <a:ext cx="3675888" cy="1572768"/>
          </a:xfrm>
          <a:prstGeom prst="roundRect">
            <a:avLst>
              <a:gd name="adj" fmla="val 2907"/>
            </a:avLst>
          </a:prstGeom>
          <a:solidFill>
            <a:srgbClr val="FFFFFF"/>
          </a:solidFill>
          <a:ln w="14605">
            <a:solidFill>
              <a:srgbClr val="9A6410"/>
            </a:solidFill>
            <a:prstDash val="solid"/>
          </a:ln>
        </p:spPr>
      </p:sp>
      <p:sp>
        <p:nvSpPr>
          <p:cNvPr id="43" name="Shape 41"/>
          <p:cNvSpPr/>
          <p:nvPr/>
        </p:nvSpPr>
        <p:spPr>
          <a:xfrm>
            <a:off x="4233672" y="3730752"/>
            <a:ext cx="3675888" cy="274320"/>
          </a:xfrm>
          <a:prstGeom prst="rect">
            <a:avLst/>
          </a:prstGeom>
          <a:solidFill>
            <a:srgbClr val="9A6410"/>
          </a:solidFill>
          <a:ln w="12700">
            <a:solidFill>
              <a:srgbClr val="333333"/>
            </a:solidFill>
            <a:prstDash val="solid"/>
          </a:ln>
        </p:spPr>
      </p:sp>
      <p:sp>
        <p:nvSpPr>
          <p:cNvPr id="44" name="Text 42"/>
          <p:cNvSpPr txBox="1"/>
          <p:nvPr/>
        </p:nvSpPr>
        <p:spPr>
          <a:xfrm>
            <a:off x="4361688" y="3730752"/>
            <a:ext cx="3419856" cy="274320"/>
          </a:xfrm>
          <a:prstGeom prst="rect">
            <a:avLst/>
          </a:prstGeom>
          <a:noFill/>
          <a:ln/>
        </p:spPr>
        <p:txBody>
          <a:bodyPr wrap="square" lIns="0" tIns="0" rIns="0" bIns="0" rtlCol="0" anchor="ctr"/>
          <a:lstStyle/>
          <a:p>
            <a:pPr indent="0" marL="0">
              <a:buNone/>
            </a:pPr>
            <a:r>
              <a:rPr lang="en-US" sz="900" b="1" spc="70" kern="0" dirty="0">
                <a:solidFill>
                  <a:srgbClr val="FFFFFF"/>
                </a:solidFill>
                <a:latin typeface="Calibri" pitchFamily="34" charset="0"/>
                <a:ea typeface="Calibri" pitchFamily="34" charset="-122"/>
                <a:cs typeface="Calibri" pitchFamily="34" charset="-120"/>
              </a:rPr>
              <a:t>LEAN+</a:t>
            </a:r>
            <a:endParaRPr lang="en-US" sz="900" dirty="0"/>
          </a:p>
        </p:txBody>
      </p:sp>
      <p:sp>
        <p:nvSpPr>
          <p:cNvPr id="45" name="Text 43"/>
          <p:cNvSpPr txBox="1"/>
          <p:nvPr/>
        </p:nvSpPr>
        <p:spPr>
          <a:xfrm>
            <a:off x="4361688" y="4078224"/>
            <a:ext cx="3419856" cy="1152144"/>
          </a:xfrm>
          <a:prstGeom prst="rect">
            <a:avLst/>
          </a:prstGeom>
          <a:noFill/>
          <a:ln/>
        </p:spPr>
        <p:txBody>
          <a:bodyPr wrap="square" lIns="0" tIns="0" rIns="0" bIns="0" rtlCol="0" anchor="t"/>
          <a:lstStyle/>
          <a:p>
            <a:pPr indent="0" marL="0">
              <a:lnSpc>
                <a:spcPts val="900"/>
              </a:lnSpc>
              <a:spcAft>
                <a:spcPts val="200"/>
              </a:spcAft>
              <a:buNone/>
            </a:pPr>
            <a:r>
              <a:rPr lang="en-US" sz="740" dirty="0">
                <a:solidFill>
                  <a:srgbClr val="1B2432"/>
                </a:solidFill>
                <a:latin typeface="Calibri" pitchFamily="34" charset="0"/>
                <a:ea typeface="Calibri" pitchFamily="34" charset="-122"/>
                <a:cs typeface="Calibri" pitchFamily="34" charset="-120"/>
              </a:rPr>
              <a:t>— Both checkpoints mandatory — never waived or combined</a:t>
            </a:r>
            <a:endParaRPr lang="en-US" sz="740" dirty="0"/>
          </a:p>
          <a:p>
            <a:pPr indent="0" marL="0">
              <a:lnSpc>
                <a:spcPts val="900"/>
              </a:lnSpc>
              <a:spcAft>
                <a:spcPts val="200"/>
              </a:spcAft>
              <a:buNone/>
            </a:pPr>
            <a:r>
              <a:rPr lang="en-US" sz="740" dirty="0">
                <a:solidFill>
                  <a:srgbClr val="1B2432"/>
                </a:solidFill>
                <a:latin typeface="Calibri" pitchFamily="34" charset="0"/>
                <a:ea typeface="Calibri" pitchFamily="34" charset="-122"/>
                <a:cs typeface="Calibri" pitchFamily="34" charset="-120"/>
              </a:rPr>
              <a:t>— Checkpoints require a completed artefact; no artefact, no review</a:t>
            </a:r>
            <a:endParaRPr lang="en-US" sz="740" dirty="0"/>
          </a:p>
          <a:p>
            <a:pPr indent="0" marL="0">
              <a:lnSpc>
                <a:spcPts val="900"/>
              </a:lnSpc>
              <a:spcAft>
                <a:spcPts val="200"/>
              </a:spcAft>
              <a:buNone/>
            </a:pPr>
            <a:r>
              <a:rPr lang="en-US" sz="740" dirty="0">
                <a:solidFill>
                  <a:srgbClr val="1B2432"/>
                </a:solidFill>
                <a:latin typeface="Calibri" pitchFamily="34" charset="0"/>
                <a:ea typeface="Calibri" pitchFamily="34" charset="-122"/>
                <a:cs typeface="Calibri" pitchFamily="34" charset="-120"/>
              </a:rPr>
              <a:t>— The guide is a contact, not a resource — time tracked and capped</a:t>
            </a:r>
            <a:endParaRPr lang="en-US" sz="740" dirty="0"/>
          </a:p>
          <a:p>
            <a:pPr indent="0" marL="0">
              <a:lnSpc>
                <a:spcPts val="900"/>
              </a:lnSpc>
              <a:spcAft>
                <a:spcPts val="200"/>
              </a:spcAft>
              <a:buNone/>
            </a:pPr>
            <a:r>
              <a:rPr lang="en-US" sz="740" dirty="0">
                <a:solidFill>
                  <a:srgbClr val="1B2432"/>
                </a:solidFill>
                <a:latin typeface="Calibri" pitchFamily="34" charset="0"/>
                <a:ea typeface="Calibri" pitchFamily="34" charset="-122"/>
                <a:cs typeface="Calibri" pitchFamily="34" charset="-120"/>
              </a:rPr>
              <a:t>— Escalation is automatic, never negotiated</a:t>
            </a:r>
            <a:endParaRPr lang="en-US" sz="740" dirty="0"/>
          </a:p>
        </p:txBody>
      </p:sp>
      <p:sp>
        <p:nvSpPr>
          <p:cNvPr id="46" name="Shape 44"/>
          <p:cNvSpPr/>
          <p:nvPr/>
        </p:nvSpPr>
        <p:spPr>
          <a:xfrm>
            <a:off x="8055864" y="3730752"/>
            <a:ext cx="3675888" cy="1572768"/>
          </a:xfrm>
          <a:prstGeom prst="roundRect">
            <a:avLst>
              <a:gd name="adj" fmla="val 2907"/>
            </a:avLst>
          </a:prstGeom>
          <a:solidFill>
            <a:srgbClr val="FFFFFF"/>
          </a:solidFill>
          <a:ln w="14605">
            <a:solidFill>
              <a:srgbClr val="15304F"/>
            </a:solidFill>
            <a:prstDash val="solid"/>
          </a:ln>
        </p:spPr>
      </p:sp>
      <p:sp>
        <p:nvSpPr>
          <p:cNvPr id="47" name="Shape 45"/>
          <p:cNvSpPr/>
          <p:nvPr/>
        </p:nvSpPr>
        <p:spPr>
          <a:xfrm>
            <a:off x="8055864" y="3730752"/>
            <a:ext cx="3675888" cy="274320"/>
          </a:xfrm>
          <a:prstGeom prst="rect">
            <a:avLst/>
          </a:prstGeom>
          <a:solidFill>
            <a:srgbClr val="15304F"/>
          </a:solidFill>
          <a:ln w="12700">
            <a:solidFill>
              <a:srgbClr val="333333"/>
            </a:solidFill>
            <a:prstDash val="solid"/>
          </a:ln>
        </p:spPr>
      </p:sp>
      <p:sp>
        <p:nvSpPr>
          <p:cNvPr id="48" name="Text 46"/>
          <p:cNvSpPr txBox="1"/>
          <p:nvPr/>
        </p:nvSpPr>
        <p:spPr>
          <a:xfrm>
            <a:off x="8183880" y="3730752"/>
            <a:ext cx="3419856" cy="274320"/>
          </a:xfrm>
          <a:prstGeom prst="rect">
            <a:avLst/>
          </a:prstGeom>
          <a:noFill/>
          <a:ln/>
        </p:spPr>
        <p:txBody>
          <a:bodyPr wrap="square" lIns="0" tIns="0" rIns="0" bIns="0" rtlCol="0" anchor="ctr"/>
          <a:lstStyle/>
          <a:p>
            <a:pPr indent="0" marL="0">
              <a:buNone/>
            </a:pPr>
            <a:r>
              <a:rPr lang="en-US" sz="900" b="1" spc="70" kern="0" dirty="0">
                <a:solidFill>
                  <a:srgbClr val="FFFFFF"/>
                </a:solidFill>
                <a:latin typeface="Calibri" pitchFamily="34" charset="0"/>
                <a:ea typeface="Calibri" pitchFamily="34" charset="-122"/>
                <a:cs typeface="Calibri" pitchFamily="34" charset="-120"/>
              </a:rPr>
              <a:t>DEDICATED</a:t>
            </a:r>
            <a:endParaRPr lang="en-US" sz="900" dirty="0"/>
          </a:p>
        </p:txBody>
      </p:sp>
      <p:sp>
        <p:nvSpPr>
          <p:cNvPr id="49" name="Text 47"/>
          <p:cNvSpPr txBox="1"/>
          <p:nvPr/>
        </p:nvSpPr>
        <p:spPr>
          <a:xfrm>
            <a:off x="8183880" y="4078224"/>
            <a:ext cx="3419856" cy="1152144"/>
          </a:xfrm>
          <a:prstGeom prst="rect">
            <a:avLst/>
          </a:prstGeom>
          <a:noFill/>
          <a:ln/>
        </p:spPr>
        <p:txBody>
          <a:bodyPr wrap="square" lIns="0" tIns="0" rIns="0" bIns="0" rtlCol="0" anchor="t"/>
          <a:lstStyle/>
          <a:p>
            <a:pPr indent="0" marL="0">
              <a:lnSpc>
                <a:spcPts val="900"/>
              </a:lnSpc>
              <a:spcAft>
                <a:spcPts val="200"/>
              </a:spcAft>
              <a:buNone/>
            </a:pPr>
            <a:r>
              <a:rPr lang="en-US" sz="740" dirty="0">
                <a:solidFill>
                  <a:srgbClr val="1B2432"/>
                </a:solidFill>
                <a:latin typeface="Calibri" pitchFamily="34" charset="0"/>
                <a:ea typeface="Calibri" pitchFamily="34" charset="-122"/>
                <a:cs typeface="Calibri" pitchFamily="34" charset="-120"/>
              </a:rPr>
              <a:t>— Pattern harvest is a closure condition</a:t>
            </a:r>
            <a:endParaRPr lang="en-US" sz="740" dirty="0"/>
          </a:p>
          <a:p>
            <a:pPr indent="0" marL="0">
              <a:lnSpc>
                <a:spcPts val="900"/>
              </a:lnSpc>
              <a:spcAft>
                <a:spcPts val="200"/>
              </a:spcAft>
              <a:buNone/>
            </a:pPr>
            <a:r>
              <a:rPr lang="en-US" sz="740" dirty="0">
                <a:solidFill>
                  <a:srgbClr val="1B2432"/>
                </a:solidFill>
                <a:latin typeface="Calibri" pitchFamily="34" charset="0"/>
                <a:ea typeface="Calibri" pitchFamily="34" charset="-122"/>
                <a:cs typeface="Calibri" pitchFamily="34" charset="-120"/>
              </a:rPr>
              <a:t>— De-escalation at phase gates releases the pod</a:t>
            </a:r>
            <a:endParaRPr lang="en-US" sz="740" dirty="0"/>
          </a:p>
          <a:p>
            <a:pPr indent="0" marL="0">
              <a:lnSpc>
                <a:spcPts val="900"/>
              </a:lnSpc>
              <a:spcAft>
                <a:spcPts val="200"/>
              </a:spcAft>
              <a:buNone/>
            </a:pPr>
            <a:r>
              <a:rPr lang="en-US" sz="740" dirty="0">
                <a:solidFill>
                  <a:srgbClr val="1B2432"/>
                </a:solidFill>
                <a:latin typeface="Calibri" pitchFamily="34" charset="0"/>
                <a:ea typeface="Calibri" pitchFamily="34" charset="-122"/>
                <a:cs typeface="Calibri" pitchFamily="34" charset="-120"/>
              </a:rPr>
              <a:t>— Tier justification recorded against the intake</a:t>
            </a:r>
            <a:endParaRPr lang="en-US" sz="740" dirty="0"/>
          </a:p>
          <a:p>
            <a:pPr indent="0" marL="0">
              <a:lnSpc>
                <a:spcPts val="900"/>
              </a:lnSpc>
              <a:spcAft>
                <a:spcPts val="200"/>
              </a:spcAft>
              <a:buNone/>
            </a:pPr>
            <a:r>
              <a:rPr lang="en-US" sz="740" dirty="0">
                <a:solidFill>
                  <a:srgbClr val="1B2432"/>
                </a:solidFill>
                <a:latin typeface="Calibri" pitchFamily="34" charset="0"/>
                <a:ea typeface="Calibri" pitchFamily="34" charset="-122"/>
                <a:cs typeface="Calibri" pitchFamily="34" charset="-120"/>
              </a:rPr>
              <a:t>— Queue position disclosed to the partner</a:t>
            </a:r>
            <a:endParaRPr lang="en-US" sz="740" dirty="0"/>
          </a:p>
        </p:txBody>
      </p:sp>
      <p:sp>
        <p:nvSpPr>
          <p:cNvPr id="50" name="Text 48"/>
          <p:cNvSpPr txBox="1"/>
          <p:nvPr/>
        </p:nvSpPr>
        <p:spPr>
          <a:xfrm>
            <a:off x="411480" y="5431536"/>
            <a:ext cx="7315200" cy="182880"/>
          </a:xfrm>
          <a:prstGeom prst="rect">
            <a:avLst/>
          </a:prstGeom>
          <a:noFill/>
          <a:ln/>
        </p:spPr>
        <p:txBody>
          <a:bodyPr wrap="square" lIns="0" tIns="0" rIns="0" bIns="0" rtlCol="0" anchor="ctr"/>
          <a:lstStyle/>
          <a:p>
            <a:pPr indent="0" marL="0">
              <a:buNone/>
            </a:pPr>
            <a:r>
              <a:rPr lang="en-US" sz="760" b="1" spc="110" kern="0" dirty="0">
                <a:solidFill>
                  <a:srgbClr val="15304F"/>
                </a:solidFill>
                <a:latin typeface="Calibri" pitchFamily="34" charset="0"/>
                <a:ea typeface="Calibri" pitchFamily="34" charset="-122"/>
                <a:cs typeface="Calibri" pitchFamily="34" charset="-120"/>
              </a:rPr>
              <a:t>GUARDRAILS ON THE MODEL ITSELF — THE MODEL CAN FAIL WITHOUT ANY INDIVIDUAL INTAKE FAILING</a:t>
            </a:r>
            <a:endParaRPr lang="en-US" sz="760" dirty="0"/>
          </a:p>
        </p:txBody>
      </p:sp>
      <p:sp>
        <p:nvSpPr>
          <p:cNvPr id="51" name="Shape 49"/>
          <p:cNvSpPr/>
          <p:nvPr/>
        </p:nvSpPr>
        <p:spPr>
          <a:xfrm>
            <a:off x="411480" y="5632704"/>
            <a:ext cx="11338560" cy="237744"/>
          </a:xfrm>
          <a:prstGeom prst="rect">
            <a:avLst/>
          </a:prstGeom>
          <a:solidFill>
            <a:srgbClr val="15304F"/>
          </a:solidFill>
          <a:ln w="6350">
            <a:solidFill>
              <a:srgbClr val="15304F"/>
            </a:solidFill>
            <a:prstDash val="solid"/>
          </a:ln>
        </p:spPr>
      </p:sp>
      <p:sp>
        <p:nvSpPr>
          <p:cNvPr id="52" name="Text 50"/>
          <p:cNvSpPr txBox="1"/>
          <p:nvPr/>
        </p:nvSpPr>
        <p:spPr>
          <a:xfrm>
            <a:off x="484632" y="5632704"/>
            <a:ext cx="2688336" cy="237744"/>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Signal</a:t>
            </a:r>
            <a:endParaRPr lang="en-US" sz="800" dirty="0"/>
          </a:p>
        </p:txBody>
      </p:sp>
      <p:sp>
        <p:nvSpPr>
          <p:cNvPr id="53" name="Text 51"/>
          <p:cNvSpPr txBox="1"/>
          <p:nvPr/>
        </p:nvSpPr>
        <p:spPr>
          <a:xfrm>
            <a:off x="3319272" y="5632704"/>
            <a:ext cx="2596896" cy="237744"/>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Threshold</a:t>
            </a:r>
            <a:endParaRPr lang="en-US" sz="800" dirty="0"/>
          </a:p>
        </p:txBody>
      </p:sp>
      <p:sp>
        <p:nvSpPr>
          <p:cNvPr id="54" name="Text 52"/>
          <p:cNvSpPr txBox="1"/>
          <p:nvPr/>
        </p:nvSpPr>
        <p:spPr>
          <a:xfrm>
            <a:off x="6062472" y="5632704"/>
            <a:ext cx="5614416" cy="237744"/>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Intervention</a:t>
            </a:r>
            <a:endParaRPr lang="en-US" sz="800" dirty="0"/>
          </a:p>
        </p:txBody>
      </p:sp>
      <p:sp>
        <p:nvSpPr>
          <p:cNvPr id="55" name="Shape 53"/>
          <p:cNvSpPr/>
          <p:nvPr/>
        </p:nvSpPr>
        <p:spPr>
          <a:xfrm>
            <a:off x="411480" y="5870448"/>
            <a:ext cx="11338560" cy="283464"/>
          </a:xfrm>
          <a:prstGeom prst="rect">
            <a:avLst/>
          </a:prstGeom>
          <a:solidFill>
            <a:srgbClr val="FFFFFF"/>
          </a:solidFill>
          <a:ln w="6350">
            <a:solidFill>
              <a:srgbClr val="D4DAE2"/>
            </a:solidFill>
            <a:prstDash val="solid"/>
          </a:ln>
        </p:spPr>
      </p:sp>
      <p:sp>
        <p:nvSpPr>
          <p:cNvPr id="56" name="Text 54"/>
          <p:cNvSpPr txBox="1"/>
          <p:nvPr/>
        </p:nvSpPr>
        <p:spPr>
          <a:xfrm>
            <a:off x="484632" y="5870448"/>
            <a:ext cx="2688336" cy="283464"/>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Escalation rate out of Lean</a:t>
            </a:r>
            <a:endParaRPr lang="en-US" sz="760" dirty="0"/>
          </a:p>
        </p:txBody>
      </p:sp>
      <p:sp>
        <p:nvSpPr>
          <p:cNvPr id="57" name="Text 55"/>
          <p:cNvSpPr txBox="1"/>
          <p:nvPr/>
        </p:nvSpPr>
        <p:spPr>
          <a:xfrm>
            <a:off x="3319272" y="5870448"/>
            <a:ext cx="2596896" cy="283464"/>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Above 20%</a:t>
            </a:r>
            <a:endParaRPr lang="en-US" sz="760" dirty="0"/>
          </a:p>
        </p:txBody>
      </p:sp>
      <p:sp>
        <p:nvSpPr>
          <p:cNvPr id="58" name="Text 56"/>
          <p:cNvSpPr txBox="1"/>
          <p:nvPr/>
        </p:nvSpPr>
        <p:spPr>
          <a:xfrm>
            <a:off x="6062472" y="5870448"/>
            <a:ext cx="5614416" cy="283464"/>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Pattern mis-scoped or rubric mis-calibrated — suspend Lean for that pattern and re-harden</a:t>
            </a:r>
            <a:endParaRPr lang="en-US" sz="760" dirty="0"/>
          </a:p>
        </p:txBody>
      </p:sp>
      <p:sp>
        <p:nvSpPr>
          <p:cNvPr id="59" name="Shape 57"/>
          <p:cNvSpPr/>
          <p:nvPr/>
        </p:nvSpPr>
        <p:spPr>
          <a:xfrm>
            <a:off x="411480" y="6153912"/>
            <a:ext cx="11338560" cy="283464"/>
          </a:xfrm>
          <a:prstGeom prst="rect">
            <a:avLst/>
          </a:prstGeom>
          <a:solidFill>
            <a:srgbClr val="F4F7FA"/>
          </a:solidFill>
          <a:ln w="6350">
            <a:solidFill>
              <a:srgbClr val="D4DAE2"/>
            </a:solidFill>
            <a:prstDash val="solid"/>
          </a:ln>
        </p:spPr>
      </p:sp>
      <p:sp>
        <p:nvSpPr>
          <p:cNvPr id="60" name="Text 58"/>
          <p:cNvSpPr txBox="1"/>
          <p:nvPr/>
        </p:nvSpPr>
        <p:spPr>
          <a:xfrm>
            <a:off x="484632" y="6153912"/>
            <a:ext cx="2688336" cy="283464"/>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Pattern debt</a:t>
            </a:r>
            <a:endParaRPr lang="en-US" sz="760" dirty="0"/>
          </a:p>
        </p:txBody>
      </p:sp>
      <p:sp>
        <p:nvSpPr>
          <p:cNvPr id="61" name="Text 59"/>
          <p:cNvSpPr txBox="1"/>
          <p:nvPr/>
        </p:nvSpPr>
        <p:spPr>
          <a:xfrm>
            <a:off x="3319272" y="6153912"/>
            <a:ext cx="2596896" cy="283464"/>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Dedicated closing without a candidate</a:t>
            </a:r>
            <a:endParaRPr lang="en-US" sz="760" dirty="0"/>
          </a:p>
        </p:txBody>
      </p:sp>
      <p:sp>
        <p:nvSpPr>
          <p:cNvPr id="62" name="Text 60"/>
          <p:cNvSpPr txBox="1"/>
          <p:nvPr/>
        </p:nvSpPr>
        <p:spPr>
          <a:xfrm>
            <a:off x="6062472" y="6153912"/>
            <a:ext cx="5614416" cy="283464"/>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The compounding has stopped — treat as a delivery defect, not an administrative gap</a:t>
            </a:r>
            <a:endParaRPr lang="en-US" sz="760" dirty="0"/>
          </a:p>
        </p:txBody>
      </p:sp>
      <p:sp>
        <p:nvSpPr>
          <p:cNvPr id="63" name="Shape 61"/>
          <p:cNvSpPr/>
          <p:nvPr/>
        </p:nvSpPr>
        <p:spPr>
          <a:xfrm>
            <a:off x="411480" y="6437376"/>
            <a:ext cx="11338560" cy="283464"/>
          </a:xfrm>
          <a:prstGeom prst="rect">
            <a:avLst/>
          </a:prstGeom>
          <a:solidFill>
            <a:srgbClr val="FFFFFF"/>
          </a:solidFill>
          <a:ln w="6350">
            <a:solidFill>
              <a:srgbClr val="D4DAE2"/>
            </a:solidFill>
            <a:prstDash val="solid"/>
          </a:ln>
        </p:spPr>
      </p:sp>
      <p:sp>
        <p:nvSpPr>
          <p:cNvPr id="64" name="Text 62"/>
          <p:cNvSpPr txBox="1"/>
          <p:nvPr/>
        </p:nvSpPr>
        <p:spPr>
          <a:xfrm>
            <a:off x="484632" y="6437376"/>
            <a:ext cx="2688336" cy="283464"/>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Platform team raided for intake work</a:t>
            </a:r>
            <a:endParaRPr lang="en-US" sz="760" dirty="0"/>
          </a:p>
        </p:txBody>
      </p:sp>
      <p:sp>
        <p:nvSpPr>
          <p:cNvPr id="65" name="Text 63"/>
          <p:cNvSpPr txBox="1"/>
          <p:nvPr/>
        </p:nvSpPr>
        <p:spPr>
          <a:xfrm>
            <a:off x="3319272" y="6437376"/>
            <a:ext cx="2596896" cy="283464"/>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Any occurrence</a:t>
            </a:r>
            <a:endParaRPr lang="en-US" sz="760" dirty="0"/>
          </a:p>
        </p:txBody>
      </p:sp>
      <p:sp>
        <p:nvSpPr>
          <p:cNvPr id="66" name="Text 64"/>
          <p:cNvSpPr txBox="1"/>
          <p:nvPr/>
        </p:nvSpPr>
        <p:spPr>
          <a:xfrm>
            <a:off x="6062472" y="6437376"/>
            <a:ext cx="5614416" cy="283464"/>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Escalate to leadership immediately — this is the failure mode that ends the programme</a:t>
            </a:r>
            <a:endParaRPr lang="en-US" sz="76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274320"/>
            <a:ext cx="274320" cy="274320"/>
          </a:xfrm>
          <a:prstGeom prst="rect">
            <a:avLst/>
          </a:prstGeom>
          <a:solidFill>
            <a:srgbClr val="15304F"/>
          </a:solidFill>
          <a:ln w="12700">
            <a:solidFill>
              <a:srgbClr val="333333"/>
            </a:solidFill>
            <a:prstDash val="solid"/>
          </a:ln>
        </p:spPr>
      </p:sp>
      <p:sp>
        <p:nvSpPr>
          <p:cNvPr id="3" name="Text 1"/>
          <p:cNvSpPr txBox="1"/>
          <p:nvPr/>
        </p:nvSpPr>
        <p:spPr>
          <a:xfrm>
            <a:off x="411480" y="2743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14</a:t>
            </a:r>
            <a:endParaRPr lang="en-US" sz="1200" dirty="0"/>
          </a:p>
        </p:txBody>
      </p:sp>
      <p:sp>
        <p:nvSpPr>
          <p:cNvPr id="4" name="Text 2"/>
          <p:cNvSpPr txBox="1"/>
          <p:nvPr/>
        </p:nvSpPr>
        <p:spPr>
          <a:xfrm>
            <a:off x="795528" y="219456"/>
            <a:ext cx="8778240" cy="384048"/>
          </a:xfrm>
          <a:prstGeom prst="rect">
            <a:avLst/>
          </a:prstGeom>
          <a:noFill/>
          <a:ln/>
        </p:spPr>
        <p:txBody>
          <a:bodyPr wrap="square" lIns="0" tIns="0" rIns="0" bIns="0" rtlCol="0" anchor="ctr"/>
          <a:lstStyle/>
          <a:p>
            <a:pPr indent="0" marL="0">
              <a:buNone/>
            </a:pPr>
            <a:r>
              <a:rPr lang="en-US" sz="2400" b="1" dirty="0">
                <a:solidFill>
                  <a:srgbClr val="1B2432"/>
                </a:solidFill>
                <a:latin typeface="Cambria" pitchFamily="34" charset="0"/>
                <a:ea typeface="Cambria" pitchFamily="34" charset="-122"/>
                <a:cs typeface="Cambria" pitchFamily="34" charset="-120"/>
              </a:rPr>
              <a:t>Team structure</a:t>
            </a:r>
            <a:endParaRPr lang="en-US" sz="2400" dirty="0"/>
          </a:p>
        </p:txBody>
      </p:sp>
      <p:sp>
        <p:nvSpPr>
          <p:cNvPr id="5" name="Text 3"/>
          <p:cNvSpPr txBox="1"/>
          <p:nvPr/>
        </p:nvSpPr>
        <p:spPr>
          <a:xfrm>
            <a:off x="795528" y="621792"/>
            <a:ext cx="9326880" cy="237744"/>
          </a:xfrm>
          <a:prstGeom prst="rect">
            <a:avLst/>
          </a:prstGeom>
          <a:noFill/>
          <a:ln/>
        </p:spPr>
        <p:txBody>
          <a:bodyPr wrap="square" lIns="0" tIns="0" rIns="0" bIns="0" rtlCol="0" anchor="ctr"/>
          <a:lstStyle/>
          <a:p>
            <a:pPr indent="0" marL="0">
              <a:buNone/>
            </a:pPr>
            <a:r>
              <a:rPr lang="en-US" sz="1050" dirty="0">
                <a:solidFill>
                  <a:srgbClr val="55606E"/>
                </a:solidFill>
                <a:latin typeface="Calibri" pitchFamily="34" charset="0"/>
                <a:ea typeface="Calibri" pitchFamily="34" charset="-122"/>
                <a:cs typeface="Calibri" pitchFamily="34" charset="-120"/>
              </a:rPr>
              <a:t>Five functions replacing three undifferentiated scrum teams</a:t>
            </a:r>
            <a:endParaRPr lang="en-US" sz="1050" dirty="0"/>
          </a:p>
        </p:txBody>
      </p:sp>
      <p:sp>
        <p:nvSpPr>
          <p:cNvPr id="6" name="Text 4"/>
          <p:cNvSpPr txBox="1"/>
          <p:nvPr/>
        </p:nvSpPr>
        <p:spPr>
          <a:xfrm>
            <a:off x="9052560" y="274320"/>
            <a:ext cx="2697480" cy="256032"/>
          </a:xfrm>
          <a:prstGeom prst="rect">
            <a:avLst/>
          </a:prstGeom>
          <a:noFill/>
          <a:ln/>
        </p:spPr>
        <p:txBody>
          <a:bodyPr wrap="square" lIns="0" tIns="0" rIns="0" bIns="0" rtlCol="0" anchor="ctr"/>
          <a:lstStyle/>
          <a:p>
            <a:pPr algn="r" indent="0" marL="0">
              <a:buNone/>
            </a:pPr>
            <a:r>
              <a:rPr lang="en-US" sz="950" b="1" spc="60" kern="0" dirty="0">
                <a:solidFill>
                  <a:srgbClr val="7C8798"/>
                </a:solidFill>
                <a:latin typeface="Calibri" pitchFamily="34" charset="0"/>
                <a:ea typeface="Calibri" pitchFamily="34" charset="-122"/>
                <a:cs typeface="Calibri" pitchFamily="34" charset="-120"/>
              </a:rPr>
              <a:t>Organisation</a:t>
            </a:r>
            <a:endParaRPr lang="en-US" sz="950" dirty="0"/>
          </a:p>
        </p:txBody>
      </p:sp>
      <p:sp>
        <p:nvSpPr>
          <p:cNvPr id="7" name="Shape 5"/>
          <p:cNvSpPr/>
          <p:nvPr/>
        </p:nvSpPr>
        <p:spPr>
          <a:xfrm>
            <a:off x="411480" y="932688"/>
            <a:ext cx="11338560" cy="0"/>
          </a:xfrm>
          <a:prstGeom prst="line">
            <a:avLst/>
          </a:prstGeom>
          <a:noFill/>
          <a:ln w="12700">
            <a:solidFill>
              <a:srgbClr val="D4DAE2"/>
            </a:solidFill>
            <a:prstDash val="solid"/>
          </a:ln>
        </p:spPr>
      </p:sp>
      <p:sp>
        <p:nvSpPr>
          <p:cNvPr id="8" name="Shape 6"/>
          <p:cNvSpPr/>
          <p:nvPr/>
        </p:nvSpPr>
        <p:spPr>
          <a:xfrm>
            <a:off x="411480" y="1042416"/>
            <a:ext cx="7680960" cy="566928"/>
          </a:xfrm>
          <a:prstGeom prst="roundRect">
            <a:avLst>
              <a:gd name="adj" fmla="val 6452"/>
            </a:avLst>
          </a:prstGeom>
          <a:solidFill>
            <a:srgbClr val="FFFFFF"/>
          </a:solidFill>
          <a:ln w="13335">
            <a:solidFill>
              <a:srgbClr val="A44A2A"/>
            </a:solidFill>
            <a:prstDash val="solid"/>
          </a:ln>
        </p:spPr>
      </p:sp>
      <p:sp>
        <p:nvSpPr>
          <p:cNvPr id="9" name="Shape 7"/>
          <p:cNvSpPr/>
          <p:nvPr/>
        </p:nvSpPr>
        <p:spPr>
          <a:xfrm>
            <a:off x="411480" y="1042416"/>
            <a:ext cx="54864" cy="566928"/>
          </a:xfrm>
          <a:prstGeom prst="rect">
            <a:avLst/>
          </a:prstGeom>
          <a:solidFill>
            <a:srgbClr val="A44A2A"/>
          </a:solidFill>
          <a:ln w="12700">
            <a:solidFill>
              <a:srgbClr val="333333"/>
            </a:solidFill>
            <a:prstDash val="solid"/>
          </a:ln>
        </p:spPr>
      </p:sp>
      <p:sp>
        <p:nvSpPr>
          <p:cNvPr id="10" name="Text 8"/>
          <p:cNvSpPr txBox="1"/>
          <p:nvPr/>
        </p:nvSpPr>
        <p:spPr>
          <a:xfrm>
            <a:off x="576072" y="1097280"/>
            <a:ext cx="2286000" cy="219456"/>
          </a:xfrm>
          <a:prstGeom prst="rect">
            <a:avLst/>
          </a:prstGeom>
          <a:noFill/>
          <a:ln/>
        </p:spPr>
        <p:txBody>
          <a:bodyPr wrap="square" lIns="0" tIns="0" rIns="0" bIns="0" rtlCol="0" anchor="ctr"/>
          <a:lstStyle/>
          <a:p>
            <a:pPr indent="0" marL="0">
              <a:buNone/>
            </a:pPr>
            <a:r>
              <a:rPr lang="en-US" sz="940" b="1" dirty="0">
                <a:solidFill>
                  <a:srgbClr val="1B2432"/>
                </a:solidFill>
                <a:latin typeface="Calibri" pitchFamily="34" charset="0"/>
                <a:ea typeface="Calibri" pitchFamily="34" charset="-122"/>
                <a:cs typeface="Calibri" pitchFamily="34" charset="-120"/>
              </a:rPr>
              <a:t>Platform Engineering</a:t>
            </a:r>
            <a:endParaRPr lang="en-US" sz="940" dirty="0"/>
          </a:p>
        </p:txBody>
      </p:sp>
      <p:sp>
        <p:nvSpPr>
          <p:cNvPr id="11" name="Shape 9"/>
          <p:cNvSpPr/>
          <p:nvPr/>
        </p:nvSpPr>
        <p:spPr>
          <a:xfrm>
            <a:off x="2898648" y="1179576"/>
            <a:ext cx="420624" cy="292608"/>
          </a:xfrm>
          <a:prstGeom prst="roundRect">
            <a:avLst>
              <a:gd name="adj" fmla="val 12500"/>
            </a:avLst>
          </a:prstGeom>
          <a:solidFill>
            <a:srgbClr val="A44A2A"/>
          </a:solidFill>
          <a:ln w="12700">
            <a:solidFill>
              <a:srgbClr val="333333"/>
            </a:solidFill>
            <a:prstDash val="solid"/>
          </a:ln>
        </p:spPr>
      </p:sp>
      <p:sp>
        <p:nvSpPr>
          <p:cNvPr id="12" name="Text 10"/>
          <p:cNvSpPr txBox="1"/>
          <p:nvPr/>
        </p:nvSpPr>
        <p:spPr>
          <a:xfrm>
            <a:off x="2898648" y="1179576"/>
            <a:ext cx="420624"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9</a:t>
            </a:r>
            <a:endParaRPr lang="en-US" sz="950" dirty="0"/>
          </a:p>
        </p:txBody>
      </p:sp>
      <p:sp>
        <p:nvSpPr>
          <p:cNvPr id="13" name="Text 11"/>
          <p:cNvSpPr txBox="1"/>
          <p:nvPr/>
        </p:nvSpPr>
        <p:spPr>
          <a:xfrm>
            <a:off x="576072" y="1335024"/>
            <a:ext cx="2267712" cy="237744"/>
          </a:xfrm>
          <a:prstGeom prst="rect">
            <a:avLst/>
          </a:prstGeom>
          <a:noFill/>
          <a:ln/>
        </p:spPr>
        <p:txBody>
          <a:bodyPr wrap="square" lIns="0" tIns="0" rIns="0" bIns="0" rtlCol="0" anchor="ctr"/>
          <a:lstStyle/>
          <a:p>
            <a:pPr indent="0" marL="0">
              <a:lnSpc>
                <a:spcPts val="800"/>
              </a:lnSpc>
              <a:buNone/>
            </a:pPr>
            <a:r>
              <a:rPr lang="en-US" sz="690" dirty="0">
                <a:solidFill>
                  <a:srgbClr val="55606E"/>
                </a:solidFill>
                <a:latin typeface="Calibri" pitchFamily="34" charset="0"/>
                <a:ea typeface="Calibri" pitchFamily="34" charset="-122"/>
                <a:cs typeface="Calibri" pitchFamily="34" charset="-120"/>
              </a:rPr>
              <a:t>Build the platform and move patterns up the maturity ladder. Takes no intakes.</a:t>
            </a:r>
            <a:endParaRPr lang="en-US" sz="690" dirty="0"/>
          </a:p>
        </p:txBody>
      </p:sp>
      <p:sp>
        <p:nvSpPr>
          <p:cNvPr id="14" name="Text 12"/>
          <p:cNvSpPr txBox="1"/>
          <p:nvPr/>
        </p:nvSpPr>
        <p:spPr>
          <a:xfrm>
            <a:off x="3465576" y="1115568"/>
            <a:ext cx="1371600" cy="146304"/>
          </a:xfrm>
          <a:prstGeom prst="rect">
            <a:avLst/>
          </a:prstGeom>
          <a:noFill/>
          <a:ln/>
        </p:spPr>
        <p:txBody>
          <a:bodyPr wrap="square" lIns="0" tIns="0" rIns="0" bIns="0" rtlCol="0" anchor="ctr"/>
          <a:lstStyle/>
          <a:p>
            <a:pPr indent="0" marL="0">
              <a:buNone/>
            </a:pPr>
            <a:r>
              <a:rPr lang="en-US" sz="600" b="1" spc="70" kern="0" dirty="0">
                <a:solidFill>
                  <a:srgbClr val="55606E"/>
                </a:solidFill>
                <a:latin typeface="Calibri" pitchFamily="34" charset="0"/>
                <a:ea typeface="Calibri" pitchFamily="34" charset="-122"/>
                <a:cs typeface="Calibri" pitchFamily="34" charset="-120"/>
              </a:rPr>
              <a:t>MEASURED BY</a:t>
            </a:r>
            <a:endParaRPr lang="en-US" sz="600" dirty="0"/>
          </a:p>
        </p:txBody>
      </p:sp>
      <p:sp>
        <p:nvSpPr>
          <p:cNvPr id="15" name="Text 13"/>
          <p:cNvSpPr txBox="1"/>
          <p:nvPr/>
        </p:nvSpPr>
        <p:spPr>
          <a:xfrm>
            <a:off x="3465576" y="1280160"/>
            <a:ext cx="4480560" cy="274320"/>
          </a:xfrm>
          <a:prstGeom prst="rect">
            <a:avLst/>
          </a:prstGeom>
          <a:noFill/>
          <a:ln/>
        </p:spPr>
        <p:txBody>
          <a:bodyPr wrap="square" lIns="0" tIns="0" rIns="0" bIns="0" rtlCol="0" anchor="ctr"/>
          <a:lstStyle/>
          <a:p>
            <a:pPr indent="0" marL="0">
              <a:lnSpc>
                <a:spcPts val="880"/>
              </a:lnSpc>
              <a:buNone/>
            </a:pPr>
            <a:r>
              <a:rPr lang="en-US" sz="760" dirty="0">
                <a:solidFill>
                  <a:srgbClr val="1B2432"/>
                </a:solidFill>
                <a:latin typeface="Calibri" pitchFamily="34" charset="0"/>
                <a:ea typeface="Calibri" pitchFamily="34" charset="-122"/>
                <a:cs typeface="Calibri" pitchFamily="34" charset="-120"/>
              </a:rPr>
              <a:t>Pattern maturity progression; share of intakes eligible for Lean</a:t>
            </a:r>
            <a:endParaRPr lang="en-US" sz="760" dirty="0"/>
          </a:p>
        </p:txBody>
      </p:sp>
      <p:sp>
        <p:nvSpPr>
          <p:cNvPr id="16" name="Shape 14"/>
          <p:cNvSpPr/>
          <p:nvPr/>
        </p:nvSpPr>
        <p:spPr>
          <a:xfrm>
            <a:off x="411480" y="1682496"/>
            <a:ext cx="7680960" cy="566928"/>
          </a:xfrm>
          <a:prstGeom prst="roundRect">
            <a:avLst>
              <a:gd name="adj" fmla="val 6452"/>
            </a:avLst>
          </a:prstGeom>
          <a:solidFill>
            <a:srgbClr val="FFFFFF"/>
          </a:solidFill>
          <a:ln w="13335">
            <a:solidFill>
              <a:srgbClr val="15304F"/>
            </a:solidFill>
            <a:prstDash val="solid"/>
          </a:ln>
        </p:spPr>
      </p:sp>
      <p:sp>
        <p:nvSpPr>
          <p:cNvPr id="17" name="Shape 15"/>
          <p:cNvSpPr/>
          <p:nvPr/>
        </p:nvSpPr>
        <p:spPr>
          <a:xfrm>
            <a:off x="411480" y="1682496"/>
            <a:ext cx="54864" cy="566928"/>
          </a:xfrm>
          <a:prstGeom prst="rect">
            <a:avLst/>
          </a:prstGeom>
          <a:solidFill>
            <a:srgbClr val="15304F"/>
          </a:solidFill>
          <a:ln w="12700">
            <a:solidFill>
              <a:srgbClr val="333333"/>
            </a:solidFill>
            <a:prstDash val="solid"/>
          </a:ln>
        </p:spPr>
      </p:sp>
      <p:sp>
        <p:nvSpPr>
          <p:cNvPr id="18" name="Text 16"/>
          <p:cNvSpPr txBox="1"/>
          <p:nvPr/>
        </p:nvSpPr>
        <p:spPr>
          <a:xfrm>
            <a:off x="576072" y="1737360"/>
            <a:ext cx="2286000" cy="219456"/>
          </a:xfrm>
          <a:prstGeom prst="rect">
            <a:avLst/>
          </a:prstGeom>
          <a:noFill/>
          <a:ln/>
        </p:spPr>
        <p:txBody>
          <a:bodyPr wrap="square" lIns="0" tIns="0" rIns="0" bIns="0" rtlCol="0" anchor="ctr"/>
          <a:lstStyle/>
          <a:p>
            <a:pPr indent="0" marL="0">
              <a:buNone/>
            </a:pPr>
            <a:r>
              <a:rPr lang="en-US" sz="940" b="1" dirty="0">
                <a:solidFill>
                  <a:srgbClr val="1B2432"/>
                </a:solidFill>
                <a:latin typeface="Calibri" pitchFamily="34" charset="0"/>
                <a:ea typeface="Calibri" pitchFamily="34" charset="-122"/>
                <a:cs typeface="Calibri" pitchFamily="34" charset="-120"/>
              </a:rPr>
              <a:t>Enablement Pods</a:t>
            </a:r>
            <a:endParaRPr lang="en-US" sz="940" dirty="0"/>
          </a:p>
        </p:txBody>
      </p:sp>
      <p:sp>
        <p:nvSpPr>
          <p:cNvPr id="19" name="Shape 17"/>
          <p:cNvSpPr/>
          <p:nvPr/>
        </p:nvSpPr>
        <p:spPr>
          <a:xfrm>
            <a:off x="2898648" y="1819656"/>
            <a:ext cx="420624" cy="292608"/>
          </a:xfrm>
          <a:prstGeom prst="roundRect">
            <a:avLst>
              <a:gd name="adj" fmla="val 12500"/>
            </a:avLst>
          </a:prstGeom>
          <a:solidFill>
            <a:srgbClr val="15304F"/>
          </a:solidFill>
          <a:ln w="12700">
            <a:solidFill>
              <a:srgbClr val="333333"/>
            </a:solidFill>
            <a:prstDash val="solid"/>
          </a:ln>
        </p:spPr>
      </p:sp>
      <p:sp>
        <p:nvSpPr>
          <p:cNvPr id="20" name="Text 18"/>
          <p:cNvSpPr txBox="1"/>
          <p:nvPr/>
        </p:nvSpPr>
        <p:spPr>
          <a:xfrm>
            <a:off x="2898648" y="1819656"/>
            <a:ext cx="420624"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10</a:t>
            </a:r>
            <a:endParaRPr lang="en-US" sz="950" dirty="0"/>
          </a:p>
        </p:txBody>
      </p:sp>
      <p:sp>
        <p:nvSpPr>
          <p:cNvPr id="21" name="Text 19"/>
          <p:cNvSpPr txBox="1"/>
          <p:nvPr/>
        </p:nvSpPr>
        <p:spPr>
          <a:xfrm>
            <a:off x="576072" y="1975104"/>
            <a:ext cx="2267712" cy="237744"/>
          </a:xfrm>
          <a:prstGeom prst="rect">
            <a:avLst/>
          </a:prstGeom>
          <a:noFill/>
          <a:ln/>
        </p:spPr>
        <p:txBody>
          <a:bodyPr wrap="square" lIns="0" tIns="0" rIns="0" bIns="0" rtlCol="0" anchor="ctr"/>
          <a:lstStyle/>
          <a:p>
            <a:pPr indent="0" marL="0">
              <a:lnSpc>
                <a:spcPts val="800"/>
              </a:lnSpc>
              <a:buNone/>
            </a:pPr>
            <a:r>
              <a:rPr lang="en-US" sz="690" dirty="0">
                <a:solidFill>
                  <a:srgbClr val="55606E"/>
                </a:solidFill>
                <a:latin typeface="Calibri" pitchFamily="34" charset="0"/>
                <a:ea typeface="Calibri" pitchFamily="34" charset="-122"/>
                <a:cs typeface="Calibri" pitchFamily="34" charset="-120"/>
              </a:rPr>
              <a:t>Deliver Dedicated intakes end to end and harvest a pattern at closure.</a:t>
            </a:r>
            <a:endParaRPr lang="en-US" sz="690" dirty="0"/>
          </a:p>
        </p:txBody>
      </p:sp>
      <p:sp>
        <p:nvSpPr>
          <p:cNvPr id="22" name="Text 20"/>
          <p:cNvSpPr txBox="1"/>
          <p:nvPr/>
        </p:nvSpPr>
        <p:spPr>
          <a:xfrm>
            <a:off x="3465576" y="1755648"/>
            <a:ext cx="1371600" cy="146304"/>
          </a:xfrm>
          <a:prstGeom prst="rect">
            <a:avLst/>
          </a:prstGeom>
          <a:noFill/>
          <a:ln/>
        </p:spPr>
        <p:txBody>
          <a:bodyPr wrap="square" lIns="0" tIns="0" rIns="0" bIns="0" rtlCol="0" anchor="ctr"/>
          <a:lstStyle/>
          <a:p>
            <a:pPr indent="0" marL="0">
              <a:buNone/>
            </a:pPr>
            <a:r>
              <a:rPr lang="en-US" sz="600" b="1" spc="70" kern="0" dirty="0">
                <a:solidFill>
                  <a:srgbClr val="55606E"/>
                </a:solidFill>
                <a:latin typeface="Calibri" pitchFamily="34" charset="0"/>
                <a:ea typeface="Calibri" pitchFamily="34" charset="-122"/>
                <a:cs typeface="Calibri" pitchFamily="34" charset="-120"/>
              </a:rPr>
              <a:t>MEASURED BY</a:t>
            </a:r>
            <a:endParaRPr lang="en-US" sz="600" dirty="0"/>
          </a:p>
        </p:txBody>
      </p:sp>
      <p:sp>
        <p:nvSpPr>
          <p:cNvPr id="23" name="Text 21"/>
          <p:cNvSpPr txBox="1"/>
          <p:nvPr/>
        </p:nvSpPr>
        <p:spPr>
          <a:xfrm>
            <a:off x="3465576" y="1920240"/>
            <a:ext cx="4480560" cy="274320"/>
          </a:xfrm>
          <a:prstGeom prst="rect">
            <a:avLst/>
          </a:prstGeom>
          <a:noFill/>
          <a:ln/>
        </p:spPr>
        <p:txBody>
          <a:bodyPr wrap="square" lIns="0" tIns="0" rIns="0" bIns="0" rtlCol="0" anchor="ctr"/>
          <a:lstStyle/>
          <a:p>
            <a:pPr indent="0" marL="0">
              <a:lnSpc>
                <a:spcPts val="880"/>
              </a:lnSpc>
              <a:buNone/>
            </a:pPr>
            <a:r>
              <a:rPr lang="en-US" sz="760" dirty="0">
                <a:solidFill>
                  <a:srgbClr val="1B2432"/>
                </a:solidFill>
                <a:latin typeface="Calibri" pitchFamily="34" charset="0"/>
                <a:ea typeface="Calibri" pitchFamily="34" charset="-122"/>
                <a:cs typeface="Calibri" pitchFamily="34" charset="-120"/>
              </a:rPr>
              <a:t>Delivery outcomes and pattern candidates produced</a:t>
            </a:r>
            <a:endParaRPr lang="en-US" sz="760" dirty="0"/>
          </a:p>
        </p:txBody>
      </p:sp>
      <p:sp>
        <p:nvSpPr>
          <p:cNvPr id="24" name="Shape 22"/>
          <p:cNvSpPr/>
          <p:nvPr/>
        </p:nvSpPr>
        <p:spPr>
          <a:xfrm>
            <a:off x="411480" y="2322576"/>
            <a:ext cx="7680960" cy="566928"/>
          </a:xfrm>
          <a:prstGeom prst="roundRect">
            <a:avLst>
              <a:gd name="adj" fmla="val 6452"/>
            </a:avLst>
          </a:prstGeom>
          <a:solidFill>
            <a:srgbClr val="FFFFFF"/>
          </a:solidFill>
          <a:ln w="13335">
            <a:solidFill>
              <a:srgbClr val="9A6410"/>
            </a:solidFill>
            <a:prstDash val="solid"/>
          </a:ln>
        </p:spPr>
      </p:sp>
      <p:sp>
        <p:nvSpPr>
          <p:cNvPr id="25" name="Shape 23"/>
          <p:cNvSpPr/>
          <p:nvPr/>
        </p:nvSpPr>
        <p:spPr>
          <a:xfrm>
            <a:off x="411480" y="2322576"/>
            <a:ext cx="54864" cy="566928"/>
          </a:xfrm>
          <a:prstGeom prst="rect">
            <a:avLst/>
          </a:prstGeom>
          <a:solidFill>
            <a:srgbClr val="9A6410"/>
          </a:solidFill>
          <a:ln w="12700">
            <a:solidFill>
              <a:srgbClr val="333333"/>
            </a:solidFill>
            <a:prstDash val="solid"/>
          </a:ln>
        </p:spPr>
      </p:sp>
      <p:sp>
        <p:nvSpPr>
          <p:cNvPr id="26" name="Text 24"/>
          <p:cNvSpPr txBox="1"/>
          <p:nvPr/>
        </p:nvSpPr>
        <p:spPr>
          <a:xfrm>
            <a:off x="576072" y="2377440"/>
            <a:ext cx="2286000" cy="219456"/>
          </a:xfrm>
          <a:prstGeom prst="rect">
            <a:avLst/>
          </a:prstGeom>
          <a:noFill/>
          <a:ln/>
        </p:spPr>
        <p:txBody>
          <a:bodyPr wrap="square" lIns="0" tIns="0" rIns="0" bIns="0" rtlCol="0" anchor="ctr"/>
          <a:lstStyle/>
          <a:p>
            <a:pPr indent="0" marL="0">
              <a:buNone/>
            </a:pPr>
            <a:r>
              <a:rPr lang="en-US" sz="940" b="1" dirty="0">
                <a:solidFill>
                  <a:srgbClr val="1B2432"/>
                </a:solidFill>
                <a:latin typeface="Calibri" pitchFamily="34" charset="0"/>
                <a:ea typeface="Calibri" pitchFamily="34" charset="-122"/>
                <a:cs typeface="Calibri" pitchFamily="34" charset="-120"/>
              </a:rPr>
              <a:t>Enablement Clinic</a:t>
            </a:r>
            <a:endParaRPr lang="en-US" sz="940" dirty="0"/>
          </a:p>
        </p:txBody>
      </p:sp>
      <p:sp>
        <p:nvSpPr>
          <p:cNvPr id="27" name="Shape 25"/>
          <p:cNvSpPr/>
          <p:nvPr/>
        </p:nvSpPr>
        <p:spPr>
          <a:xfrm>
            <a:off x="2898648" y="2459736"/>
            <a:ext cx="420624" cy="292608"/>
          </a:xfrm>
          <a:prstGeom prst="roundRect">
            <a:avLst>
              <a:gd name="adj" fmla="val 12500"/>
            </a:avLst>
          </a:prstGeom>
          <a:solidFill>
            <a:srgbClr val="9A6410"/>
          </a:solidFill>
          <a:ln w="12700">
            <a:solidFill>
              <a:srgbClr val="333333"/>
            </a:solidFill>
            <a:prstDash val="solid"/>
          </a:ln>
        </p:spPr>
      </p:sp>
      <p:sp>
        <p:nvSpPr>
          <p:cNvPr id="28" name="Text 26"/>
          <p:cNvSpPr txBox="1"/>
          <p:nvPr/>
        </p:nvSpPr>
        <p:spPr>
          <a:xfrm>
            <a:off x="2898648" y="2459736"/>
            <a:ext cx="420624"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7</a:t>
            </a:r>
            <a:endParaRPr lang="en-US" sz="950" dirty="0"/>
          </a:p>
        </p:txBody>
      </p:sp>
      <p:sp>
        <p:nvSpPr>
          <p:cNvPr id="29" name="Text 27"/>
          <p:cNvSpPr txBox="1"/>
          <p:nvPr/>
        </p:nvSpPr>
        <p:spPr>
          <a:xfrm>
            <a:off x="576072" y="2615184"/>
            <a:ext cx="2267712" cy="237744"/>
          </a:xfrm>
          <a:prstGeom prst="rect">
            <a:avLst/>
          </a:prstGeom>
          <a:noFill/>
          <a:ln/>
        </p:spPr>
        <p:txBody>
          <a:bodyPr wrap="square" lIns="0" tIns="0" rIns="0" bIns="0" rtlCol="0" anchor="ctr"/>
          <a:lstStyle/>
          <a:p>
            <a:pPr indent="0" marL="0">
              <a:lnSpc>
                <a:spcPts val="800"/>
              </a:lnSpc>
              <a:buNone/>
            </a:pPr>
            <a:r>
              <a:rPr lang="en-US" sz="690" dirty="0">
                <a:solidFill>
                  <a:srgbClr val="55606E"/>
                </a:solidFill>
                <a:latin typeface="Calibri" pitchFamily="34" charset="0"/>
                <a:ea typeface="Calibri" pitchFamily="34" charset="-122"/>
                <a:cs typeface="Calibri" pitchFamily="34" charset="-120"/>
              </a:rPr>
              <a:t>Scheduled design assurance for Lean+; on-demand unblocking for Lean.</a:t>
            </a:r>
            <a:endParaRPr lang="en-US" sz="690" dirty="0"/>
          </a:p>
        </p:txBody>
      </p:sp>
      <p:sp>
        <p:nvSpPr>
          <p:cNvPr id="30" name="Text 28"/>
          <p:cNvSpPr txBox="1"/>
          <p:nvPr/>
        </p:nvSpPr>
        <p:spPr>
          <a:xfrm>
            <a:off x="3465576" y="2395728"/>
            <a:ext cx="1371600" cy="146304"/>
          </a:xfrm>
          <a:prstGeom prst="rect">
            <a:avLst/>
          </a:prstGeom>
          <a:noFill/>
          <a:ln/>
        </p:spPr>
        <p:txBody>
          <a:bodyPr wrap="square" lIns="0" tIns="0" rIns="0" bIns="0" rtlCol="0" anchor="ctr"/>
          <a:lstStyle/>
          <a:p>
            <a:pPr indent="0" marL="0">
              <a:buNone/>
            </a:pPr>
            <a:r>
              <a:rPr lang="en-US" sz="600" b="1" spc="70" kern="0" dirty="0">
                <a:solidFill>
                  <a:srgbClr val="55606E"/>
                </a:solidFill>
                <a:latin typeface="Calibri" pitchFamily="34" charset="0"/>
                <a:ea typeface="Calibri" pitchFamily="34" charset="-122"/>
                <a:cs typeface="Calibri" pitchFamily="34" charset="-120"/>
              </a:rPr>
              <a:t>MEASURED BY</a:t>
            </a:r>
            <a:endParaRPr lang="en-US" sz="600" dirty="0"/>
          </a:p>
        </p:txBody>
      </p:sp>
      <p:sp>
        <p:nvSpPr>
          <p:cNvPr id="31" name="Text 29"/>
          <p:cNvSpPr txBox="1"/>
          <p:nvPr/>
        </p:nvSpPr>
        <p:spPr>
          <a:xfrm>
            <a:off x="3465576" y="2560320"/>
            <a:ext cx="4480560" cy="274320"/>
          </a:xfrm>
          <a:prstGeom prst="rect">
            <a:avLst/>
          </a:prstGeom>
          <a:noFill/>
          <a:ln/>
        </p:spPr>
        <p:txBody>
          <a:bodyPr wrap="square" lIns="0" tIns="0" rIns="0" bIns="0" rtlCol="0" anchor="ctr"/>
          <a:lstStyle/>
          <a:p>
            <a:pPr indent="0" marL="0">
              <a:lnSpc>
                <a:spcPts val="880"/>
              </a:lnSpc>
              <a:buNone/>
            </a:pPr>
            <a:r>
              <a:rPr lang="en-US" sz="760" dirty="0">
                <a:solidFill>
                  <a:srgbClr val="1B2432"/>
                </a:solidFill>
                <a:latin typeface="Calibri" pitchFamily="34" charset="0"/>
                <a:ea typeface="Calibri" pitchFamily="34" charset="-122"/>
                <a:cs typeface="Calibri" pitchFamily="34" charset="-120"/>
              </a:rPr>
              <a:t>Checkpoint coverage; time-to-unblock; escalation rate</a:t>
            </a:r>
            <a:endParaRPr lang="en-US" sz="760" dirty="0"/>
          </a:p>
        </p:txBody>
      </p:sp>
      <p:sp>
        <p:nvSpPr>
          <p:cNvPr id="32" name="Shape 30"/>
          <p:cNvSpPr/>
          <p:nvPr/>
        </p:nvSpPr>
        <p:spPr>
          <a:xfrm>
            <a:off x="411480" y="2962656"/>
            <a:ext cx="7680960" cy="566928"/>
          </a:xfrm>
          <a:prstGeom prst="roundRect">
            <a:avLst>
              <a:gd name="adj" fmla="val 6452"/>
            </a:avLst>
          </a:prstGeom>
          <a:solidFill>
            <a:srgbClr val="FFFFFF"/>
          </a:solidFill>
          <a:ln w="13335">
            <a:solidFill>
              <a:srgbClr val="5B4A72"/>
            </a:solidFill>
            <a:prstDash val="solid"/>
          </a:ln>
        </p:spPr>
      </p:sp>
      <p:sp>
        <p:nvSpPr>
          <p:cNvPr id="33" name="Shape 31"/>
          <p:cNvSpPr/>
          <p:nvPr/>
        </p:nvSpPr>
        <p:spPr>
          <a:xfrm>
            <a:off x="411480" y="2962656"/>
            <a:ext cx="54864" cy="566928"/>
          </a:xfrm>
          <a:prstGeom prst="rect">
            <a:avLst/>
          </a:prstGeom>
          <a:solidFill>
            <a:srgbClr val="5B4A72"/>
          </a:solidFill>
          <a:ln w="12700">
            <a:solidFill>
              <a:srgbClr val="333333"/>
            </a:solidFill>
            <a:prstDash val="solid"/>
          </a:ln>
        </p:spPr>
      </p:sp>
      <p:sp>
        <p:nvSpPr>
          <p:cNvPr id="34" name="Text 32"/>
          <p:cNvSpPr txBox="1"/>
          <p:nvPr/>
        </p:nvSpPr>
        <p:spPr>
          <a:xfrm>
            <a:off x="576072" y="3017520"/>
            <a:ext cx="2286000" cy="219456"/>
          </a:xfrm>
          <a:prstGeom prst="rect">
            <a:avLst/>
          </a:prstGeom>
          <a:noFill/>
          <a:ln/>
        </p:spPr>
        <p:txBody>
          <a:bodyPr wrap="square" lIns="0" tIns="0" rIns="0" bIns="0" rtlCol="0" anchor="ctr"/>
          <a:lstStyle/>
          <a:p>
            <a:pPr indent="0" marL="0">
              <a:buNone/>
            </a:pPr>
            <a:r>
              <a:rPr lang="en-US" sz="940" b="1" dirty="0">
                <a:solidFill>
                  <a:srgbClr val="1B2432"/>
                </a:solidFill>
                <a:latin typeface="Calibri" pitchFamily="34" charset="0"/>
                <a:ea typeface="Calibri" pitchFamily="34" charset="-122"/>
                <a:cs typeface="Calibri" pitchFamily="34" charset="-120"/>
              </a:rPr>
              <a:t>Migration Factory</a:t>
            </a:r>
            <a:endParaRPr lang="en-US" sz="940" dirty="0"/>
          </a:p>
        </p:txBody>
      </p:sp>
      <p:sp>
        <p:nvSpPr>
          <p:cNvPr id="35" name="Shape 33"/>
          <p:cNvSpPr/>
          <p:nvPr/>
        </p:nvSpPr>
        <p:spPr>
          <a:xfrm>
            <a:off x="2898648" y="3099816"/>
            <a:ext cx="420624" cy="292608"/>
          </a:xfrm>
          <a:prstGeom prst="roundRect">
            <a:avLst>
              <a:gd name="adj" fmla="val 12500"/>
            </a:avLst>
          </a:prstGeom>
          <a:solidFill>
            <a:srgbClr val="5B4A72"/>
          </a:solidFill>
          <a:ln w="12700">
            <a:solidFill>
              <a:srgbClr val="333333"/>
            </a:solidFill>
            <a:prstDash val="solid"/>
          </a:ln>
        </p:spPr>
      </p:sp>
      <p:sp>
        <p:nvSpPr>
          <p:cNvPr id="36" name="Text 34"/>
          <p:cNvSpPr txBox="1"/>
          <p:nvPr/>
        </p:nvSpPr>
        <p:spPr>
          <a:xfrm>
            <a:off x="2898648" y="3099816"/>
            <a:ext cx="420624"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4</a:t>
            </a:r>
            <a:endParaRPr lang="en-US" sz="950" dirty="0"/>
          </a:p>
        </p:txBody>
      </p:sp>
      <p:sp>
        <p:nvSpPr>
          <p:cNvPr id="37" name="Text 35"/>
          <p:cNvSpPr txBox="1"/>
          <p:nvPr/>
        </p:nvSpPr>
        <p:spPr>
          <a:xfrm>
            <a:off x="576072" y="3255264"/>
            <a:ext cx="2267712" cy="237744"/>
          </a:xfrm>
          <a:prstGeom prst="rect">
            <a:avLst/>
          </a:prstGeom>
          <a:noFill/>
          <a:ln/>
        </p:spPr>
        <p:txBody>
          <a:bodyPr wrap="square" lIns="0" tIns="0" rIns="0" bIns="0" rtlCol="0" anchor="ctr"/>
          <a:lstStyle/>
          <a:p>
            <a:pPr indent="0" marL="0">
              <a:lnSpc>
                <a:spcPts val="800"/>
              </a:lnSpc>
              <a:buNone/>
            </a:pPr>
            <a:r>
              <a:rPr lang="en-US" sz="690" dirty="0">
                <a:solidFill>
                  <a:srgbClr val="55606E"/>
                </a:solidFill>
                <a:latin typeface="Calibri" pitchFamily="34" charset="0"/>
                <a:ea typeface="Calibri" pitchFamily="34" charset="-122"/>
                <a:cs typeface="Calibri" pitchFamily="34" charset="-120"/>
              </a:rPr>
              <a:t>Run legacy and non-compliant remediation as campaigns, not onboardings.</a:t>
            </a:r>
            <a:endParaRPr lang="en-US" sz="690" dirty="0"/>
          </a:p>
        </p:txBody>
      </p:sp>
      <p:sp>
        <p:nvSpPr>
          <p:cNvPr id="38" name="Text 36"/>
          <p:cNvSpPr txBox="1"/>
          <p:nvPr/>
        </p:nvSpPr>
        <p:spPr>
          <a:xfrm>
            <a:off x="3465576" y="3035808"/>
            <a:ext cx="1371600" cy="146304"/>
          </a:xfrm>
          <a:prstGeom prst="rect">
            <a:avLst/>
          </a:prstGeom>
          <a:noFill/>
          <a:ln/>
        </p:spPr>
        <p:txBody>
          <a:bodyPr wrap="square" lIns="0" tIns="0" rIns="0" bIns="0" rtlCol="0" anchor="ctr"/>
          <a:lstStyle/>
          <a:p>
            <a:pPr indent="0" marL="0">
              <a:buNone/>
            </a:pPr>
            <a:r>
              <a:rPr lang="en-US" sz="600" b="1" spc="70" kern="0" dirty="0">
                <a:solidFill>
                  <a:srgbClr val="55606E"/>
                </a:solidFill>
                <a:latin typeface="Calibri" pitchFamily="34" charset="0"/>
                <a:ea typeface="Calibri" pitchFamily="34" charset="-122"/>
                <a:cs typeface="Calibri" pitchFamily="34" charset="-120"/>
              </a:rPr>
              <a:t>MEASURED BY</a:t>
            </a:r>
            <a:endParaRPr lang="en-US" sz="600" dirty="0"/>
          </a:p>
        </p:txBody>
      </p:sp>
      <p:sp>
        <p:nvSpPr>
          <p:cNvPr id="39" name="Text 37"/>
          <p:cNvSpPr txBox="1"/>
          <p:nvPr/>
        </p:nvSpPr>
        <p:spPr>
          <a:xfrm>
            <a:off x="3465576" y="3200400"/>
            <a:ext cx="4480560" cy="274320"/>
          </a:xfrm>
          <a:prstGeom prst="rect">
            <a:avLst/>
          </a:prstGeom>
          <a:noFill/>
          <a:ln/>
        </p:spPr>
        <p:txBody>
          <a:bodyPr wrap="square" lIns="0" tIns="0" rIns="0" bIns="0" rtlCol="0" anchor="ctr"/>
          <a:lstStyle/>
          <a:p>
            <a:pPr indent="0" marL="0">
              <a:lnSpc>
                <a:spcPts val="880"/>
              </a:lnSpc>
              <a:buNone/>
            </a:pPr>
            <a:r>
              <a:rPr lang="en-US" sz="760" dirty="0">
                <a:solidFill>
                  <a:srgbClr val="1B2432"/>
                </a:solidFill>
                <a:latin typeface="Calibri" pitchFamily="34" charset="0"/>
                <a:ea typeface="Calibri" pitchFamily="34" charset="-122"/>
                <a:cs typeface="Calibri" pitchFamily="34" charset="-120"/>
              </a:rPr>
              <a:t>Content volume remediated; repositories decommissioned</a:t>
            </a:r>
            <a:endParaRPr lang="en-US" sz="760" dirty="0"/>
          </a:p>
        </p:txBody>
      </p:sp>
      <p:sp>
        <p:nvSpPr>
          <p:cNvPr id="40" name="Shape 38"/>
          <p:cNvSpPr/>
          <p:nvPr/>
        </p:nvSpPr>
        <p:spPr>
          <a:xfrm>
            <a:off x="411480" y="3602736"/>
            <a:ext cx="7680960" cy="566928"/>
          </a:xfrm>
          <a:prstGeom prst="roundRect">
            <a:avLst>
              <a:gd name="adj" fmla="val 6452"/>
            </a:avLst>
          </a:prstGeom>
          <a:solidFill>
            <a:srgbClr val="FFFFFF"/>
          </a:solidFill>
          <a:ln w="13335">
            <a:solidFill>
              <a:srgbClr val="0B6E6E"/>
            </a:solidFill>
            <a:prstDash val="solid"/>
          </a:ln>
        </p:spPr>
      </p:sp>
      <p:sp>
        <p:nvSpPr>
          <p:cNvPr id="41" name="Shape 39"/>
          <p:cNvSpPr/>
          <p:nvPr/>
        </p:nvSpPr>
        <p:spPr>
          <a:xfrm>
            <a:off x="411480" y="3602736"/>
            <a:ext cx="54864" cy="566928"/>
          </a:xfrm>
          <a:prstGeom prst="rect">
            <a:avLst/>
          </a:prstGeom>
          <a:solidFill>
            <a:srgbClr val="0B6E6E"/>
          </a:solidFill>
          <a:ln w="12700">
            <a:solidFill>
              <a:srgbClr val="333333"/>
            </a:solidFill>
            <a:prstDash val="solid"/>
          </a:ln>
        </p:spPr>
      </p:sp>
      <p:sp>
        <p:nvSpPr>
          <p:cNvPr id="42" name="Text 40"/>
          <p:cNvSpPr txBox="1"/>
          <p:nvPr/>
        </p:nvSpPr>
        <p:spPr>
          <a:xfrm>
            <a:off x="576072" y="3657600"/>
            <a:ext cx="2286000" cy="219456"/>
          </a:xfrm>
          <a:prstGeom prst="rect">
            <a:avLst/>
          </a:prstGeom>
          <a:noFill/>
          <a:ln/>
        </p:spPr>
        <p:txBody>
          <a:bodyPr wrap="square" lIns="0" tIns="0" rIns="0" bIns="0" rtlCol="0" anchor="ctr"/>
          <a:lstStyle/>
          <a:p>
            <a:pPr indent="0" marL="0">
              <a:buNone/>
            </a:pPr>
            <a:r>
              <a:rPr lang="en-US" sz="940" b="1" dirty="0">
                <a:solidFill>
                  <a:srgbClr val="1B2432"/>
                </a:solidFill>
                <a:latin typeface="Calibri" pitchFamily="34" charset="0"/>
                <a:ea typeface="Calibri" pitchFamily="34" charset="-122"/>
                <a:cs typeface="Calibri" pitchFamily="34" charset="-120"/>
              </a:rPr>
              <a:t>Governance &amp; Compliance Desk</a:t>
            </a:r>
            <a:endParaRPr lang="en-US" sz="940" dirty="0"/>
          </a:p>
        </p:txBody>
      </p:sp>
      <p:sp>
        <p:nvSpPr>
          <p:cNvPr id="43" name="Shape 41"/>
          <p:cNvSpPr/>
          <p:nvPr/>
        </p:nvSpPr>
        <p:spPr>
          <a:xfrm>
            <a:off x="2898648" y="3739896"/>
            <a:ext cx="420624" cy="292608"/>
          </a:xfrm>
          <a:prstGeom prst="roundRect">
            <a:avLst>
              <a:gd name="adj" fmla="val 12500"/>
            </a:avLst>
          </a:prstGeom>
          <a:solidFill>
            <a:srgbClr val="0B6E6E"/>
          </a:solidFill>
          <a:ln w="12700">
            <a:solidFill>
              <a:srgbClr val="333333"/>
            </a:solidFill>
            <a:prstDash val="solid"/>
          </a:ln>
        </p:spPr>
      </p:sp>
      <p:sp>
        <p:nvSpPr>
          <p:cNvPr id="44" name="Text 42"/>
          <p:cNvSpPr txBox="1"/>
          <p:nvPr/>
        </p:nvSpPr>
        <p:spPr>
          <a:xfrm>
            <a:off x="2898648" y="3739896"/>
            <a:ext cx="420624"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a:t>
            </a:r>
            <a:endParaRPr lang="en-US" sz="950" dirty="0"/>
          </a:p>
        </p:txBody>
      </p:sp>
      <p:sp>
        <p:nvSpPr>
          <p:cNvPr id="45" name="Text 43"/>
          <p:cNvSpPr txBox="1"/>
          <p:nvPr/>
        </p:nvSpPr>
        <p:spPr>
          <a:xfrm>
            <a:off x="576072" y="3895344"/>
            <a:ext cx="2267712" cy="237744"/>
          </a:xfrm>
          <a:prstGeom prst="rect">
            <a:avLst/>
          </a:prstGeom>
          <a:noFill/>
          <a:ln/>
        </p:spPr>
        <p:txBody>
          <a:bodyPr wrap="square" lIns="0" tIns="0" rIns="0" bIns="0" rtlCol="0" anchor="ctr"/>
          <a:lstStyle/>
          <a:p>
            <a:pPr indent="0" marL="0">
              <a:lnSpc>
                <a:spcPts val="800"/>
              </a:lnSpc>
              <a:buNone/>
            </a:pPr>
            <a:r>
              <a:rPr lang="en-US" sz="690" dirty="0">
                <a:solidFill>
                  <a:srgbClr val="55606E"/>
                </a:solidFill>
                <a:latin typeface="Calibri" pitchFamily="34" charset="0"/>
                <a:ea typeface="Calibri" pitchFamily="34" charset="-122"/>
                <a:cs typeface="Calibri" pitchFamily="34" charset="-120"/>
              </a:rPr>
              <a:t>Hold the determinations every tier depends on, to a published service level.</a:t>
            </a:r>
            <a:endParaRPr lang="en-US" sz="690" dirty="0"/>
          </a:p>
        </p:txBody>
      </p:sp>
      <p:sp>
        <p:nvSpPr>
          <p:cNvPr id="46" name="Text 44"/>
          <p:cNvSpPr txBox="1"/>
          <p:nvPr/>
        </p:nvSpPr>
        <p:spPr>
          <a:xfrm>
            <a:off x="3465576" y="3675888"/>
            <a:ext cx="1371600" cy="146304"/>
          </a:xfrm>
          <a:prstGeom prst="rect">
            <a:avLst/>
          </a:prstGeom>
          <a:noFill/>
          <a:ln/>
        </p:spPr>
        <p:txBody>
          <a:bodyPr wrap="square" lIns="0" tIns="0" rIns="0" bIns="0" rtlCol="0" anchor="ctr"/>
          <a:lstStyle/>
          <a:p>
            <a:pPr indent="0" marL="0">
              <a:buNone/>
            </a:pPr>
            <a:r>
              <a:rPr lang="en-US" sz="600" b="1" spc="70" kern="0" dirty="0">
                <a:solidFill>
                  <a:srgbClr val="55606E"/>
                </a:solidFill>
                <a:latin typeface="Calibri" pitchFamily="34" charset="0"/>
                <a:ea typeface="Calibri" pitchFamily="34" charset="-122"/>
                <a:cs typeface="Calibri" pitchFamily="34" charset="-120"/>
              </a:rPr>
              <a:t>MEASURED BY</a:t>
            </a:r>
            <a:endParaRPr lang="en-US" sz="600" dirty="0"/>
          </a:p>
        </p:txBody>
      </p:sp>
      <p:sp>
        <p:nvSpPr>
          <p:cNvPr id="47" name="Text 45"/>
          <p:cNvSpPr txBox="1"/>
          <p:nvPr/>
        </p:nvSpPr>
        <p:spPr>
          <a:xfrm>
            <a:off x="3465576" y="3840480"/>
            <a:ext cx="4480560" cy="274320"/>
          </a:xfrm>
          <a:prstGeom prst="rect">
            <a:avLst/>
          </a:prstGeom>
          <a:noFill/>
          <a:ln/>
        </p:spPr>
        <p:txBody>
          <a:bodyPr wrap="square" lIns="0" tIns="0" rIns="0" bIns="0" rtlCol="0" anchor="ctr"/>
          <a:lstStyle/>
          <a:p>
            <a:pPr indent="0" marL="0">
              <a:lnSpc>
                <a:spcPts val="880"/>
              </a:lnSpc>
              <a:buNone/>
            </a:pPr>
            <a:r>
              <a:rPr lang="en-US" sz="760" dirty="0">
                <a:solidFill>
                  <a:srgbClr val="1B2432"/>
                </a:solidFill>
                <a:latin typeface="Calibri" pitchFamily="34" charset="0"/>
                <a:ea typeface="Calibri" pitchFamily="34" charset="-122"/>
                <a:cs typeface="Calibri" pitchFamily="34" charset="-120"/>
              </a:rPr>
              <a:t>Determination turnaround; compliance findings avoided</a:t>
            </a:r>
            <a:endParaRPr lang="en-US" sz="760" dirty="0"/>
          </a:p>
        </p:txBody>
      </p:sp>
      <p:sp>
        <p:nvSpPr>
          <p:cNvPr id="48" name="Shape 46"/>
          <p:cNvSpPr/>
          <p:nvPr/>
        </p:nvSpPr>
        <p:spPr>
          <a:xfrm>
            <a:off x="8293608" y="1042416"/>
            <a:ext cx="3456432" cy="1719072"/>
          </a:xfrm>
          <a:prstGeom prst="roundRect">
            <a:avLst>
              <a:gd name="adj" fmla="val 2660"/>
            </a:avLst>
          </a:prstGeom>
          <a:solidFill>
            <a:srgbClr val="FFFFFF"/>
          </a:solidFill>
          <a:ln w="15875">
            <a:solidFill>
              <a:srgbClr val="15304F"/>
            </a:solidFill>
            <a:prstDash val="solid"/>
          </a:ln>
          <a:effectLst>
            <a:outerShdw sx="100000" sy="100000" kx="0" ky="0" algn="bl" rotWithShape="0" blurRad="88900" dist="12700" dir="5400000">
              <a:srgbClr val="97A3B4">
                <a:alpha val="16000"/>
              </a:srgbClr>
            </a:outerShdw>
          </a:effectLst>
        </p:spPr>
      </p:sp>
      <p:sp>
        <p:nvSpPr>
          <p:cNvPr id="49" name="Text 47"/>
          <p:cNvSpPr txBox="1"/>
          <p:nvPr/>
        </p:nvSpPr>
        <p:spPr>
          <a:xfrm>
            <a:off x="8439912" y="1170432"/>
            <a:ext cx="3163824" cy="164592"/>
          </a:xfrm>
          <a:prstGeom prst="rect">
            <a:avLst/>
          </a:prstGeom>
          <a:noFill/>
          <a:ln/>
        </p:spPr>
        <p:txBody>
          <a:bodyPr wrap="square" lIns="0" tIns="0" rIns="0" bIns="0" rtlCol="0" anchor="ctr"/>
          <a:lstStyle/>
          <a:p>
            <a:pPr indent="0" marL="0">
              <a:buNone/>
            </a:pPr>
            <a:r>
              <a:rPr lang="en-US" sz="720" b="1" spc="100" kern="0" dirty="0">
                <a:solidFill>
                  <a:srgbClr val="15304F"/>
                </a:solidFill>
                <a:latin typeface="Calibri" pitchFamily="34" charset="0"/>
                <a:ea typeface="Calibri" pitchFamily="34" charset="-122"/>
                <a:cs typeface="Calibri" pitchFamily="34" charset="-120"/>
              </a:rPr>
              <a:t>THE DIAGNOSIS</a:t>
            </a:r>
            <a:endParaRPr lang="en-US" sz="720" dirty="0"/>
          </a:p>
        </p:txBody>
      </p:sp>
      <p:sp>
        <p:nvSpPr>
          <p:cNvPr id="50" name="Text 48"/>
          <p:cNvSpPr txBox="1"/>
          <p:nvPr/>
        </p:nvSpPr>
        <p:spPr>
          <a:xfrm>
            <a:off x="8439912" y="1353312"/>
            <a:ext cx="3163824" cy="310896"/>
          </a:xfrm>
          <a:prstGeom prst="rect">
            <a:avLst/>
          </a:prstGeom>
          <a:noFill/>
          <a:ln/>
        </p:spPr>
        <p:txBody>
          <a:bodyPr wrap="square" lIns="0" tIns="0" rIns="0" bIns="0" rtlCol="0" anchor="t"/>
          <a:lstStyle/>
          <a:p>
            <a:pPr indent="0" marL="0">
              <a:lnSpc>
                <a:spcPts val="1300"/>
              </a:lnSpc>
              <a:buNone/>
            </a:pPr>
            <a:r>
              <a:rPr lang="en-US" sz="1050" b="1" dirty="0">
                <a:solidFill>
                  <a:srgbClr val="1B2432"/>
                </a:solidFill>
                <a:latin typeface="Calibri" pitchFamily="34" charset="0"/>
                <a:ea typeface="Calibri" pitchFamily="34" charset="-122"/>
                <a:cs typeface="Calibri" pitchFamily="34" charset="-120"/>
              </a:rPr>
              <a:t>Why the current shape cannot deliver it</a:t>
            </a:r>
            <a:endParaRPr lang="en-US" sz="1050" dirty="0"/>
          </a:p>
        </p:txBody>
      </p:sp>
      <p:sp>
        <p:nvSpPr>
          <p:cNvPr id="51" name="Text 49"/>
          <p:cNvSpPr txBox="1"/>
          <p:nvPr/>
        </p:nvSpPr>
        <p:spPr>
          <a:xfrm>
            <a:off x="8439912" y="1828800"/>
            <a:ext cx="3163824" cy="786384"/>
          </a:xfrm>
          <a:prstGeom prst="rect">
            <a:avLst/>
          </a:prstGeom>
          <a:noFill/>
          <a:ln/>
        </p:spPr>
        <p:txBody>
          <a:bodyPr wrap="square" lIns="0" tIns="0" rIns="0" bIns="0" rtlCol="0" anchor="t"/>
          <a:lstStyle/>
          <a:p>
            <a:pPr indent="0" marL="0">
              <a:lnSpc>
                <a:spcPts val="1000"/>
              </a:lnSpc>
              <a:spcAft>
                <a:spcPts val="250"/>
              </a:spcAft>
              <a:buNone/>
            </a:pPr>
            <a:r>
              <a:rPr lang="en-US" sz="740" dirty="0">
                <a:solidFill>
                  <a:srgbClr val="55606E"/>
                </a:solidFill>
                <a:latin typeface="Calibri" pitchFamily="34" charset="0"/>
                <a:ea typeface="Calibri" pitchFamily="34" charset="-122"/>
                <a:cs typeface="Calibri" pitchFamily="34" charset="-120"/>
              </a:rPr>
              <a:t>Everything competes with everything — routine work fragments complex work in one backlog</a:t>
            </a:r>
            <a:endParaRPr lang="en-US" sz="740" dirty="0"/>
          </a:p>
          <a:p>
            <a:pPr indent="0" marL="0">
              <a:lnSpc>
                <a:spcPts val="1000"/>
              </a:lnSpc>
              <a:spcAft>
                <a:spcPts val="250"/>
              </a:spcAft>
              <a:buNone/>
            </a:pPr>
            <a:r>
              <a:rPr lang="en-US" sz="740" dirty="0">
                <a:solidFill>
                  <a:srgbClr val="55606E"/>
                </a:solidFill>
                <a:latin typeface="Calibri" pitchFamily="34" charset="0"/>
                <a:ea typeface="Calibri" pitchFamily="34" charset="-122"/>
                <a:cs typeface="Calibri" pitchFamily="34" charset="-120"/>
              </a:rPr>
              <a:t>Nobody owns the platform, which is why patterns are not harvested today</a:t>
            </a:r>
            <a:endParaRPr lang="en-US" sz="740" dirty="0"/>
          </a:p>
          <a:p>
            <a:pPr indent="0" marL="0">
              <a:lnSpc>
                <a:spcPts val="1000"/>
              </a:lnSpc>
              <a:spcAft>
                <a:spcPts val="250"/>
              </a:spcAft>
              <a:buNone/>
            </a:pPr>
            <a:r>
              <a:rPr lang="en-US" sz="740" dirty="0">
                <a:solidFill>
                  <a:srgbClr val="55606E"/>
                </a:solidFill>
                <a:latin typeface="Calibri" pitchFamily="34" charset="0"/>
                <a:ea typeface="Calibri" pitchFamily="34" charset="-122"/>
                <a:cs typeface="Calibri" pitchFamily="34" charset="-120"/>
              </a:rPr>
              <a:t>Specialist governance knowledge is spread thinly across three teams at partial depth</a:t>
            </a:r>
            <a:endParaRPr lang="en-US" sz="740" dirty="0"/>
          </a:p>
        </p:txBody>
      </p:sp>
      <p:sp>
        <p:nvSpPr>
          <p:cNvPr id="52" name="Text 50"/>
          <p:cNvSpPr txBox="1"/>
          <p:nvPr/>
        </p:nvSpPr>
        <p:spPr>
          <a:xfrm>
            <a:off x="8293608" y="2889504"/>
            <a:ext cx="3657600" cy="182880"/>
          </a:xfrm>
          <a:prstGeom prst="rect">
            <a:avLst/>
          </a:prstGeom>
          <a:noFill/>
          <a:ln/>
        </p:spPr>
        <p:txBody>
          <a:bodyPr wrap="square" lIns="0" tIns="0" rIns="0" bIns="0" rtlCol="0" anchor="ctr"/>
          <a:lstStyle/>
          <a:p>
            <a:pPr indent="0" marL="0">
              <a:buNone/>
            </a:pPr>
            <a:r>
              <a:rPr lang="en-US" sz="760" b="1" spc="110" kern="0" dirty="0">
                <a:solidFill>
                  <a:srgbClr val="1B2432"/>
                </a:solidFill>
                <a:latin typeface="Calibri" pitchFamily="34" charset="0"/>
                <a:ea typeface="Calibri" pitchFamily="34" charset="-122"/>
                <a:cs typeface="Calibri" pitchFamily="34" charset="-120"/>
              </a:rPr>
              <a:t>HEADCOUNT — 33 TODAY, 33 TARGET</a:t>
            </a:r>
            <a:endParaRPr lang="en-US" sz="760" dirty="0"/>
          </a:p>
        </p:txBody>
      </p:sp>
      <p:sp>
        <p:nvSpPr>
          <p:cNvPr id="53" name="Shape 51"/>
          <p:cNvSpPr/>
          <p:nvPr/>
        </p:nvSpPr>
        <p:spPr>
          <a:xfrm>
            <a:off x="8293608" y="3090672"/>
            <a:ext cx="3456432" cy="228600"/>
          </a:xfrm>
          <a:prstGeom prst="rect">
            <a:avLst/>
          </a:prstGeom>
          <a:solidFill>
            <a:srgbClr val="15304F"/>
          </a:solidFill>
          <a:ln w="6350">
            <a:solidFill>
              <a:srgbClr val="15304F"/>
            </a:solidFill>
            <a:prstDash val="solid"/>
          </a:ln>
        </p:spPr>
      </p:sp>
      <p:sp>
        <p:nvSpPr>
          <p:cNvPr id="54" name="Text 52"/>
          <p:cNvSpPr txBox="1"/>
          <p:nvPr/>
        </p:nvSpPr>
        <p:spPr>
          <a:xfrm>
            <a:off x="8366760" y="3090672"/>
            <a:ext cx="1591056" cy="228600"/>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Function</a:t>
            </a:r>
            <a:endParaRPr lang="en-US" sz="800" dirty="0"/>
          </a:p>
        </p:txBody>
      </p:sp>
      <p:sp>
        <p:nvSpPr>
          <p:cNvPr id="55" name="Text 53"/>
          <p:cNvSpPr txBox="1"/>
          <p:nvPr/>
        </p:nvSpPr>
        <p:spPr>
          <a:xfrm>
            <a:off x="10104120" y="3090672"/>
            <a:ext cx="713232" cy="228600"/>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Today</a:t>
            </a:r>
            <a:endParaRPr lang="en-US" sz="800" dirty="0"/>
          </a:p>
        </p:txBody>
      </p:sp>
      <p:sp>
        <p:nvSpPr>
          <p:cNvPr id="56" name="Text 54"/>
          <p:cNvSpPr txBox="1"/>
          <p:nvPr/>
        </p:nvSpPr>
        <p:spPr>
          <a:xfrm>
            <a:off x="10963656" y="3090672"/>
            <a:ext cx="713232" cy="228600"/>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Target</a:t>
            </a:r>
            <a:endParaRPr lang="en-US" sz="800" dirty="0"/>
          </a:p>
        </p:txBody>
      </p:sp>
      <p:sp>
        <p:nvSpPr>
          <p:cNvPr id="57" name="Shape 55"/>
          <p:cNvSpPr/>
          <p:nvPr/>
        </p:nvSpPr>
        <p:spPr>
          <a:xfrm>
            <a:off x="8293608" y="3319272"/>
            <a:ext cx="3456432" cy="214884"/>
          </a:xfrm>
          <a:prstGeom prst="rect">
            <a:avLst/>
          </a:prstGeom>
          <a:solidFill>
            <a:srgbClr val="FFFFFF"/>
          </a:solidFill>
          <a:ln w="6350">
            <a:solidFill>
              <a:srgbClr val="D4DAE2"/>
            </a:solidFill>
            <a:prstDash val="solid"/>
          </a:ln>
        </p:spPr>
      </p:sp>
      <p:sp>
        <p:nvSpPr>
          <p:cNvPr id="58" name="Text 56"/>
          <p:cNvSpPr txBox="1"/>
          <p:nvPr/>
        </p:nvSpPr>
        <p:spPr>
          <a:xfrm>
            <a:off x="8366760" y="3319272"/>
            <a:ext cx="1591056" cy="214884"/>
          </a:xfrm>
          <a:prstGeom prst="rect">
            <a:avLst/>
          </a:prstGeom>
          <a:noFill/>
          <a:ln/>
        </p:spPr>
        <p:txBody>
          <a:bodyPr wrap="square" lIns="0" tIns="0" rIns="0" bIns="0" rtlCol="0" anchor="ctr"/>
          <a:lstStyle/>
          <a:p>
            <a:pPr algn="l" indent="0" marL="0">
              <a:buNone/>
            </a:pPr>
            <a:r>
              <a:rPr lang="en-US" sz="730" b="1" dirty="0">
                <a:solidFill>
                  <a:srgbClr val="1B2432"/>
                </a:solidFill>
                <a:latin typeface="Calibri" pitchFamily="34" charset="0"/>
                <a:ea typeface="Calibri" pitchFamily="34" charset="-122"/>
                <a:cs typeface="Calibri" pitchFamily="34" charset="-120"/>
              </a:rPr>
              <a:t>Platform Engineering</a:t>
            </a:r>
            <a:endParaRPr lang="en-US" sz="730" dirty="0"/>
          </a:p>
        </p:txBody>
      </p:sp>
      <p:sp>
        <p:nvSpPr>
          <p:cNvPr id="59" name="Text 57"/>
          <p:cNvSpPr txBox="1"/>
          <p:nvPr/>
        </p:nvSpPr>
        <p:spPr>
          <a:xfrm>
            <a:off x="10104120" y="3319272"/>
            <a:ext cx="713232" cy="214884"/>
          </a:xfrm>
          <a:prstGeom prst="rect">
            <a:avLst/>
          </a:prstGeom>
          <a:noFill/>
          <a:ln/>
        </p:spPr>
        <p:txBody>
          <a:bodyPr wrap="square" lIns="0" tIns="0" rIns="0" bIns="0" rtlCol="0" anchor="ctr"/>
          <a:lstStyle/>
          <a:p>
            <a:pPr algn="l" indent="0" marL="0">
              <a:buNone/>
            </a:pPr>
            <a:r>
              <a:rPr lang="en-US" sz="730" dirty="0">
                <a:solidFill>
                  <a:srgbClr val="1B2432"/>
                </a:solidFill>
                <a:latin typeface="Calibri" pitchFamily="34" charset="0"/>
                <a:ea typeface="Calibri" pitchFamily="34" charset="-122"/>
                <a:cs typeface="Calibri" pitchFamily="34" charset="-120"/>
              </a:rPr>
              <a:t>0</a:t>
            </a:r>
            <a:endParaRPr lang="en-US" sz="730" dirty="0"/>
          </a:p>
        </p:txBody>
      </p:sp>
      <p:sp>
        <p:nvSpPr>
          <p:cNvPr id="60" name="Text 58"/>
          <p:cNvSpPr txBox="1"/>
          <p:nvPr/>
        </p:nvSpPr>
        <p:spPr>
          <a:xfrm>
            <a:off x="10963656" y="3319272"/>
            <a:ext cx="713232" cy="214884"/>
          </a:xfrm>
          <a:prstGeom prst="rect">
            <a:avLst/>
          </a:prstGeom>
          <a:noFill/>
          <a:ln/>
        </p:spPr>
        <p:txBody>
          <a:bodyPr wrap="square" lIns="0" tIns="0" rIns="0" bIns="0" rtlCol="0" anchor="ctr"/>
          <a:lstStyle/>
          <a:p>
            <a:pPr algn="l" indent="0" marL="0">
              <a:buNone/>
            </a:pPr>
            <a:r>
              <a:rPr lang="en-US" sz="730" dirty="0">
                <a:solidFill>
                  <a:srgbClr val="1B2432"/>
                </a:solidFill>
                <a:latin typeface="Calibri" pitchFamily="34" charset="0"/>
                <a:ea typeface="Calibri" pitchFamily="34" charset="-122"/>
                <a:cs typeface="Calibri" pitchFamily="34" charset="-120"/>
              </a:rPr>
              <a:t>9</a:t>
            </a:r>
            <a:endParaRPr lang="en-US" sz="730" dirty="0"/>
          </a:p>
        </p:txBody>
      </p:sp>
      <p:sp>
        <p:nvSpPr>
          <p:cNvPr id="61" name="Shape 59"/>
          <p:cNvSpPr/>
          <p:nvPr/>
        </p:nvSpPr>
        <p:spPr>
          <a:xfrm>
            <a:off x="8293608" y="3534156"/>
            <a:ext cx="3456432" cy="214884"/>
          </a:xfrm>
          <a:prstGeom prst="rect">
            <a:avLst/>
          </a:prstGeom>
          <a:solidFill>
            <a:srgbClr val="F4F7FA"/>
          </a:solidFill>
          <a:ln w="6350">
            <a:solidFill>
              <a:srgbClr val="D4DAE2"/>
            </a:solidFill>
            <a:prstDash val="solid"/>
          </a:ln>
        </p:spPr>
      </p:sp>
      <p:sp>
        <p:nvSpPr>
          <p:cNvPr id="62" name="Text 60"/>
          <p:cNvSpPr txBox="1"/>
          <p:nvPr/>
        </p:nvSpPr>
        <p:spPr>
          <a:xfrm>
            <a:off x="8366760" y="3534156"/>
            <a:ext cx="1591056" cy="214884"/>
          </a:xfrm>
          <a:prstGeom prst="rect">
            <a:avLst/>
          </a:prstGeom>
          <a:noFill/>
          <a:ln/>
        </p:spPr>
        <p:txBody>
          <a:bodyPr wrap="square" lIns="0" tIns="0" rIns="0" bIns="0" rtlCol="0" anchor="ctr"/>
          <a:lstStyle/>
          <a:p>
            <a:pPr algn="l" indent="0" marL="0">
              <a:buNone/>
            </a:pPr>
            <a:r>
              <a:rPr lang="en-US" sz="730" b="1" dirty="0">
                <a:solidFill>
                  <a:srgbClr val="1B2432"/>
                </a:solidFill>
                <a:latin typeface="Calibri" pitchFamily="34" charset="0"/>
                <a:ea typeface="Calibri" pitchFamily="34" charset="-122"/>
                <a:cs typeface="Calibri" pitchFamily="34" charset="-120"/>
              </a:rPr>
              <a:t>Enablement Pods</a:t>
            </a:r>
            <a:endParaRPr lang="en-US" sz="730" dirty="0"/>
          </a:p>
        </p:txBody>
      </p:sp>
      <p:sp>
        <p:nvSpPr>
          <p:cNvPr id="63" name="Text 61"/>
          <p:cNvSpPr txBox="1"/>
          <p:nvPr/>
        </p:nvSpPr>
        <p:spPr>
          <a:xfrm>
            <a:off x="10104120" y="3534156"/>
            <a:ext cx="713232" cy="214884"/>
          </a:xfrm>
          <a:prstGeom prst="rect">
            <a:avLst/>
          </a:prstGeom>
          <a:noFill/>
          <a:ln/>
        </p:spPr>
        <p:txBody>
          <a:bodyPr wrap="square" lIns="0" tIns="0" rIns="0" bIns="0" rtlCol="0" anchor="ctr"/>
          <a:lstStyle/>
          <a:p>
            <a:pPr algn="l" indent="0" marL="0">
              <a:buNone/>
            </a:pPr>
            <a:r>
              <a:rPr lang="en-US" sz="730" dirty="0">
                <a:solidFill>
                  <a:srgbClr val="1B2432"/>
                </a:solidFill>
                <a:latin typeface="Calibri" pitchFamily="34" charset="0"/>
                <a:ea typeface="Calibri" pitchFamily="34" charset="-122"/>
                <a:cs typeface="Calibri" pitchFamily="34" charset="-120"/>
              </a:rPr>
              <a:t>0</a:t>
            </a:r>
            <a:endParaRPr lang="en-US" sz="730" dirty="0"/>
          </a:p>
        </p:txBody>
      </p:sp>
      <p:sp>
        <p:nvSpPr>
          <p:cNvPr id="64" name="Text 62"/>
          <p:cNvSpPr txBox="1"/>
          <p:nvPr/>
        </p:nvSpPr>
        <p:spPr>
          <a:xfrm>
            <a:off x="10963656" y="3534156"/>
            <a:ext cx="713232" cy="214884"/>
          </a:xfrm>
          <a:prstGeom prst="rect">
            <a:avLst/>
          </a:prstGeom>
          <a:noFill/>
          <a:ln/>
        </p:spPr>
        <p:txBody>
          <a:bodyPr wrap="square" lIns="0" tIns="0" rIns="0" bIns="0" rtlCol="0" anchor="ctr"/>
          <a:lstStyle/>
          <a:p>
            <a:pPr algn="l" indent="0" marL="0">
              <a:buNone/>
            </a:pPr>
            <a:r>
              <a:rPr lang="en-US" sz="730" dirty="0">
                <a:solidFill>
                  <a:srgbClr val="1B2432"/>
                </a:solidFill>
                <a:latin typeface="Calibri" pitchFamily="34" charset="0"/>
                <a:ea typeface="Calibri" pitchFamily="34" charset="-122"/>
                <a:cs typeface="Calibri" pitchFamily="34" charset="-120"/>
              </a:rPr>
              <a:t>10</a:t>
            </a:r>
            <a:endParaRPr lang="en-US" sz="730" dirty="0"/>
          </a:p>
        </p:txBody>
      </p:sp>
      <p:sp>
        <p:nvSpPr>
          <p:cNvPr id="65" name="Shape 63"/>
          <p:cNvSpPr/>
          <p:nvPr/>
        </p:nvSpPr>
        <p:spPr>
          <a:xfrm>
            <a:off x="8293608" y="3749040"/>
            <a:ext cx="3456432" cy="214884"/>
          </a:xfrm>
          <a:prstGeom prst="rect">
            <a:avLst/>
          </a:prstGeom>
          <a:solidFill>
            <a:srgbClr val="FFFFFF"/>
          </a:solidFill>
          <a:ln w="6350">
            <a:solidFill>
              <a:srgbClr val="D4DAE2"/>
            </a:solidFill>
            <a:prstDash val="solid"/>
          </a:ln>
        </p:spPr>
      </p:sp>
      <p:sp>
        <p:nvSpPr>
          <p:cNvPr id="66" name="Text 64"/>
          <p:cNvSpPr txBox="1"/>
          <p:nvPr/>
        </p:nvSpPr>
        <p:spPr>
          <a:xfrm>
            <a:off x="8366760" y="3749040"/>
            <a:ext cx="1591056" cy="214884"/>
          </a:xfrm>
          <a:prstGeom prst="rect">
            <a:avLst/>
          </a:prstGeom>
          <a:noFill/>
          <a:ln/>
        </p:spPr>
        <p:txBody>
          <a:bodyPr wrap="square" lIns="0" tIns="0" rIns="0" bIns="0" rtlCol="0" anchor="ctr"/>
          <a:lstStyle/>
          <a:p>
            <a:pPr algn="l" indent="0" marL="0">
              <a:buNone/>
            </a:pPr>
            <a:r>
              <a:rPr lang="en-US" sz="730" b="1" dirty="0">
                <a:solidFill>
                  <a:srgbClr val="1B2432"/>
                </a:solidFill>
                <a:latin typeface="Calibri" pitchFamily="34" charset="0"/>
                <a:ea typeface="Calibri" pitchFamily="34" charset="-122"/>
                <a:cs typeface="Calibri" pitchFamily="34" charset="-120"/>
              </a:rPr>
              <a:t>Enablement Clinic</a:t>
            </a:r>
            <a:endParaRPr lang="en-US" sz="730" dirty="0"/>
          </a:p>
        </p:txBody>
      </p:sp>
      <p:sp>
        <p:nvSpPr>
          <p:cNvPr id="67" name="Text 65"/>
          <p:cNvSpPr txBox="1"/>
          <p:nvPr/>
        </p:nvSpPr>
        <p:spPr>
          <a:xfrm>
            <a:off x="10104120" y="3749040"/>
            <a:ext cx="713232" cy="214884"/>
          </a:xfrm>
          <a:prstGeom prst="rect">
            <a:avLst/>
          </a:prstGeom>
          <a:noFill/>
          <a:ln/>
        </p:spPr>
        <p:txBody>
          <a:bodyPr wrap="square" lIns="0" tIns="0" rIns="0" bIns="0" rtlCol="0" anchor="ctr"/>
          <a:lstStyle/>
          <a:p>
            <a:pPr algn="l" indent="0" marL="0">
              <a:buNone/>
            </a:pPr>
            <a:r>
              <a:rPr lang="en-US" sz="730" dirty="0">
                <a:solidFill>
                  <a:srgbClr val="1B2432"/>
                </a:solidFill>
                <a:latin typeface="Calibri" pitchFamily="34" charset="0"/>
                <a:ea typeface="Calibri" pitchFamily="34" charset="-122"/>
                <a:cs typeface="Calibri" pitchFamily="34" charset="-120"/>
              </a:rPr>
              <a:t>0</a:t>
            </a:r>
            <a:endParaRPr lang="en-US" sz="730" dirty="0"/>
          </a:p>
        </p:txBody>
      </p:sp>
      <p:sp>
        <p:nvSpPr>
          <p:cNvPr id="68" name="Text 66"/>
          <p:cNvSpPr txBox="1"/>
          <p:nvPr/>
        </p:nvSpPr>
        <p:spPr>
          <a:xfrm>
            <a:off x="10963656" y="3749040"/>
            <a:ext cx="713232" cy="214884"/>
          </a:xfrm>
          <a:prstGeom prst="rect">
            <a:avLst/>
          </a:prstGeom>
          <a:noFill/>
          <a:ln/>
        </p:spPr>
        <p:txBody>
          <a:bodyPr wrap="square" lIns="0" tIns="0" rIns="0" bIns="0" rtlCol="0" anchor="ctr"/>
          <a:lstStyle/>
          <a:p>
            <a:pPr algn="l" indent="0" marL="0">
              <a:buNone/>
            </a:pPr>
            <a:r>
              <a:rPr lang="en-US" sz="730" dirty="0">
                <a:solidFill>
                  <a:srgbClr val="1B2432"/>
                </a:solidFill>
                <a:latin typeface="Calibri" pitchFamily="34" charset="0"/>
                <a:ea typeface="Calibri" pitchFamily="34" charset="-122"/>
                <a:cs typeface="Calibri" pitchFamily="34" charset="-120"/>
              </a:rPr>
              <a:t>7</a:t>
            </a:r>
            <a:endParaRPr lang="en-US" sz="730" dirty="0"/>
          </a:p>
        </p:txBody>
      </p:sp>
      <p:sp>
        <p:nvSpPr>
          <p:cNvPr id="69" name="Shape 67"/>
          <p:cNvSpPr/>
          <p:nvPr/>
        </p:nvSpPr>
        <p:spPr>
          <a:xfrm>
            <a:off x="8293608" y="3963924"/>
            <a:ext cx="3456432" cy="214884"/>
          </a:xfrm>
          <a:prstGeom prst="rect">
            <a:avLst/>
          </a:prstGeom>
          <a:solidFill>
            <a:srgbClr val="F4F7FA"/>
          </a:solidFill>
          <a:ln w="6350">
            <a:solidFill>
              <a:srgbClr val="D4DAE2"/>
            </a:solidFill>
            <a:prstDash val="solid"/>
          </a:ln>
        </p:spPr>
      </p:sp>
      <p:sp>
        <p:nvSpPr>
          <p:cNvPr id="70" name="Text 68"/>
          <p:cNvSpPr txBox="1"/>
          <p:nvPr/>
        </p:nvSpPr>
        <p:spPr>
          <a:xfrm>
            <a:off x="8366760" y="3963924"/>
            <a:ext cx="1591056" cy="214884"/>
          </a:xfrm>
          <a:prstGeom prst="rect">
            <a:avLst/>
          </a:prstGeom>
          <a:noFill/>
          <a:ln/>
        </p:spPr>
        <p:txBody>
          <a:bodyPr wrap="square" lIns="0" tIns="0" rIns="0" bIns="0" rtlCol="0" anchor="ctr"/>
          <a:lstStyle/>
          <a:p>
            <a:pPr algn="l" indent="0" marL="0">
              <a:buNone/>
            </a:pPr>
            <a:r>
              <a:rPr lang="en-US" sz="730" b="1" dirty="0">
                <a:solidFill>
                  <a:srgbClr val="1B2432"/>
                </a:solidFill>
                <a:latin typeface="Calibri" pitchFamily="34" charset="0"/>
                <a:ea typeface="Calibri" pitchFamily="34" charset="-122"/>
                <a:cs typeface="Calibri" pitchFamily="34" charset="-120"/>
              </a:rPr>
              <a:t>Migration Factory</a:t>
            </a:r>
            <a:endParaRPr lang="en-US" sz="730" dirty="0"/>
          </a:p>
        </p:txBody>
      </p:sp>
      <p:sp>
        <p:nvSpPr>
          <p:cNvPr id="71" name="Text 69"/>
          <p:cNvSpPr txBox="1"/>
          <p:nvPr/>
        </p:nvSpPr>
        <p:spPr>
          <a:xfrm>
            <a:off x="10104120" y="3963924"/>
            <a:ext cx="713232" cy="214884"/>
          </a:xfrm>
          <a:prstGeom prst="rect">
            <a:avLst/>
          </a:prstGeom>
          <a:noFill/>
          <a:ln/>
        </p:spPr>
        <p:txBody>
          <a:bodyPr wrap="square" lIns="0" tIns="0" rIns="0" bIns="0" rtlCol="0" anchor="ctr"/>
          <a:lstStyle/>
          <a:p>
            <a:pPr algn="l" indent="0" marL="0">
              <a:buNone/>
            </a:pPr>
            <a:r>
              <a:rPr lang="en-US" sz="730" dirty="0">
                <a:solidFill>
                  <a:srgbClr val="1B2432"/>
                </a:solidFill>
                <a:latin typeface="Calibri" pitchFamily="34" charset="0"/>
                <a:ea typeface="Calibri" pitchFamily="34" charset="-122"/>
                <a:cs typeface="Calibri" pitchFamily="34" charset="-120"/>
              </a:rPr>
              <a:t>0</a:t>
            </a:r>
            <a:endParaRPr lang="en-US" sz="730" dirty="0"/>
          </a:p>
        </p:txBody>
      </p:sp>
      <p:sp>
        <p:nvSpPr>
          <p:cNvPr id="72" name="Text 70"/>
          <p:cNvSpPr txBox="1"/>
          <p:nvPr/>
        </p:nvSpPr>
        <p:spPr>
          <a:xfrm>
            <a:off x="10963656" y="3963924"/>
            <a:ext cx="713232" cy="214884"/>
          </a:xfrm>
          <a:prstGeom prst="rect">
            <a:avLst/>
          </a:prstGeom>
          <a:noFill/>
          <a:ln/>
        </p:spPr>
        <p:txBody>
          <a:bodyPr wrap="square" lIns="0" tIns="0" rIns="0" bIns="0" rtlCol="0" anchor="ctr"/>
          <a:lstStyle/>
          <a:p>
            <a:pPr algn="l" indent="0" marL="0">
              <a:buNone/>
            </a:pPr>
            <a:r>
              <a:rPr lang="en-US" sz="730" dirty="0">
                <a:solidFill>
                  <a:srgbClr val="1B2432"/>
                </a:solidFill>
                <a:latin typeface="Calibri" pitchFamily="34" charset="0"/>
                <a:ea typeface="Calibri" pitchFamily="34" charset="-122"/>
                <a:cs typeface="Calibri" pitchFamily="34" charset="-120"/>
              </a:rPr>
              <a:t>4</a:t>
            </a:r>
            <a:endParaRPr lang="en-US" sz="730" dirty="0"/>
          </a:p>
        </p:txBody>
      </p:sp>
      <p:sp>
        <p:nvSpPr>
          <p:cNvPr id="73" name="Shape 71"/>
          <p:cNvSpPr/>
          <p:nvPr/>
        </p:nvSpPr>
        <p:spPr>
          <a:xfrm>
            <a:off x="8293608" y="4178808"/>
            <a:ext cx="3456432" cy="214884"/>
          </a:xfrm>
          <a:prstGeom prst="rect">
            <a:avLst/>
          </a:prstGeom>
          <a:solidFill>
            <a:srgbClr val="FFFFFF"/>
          </a:solidFill>
          <a:ln w="6350">
            <a:solidFill>
              <a:srgbClr val="D4DAE2"/>
            </a:solidFill>
            <a:prstDash val="solid"/>
          </a:ln>
        </p:spPr>
      </p:sp>
      <p:sp>
        <p:nvSpPr>
          <p:cNvPr id="74" name="Text 72"/>
          <p:cNvSpPr txBox="1"/>
          <p:nvPr/>
        </p:nvSpPr>
        <p:spPr>
          <a:xfrm>
            <a:off x="8366760" y="4178808"/>
            <a:ext cx="1591056" cy="214884"/>
          </a:xfrm>
          <a:prstGeom prst="rect">
            <a:avLst/>
          </a:prstGeom>
          <a:noFill/>
          <a:ln/>
        </p:spPr>
        <p:txBody>
          <a:bodyPr wrap="square" lIns="0" tIns="0" rIns="0" bIns="0" rtlCol="0" anchor="ctr"/>
          <a:lstStyle/>
          <a:p>
            <a:pPr algn="l" indent="0" marL="0">
              <a:buNone/>
            </a:pPr>
            <a:r>
              <a:rPr lang="en-US" sz="730" b="1" dirty="0">
                <a:solidFill>
                  <a:srgbClr val="1B2432"/>
                </a:solidFill>
                <a:latin typeface="Calibri" pitchFamily="34" charset="0"/>
                <a:ea typeface="Calibri" pitchFamily="34" charset="-122"/>
                <a:cs typeface="Calibri" pitchFamily="34" charset="-120"/>
              </a:rPr>
              <a:t>Governance Desk</a:t>
            </a:r>
            <a:endParaRPr lang="en-US" sz="730" dirty="0"/>
          </a:p>
        </p:txBody>
      </p:sp>
      <p:sp>
        <p:nvSpPr>
          <p:cNvPr id="75" name="Text 73"/>
          <p:cNvSpPr txBox="1"/>
          <p:nvPr/>
        </p:nvSpPr>
        <p:spPr>
          <a:xfrm>
            <a:off x="10104120" y="4178808"/>
            <a:ext cx="713232" cy="214884"/>
          </a:xfrm>
          <a:prstGeom prst="rect">
            <a:avLst/>
          </a:prstGeom>
          <a:noFill/>
          <a:ln/>
        </p:spPr>
        <p:txBody>
          <a:bodyPr wrap="square" lIns="0" tIns="0" rIns="0" bIns="0" rtlCol="0" anchor="ctr"/>
          <a:lstStyle/>
          <a:p>
            <a:pPr algn="l" indent="0" marL="0">
              <a:buNone/>
            </a:pPr>
            <a:r>
              <a:rPr lang="en-US" sz="730" dirty="0">
                <a:solidFill>
                  <a:srgbClr val="1B2432"/>
                </a:solidFill>
                <a:latin typeface="Calibri" pitchFamily="34" charset="0"/>
                <a:ea typeface="Calibri" pitchFamily="34" charset="-122"/>
                <a:cs typeface="Calibri" pitchFamily="34" charset="-120"/>
              </a:rPr>
              <a:t>0</a:t>
            </a:r>
            <a:endParaRPr lang="en-US" sz="730" dirty="0"/>
          </a:p>
        </p:txBody>
      </p:sp>
      <p:sp>
        <p:nvSpPr>
          <p:cNvPr id="76" name="Text 74"/>
          <p:cNvSpPr txBox="1"/>
          <p:nvPr/>
        </p:nvSpPr>
        <p:spPr>
          <a:xfrm>
            <a:off x="10963656" y="4178808"/>
            <a:ext cx="713232" cy="214884"/>
          </a:xfrm>
          <a:prstGeom prst="rect">
            <a:avLst/>
          </a:prstGeom>
          <a:noFill/>
          <a:ln/>
        </p:spPr>
        <p:txBody>
          <a:bodyPr wrap="square" lIns="0" tIns="0" rIns="0" bIns="0" rtlCol="0" anchor="ctr"/>
          <a:lstStyle/>
          <a:p>
            <a:pPr algn="l" indent="0" marL="0">
              <a:buNone/>
            </a:pPr>
            <a:r>
              <a:rPr lang="en-US" sz="730" dirty="0">
                <a:solidFill>
                  <a:srgbClr val="1B2432"/>
                </a:solidFill>
                <a:latin typeface="Calibri" pitchFamily="34" charset="0"/>
                <a:ea typeface="Calibri" pitchFamily="34" charset="-122"/>
                <a:cs typeface="Calibri" pitchFamily="34" charset="-120"/>
              </a:rPr>
              <a:t>3</a:t>
            </a:r>
            <a:endParaRPr lang="en-US" sz="730" dirty="0"/>
          </a:p>
        </p:txBody>
      </p:sp>
      <p:sp>
        <p:nvSpPr>
          <p:cNvPr id="77" name="Shape 75"/>
          <p:cNvSpPr/>
          <p:nvPr/>
        </p:nvSpPr>
        <p:spPr>
          <a:xfrm>
            <a:off x="8293608" y="4393692"/>
            <a:ext cx="3456432" cy="214884"/>
          </a:xfrm>
          <a:prstGeom prst="rect">
            <a:avLst/>
          </a:prstGeom>
          <a:solidFill>
            <a:srgbClr val="F4F7FA"/>
          </a:solidFill>
          <a:ln w="6350">
            <a:solidFill>
              <a:srgbClr val="D4DAE2"/>
            </a:solidFill>
            <a:prstDash val="solid"/>
          </a:ln>
        </p:spPr>
      </p:sp>
      <p:sp>
        <p:nvSpPr>
          <p:cNvPr id="78" name="Text 76"/>
          <p:cNvSpPr txBox="1"/>
          <p:nvPr/>
        </p:nvSpPr>
        <p:spPr>
          <a:xfrm>
            <a:off x="8366760" y="4393692"/>
            <a:ext cx="1591056" cy="214884"/>
          </a:xfrm>
          <a:prstGeom prst="rect">
            <a:avLst/>
          </a:prstGeom>
          <a:noFill/>
          <a:ln/>
        </p:spPr>
        <p:txBody>
          <a:bodyPr wrap="square" lIns="0" tIns="0" rIns="0" bIns="0" rtlCol="0" anchor="ctr"/>
          <a:lstStyle/>
          <a:p>
            <a:pPr algn="l" indent="0" marL="0">
              <a:buNone/>
            </a:pPr>
            <a:r>
              <a:rPr lang="en-US" sz="730" b="1" dirty="0">
                <a:solidFill>
                  <a:srgbClr val="1B2432"/>
                </a:solidFill>
                <a:latin typeface="Calibri" pitchFamily="34" charset="0"/>
                <a:ea typeface="Calibri" pitchFamily="34" charset="-122"/>
                <a:cs typeface="Calibri" pitchFamily="34" charset="-120"/>
              </a:rPr>
              <a:t>Current scrum teams</a:t>
            </a:r>
            <a:endParaRPr lang="en-US" sz="730" dirty="0"/>
          </a:p>
        </p:txBody>
      </p:sp>
      <p:sp>
        <p:nvSpPr>
          <p:cNvPr id="79" name="Text 77"/>
          <p:cNvSpPr txBox="1"/>
          <p:nvPr/>
        </p:nvSpPr>
        <p:spPr>
          <a:xfrm>
            <a:off x="10104120" y="4393692"/>
            <a:ext cx="713232" cy="214884"/>
          </a:xfrm>
          <a:prstGeom prst="rect">
            <a:avLst/>
          </a:prstGeom>
          <a:noFill/>
          <a:ln/>
        </p:spPr>
        <p:txBody>
          <a:bodyPr wrap="square" lIns="0" tIns="0" rIns="0" bIns="0" rtlCol="0" anchor="ctr"/>
          <a:lstStyle/>
          <a:p>
            <a:pPr algn="l" indent="0" marL="0">
              <a:buNone/>
            </a:pPr>
            <a:r>
              <a:rPr lang="en-US" sz="730" dirty="0">
                <a:solidFill>
                  <a:srgbClr val="1B2432"/>
                </a:solidFill>
                <a:latin typeface="Calibri" pitchFamily="34" charset="0"/>
                <a:ea typeface="Calibri" pitchFamily="34" charset="-122"/>
                <a:cs typeface="Calibri" pitchFamily="34" charset="-120"/>
              </a:rPr>
              <a:t>33</a:t>
            </a:r>
            <a:endParaRPr lang="en-US" sz="730" dirty="0"/>
          </a:p>
        </p:txBody>
      </p:sp>
      <p:sp>
        <p:nvSpPr>
          <p:cNvPr id="80" name="Text 78"/>
          <p:cNvSpPr txBox="1"/>
          <p:nvPr/>
        </p:nvSpPr>
        <p:spPr>
          <a:xfrm>
            <a:off x="10963656" y="4393692"/>
            <a:ext cx="713232" cy="214884"/>
          </a:xfrm>
          <a:prstGeom prst="rect">
            <a:avLst/>
          </a:prstGeom>
          <a:noFill/>
          <a:ln/>
        </p:spPr>
        <p:txBody>
          <a:bodyPr wrap="square" lIns="0" tIns="0" rIns="0" bIns="0" rtlCol="0" anchor="ctr"/>
          <a:lstStyle/>
          <a:p>
            <a:pPr algn="l" indent="0" marL="0">
              <a:buNone/>
            </a:pPr>
            <a:r>
              <a:rPr lang="en-US" sz="730" dirty="0">
                <a:solidFill>
                  <a:srgbClr val="1B2432"/>
                </a:solidFill>
                <a:latin typeface="Calibri" pitchFamily="34" charset="0"/>
                <a:ea typeface="Calibri" pitchFamily="34" charset="-122"/>
                <a:cs typeface="Calibri" pitchFamily="34" charset="-120"/>
              </a:rPr>
              <a:t>— </a:t>
            </a:r>
            <a:endParaRPr lang="en-US" sz="730" dirty="0"/>
          </a:p>
        </p:txBody>
      </p:sp>
      <p:sp>
        <p:nvSpPr>
          <p:cNvPr id="81" name="Text 79"/>
          <p:cNvSpPr txBox="1"/>
          <p:nvPr/>
        </p:nvSpPr>
        <p:spPr>
          <a:xfrm>
            <a:off x="411480" y="4681728"/>
            <a:ext cx="7315200" cy="182880"/>
          </a:xfrm>
          <a:prstGeom prst="rect">
            <a:avLst/>
          </a:prstGeom>
          <a:noFill/>
          <a:ln/>
        </p:spPr>
        <p:txBody>
          <a:bodyPr wrap="square" lIns="0" tIns="0" rIns="0" bIns="0" rtlCol="0" anchor="ctr"/>
          <a:lstStyle/>
          <a:p>
            <a:pPr indent="0" marL="0">
              <a:buNone/>
            </a:pPr>
            <a:r>
              <a:rPr lang="en-US" sz="760" b="1" spc="110" kern="0" dirty="0">
                <a:solidFill>
                  <a:srgbClr val="1B2432"/>
                </a:solidFill>
                <a:latin typeface="Calibri" pitchFamily="34" charset="0"/>
                <a:ea typeface="Calibri" pitchFamily="34" charset="-122"/>
                <a:cs typeface="Calibri" pitchFamily="34" charset="-120"/>
              </a:rPr>
              <a:t>TRANSITION SEQUENCING — STRUCTURAL CHANGE FOLLOWS EVIDENCE, IT DOES NOT PRECEDE IT</a:t>
            </a:r>
            <a:endParaRPr lang="en-US" sz="760" dirty="0"/>
          </a:p>
        </p:txBody>
      </p:sp>
      <p:sp>
        <p:nvSpPr>
          <p:cNvPr id="82" name="Shape 80"/>
          <p:cNvSpPr/>
          <p:nvPr/>
        </p:nvSpPr>
        <p:spPr>
          <a:xfrm>
            <a:off x="411480" y="4882896"/>
            <a:ext cx="2752344" cy="950976"/>
          </a:xfrm>
          <a:prstGeom prst="roundRect">
            <a:avLst>
              <a:gd name="adj" fmla="val 4808"/>
            </a:avLst>
          </a:prstGeom>
          <a:solidFill>
            <a:srgbClr val="E6F2F1"/>
          </a:solidFill>
          <a:ln w="15240">
            <a:solidFill>
              <a:srgbClr val="0B6E6E"/>
            </a:solidFill>
            <a:prstDash val="solid"/>
          </a:ln>
        </p:spPr>
      </p:sp>
      <p:sp>
        <p:nvSpPr>
          <p:cNvPr id="83" name="Text 81"/>
          <p:cNvSpPr txBox="1"/>
          <p:nvPr/>
        </p:nvSpPr>
        <p:spPr>
          <a:xfrm>
            <a:off x="502920" y="4946904"/>
            <a:ext cx="2569464" cy="182880"/>
          </a:xfrm>
          <a:prstGeom prst="rect">
            <a:avLst/>
          </a:prstGeom>
          <a:noFill/>
          <a:ln/>
        </p:spPr>
        <p:txBody>
          <a:bodyPr wrap="square" lIns="0" tIns="0" rIns="0" bIns="0" rtlCol="0" anchor="ctr"/>
          <a:lstStyle/>
          <a:p>
            <a:pPr indent="0" marL="0">
              <a:buNone/>
            </a:pPr>
            <a:r>
              <a:rPr lang="en-US" sz="720" b="1" spc="80" kern="0" dirty="0">
                <a:solidFill>
                  <a:srgbClr val="0B6E6E"/>
                </a:solidFill>
                <a:latin typeface="Calibri" pitchFamily="34" charset="0"/>
                <a:ea typeface="Calibri" pitchFamily="34" charset="-122"/>
                <a:cs typeface="Calibri" pitchFamily="34" charset="-120"/>
              </a:rPr>
              <a:t>WAVE 0 · MONTHS 0–3</a:t>
            </a:r>
            <a:endParaRPr lang="en-US" sz="720" dirty="0"/>
          </a:p>
        </p:txBody>
      </p:sp>
      <p:sp>
        <p:nvSpPr>
          <p:cNvPr id="84" name="Text 82"/>
          <p:cNvSpPr txBox="1"/>
          <p:nvPr/>
        </p:nvSpPr>
        <p:spPr>
          <a:xfrm>
            <a:off x="502920" y="5120640"/>
            <a:ext cx="2569464" cy="420624"/>
          </a:xfrm>
          <a:prstGeom prst="rect">
            <a:avLst/>
          </a:prstGeom>
          <a:noFill/>
          <a:ln/>
        </p:spPr>
        <p:txBody>
          <a:bodyPr wrap="square" lIns="0" tIns="0" rIns="0" bIns="0" rtlCol="0" anchor="t"/>
          <a:lstStyle/>
          <a:p>
            <a:pPr indent="0" marL="0">
              <a:lnSpc>
                <a:spcPts val="1140"/>
              </a:lnSpc>
              <a:buNone/>
            </a:pPr>
            <a:r>
              <a:rPr lang="en-US" sz="940" b="1" dirty="0">
                <a:solidFill>
                  <a:srgbClr val="1B2432"/>
                </a:solidFill>
                <a:latin typeface="Calibri" pitchFamily="34" charset="0"/>
                <a:ea typeface="Calibri" pitchFamily="34" charset="-122"/>
                <a:cs typeface="Calibri" pitchFamily="34" charset="-120"/>
              </a:rPr>
              <a:t>Desk + platform seed</a:t>
            </a:r>
            <a:endParaRPr lang="en-US" sz="940" dirty="0"/>
          </a:p>
        </p:txBody>
      </p:sp>
      <p:sp>
        <p:nvSpPr>
          <p:cNvPr id="85" name="Text 83"/>
          <p:cNvSpPr txBox="1"/>
          <p:nvPr/>
        </p:nvSpPr>
        <p:spPr>
          <a:xfrm>
            <a:off x="502920" y="5340096"/>
            <a:ext cx="2569464" cy="438912"/>
          </a:xfrm>
          <a:prstGeom prst="rect">
            <a:avLst/>
          </a:prstGeom>
          <a:noFill/>
          <a:ln/>
        </p:spPr>
        <p:txBody>
          <a:bodyPr wrap="square" lIns="0" tIns="0" rIns="0" bIns="0" rtlCol="0" anchor="b"/>
          <a:lstStyle/>
          <a:p>
            <a:pPr indent="0" marL="0">
              <a:lnSpc>
                <a:spcPts val="860"/>
              </a:lnSpc>
              <a:buNone/>
            </a:pPr>
            <a:r>
              <a:rPr lang="en-US" sz="720" dirty="0">
                <a:solidFill>
                  <a:srgbClr val="55606E"/>
                </a:solidFill>
                <a:latin typeface="Calibri" pitchFamily="34" charset="0"/>
                <a:ea typeface="Calibri" pitchFamily="34" charset="-122"/>
                <a:cs typeface="Calibri" pitchFamily="34" charset="-120"/>
              </a:rPr>
              <a:t>Rubric published · record and cockpit v1 · no tier changes to in-flight intakes · no Lean</a:t>
            </a:r>
            <a:endParaRPr lang="en-US" sz="720" dirty="0"/>
          </a:p>
        </p:txBody>
      </p:sp>
      <p:sp>
        <p:nvSpPr>
          <p:cNvPr id="86" name="Text 84"/>
          <p:cNvSpPr txBox="1"/>
          <p:nvPr/>
        </p:nvSpPr>
        <p:spPr>
          <a:xfrm>
            <a:off x="3145536" y="5212080"/>
            <a:ext cx="146304" cy="292608"/>
          </a:xfrm>
          <a:prstGeom prst="rect">
            <a:avLst/>
          </a:prstGeom>
          <a:noFill/>
          <a:ln/>
        </p:spPr>
        <p:txBody>
          <a:bodyPr wrap="square" lIns="0" tIns="0" rIns="0" bIns="0" rtlCol="0" anchor="ctr"/>
          <a:lstStyle/>
          <a:p>
            <a:pPr algn="ctr" indent="0" marL="0">
              <a:buNone/>
            </a:pPr>
            <a:r>
              <a:rPr lang="en-US" sz="1100" b="1" dirty="0">
                <a:solidFill>
                  <a:srgbClr val="7C8798"/>
                </a:solidFill>
                <a:latin typeface="Calibri" pitchFamily="34" charset="0"/>
                <a:ea typeface="Calibri" pitchFamily="34" charset="-122"/>
                <a:cs typeface="Calibri" pitchFamily="34" charset="-120"/>
              </a:rPr>
              <a:t>&gt;</a:t>
            </a:r>
            <a:endParaRPr lang="en-US" sz="1100" dirty="0"/>
          </a:p>
        </p:txBody>
      </p:sp>
      <p:sp>
        <p:nvSpPr>
          <p:cNvPr id="87" name="Shape 85"/>
          <p:cNvSpPr/>
          <p:nvPr/>
        </p:nvSpPr>
        <p:spPr>
          <a:xfrm>
            <a:off x="3273552" y="4882896"/>
            <a:ext cx="2752344" cy="950976"/>
          </a:xfrm>
          <a:prstGeom prst="roundRect">
            <a:avLst>
              <a:gd name="adj" fmla="val 4808"/>
            </a:avLst>
          </a:prstGeom>
          <a:solidFill>
            <a:srgbClr val="FAF1DF"/>
          </a:solidFill>
          <a:ln w="15240">
            <a:solidFill>
              <a:srgbClr val="9A6410"/>
            </a:solidFill>
            <a:prstDash val="solid"/>
          </a:ln>
        </p:spPr>
      </p:sp>
      <p:sp>
        <p:nvSpPr>
          <p:cNvPr id="88" name="Text 86"/>
          <p:cNvSpPr txBox="1"/>
          <p:nvPr/>
        </p:nvSpPr>
        <p:spPr>
          <a:xfrm>
            <a:off x="3364992" y="4946904"/>
            <a:ext cx="2569464" cy="182880"/>
          </a:xfrm>
          <a:prstGeom prst="rect">
            <a:avLst/>
          </a:prstGeom>
          <a:noFill/>
          <a:ln/>
        </p:spPr>
        <p:txBody>
          <a:bodyPr wrap="square" lIns="0" tIns="0" rIns="0" bIns="0" rtlCol="0" anchor="ctr"/>
          <a:lstStyle/>
          <a:p>
            <a:pPr indent="0" marL="0">
              <a:buNone/>
            </a:pPr>
            <a:r>
              <a:rPr lang="en-US" sz="720" b="1" spc="80" kern="0" dirty="0">
                <a:solidFill>
                  <a:srgbClr val="9A6410"/>
                </a:solidFill>
                <a:latin typeface="Calibri" pitchFamily="34" charset="0"/>
                <a:ea typeface="Calibri" pitchFamily="34" charset="-122"/>
                <a:cs typeface="Calibri" pitchFamily="34" charset="-120"/>
              </a:rPr>
              <a:t>WAVE 1 · MONTHS 3–9</a:t>
            </a:r>
            <a:endParaRPr lang="en-US" sz="720" dirty="0"/>
          </a:p>
        </p:txBody>
      </p:sp>
      <p:sp>
        <p:nvSpPr>
          <p:cNvPr id="89" name="Text 87"/>
          <p:cNvSpPr txBox="1"/>
          <p:nvPr/>
        </p:nvSpPr>
        <p:spPr>
          <a:xfrm>
            <a:off x="3364992" y="5120640"/>
            <a:ext cx="2569464" cy="420624"/>
          </a:xfrm>
          <a:prstGeom prst="rect">
            <a:avLst/>
          </a:prstGeom>
          <a:noFill/>
          <a:ln/>
        </p:spPr>
        <p:txBody>
          <a:bodyPr wrap="square" lIns="0" tIns="0" rIns="0" bIns="0" rtlCol="0" anchor="t"/>
          <a:lstStyle/>
          <a:p>
            <a:pPr indent="0" marL="0">
              <a:lnSpc>
                <a:spcPts val="1140"/>
              </a:lnSpc>
              <a:buNone/>
            </a:pPr>
            <a:r>
              <a:rPr lang="en-US" sz="940" b="1" dirty="0">
                <a:solidFill>
                  <a:srgbClr val="1B2432"/>
                </a:solidFill>
                <a:latin typeface="Calibri" pitchFamily="34" charset="0"/>
                <a:ea typeface="Calibri" pitchFamily="34" charset="-122"/>
                <a:cs typeface="Calibri" pitchFamily="34" charset="-120"/>
              </a:rPr>
              <a:t>Clinic opens, Lean+ live</a:t>
            </a:r>
            <a:endParaRPr lang="en-US" sz="940" dirty="0"/>
          </a:p>
        </p:txBody>
      </p:sp>
      <p:sp>
        <p:nvSpPr>
          <p:cNvPr id="90" name="Text 88"/>
          <p:cNvSpPr txBox="1"/>
          <p:nvPr/>
        </p:nvSpPr>
        <p:spPr>
          <a:xfrm>
            <a:off x="3364992" y="5340096"/>
            <a:ext cx="2569464" cy="438912"/>
          </a:xfrm>
          <a:prstGeom prst="rect">
            <a:avLst/>
          </a:prstGeom>
          <a:noFill/>
          <a:ln/>
        </p:spPr>
        <p:txBody>
          <a:bodyPr wrap="square" lIns="0" tIns="0" rIns="0" bIns="0" rtlCol="0" anchor="b"/>
          <a:lstStyle/>
          <a:p>
            <a:pPr indent="0" marL="0">
              <a:lnSpc>
                <a:spcPts val="860"/>
              </a:lnSpc>
              <a:buNone/>
            </a:pPr>
            <a:r>
              <a:rPr lang="en-US" sz="720" dirty="0">
                <a:solidFill>
                  <a:srgbClr val="55606E"/>
                </a:solidFill>
                <a:latin typeface="Calibri" pitchFamily="34" charset="0"/>
                <a:ea typeface="Calibri" pitchFamily="34" charset="-122"/>
                <a:cs typeface="Calibri" pitchFamily="34" charset="-120"/>
              </a:rPr>
              <a:t>Platform to full size · three M1–M2 patterns · harvest becomes a closure condition · Lean stays closed</a:t>
            </a:r>
            <a:endParaRPr lang="en-US" sz="720" dirty="0"/>
          </a:p>
        </p:txBody>
      </p:sp>
      <p:sp>
        <p:nvSpPr>
          <p:cNvPr id="91" name="Text 89"/>
          <p:cNvSpPr txBox="1"/>
          <p:nvPr/>
        </p:nvSpPr>
        <p:spPr>
          <a:xfrm>
            <a:off x="6007608" y="5212080"/>
            <a:ext cx="146304" cy="292608"/>
          </a:xfrm>
          <a:prstGeom prst="rect">
            <a:avLst/>
          </a:prstGeom>
          <a:noFill/>
          <a:ln/>
        </p:spPr>
        <p:txBody>
          <a:bodyPr wrap="square" lIns="0" tIns="0" rIns="0" bIns="0" rtlCol="0" anchor="ctr"/>
          <a:lstStyle/>
          <a:p>
            <a:pPr algn="ctr" indent="0" marL="0">
              <a:buNone/>
            </a:pPr>
            <a:r>
              <a:rPr lang="en-US" sz="1100" b="1" dirty="0">
                <a:solidFill>
                  <a:srgbClr val="7C8798"/>
                </a:solidFill>
                <a:latin typeface="Calibri" pitchFamily="34" charset="0"/>
                <a:ea typeface="Calibri" pitchFamily="34" charset="-122"/>
                <a:cs typeface="Calibri" pitchFamily="34" charset="-120"/>
              </a:rPr>
              <a:t>&gt;</a:t>
            </a:r>
            <a:endParaRPr lang="en-US" sz="1100" dirty="0"/>
          </a:p>
        </p:txBody>
      </p:sp>
      <p:sp>
        <p:nvSpPr>
          <p:cNvPr id="92" name="Shape 90"/>
          <p:cNvSpPr/>
          <p:nvPr/>
        </p:nvSpPr>
        <p:spPr>
          <a:xfrm>
            <a:off x="6135624" y="4882896"/>
            <a:ext cx="2752344" cy="950976"/>
          </a:xfrm>
          <a:prstGeom prst="roundRect">
            <a:avLst>
              <a:gd name="adj" fmla="val 4808"/>
            </a:avLst>
          </a:prstGeom>
          <a:solidFill>
            <a:srgbClr val="FBF0EB"/>
          </a:solidFill>
          <a:ln w="15240">
            <a:solidFill>
              <a:srgbClr val="A44A2A"/>
            </a:solidFill>
            <a:prstDash val="solid"/>
          </a:ln>
        </p:spPr>
      </p:sp>
      <p:sp>
        <p:nvSpPr>
          <p:cNvPr id="93" name="Text 91"/>
          <p:cNvSpPr txBox="1"/>
          <p:nvPr/>
        </p:nvSpPr>
        <p:spPr>
          <a:xfrm>
            <a:off x="6227064" y="4946904"/>
            <a:ext cx="2569464" cy="182880"/>
          </a:xfrm>
          <a:prstGeom prst="rect">
            <a:avLst/>
          </a:prstGeom>
          <a:noFill/>
          <a:ln/>
        </p:spPr>
        <p:txBody>
          <a:bodyPr wrap="square" lIns="0" tIns="0" rIns="0" bIns="0" rtlCol="0" anchor="ctr"/>
          <a:lstStyle/>
          <a:p>
            <a:pPr indent="0" marL="0">
              <a:buNone/>
            </a:pPr>
            <a:r>
              <a:rPr lang="en-US" sz="720" b="1" spc="80" kern="0" dirty="0">
                <a:solidFill>
                  <a:srgbClr val="A44A2A"/>
                </a:solidFill>
                <a:latin typeface="Calibri" pitchFamily="34" charset="0"/>
                <a:ea typeface="Calibri" pitchFamily="34" charset="-122"/>
                <a:cs typeface="Calibri" pitchFamily="34" charset="-120"/>
              </a:rPr>
              <a:t>WAVE 2 · MONTHS 9–18</a:t>
            </a:r>
            <a:endParaRPr lang="en-US" sz="720" dirty="0"/>
          </a:p>
        </p:txBody>
      </p:sp>
      <p:sp>
        <p:nvSpPr>
          <p:cNvPr id="94" name="Text 92"/>
          <p:cNvSpPr txBox="1"/>
          <p:nvPr/>
        </p:nvSpPr>
        <p:spPr>
          <a:xfrm>
            <a:off x="6227064" y="5120640"/>
            <a:ext cx="2569464" cy="420624"/>
          </a:xfrm>
          <a:prstGeom prst="rect">
            <a:avLst/>
          </a:prstGeom>
          <a:noFill/>
          <a:ln/>
        </p:spPr>
        <p:txBody>
          <a:bodyPr wrap="square" lIns="0" tIns="0" rIns="0" bIns="0" rtlCol="0" anchor="t"/>
          <a:lstStyle/>
          <a:p>
            <a:pPr indent="0" marL="0">
              <a:lnSpc>
                <a:spcPts val="1140"/>
              </a:lnSpc>
              <a:buNone/>
            </a:pPr>
            <a:r>
              <a:rPr lang="en-US" sz="940" b="1" dirty="0">
                <a:solidFill>
                  <a:srgbClr val="1B2432"/>
                </a:solidFill>
                <a:latin typeface="Calibri" pitchFamily="34" charset="0"/>
                <a:ea typeface="Calibri" pitchFamily="34" charset="-122"/>
                <a:cs typeface="Calibri" pitchFamily="34" charset="-120"/>
              </a:rPr>
              <a:t>Lean opens, pods formalised</a:t>
            </a:r>
            <a:endParaRPr lang="en-US" sz="940" dirty="0"/>
          </a:p>
        </p:txBody>
      </p:sp>
      <p:sp>
        <p:nvSpPr>
          <p:cNvPr id="95" name="Text 93"/>
          <p:cNvSpPr txBox="1"/>
          <p:nvPr/>
        </p:nvSpPr>
        <p:spPr>
          <a:xfrm>
            <a:off x="6227064" y="5340096"/>
            <a:ext cx="2569464" cy="438912"/>
          </a:xfrm>
          <a:prstGeom prst="rect">
            <a:avLst/>
          </a:prstGeom>
          <a:noFill/>
          <a:ln/>
        </p:spPr>
        <p:txBody>
          <a:bodyPr wrap="square" lIns="0" tIns="0" rIns="0" bIns="0" rtlCol="0" anchor="b"/>
          <a:lstStyle/>
          <a:p>
            <a:pPr indent="0" marL="0">
              <a:lnSpc>
                <a:spcPts val="860"/>
              </a:lnSpc>
              <a:buNone/>
            </a:pPr>
            <a:r>
              <a:rPr lang="en-US" sz="720" dirty="0">
                <a:solidFill>
                  <a:srgbClr val="55606E"/>
                </a:solidFill>
                <a:latin typeface="Calibri" pitchFamily="34" charset="0"/>
                <a:ea typeface="Calibri" pitchFamily="34" charset="-122"/>
                <a:cs typeface="Calibri" pitchFamily="34" charset="-120"/>
              </a:rPr>
              <a:t>First M3 patterns · certification live · Migration Factory stands up</a:t>
            </a:r>
            <a:endParaRPr lang="en-US" sz="720" dirty="0"/>
          </a:p>
        </p:txBody>
      </p:sp>
      <p:sp>
        <p:nvSpPr>
          <p:cNvPr id="96" name="Text 94"/>
          <p:cNvSpPr txBox="1"/>
          <p:nvPr/>
        </p:nvSpPr>
        <p:spPr>
          <a:xfrm>
            <a:off x="8869680" y="5212080"/>
            <a:ext cx="146304" cy="292608"/>
          </a:xfrm>
          <a:prstGeom prst="rect">
            <a:avLst/>
          </a:prstGeom>
          <a:noFill/>
          <a:ln/>
        </p:spPr>
        <p:txBody>
          <a:bodyPr wrap="square" lIns="0" tIns="0" rIns="0" bIns="0" rtlCol="0" anchor="ctr"/>
          <a:lstStyle/>
          <a:p>
            <a:pPr algn="ctr" indent="0" marL="0">
              <a:buNone/>
            </a:pPr>
            <a:r>
              <a:rPr lang="en-US" sz="1100" b="1" dirty="0">
                <a:solidFill>
                  <a:srgbClr val="7C8798"/>
                </a:solidFill>
                <a:latin typeface="Calibri" pitchFamily="34" charset="0"/>
                <a:ea typeface="Calibri" pitchFamily="34" charset="-122"/>
                <a:cs typeface="Calibri" pitchFamily="34" charset="-120"/>
              </a:rPr>
              <a:t>&gt;</a:t>
            </a:r>
            <a:endParaRPr lang="en-US" sz="1100" dirty="0"/>
          </a:p>
        </p:txBody>
      </p:sp>
      <p:sp>
        <p:nvSpPr>
          <p:cNvPr id="97" name="Shape 95"/>
          <p:cNvSpPr/>
          <p:nvPr/>
        </p:nvSpPr>
        <p:spPr>
          <a:xfrm>
            <a:off x="8997696" y="4882896"/>
            <a:ext cx="2752344" cy="950976"/>
          </a:xfrm>
          <a:prstGeom prst="roundRect">
            <a:avLst>
              <a:gd name="adj" fmla="val 4808"/>
            </a:avLst>
          </a:prstGeom>
          <a:solidFill>
            <a:srgbClr val="E8EDF4"/>
          </a:solidFill>
          <a:ln w="15240">
            <a:solidFill>
              <a:srgbClr val="15304F"/>
            </a:solidFill>
            <a:prstDash val="solid"/>
          </a:ln>
        </p:spPr>
      </p:sp>
      <p:sp>
        <p:nvSpPr>
          <p:cNvPr id="98" name="Text 96"/>
          <p:cNvSpPr txBox="1"/>
          <p:nvPr/>
        </p:nvSpPr>
        <p:spPr>
          <a:xfrm>
            <a:off x="9089136" y="4946904"/>
            <a:ext cx="2569464" cy="182880"/>
          </a:xfrm>
          <a:prstGeom prst="rect">
            <a:avLst/>
          </a:prstGeom>
          <a:noFill/>
          <a:ln/>
        </p:spPr>
        <p:txBody>
          <a:bodyPr wrap="square" lIns="0" tIns="0" rIns="0" bIns="0" rtlCol="0" anchor="ctr"/>
          <a:lstStyle/>
          <a:p>
            <a:pPr indent="0" marL="0">
              <a:buNone/>
            </a:pPr>
            <a:r>
              <a:rPr lang="en-US" sz="720" b="1" spc="80" kern="0" dirty="0">
                <a:solidFill>
                  <a:srgbClr val="15304F"/>
                </a:solidFill>
                <a:latin typeface="Calibri" pitchFamily="34" charset="0"/>
                <a:ea typeface="Calibri" pitchFamily="34" charset="-122"/>
                <a:cs typeface="Calibri" pitchFamily="34" charset="-120"/>
              </a:rPr>
              <a:t>WAVE 3 · MONTHS 18+</a:t>
            </a:r>
            <a:endParaRPr lang="en-US" sz="720" dirty="0"/>
          </a:p>
        </p:txBody>
      </p:sp>
      <p:sp>
        <p:nvSpPr>
          <p:cNvPr id="99" name="Text 97"/>
          <p:cNvSpPr txBox="1"/>
          <p:nvPr/>
        </p:nvSpPr>
        <p:spPr>
          <a:xfrm>
            <a:off x="9089136" y="5120640"/>
            <a:ext cx="2569464" cy="420624"/>
          </a:xfrm>
          <a:prstGeom prst="rect">
            <a:avLst/>
          </a:prstGeom>
          <a:noFill/>
          <a:ln/>
        </p:spPr>
        <p:txBody>
          <a:bodyPr wrap="square" lIns="0" tIns="0" rIns="0" bIns="0" rtlCol="0" anchor="t"/>
          <a:lstStyle/>
          <a:p>
            <a:pPr indent="0" marL="0">
              <a:lnSpc>
                <a:spcPts val="1140"/>
              </a:lnSpc>
              <a:buNone/>
            </a:pPr>
            <a:r>
              <a:rPr lang="en-US" sz="940" b="1" dirty="0">
                <a:solidFill>
                  <a:srgbClr val="1B2432"/>
                </a:solidFill>
                <a:latin typeface="Calibri" pitchFamily="34" charset="0"/>
                <a:ea typeface="Calibri" pitchFamily="34" charset="-122"/>
                <a:cs typeface="Calibri" pitchFamily="34" charset="-120"/>
              </a:rPr>
              <a:t>Coverage broadens</a:t>
            </a:r>
            <a:endParaRPr lang="en-US" sz="940" dirty="0"/>
          </a:p>
        </p:txBody>
      </p:sp>
      <p:sp>
        <p:nvSpPr>
          <p:cNvPr id="100" name="Text 98"/>
          <p:cNvSpPr txBox="1"/>
          <p:nvPr/>
        </p:nvSpPr>
        <p:spPr>
          <a:xfrm>
            <a:off x="9089136" y="5340096"/>
            <a:ext cx="2569464" cy="438912"/>
          </a:xfrm>
          <a:prstGeom prst="rect">
            <a:avLst/>
          </a:prstGeom>
          <a:noFill/>
          <a:ln/>
        </p:spPr>
        <p:txBody>
          <a:bodyPr wrap="square" lIns="0" tIns="0" rIns="0" bIns="0" rtlCol="0" anchor="b"/>
          <a:lstStyle/>
          <a:p>
            <a:pPr indent="0" marL="0">
              <a:lnSpc>
                <a:spcPts val="860"/>
              </a:lnSpc>
              <a:buNone/>
            </a:pPr>
            <a:r>
              <a:rPr lang="en-US" sz="720" dirty="0">
                <a:solidFill>
                  <a:srgbClr val="55606E"/>
                </a:solidFill>
                <a:latin typeface="Calibri" pitchFamily="34" charset="0"/>
                <a:ea typeface="Calibri" pitchFamily="34" charset="-122"/>
                <a:cs typeface="Calibri" pitchFamily="34" charset="-120"/>
              </a:rPr>
              <a:t>Distribution shifts toward Lean · factory runs continuous campaigns</a:t>
            </a:r>
            <a:endParaRPr lang="en-US" sz="720" dirty="0"/>
          </a:p>
        </p:txBody>
      </p:sp>
      <p:sp>
        <p:nvSpPr>
          <p:cNvPr id="101" name="Shape 99"/>
          <p:cNvSpPr/>
          <p:nvPr/>
        </p:nvSpPr>
        <p:spPr>
          <a:xfrm>
            <a:off x="411480" y="5998464"/>
            <a:ext cx="11338560" cy="438912"/>
          </a:xfrm>
          <a:prstGeom prst="roundRect">
            <a:avLst>
              <a:gd name="adj" fmla="val 10417"/>
            </a:avLst>
          </a:prstGeom>
          <a:solidFill>
            <a:srgbClr val="FBF0EB"/>
          </a:solidFill>
          <a:ln w="12700">
            <a:solidFill>
              <a:srgbClr val="A44A2A"/>
            </a:solidFill>
            <a:prstDash val="solid"/>
          </a:ln>
        </p:spPr>
      </p:sp>
      <p:sp>
        <p:nvSpPr>
          <p:cNvPr id="102" name="Text 100"/>
          <p:cNvSpPr txBox="1"/>
          <p:nvPr/>
        </p:nvSpPr>
        <p:spPr>
          <a:xfrm>
            <a:off x="557784" y="5998464"/>
            <a:ext cx="11045952" cy="438912"/>
          </a:xfrm>
          <a:prstGeom prst="rect">
            <a:avLst/>
          </a:prstGeom>
          <a:noFill/>
          <a:ln/>
        </p:spPr>
        <p:txBody>
          <a:bodyPr wrap="square" lIns="0" tIns="0" rIns="0" bIns="0" rtlCol="0" anchor="ctr"/>
          <a:lstStyle/>
          <a:p>
            <a:pPr indent="0" marL="0">
              <a:lnSpc>
                <a:spcPts val="1040"/>
              </a:lnSpc>
              <a:buNone/>
            </a:pPr>
            <a:r>
              <a:rPr lang="en-US" sz="860" dirty="0">
                <a:solidFill>
                  <a:srgbClr val="1B2432"/>
                </a:solidFill>
                <a:latin typeface="Calibri" pitchFamily="34" charset="0"/>
                <a:ea typeface="Calibri" pitchFamily="34" charset="-122"/>
                <a:cs typeface="Calibri" pitchFamily="34" charset="-120"/>
              </a:rPr>
              <a:t>The sequencing rule that must not be broken: a tier opens for a pattern only when that pattern's maturity supports it. Lean+ needs M1, Lean needs M3. Pattern maturity, not elapsed time, is the gate on tier availability — and the pressure to open Lean early, before patterns are ready, will be considerable.</a:t>
            </a:r>
            <a:endParaRPr lang="en-US" sz="86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274320"/>
            <a:ext cx="274320" cy="274320"/>
          </a:xfrm>
          <a:prstGeom prst="rect">
            <a:avLst/>
          </a:prstGeom>
          <a:solidFill>
            <a:srgbClr val="15304F"/>
          </a:solidFill>
          <a:ln w="12700">
            <a:solidFill>
              <a:srgbClr val="333333"/>
            </a:solidFill>
            <a:prstDash val="solid"/>
          </a:ln>
        </p:spPr>
      </p:sp>
      <p:sp>
        <p:nvSpPr>
          <p:cNvPr id="3" name="Text 1"/>
          <p:cNvSpPr txBox="1"/>
          <p:nvPr/>
        </p:nvSpPr>
        <p:spPr>
          <a:xfrm>
            <a:off x="411480" y="2743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15</a:t>
            </a:r>
            <a:endParaRPr lang="en-US" sz="1200" dirty="0"/>
          </a:p>
        </p:txBody>
      </p:sp>
      <p:sp>
        <p:nvSpPr>
          <p:cNvPr id="4" name="Text 2"/>
          <p:cNvSpPr txBox="1"/>
          <p:nvPr/>
        </p:nvSpPr>
        <p:spPr>
          <a:xfrm>
            <a:off x="795528" y="219456"/>
            <a:ext cx="8778240" cy="384048"/>
          </a:xfrm>
          <a:prstGeom prst="rect">
            <a:avLst/>
          </a:prstGeom>
          <a:noFill/>
          <a:ln/>
        </p:spPr>
        <p:txBody>
          <a:bodyPr wrap="square" lIns="0" tIns="0" rIns="0" bIns="0" rtlCol="0" anchor="ctr"/>
          <a:lstStyle/>
          <a:p>
            <a:pPr indent="0" marL="0">
              <a:buNone/>
            </a:pPr>
            <a:r>
              <a:rPr lang="en-US" sz="2400" b="1" dirty="0">
                <a:solidFill>
                  <a:srgbClr val="1B2432"/>
                </a:solidFill>
                <a:latin typeface="Cambria" pitchFamily="34" charset="0"/>
                <a:ea typeface="Cambria" pitchFamily="34" charset="-122"/>
                <a:cs typeface="Cambria" pitchFamily="34" charset="-120"/>
              </a:rPr>
              <a:t>The game plan — sprints 1 and 2</a:t>
            </a:r>
            <a:endParaRPr lang="en-US" sz="2400" dirty="0"/>
          </a:p>
        </p:txBody>
      </p:sp>
      <p:sp>
        <p:nvSpPr>
          <p:cNvPr id="5" name="Text 3"/>
          <p:cNvSpPr txBox="1"/>
          <p:nvPr/>
        </p:nvSpPr>
        <p:spPr>
          <a:xfrm>
            <a:off x="795528" y="621792"/>
            <a:ext cx="9326880" cy="237744"/>
          </a:xfrm>
          <a:prstGeom prst="rect">
            <a:avLst/>
          </a:prstGeom>
          <a:noFill/>
          <a:ln/>
        </p:spPr>
        <p:txBody>
          <a:bodyPr wrap="square" lIns="0" tIns="0" rIns="0" bIns="0" rtlCol="0" anchor="ctr"/>
          <a:lstStyle/>
          <a:p>
            <a:pPr indent="0" marL="0">
              <a:buNone/>
            </a:pPr>
            <a:r>
              <a:rPr lang="en-US" sz="1050" dirty="0">
                <a:solidFill>
                  <a:srgbClr val="55606E"/>
                </a:solidFill>
                <a:latin typeface="Calibri" pitchFamily="34" charset="0"/>
                <a:ea typeface="Calibri" pitchFamily="34" charset="-122"/>
                <a:cs typeface="Calibri" pitchFamily="34" charset="-120"/>
              </a:rPr>
              <a:t>Eight weeks, five to six people, no structural change</a:t>
            </a:r>
            <a:endParaRPr lang="en-US" sz="1050" dirty="0"/>
          </a:p>
        </p:txBody>
      </p:sp>
      <p:sp>
        <p:nvSpPr>
          <p:cNvPr id="6" name="Text 4"/>
          <p:cNvSpPr txBox="1"/>
          <p:nvPr/>
        </p:nvSpPr>
        <p:spPr>
          <a:xfrm>
            <a:off x="9052560" y="274320"/>
            <a:ext cx="2697480" cy="256032"/>
          </a:xfrm>
          <a:prstGeom prst="rect">
            <a:avLst/>
          </a:prstGeom>
          <a:noFill/>
          <a:ln/>
        </p:spPr>
        <p:txBody>
          <a:bodyPr wrap="square" lIns="0" tIns="0" rIns="0" bIns="0" rtlCol="0" anchor="ctr"/>
          <a:lstStyle/>
          <a:p>
            <a:pPr algn="r" indent="0" marL="0">
              <a:buNone/>
            </a:pPr>
            <a:r>
              <a:rPr lang="en-US" sz="950" b="1" spc="60" kern="0" dirty="0">
                <a:solidFill>
                  <a:srgbClr val="7C8798"/>
                </a:solidFill>
                <a:latin typeface="Calibri" pitchFamily="34" charset="0"/>
                <a:ea typeface="Calibri" pitchFamily="34" charset="-122"/>
                <a:cs typeface="Calibri" pitchFamily="34" charset="-120"/>
              </a:rPr>
              <a:t>Game plan</a:t>
            </a:r>
            <a:endParaRPr lang="en-US" sz="950" dirty="0"/>
          </a:p>
        </p:txBody>
      </p:sp>
      <p:sp>
        <p:nvSpPr>
          <p:cNvPr id="7" name="Shape 5"/>
          <p:cNvSpPr/>
          <p:nvPr/>
        </p:nvSpPr>
        <p:spPr>
          <a:xfrm>
            <a:off x="411480" y="932688"/>
            <a:ext cx="11338560" cy="0"/>
          </a:xfrm>
          <a:prstGeom prst="line">
            <a:avLst/>
          </a:prstGeom>
          <a:noFill/>
          <a:ln w="12700">
            <a:solidFill>
              <a:srgbClr val="D4DAE2"/>
            </a:solidFill>
            <a:prstDash val="solid"/>
          </a:ln>
        </p:spPr>
      </p:sp>
      <p:sp>
        <p:nvSpPr>
          <p:cNvPr id="8" name="Text 6"/>
          <p:cNvSpPr txBox="1"/>
          <p:nvPr/>
        </p:nvSpPr>
        <p:spPr>
          <a:xfrm>
            <a:off x="411480" y="1024128"/>
            <a:ext cx="5486400" cy="182880"/>
          </a:xfrm>
          <a:prstGeom prst="rect">
            <a:avLst/>
          </a:prstGeom>
          <a:noFill/>
          <a:ln/>
        </p:spPr>
        <p:txBody>
          <a:bodyPr wrap="square" lIns="0" tIns="0" rIns="0" bIns="0" rtlCol="0" anchor="ctr"/>
          <a:lstStyle/>
          <a:p>
            <a:pPr indent="0" marL="0">
              <a:buNone/>
            </a:pPr>
            <a:r>
              <a:rPr lang="en-US" sz="760" b="1" spc="110" kern="0" dirty="0">
                <a:solidFill>
                  <a:srgbClr val="1B2432"/>
                </a:solidFill>
                <a:latin typeface="Calibri" pitchFamily="34" charset="0"/>
                <a:ea typeface="Calibri" pitchFamily="34" charset="-122"/>
                <a:cs typeface="Calibri" pitchFamily="34" charset="-120"/>
              </a:rPr>
              <a:t>THE TEAM</a:t>
            </a:r>
            <a:endParaRPr lang="en-US" sz="760" dirty="0"/>
          </a:p>
        </p:txBody>
      </p:sp>
      <p:sp>
        <p:nvSpPr>
          <p:cNvPr id="9" name="Shape 7"/>
          <p:cNvSpPr/>
          <p:nvPr/>
        </p:nvSpPr>
        <p:spPr>
          <a:xfrm>
            <a:off x="411480" y="1225296"/>
            <a:ext cx="2157984" cy="841248"/>
          </a:xfrm>
          <a:prstGeom prst="roundRect">
            <a:avLst>
              <a:gd name="adj" fmla="val 4348"/>
            </a:avLst>
          </a:prstGeom>
          <a:solidFill>
            <a:srgbClr val="F4F7FA"/>
          </a:solidFill>
          <a:ln w="10160">
            <a:solidFill>
              <a:srgbClr val="D4DAE2"/>
            </a:solidFill>
            <a:prstDash val="solid"/>
          </a:ln>
        </p:spPr>
      </p:sp>
      <p:sp>
        <p:nvSpPr>
          <p:cNvPr id="10" name="Text 8"/>
          <p:cNvSpPr txBox="1"/>
          <p:nvPr/>
        </p:nvSpPr>
        <p:spPr>
          <a:xfrm>
            <a:off x="521208" y="1280160"/>
            <a:ext cx="640080" cy="219456"/>
          </a:xfrm>
          <a:prstGeom prst="rect">
            <a:avLst/>
          </a:prstGeom>
          <a:noFill/>
          <a:ln/>
        </p:spPr>
        <p:txBody>
          <a:bodyPr wrap="square" lIns="0" tIns="0" rIns="0" bIns="0" rtlCol="0" anchor="ctr"/>
          <a:lstStyle/>
          <a:p>
            <a:pPr indent="0" marL="0">
              <a:buNone/>
            </a:pPr>
            <a:r>
              <a:rPr lang="en-US" sz="1300" b="1" dirty="0">
                <a:solidFill>
                  <a:srgbClr val="15304F"/>
                </a:solidFill>
                <a:latin typeface="Cambria" pitchFamily="34" charset="0"/>
                <a:ea typeface="Cambria" pitchFamily="34" charset="-122"/>
                <a:cs typeface="Cambria" pitchFamily="34" charset="-120"/>
              </a:rPr>
              <a:t>1.0</a:t>
            </a:r>
            <a:endParaRPr lang="en-US" sz="1300" dirty="0"/>
          </a:p>
        </p:txBody>
      </p:sp>
      <p:sp>
        <p:nvSpPr>
          <p:cNvPr id="11" name="Text 9"/>
          <p:cNvSpPr txBox="1"/>
          <p:nvPr/>
        </p:nvSpPr>
        <p:spPr>
          <a:xfrm>
            <a:off x="521208" y="1499616"/>
            <a:ext cx="1938528" cy="256032"/>
          </a:xfrm>
          <a:prstGeom prst="rect">
            <a:avLst/>
          </a:prstGeom>
          <a:noFill/>
          <a:ln/>
        </p:spPr>
        <p:txBody>
          <a:bodyPr wrap="square" lIns="0" tIns="0" rIns="0" bIns="0" rtlCol="0" anchor="ctr"/>
          <a:lstStyle/>
          <a:p>
            <a:pPr indent="0" marL="0">
              <a:lnSpc>
                <a:spcPts val="880"/>
              </a:lnSpc>
              <a:buNone/>
            </a:pPr>
            <a:r>
              <a:rPr lang="en-US" sz="760" b="1" dirty="0">
                <a:solidFill>
                  <a:srgbClr val="1B2432"/>
                </a:solidFill>
                <a:latin typeface="Calibri" pitchFamily="34" charset="0"/>
                <a:ea typeface="Calibri" pitchFamily="34" charset="-122"/>
                <a:cs typeface="Calibri" pitchFamily="34" charset="-120"/>
              </a:rPr>
              <a:t>Product owner / enablement lead</a:t>
            </a:r>
            <a:endParaRPr lang="en-US" sz="760" dirty="0"/>
          </a:p>
        </p:txBody>
      </p:sp>
      <p:sp>
        <p:nvSpPr>
          <p:cNvPr id="12" name="Text 10"/>
          <p:cNvSpPr txBox="1"/>
          <p:nvPr/>
        </p:nvSpPr>
        <p:spPr>
          <a:xfrm>
            <a:off x="521208" y="1755648"/>
            <a:ext cx="1938528" cy="274320"/>
          </a:xfrm>
          <a:prstGeom prst="rect">
            <a:avLst/>
          </a:prstGeom>
          <a:noFill/>
          <a:ln/>
        </p:spPr>
        <p:txBody>
          <a:bodyPr wrap="square" lIns="0" tIns="0" rIns="0" bIns="0" rtlCol="0" anchor="ctr"/>
          <a:lstStyle/>
          <a:p>
            <a:pPr indent="0" marL="0">
              <a:lnSpc>
                <a:spcPts val="760"/>
              </a:lnSpc>
              <a:buNone/>
            </a:pPr>
            <a:r>
              <a:rPr lang="en-US" sz="660" dirty="0">
                <a:solidFill>
                  <a:srgbClr val="55606E"/>
                </a:solidFill>
                <a:latin typeface="Calibri" pitchFamily="34" charset="0"/>
                <a:ea typeface="Calibri" pitchFamily="34" charset="-122"/>
                <a:cs typeface="Calibri" pitchFamily="34" charset="-120"/>
              </a:rPr>
              <a:t>Rubric, tiering decisions, partner and squad adoption, backlog</a:t>
            </a:r>
            <a:endParaRPr lang="en-US" sz="660" dirty="0"/>
          </a:p>
        </p:txBody>
      </p:sp>
      <p:sp>
        <p:nvSpPr>
          <p:cNvPr id="13" name="Shape 11"/>
          <p:cNvSpPr/>
          <p:nvPr/>
        </p:nvSpPr>
        <p:spPr>
          <a:xfrm>
            <a:off x="2697480" y="1225296"/>
            <a:ext cx="2157984" cy="841248"/>
          </a:xfrm>
          <a:prstGeom prst="roundRect">
            <a:avLst>
              <a:gd name="adj" fmla="val 4348"/>
            </a:avLst>
          </a:prstGeom>
          <a:solidFill>
            <a:srgbClr val="F4F7FA"/>
          </a:solidFill>
          <a:ln w="10160">
            <a:solidFill>
              <a:srgbClr val="D4DAE2"/>
            </a:solidFill>
            <a:prstDash val="solid"/>
          </a:ln>
        </p:spPr>
      </p:sp>
      <p:sp>
        <p:nvSpPr>
          <p:cNvPr id="14" name="Text 12"/>
          <p:cNvSpPr txBox="1"/>
          <p:nvPr/>
        </p:nvSpPr>
        <p:spPr>
          <a:xfrm>
            <a:off x="2807208" y="1280160"/>
            <a:ext cx="640080" cy="219456"/>
          </a:xfrm>
          <a:prstGeom prst="rect">
            <a:avLst/>
          </a:prstGeom>
          <a:noFill/>
          <a:ln/>
        </p:spPr>
        <p:txBody>
          <a:bodyPr wrap="square" lIns="0" tIns="0" rIns="0" bIns="0" rtlCol="0" anchor="ctr"/>
          <a:lstStyle/>
          <a:p>
            <a:pPr indent="0" marL="0">
              <a:buNone/>
            </a:pPr>
            <a:r>
              <a:rPr lang="en-US" sz="1300" b="1" dirty="0">
                <a:solidFill>
                  <a:srgbClr val="15304F"/>
                </a:solidFill>
                <a:latin typeface="Cambria" pitchFamily="34" charset="0"/>
                <a:ea typeface="Cambria" pitchFamily="34" charset="-122"/>
                <a:cs typeface="Cambria" pitchFamily="34" charset="-120"/>
              </a:rPr>
              <a:t>2.0</a:t>
            </a:r>
            <a:endParaRPr lang="en-US" sz="1300" dirty="0"/>
          </a:p>
        </p:txBody>
      </p:sp>
      <p:sp>
        <p:nvSpPr>
          <p:cNvPr id="15" name="Text 13"/>
          <p:cNvSpPr txBox="1"/>
          <p:nvPr/>
        </p:nvSpPr>
        <p:spPr>
          <a:xfrm>
            <a:off x="2807208" y="1499616"/>
            <a:ext cx="1938528" cy="256032"/>
          </a:xfrm>
          <a:prstGeom prst="rect">
            <a:avLst/>
          </a:prstGeom>
          <a:noFill/>
          <a:ln/>
        </p:spPr>
        <p:txBody>
          <a:bodyPr wrap="square" lIns="0" tIns="0" rIns="0" bIns="0" rtlCol="0" anchor="ctr"/>
          <a:lstStyle/>
          <a:p>
            <a:pPr indent="0" marL="0">
              <a:lnSpc>
                <a:spcPts val="880"/>
              </a:lnSpc>
              <a:buNone/>
            </a:pPr>
            <a:r>
              <a:rPr lang="en-US" sz="760" b="1" dirty="0">
                <a:solidFill>
                  <a:srgbClr val="1B2432"/>
                </a:solidFill>
                <a:latin typeface="Calibri" pitchFamily="34" charset="0"/>
                <a:ea typeface="Calibri" pitchFamily="34" charset="-122"/>
                <a:cs typeface="Calibri" pitchFamily="34" charset="-120"/>
              </a:rPr>
              <a:t>Platform engineers</a:t>
            </a:r>
            <a:endParaRPr lang="en-US" sz="760" dirty="0"/>
          </a:p>
        </p:txBody>
      </p:sp>
      <p:sp>
        <p:nvSpPr>
          <p:cNvPr id="16" name="Text 14"/>
          <p:cNvSpPr txBox="1"/>
          <p:nvPr/>
        </p:nvSpPr>
        <p:spPr>
          <a:xfrm>
            <a:off x="2807208" y="1755648"/>
            <a:ext cx="1938528" cy="274320"/>
          </a:xfrm>
          <a:prstGeom prst="rect">
            <a:avLst/>
          </a:prstGeom>
          <a:noFill/>
          <a:ln/>
        </p:spPr>
        <p:txBody>
          <a:bodyPr wrap="square" lIns="0" tIns="0" rIns="0" bIns="0" rtlCol="0" anchor="ctr"/>
          <a:lstStyle/>
          <a:p>
            <a:pPr indent="0" marL="0">
              <a:lnSpc>
                <a:spcPts val="760"/>
              </a:lnSpc>
              <a:buNone/>
            </a:pPr>
            <a:r>
              <a:rPr lang="en-US" sz="660" dirty="0">
                <a:solidFill>
                  <a:srgbClr val="55606E"/>
                </a:solidFill>
                <a:latin typeface="Calibri" pitchFamily="34" charset="0"/>
                <a:ea typeface="Calibri" pitchFamily="34" charset="-122"/>
                <a:cs typeface="Calibri" pitchFamily="34" charset="-120"/>
              </a:rPr>
              <a:t>Enablement record, rules engine, generation, cockpit</a:t>
            </a:r>
            <a:endParaRPr lang="en-US" sz="660" dirty="0"/>
          </a:p>
        </p:txBody>
      </p:sp>
      <p:sp>
        <p:nvSpPr>
          <p:cNvPr id="17" name="Shape 15"/>
          <p:cNvSpPr/>
          <p:nvPr/>
        </p:nvSpPr>
        <p:spPr>
          <a:xfrm>
            <a:off x="4983480" y="1225296"/>
            <a:ext cx="2157984" cy="841248"/>
          </a:xfrm>
          <a:prstGeom prst="roundRect">
            <a:avLst>
              <a:gd name="adj" fmla="val 4348"/>
            </a:avLst>
          </a:prstGeom>
          <a:solidFill>
            <a:srgbClr val="F4F7FA"/>
          </a:solidFill>
          <a:ln w="10160">
            <a:solidFill>
              <a:srgbClr val="D4DAE2"/>
            </a:solidFill>
            <a:prstDash val="solid"/>
          </a:ln>
        </p:spPr>
      </p:sp>
      <p:sp>
        <p:nvSpPr>
          <p:cNvPr id="18" name="Text 16"/>
          <p:cNvSpPr txBox="1"/>
          <p:nvPr/>
        </p:nvSpPr>
        <p:spPr>
          <a:xfrm>
            <a:off x="5093208" y="1280160"/>
            <a:ext cx="640080" cy="219456"/>
          </a:xfrm>
          <a:prstGeom prst="rect">
            <a:avLst/>
          </a:prstGeom>
          <a:noFill/>
          <a:ln/>
        </p:spPr>
        <p:txBody>
          <a:bodyPr wrap="square" lIns="0" tIns="0" rIns="0" bIns="0" rtlCol="0" anchor="ctr"/>
          <a:lstStyle/>
          <a:p>
            <a:pPr indent="0" marL="0">
              <a:buNone/>
            </a:pPr>
            <a:r>
              <a:rPr lang="en-US" sz="1300" b="1" dirty="0">
                <a:solidFill>
                  <a:srgbClr val="15304F"/>
                </a:solidFill>
                <a:latin typeface="Cambria" pitchFamily="34" charset="0"/>
                <a:ea typeface="Cambria" pitchFamily="34" charset="-122"/>
                <a:cs typeface="Cambria" pitchFamily="34" charset="-120"/>
              </a:rPr>
              <a:t>1.0</a:t>
            </a:r>
            <a:endParaRPr lang="en-US" sz="1300" dirty="0"/>
          </a:p>
        </p:txBody>
      </p:sp>
      <p:sp>
        <p:nvSpPr>
          <p:cNvPr id="19" name="Text 17"/>
          <p:cNvSpPr txBox="1"/>
          <p:nvPr/>
        </p:nvSpPr>
        <p:spPr>
          <a:xfrm>
            <a:off x="5093208" y="1499616"/>
            <a:ext cx="1938528" cy="256032"/>
          </a:xfrm>
          <a:prstGeom prst="rect">
            <a:avLst/>
          </a:prstGeom>
          <a:noFill/>
          <a:ln/>
        </p:spPr>
        <p:txBody>
          <a:bodyPr wrap="square" lIns="0" tIns="0" rIns="0" bIns="0" rtlCol="0" anchor="ctr"/>
          <a:lstStyle/>
          <a:p>
            <a:pPr indent="0" marL="0">
              <a:lnSpc>
                <a:spcPts val="880"/>
              </a:lnSpc>
              <a:buNone/>
            </a:pPr>
            <a:r>
              <a:rPr lang="en-US" sz="760" b="1" dirty="0">
                <a:solidFill>
                  <a:srgbClr val="1B2432"/>
                </a:solidFill>
                <a:latin typeface="Calibri" pitchFamily="34" charset="0"/>
                <a:ea typeface="Calibri" pitchFamily="34" charset="-122"/>
                <a:cs typeface="Calibri" pitchFamily="34" charset="-120"/>
              </a:rPr>
              <a:t>Pattern and content analyst</a:t>
            </a:r>
            <a:endParaRPr lang="en-US" sz="760" dirty="0"/>
          </a:p>
        </p:txBody>
      </p:sp>
      <p:sp>
        <p:nvSpPr>
          <p:cNvPr id="20" name="Text 18"/>
          <p:cNvSpPr txBox="1"/>
          <p:nvPr/>
        </p:nvSpPr>
        <p:spPr>
          <a:xfrm>
            <a:off x="5093208" y="1755648"/>
            <a:ext cx="1938528" cy="274320"/>
          </a:xfrm>
          <a:prstGeom prst="rect">
            <a:avLst/>
          </a:prstGeom>
          <a:noFill/>
          <a:ln/>
        </p:spPr>
        <p:txBody>
          <a:bodyPr wrap="square" lIns="0" tIns="0" rIns="0" bIns="0" rtlCol="0" anchor="ctr"/>
          <a:lstStyle/>
          <a:p>
            <a:pPr indent="0" marL="0">
              <a:lnSpc>
                <a:spcPts val="760"/>
              </a:lnSpc>
              <a:buNone/>
            </a:pPr>
            <a:r>
              <a:rPr lang="en-US" sz="660" dirty="0">
                <a:solidFill>
                  <a:srgbClr val="55606E"/>
                </a:solidFill>
                <a:latin typeface="Calibri" pitchFamily="34" charset="0"/>
                <a:ea typeface="Calibri" pitchFamily="34" charset="-122"/>
                <a:cs typeface="Calibri" pitchFamily="34" charset="-120"/>
              </a:rPr>
              <a:t>Intake data catalogue and why-register, pattern documentation</a:t>
            </a:r>
            <a:endParaRPr lang="en-US" sz="660" dirty="0"/>
          </a:p>
        </p:txBody>
      </p:sp>
      <p:sp>
        <p:nvSpPr>
          <p:cNvPr id="21" name="Shape 19"/>
          <p:cNvSpPr/>
          <p:nvPr/>
        </p:nvSpPr>
        <p:spPr>
          <a:xfrm>
            <a:off x="7269480" y="1225296"/>
            <a:ext cx="2157984" cy="841248"/>
          </a:xfrm>
          <a:prstGeom prst="roundRect">
            <a:avLst>
              <a:gd name="adj" fmla="val 4348"/>
            </a:avLst>
          </a:prstGeom>
          <a:solidFill>
            <a:srgbClr val="F4F7FA"/>
          </a:solidFill>
          <a:ln w="10160">
            <a:solidFill>
              <a:srgbClr val="D4DAE2"/>
            </a:solidFill>
            <a:prstDash val="solid"/>
          </a:ln>
        </p:spPr>
      </p:sp>
      <p:sp>
        <p:nvSpPr>
          <p:cNvPr id="22" name="Text 20"/>
          <p:cNvSpPr txBox="1"/>
          <p:nvPr/>
        </p:nvSpPr>
        <p:spPr>
          <a:xfrm>
            <a:off x="7379208" y="1280160"/>
            <a:ext cx="640080" cy="219456"/>
          </a:xfrm>
          <a:prstGeom prst="rect">
            <a:avLst/>
          </a:prstGeom>
          <a:noFill/>
          <a:ln/>
        </p:spPr>
        <p:txBody>
          <a:bodyPr wrap="square" lIns="0" tIns="0" rIns="0" bIns="0" rtlCol="0" anchor="ctr"/>
          <a:lstStyle/>
          <a:p>
            <a:pPr indent="0" marL="0">
              <a:buNone/>
            </a:pPr>
            <a:r>
              <a:rPr lang="en-US" sz="1300" b="1" dirty="0">
                <a:solidFill>
                  <a:srgbClr val="15304F"/>
                </a:solidFill>
                <a:latin typeface="Cambria" pitchFamily="34" charset="0"/>
                <a:ea typeface="Cambria" pitchFamily="34" charset="-122"/>
                <a:cs typeface="Cambria" pitchFamily="34" charset="-120"/>
              </a:rPr>
              <a:t>0.5</a:t>
            </a:r>
            <a:endParaRPr lang="en-US" sz="1300" dirty="0"/>
          </a:p>
        </p:txBody>
      </p:sp>
      <p:sp>
        <p:nvSpPr>
          <p:cNvPr id="23" name="Text 21"/>
          <p:cNvSpPr txBox="1"/>
          <p:nvPr/>
        </p:nvSpPr>
        <p:spPr>
          <a:xfrm>
            <a:off x="7379208" y="1499616"/>
            <a:ext cx="1938528" cy="256032"/>
          </a:xfrm>
          <a:prstGeom prst="rect">
            <a:avLst/>
          </a:prstGeom>
          <a:noFill/>
          <a:ln/>
        </p:spPr>
        <p:txBody>
          <a:bodyPr wrap="square" lIns="0" tIns="0" rIns="0" bIns="0" rtlCol="0" anchor="ctr"/>
          <a:lstStyle/>
          <a:p>
            <a:pPr indent="0" marL="0">
              <a:lnSpc>
                <a:spcPts val="880"/>
              </a:lnSpc>
              <a:buNone/>
            </a:pPr>
            <a:r>
              <a:rPr lang="en-US" sz="760" b="1" dirty="0">
                <a:solidFill>
                  <a:srgbClr val="1B2432"/>
                </a:solidFill>
                <a:latin typeface="Calibri" pitchFamily="34" charset="0"/>
                <a:ea typeface="Calibri" pitchFamily="34" charset="-122"/>
                <a:cs typeface="Calibri" pitchFamily="34" charset="-120"/>
              </a:rPr>
              <a:t>Governance and records analyst</a:t>
            </a:r>
            <a:endParaRPr lang="en-US" sz="760" dirty="0"/>
          </a:p>
        </p:txBody>
      </p:sp>
      <p:sp>
        <p:nvSpPr>
          <p:cNvPr id="24" name="Text 22"/>
          <p:cNvSpPr txBox="1"/>
          <p:nvPr/>
        </p:nvSpPr>
        <p:spPr>
          <a:xfrm>
            <a:off x="7379208" y="1755648"/>
            <a:ext cx="1938528" cy="274320"/>
          </a:xfrm>
          <a:prstGeom prst="rect">
            <a:avLst/>
          </a:prstGeom>
          <a:noFill/>
          <a:ln/>
        </p:spPr>
        <p:txBody>
          <a:bodyPr wrap="square" lIns="0" tIns="0" rIns="0" bIns="0" rtlCol="0" anchor="ctr"/>
          <a:lstStyle/>
          <a:p>
            <a:pPr indent="0" marL="0">
              <a:lnSpc>
                <a:spcPts val="760"/>
              </a:lnSpc>
              <a:buNone/>
            </a:pPr>
            <a:r>
              <a:rPr lang="en-US" sz="660" dirty="0">
                <a:solidFill>
                  <a:srgbClr val="55606E"/>
                </a:solidFill>
                <a:latin typeface="Calibri" pitchFamily="34" charset="0"/>
                <a:ea typeface="Calibri" pitchFamily="34" charset="-122"/>
                <a:cs typeface="Calibri" pitchFamily="34" charset="-120"/>
              </a:rPr>
              <a:t>Why-register entries for classification and retention, gate definitions</a:t>
            </a:r>
            <a:endParaRPr lang="en-US" sz="660" dirty="0"/>
          </a:p>
        </p:txBody>
      </p:sp>
      <p:sp>
        <p:nvSpPr>
          <p:cNvPr id="25" name="Shape 23"/>
          <p:cNvSpPr/>
          <p:nvPr/>
        </p:nvSpPr>
        <p:spPr>
          <a:xfrm>
            <a:off x="9555480" y="1225296"/>
            <a:ext cx="2157984" cy="841248"/>
          </a:xfrm>
          <a:prstGeom prst="roundRect">
            <a:avLst>
              <a:gd name="adj" fmla="val 4348"/>
            </a:avLst>
          </a:prstGeom>
          <a:solidFill>
            <a:srgbClr val="F4F7FA"/>
          </a:solidFill>
          <a:ln w="10160">
            <a:solidFill>
              <a:srgbClr val="D4DAE2"/>
            </a:solidFill>
            <a:prstDash val="solid"/>
          </a:ln>
        </p:spPr>
      </p:sp>
      <p:sp>
        <p:nvSpPr>
          <p:cNvPr id="26" name="Text 24"/>
          <p:cNvSpPr txBox="1"/>
          <p:nvPr/>
        </p:nvSpPr>
        <p:spPr>
          <a:xfrm>
            <a:off x="9665208" y="1280160"/>
            <a:ext cx="640080" cy="219456"/>
          </a:xfrm>
          <a:prstGeom prst="rect">
            <a:avLst/>
          </a:prstGeom>
          <a:noFill/>
          <a:ln/>
        </p:spPr>
        <p:txBody>
          <a:bodyPr wrap="square" lIns="0" tIns="0" rIns="0" bIns="0" rtlCol="0" anchor="ctr"/>
          <a:lstStyle/>
          <a:p>
            <a:pPr indent="0" marL="0">
              <a:buNone/>
            </a:pPr>
            <a:r>
              <a:rPr lang="en-US" sz="1300" b="1" dirty="0">
                <a:solidFill>
                  <a:srgbClr val="15304F"/>
                </a:solidFill>
                <a:latin typeface="Cambria" pitchFamily="34" charset="0"/>
                <a:ea typeface="Cambria" pitchFamily="34" charset="-122"/>
                <a:cs typeface="Cambria" pitchFamily="34" charset="-120"/>
              </a:rPr>
              <a:t>1.0</a:t>
            </a:r>
            <a:endParaRPr lang="en-US" sz="1300" dirty="0"/>
          </a:p>
        </p:txBody>
      </p:sp>
      <p:sp>
        <p:nvSpPr>
          <p:cNvPr id="27" name="Text 25"/>
          <p:cNvSpPr txBox="1"/>
          <p:nvPr/>
        </p:nvSpPr>
        <p:spPr>
          <a:xfrm>
            <a:off x="9665208" y="1499616"/>
            <a:ext cx="1938528" cy="256032"/>
          </a:xfrm>
          <a:prstGeom prst="rect">
            <a:avLst/>
          </a:prstGeom>
          <a:noFill/>
          <a:ln/>
        </p:spPr>
        <p:txBody>
          <a:bodyPr wrap="square" lIns="0" tIns="0" rIns="0" bIns="0" rtlCol="0" anchor="ctr"/>
          <a:lstStyle/>
          <a:p>
            <a:pPr indent="0" marL="0">
              <a:lnSpc>
                <a:spcPts val="880"/>
              </a:lnSpc>
              <a:buNone/>
            </a:pPr>
            <a:r>
              <a:rPr lang="en-US" sz="760" b="1" dirty="0">
                <a:solidFill>
                  <a:srgbClr val="1B2432"/>
                </a:solidFill>
                <a:latin typeface="Calibri" pitchFamily="34" charset="0"/>
                <a:ea typeface="Calibri" pitchFamily="34" charset="-122"/>
                <a:cs typeface="Calibri" pitchFamily="34" charset="-120"/>
              </a:rPr>
              <a:t>Enablement engineer (clinic pilot)</a:t>
            </a:r>
            <a:endParaRPr lang="en-US" sz="760" dirty="0"/>
          </a:p>
        </p:txBody>
      </p:sp>
      <p:sp>
        <p:nvSpPr>
          <p:cNvPr id="28" name="Text 26"/>
          <p:cNvSpPr txBox="1"/>
          <p:nvPr/>
        </p:nvSpPr>
        <p:spPr>
          <a:xfrm>
            <a:off x="9665208" y="1755648"/>
            <a:ext cx="1938528" cy="274320"/>
          </a:xfrm>
          <a:prstGeom prst="rect">
            <a:avLst/>
          </a:prstGeom>
          <a:noFill/>
          <a:ln/>
        </p:spPr>
        <p:txBody>
          <a:bodyPr wrap="square" lIns="0" tIns="0" rIns="0" bIns="0" rtlCol="0" anchor="ctr"/>
          <a:lstStyle/>
          <a:p>
            <a:pPr indent="0" marL="0">
              <a:lnSpc>
                <a:spcPts val="760"/>
              </a:lnSpc>
              <a:buNone/>
            </a:pPr>
            <a:r>
              <a:rPr lang="en-US" sz="660" dirty="0">
                <a:solidFill>
                  <a:srgbClr val="55606E"/>
                </a:solidFill>
                <a:latin typeface="Calibri" pitchFamily="34" charset="0"/>
                <a:ea typeface="Calibri" pitchFamily="34" charset="-122"/>
                <a:cs typeface="Calibri" pitchFamily="34" charset="-120"/>
              </a:rPr>
              <a:t>From sprint 3 — runs the first checkpoints and clinic slots</a:t>
            </a:r>
            <a:endParaRPr lang="en-US" sz="660" dirty="0"/>
          </a:p>
        </p:txBody>
      </p:sp>
      <p:sp>
        <p:nvSpPr>
          <p:cNvPr id="29" name="Shape 27"/>
          <p:cNvSpPr/>
          <p:nvPr/>
        </p:nvSpPr>
        <p:spPr>
          <a:xfrm>
            <a:off x="411480" y="2231136"/>
            <a:ext cx="5577840" cy="3310128"/>
          </a:xfrm>
          <a:prstGeom prst="roundRect">
            <a:avLst>
              <a:gd name="adj" fmla="val 1381"/>
            </a:avLst>
          </a:prstGeom>
          <a:solidFill>
            <a:srgbClr val="FFFFFF"/>
          </a:solidFill>
          <a:ln w="16510">
            <a:solidFill>
              <a:srgbClr val="A44A2A"/>
            </a:solidFill>
            <a:prstDash val="solid"/>
          </a:ln>
          <a:effectLst>
            <a:outerShdw sx="100000" sy="100000" kx="0" ky="0" algn="bl" rotWithShape="0" blurRad="88900" dist="12700" dir="5400000">
              <a:srgbClr val="97A3B4">
                <a:alpha val="16000"/>
              </a:srgbClr>
            </a:outerShdw>
          </a:effectLst>
        </p:spPr>
      </p:sp>
      <p:sp>
        <p:nvSpPr>
          <p:cNvPr id="30" name="Shape 28"/>
          <p:cNvSpPr/>
          <p:nvPr/>
        </p:nvSpPr>
        <p:spPr>
          <a:xfrm>
            <a:off x="411480" y="2231136"/>
            <a:ext cx="5577840" cy="512064"/>
          </a:xfrm>
          <a:prstGeom prst="rect">
            <a:avLst/>
          </a:prstGeom>
          <a:solidFill>
            <a:srgbClr val="A44A2A"/>
          </a:solidFill>
          <a:ln w="12700">
            <a:solidFill>
              <a:srgbClr val="333333"/>
            </a:solidFill>
            <a:prstDash val="solid"/>
          </a:ln>
        </p:spPr>
      </p:sp>
      <p:sp>
        <p:nvSpPr>
          <p:cNvPr id="31" name="Text 29"/>
          <p:cNvSpPr txBox="1"/>
          <p:nvPr/>
        </p:nvSpPr>
        <p:spPr>
          <a:xfrm>
            <a:off x="576072" y="2276856"/>
            <a:ext cx="2743200" cy="182880"/>
          </a:xfrm>
          <a:prstGeom prst="rect">
            <a:avLst/>
          </a:prstGeom>
          <a:noFill/>
          <a:ln/>
        </p:spPr>
        <p:txBody>
          <a:bodyPr wrap="square" lIns="0" tIns="0" rIns="0" bIns="0" rtlCol="0" anchor="ctr"/>
          <a:lstStyle/>
          <a:p>
            <a:pPr indent="0" marL="0">
              <a:buNone/>
            </a:pPr>
            <a:r>
              <a:rPr lang="en-US" sz="740" b="1" spc="100" kern="0" dirty="0">
                <a:solidFill>
                  <a:srgbClr val="F6D9C9"/>
                </a:solidFill>
                <a:latin typeface="Calibri" pitchFamily="34" charset="0"/>
                <a:ea typeface="Calibri" pitchFamily="34" charset="-122"/>
                <a:cs typeface="Calibri" pitchFamily="34" charset="-120"/>
              </a:rPr>
              <a:t>SPRINT 1 · WEEKS 1–2</a:t>
            </a:r>
            <a:endParaRPr lang="en-US" sz="740" dirty="0"/>
          </a:p>
        </p:txBody>
      </p:sp>
      <p:sp>
        <p:nvSpPr>
          <p:cNvPr id="32" name="Text 30"/>
          <p:cNvSpPr txBox="1"/>
          <p:nvPr/>
        </p:nvSpPr>
        <p:spPr>
          <a:xfrm>
            <a:off x="576072" y="2450592"/>
            <a:ext cx="521208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Complete the intake</a:t>
            </a:r>
            <a:endParaRPr lang="en-US" sz="1300" dirty="0"/>
          </a:p>
        </p:txBody>
      </p:sp>
      <p:sp>
        <p:nvSpPr>
          <p:cNvPr id="33" name="Text 31"/>
          <p:cNvSpPr txBox="1"/>
          <p:nvPr/>
        </p:nvSpPr>
        <p:spPr>
          <a:xfrm>
            <a:off x="576072" y="2816352"/>
            <a:ext cx="5248656" cy="438912"/>
          </a:xfrm>
          <a:prstGeom prst="rect">
            <a:avLst/>
          </a:prstGeom>
          <a:noFill/>
          <a:ln/>
        </p:spPr>
        <p:txBody>
          <a:bodyPr wrap="square" lIns="0" tIns="0" rIns="0" bIns="0" rtlCol="0" anchor="ctr"/>
          <a:lstStyle/>
          <a:p>
            <a:pPr indent="0" marL="0">
              <a:lnSpc>
                <a:spcPts val="960"/>
              </a:lnSpc>
              <a:buNone/>
            </a:pPr>
            <a:r>
              <a:rPr lang="en-US" sz="800" i="1" dirty="0">
                <a:solidFill>
                  <a:srgbClr val="55606E"/>
                </a:solidFill>
                <a:latin typeface="Calibri" pitchFamily="34" charset="0"/>
                <a:ea typeface="Calibri" pitchFamily="34" charset="-122"/>
                <a:cs typeface="Calibri" pitchFamily="34" charset="-120"/>
              </a:rPr>
              <a:t>Goal: from day one, every new intake is captured completely, with the reason for each requirement explained at the point of asking, and every remaining unknown registered as a dated, owned, gate-linked gap.</a:t>
            </a:r>
            <a:endParaRPr lang="en-US" sz="800" dirty="0"/>
          </a:p>
        </p:txBody>
      </p:sp>
      <p:sp>
        <p:nvSpPr>
          <p:cNvPr id="34" name="Text 32"/>
          <p:cNvSpPr txBox="1"/>
          <p:nvPr/>
        </p:nvSpPr>
        <p:spPr>
          <a:xfrm>
            <a:off x="576072" y="3291840"/>
            <a:ext cx="2304288" cy="256032"/>
          </a:xfrm>
          <a:prstGeom prst="rect">
            <a:avLst/>
          </a:prstGeom>
          <a:noFill/>
          <a:ln/>
        </p:spPr>
        <p:txBody>
          <a:bodyPr wrap="square" lIns="0" tIns="0" rIns="0" bIns="0" rtlCol="0" anchor="ctr"/>
          <a:lstStyle/>
          <a:p>
            <a:pPr indent="0" marL="0">
              <a:buNone/>
            </a:pPr>
            <a:r>
              <a:rPr lang="en-US" sz="740" b="1" dirty="0">
                <a:solidFill>
                  <a:srgbClr val="1B2432"/>
                </a:solidFill>
                <a:latin typeface="Calibri" pitchFamily="34" charset="0"/>
                <a:ea typeface="Calibri" pitchFamily="34" charset="-122"/>
                <a:cs typeface="Calibri" pitchFamily="34" charset="-120"/>
              </a:rPr>
              <a:t>Intake Data Catalogue and why-register</a:t>
            </a:r>
            <a:endParaRPr lang="en-US" sz="740" dirty="0"/>
          </a:p>
        </p:txBody>
      </p:sp>
      <p:sp>
        <p:nvSpPr>
          <p:cNvPr id="35" name="Text 33"/>
          <p:cNvSpPr txBox="1"/>
          <p:nvPr/>
        </p:nvSpPr>
        <p:spPr>
          <a:xfrm>
            <a:off x="2935224" y="3291840"/>
            <a:ext cx="2889504" cy="256032"/>
          </a:xfrm>
          <a:prstGeom prst="rect">
            <a:avLst/>
          </a:prstGeom>
          <a:noFill/>
          <a:ln/>
        </p:spPr>
        <p:txBody>
          <a:bodyPr wrap="square" lIns="0" tIns="0" rIns="0" bIns="0" rtlCol="0" anchor="ctr"/>
          <a:lstStyle/>
          <a:p>
            <a:pPr indent="0" marL="0">
              <a:lnSpc>
                <a:spcPts val="780"/>
              </a:lnSpc>
              <a:buNone/>
            </a:pPr>
            <a:r>
              <a:rPr lang="en-US" sz="680" dirty="0">
                <a:solidFill>
                  <a:srgbClr val="55606E"/>
                </a:solidFill>
                <a:latin typeface="Calibri" pitchFamily="34" charset="0"/>
                <a:ea typeface="Calibri" pitchFamily="34" charset="-122"/>
                <a:cs typeface="Calibri" pitchFamily="34" charset="-120"/>
              </a:rPr>
              <a:t>All 54 points with reason, blocker, good answer, diagnostics, band</a:t>
            </a:r>
            <a:endParaRPr lang="en-US" sz="680" dirty="0"/>
          </a:p>
        </p:txBody>
      </p:sp>
      <p:sp>
        <p:nvSpPr>
          <p:cNvPr id="36" name="Text 34"/>
          <p:cNvSpPr txBox="1"/>
          <p:nvPr/>
        </p:nvSpPr>
        <p:spPr>
          <a:xfrm>
            <a:off x="576072" y="3566160"/>
            <a:ext cx="2304288" cy="256032"/>
          </a:xfrm>
          <a:prstGeom prst="rect">
            <a:avLst/>
          </a:prstGeom>
          <a:noFill/>
          <a:ln/>
        </p:spPr>
        <p:txBody>
          <a:bodyPr wrap="square" lIns="0" tIns="0" rIns="0" bIns="0" rtlCol="0" anchor="ctr"/>
          <a:lstStyle/>
          <a:p>
            <a:pPr indent="0" marL="0">
              <a:buNone/>
            </a:pPr>
            <a:r>
              <a:rPr lang="en-US" sz="740" b="1" dirty="0">
                <a:solidFill>
                  <a:srgbClr val="1B2432"/>
                </a:solidFill>
                <a:latin typeface="Calibri" pitchFamily="34" charset="0"/>
                <a:ea typeface="Calibri" pitchFamily="34" charset="-122"/>
                <a:cs typeface="Calibri" pitchFamily="34" charset="-120"/>
              </a:rPr>
              <a:t>Intake Copilot v1</a:t>
            </a:r>
            <a:endParaRPr lang="en-US" sz="740" dirty="0"/>
          </a:p>
        </p:txBody>
      </p:sp>
      <p:sp>
        <p:nvSpPr>
          <p:cNvPr id="37" name="Text 35"/>
          <p:cNvSpPr txBox="1"/>
          <p:nvPr/>
        </p:nvSpPr>
        <p:spPr>
          <a:xfrm>
            <a:off x="2935224" y="3566160"/>
            <a:ext cx="2889504" cy="256032"/>
          </a:xfrm>
          <a:prstGeom prst="rect">
            <a:avLst/>
          </a:prstGeom>
          <a:noFill/>
          <a:ln/>
        </p:spPr>
        <p:txBody>
          <a:bodyPr wrap="square" lIns="0" tIns="0" rIns="0" bIns="0" rtlCol="0" anchor="ctr"/>
          <a:lstStyle/>
          <a:p>
            <a:pPr indent="0" marL="0">
              <a:lnSpc>
                <a:spcPts val="780"/>
              </a:lnSpc>
              <a:buNone/>
            </a:pPr>
            <a:r>
              <a:rPr lang="en-US" sz="680" dirty="0">
                <a:solidFill>
                  <a:srgbClr val="55606E"/>
                </a:solidFill>
                <a:latin typeface="Calibri" pitchFamily="34" charset="0"/>
                <a:ea typeface="Calibri" pitchFamily="34" charset="-122"/>
                <a:cs typeface="Calibri" pitchFamily="34" charset="-120"/>
              </a:rPr>
              <a:t>Applicability filtering, reasons attached, assistance, inference with working shown</a:t>
            </a:r>
            <a:endParaRPr lang="en-US" sz="680" dirty="0"/>
          </a:p>
        </p:txBody>
      </p:sp>
      <p:sp>
        <p:nvSpPr>
          <p:cNvPr id="38" name="Text 36"/>
          <p:cNvSpPr txBox="1"/>
          <p:nvPr/>
        </p:nvSpPr>
        <p:spPr>
          <a:xfrm>
            <a:off x="576072" y="3840480"/>
            <a:ext cx="2304288" cy="256032"/>
          </a:xfrm>
          <a:prstGeom prst="rect">
            <a:avLst/>
          </a:prstGeom>
          <a:noFill/>
          <a:ln/>
        </p:spPr>
        <p:txBody>
          <a:bodyPr wrap="square" lIns="0" tIns="0" rIns="0" bIns="0" rtlCol="0" anchor="ctr"/>
          <a:lstStyle/>
          <a:p>
            <a:pPr indent="0" marL="0">
              <a:buNone/>
            </a:pPr>
            <a:r>
              <a:rPr lang="en-US" sz="740" b="1" dirty="0">
                <a:solidFill>
                  <a:srgbClr val="1B2432"/>
                </a:solidFill>
                <a:latin typeface="Calibri" pitchFamily="34" charset="0"/>
                <a:ea typeface="Calibri" pitchFamily="34" charset="-122"/>
                <a:cs typeface="Calibri" pitchFamily="34" charset="-120"/>
              </a:rPr>
              <a:t>Completeness validation and banding</a:t>
            </a:r>
            <a:endParaRPr lang="en-US" sz="740" dirty="0"/>
          </a:p>
        </p:txBody>
      </p:sp>
      <p:sp>
        <p:nvSpPr>
          <p:cNvPr id="39" name="Text 37"/>
          <p:cNvSpPr txBox="1"/>
          <p:nvPr/>
        </p:nvSpPr>
        <p:spPr>
          <a:xfrm>
            <a:off x="2935224" y="3840480"/>
            <a:ext cx="2889504" cy="256032"/>
          </a:xfrm>
          <a:prstGeom prst="rect">
            <a:avLst/>
          </a:prstGeom>
          <a:noFill/>
          <a:ln/>
        </p:spPr>
        <p:txBody>
          <a:bodyPr wrap="square" lIns="0" tIns="0" rIns="0" bIns="0" rtlCol="0" anchor="ctr"/>
          <a:lstStyle/>
          <a:p>
            <a:pPr indent="0" marL="0">
              <a:lnSpc>
                <a:spcPts val="780"/>
              </a:lnSpc>
              <a:buNone/>
            </a:pPr>
            <a:r>
              <a:rPr lang="en-US" sz="680" dirty="0">
                <a:solidFill>
                  <a:srgbClr val="55606E"/>
                </a:solidFill>
                <a:latin typeface="Calibri" pitchFamily="34" charset="0"/>
                <a:ea typeface="Calibri" pitchFamily="34" charset="-122"/>
                <a:cs typeface="Calibri" pitchFamily="34" charset="-120"/>
              </a:rPr>
              <a:t>Deterministic scoring against accept / design / provision / certify</a:t>
            </a:r>
            <a:endParaRPr lang="en-US" sz="680" dirty="0"/>
          </a:p>
        </p:txBody>
      </p:sp>
      <p:sp>
        <p:nvSpPr>
          <p:cNvPr id="40" name="Text 38"/>
          <p:cNvSpPr txBox="1"/>
          <p:nvPr/>
        </p:nvSpPr>
        <p:spPr>
          <a:xfrm>
            <a:off x="576072" y="4114800"/>
            <a:ext cx="2304288" cy="256032"/>
          </a:xfrm>
          <a:prstGeom prst="rect">
            <a:avLst/>
          </a:prstGeom>
          <a:noFill/>
          <a:ln/>
        </p:spPr>
        <p:txBody>
          <a:bodyPr wrap="square" lIns="0" tIns="0" rIns="0" bIns="0" rtlCol="0" anchor="ctr"/>
          <a:lstStyle/>
          <a:p>
            <a:pPr indent="0" marL="0">
              <a:buNone/>
            </a:pPr>
            <a:r>
              <a:rPr lang="en-US" sz="740" b="1" dirty="0">
                <a:solidFill>
                  <a:srgbClr val="1B2432"/>
                </a:solidFill>
                <a:latin typeface="Calibri" pitchFamily="34" charset="0"/>
                <a:ea typeface="Calibri" pitchFamily="34" charset="-122"/>
                <a:cs typeface="Calibri" pitchFamily="34" charset="-120"/>
              </a:rPr>
              <a:t>Gap register</a:t>
            </a:r>
            <a:endParaRPr lang="en-US" sz="740" dirty="0"/>
          </a:p>
        </p:txBody>
      </p:sp>
      <p:sp>
        <p:nvSpPr>
          <p:cNvPr id="41" name="Text 39"/>
          <p:cNvSpPr txBox="1"/>
          <p:nvPr/>
        </p:nvSpPr>
        <p:spPr>
          <a:xfrm>
            <a:off x="2935224" y="4114800"/>
            <a:ext cx="2889504" cy="256032"/>
          </a:xfrm>
          <a:prstGeom prst="rect">
            <a:avLst/>
          </a:prstGeom>
          <a:noFill/>
          <a:ln/>
        </p:spPr>
        <p:txBody>
          <a:bodyPr wrap="square" lIns="0" tIns="0" rIns="0" bIns="0" rtlCol="0" anchor="ctr"/>
          <a:lstStyle/>
          <a:p>
            <a:pPr indent="0" marL="0">
              <a:lnSpc>
                <a:spcPts val="780"/>
              </a:lnSpc>
              <a:buNone/>
            </a:pPr>
            <a:r>
              <a:rPr lang="en-US" sz="680" dirty="0">
                <a:solidFill>
                  <a:srgbClr val="55606E"/>
                </a:solidFill>
                <a:latin typeface="Calibri" pitchFamily="34" charset="0"/>
                <a:ea typeface="Calibri" pitchFamily="34" charset="-122"/>
                <a:cs typeface="Calibri" pitchFamily="34" charset="-120"/>
              </a:rPr>
              <a:t>Named owner, due date, blocking gate — converts discovery into scheduling</a:t>
            </a:r>
            <a:endParaRPr lang="en-US" sz="680" dirty="0"/>
          </a:p>
        </p:txBody>
      </p:sp>
      <p:sp>
        <p:nvSpPr>
          <p:cNvPr id="42" name="Text 40"/>
          <p:cNvSpPr txBox="1"/>
          <p:nvPr/>
        </p:nvSpPr>
        <p:spPr>
          <a:xfrm>
            <a:off x="576072" y="4389120"/>
            <a:ext cx="2304288" cy="256032"/>
          </a:xfrm>
          <a:prstGeom prst="rect">
            <a:avLst/>
          </a:prstGeom>
          <a:noFill/>
          <a:ln/>
        </p:spPr>
        <p:txBody>
          <a:bodyPr wrap="square" lIns="0" tIns="0" rIns="0" bIns="0" rtlCol="0" anchor="ctr"/>
          <a:lstStyle/>
          <a:p>
            <a:pPr indent="0" marL="0">
              <a:buNone/>
            </a:pPr>
            <a:r>
              <a:rPr lang="en-US" sz="740" b="1" dirty="0">
                <a:solidFill>
                  <a:srgbClr val="1B2432"/>
                </a:solidFill>
                <a:latin typeface="Calibri" pitchFamily="34" charset="0"/>
                <a:ea typeface="Calibri" pitchFamily="34" charset="-122"/>
                <a:cs typeface="Calibri" pitchFamily="34" charset="-120"/>
              </a:rPr>
              <a:t>Handoff contract</a:t>
            </a:r>
            <a:endParaRPr lang="en-US" sz="740" dirty="0"/>
          </a:p>
        </p:txBody>
      </p:sp>
      <p:sp>
        <p:nvSpPr>
          <p:cNvPr id="43" name="Text 41"/>
          <p:cNvSpPr txBox="1"/>
          <p:nvPr/>
        </p:nvSpPr>
        <p:spPr>
          <a:xfrm>
            <a:off x="2935224" y="4389120"/>
            <a:ext cx="2889504" cy="256032"/>
          </a:xfrm>
          <a:prstGeom prst="rect">
            <a:avLst/>
          </a:prstGeom>
          <a:noFill/>
          <a:ln/>
        </p:spPr>
        <p:txBody>
          <a:bodyPr wrap="square" lIns="0" tIns="0" rIns="0" bIns="0" rtlCol="0" anchor="ctr"/>
          <a:lstStyle/>
          <a:p>
            <a:pPr indent="0" marL="0">
              <a:lnSpc>
                <a:spcPts val="780"/>
              </a:lnSpc>
              <a:buNone/>
            </a:pPr>
            <a:r>
              <a:rPr lang="en-US" sz="680" dirty="0">
                <a:solidFill>
                  <a:srgbClr val="55606E"/>
                </a:solidFill>
                <a:latin typeface="Calibri" pitchFamily="34" charset="0"/>
                <a:ea typeface="Calibri" pitchFamily="34" charset="-122"/>
                <a:cs typeface="Calibri" pitchFamily="34" charset="-120"/>
              </a:rPr>
              <a:t>The completeness certificate accompanying every intake onto the board</a:t>
            </a:r>
            <a:endParaRPr lang="en-US" sz="680" dirty="0"/>
          </a:p>
        </p:txBody>
      </p:sp>
      <p:sp>
        <p:nvSpPr>
          <p:cNvPr id="44" name="Text 42"/>
          <p:cNvSpPr txBox="1"/>
          <p:nvPr/>
        </p:nvSpPr>
        <p:spPr>
          <a:xfrm>
            <a:off x="576072" y="4663440"/>
            <a:ext cx="2304288" cy="256032"/>
          </a:xfrm>
          <a:prstGeom prst="rect">
            <a:avLst/>
          </a:prstGeom>
          <a:noFill/>
          <a:ln/>
        </p:spPr>
        <p:txBody>
          <a:bodyPr wrap="square" lIns="0" tIns="0" rIns="0" bIns="0" rtlCol="0" anchor="ctr"/>
          <a:lstStyle/>
          <a:p>
            <a:pPr indent="0" marL="0">
              <a:buNone/>
            </a:pPr>
            <a:r>
              <a:rPr lang="en-US" sz="740" b="1" dirty="0">
                <a:solidFill>
                  <a:srgbClr val="1B2432"/>
                </a:solidFill>
                <a:latin typeface="Calibri" pitchFamily="34" charset="0"/>
                <a:ea typeface="Calibri" pitchFamily="34" charset="-122"/>
                <a:cs typeface="Calibri" pitchFamily="34" charset="-120"/>
              </a:rPr>
              <a:t>Long-lead item flagging</a:t>
            </a:r>
            <a:endParaRPr lang="en-US" sz="740" dirty="0"/>
          </a:p>
        </p:txBody>
      </p:sp>
      <p:sp>
        <p:nvSpPr>
          <p:cNvPr id="45" name="Text 43"/>
          <p:cNvSpPr txBox="1"/>
          <p:nvPr/>
        </p:nvSpPr>
        <p:spPr>
          <a:xfrm>
            <a:off x="2935224" y="4663440"/>
            <a:ext cx="2889504" cy="256032"/>
          </a:xfrm>
          <a:prstGeom prst="rect">
            <a:avLst/>
          </a:prstGeom>
          <a:noFill/>
          <a:ln/>
        </p:spPr>
        <p:txBody>
          <a:bodyPr wrap="square" lIns="0" tIns="0" rIns="0" bIns="0" rtlCol="0" anchor="ctr"/>
          <a:lstStyle/>
          <a:p>
            <a:pPr indent="0" marL="0">
              <a:lnSpc>
                <a:spcPts val="780"/>
              </a:lnSpc>
              <a:buNone/>
            </a:pPr>
            <a:r>
              <a:rPr lang="en-US" sz="680" dirty="0">
                <a:solidFill>
                  <a:srgbClr val="55606E"/>
                </a:solidFill>
                <a:latin typeface="Calibri" pitchFamily="34" charset="0"/>
                <a:ea typeface="Calibri" pitchFamily="34" charset="-122"/>
                <a:cs typeface="Calibri" pitchFamily="34" charset="-120"/>
              </a:rPr>
              <a:t>Connectivity, certificates, specialist engagements surfaced on day one</a:t>
            </a:r>
            <a:endParaRPr lang="en-US" sz="680" dirty="0"/>
          </a:p>
        </p:txBody>
      </p:sp>
      <p:sp>
        <p:nvSpPr>
          <p:cNvPr id="46" name="Text 44"/>
          <p:cNvSpPr txBox="1"/>
          <p:nvPr/>
        </p:nvSpPr>
        <p:spPr>
          <a:xfrm>
            <a:off x="576072" y="4937760"/>
            <a:ext cx="2304288" cy="256032"/>
          </a:xfrm>
          <a:prstGeom prst="rect">
            <a:avLst/>
          </a:prstGeom>
          <a:noFill/>
          <a:ln/>
        </p:spPr>
        <p:txBody>
          <a:bodyPr wrap="square" lIns="0" tIns="0" rIns="0" bIns="0" rtlCol="0" anchor="ctr"/>
          <a:lstStyle/>
          <a:p>
            <a:pPr indent="0" marL="0">
              <a:buNone/>
            </a:pPr>
            <a:r>
              <a:rPr lang="en-US" sz="740" b="1" dirty="0">
                <a:solidFill>
                  <a:srgbClr val="1B2432"/>
                </a:solidFill>
                <a:latin typeface="Calibri" pitchFamily="34" charset="0"/>
                <a:ea typeface="Calibri" pitchFamily="34" charset="-122"/>
                <a:cs typeface="Calibri" pitchFamily="34" charset="-120"/>
              </a:rPr>
              <a:t>Clarification-cycle baseline</a:t>
            </a:r>
            <a:endParaRPr lang="en-US" sz="740" dirty="0"/>
          </a:p>
        </p:txBody>
      </p:sp>
      <p:sp>
        <p:nvSpPr>
          <p:cNvPr id="47" name="Text 45"/>
          <p:cNvSpPr txBox="1"/>
          <p:nvPr/>
        </p:nvSpPr>
        <p:spPr>
          <a:xfrm>
            <a:off x="2935224" y="4937760"/>
            <a:ext cx="2889504" cy="256032"/>
          </a:xfrm>
          <a:prstGeom prst="rect">
            <a:avLst/>
          </a:prstGeom>
          <a:noFill/>
          <a:ln/>
        </p:spPr>
        <p:txBody>
          <a:bodyPr wrap="square" lIns="0" tIns="0" rIns="0" bIns="0" rtlCol="0" anchor="ctr"/>
          <a:lstStyle/>
          <a:p>
            <a:pPr indent="0" marL="0">
              <a:lnSpc>
                <a:spcPts val="780"/>
              </a:lnSpc>
              <a:buNone/>
            </a:pPr>
            <a:r>
              <a:rPr lang="en-US" sz="680" dirty="0">
                <a:solidFill>
                  <a:srgbClr val="55606E"/>
                </a:solidFill>
                <a:latin typeface="Calibri" pitchFamily="34" charset="0"/>
                <a:ea typeface="Calibri" pitchFamily="34" charset="-122"/>
                <a:cs typeface="Calibri" pitchFamily="34" charset="-120"/>
              </a:rPr>
              <a:t>Count and elapsed days across 12 months — measures the 30–40%</a:t>
            </a:r>
            <a:endParaRPr lang="en-US" sz="680" dirty="0"/>
          </a:p>
        </p:txBody>
      </p:sp>
      <p:sp>
        <p:nvSpPr>
          <p:cNvPr id="48" name="Text 46"/>
          <p:cNvSpPr txBox="1"/>
          <p:nvPr/>
        </p:nvSpPr>
        <p:spPr>
          <a:xfrm>
            <a:off x="576072" y="5212080"/>
            <a:ext cx="2304288" cy="256032"/>
          </a:xfrm>
          <a:prstGeom prst="rect">
            <a:avLst/>
          </a:prstGeom>
          <a:noFill/>
          <a:ln/>
        </p:spPr>
        <p:txBody>
          <a:bodyPr wrap="square" lIns="0" tIns="0" rIns="0" bIns="0" rtlCol="0" anchor="ctr"/>
          <a:lstStyle/>
          <a:p>
            <a:pPr indent="0" marL="0">
              <a:buNone/>
            </a:pPr>
            <a:r>
              <a:rPr lang="en-US" sz="740" b="1" dirty="0">
                <a:solidFill>
                  <a:srgbClr val="1B2432"/>
                </a:solidFill>
                <a:latin typeface="Calibri" pitchFamily="34" charset="0"/>
                <a:ea typeface="Calibri" pitchFamily="34" charset="-122"/>
                <a:cs typeface="Calibri" pitchFamily="34" charset="-120"/>
              </a:rPr>
              <a:t>Rubric published + retrospective scoring</a:t>
            </a:r>
            <a:endParaRPr lang="en-US" sz="740" dirty="0"/>
          </a:p>
        </p:txBody>
      </p:sp>
      <p:sp>
        <p:nvSpPr>
          <p:cNvPr id="49" name="Text 47"/>
          <p:cNvSpPr txBox="1"/>
          <p:nvPr/>
        </p:nvSpPr>
        <p:spPr>
          <a:xfrm>
            <a:off x="2935224" y="5212080"/>
            <a:ext cx="2889504" cy="256032"/>
          </a:xfrm>
          <a:prstGeom prst="rect">
            <a:avLst/>
          </a:prstGeom>
          <a:noFill/>
          <a:ln/>
        </p:spPr>
        <p:txBody>
          <a:bodyPr wrap="square" lIns="0" tIns="0" rIns="0" bIns="0" rtlCol="0" anchor="ctr"/>
          <a:lstStyle/>
          <a:p>
            <a:pPr indent="0" marL="0">
              <a:lnSpc>
                <a:spcPts val="780"/>
              </a:lnSpc>
              <a:buNone/>
            </a:pPr>
            <a:r>
              <a:rPr lang="en-US" sz="680" dirty="0">
                <a:solidFill>
                  <a:srgbClr val="55606E"/>
                </a:solidFill>
                <a:latin typeface="Calibri" pitchFamily="34" charset="0"/>
                <a:ea typeface="Calibri" pitchFamily="34" charset="-122"/>
                <a:cs typeface="Calibri" pitchFamily="34" charset="-120"/>
              </a:rPr>
              <a:t>Parallel, low effort — tests the structural assumption</a:t>
            </a:r>
            <a:endParaRPr lang="en-US" sz="680" dirty="0"/>
          </a:p>
        </p:txBody>
      </p:sp>
      <p:sp>
        <p:nvSpPr>
          <p:cNvPr id="50" name="Shape 48"/>
          <p:cNvSpPr/>
          <p:nvPr/>
        </p:nvSpPr>
        <p:spPr>
          <a:xfrm>
            <a:off x="6172200" y="2231136"/>
            <a:ext cx="5577840" cy="3310128"/>
          </a:xfrm>
          <a:prstGeom prst="roundRect">
            <a:avLst>
              <a:gd name="adj" fmla="val 1381"/>
            </a:avLst>
          </a:prstGeom>
          <a:solidFill>
            <a:srgbClr val="FFFFFF"/>
          </a:solidFill>
          <a:ln w="16510">
            <a:solidFill>
              <a:srgbClr val="9A6410"/>
            </a:solidFill>
            <a:prstDash val="solid"/>
          </a:ln>
          <a:effectLst>
            <a:outerShdw sx="100000" sy="100000" kx="0" ky="0" algn="bl" rotWithShape="0" blurRad="88900" dist="12700" dir="5400000">
              <a:srgbClr val="97A3B4">
                <a:alpha val="16000"/>
              </a:srgbClr>
            </a:outerShdw>
          </a:effectLst>
        </p:spPr>
      </p:sp>
      <p:sp>
        <p:nvSpPr>
          <p:cNvPr id="51" name="Shape 49"/>
          <p:cNvSpPr/>
          <p:nvPr/>
        </p:nvSpPr>
        <p:spPr>
          <a:xfrm>
            <a:off x="6172200" y="2231136"/>
            <a:ext cx="5577840" cy="512064"/>
          </a:xfrm>
          <a:prstGeom prst="rect">
            <a:avLst/>
          </a:prstGeom>
          <a:solidFill>
            <a:srgbClr val="9A6410"/>
          </a:solidFill>
          <a:ln w="12700">
            <a:solidFill>
              <a:srgbClr val="333333"/>
            </a:solidFill>
            <a:prstDash val="solid"/>
          </a:ln>
        </p:spPr>
      </p:sp>
      <p:sp>
        <p:nvSpPr>
          <p:cNvPr id="52" name="Text 50"/>
          <p:cNvSpPr txBox="1"/>
          <p:nvPr/>
        </p:nvSpPr>
        <p:spPr>
          <a:xfrm>
            <a:off x="6336792" y="2276856"/>
            <a:ext cx="2743200" cy="182880"/>
          </a:xfrm>
          <a:prstGeom prst="rect">
            <a:avLst/>
          </a:prstGeom>
          <a:noFill/>
          <a:ln/>
        </p:spPr>
        <p:txBody>
          <a:bodyPr wrap="square" lIns="0" tIns="0" rIns="0" bIns="0" rtlCol="0" anchor="ctr"/>
          <a:lstStyle/>
          <a:p>
            <a:pPr indent="0" marL="0">
              <a:buNone/>
            </a:pPr>
            <a:r>
              <a:rPr lang="en-US" sz="740" b="1" spc="100" kern="0" dirty="0">
                <a:solidFill>
                  <a:srgbClr val="F6E6C9"/>
                </a:solidFill>
                <a:latin typeface="Calibri" pitchFamily="34" charset="0"/>
                <a:ea typeface="Calibri" pitchFamily="34" charset="-122"/>
                <a:cs typeface="Calibri" pitchFamily="34" charset="-120"/>
              </a:rPr>
              <a:t>SPRINT 2 · WEEKS 3–4</a:t>
            </a:r>
            <a:endParaRPr lang="en-US" sz="740" dirty="0"/>
          </a:p>
        </p:txBody>
      </p:sp>
      <p:sp>
        <p:nvSpPr>
          <p:cNvPr id="53" name="Text 51"/>
          <p:cNvSpPr txBox="1"/>
          <p:nvPr/>
        </p:nvSpPr>
        <p:spPr>
          <a:xfrm>
            <a:off x="6336792" y="2450592"/>
            <a:ext cx="521208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Make intake drive everything downstream</a:t>
            </a:r>
            <a:endParaRPr lang="en-US" sz="1300" dirty="0"/>
          </a:p>
        </p:txBody>
      </p:sp>
      <p:sp>
        <p:nvSpPr>
          <p:cNvPr id="54" name="Text 52"/>
          <p:cNvSpPr txBox="1"/>
          <p:nvPr/>
        </p:nvSpPr>
        <p:spPr>
          <a:xfrm>
            <a:off x="6336792" y="2816352"/>
            <a:ext cx="5248656" cy="438912"/>
          </a:xfrm>
          <a:prstGeom prst="rect">
            <a:avLst/>
          </a:prstGeom>
          <a:noFill/>
          <a:ln/>
        </p:spPr>
        <p:txBody>
          <a:bodyPr wrap="square" lIns="0" tIns="0" rIns="0" bIns="0" rtlCol="0" anchor="ctr"/>
          <a:lstStyle/>
          <a:p>
            <a:pPr indent="0" marL="0">
              <a:lnSpc>
                <a:spcPts val="960"/>
              </a:lnSpc>
              <a:buNone/>
            </a:pPr>
            <a:r>
              <a:rPr lang="en-US" sz="800" i="1" dirty="0">
                <a:solidFill>
                  <a:srgbClr val="55606E"/>
                </a:solidFill>
                <a:latin typeface="Calibri" pitchFamily="34" charset="0"/>
                <a:ea typeface="Calibri" pitchFamily="34" charset="-122"/>
                <a:cs typeface="Calibri" pitchFamily="34" charset="-120"/>
              </a:rPr>
              <a:t>Goal: the content captured in Sprint 1 starts producing scope, tier, pattern and precedent automatically, so an engineer picking up an intake begins with analysis rather than assembly.</a:t>
            </a:r>
            <a:endParaRPr lang="en-US" sz="800" dirty="0"/>
          </a:p>
        </p:txBody>
      </p:sp>
      <p:sp>
        <p:nvSpPr>
          <p:cNvPr id="55" name="Text 53"/>
          <p:cNvSpPr txBox="1"/>
          <p:nvPr/>
        </p:nvSpPr>
        <p:spPr>
          <a:xfrm>
            <a:off x="6336792" y="3291840"/>
            <a:ext cx="2304288" cy="256032"/>
          </a:xfrm>
          <a:prstGeom prst="rect">
            <a:avLst/>
          </a:prstGeom>
          <a:noFill/>
          <a:ln/>
        </p:spPr>
        <p:txBody>
          <a:bodyPr wrap="square" lIns="0" tIns="0" rIns="0" bIns="0" rtlCol="0" anchor="ctr"/>
          <a:lstStyle/>
          <a:p>
            <a:pPr indent="0" marL="0">
              <a:buNone/>
            </a:pPr>
            <a:r>
              <a:rPr lang="en-US" sz="740" b="1" dirty="0">
                <a:solidFill>
                  <a:srgbClr val="1B2432"/>
                </a:solidFill>
                <a:latin typeface="Calibri" pitchFamily="34" charset="0"/>
                <a:ea typeface="Calibri" pitchFamily="34" charset="-122"/>
                <a:cs typeface="Calibri" pitchFamily="34" charset="-120"/>
              </a:rPr>
              <a:t>Scope derivation v1</a:t>
            </a:r>
            <a:endParaRPr lang="en-US" sz="740" dirty="0"/>
          </a:p>
        </p:txBody>
      </p:sp>
      <p:sp>
        <p:nvSpPr>
          <p:cNvPr id="56" name="Text 54"/>
          <p:cNvSpPr txBox="1"/>
          <p:nvPr/>
        </p:nvSpPr>
        <p:spPr>
          <a:xfrm>
            <a:off x="8695944" y="3291840"/>
            <a:ext cx="2889504" cy="256032"/>
          </a:xfrm>
          <a:prstGeom prst="rect">
            <a:avLst/>
          </a:prstGeom>
          <a:noFill/>
          <a:ln/>
        </p:spPr>
        <p:txBody>
          <a:bodyPr wrap="square" lIns="0" tIns="0" rIns="0" bIns="0" rtlCol="0" anchor="ctr"/>
          <a:lstStyle/>
          <a:p>
            <a:pPr indent="0" marL="0">
              <a:lnSpc>
                <a:spcPts val="780"/>
              </a:lnSpc>
              <a:buNone/>
            </a:pPr>
            <a:r>
              <a:rPr lang="en-US" sz="680" dirty="0">
                <a:solidFill>
                  <a:srgbClr val="55606E"/>
                </a:solidFill>
                <a:latin typeface="Calibri" pitchFamily="34" charset="0"/>
                <a:ea typeface="Calibri" pitchFamily="34" charset="-122"/>
                <a:cs typeface="Calibri" pitchFamily="34" charset="-120"/>
              </a:rPr>
              <a:t>Workstreams, specialist teams, approvals and their sequence</a:t>
            </a:r>
            <a:endParaRPr lang="en-US" sz="680" dirty="0"/>
          </a:p>
        </p:txBody>
      </p:sp>
      <p:sp>
        <p:nvSpPr>
          <p:cNvPr id="57" name="Text 55"/>
          <p:cNvSpPr txBox="1"/>
          <p:nvPr/>
        </p:nvSpPr>
        <p:spPr>
          <a:xfrm>
            <a:off x="6336792" y="3566160"/>
            <a:ext cx="2304288" cy="256032"/>
          </a:xfrm>
          <a:prstGeom prst="rect">
            <a:avLst/>
          </a:prstGeom>
          <a:noFill/>
          <a:ln/>
        </p:spPr>
        <p:txBody>
          <a:bodyPr wrap="square" lIns="0" tIns="0" rIns="0" bIns="0" rtlCol="0" anchor="ctr"/>
          <a:lstStyle/>
          <a:p>
            <a:pPr indent="0" marL="0">
              <a:buNone/>
            </a:pPr>
            <a:r>
              <a:rPr lang="en-US" sz="740" b="1" dirty="0">
                <a:solidFill>
                  <a:srgbClr val="1B2432"/>
                </a:solidFill>
                <a:latin typeface="Calibri" pitchFamily="34" charset="0"/>
                <a:ea typeface="Calibri" pitchFamily="34" charset="-122"/>
                <a:cs typeface="Calibri" pitchFamily="34" charset="-120"/>
              </a:rPr>
              <a:t>Tiering Assistant</a:t>
            </a:r>
            <a:endParaRPr lang="en-US" sz="740" dirty="0"/>
          </a:p>
        </p:txBody>
      </p:sp>
      <p:sp>
        <p:nvSpPr>
          <p:cNvPr id="58" name="Text 56"/>
          <p:cNvSpPr txBox="1"/>
          <p:nvPr/>
        </p:nvSpPr>
        <p:spPr>
          <a:xfrm>
            <a:off x="8695944" y="3566160"/>
            <a:ext cx="2889504" cy="256032"/>
          </a:xfrm>
          <a:prstGeom prst="rect">
            <a:avLst/>
          </a:prstGeom>
          <a:noFill/>
          <a:ln/>
        </p:spPr>
        <p:txBody>
          <a:bodyPr wrap="square" lIns="0" tIns="0" rIns="0" bIns="0" rtlCol="0" anchor="ctr"/>
          <a:lstStyle/>
          <a:p>
            <a:pPr indent="0" marL="0">
              <a:lnSpc>
                <a:spcPts val="780"/>
              </a:lnSpc>
              <a:buNone/>
            </a:pPr>
            <a:r>
              <a:rPr lang="en-US" sz="680" dirty="0">
                <a:solidFill>
                  <a:srgbClr val="55606E"/>
                </a:solidFill>
                <a:latin typeface="Calibri" pitchFamily="34" charset="0"/>
                <a:ea typeface="Calibri" pitchFamily="34" charset="-122"/>
                <a:cs typeface="Calibri" pitchFamily="34" charset="-120"/>
              </a:rPr>
              <a:t>Seven determinants scored with visible reasoning; lead confirms</a:t>
            </a:r>
            <a:endParaRPr lang="en-US" sz="680" dirty="0"/>
          </a:p>
        </p:txBody>
      </p:sp>
      <p:sp>
        <p:nvSpPr>
          <p:cNvPr id="59" name="Text 57"/>
          <p:cNvSpPr txBox="1"/>
          <p:nvPr/>
        </p:nvSpPr>
        <p:spPr>
          <a:xfrm>
            <a:off x="6336792" y="3840480"/>
            <a:ext cx="2304288" cy="256032"/>
          </a:xfrm>
          <a:prstGeom prst="rect">
            <a:avLst/>
          </a:prstGeom>
          <a:noFill/>
          <a:ln/>
        </p:spPr>
        <p:txBody>
          <a:bodyPr wrap="square" lIns="0" tIns="0" rIns="0" bIns="0" rtlCol="0" anchor="ctr"/>
          <a:lstStyle/>
          <a:p>
            <a:pPr indent="0" marL="0">
              <a:buNone/>
            </a:pPr>
            <a:r>
              <a:rPr lang="en-US" sz="740" b="1" dirty="0">
                <a:solidFill>
                  <a:srgbClr val="1B2432"/>
                </a:solidFill>
                <a:latin typeface="Calibri" pitchFamily="34" charset="0"/>
                <a:ea typeface="Calibri" pitchFamily="34" charset="-122"/>
                <a:cs typeface="Calibri" pitchFamily="34" charset="-120"/>
              </a:rPr>
              <a:t>Pattern Matcher v1</a:t>
            </a:r>
            <a:endParaRPr lang="en-US" sz="740" dirty="0"/>
          </a:p>
        </p:txBody>
      </p:sp>
      <p:sp>
        <p:nvSpPr>
          <p:cNvPr id="60" name="Text 58"/>
          <p:cNvSpPr txBox="1"/>
          <p:nvPr/>
        </p:nvSpPr>
        <p:spPr>
          <a:xfrm>
            <a:off x="8695944" y="3840480"/>
            <a:ext cx="2889504" cy="256032"/>
          </a:xfrm>
          <a:prstGeom prst="rect">
            <a:avLst/>
          </a:prstGeom>
          <a:noFill/>
          <a:ln/>
        </p:spPr>
        <p:txBody>
          <a:bodyPr wrap="square" lIns="0" tIns="0" rIns="0" bIns="0" rtlCol="0" anchor="ctr"/>
          <a:lstStyle/>
          <a:p>
            <a:pPr indent="0" marL="0">
              <a:lnSpc>
                <a:spcPts val="780"/>
              </a:lnSpc>
              <a:buNone/>
            </a:pPr>
            <a:r>
              <a:rPr lang="en-US" sz="680" dirty="0">
                <a:solidFill>
                  <a:srgbClr val="55606E"/>
                </a:solidFill>
                <a:latin typeface="Calibri" pitchFamily="34" charset="0"/>
                <a:ea typeface="Calibri" pitchFamily="34" charset="-122"/>
                <a:cs typeface="Calibri" pitchFamily="34" charset="-120"/>
              </a:rPr>
              <a:t>Match against documented patterns and scored history; returns the delta</a:t>
            </a:r>
            <a:endParaRPr lang="en-US" sz="680" dirty="0"/>
          </a:p>
        </p:txBody>
      </p:sp>
      <p:sp>
        <p:nvSpPr>
          <p:cNvPr id="61" name="Text 59"/>
          <p:cNvSpPr txBox="1"/>
          <p:nvPr/>
        </p:nvSpPr>
        <p:spPr>
          <a:xfrm>
            <a:off x="6336792" y="4114800"/>
            <a:ext cx="2304288" cy="256032"/>
          </a:xfrm>
          <a:prstGeom prst="rect">
            <a:avLst/>
          </a:prstGeom>
          <a:noFill/>
          <a:ln/>
        </p:spPr>
        <p:txBody>
          <a:bodyPr wrap="square" lIns="0" tIns="0" rIns="0" bIns="0" rtlCol="0" anchor="ctr"/>
          <a:lstStyle/>
          <a:p>
            <a:pPr indent="0" marL="0">
              <a:buNone/>
            </a:pPr>
            <a:r>
              <a:rPr lang="en-US" sz="740" b="1" dirty="0">
                <a:solidFill>
                  <a:srgbClr val="1B2432"/>
                </a:solidFill>
                <a:latin typeface="Calibri" pitchFamily="34" charset="0"/>
                <a:ea typeface="Calibri" pitchFamily="34" charset="-122"/>
                <a:cs typeface="Calibri" pitchFamily="34" charset="-120"/>
              </a:rPr>
              <a:t>Precedent Retrieval</a:t>
            </a:r>
            <a:endParaRPr lang="en-US" sz="740" dirty="0"/>
          </a:p>
        </p:txBody>
      </p:sp>
      <p:sp>
        <p:nvSpPr>
          <p:cNvPr id="62" name="Text 60"/>
          <p:cNvSpPr txBox="1"/>
          <p:nvPr/>
        </p:nvSpPr>
        <p:spPr>
          <a:xfrm>
            <a:off x="8695944" y="4114800"/>
            <a:ext cx="2889504" cy="256032"/>
          </a:xfrm>
          <a:prstGeom prst="rect">
            <a:avLst/>
          </a:prstGeom>
          <a:noFill/>
          <a:ln/>
        </p:spPr>
        <p:txBody>
          <a:bodyPr wrap="square" lIns="0" tIns="0" rIns="0" bIns="0" rtlCol="0" anchor="ctr"/>
          <a:lstStyle/>
          <a:p>
            <a:pPr indent="0" marL="0">
              <a:lnSpc>
                <a:spcPts val="780"/>
              </a:lnSpc>
              <a:buNone/>
            </a:pPr>
            <a:r>
              <a:rPr lang="en-US" sz="680" dirty="0">
                <a:solidFill>
                  <a:srgbClr val="55606E"/>
                </a:solidFill>
                <a:latin typeface="Calibri" pitchFamily="34" charset="0"/>
                <a:ea typeface="Calibri" pitchFamily="34" charset="-122"/>
                <a:cs typeface="Calibri" pitchFamily="34" charset="-120"/>
              </a:rPr>
              <a:t>Comparable prior intakes, decisions and known difficulties</a:t>
            </a:r>
            <a:endParaRPr lang="en-US" sz="680" dirty="0"/>
          </a:p>
        </p:txBody>
      </p:sp>
      <p:sp>
        <p:nvSpPr>
          <p:cNvPr id="63" name="Text 61"/>
          <p:cNvSpPr txBox="1"/>
          <p:nvPr/>
        </p:nvSpPr>
        <p:spPr>
          <a:xfrm>
            <a:off x="6336792" y="4389120"/>
            <a:ext cx="2304288" cy="256032"/>
          </a:xfrm>
          <a:prstGeom prst="rect">
            <a:avLst/>
          </a:prstGeom>
          <a:noFill/>
          <a:ln/>
        </p:spPr>
        <p:txBody>
          <a:bodyPr wrap="square" lIns="0" tIns="0" rIns="0" bIns="0" rtlCol="0" anchor="ctr"/>
          <a:lstStyle/>
          <a:p>
            <a:pPr indent="0" marL="0">
              <a:buNone/>
            </a:pPr>
            <a:r>
              <a:rPr lang="en-US" sz="740" b="1" dirty="0">
                <a:solidFill>
                  <a:srgbClr val="1B2432"/>
                </a:solidFill>
                <a:latin typeface="Calibri" pitchFamily="34" charset="0"/>
                <a:ea typeface="Calibri" pitchFamily="34" charset="-122"/>
                <a:cs typeface="Calibri" pitchFamily="34" charset="-120"/>
              </a:rPr>
              <a:t>Top three patterns to M1</a:t>
            </a:r>
            <a:endParaRPr lang="en-US" sz="740" dirty="0"/>
          </a:p>
        </p:txBody>
      </p:sp>
      <p:sp>
        <p:nvSpPr>
          <p:cNvPr id="64" name="Text 62"/>
          <p:cNvSpPr txBox="1"/>
          <p:nvPr/>
        </p:nvSpPr>
        <p:spPr>
          <a:xfrm>
            <a:off x="8695944" y="4389120"/>
            <a:ext cx="2889504" cy="256032"/>
          </a:xfrm>
          <a:prstGeom prst="rect">
            <a:avLst/>
          </a:prstGeom>
          <a:noFill/>
          <a:ln/>
        </p:spPr>
        <p:txBody>
          <a:bodyPr wrap="square" lIns="0" tIns="0" rIns="0" bIns="0" rtlCol="0" anchor="ctr"/>
          <a:lstStyle/>
          <a:p>
            <a:pPr indent="0" marL="0">
              <a:lnSpc>
                <a:spcPts val="780"/>
              </a:lnSpc>
              <a:buNone/>
            </a:pPr>
            <a:r>
              <a:rPr lang="en-US" sz="680" dirty="0">
                <a:solidFill>
                  <a:srgbClr val="55606E"/>
                </a:solidFill>
                <a:latin typeface="Calibri" pitchFamily="34" charset="0"/>
                <a:ea typeface="Calibri" pitchFamily="34" charset="-122"/>
                <a:cs typeface="Calibri" pitchFamily="34" charset="-120"/>
              </a:rPr>
              <a:t>Highest-frequency scenarios from the retrospective scoring</a:t>
            </a:r>
            <a:endParaRPr lang="en-US" sz="680" dirty="0"/>
          </a:p>
        </p:txBody>
      </p:sp>
      <p:sp>
        <p:nvSpPr>
          <p:cNvPr id="65" name="Text 63"/>
          <p:cNvSpPr txBox="1"/>
          <p:nvPr/>
        </p:nvSpPr>
        <p:spPr>
          <a:xfrm>
            <a:off x="6336792" y="4663440"/>
            <a:ext cx="2304288" cy="256032"/>
          </a:xfrm>
          <a:prstGeom prst="rect">
            <a:avLst/>
          </a:prstGeom>
          <a:noFill/>
          <a:ln/>
        </p:spPr>
        <p:txBody>
          <a:bodyPr wrap="square" lIns="0" tIns="0" rIns="0" bIns="0" rtlCol="0" anchor="ctr"/>
          <a:lstStyle/>
          <a:p>
            <a:pPr indent="0" marL="0">
              <a:buNone/>
            </a:pPr>
            <a:r>
              <a:rPr lang="en-US" sz="740" b="1" dirty="0">
                <a:solidFill>
                  <a:srgbClr val="1B2432"/>
                </a:solidFill>
                <a:latin typeface="Calibri" pitchFamily="34" charset="0"/>
                <a:ea typeface="Calibri" pitchFamily="34" charset="-122"/>
                <a:cs typeface="Calibri" pitchFamily="34" charset="-120"/>
              </a:rPr>
              <a:t>Dual-run tiering begins</a:t>
            </a:r>
            <a:endParaRPr lang="en-US" sz="740" dirty="0"/>
          </a:p>
        </p:txBody>
      </p:sp>
      <p:sp>
        <p:nvSpPr>
          <p:cNvPr id="66" name="Text 64"/>
          <p:cNvSpPr txBox="1"/>
          <p:nvPr/>
        </p:nvSpPr>
        <p:spPr>
          <a:xfrm>
            <a:off x="8695944" y="4663440"/>
            <a:ext cx="2889504" cy="256032"/>
          </a:xfrm>
          <a:prstGeom prst="rect">
            <a:avLst/>
          </a:prstGeom>
          <a:noFill/>
          <a:ln/>
        </p:spPr>
        <p:txBody>
          <a:bodyPr wrap="square" lIns="0" tIns="0" rIns="0" bIns="0" rtlCol="0" anchor="ctr"/>
          <a:lstStyle/>
          <a:p>
            <a:pPr indent="0" marL="0">
              <a:lnSpc>
                <a:spcPts val="780"/>
              </a:lnSpc>
              <a:buNone/>
            </a:pPr>
            <a:r>
              <a:rPr lang="en-US" sz="680" dirty="0">
                <a:solidFill>
                  <a:srgbClr val="55606E"/>
                </a:solidFill>
                <a:latin typeface="Calibri" pitchFamily="34" charset="0"/>
                <a:ea typeface="Calibri" pitchFamily="34" charset="-122"/>
                <a:cs typeface="Calibri" pitchFamily="34" charset="-120"/>
              </a:rPr>
              <a:t>Tiered and recorded, still delivered under the current model</a:t>
            </a:r>
            <a:endParaRPr lang="en-US" sz="680" dirty="0"/>
          </a:p>
        </p:txBody>
      </p:sp>
      <p:sp>
        <p:nvSpPr>
          <p:cNvPr id="67" name="Text 65"/>
          <p:cNvSpPr txBox="1"/>
          <p:nvPr/>
        </p:nvSpPr>
        <p:spPr>
          <a:xfrm>
            <a:off x="6336792" y="4937760"/>
            <a:ext cx="2304288" cy="256032"/>
          </a:xfrm>
          <a:prstGeom prst="rect">
            <a:avLst/>
          </a:prstGeom>
          <a:noFill/>
          <a:ln/>
        </p:spPr>
        <p:txBody>
          <a:bodyPr wrap="square" lIns="0" tIns="0" rIns="0" bIns="0" rtlCol="0" anchor="ctr"/>
          <a:lstStyle/>
          <a:p>
            <a:pPr indent="0" marL="0">
              <a:buNone/>
            </a:pPr>
            <a:r>
              <a:rPr lang="en-US" sz="740" b="1" dirty="0">
                <a:solidFill>
                  <a:srgbClr val="1B2432"/>
                </a:solidFill>
                <a:latin typeface="Calibri" pitchFamily="34" charset="0"/>
                <a:ea typeface="Calibri" pitchFamily="34" charset="-122"/>
                <a:cs typeface="Calibri" pitchFamily="34" charset="-120"/>
              </a:rPr>
              <a:t>Enablement record v0</a:t>
            </a:r>
            <a:endParaRPr lang="en-US" sz="740" dirty="0"/>
          </a:p>
        </p:txBody>
      </p:sp>
      <p:sp>
        <p:nvSpPr>
          <p:cNvPr id="68" name="Text 66"/>
          <p:cNvSpPr txBox="1"/>
          <p:nvPr/>
        </p:nvSpPr>
        <p:spPr>
          <a:xfrm>
            <a:off x="8695944" y="4937760"/>
            <a:ext cx="2889504" cy="256032"/>
          </a:xfrm>
          <a:prstGeom prst="rect">
            <a:avLst/>
          </a:prstGeom>
          <a:noFill/>
          <a:ln/>
        </p:spPr>
        <p:txBody>
          <a:bodyPr wrap="square" lIns="0" tIns="0" rIns="0" bIns="0" rtlCol="0" anchor="ctr"/>
          <a:lstStyle/>
          <a:p>
            <a:pPr indent="0" marL="0">
              <a:lnSpc>
                <a:spcPts val="780"/>
              </a:lnSpc>
              <a:buNone/>
            </a:pPr>
            <a:r>
              <a:rPr lang="en-US" sz="680" dirty="0">
                <a:solidFill>
                  <a:srgbClr val="55606E"/>
                </a:solidFill>
                <a:latin typeface="Calibri" pitchFamily="34" charset="0"/>
                <a:ea typeface="Calibri" pitchFamily="34" charset="-122"/>
                <a:cs typeface="Calibri" pitchFamily="34" charset="-120"/>
              </a:rPr>
              <a:t>Thin structured record, built on existing tooling where possible</a:t>
            </a:r>
            <a:endParaRPr lang="en-US" sz="680" dirty="0"/>
          </a:p>
        </p:txBody>
      </p:sp>
      <p:sp>
        <p:nvSpPr>
          <p:cNvPr id="69" name="Text 67"/>
          <p:cNvSpPr txBox="1"/>
          <p:nvPr/>
        </p:nvSpPr>
        <p:spPr>
          <a:xfrm>
            <a:off x="6336792" y="5212080"/>
            <a:ext cx="2304288" cy="256032"/>
          </a:xfrm>
          <a:prstGeom prst="rect">
            <a:avLst/>
          </a:prstGeom>
          <a:noFill/>
          <a:ln/>
        </p:spPr>
        <p:txBody>
          <a:bodyPr wrap="square" lIns="0" tIns="0" rIns="0" bIns="0" rtlCol="0" anchor="ctr"/>
          <a:lstStyle/>
          <a:p>
            <a:pPr indent="0" marL="0">
              <a:buNone/>
            </a:pPr>
            <a:r>
              <a:rPr lang="en-US" sz="740" b="1" dirty="0">
                <a:solidFill>
                  <a:srgbClr val="1B2432"/>
                </a:solidFill>
                <a:latin typeface="Calibri" pitchFamily="34" charset="0"/>
                <a:ea typeface="Calibri" pitchFamily="34" charset="-122"/>
                <a:cs typeface="Calibri" pitchFamily="34" charset="-120"/>
              </a:rPr>
              <a:t>Phase baseline measurement</a:t>
            </a:r>
            <a:endParaRPr lang="en-US" sz="740" dirty="0"/>
          </a:p>
        </p:txBody>
      </p:sp>
      <p:sp>
        <p:nvSpPr>
          <p:cNvPr id="70" name="Text 68"/>
          <p:cNvSpPr txBox="1"/>
          <p:nvPr/>
        </p:nvSpPr>
        <p:spPr>
          <a:xfrm>
            <a:off x="8695944" y="5212080"/>
            <a:ext cx="2889504" cy="256032"/>
          </a:xfrm>
          <a:prstGeom prst="rect">
            <a:avLst/>
          </a:prstGeom>
          <a:noFill/>
          <a:ln/>
        </p:spPr>
        <p:txBody>
          <a:bodyPr wrap="square" lIns="0" tIns="0" rIns="0" bIns="0" rtlCol="0" anchor="ctr"/>
          <a:lstStyle/>
          <a:p>
            <a:pPr indent="0" marL="0">
              <a:lnSpc>
                <a:spcPts val="780"/>
              </a:lnSpc>
              <a:buNone/>
            </a:pPr>
            <a:r>
              <a:rPr lang="en-US" sz="680" dirty="0">
                <a:solidFill>
                  <a:srgbClr val="55606E"/>
                </a:solidFill>
                <a:latin typeface="Calibri" pitchFamily="34" charset="0"/>
                <a:ea typeface="Calibri" pitchFamily="34" charset="-122"/>
                <a:cs typeface="Calibri" pitchFamily="34" charset="-120"/>
              </a:rPr>
              <a:t>Effort and elapsed time against the six phases</a:t>
            </a:r>
            <a:endParaRPr lang="en-US" sz="680" dirty="0"/>
          </a:p>
        </p:txBody>
      </p:sp>
      <p:sp>
        <p:nvSpPr>
          <p:cNvPr id="71" name="Shape 69"/>
          <p:cNvSpPr/>
          <p:nvPr/>
        </p:nvSpPr>
        <p:spPr>
          <a:xfrm>
            <a:off x="411480" y="5687568"/>
            <a:ext cx="11338560" cy="438912"/>
          </a:xfrm>
          <a:prstGeom prst="roundRect">
            <a:avLst>
              <a:gd name="adj" fmla="val 10417"/>
            </a:avLst>
          </a:prstGeom>
          <a:solidFill>
            <a:srgbClr val="F4F7FA"/>
          </a:solidFill>
          <a:ln w="9525">
            <a:solidFill>
              <a:srgbClr val="D4DAE2"/>
            </a:solidFill>
            <a:prstDash val="solid"/>
          </a:ln>
        </p:spPr>
      </p:sp>
      <p:sp>
        <p:nvSpPr>
          <p:cNvPr id="72" name="Text 70"/>
          <p:cNvSpPr txBox="1"/>
          <p:nvPr/>
        </p:nvSpPr>
        <p:spPr>
          <a:xfrm>
            <a:off x="557784" y="5687568"/>
            <a:ext cx="11045952" cy="438912"/>
          </a:xfrm>
          <a:prstGeom prst="rect">
            <a:avLst/>
          </a:prstGeom>
          <a:noFill/>
          <a:ln/>
        </p:spPr>
        <p:txBody>
          <a:bodyPr wrap="square" lIns="0" tIns="0" rIns="0" bIns="0" rtlCol="0" anchor="ctr"/>
          <a:lstStyle/>
          <a:p>
            <a:pPr indent="0" marL="0">
              <a:lnSpc>
                <a:spcPts val="1040"/>
              </a:lnSpc>
              <a:buNone/>
            </a:pPr>
            <a:r>
              <a:rPr lang="en-US" sz="860" dirty="0">
                <a:solidFill>
                  <a:srgbClr val="1B2432"/>
                </a:solidFill>
                <a:latin typeface="Calibri" pitchFamily="34" charset="0"/>
                <a:ea typeface="Calibri" pitchFamily="34" charset="-122"/>
                <a:cs typeface="Calibri" pitchFamily="34" charset="-120"/>
              </a:rPr>
              <a:t>Exit criteria — Sprint 1: catalogue published; three partners complete an intake through the copilot with no engineer involvement; every new intake arrives with a completeness certificate; clarification cycles measurably below baseline.   ·   Sprint 2: scope and tier derived automatically; three patterns at M1; an engineer picking up an intake receives a derived scope and a proposed tier.</a:t>
            </a:r>
            <a:endParaRPr lang="en-US" sz="86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274320"/>
            <a:ext cx="274320" cy="274320"/>
          </a:xfrm>
          <a:prstGeom prst="rect">
            <a:avLst/>
          </a:prstGeom>
          <a:solidFill>
            <a:srgbClr val="15304F"/>
          </a:solidFill>
          <a:ln w="12700">
            <a:solidFill>
              <a:srgbClr val="333333"/>
            </a:solidFill>
            <a:prstDash val="solid"/>
          </a:ln>
        </p:spPr>
      </p:sp>
      <p:sp>
        <p:nvSpPr>
          <p:cNvPr id="3" name="Text 1"/>
          <p:cNvSpPr txBox="1"/>
          <p:nvPr/>
        </p:nvSpPr>
        <p:spPr>
          <a:xfrm>
            <a:off x="411480" y="2743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16</a:t>
            </a:r>
            <a:endParaRPr lang="en-US" sz="1200" dirty="0"/>
          </a:p>
        </p:txBody>
      </p:sp>
      <p:sp>
        <p:nvSpPr>
          <p:cNvPr id="4" name="Text 2"/>
          <p:cNvSpPr txBox="1"/>
          <p:nvPr/>
        </p:nvSpPr>
        <p:spPr>
          <a:xfrm>
            <a:off x="795528" y="219456"/>
            <a:ext cx="8778240" cy="384048"/>
          </a:xfrm>
          <a:prstGeom prst="rect">
            <a:avLst/>
          </a:prstGeom>
          <a:noFill/>
          <a:ln/>
        </p:spPr>
        <p:txBody>
          <a:bodyPr wrap="square" lIns="0" tIns="0" rIns="0" bIns="0" rtlCol="0" anchor="ctr"/>
          <a:lstStyle/>
          <a:p>
            <a:pPr indent="0" marL="0">
              <a:buNone/>
            </a:pPr>
            <a:r>
              <a:rPr lang="en-US" sz="2400" b="1" dirty="0">
                <a:solidFill>
                  <a:srgbClr val="1B2432"/>
                </a:solidFill>
                <a:latin typeface="Cambria" pitchFamily="34" charset="0"/>
                <a:ea typeface="Cambria" pitchFamily="34" charset="-122"/>
                <a:cs typeface="Cambria" pitchFamily="34" charset="-120"/>
              </a:rPr>
              <a:t>The game plan — sprints 3 and 4</a:t>
            </a:r>
            <a:endParaRPr lang="en-US" sz="2400" dirty="0"/>
          </a:p>
        </p:txBody>
      </p:sp>
      <p:sp>
        <p:nvSpPr>
          <p:cNvPr id="5" name="Text 3"/>
          <p:cNvSpPr txBox="1"/>
          <p:nvPr/>
        </p:nvSpPr>
        <p:spPr>
          <a:xfrm>
            <a:off x="795528" y="621792"/>
            <a:ext cx="9326880" cy="237744"/>
          </a:xfrm>
          <a:prstGeom prst="rect">
            <a:avLst/>
          </a:prstGeom>
          <a:noFill/>
          <a:ln/>
        </p:spPr>
        <p:txBody>
          <a:bodyPr wrap="square" lIns="0" tIns="0" rIns="0" bIns="0" rtlCol="0" anchor="ctr"/>
          <a:lstStyle/>
          <a:p>
            <a:pPr indent="0" marL="0">
              <a:buNone/>
            </a:pPr>
            <a:r>
              <a:rPr lang="en-US" sz="1050" dirty="0">
                <a:solidFill>
                  <a:srgbClr val="55606E"/>
                </a:solidFill>
                <a:latin typeface="Calibri" pitchFamily="34" charset="0"/>
                <a:ea typeface="Calibri" pitchFamily="34" charset="-122"/>
                <a:cs typeface="Calibri" pitchFamily="34" charset="-120"/>
              </a:rPr>
              <a:t>Guardrails, the Clinic, and proving Lean end to end</a:t>
            </a:r>
            <a:endParaRPr lang="en-US" sz="1050" dirty="0"/>
          </a:p>
        </p:txBody>
      </p:sp>
      <p:sp>
        <p:nvSpPr>
          <p:cNvPr id="6" name="Text 4"/>
          <p:cNvSpPr txBox="1"/>
          <p:nvPr/>
        </p:nvSpPr>
        <p:spPr>
          <a:xfrm>
            <a:off x="9052560" y="274320"/>
            <a:ext cx="2697480" cy="256032"/>
          </a:xfrm>
          <a:prstGeom prst="rect">
            <a:avLst/>
          </a:prstGeom>
          <a:noFill/>
          <a:ln/>
        </p:spPr>
        <p:txBody>
          <a:bodyPr wrap="square" lIns="0" tIns="0" rIns="0" bIns="0" rtlCol="0" anchor="ctr"/>
          <a:lstStyle/>
          <a:p>
            <a:pPr algn="r" indent="0" marL="0">
              <a:buNone/>
            </a:pPr>
            <a:r>
              <a:rPr lang="en-US" sz="950" b="1" spc="60" kern="0" dirty="0">
                <a:solidFill>
                  <a:srgbClr val="7C8798"/>
                </a:solidFill>
                <a:latin typeface="Calibri" pitchFamily="34" charset="0"/>
                <a:ea typeface="Calibri" pitchFamily="34" charset="-122"/>
                <a:cs typeface="Calibri" pitchFamily="34" charset="-120"/>
              </a:rPr>
              <a:t>Game plan</a:t>
            </a:r>
            <a:endParaRPr lang="en-US" sz="950" dirty="0"/>
          </a:p>
        </p:txBody>
      </p:sp>
      <p:sp>
        <p:nvSpPr>
          <p:cNvPr id="7" name="Shape 5"/>
          <p:cNvSpPr/>
          <p:nvPr/>
        </p:nvSpPr>
        <p:spPr>
          <a:xfrm>
            <a:off x="411480" y="932688"/>
            <a:ext cx="11338560" cy="0"/>
          </a:xfrm>
          <a:prstGeom prst="line">
            <a:avLst/>
          </a:prstGeom>
          <a:noFill/>
          <a:ln w="12700">
            <a:solidFill>
              <a:srgbClr val="D4DAE2"/>
            </a:solidFill>
            <a:prstDash val="solid"/>
          </a:ln>
        </p:spPr>
      </p:sp>
      <p:sp>
        <p:nvSpPr>
          <p:cNvPr id="8" name="Shape 6"/>
          <p:cNvSpPr/>
          <p:nvPr/>
        </p:nvSpPr>
        <p:spPr>
          <a:xfrm>
            <a:off x="411480" y="1024128"/>
            <a:ext cx="5577840" cy="3218688"/>
          </a:xfrm>
          <a:prstGeom prst="roundRect">
            <a:avLst>
              <a:gd name="adj" fmla="val 1420"/>
            </a:avLst>
          </a:prstGeom>
          <a:solidFill>
            <a:srgbClr val="FFFFFF"/>
          </a:solidFill>
          <a:ln w="16510">
            <a:solidFill>
              <a:srgbClr val="0B6E6E"/>
            </a:solidFill>
            <a:prstDash val="solid"/>
          </a:ln>
          <a:effectLst>
            <a:outerShdw sx="100000" sy="100000" kx="0" ky="0" algn="bl" rotWithShape="0" blurRad="88900" dist="12700" dir="5400000">
              <a:srgbClr val="97A3B4">
                <a:alpha val="16000"/>
              </a:srgbClr>
            </a:outerShdw>
          </a:effectLst>
        </p:spPr>
      </p:sp>
      <p:sp>
        <p:nvSpPr>
          <p:cNvPr id="9" name="Shape 7"/>
          <p:cNvSpPr/>
          <p:nvPr/>
        </p:nvSpPr>
        <p:spPr>
          <a:xfrm>
            <a:off x="411480" y="1024128"/>
            <a:ext cx="5577840" cy="512064"/>
          </a:xfrm>
          <a:prstGeom prst="rect">
            <a:avLst/>
          </a:prstGeom>
          <a:solidFill>
            <a:srgbClr val="0B6E6E"/>
          </a:solidFill>
          <a:ln w="12700">
            <a:solidFill>
              <a:srgbClr val="333333"/>
            </a:solidFill>
            <a:prstDash val="solid"/>
          </a:ln>
        </p:spPr>
      </p:sp>
      <p:sp>
        <p:nvSpPr>
          <p:cNvPr id="10" name="Text 8"/>
          <p:cNvSpPr txBox="1"/>
          <p:nvPr/>
        </p:nvSpPr>
        <p:spPr>
          <a:xfrm>
            <a:off x="576072" y="1069848"/>
            <a:ext cx="2743200" cy="182880"/>
          </a:xfrm>
          <a:prstGeom prst="rect">
            <a:avLst/>
          </a:prstGeom>
          <a:noFill/>
          <a:ln/>
        </p:spPr>
        <p:txBody>
          <a:bodyPr wrap="square" lIns="0" tIns="0" rIns="0" bIns="0" rtlCol="0" anchor="ctr"/>
          <a:lstStyle/>
          <a:p>
            <a:pPr indent="0" marL="0">
              <a:buNone/>
            </a:pPr>
            <a:r>
              <a:rPr lang="en-US" sz="740" b="1" spc="100" kern="0" dirty="0">
                <a:solidFill>
                  <a:srgbClr val="BFE0DC"/>
                </a:solidFill>
                <a:latin typeface="Calibri" pitchFamily="34" charset="0"/>
                <a:ea typeface="Calibri" pitchFamily="34" charset="-122"/>
                <a:cs typeface="Calibri" pitchFamily="34" charset="-120"/>
              </a:rPr>
              <a:t>SPRINT 3 · WEEKS 5–6</a:t>
            </a:r>
            <a:endParaRPr lang="en-US" sz="740" dirty="0"/>
          </a:p>
        </p:txBody>
      </p:sp>
      <p:sp>
        <p:nvSpPr>
          <p:cNvPr id="11" name="Text 9"/>
          <p:cNvSpPr txBox="1"/>
          <p:nvPr/>
        </p:nvSpPr>
        <p:spPr>
          <a:xfrm>
            <a:off x="576072" y="1243584"/>
            <a:ext cx="521208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Guardrails, generation, and the Clinic opens</a:t>
            </a:r>
            <a:endParaRPr lang="en-US" sz="1300" dirty="0"/>
          </a:p>
        </p:txBody>
      </p:sp>
      <p:sp>
        <p:nvSpPr>
          <p:cNvPr id="12" name="Text 10"/>
          <p:cNvSpPr txBox="1"/>
          <p:nvPr/>
        </p:nvSpPr>
        <p:spPr>
          <a:xfrm>
            <a:off x="576072" y="1609344"/>
            <a:ext cx="5248656" cy="219456"/>
          </a:xfrm>
          <a:prstGeom prst="rect">
            <a:avLst/>
          </a:prstGeom>
          <a:noFill/>
          <a:ln/>
        </p:spPr>
        <p:txBody>
          <a:bodyPr wrap="square" lIns="0" tIns="0" rIns="0" bIns="0" rtlCol="0" anchor="ctr"/>
          <a:lstStyle/>
          <a:p>
            <a:pPr indent="0" marL="0">
              <a:buNone/>
            </a:pPr>
            <a:r>
              <a:rPr lang="en-US" sz="800" i="1" dirty="0">
                <a:solidFill>
                  <a:srgbClr val="55606E"/>
                </a:solidFill>
                <a:latin typeface="Calibri" pitchFamily="34" charset="0"/>
                <a:ea typeface="Calibri" pitchFamily="34" charset="-122"/>
                <a:cs typeface="Calibri" pitchFamily="34" charset="-120"/>
              </a:rPr>
              <a:t>Goal: Lean+ becomes a real tier with real intakes running through it.</a:t>
            </a:r>
            <a:endParaRPr lang="en-US" sz="800" dirty="0"/>
          </a:p>
        </p:txBody>
      </p:sp>
      <p:sp>
        <p:nvSpPr>
          <p:cNvPr id="13" name="Text 11"/>
          <p:cNvSpPr txBox="1"/>
          <p:nvPr/>
        </p:nvSpPr>
        <p:spPr>
          <a:xfrm>
            <a:off x="576072" y="1901952"/>
            <a:ext cx="2304288" cy="256032"/>
          </a:xfrm>
          <a:prstGeom prst="rect">
            <a:avLst/>
          </a:prstGeom>
          <a:noFill/>
          <a:ln/>
        </p:spPr>
        <p:txBody>
          <a:bodyPr wrap="square" lIns="0" tIns="0" rIns="0" bIns="0" rtlCol="0" anchor="ctr"/>
          <a:lstStyle/>
          <a:p>
            <a:pPr indent="0" marL="0">
              <a:buNone/>
            </a:pPr>
            <a:r>
              <a:rPr lang="en-US" sz="740" b="1" dirty="0">
                <a:solidFill>
                  <a:srgbClr val="1B2432"/>
                </a:solidFill>
                <a:latin typeface="Calibri" pitchFamily="34" charset="0"/>
                <a:ea typeface="Calibri" pitchFamily="34" charset="-122"/>
                <a:cs typeface="Calibri" pitchFamily="34" charset="-120"/>
              </a:rPr>
              <a:t>Gate engine for P0 and P1</a:t>
            </a:r>
            <a:endParaRPr lang="en-US" sz="740" dirty="0"/>
          </a:p>
        </p:txBody>
      </p:sp>
      <p:sp>
        <p:nvSpPr>
          <p:cNvPr id="14" name="Text 12"/>
          <p:cNvSpPr txBox="1"/>
          <p:nvPr/>
        </p:nvSpPr>
        <p:spPr>
          <a:xfrm>
            <a:off x="2935224" y="1901952"/>
            <a:ext cx="2889504" cy="256032"/>
          </a:xfrm>
          <a:prstGeom prst="rect">
            <a:avLst/>
          </a:prstGeom>
          <a:noFill/>
          <a:ln/>
        </p:spPr>
        <p:txBody>
          <a:bodyPr wrap="square" lIns="0" tIns="0" rIns="0" bIns="0" rtlCol="0" anchor="ctr"/>
          <a:lstStyle/>
          <a:p>
            <a:pPr indent="0" marL="0">
              <a:lnSpc>
                <a:spcPts val="780"/>
              </a:lnSpc>
              <a:buNone/>
            </a:pPr>
            <a:r>
              <a:rPr lang="en-US" sz="680" dirty="0">
                <a:solidFill>
                  <a:srgbClr val="55606E"/>
                </a:solidFill>
                <a:latin typeface="Calibri" pitchFamily="34" charset="0"/>
                <a:ea typeface="Calibri" pitchFamily="34" charset="-122"/>
                <a:cs typeface="Calibri" pitchFamily="34" charset="-120"/>
              </a:rPr>
              <a:t>Deterministic evaluation with itemised failure reasons</a:t>
            </a:r>
            <a:endParaRPr lang="en-US" sz="680" dirty="0"/>
          </a:p>
        </p:txBody>
      </p:sp>
      <p:sp>
        <p:nvSpPr>
          <p:cNvPr id="15" name="Text 13"/>
          <p:cNvSpPr txBox="1"/>
          <p:nvPr/>
        </p:nvSpPr>
        <p:spPr>
          <a:xfrm>
            <a:off x="576072" y="2176272"/>
            <a:ext cx="2304288" cy="256032"/>
          </a:xfrm>
          <a:prstGeom prst="rect">
            <a:avLst/>
          </a:prstGeom>
          <a:noFill/>
          <a:ln/>
        </p:spPr>
        <p:txBody>
          <a:bodyPr wrap="square" lIns="0" tIns="0" rIns="0" bIns="0" rtlCol="0" anchor="ctr"/>
          <a:lstStyle/>
          <a:p>
            <a:pPr indent="0" marL="0">
              <a:buNone/>
            </a:pPr>
            <a:r>
              <a:rPr lang="en-US" sz="740" b="1" dirty="0">
                <a:solidFill>
                  <a:srgbClr val="1B2432"/>
                </a:solidFill>
                <a:latin typeface="Calibri" pitchFamily="34" charset="0"/>
                <a:ea typeface="Calibri" pitchFamily="34" charset="-122"/>
                <a:cs typeface="Calibri" pitchFamily="34" charset="-120"/>
              </a:rPr>
              <a:t>Routing rules codified</a:t>
            </a:r>
            <a:endParaRPr lang="en-US" sz="740" dirty="0"/>
          </a:p>
        </p:txBody>
      </p:sp>
      <p:sp>
        <p:nvSpPr>
          <p:cNvPr id="16" name="Text 14"/>
          <p:cNvSpPr txBox="1"/>
          <p:nvPr/>
        </p:nvSpPr>
        <p:spPr>
          <a:xfrm>
            <a:off x="2935224" y="2176272"/>
            <a:ext cx="2889504" cy="256032"/>
          </a:xfrm>
          <a:prstGeom prst="rect">
            <a:avLst/>
          </a:prstGeom>
          <a:noFill/>
          <a:ln/>
        </p:spPr>
        <p:txBody>
          <a:bodyPr wrap="square" lIns="0" tIns="0" rIns="0" bIns="0" rtlCol="0" anchor="ctr"/>
          <a:lstStyle/>
          <a:p>
            <a:pPr indent="0" marL="0">
              <a:lnSpc>
                <a:spcPts val="780"/>
              </a:lnSpc>
              <a:buNone/>
            </a:pPr>
            <a:r>
              <a:rPr lang="en-US" sz="680" dirty="0">
                <a:solidFill>
                  <a:srgbClr val="55606E"/>
                </a:solidFill>
                <a:latin typeface="Calibri" pitchFamily="34" charset="0"/>
                <a:ea typeface="Calibri" pitchFamily="34" charset="-122"/>
                <a:cs typeface="Calibri" pitchFamily="34" charset="-120"/>
              </a:rPr>
              <a:t>Ticket routing, access path, environment account mapping</a:t>
            </a:r>
            <a:endParaRPr lang="en-US" sz="680" dirty="0"/>
          </a:p>
        </p:txBody>
      </p:sp>
      <p:sp>
        <p:nvSpPr>
          <p:cNvPr id="17" name="Text 15"/>
          <p:cNvSpPr txBox="1"/>
          <p:nvPr/>
        </p:nvSpPr>
        <p:spPr>
          <a:xfrm>
            <a:off x="576072" y="2450592"/>
            <a:ext cx="2304288" cy="256032"/>
          </a:xfrm>
          <a:prstGeom prst="rect">
            <a:avLst/>
          </a:prstGeom>
          <a:noFill/>
          <a:ln/>
        </p:spPr>
        <p:txBody>
          <a:bodyPr wrap="square" lIns="0" tIns="0" rIns="0" bIns="0" rtlCol="0" anchor="ctr"/>
          <a:lstStyle/>
          <a:p>
            <a:pPr indent="0" marL="0">
              <a:buNone/>
            </a:pPr>
            <a:r>
              <a:rPr lang="en-US" sz="740" b="1" dirty="0">
                <a:solidFill>
                  <a:srgbClr val="1B2432"/>
                </a:solidFill>
                <a:latin typeface="Calibri" pitchFamily="34" charset="0"/>
                <a:ea typeface="Calibri" pitchFamily="34" charset="-122"/>
                <a:cs typeface="Calibri" pitchFamily="34" charset="-120"/>
              </a:rPr>
              <a:t>Artefact Generator v1</a:t>
            </a:r>
            <a:endParaRPr lang="en-US" sz="740" dirty="0"/>
          </a:p>
        </p:txBody>
      </p:sp>
      <p:sp>
        <p:nvSpPr>
          <p:cNvPr id="18" name="Text 16"/>
          <p:cNvSpPr txBox="1"/>
          <p:nvPr/>
        </p:nvSpPr>
        <p:spPr>
          <a:xfrm>
            <a:off x="2935224" y="2450592"/>
            <a:ext cx="2889504" cy="256032"/>
          </a:xfrm>
          <a:prstGeom prst="rect">
            <a:avLst/>
          </a:prstGeom>
          <a:noFill/>
          <a:ln/>
        </p:spPr>
        <p:txBody>
          <a:bodyPr wrap="square" lIns="0" tIns="0" rIns="0" bIns="0" rtlCol="0" anchor="ctr"/>
          <a:lstStyle/>
          <a:p>
            <a:pPr indent="0" marL="0">
              <a:lnSpc>
                <a:spcPts val="780"/>
              </a:lnSpc>
              <a:buNone/>
            </a:pPr>
            <a:r>
              <a:rPr lang="en-US" sz="680" dirty="0">
                <a:solidFill>
                  <a:srgbClr val="55606E"/>
                </a:solidFill>
                <a:latin typeface="Calibri" pitchFamily="34" charset="0"/>
                <a:ea typeface="Calibri" pitchFamily="34" charset="-122"/>
                <a:cs typeface="Calibri" pitchFamily="34" charset="-120"/>
              </a:rPr>
              <a:t>RM questionnaire draft, scope summary, test plan, API collection</a:t>
            </a:r>
            <a:endParaRPr lang="en-US" sz="680" dirty="0"/>
          </a:p>
        </p:txBody>
      </p:sp>
      <p:sp>
        <p:nvSpPr>
          <p:cNvPr id="19" name="Text 17"/>
          <p:cNvSpPr txBox="1"/>
          <p:nvPr/>
        </p:nvSpPr>
        <p:spPr>
          <a:xfrm>
            <a:off x="576072" y="2724912"/>
            <a:ext cx="2304288" cy="256032"/>
          </a:xfrm>
          <a:prstGeom prst="rect">
            <a:avLst/>
          </a:prstGeom>
          <a:noFill/>
          <a:ln/>
        </p:spPr>
        <p:txBody>
          <a:bodyPr wrap="square" lIns="0" tIns="0" rIns="0" bIns="0" rtlCol="0" anchor="ctr"/>
          <a:lstStyle/>
          <a:p>
            <a:pPr indent="0" marL="0">
              <a:buNone/>
            </a:pPr>
            <a:r>
              <a:rPr lang="en-US" sz="740" b="1" dirty="0">
                <a:solidFill>
                  <a:srgbClr val="1B2432"/>
                </a:solidFill>
                <a:latin typeface="Calibri" pitchFamily="34" charset="0"/>
                <a:ea typeface="Calibri" pitchFamily="34" charset="-122"/>
                <a:cs typeface="Calibri" pitchFamily="34" charset="-120"/>
              </a:rPr>
              <a:t>Partner Onboarding Assistant</a:t>
            </a:r>
            <a:endParaRPr lang="en-US" sz="740" dirty="0"/>
          </a:p>
        </p:txBody>
      </p:sp>
      <p:sp>
        <p:nvSpPr>
          <p:cNvPr id="20" name="Text 18"/>
          <p:cNvSpPr txBox="1"/>
          <p:nvPr/>
        </p:nvSpPr>
        <p:spPr>
          <a:xfrm>
            <a:off x="2935224" y="2724912"/>
            <a:ext cx="2889504" cy="256032"/>
          </a:xfrm>
          <a:prstGeom prst="rect">
            <a:avLst/>
          </a:prstGeom>
          <a:noFill/>
          <a:ln/>
        </p:spPr>
        <p:txBody>
          <a:bodyPr wrap="square" lIns="0" tIns="0" rIns="0" bIns="0" rtlCol="0" anchor="ctr"/>
          <a:lstStyle/>
          <a:p>
            <a:pPr indent="0" marL="0">
              <a:lnSpc>
                <a:spcPts val="780"/>
              </a:lnSpc>
              <a:buNone/>
            </a:pPr>
            <a:r>
              <a:rPr lang="en-US" sz="680" dirty="0">
                <a:solidFill>
                  <a:srgbClr val="55606E"/>
                </a:solidFill>
                <a:latin typeface="Calibri" pitchFamily="34" charset="0"/>
                <a:ea typeface="Calibri" pitchFamily="34" charset="-122"/>
                <a:cs typeface="Calibri" pitchFamily="34" charset="-120"/>
              </a:rPr>
              <a:t>Grounded answers with citation and refusal behaviour</a:t>
            </a:r>
            <a:endParaRPr lang="en-US" sz="680" dirty="0"/>
          </a:p>
        </p:txBody>
      </p:sp>
      <p:sp>
        <p:nvSpPr>
          <p:cNvPr id="21" name="Text 19"/>
          <p:cNvSpPr txBox="1"/>
          <p:nvPr/>
        </p:nvSpPr>
        <p:spPr>
          <a:xfrm>
            <a:off x="576072" y="2999232"/>
            <a:ext cx="2304288" cy="256032"/>
          </a:xfrm>
          <a:prstGeom prst="rect">
            <a:avLst/>
          </a:prstGeom>
          <a:noFill/>
          <a:ln/>
        </p:spPr>
        <p:txBody>
          <a:bodyPr wrap="square" lIns="0" tIns="0" rIns="0" bIns="0" rtlCol="0" anchor="ctr"/>
          <a:lstStyle/>
          <a:p>
            <a:pPr indent="0" marL="0">
              <a:buNone/>
            </a:pPr>
            <a:r>
              <a:rPr lang="en-US" sz="740" b="1" dirty="0">
                <a:solidFill>
                  <a:srgbClr val="1B2432"/>
                </a:solidFill>
                <a:latin typeface="Calibri" pitchFamily="34" charset="0"/>
                <a:ea typeface="Calibri" pitchFamily="34" charset="-122"/>
                <a:cs typeface="Calibri" pitchFamily="34" charset="-120"/>
              </a:rPr>
              <a:t>Clinic stands up</a:t>
            </a:r>
            <a:endParaRPr lang="en-US" sz="740" dirty="0"/>
          </a:p>
        </p:txBody>
      </p:sp>
      <p:sp>
        <p:nvSpPr>
          <p:cNvPr id="22" name="Text 20"/>
          <p:cNvSpPr txBox="1"/>
          <p:nvPr/>
        </p:nvSpPr>
        <p:spPr>
          <a:xfrm>
            <a:off x="2935224" y="2999232"/>
            <a:ext cx="2889504" cy="256032"/>
          </a:xfrm>
          <a:prstGeom prst="rect">
            <a:avLst/>
          </a:prstGeom>
          <a:noFill/>
          <a:ln/>
        </p:spPr>
        <p:txBody>
          <a:bodyPr wrap="square" lIns="0" tIns="0" rIns="0" bIns="0" rtlCol="0" anchor="ctr"/>
          <a:lstStyle/>
          <a:p>
            <a:pPr indent="0" marL="0">
              <a:lnSpc>
                <a:spcPts val="780"/>
              </a:lnSpc>
              <a:buNone/>
            </a:pPr>
            <a:r>
              <a:rPr lang="en-US" sz="680" dirty="0">
                <a:solidFill>
                  <a:srgbClr val="55606E"/>
                </a:solidFill>
                <a:latin typeface="Calibri" pitchFamily="34" charset="0"/>
                <a:ea typeface="Calibri" pitchFamily="34" charset="-122"/>
                <a:cs typeface="Calibri" pitchFamily="34" charset="-120"/>
              </a:rPr>
              <a:t>Checkpoint calendar, open slots, escalation duty, triage front door</a:t>
            </a:r>
            <a:endParaRPr lang="en-US" sz="680" dirty="0"/>
          </a:p>
        </p:txBody>
      </p:sp>
      <p:sp>
        <p:nvSpPr>
          <p:cNvPr id="23" name="Text 21"/>
          <p:cNvSpPr txBox="1"/>
          <p:nvPr/>
        </p:nvSpPr>
        <p:spPr>
          <a:xfrm>
            <a:off x="576072" y="3273552"/>
            <a:ext cx="2304288" cy="256032"/>
          </a:xfrm>
          <a:prstGeom prst="rect">
            <a:avLst/>
          </a:prstGeom>
          <a:noFill/>
          <a:ln/>
        </p:spPr>
        <p:txBody>
          <a:bodyPr wrap="square" lIns="0" tIns="0" rIns="0" bIns="0" rtlCol="0" anchor="ctr"/>
          <a:lstStyle/>
          <a:p>
            <a:pPr indent="0" marL="0">
              <a:buNone/>
            </a:pPr>
            <a:r>
              <a:rPr lang="en-US" sz="740" b="1" dirty="0">
                <a:solidFill>
                  <a:srgbClr val="1B2432"/>
                </a:solidFill>
                <a:latin typeface="Calibri" pitchFamily="34" charset="0"/>
                <a:ea typeface="Calibri" pitchFamily="34" charset="-122"/>
                <a:cs typeface="Calibri" pitchFamily="34" charset="-120"/>
              </a:rPr>
              <a:t>Three patterns to M2</a:t>
            </a:r>
            <a:endParaRPr lang="en-US" sz="740" dirty="0"/>
          </a:p>
        </p:txBody>
      </p:sp>
      <p:sp>
        <p:nvSpPr>
          <p:cNvPr id="24" name="Text 22"/>
          <p:cNvSpPr txBox="1"/>
          <p:nvPr/>
        </p:nvSpPr>
        <p:spPr>
          <a:xfrm>
            <a:off x="2935224" y="3273552"/>
            <a:ext cx="2889504" cy="256032"/>
          </a:xfrm>
          <a:prstGeom prst="rect">
            <a:avLst/>
          </a:prstGeom>
          <a:noFill/>
          <a:ln/>
        </p:spPr>
        <p:txBody>
          <a:bodyPr wrap="square" lIns="0" tIns="0" rIns="0" bIns="0" rtlCol="0" anchor="ctr"/>
          <a:lstStyle/>
          <a:p>
            <a:pPr indent="0" marL="0">
              <a:lnSpc>
                <a:spcPts val="780"/>
              </a:lnSpc>
              <a:buNone/>
            </a:pPr>
            <a:r>
              <a:rPr lang="en-US" sz="680" dirty="0">
                <a:solidFill>
                  <a:srgbClr val="55606E"/>
                </a:solidFill>
                <a:latin typeface="Calibri" pitchFamily="34" charset="0"/>
                <a:ea typeface="Calibri" pitchFamily="34" charset="-122"/>
                <a:cs typeface="Calibri" pitchFamily="34" charset="-120"/>
              </a:rPr>
              <a:t>Automated gates; configuration generated and applied with review</a:t>
            </a:r>
            <a:endParaRPr lang="en-US" sz="680" dirty="0"/>
          </a:p>
        </p:txBody>
      </p:sp>
      <p:sp>
        <p:nvSpPr>
          <p:cNvPr id="25" name="Text 23"/>
          <p:cNvSpPr txBox="1"/>
          <p:nvPr/>
        </p:nvSpPr>
        <p:spPr>
          <a:xfrm>
            <a:off x="576072" y="3547872"/>
            <a:ext cx="2304288" cy="256032"/>
          </a:xfrm>
          <a:prstGeom prst="rect">
            <a:avLst/>
          </a:prstGeom>
          <a:noFill/>
          <a:ln/>
        </p:spPr>
        <p:txBody>
          <a:bodyPr wrap="square" lIns="0" tIns="0" rIns="0" bIns="0" rtlCol="0" anchor="ctr"/>
          <a:lstStyle/>
          <a:p>
            <a:pPr indent="0" marL="0">
              <a:buNone/>
            </a:pPr>
            <a:r>
              <a:rPr lang="en-US" sz="740" b="1" dirty="0">
                <a:solidFill>
                  <a:srgbClr val="1B2432"/>
                </a:solidFill>
                <a:latin typeface="Calibri" pitchFamily="34" charset="0"/>
                <a:ea typeface="Calibri" pitchFamily="34" charset="-122"/>
                <a:cs typeface="Calibri" pitchFamily="34" charset="-120"/>
              </a:rPr>
              <a:t>First Lean+ intakes</a:t>
            </a:r>
            <a:endParaRPr lang="en-US" sz="740" dirty="0"/>
          </a:p>
        </p:txBody>
      </p:sp>
      <p:sp>
        <p:nvSpPr>
          <p:cNvPr id="26" name="Text 24"/>
          <p:cNvSpPr txBox="1"/>
          <p:nvPr/>
        </p:nvSpPr>
        <p:spPr>
          <a:xfrm>
            <a:off x="2935224" y="3547872"/>
            <a:ext cx="2889504" cy="256032"/>
          </a:xfrm>
          <a:prstGeom prst="rect">
            <a:avLst/>
          </a:prstGeom>
          <a:noFill/>
          <a:ln/>
        </p:spPr>
        <p:txBody>
          <a:bodyPr wrap="square" lIns="0" tIns="0" rIns="0" bIns="0" rtlCol="0" anchor="ctr"/>
          <a:lstStyle/>
          <a:p>
            <a:pPr indent="0" marL="0">
              <a:lnSpc>
                <a:spcPts val="780"/>
              </a:lnSpc>
              <a:buNone/>
            </a:pPr>
            <a:r>
              <a:rPr lang="en-US" sz="680" dirty="0">
                <a:solidFill>
                  <a:srgbClr val="55606E"/>
                </a:solidFill>
                <a:latin typeface="Calibri" pitchFamily="34" charset="0"/>
                <a:ea typeface="Calibri" pitchFamily="34" charset="-122"/>
                <a:cs typeface="Calibri" pitchFamily="34" charset="-120"/>
              </a:rPr>
              <a:t>Three to five, with real checkpoints and a named guide</a:t>
            </a:r>
            <a:endParaRPr lang="en-US" sz="680" dirty="0"/>
          </a:p>
        </p:txBody>
      </p:sp>
      <p:sp>
        <p:nvSpPr>
          <p:cNvPr id="27" name="Text 25"/>
          <p:cNvSpPr txBox="1"/>
          <p:nvPr/>
        </p:nvSpPr>
        <p:spPr>
          <a:xfrm>
            <a:off x="576072" y="3822192"/>
            <a:ext cx="2304288" cy="256032"/>
          </a:xfrm>
          <a:prstGeom prst="rect">
            <a:avLst/>
          </a:prstGeom>
          <a:noFill/>
          <a:ln/>
        </p:spPr>
        <p:txBody>
          <a:bodyPr wrap="square" lIns="0" tIns="0" rIns="0" bIns="0" rtlCol="0" anchor="ctr"/>
          <a:lstStyle/>
          <a:p>
            <a:pPr indent="0" marL="0">
              <a:buNone/>
            </a:pPr>
            <a:r>
              <a:rPr lang="en-US" sz="740" b="1" dirty="0">
                <a:solidFill>
                  <a:srgbClr val="1B2432"/>
                </a:solidFill>
                <a:latin typeface="Calibri" pitchFamily="34" charset="0"/>
                <a:ea typeface="Calibri" pitchFamily="34" charset="-122"/>
                <a:cs typeface="Calibri" pitchFamily="34" charset="-120"/>
              </a:rPr>
              <a:t>Enabling squad onboarding</a:t>
            </a:r>
            <a:endParaRPr lang="en-US" sz="740" dirty="0"/>
          </a:p>
        </p:txBody>
      </p:sp>
      <p:sp>
        <p:nvSpPr>
          <p:cNvPr id="28" name="Text 26"/>
          <p:cNvSpPr txBox="1"/>
          <p:nvPr/>
        </p:nvSpPr>
        <p:spPr>
          <a:xfrm>
            <a:off x="2935224" y="3822192"/>
            <a:ext cx="2889504" cy="256032"/>
          </a:xfrm>
          <a:prstGeom prst="rect">
            <a:avLst/>
          </a:prstGeom>
          <a:noFill/>
          <a:ln/>
        </p:spPr>
        <p:txBody>
          <a:bodyPr wrap="square" lIns="0" tIns="0" rIns="0" bIns="0" rtlCol="0" anchor="ctr"/>
          <a:lstStyle/>
          <a:p>
            <a:pPr indent="0" marL="0">
              <a:lnSpc>
                <a:spcPts val="780"/>
              </a:lnSpc>
              <a:buNone/>
            </a:pPr>
            <a:r>
              <a:rPr lang="en-US" sz="680" dirty="0">
                <a:solidFill>
                  <a:srgbClr val="55606E"/>
                </a:solidFill>
                <a:latin typeface="Calibri" pitchFamily="34" charset="0"/>
                <a:ea typeface="Calibri" pitchFamily="34" charset="-122"/>
                <a:cs typeface="Calibri" pitchFamily="34" charset="-120"/>
              </a:rPr>
              <a:t>Tiering model, clinic rhythm, new roles — run with them, not at them</a:t>
            </a:r>
            <a:endParaRPr lang="en-US" sz="680" dirty="0"/>
          </a:p>
        </p:txBody>
      </p:sp>
      <p:sp>
        <p:nvSpPr>
          <p:cNvPr id="29" name="Shape 27"/>
          <p:cNvSpPr/>
          <p:nvPr/>
        </p:nvSpPr>
        <p:spPr>
          <a:xfrm>
            <a:off x="6172200" y="1024128"/>
            <a:ext cx="5577840" cy="3218688"/>
          </a:xfrm>
          <a:prstGeom prst="roundRect">
            <a:avLst>
              <a:gd name="adj" fmla="val 1420"/>
            </a:avLst>
          </a:prstGeom>
          <a:solidFill>
            <a:srgbClr val="FFFFFF"/>
          </a:solidFill>
          <a:ln w="16510">
            <a:solidFill>
              <a:srgbClr val="15304F"/>
            </a:solidFill>
            <a:prstDash val="solid"/>
          </a:ln>
          <a:effectLst>
            <a:outerShdw sx="100000" sy="100000" kx="0" ky="0" algn="bl" rotWithShape="0" blurRad="88900" dist="12700" dir="5400000">
              <a:srgbClr val="97A3B4">
                <a:alpha val="16000"/>
              </a:srgbClr>
            </a:outerShdw>
          </a:effectLst>
        </p:spPr>
      </p:sp>
      <p:sp>
        <p:nvSpPr>
          <p:cNvPr id="30" name="Shape 28"/>
          <p:cNvSpPr/>
          <p:nvPr/>
        </p:nvSpPr>
        <p:spPr>
          <a:xfrm>
            <a:off x="6172200" y="1024128"/>
            <a:ext cx="5577840" cy="512064"/>
          </a:xfrm>
          <a:prstGeom prst="rect">
            <a:avLst/>
          </a:prstGeom>
          <a:solidFill>
            <a:srgbClr val="15304F"/>
          </a:solidFill>
          <a:ln w="12700">
            <a:solidFill>
              <a:srgbClr val="333333"/>
            </a:solidFill>
            <a:prstDash val="solid"/>
          </a:ln>
        </p:spPr>
      </p:sp>
      <p:sp>
        <p:nvSpPr>
          <p:cNvPr id="31" name="Text 29"/>
          <p:cNvSpPr txBox="1"/>
          <p:nvPr/>
        </p:nvSpPr>
        <p:spPr>
          <a:xfrm>
            <a:off x="6336792" y="1069848"/>
            <a:ext cx="2743200" cy="182880"/>
          </a:xfrm>
          <a:prstGeom prst="rect">
            <a:avLst/>
          </a:prstGeom>
          <a:noFill/>
          <a:ln/>
        </p:spPr>
        <p:txBody>
          <a:bodyPr wrap="square" lIns="0" tIns="0" rIns="0" bIns="0" rtlCol="0" anchor="ctr"/>
          <a:lstStyle/>
          <a:p>
            <a:pPr indent="0" marL="0">
              <a:buNone/>
            </a:pPr>
            <a:r>
              <a:rPr lang="en-US" sz="740" b="1" spc="100" kern="0" dirty="0">
                <a:solidFill>
                  <a:srgbClr val="A8BDD2"/>
                </a:solidFill>
                <a:latin typeface="Calibri" pitchFamily="34" charset="0"/>
                <a:ea typeface="Calibri" pitchFamily="34" charset="-122"/>
                <a:cs typeface="Calibri" pitchFamily="34" charset="-120"/>
              </a:rPr>
              <a:t>SPRINT 4 · WEEKS 7–8</a:t>
            </a:r>
            <a:endParaRPr lang="en-US" sz="740" dirty="0"/>
          </a:p>
        </p:txBody>
      </p:sp>
      <p:sp>
        <p:nvSpPr>
          <p:cNvPr id="32" name="Text 30"/>
          <p:cNvSpPr txBox="1"/>
          <p:nvPr/>
        </p:nvSpPr>
        <p:spPr>
          <a:xfrm>
            <a:off x="6336792" y="1243584"/>
            <a:ext cx="521208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Prove Lean on one pattern</a:t>
            </a:r>
            <a:endParaRPr lang="en-US" sz="1300" dirty="0"/>
          </a:p>
        </p:txBody>
      </p:sp>
      <p:sp>
        <p:nvSpPr>
          <p:cNvPr id="33" name="Text 31"/>
          <p:cNvSpPr txBox="1"/>
          <p:nvPr/>
        </p:nvSpPr>
        <p:spPr>
          <a:xfrm>
            <a:off x="6336792" y="1609344"/>
            <a:ext cx="5248656" cy="219456"/>
          </a:xfrm>
          <a:prstGeom prst="rect">
            <a:avLst/>
          </a:prstGeom>
          <a:noFill/>
          <a:ln/>
        </p:spPr>
        <p:txBody>
          <a:bodyPr wrap="square" lIns="0" tIns="0" rIns="0" bIns="0" rtlCol="0" anchor="ctr"/>
          <a:lstStyle/>
          <a:p>
            <a:pPr indent="0" marL="0">
              <a:buNone/>
            </a:pPr>
            <a:r>
              <a:rPr lang="en-US" sz="800" i="1" dirty="0">
                <a:solidFill>
                  <a:srgbClr val="55606E"/>
                </a:solidFill>
                <a:latin typeface="Calibri" pitchFamily="34" charset="0"/>
                <a:ea typeface="Calibri" pitchFamily="34" charset="-122"/>
                <a:cs typeface="Calibri" pitchFamily="34" charset="-120"/>
              </a:rPr>
              <a:t>Goal: at least one partner completes an intake end to end with no allocated ECM capacity.</a:t>
            </a:r>
            <a:endParaRPr lang="en-US" sz="800" dirty="0"/>
          </a:p>
        </p:txBody>
      </p:sp>
      <p:sp>
        <p:nvSpPr>
          <p:cNvPr id="34" name="Text 32"/>
          <p:cNvSpPr txBox="1"/>
          <p:nvPr/>
        </p:nvSpPr>
        <p:spPr>
          <a:xfrm>
            <a:off x="6336792" y="1901952"/>
            <a:ext cx="2304288" cy="256032"/>
          </a:xfrm>
          <a:prstGeom prst="rect">
            <a:avLst/>
          </a:prstGeom>
          <a:noFill/>
          <a:ln/>
        </p:spPr>
        <p:txBody>
          <a:bodyPr wrap="square" lIns="0" tIns="0" rIns="0" bIns="0" rtlCol="0" anchor="ctr"/>
          <a:lstStyle/>
          <a:p>
            <a:pPr indent="0" marL="0">
              <a:buNone/>
            </a:pPr>
            <a:r>
              <a:rPr lang="en-US" sz="740" b="1" dirty="0">
                <a:solidFill>
                  <a:srgbClr val="1B2432"/>
                </a:solidFill>
                <a:latin typeface="Calibri" pitchFamily="34" charset="0"/>
                <a:ea typeface="Calibri" pitchFamily="34" charset="-122"/>
                <a:cs typeface="Calibri" pitchFamily="34" charset="-120"/>
              </a:rPr>
              <a:t>Self-service provisioning, one pattern</a:t>
            </a:r>
            <a:endParaRPr lang="en-US" sz="740" dirty="0"/>
          </a:p>
        </p:txBody>
      </p:sp>
      <p:sp>
        <p:nvSpPr>
          <p:cNvPr id="35" name="Text 33"/>
          <p:cNvSpPr txBox="1"/>
          <p:nvPr/>
        </p:nvSpPr>
        <p:spPr>
          <a:xfrm>
            <a:off x="8695944" y="1901952"/>
            <a:ext cx="2889504" cy="256032"/>
          </a:xfrm>
          <a:prstGeom prst="rect">
            <a:avLst/>
          </a:prstGeom>
          <a:noFill/>
          <a:ln/>
        </p:spPr>
        <p:txBody>
          <a:bodyPr wrap="square" lIns="0" tIns="0" rIns="0" bIns="0" rtlCol="0" anchor="ctr"/>
          <a:lstStyle/>
          <a:p>
            <a:pPr indent="0" marL="0">
              <a:lnSpc>
                <a:spcPts val="780"/>
              </a:lnSpc>
              <a:buNone/>
            </a:pPr>
            <a:r>
              <a:rPr lang="en-US" sz="680" dirty="0">
                <a:solidFill>
                  <a:srgbClr val="55606E"/>
                </a:solidFill>
                <a:latin typeface="Calibri" pitchFamily="34" charset="0"/>
                <a:ea typeface="Calibri" pitchFamily="34" charset="-122"/>
                <a:cs typeface="Calibri" pitchFamily="34" charset="-120"/>
              </a:rPr>
              <a:t>Highest-frequency pattern only — likely subscription extension</a:t>
            </a:r>
            <a:endParaRPr lang="en-US" sz="680" dirty="0"/>
          </a:p>
        </p:txBody>
      </p:sp>
      <p:sp>
        <p:nvSpPr>
          <p:cNvPr id="36" name="Text 34"/>
          <p:cNvSpPr txBox="1"/>
          <p:nvPr/>
        </p:nvSpPr>
        <p:spPr>
          <a:xfrm>
            <a:off x="6336792" y="2176272"/>
            <a:ext cx="2304288" cy="256032"/>
          </a:xfrm>
          <a:prstGeom prst="rect">
            <a:avLst/>
          </a:prstGeom>
          <a:noFill/>
          <a:ln/>
        </p:spPr>
        <p:txBody>
          <a:bodyPr wrap="square" lIns="0" tIns="0" rIns="0" bIns="0" rtlCol="0" anchor="ctr"/>
          <a:lstStyle/>
          <a:p>
            <a:pPr indent="0" marL="0">
              <a:buNone/>
            </a:pPr>
            <a:r>
              <a:rPr lang="en-US" sz="740" b="1" dirty="0">
                <a:solidFill>
                  <a:srgbClr val="1B2432"/>
                </a:solidFill>
                <a:latin typeface="Calibri" pitchFamily="34" charset="0"/>
                <a:ea typeface="Calibri" pitchFamily="34" charset="-122"/>
                <a:cs typeface="Calibri" pitchFamily="34" charset="-120"/>
              </a:rPr>
              <a:t>That pattern promoted to M3</a:t>
            </a:r>
            <a:endParaRPr lang="en-US" sz="740" dirty="0"/>
          </a:p>
        </p:txBody>
      </p:sp>
      <p:sp>
        <p:nvSpPr>
          <p:cNvPr id="37" name="Text 35"/>
          <p:cNvSpPr txBox="1"/>
          <p:nvPr/>
        </p:nvSpPr>
        <p:spPr>
          <a:xfrm>
            <a:off x="8695944" y="2176272"/>
            <a:ext cx="2889504" cy="256032"/>
          </a:xfrm>
          <a:prstGeom prst="rect">
            <a:avLst/>
          </a:prstGeom>
          <a:noFill/>
          <a:ln/>
        </p:spPr>
        <p:txBody>
          <a:bodyPr wrap="square" lIns="0" tIns="0" rIns="0" bIns="0" rtlCol="0" anchor="ctr"/>
          <a:lstStyle/>
          <a:p>
            <a:pPr indent="0" marL="0">
              <a:lnSpc>
                <a:spcPts val="780"/>
              </a:lnSpc>
              <a:buNone/>
            </a:pPr>
            <a:r>
              <a:rPr lang="en-US" sz="680" dirty="0">
                <a:solidFill>
                  <a:srgbClr val="55606E"/>
                </a:solidFill>
                <a:latin typeface="Calibri" pitchFamily="34" charset="0"/>
                <a:ea typeface="Calibri" pitchFamily="34" charset="-122"/>
                <a:cs typeface="Calibri" pitchFamily="34" charset="-120"/>
              </a:rPr>
              <a:t>Provisioning, gates, artefacts, declared tolerated variation</a:t>
            </a:r>
            <a:endParaRPr lang="en-US" sz="680" dirty="0"/>
          </a:p>
        </p:txBody>
      </p:sp>
      <p:sp>
        <p:nvSpPr>
          <p:cNvPr id="38" name="Text 36"/>
          <p:cNvSpPr txBox="1"/>
          <p:nvPr/>
        </p:nvSpPr>
        <p:spPr>
          <a:xfrm>
            <a:off x="6336792" y="2450592"/>
            <a:ext cx="2304288" cy="256032"/>
          </a:xfrm>
          <a:prstGeom prst="rect">
            <a:avLst/>
          </a:prstGeom>
          <a:noFill/>
          <a:ln/>
        </p:spPr>
        <p:txBody>
          <a:bodyPr wrap="square" lIns="0" tIns="0" rIns="0" bIns="0" rtlCol="0" anchor="ctr"/>
          <a:lstStyle/>
          <a:p>
            <a:pPr indent="0" marL="0">
              <a:buNone/>
            </a:pPr>
            <a:r>
              <a:rPr lang="en-US" sz="740" b="1" dirty="0">
                <a:solidFill>
                  <a:srgbClr val="1B2432"/>
                </a:solidFill>
                <a:latin typeface="Calibri" pitchFamily="34" charset="0"/>
                <a:ea typeface="Calibri" pitchFamily="34" charset="-122"/>
                <a:cs typeface="Calibri" pitchFamily="34" charset="-120"/>
              </a:rPr>
              <a:t>Partner certification live</a:t>
            </a:r>
            <a:endParaRPr lang="en-US" sz="740" dirty="0"/>
          </a:p>
        </p:txBody>
      </p:sp>
      <p:sp>
        <p:nvSpPr>
          <p:cNvPr id="39" name="Text 37"/>
          <p:cNvSpPr txBox="1"/>
          <p:nvPr/>
        </p:nvSpPr>
        <p:spPr>
          <a:xfrm>
            <a:off x="8695944" y="2450592"/>
            <a:ext cx="2889504" cy="256032"/>
          </a:xfrm>
          <a:prstGeom prst="rect">
            <a:avLst/>
          </a:prstGeom>
          <a:noFill/>
          <a:ln/>
        </p:spPr>
        <p:txBody>
          <a:bodyPr wrap="square" lIns="0" tIns="0" rIns="0" bIns="0" rtlCol="0" anchor="ctr"/>
          <a:lstStyle/>
          <a:p>
            <a:pPr indent="0" marL="0">
              <a:lnSpc>
                <a:spcPts val="780"/>
              </a:lnSpc>
              <a:buNone/>
            </a:pPr>
            <a:r>
              <a:rPr lang="en-US" sz="680" dirty="0">
                <a:solidFill>
                  <a:srgbClr val="55606E"/>
                </a:solidFill>
                <a:latin typeface="Calibri" pitchFamily="34" charset="0"/>
                <a:ea typeface="Calibri" pitchFamily="34" charset="-122"/>
                <a:cs typeface="Calibri" pitchFamily="34" charset="-120"/>
              </a:rPr>
              <a:t>Criteria published; two to three partners certified</a:t>
            </a:r>
            <a:endParaRPr lang="en-US" sz="680" dirty="0"/>
          </a:p>
        </p:txBody>
      </p:sp>
      <p:sp>
        <p:nvSpPr>
          <p:cNvPr id="40" name="Text 38"/>
          <p:cNvSpPr txBox="1"/>
          <p:nvPr/>
        </p:nvSpPr>
        <p:spPr>
          <a:xfrm>
            <a:off x="6336792" y="2724912"/>
            <a:ext cx="2304288" cy="256032"/>
          </a:xfrm>
          <a:prstGeom prst="rect">
            <a:avLst/>
          </a:prstGeom>
          <a:noFill/>
          <a:ln/>
        </p:spPr>
        <p:txBody>
          <a:bodyPr wrap="square" lIns="0" tIns="0" rIns="0" bIns="0" rtlCol="0" anchor="ctr"/>
          <a:lstStyle/>
          <a:p>
            <a:pPr indent="0" marL="0">
              <a:buNone/>
            </a:pPr>
            <a:r>
              <a:rPr lang="en-US" sz="740" b="1" dirty="0">
                <a:solidFill>
                  <a:srgbClr val="1B2432"/>
                </a:solidFill>
                <a:latin typeface="Calibri" pitchFamily="34" charset="0"/>
                <a:ea typeface="Calibri" pitchFamily="34" charset="-122"/>
                <a:cs typeface="Calibri" pitchFamily="34" charset="-120"/>
              </a:rPr>
              <a:t>Cockpit v1</a:t>
            </a:r>
            <a:endParaRPr lang="en-US" sz="740" dirty="0"/>
          </a:p>
        </p:txBody>
      </p:sp>
      <p:sp>
        <p:nvSpPr>
          <p:cNvPr id="41" name="Text 39"/>
          <p:cNvSpPr txBox="1"/>
          <p:nvPr/>
        </p:nvSpPr>
        <p:spPr>
          <a:xfrm>
            <a:off x="8695944" y="2724912"/>
            <a:ext cx="2889504" cy="256032"/>
          </a:xfrm>
          <a:prstGeom prst="rect">
            <a:avLst/>
          </a:prstGeom>
          <a:noFill/>
          <a:ln/>
        </p:spPr>
        <p:txBody>
          <a:bodyPr wrap="square" lIns="0" tIns="0" rIns="0" bIns="0" rtlCol="0" anchor="ctr"/>
          <a:lstStyle/>
          <a:p>
            <a:pPr indent="0" marL="0">
              <a:lnSpc>
                <a:spcPts val="780"/>
              </a:lnSpc>
              <a:buNone/>
            </a:pPr>
            <a:r>
              <a:rPr lang="en-US" sz="680" dirty="0">
                <a:solidFill>
                  <a:srgbClr val="55606E"/>
                </a:solidFill>
                <a:latin typeface="Calibri" pitchFamily="34" charset="0"/>
                <a:ea typeface="Calibri" pitchFamily="34" charset="-122"/>
                <a:cs typeface="Calibri" pitchFamily="34" charset="-120"/>
              </a:rPr>
              <a:t>State, gate status, blocked items with owners and age, next action</a:t>
            </a:r>
            <a:endParaRPr lang="en-US" sz="680" dirty="0"/>
          </a:p>
        </p:txBody>
      </p:sp>
      <p:sp>
        <p:nvSpPr>
          <p:cNvPr id="42" name="Text 40"/>
          <p:cNvSpPr txBox="1"/>
          <p:nvPr/>
        </p:nvSpPr>
        <p:spPr>
          <a:xfrm>
            <a:off x="6336792" y="2999232"/>
            <a:ext cx="2304288" cy="256032"/>
          </a:xfrm>
          <a:prstGeom prst="rect">
            <a:avLst/>
          </a:prstGeom>
          <a:noFill/>
          <a:ln/>
        </p:spPr>
        <p:txBody>
          <a:bodyPr wrap="square" lIns="0" tIns="0" rIns="0" bIns="0" rtlCol="0" anchor="ctr"/>
          <a:lstStyle/>
          <a:p>
            <a:pPr indent="0" marL="0">
              <a:buNone/>
            </a:pPr>
            <a:r>
              <a:rPr lang="en-US" sz="740" b="1" dirty="0">
                <a:solidFill>
                  <a:srgbClr val="1B2432"/>
                </a:solidFill>
                <a:latin typeface="Calibri" pitchFamily="34" charset="0"/>
                <a:ea typeface="Calibri" pitchFamily="34" charset="-122"/>
                <a:cs typeface="Calibri" pitchFamily="34" charset="-120"/>
              </a:rPr>
              <a:t>Drift Detector v1</a:t>
            </a:r>
            <a:endParaRPr lang="en-US" sz="740" dirty="0"/>
          </a:p>
        </p:txBody>
      </p:sp>
      <p:sp>
        <p:nvSpPr>
          <p:cNvPr id="43" name="Text 41"/>
          <p:cNvSpPr txBox="1"/>
          <p:nvPr/>
        </p:nvSpPr>
        <p:spPr>
          <a:xfrm>
            <a:off x="8695944" y="2999232"/>
            <a:ext cx="2889504" cy="256032"/>
          </a:xfrm>
          <a:prstGeom prst="rect">
            <a:avLst/>
          </a:prstGeom>
          <a:noFill/>
          <a:ln/>
        </p:spPr>
        <p:txBody>
          <a:bodyPr wrap="square" lIns="0" tIns="0" rIns="0" bIns="0" rtlCol="0" anchor="ctr"/>
          <a:lstStyle/>
          <a:p>
            <a:pPr indent="0" marL="0">
              <a:lnSpc>
                <a:spcPts val="780"/>
              </a:lnSpc>
              <a:buNone/>
            </a:pPr>
            <a:r>
              <a:rPr lang="en-US" sz="680" dirty="0">
                <a:solidFill>
                  <a:srgbClr val="55606E"/>
                </a:solidFill>
                <a:latin typeface="Calibri" pitchFamily="34" charset="0"/>
                <a:ea typeface="Calibri" pitchFamily="34" charset="-122"/>
                <a:cs typeface="Calibri" pitchFamily="34" charset="-120"/>
              </a:rPr>
              <a:t>Escalation triggers evaluated automatically</a:t>
            </a:r>
            <a:endParaRPr lang="en-US" sz="680" dirty="0"/>
          </a:p>
        </p:txBody>
      </p:sp>
      <p:sp>
        <p:nvSpPr>
          <p:cNvPr id="44" name="Text 42"/>
          <p:cNvSpPr txBox="1"/>
          <p:nvPr/>
        </p:nvSpPr>
        <p:spPr>
          <a:xfrm>
            <a:off x="6336792" y="3273552"/>
            <a:ext cx="2304288" cy="256032"/>
          </a:xfrm>
          <a:prstGeom prst="rect">
            <a:avLst/>
          </a:prstGeom>
          <a:noFill/>
          <a:ln/>
        </p:spPr>
        <p:txBody>
          <a:bodyPr wrap="square" lIns="0" tIns="0" rIns="0" bIns="0" rtlCol="0" anchor="ctr"/>
          <a:lstStyle/>
          <a:p>
            <a:pPr indent="0" marL="0">
              <a:buNone/>
            </a:pPr>
            <a:r>
              <a:rPr lang="en-US" sz="740" b="1" dirty="0">
                <a:solidFill>
                  <a:srgbClr val="1B2432"/>
                </a:solidFill>
                <a:latin typeface="Calibri" pitchFamily="34" charset="0"/>
                <a:ea typeface="Calibri" pitchFamily="34" charset="-122"/>
                <a:cs typeface="Calibri" pitchFamily="34" charset="-120"/>
              </a:rPr>
              <a:t>Leadership dashboard v1</a:t>
            </a:r>
            <a:endParaRPr lang="en-US" sz="740" dirty="0"/>
          </a:p>
        </p:txBody>
      </p:sp>
      <p:sp>
        <p:nvSpPr>
          <p:cNvPr id="45" name="Text 43"/>
          <p:cNvSpPr txBox="1"/>
          <p:nvPr/>
        </p:nvSpPr>
        <p:spPr>
          <a:xfrm>
            <a:off x="8695944" y="3273552"/>
            <a:ext cx="2889504" cy="256032"/>
          </a:xfrm>
          <a:prstGeom prst="rect">
            <a:avLst/>
          </a:prstGeom>
          <a:noFill/>
          <a:ln/>
        </p:spPr>
        <p:txBody>
          <a:bodyPr wrap="square" lIns="0" tIns="0" rIns="0" bIns="0" rtlCol="0" anchor="ctr"/>
          <a:lstStyle/>
          <a:p>
            <a:pPr indent="0" marL="0">
              <a:lnSpc>
                <a:spcPts val="780"/>
              </a:lnSpc>
              <a:buNone/>
            </a:pPr>
            <a:r>
              <a:rPr lang="en-US" sz="680" dirty="0">
                <a:solidFill>
                  <a:srgbClr val="55606E"/>
                </a:solidFill>
                <a:latin typeface="Calibri" pitchFamily="34" charset="0"/>
                <a:ea typeface="Calibri" pitchFamily="34" charset="-122"/>
                <a:cs typeface="Calibri" pitchFamily="34" charset="-120"/>
              </a:rPr>
              <a:t>Distribution, dwell time, escalation rate, gate failure, clinic demand</a:t>
            </a:r>
            <a:endParaRPr lang="en-US" sz="680" dirty="0"/>
          </a:p>
        </p:txBody>
      </p:sp>
      <p:sp>
        <p:nvSpPr>
          <p:cNvPr id="46" name="Text 44"/>
          <p:cNvSpPr txBox="1"/>
          <p:nvPr/>
        </p:nvSpPr>
        <p:spPr>
          <a:xfrm>
            <a:off x="6336792" y="3547872"/>
            <a:ext cx="2304288" cy="256032"/>
          </a:xfrm>
          <a:prstGeom prst="rect">
            <a:avLst/>
          </a:prstGeom>
          <a:noFill/>
          <a:ln/>
        </p:spPr>
        <p:txBody>
          <a:bodyPr wrap="square" lIns="0" tIns="0" rIns="0" bIns="0" rtlCol="0" anchor="ctr"/>
          <a:lstStyle/>
          <a:p>
            <a:pPr indent="0" marL="0">
              <a:buNone/>
            </a:pPr>
            <a:r>
              <a:rPr lang="en-US" sz="740" b="1" dirty="0">
                <a:solidFill>
                  <a:srgbClr val="1B2432"/>
                </a:solidFill>
                <a:latin typeface="Calibri" pitchFamily="34" charset="0"/>
                <a:ea typeface="Calibri" pitchFamily="34" charset="-122"/>
                <a:cs typeface="Calibri" pitchFamily="34" charset="-120"/>
              </a:rPr>
              <a:t>First Lean intake completed</a:t>
            </a:r>
            <a:endParaRPr lang="en-US" sz="740" dirty="0"/>
          </a:p>
        </p:txBody>
      </p:sp>
      <p:sp>
        <p:nvSpPr>
          <p:cNvPr id="47" name="Text 45"/>
          <p:cNvSpPr txBox="1"/>
          <p:nvPr/>
        </p:nvSpPr>
        <p:spPr>
          <a:xfrm>
            <a:off x="8695944" y="3547872"/>
            <a:ext cx="2889504" cy="256032"/>
          </a:xfrm>
          <a:prstGeom prst="rect">
            <a:avLst/>
          </a:prstGeom>
          <a:noFill/>
          <a:ln/>
        </p:spPr>
        <p:txBody>
          <a:bodyPr wrap="square" lIns="0" tIns="0" rIns="0" bIns="0" rtlCol="0" anchor="ctr"/>
          <a:lstStyle/>
          <a:p>
            <a:pPr indent="0" marL="0">
              <a:lnSpc>
                <a:spcPts val="780"/>
              </a:lnSpc>
              <a:buNone/>
            </a:pPr>
            <a:r>
              <a:rPr lang="en-US" sz="680" dirty="0">
                <a:solidFill>
                  <a:srgbClr val="55606E"/>
                </a:solidFill>
                <a:latin typeface="Calibri" pitchFamily="34" charset="0"/>
                <a:ea typeface="Calibri" pitchFamily="34" charset="-122"/>
                <a:cs typeface="Calibri" pitchFamily="34" charset="-120"/>
              </a:rPr>
              <a:t>One partner, end to end, no allocated capacity</a:t>
            </a:r>
            <a:endParaRPr lang="en-US" sz="680" dirty="0"/>
          </a:p>
        </p:txBody>
      </p:sp>
      <p:sp>
        <p:nvSpPr>
          <p:cNvPr id="48" name="Text 46"/>
          <p:cNvSpPr txBox="1"/>
          <p:nvPr/>
        </p:nvSpPr>
        <p:spPr>
          <a:xfrm>
            <a:off x="6336792" y="3822192"/>
            <a:ext cx="2304288" cy="256032"/>
          </a:xfrm>
          <a:prstGeom prst="rect">
            <a:avLst/>
          </a:prstGeom>
          <a:noFill/>
          <a:ln/>
        </p:spPr>
        <p:txBody>
          <a:bodyPr wrap="square" lIns="0" tIns="0" rIns="0" bIns="0" rtlCol="0" anchor="ctr"/>
          <a:lstStyle/>
          <a:p>
            <a:pPr indent="0" marL="0">
              <a:buNone/>
            </a:pPr>
            <a:r>
              <a:rPr lang="en-US" sz="740" b="1" dirty="0">
                <a:solidFill>
                  <a:srgbClr val="1B2432"/>
                </a:solidFill>
                <a:latin typeface="Calibri" pitchFamily="34" charset="0"/>
                <a:ea typeface="Calibri" pitchFamily="34" charset="-122"/>
                <a:cs typeface="Calibri" pitchFamily="34" charset="-120"/>
              </a:rPr>
              <a:t>Adoption push</a:t>
            </a:r>
            <a:endParaRPr lang="en-US" sz="740" dirty="0"/>
          </a:p>
        </p:txBody>
      </p:sp>
      <p:sp>
        <p:nvSpPr>
          <p:cNvPr id="49" name="Text 47"/>
          <p:cNvSpPr txBox="1"/>
          <p:nvPr/>
        </p:nvSpPr>
        <p:spPr>
          <a:xfrm>
            <a:off x="8695944" y="3822192"/>
            <a:ext cx="2889504" cy="256032"/>
          </a:xfrm>
          <a:prstGeom prst="rect">
            <a:avLst/>
          </a:prstGeom>
          <a:noFill/>
          <a:ln/>
        </p:spPr>
        <p:txBody>
          <a:bodyPr wrap="square" lIns="0" tIns="0" rIns="0" bIns="0" rtlCol="0" anchor="ctr"/>
          <a:lstStyle/>
          <a:p>
            <a:pPr indent="0" marL="0">
              <a:lnSpc>
                <a:spcPts val="780"/>
              </a:lnSpc>
              <a:buNone/>
            </a:pPr>
            <a:r>
              <a:rPr lang="en-US" sz="680" dirty="0">
                <a:solidFill>
                  <a:srgbClr val="55606E"/>
                </a:solidFill>
                <a:latin typeface="Calibri" pitchFamily="34" charset="0"/>
                <a:ea typeface="Calibri" pitchFamily="34" charset="-122"/>
                <a:cs typeface="Calibri" pitchFamily="34" charset="-120"/>
              </a:rPr>
              <a:t>Wider partner comms; squads on the new rhythm; in-flight intakes left alone</a:t>
            </a:r>
            <a:endParaRPr lang="en-US" sz="680" dirty="0"/>
          </a:p>
        </p:txBody>
      </p:sp>
      <p:sp>
        <p:nvSpPr>
          <p:cNvPr id="50" name="Text 48"/>
          <p:cNvSpPr txBox="1"/>
          <p:nvPr/>
        </p:nvSpPr>
        <p:spPr>
          <a:xfrm>
            <a:off x="411480" y="4370832"/>
            <a:ext cx="10972800" cy="182880"/>
          </a:xfrm>
          <a:prstGeom prst="rect">
            <a:avLst/>
          </a:prstGeom>
          <a:noFill/>
          <a:ln/>
        </p:spPr>
        <p:txBody>
          <a:bodyPr wrap="square" lIns="0" tIns="0" rIns="0" bIns="0" rtlCol="0" anchor="ctr"/>
          <a:lstStyle/>
          <a:p>
            <a:pPr indent="0" marL="0">
              <a:buNone/>
            </a:pPr>
            <a:r>
              <a:rPr lang="en-US" sz="760" b="1" spc="110" kern="0" dirty="0">
                <a:solidFill>
                  <a:srgbClr val="A44A2A"/>
                </a:solidFill>
                <a:latin typeface="Calibri" pitchFamily="34" charset="0"/>
                <a:ea typeface="Calibri" pitchFamily="34" charset="-122"/>
                <a:cs typeface="Calibri" pitchFamily="34" charset="-120"/>
              </a:rPr>
              <a:t>DELIBERATELY NOT ATTEMPTED IN FOUR SPRINTS — SCOPE DISCIPLINE</a:t>
            </a:r>
            <a:endParaRPr lang="en-US" sz="760" dirty="0"/>
          </a:p>
        </p:txBody>
      </p:sp>
      <p:sp>
        <p:nvSpPr>
          <p:cNvPr id="51" name="Shape 49"/>
          <p:cNvSpPr/>
          <p:nvPr/>
        </p:nvSpPr>
        <p:spPr>
          <a:xfrm>
            <a:off x="411480" y="4572000"/>
            <a:ext cx="2743200" cy="402336"/>
          </a:xfrm>
          <a:prstGeom prst="roundRect">
            <a:avLst>
              <a:gd name="adj" fmla="val 6818"/>
            </a:avLst>
          </a:prstGeom>
          <a:solidFill>
            <a:srgbClr val="F4F7FA"/>
          </a:solidFill>
          <a:ln w="10160">
            <a:solidFill>
              <a:srgbClr val="D4DAE2"/>
            </a:solidFill>
            <a:prstDash val="solid"/>
          </a:ln>
        </p:spPr>
      </p:sp>
      <p:sp>
        <p:nvSpPr>
          <p:cNvPr id="52" name="Text 50"/>
          <p:cNvSpPr txBox="1"/>
          <p:nvPr/>
        </p:nvSpPr>
        <p:spPr>
          <a:xfrm>
            <a:off x="502920" y="4608576"/>
            <a:ext cx="2560320" cy="182880"/>
          </a:xfrm>
          <a:prstGeom prst="rect">
            <a:avLst/>
          </a:prstGeom>
          <a:noFill/>
          <a:ln/>
        </p:spPr>
        <p:txBody>
          <a:bodyPr wrap="square" lIns="0" tIns="0" rIns="0" bIns="0" rtlCol="0" anchor="ctr"/>
          <a:lstStyle/>
          <a:p>
            <a:pPr indent="0" marL="0">
              <a:buNone/>
            </a:pPr>
            <a:r>
              <a:rPr lang="en-US" sz="720" b="1" dirty="0">
                <a:solidFill>
                  <a:srgbClr val="1B2432"/>
                </a:solidFill>
                <a:latin typeface="Calibri" pitchFamily="34" charset="0"/>
                <a:ea typeface="Calibri" pitchFamily="34" charset="-122"/>
                <a:cs typeface="Calibri" pitchFamily="34" charset="-120"/>
              </a:rPr>
              <a:t>Deep integration with every downstream system</a:t>
            </a:r>
            <a:endParaRPr lang="en-US" sz="720" dirty="0"/>
          </a:p>
        </p:txBody>
      </p:sp>
      <p:sp>
        <p:nvSpPr>
          <p:cNvPr id="53" name="Text 51"/>
          <p:cNvSpPr txBox="1"/>
          <p:nvPr/>
        </p:nvSpPr>
        <p:spPr>
          <a:xfrm>
            <a:off x="502920" y="4773168"/>
            <a:ext cx="2560320" cy="182880"/>
          </a:xfrm>
          <a:prstGeom prst="rect">
            <a:avLst/>
          </a:prstGeom>
          <a:noFill/>
          <a:ln/>
        </p:spPr>
        <p:txBody>
          <a:bodyPr wrap="square" lIns="0" tIns="0" rIns="0" bIns="0" rtlCol="0" anchor="ctr"/>
          <a:lstStyle/>
          <a:p>
            <a:pPr indent="0" marL="0">
              <a:buNone/>
            </a:pPr>
            <a:r>
              <a:rPr lang="en-US" sz="660" dirty="0">
                <a:solidFill>
                  <a:srgbClr val="55606E"/>
                </a:solidFill>
                <a:latin typeface="Calibri" pitchFamily="34" charset="0"/>
                <a:ea typeface="Calibri" pitchFamily="34" charset="-122"/>
                <a:cs typeface="Calibri" pitchFamily="34" charset="-120"/>
              </a:rPr>
              <a:t>Generation and rules deliver most of the value first</a:t>
            </a:r>
            <a:endParaRPr lang="en-US" sz="660" dirty="0"/>
          </a:p>
        </p:txBody>
      </p:sp>
      <p:sp>
        <p:nvSpPr>
          <p:cNvPr id="54" name="Shape 52"/>
          <p:cNvSpPr/>
          <p:nvPr/>
        </p:nvSpPr>
        <p:spPr>
          <a:xfrm>
            <a:off x="3291840" y="4572000"/>
            <a:ext cx="2743200" cy="402336"/>
          </a:xfrm>
          <a:prstGeom prst="roundRect">
            <a:avLst>
              <a:gd name="adj" fmla="val 6818"/>
            </a:avLst>
          </a:prstGeom>
          <a:solidFill>
            <a:srgbClr val="F4F7FA"/>
          </a:solidFill>
          <a:ln w="10160">
            <a:solidFill>
              <a:srgbClr val="D4DAE2"/>
            </a:solidFill>
            <a:prstDash val="solid"/>
          </a:ln>
        </p:spPr>
      </p:sp>
      <p:sp>
        <p:nvSpPr>
          <p:cNvPr id="55" name="Text 53"/>
          <p:cNvSpPr txBox="1"/>
          <p:nvPr/>
        </p:nvSpPr>
        <p:spPr>
          <a:xfrm>
            <a:off x="3383280" y="4608576"/>
            <a:ext cx="2560320" cy="182880"/>
          </a:xfrm>
          <a:prstGeom prst="rect">
            <a:avLst/>
          </a:prstGeom>
          <a:noFill/>
          <a:ln/>
        </p:spPr>
        <p:txBody>
          <a:bodyPr wrap="square" lIns="0" tIns="0" rIns="0" bIns="0" rtlCol="0" anchor="ctr"/>
          <a:lstStyle/>
          <a:p>
            <a:pPr indent="0" marL="0">
              <a:buNone/>
            </a:pPr>
            <a:r>
              <a:rPr lang="en-US" sz="720" b="1" dirty="0">
                <a:solidFill>
                  <a:srgbClr val="1B2432"/>
                </a:solidFill>
                <a:latin typeface="Calibri" pitchFamily="34" charset="0"/>
                <a:ea typeface="Calibri" pitchFamily="34" charset="-122"/>
                <a:cs typeface="Calibri" pitchFamily="34" charset="-120"/>
              </a:rPr>
              <a:t>All 38 patterns</a:t>
            </a:r>
            <a:endParaRPr lang="en-US" sz="720" dirty="0"/>
          </a:p>
        </p:txBody>
      </p:sp>
      <p:sp>
        <p:nvSpPr>
          <p:cNvPr id="56" name="Text 54"/>
          <p:cNvSpPr txBox="1"/>
          <p:nvPr/>
        </p:nvSpPr>
        <p:spPr>
          <a:xfrm>
            <a:off x="3383280" y="4773168"/>
            <a:ext cx="2560320" cy="182880"/>
          </a:xfrm>
          <a:prstGeom prst="rect">
            <a:avLst/>
          </a:prstGeom>
          <a:noFill/>
          <a:ln/>
        </p:spPr>
        <p:txBody>
          <a:bodyPr wrap="square" lIns="0" tIns="0" rIns="0" bIns="0" rtlCol="0" anchor="ctr"/>
          <a:lstStyle/>
          <a:p>
            <a:pPr indent="0" marL="0">
              <a:buNone/>
            </a:pPr>
            <a:r>
              <a:rPr lang="en-US" sz="660" dirty="0">
                <a:solidFill>
                  <a:srgbClr val="55606E"/>
                </a:solidFill>
                <a:latin typeface="Calibri" pitchFamily="34" charset="0"/>
                <a:ea typeface="Calibri" pitchFamily="34" charset="-122"/>
                <a:cs typeface="Calibri" pitchFamily="34" charset="-120"/>
              </a:rPr>
              <a:t>Three cover a disproportionate share of volume</a:t>
            </a:r>
            <a:endParaRPr lang="en-US" sz="660" dirty="0"/>
          </a:p>
        </p:txBody>
      </p:sp>
      <p:sp>
        <p:nvSpPr>
          <p:cNvPr id="57" name="Shape 55"/>
          <p:cNvSpPr/>
          <p:nvPr/>
        </p:nvSpPr>
        <p:spPr>
          <a:xfrm>
            <a:off x="6172200" y="4572000"/>
            <a:ext cx="2743200" cy="402336"/>
          </a:xfrm>
          <a:prstGeom prst="roundRect">
            <a:avLst>
              <a:gd name="adj" fmla="val 6818"/>
            </a:avLst>
          </a:prstGeom>
          <a:solidFill>
            <a:srgbClr val="F4F7FA"/>
          </a:solidFill>
          <a:ln w="10160">
            <a:solidFill>
              <a:srgbClr val="D4DAE2"/>
            </a:solidFill>
            <a:prstDash val="solid"/>
          </a:ln>
        </p:spPr>
      </p:sp>
      <p:sp>
        <p:nvSpPr>
          <p:cNvPr id="58" name="Text 56"/>
          <p:cNvSpPr txBox="1"/>
          <p:nvPr/>
        </p:nvSpPr>
        <p:spPr>
          <a:xfrm>
            <a:off x="6263640" y="4608576"/>
            <a:ext cx="2560320" cy="182880"/>
          </a:xfrm>
          <a:prstGeom prst="rect">
            <a:avLst/>
          </a:prstGeom>
          <a:noFill/>
          <a:ln/>
        </p:spPr>
        <p:txBody>
          <a:bodyPr wrap="square" lIns="0" tIns="0" rIns="0" bIns="0" rtlCol="0" anchor="ctr"/>
          <a:lstStyle/>
          <a:p>
            <a:pPr indent="0" marL="0">
              <a:buNone/>
            </a:pPr>
            <a:r>
              <a:rPr lang="en-US" sz="720" b="1" dirty="0">
                <a:solidFill>
                  <a:srgbClr val="1B2432"/>
                </a:solidFill>
                <a:latin typeface="Calibri" pitchFamily="34" charset="0"/>
                <a:ea typeface="Calibri" pitchFamily="34" charset="-122"/>
                <a:cs typeface="Calibri" pitchFamily="34" charset="-120"/>
              </a:rPr>
              <a:t>A full partner portal</a:t>
            </a:r>
            <a:endParaRPr lang="en-US" sz="720" dirty="0"/>
          </a:p>
        </p:txBody>
      </p:sp>
      <p:sp>
        <p:nvSpPr>
          <p:cNvPr id="59" name="Text 57"/>
          <p:cNvSpPr txBox="1"/>
          <p:nvPr/>
        </p:nvSpPr>
        <p:spPr>
          <a:xfrm>
            <a:off x="6263640" y="4773168"/>
            <a:ext cx="2560320" cy="182880"/>
          </a:xfrm>
          <a:prstGeom prst="rect">
            <a:avLst/>
          </a:prstGeom>
          <a:noFill/>
          <a:ln/>
        </p:spPr>
        <p:txBody>
          <a:bodyPr wrap="square" lIns="0" tIns="0" rIns="0" bIns="0" rtlCol="0" anchor="ctr"/>
          <a:lstStyle/>
          <a:p>
            <a:pPr indent="0" marL="0">
              <a:buNone/>
            </a:pPr>
            <a:r>
              <a:rPr lang="en-US" sz="660" dirty="0">
                <a:solidFill>
                  <a:srgbClr val="55606E"/>
                </a:solidFill>
                <a:latin typeface="Calibri" pitchFamily="34" charset="0"/>
                <a:ea typeface="Calibri" pitchFamily="34" charset="-122"/>
                <a:cs typeface="Calibri" pitchFamily="34" charset="-120"/>
              </a:rPr>
              <a:t>The cockpit is a state view, not a product</a:t>
            </a:r>
            <a:endParaRPr lang="en-US" sz="660" dirty="0"/>
          </a:p>
        </p:txBody>
      </p:sp>
      <p:sp>
        <p:nvSpPr>
          <p:cNvPr id="60" name="Shape 58"/>
          <p:cNvSpPr/>
          <p:nvPr/>
        </p:nvSpPr>
        <p:spPr>
          <a:xfrm>
            <a:off x="9052560" y="4572000"/>
            <a:ext cx="2743200" cy="402336"/>
          </a:xfrm>
          <a:prstGeom prst="roundRect">
            <a:avLst>
              <a:gd name="adj" fmla="val 6818"/>
            </a:avLst>
          </a:prstGeom>
          <a:solidFill>
            <a:srgbClr val="F4F7FA"/>
          </a:solidFill>
          <a:ln w="10160">
            <a:solidFill>
              <a:srgbClr val="D4DAE2"/>
            </a:solidFill>
            <a:prstDash val="solid"/>
          </a:ln>
        </p:spPr>
      </p:sp>
      <p:sp>
        <p:nvSpPr>
          <p:cNvPr id="61" name="Text 59"/>
          <p:cNvSpPr txBox="1"/>
          <p:nvPr/>
        </p:nvSpPr>
        <p:spPr>
          <a:xfrm>
            <a:off x="9144000" y="4608576"/>
            <a:ext cx="2560320" cy="182880"/>
          </a:xfrm>
          <a:prstGeom prst="rect">
            <a:avLst/>
          </a:prstGeom>
          <a:noFill/>
          <a:ln/>
        </p:spPr>
        <p:txBody>
          <a:bodyPr wrap="square" lIns="0" tIns="0" rIns="0" bIns="0" rtlCol="0" anchor="ctr"/>
          <a:lstStyle/>
          <a:p>
            <a:pPr indent="0" marL="0">
              <a:buNone/>
            </a:pPr>
            <a:r>
              <a:rPr lang="en-US" sz="720" b="1" dirty="0">
                <a:solidFill>
                  <a:srgbClr val="1B2432"/>
                </a:solidFill>
                <a:latin typeface="Calibri" pitchFamily="34" charset="0"/>
                <a:ea typeface="Calibri" pitchFamily="34" charset="-122"/>
                <a:cs typeface="Calibri" pitchFamily="34" charset="-120"/>
              </a:rPr>
              <a:t>Retiring any existing tooling</a:t>
            </a:r>
            <a:endParaRPr lang="en-US" sz="720" dirty="0"/>
          </a:p>
        </p:txBody>
      </p:sp>
      <p:sp>
        <p:nvSpPr>
          <p:cNvPr id="62" name="Text 60"/>
          <p:cNvSpPr txBox="1"/>
          <p:nvPr/>
        </p:nvSpPr>
        <p:spPr>
          <a:xfrm>
            <a:off x="9144000" y="4773168"/>
            <a:ext cx="2560320" cy="182880"/>
          </a:xfrm>
          <a:prstGeom prst="rect">
            <a:avLst/>
          </a:prstGeom>
          <a:noFill/>
          <a:ln/>
        </p:spPr>
        <p:txBody>
          <a:bodyPr wrap="square" lIns="0" tIns="0" rIns="0" bIns="0" rtlCol="0" anchor="ctr"/>
          <a:lstStyle/>
          <a:p>
            <a:pPr indent="0" marL="0">
              <a:buNone/>
            </a:pPr>
            <a:r>
              <a:rPr lang="en-US" sz="660" dirty="0">
                <a:solidFill>
                  <a:srgbClr val="55606E"/>
                </a:solidFill>
                <a:latin typeface="Calibri" pitchFamily="34" charset="0"/>
                <a:ea typeface="Calibri" pitchFamily="34" charset="-122"/>
                <a:cs typeface="Calibri" pitchFamily="34" charset="-120"/>
              </a:rPr>
              <a:t>Nothing is switched off in eight weeks</a:t>
            </a:r>
            <a:endParaRPr lang="en-US" sz="660" dirty="0"/>
          </a:p>
        </p:txBody>
      </p:sp>
      <p:sp>
        <p:nvSpPr>
          <p:cNvPr id="63" name="Shape 61"/>
          <p:cNvSpPr/>
          <p:nvPr/>
        </p:nvSpPr>
        <p:spPr>
          <a:xfrm>
            <a:off x="411480" y="5029200"/>
            <a:ext cx="2743200" cy="402336"/>
          </a:xfrm>
          <a:prstGeom prst="roundRect">
            <a:avLst>
              <a:gd name="adj" fmla="val 6818"/>
            </a:avLst>
          </a:prstGeom>
          <a:solidFill>
            <a:srgbClr val="F4F7FA"/>
          </a:solidFill>
          <a:ln w="10160">
            <a:solidFill>
              <a:srgbClr val="D4DAE2"/>
            </a:solidFill>
            <a:prstDash val="solid"/>
          </a:ln>
        </p:spPr>
      </p:sp>
      <p:sp>
        <p:nvSpPr>
          <p:cNvPr id="64" name="Text 62"/>
          <p:cNvSpPr txBox="1"/>
          <p:nvPr/>
        </p:nvSpPr>
        <p:spPr>
          <a:xfrm>
            <a:off x="502920" y="5065776"/>
            <a:ext cx="2560320" cy="182880"/>
          </a:xfrm>
          <a:prstGeom prst="rect">
            <a:avLst/>
          </a:prstGeom>
          <a:noFill/>
          <a:ln/>
        </p:spPr>
        <p:txBody>
          <a:bodyPr wrap="square" lIns="0" tIns="0" rIns="0" bIns="0" rtlCol="0" anchor="ctr"/>
          <a:lstStyle/>
          <a:p>
            <a:pPr indent="0" marL="0">
              <a:buNone/>
            </a:pPr>
            <a:r>
              <a:rPr lang="en-US" sz="720" b="1" dirty="0">
                <a:solidFill>
                  <a:srgbClr val="1B2432"/>
                </a:solidFill>
                <a:latin typeface="Calibri" pitchFamily="34" charset="0"/>
                <a:ea typeface="Calibri" pitchFamily="34" charset="-122"/>
                <a:cs typeface="Calibri" pitchFamily="34" charset="-120"/>
              </a:rPr>
              <a:t>Migrating in-flight intakes</a:t>
            </a:r>
            <a:endParaRPr lang="en-US" sz="720" dirty="0"/>
          </a:p>
        </p:txBody>
      </p:sp>
      <p:sp>
        <p:nvSpPr>
          <p:cNvPr id="65" name="Text 63"/>
          <p:cNvSpPr txBox="1"/>
          <p:nvPr/>
        </p:nvSpPr>
        <p:spPr>
          <a:xfrm>
            <a:off x="502920" y="5230368"/>
            <a:ext cx="2560320" cy="182880"/>
          </a:xfrm>
          <a:prstGeom prst="rect">
            <a:avLst/>
          </a:prstGeom>
          <a:noFill/>
          <a:ln/>
        </p:spPr>
        <p:txBody>
          <a:bodyPr wrap="square" lIns="0" tIns="0" rIns="0" bIns="0" rtlCol="0" anchor="ctr"/>
          <a:lstStyle/>
          <a:p>
            <a:pPr indent="0" marL="0">
              <a:buNone/>
            </a:pPr>
            <a:r>
              <a:rPr lang="en-US" sz="660" dirty="0">
                <a:solidFill>
                  <a:srgbClr val="55606E"/>
                </a:solidFill>
                <a:latin typeface="Calibri" pitchFamily="34" charset="0"/>
                <a:ea typeface="Calibri" pitchFamily="34" charset="-122"/>
                <a:cs typeface="Calibri" pitchFamily="34" charset="-120"/>
              </a:rPr>
              <a:t>Partners mid-delivery are left alone</a:t>
            </a:r>
            <a:endParaRPr lang="en-US" sz="660" dirty="0"/>
          </a:p>
        </p:txBody>
      </p:sp>
      <p:sp>
        <p:nvSpPr>
          <p:cNvPr id="66" name="Shape 64"/>
          <p:cNvSpPr/>
          <p:nvPr/>
        </p:nvSpPr>
        <p:spPr>
          <a:xfrm>
            <a:off x="3291840" y="5029200"/>
            <a:ext cx="2743200" cy="402336"/>
          </a:xfrm>
          <a:prstGeom prst="roundRect">
            <a:avLst>
              <a:gd name="adj" fmla="val 6818"/>
            </a:avLst>
          </a:prstGeom>
          <a:solidFill>
            <a:srgbClr val="F4F7FA"/>
          </a:solidFill>
          <a:ln w="10160">
            <a:solidFill>
              <a:srgbClr val="D4DAE2"/>
            </a:solidFill>
            <a:prstDash val="solid"/>
          </a:ln>
        </p:spPr>
      </p:sp>
      <p:sp>
        <p:nvSpPr>
          <p:cNvPr id="67" name="Text 65"/>
          <p:cNvSpPr txBox="1"/>
          <p:nvPr/>
        </p:nvSpPr>
        <p:spPr>
          <a:xfrm>
            <a:off x="3383280" y="5065776"/>
            <a:ext cx="2560320" cy="182880"/>
          </a:xfrm>
          <a:prstGeom prst="rect">
            <a:avLst/>
          </a:prstGeom>
          <a:noFill/>
          <a:ln/>
        </p:spPr>
        <p:txBody>
          <a:bodyPr wrap="square" lIns="0" tIns="0" rIns="0" bIns="0" rtlCol="0" anchor="ctr"/>
          <a:lstStyle/>
          <a:p>
            <a:pPr indent="0" marL="0">
              <a:buNone/>
            </a:pPr>
            <a:r>
              <a:rPr lang="en-US" sz="720" b="1" dirty="0">
                <a:solidFill>
                  <a:srgbClr val="1B2432"/>
                </a:solidFill>
                <a:latin typeface="Calibri" pitchFamily="34" charset="0"/>
                <a:ea typeface="Calibri" pitchFamily="34" charset="-122"/>
                <a:cs typeface="Calibri" pitchFamily="34" charset="-120"/>
              </a:rPr>
              <a:t>The Migration Factory</a:t>
            </a:r>
            <a:endParaRPr lang="en-US" sz="720" dirty="0"/>
          </a:p>
        </p:txBody>
      </p:sp>
      <p:sp>
        <p:nvSpPr>
          <p:cNvPr id="68" name="Text 66"/>
          <p:cNvSpPr txBox="1"/>
          <p:nvPr/>
        </p:nvSpPr>
        <p:spPr>
          <a:xfrm>
            <a:off x="3383280" y="5230368"/>
            <a:ext cx="2560320" cy="182880"/>
          </a:xfrm>
          <a:prstGeom prst="rect">
            <a:avLst/>
          </a:prstGeom>
          <a:noFill/>
          <a:ln/>
        </p:spPr>
        <p:txBody>
          <a:bodyPr wrap="square" lIns="0" tIns="0" rIns="0" bIns="0" rtlCol="0" anchor="ctr"/>
          <a:lstStyle/>
          <a:p>
            <a:pPr indent="0" marL="0">
              <a:buNone/>
            </a:pPr>
            <a:r>
              <a:rPr lang="en-US" sz="660" dirty="0">
                <a:solidFill>
                  <a:srgbClr val="55606E"/>
                </a:solidFill>
                <a:latin typeface="Calibri" pitchFamily="34" charset="0"/>
                <a:ea typeface="Calibri" pitchFamily="34" charset="-122"/>
                <a:cs typeface="Calibri" pitchFamily="34" charset="-120"/>
              </a:rPr>
              <a:t>Important, but separable — starts after onboarding is proven</a:t>
            </a:r>
            <a:endParaRPr lang="en-US" sz="660" dirty="0"/>
          </a:p>
        </p:txBody>
      </p:sp>
      <p:sp>
        <p:nvSpPr>
          <p:cNvPr id="69" name="Shape 67"/>
          <p:cNvSpPr/>
          <p:nvPr/>
        </p:nvSpPr>
        <p:spPr>
          <a:xfrm>
            <a:off x="6172200" y="5029200"/>
            <a:ext cx="2743200" cy="402336"/>
          </a:xfrm>
          <a:prstGeom prst="roundRect">
            <a:avLst>
              <a:gd name="adj" fmla="val 6818"/>
            </a:avLst>
          </a:prstGeom>
          <a:solidFill>
            <a:srgbClr val="F4F7FA"/>
          </a:solidFill>
          <a:ln w="10160">
            <a:solidFill>
              <a:srgbClr val="D4DAE2"/>
            </a:solidFill>
            <a:prstDash val="solid"/>
          </a:ln>
        </p:spPr>
      </p:sp>
      <p:sp>
        <p:nvSpPr>
          <p:cNvPr id="70" name="Text 68"/>
          <p:cNvSpPr txBox="1"/>
          <p:nvPr/>
        </p:nvSpPr>
        <p:spPr>
          <a:xfrm>
            <a:off x="6263640" y="5065776"/>
            <a:ext cx="2560320" cy="182880"/>
          </a:xfrm>
          <a:prstGeom prst="rect">
            <a:avLst/>
          </a:prstGeom>
          <a:noFill/>
          <a:ln/>
        </p:spPr>
        <p:txBody>
          <a:bodyPr wrap="square" lIns="0" tIns="0" rIns="0" bIns="0" rtlCol="0" anchor="ctr"/>
          <a:lstStyle/>
          <a:p>
            <a:pPr indent="0" marL="0">
              <a:buNone/>
            </a:pPr>
            <a:r>
              <a:rPr lang="en-US" sz="720" b="1" dirty="0">
                <a:solidFill>
                  <a:srgbClr val="1B2432"/>
                </a:solidFill>
                <a:latin typeface="Calibri" pitchFamily="34" charset="0"/>
                <a:ea typeface="Calibri" pitchFamily="34" charset="-122"/>
                <a:cs typeface="Calibri" pitchFamily="34" charset="-120"/>
              </a:rPr>
              <a:t>Full team re-organisation</a:t>
            </a:r>
            <a:endParaRPr lang="en-US" sz="720" dirty="0"/>
          </a:p>
        </p:txBody>
      </p:sp>
      <p:sp>
        <p:nvSpPr>
          <p:cNvPr id="71" name="Text 69"/>
          <p:cNvSpPr txBox="1"/>
          <p:nvPr/>
        </p:nvSpPr>
        <p:spPr>
          <a:xfrm>
            <a:off x="6263640" y="5230368"/>
            <a:ext cx="2560320" cy="182880"/>
          </a:xfrm>
          <a:prstGeom prst="rect">
            <a:avLst/>
          </a:prstGeom>
          <a:noFill/>
          <a:ln/>
        </p:spPr>
        <p:txBody>
          <a:bodyPr wrap="square" lIns="0" tIns="0" rIns="0" bIns="0" rtlCol="0" anchor="ctr"/>
          <a:lstStyle/>
          <a:p>
            <a:pPr indent="0" marL="0">
              <a:buNone/>
            </a:pPr>
            <a:r>
              <a:rPr lang="en-US" sz="660" dirty="0">
                <a:solidFill>
                  <a:srgbClr val="55606E"/>
                </a:solidFill>
                <a:latin typeface="Calibri" pitchFamily="34" charset="0"/>
                <a:ea typeface="Calibri" pitchFamily="34" charset="-122"/>
                <a:cs typeface="Calibri" pitchFamily="34" charset="-120"/>
              </a:rPr>
              <a:t>Five or six people prove the model first</a:t>
            </a:r>
            <a:endParaRPr lang="en-US" sz="660" dirty="0"/>
          </a:p>
        </p:txBody>
      </p:sp>
      <p:sp>
        <p:nvSpPr>
          <p:cNvPr id="72" name="Shape 70"/>
          <p:cNvSpPr/>
          <p:nvPr/>
        </p:nvSpPr>
        <p:spPr>
          <a:xfrm>
            <a:off x="9052560" y="5029200"/>
            <a:ext cx="2743200" cy="402336"/>
          </a:xfrm>
          <a:prstGeom prst="roundRect">
            <a:avLst>
              <a:gd name="adj" fmla="val 6818"/>
            </a:avLst>
          </a:prstGeom>
          <a:solidFill>
            <a:srgbClr val="F4F7FA"/>
          </a:solidFill>
          <a:ln w="10160">
            <a:solidFill>
              <a:srgbClr val="D4DAE2"/>
            </a:solidFill>
            <a:prstDash val="solid"/>
          </a:ln>
        </p:spPr>
      </p:sp>
      <p:sp>
        <p:nvSpPr>
          <p:cNvPr id="73" name="Text 71"/>
          <p:cNvSpPr txBox="1"/>
          <p:nvPr/>
        </p:nvSpPr>
        <p:spPr>
          <a:xfrm>
            <a:off x="9144000" y="5065776"/>
            <a:ext cx="2560320" cy="182880"/>
          </a:xfrm>
          <a:prstGeom prst="rect">
            <a:avLst/>
          </a:prstGeom>
          <a:noFill/>
          <a:ln/>
        </p:spPr>
        <p:txBody>
          <a:bodyPr wrap="square" lIns="0" tIns="0" rIns="0" bIns="0" rtlCol="0" anchor="ctr"/>
          <a:lstStyle/>
          <a:p>
            <a:pPr indent="0" marL="0">
              <a:buNone/>
            </a:pPr>
            <a:r>
              <a:rPr lang="en-US" sz="720" b="1" dirty="0">
                <a:solidFill>
                  <a:srgbClr val="1B2432"/>
                </a:solidFill>
                <a:latin typeface="Calibri" pitchFamily="34" charset="0"/>
                <a:ea typeface="Calibri" pitchFamily="34" charset="-122"/>
                <a:cs typeface="Calibri" pitchFamily="34" charset="-120"/>
              </a:rPr>
              <a:t>Headcount commitments</a:t>
            </a:r>
            <a:endParaRPr lang="en-US" sz="720" dirty="0"/>
          </a:p>
        </p:txBody>
      </p:sp>
      <p:sp>
        <p:nvSpPr>
          <p:cNvPr id="74" name="Text 72"/>
          <p:cNvSpPr txBox="1"/>
          <p:nvPr/>
        </p:nvSpPr>
        <p:spPr>
          <a:xfrm>
            <a:off x="9144000" y="5230368"/>
            <a:ext cx="2560320" cy="182880"/>
          </a:xfrm>
          <a:prstGeom prst="rect">
            <a:avLst/>
          </a:prstGeom>
          <a:noFill/>
          <a:ln/>
        </p:spPr>
        <p:txBody>
          <a:bodyPr wrap="square" lIns="0" tIns="0" rIns="0" bIns="0" rtlCol="0" anchor="ctr"/>
          <a:lstStyle/>
          <a:p>
            <a:pPr indent="0" marL="0">
              <a:buNone/>
            </a:pPr>
            <a:r>
              <a:rPr lang="en-US" sz="660" dirty="0">
                <a:solidFill>
                  <a:srgbClr val="55606E"/>
                </a:solidFill>
                <a:latin typeface="Calibri" pitchFamily="34" charset="0"/>
                <a:ea typeface="Calibri" pitchFamily="34" charset="-122"/>
                <a:cs typeface="Calibri" pitchFamily="34" charset="-120"/>
              </a:rPr>
              <a:t>No capacity claim until the baseline exists</a:t>
            </a:r>
            <a:endParaRPr lang="en-US" sz="660" dirty="0"/>
          </a:p>
        </p:txBody>
      </p:sp>
      <p:sp>
        <p:nvSpPr>
          <p:cNvPr id="75" name="Shape 73"/>
          <p:cNvSpPr/>
          <p:nvPr/>
        </p:nvSpPr>
        <p:spPr>
          <a:xfrm>
            <a:off x="411480" y="5596128"/>
            <a:ext cx="11338560" cy="438912"/>
          </a:xfrm>
          <a:prstGeom prst="roundRect">
            <a:avLst>
              <a:gd name="adj" fmla="val 10417"/>
            </a:avLst>
          </a:prstGeom>
          <a:solidFill>
            <a:srgbClr val="FBF0EB"/>
          </a:solidFill>
          <a:ln w="12700">
            <a:solidFill>
              <a:srgbClr val="A44A2A"/>
            </a:solidFill>
            <a:prstDash val="solid"/>
          </a:ln>
        </p:spPr>
      </p:sp>
      <p:sp>
        <p:nvSpPr>
          <p:cNvPr id="76" name="Text 74"/>
          <p:cNvSpPr txBox="1"/>
          <p:nvPr/>
        </p:nvSpPr>
        <p:spPr>
          <a:xfrm>
            <a:off x="557784" y="5596128"/>
            <a:ext cx="11045952" cy="438912"/>
          </a:xfrm>
          <a:prstGeom prst="rect">
            <a:avLst/>
          </a:prstGeom>
          <a:noFill/>
          <a:ln/>
        </p:spPr>
        <p:txBody>
          <a:bodyPr wrap="square" lIns="0" tIns="0" rIns="0" bIns="0" rtlCol="0" anchor="ctr"/>
          <a:lstStyle/>
          <a:p>
            <a:pPr indent="0" marL="0">
              <a:lnSpc>
                <a:spcPts val="1040"/>
              </a:lnSpc>
              <a:buNone/>
            </a:pPr>
            <a:r>
              <a:rPr lang="en-US" sz="860" dirty="0">
                <a:solidFill>
                  <a:srgbClr val="1B2432"/>
                </a:solidFill>
                <a:latin typeface="Calibri" pitchFamily="34" charset="0"/>
                <a:ea typeface="Calibri" pitchFamily="34" charset="-122"/>
                <a:cs typeface="Calibri" pitchFamily="34" charset="-120"/>
              </a:rPr>
              <a:t>Adoption: choose the first three partners deliberately — one high-frequency simple partner who will succeed quickly and generate a reference, one mid-complexity partner who genuinely exercises Lean+, and one known sceptic, because a model that only works with enthusiasts does not work. Never force a tier change on an in-flight intake; that is how the model acquires its first horror story.</a:t>
            </a:r>
            <a:endParaRPr lang="en-US" sz="86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274320"/>
            <a:ext cx="274320" cy="274320"/>
          </a:xfrm>
          <a:prstGeom prst="rect">
            <a:avLst/>
          </a:prstGeom>
          <a:solidFill>
            <a:srgbClr val="15304F"/>
          </a:solidFill>
          <a:ln w="12700">
            <a:solidFill>
              <a:srgbClr val="333333"/>
            </a:solidFill>
            <a:prstDash val="solid"/>
          </a:ln>
        </p:spPr>
      </p:sp>
      <p:sp>
        <p:nvSpPr>
          <p:cNvPr id="3" name="Text 1"/>
          <p:cNvSpPr txBox="1"/>
          <p:nvPr/>
        </p:nvSpPr>
        <p:spPr>
          <a:xfrm>
            <a:off x="411480" y="2743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17</a:t>
            </a:r>
            <a:endParaRPr lang="en-US" sz="1200" dirty="0"/>
          </a:p>
        </p:txBody>
      </p:sp>
      <p:sp>
        <p:nvSpPr>
          <p:cNvPr id="4" name="Text 2"/>
          <p:cNvSpPr txBox="1"/>
          <p:nvPr/>
        </p:nvSpPr>
        <p:spPr>
          <a:xfrm>
            <a:off x="795528" y="219456"/>
            <a:ext cx="8778240" cy="384048"/>
          </a:xfrm>
          <a:prstGeom prst="rect">
            <a:avLst/>
          </a:prstGeom>
          <a:noFill/>
          <a:ln/>
        </p:spPr>
        <p:txBody>
          <a:bodyPr wrap="square" lIns="0" tIns="0" rIns="0" bIns="0" rtlCol="0" anchor="ctr"/>
          <a:lstStyle/>
          <a:p>
            <a:pPr indent="0" marL="0">
              <a:buNone/>
            </a:pPr>
            <a:r>
              <a:rPr lang="en-US" sz="2400" b="1" dirty="0">
                <a:solidFill>
                  <a:srgbClr val="1B2432"/>
                </a:solidFill>
                <a:latin typeface="Cambria" pitchFamily="34" charset="0"/>
                <a:ea typeface="Cambria" pitchFamily="34" charset="-122"/>
                <a:cs typeface="Cambria" pitchFamily="34" charset="-120"/>
              </a:rPr>
              <a:t>Measures, risks and what good looks like</a:t>
            </a:r>
            <a:endParaRPr lang="en-US" sz="2400" dirty="0"/>
          </a:p>
        </p:txBody>
      </p:sp>
      <p:sp>
        <p:nvSpPr>
          <p:cNvPr id="5" name="Text 3"/>
          <p:cNvSpPr txBox="1"/>
          <p:nvPr/>
        </p:nvSpPr>
        <p:spPr>
          <a:xfrm>
            <a:off x="795528" y="621792"/>
            <a:ext cx="9326880" cy="237744"/>
          </a:xfrm>
          <a:prstGeom prst="rect">
            <a:avLst/>
          </a:prstGeom>
          <a:noFill/>
          <a:ln/>
        </p:spPr>
        <p:txBody>
          <a:bodyPr wrap="square" lIns="0" tIns="0" rIns="0" bIns="0" rtlCol="0" anchor="ctr"/>
          <a:lstStyle/>
          <a:p>
            <a:pPr indent="0" marL="0">
              <a:buNone/>
            </a:pPr>
            <a:r>
              <a:rPr lang="en-US" sz="1050" dirty="0">
                <a:solidFill>
                  <a:srgbClr val="55606E"/>
                </a:solidFill>
                <a:latin typeface="Calibri" pitchFamily="34" charset="0"/>
                <a:ea typeface="Calibri" pitchFamily="34" charset="-122"/>
                <a:cs typeface="Calibri" pitchFamily="34" charset="-120"/>
              </a:rPr>
              <a:t>How we will know this is working — and the three ways it fails</a:t>
            </a:r>
            <a:endParaRPr lang="en-US" sz="1050" dirty="0"/>
          </a:p>
        </p:txBody>
      </p:sp>
      <p:sp>
        <p:nvSpPr>
          <p:cNvPr id="6" name="Text 4"/>
          <p:cNvSpPr txBox="1"/>
          <p:nvPr/>
        </p:nvSpPr>
        <p:spPr>
          <a:xfrm>
            <a:off x="9052560" y="274320"/>
            <a:ext cx="2697480" cy="256032"/>
          </a:xfrm>
          <a:prstGeom prst="rect">
            <a:avLst/>
          </a:prstGeom>
          <a:noFill/>
          <a:ln/>
        </p:spPr>
        <p:txBody>
          <a:bodyPr wrap="square" lIns="0" tIns="0" rIns="0" bIns="0" rtlCol="0" anchor="ctr"/>
          <a:lstStyle/>
          <a:p>
            <a:pPr algn="r" indent="0" marL="0">
              <a:buNone/>
            </a:pPr>
            <a:r>
              <a:rPr lang="en-US" sz="950" b="1" spc="60" kern="0" dirty="0">
                <a:solidFill>
                  <a:srgbClr val="7C8798"/>
                </a:solidFill>
                <a:latin typeface="Calibri" pitchFamily="34" charset="0"/>
                <a:ea typeface="Calibri" pitchFamily="34" charset="-122"/>
                <a:cs typeface="Calibri" pitchFamily="34" charset="-120"/>
              </a:rPr>
              <a:t>Closing</a:t>
            </a:r>
            <a:endParaRPr lang="en-US" sz="950" dirty="0"/>
          </a:p>
        </p:txBody>
      </p:sp>
      <p:sp>
        <p:nvSpPr>
          <p:cNvPr id="7" name="Shape 5"/>
          <p:cNvSpPr/>
          <p:nvPr/>
        </p:nvSpPr>
        <p:spPr>
          <a:xfrm>
            <a:off x="411480" y="932688"/>
            <a:ext cx="11338560" cy="0"/>
          </a:xfrm>
          <a:prstGeom prst="line">
            <a:avLst/>
          </a:prstGeom>
          <a:noFill/>
          <a:ln w="12700">
            <a:solidFill>
              <a:srgbClr val="D4DAE2"/>
            </a:solidFill>
            <a:prstDash val="solid"/>
          </a:ln>
        </p:spPr>
      </p:sp>
      <p:sp>
        <p:nvSpPr>
          <p:cNvPr id="8" name="Text 6"/>
          <p:cNvSpPr txBox="1"/>
          <p:nvPr/>
        </p:nvSpPr>
        <p:spPr>
          <a:xfrm>
            <a:off x="411480" y="1042416"/>
            <a:ext cx="7315200" cy="182880"/>
          </a:xfrm>
          <a:prstGeom prst="rect">
            <a:avLst/>
          </a:prstGeom>
          <a:noFill/>
          <a:ln/>
        </p:spPr>
        <p:txBody>
          <a:bodyPr wrap="square" lIns="0" tIns="0" rIns="0" bIns="0" rtlCol="0" anchor="ctr"/>
          <a:lstStyle/>
          <a:p>
            <a:pPr indent="0" marL="0">
              <a:buNone/>
            </a:pPr>
            <a:r>
              <a:rPr lang="en-US" sz="760" b="1" spc="110" kern="0" dirty="0">
                <a:solidFill>
                  <a:srgbClr val="1B2432"/>
                </a:solidFill>
                <a:latin typeface="Calibri" pitchFamily="34" charset="0"/>
                <a:ea typeface="Calibri" pitchFamily="34" charset="-122"/>
                <a:cs typeface="Calibri" pitchFamily="34" charset="-120"/>
              </a:rPr>
              <a:t>THE SCORECARD — EIGHT MEASURES, ALL AVAILABLE FROM THE PLATFORM RATHER THAN ASSEMBLED BY HAND</a:t>
            </a:r>
            <a:endParaRPr lang="en-US" sz="760" dirty="0"/>
          </a:p>
        </p:txBody>
      </p:sp>
      <p:sp>
        <p:nvSpPr>
          <p:cNvPr id="9" name="Shape 7"/>
          <p:cNvSpPr/>
          <p:nvPr/>
        </p:nvSpPr>
        <p:spPr>
          <a:xfrm>
            <a:off x="411480" y="1243584"/>
            <a:ext cx="11338560" cy="256032"/>
          </a:xfrm>
          <a:prstGeom prst="rect">
            <a:avLst/>
          </a:prstGeom>
          <a:solidFill>
            <a:srgbClr val="15304F"/>
          </a:solidFill>
          <a:ln w="6350">
            <a:solidFill>
              <a:srgbClr val="15304F"/>
            </a:solidFill>
            <a:prstDash val="solid"/>
          </a:ln>
        </p:spPr>
      </p:sp>
      <p:sp>
        <p:nvSpPr>
          <p:cNvPr id="10" name="Text 8"/>
          <p:cNvSpPr txBox="1"/>
          <p:nvPr/>
        </p:nvSpPr>
        <p:spPr>
          <a:xfrm>
            <a:off x="484632" y="1243584"/>
            <a:ext cx="2871216" cy="256032"/>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Measure</a:t>
            </a:r>
            <a:endParaRPr lang="en-US" sz="800" dirty="0"/>
          </a:p>
        </p:txBody>
      </p:sp>
      <p:sp>
        <p:nvSpPr>
          <p:cNvPr id="11" name="Text 9"/>
          <p:cNvSpPr txBox="1"/>
          <p:nvPr/>
        </p:nvSpPr>
        <p:spPr>
          <a:xfrm>
            <a:off x="3502152" y="1243584"/>
            <a:ext cx="3054096" cy="256032"/>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Why it is on the list</a:t>
            </a:r>
            <a:endParaRPr lang="en-US" sz="800" dirty="0"/>
          </a:p>
        </p:txBody>
      </p:sp>
      <p:sp>
        <p:nvSpPr>
          <p:cNvPr id="12" name="Text 10"/>
          <p:cNvSpPr txBox="1"/>
          <p:nvPr/>
        </p:nvSpPr>
        <p:spPr>
          <a:xfrm>
            <a:off x="6702552" y="1243584"/>
            <a:ext cx="2414016" cy="256032"/>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After 4 sprints</a:t>
            </a:r>
            <a:endParaRPr lang="en-US" sz="800" dirty="0"/>
          </a:p>
        </p:txBody>
      </p:sp>
      <p:sp>
        <p:nvSpPr>
          <p:cNvPr id="13" name="Text 11"/>
          <p:cNvSpPr txBox="1"/>
          <p:nvPr/>
        </p:nvSpPr>
        <p:spPr>
          <a:xfrm>
            <a:off x="9262872" y="1243584"/>
            <a:ext cx="2414016" cy="256032"/>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At 12 months</a:t>
            </a:r>
            <a:endParaRPr lang="en-US" sz="800" dirty="0"/>
          </a:p>
        </p:txBody>
      </p:sp>
      <p:sp>
        <p:nvSpPr>
          <p:cNvPr id="14" name="Shape 12"/>
          <p:cNvSpPr/>
          <p:nvPr/>
        </p:nvSpPr>
        <p:spPr>
          <a:xfrm>
            <a:off x="411480" y="1499616"/>
            <a:ext cx="11338560" cy="297180"/>
          </a:xfrm>
          <a:prstGeom prst="rect">
            <a:avLst/>
          </a:prstGeom>
          <a:solidFill>
            <a:srgbClr val="FFFFFF"/>
          </a:solidFill>
          <a:ln w="6350">
            <a:solidFill>
              <a:srgbClr val="D4DAE2"/>
            </a:solidFill>
            <a:prstDash val="solid"/>
          </a:ln>
        </p:spPr>
      </p:sp>
      <p:sp>
        <p:nvSpPr>
          <p:cNvPr id="15" name="Text 13"/>
          <p:cNvSpPr txBox="1"/>
          <p:nvPr/>
        </p:nvSpPr>
        <p:spPr>
          <a:xfrm>
            <a:off x="484632" y="1499616"/>
            <a:ext cx="2871216" cy="297180"/>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Clarification cycles per intake</a:t>
            </a:r>
            <a:endParaRPr lang="en-US" sz="760" dirty="0"/>
          </a:p>
        </p:txBody>
      </p:sp>
      <p:sp>
        <p:nvSpPr>
          <p:cNvPr id="16" name="Text 14"/>
          <p:cNvSpPr txBox="1"/>
          <p:nvPr/>
        </p:nvSpPr>
        <p:spPr>
          <a:xfrm>
            <a:off x="3502152" y="1499616"/>
            <a:ext cx="305409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The largest single source of delay</a:t>
            </a:r>
            <a:endParaRPr lang="en-US" sz="760" dirty="0"/>
          </a:p>
        </p:txBody>
      </p:sp>
      <p:sp>
        <p:nvSpPr>
          <p:cNvPr id="17" name="Text 15"/>
          <p:cNvSpPr txBox="1"/>
          <p:nvPr/>
        </p:nvSpPr>
        <p:spPr>
          <a:xfrm>
            <a:off x="6702552" y="1499616"/>
            <a:ext cx="241401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Baselined; lower on pilots</a:t>
            </a:r>
            <a:endParaRPr lang="en-US" sz="760" dirty="0"/>
          </a:p>
        </p:txBody>
      </p:sp>
      <p:sp>
        <p:nvSpPr>
          <p:cNvPr id="18" name="Text 16"/>
          <p:cNvSpPr txBox="1"/>
          <p:nvPr/>
        </p:nvSpPr>
        <p:spPr>
          <a:xfrm>
            <a:off x="9262872" y="1499616"/>
            <a:ext cx="241401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Near zero on mature patterns</a:t>
            </a:r>
            <a:endParaRPr lang="en-US" sz="760" dirty="0"/>
          </a:p>
        </p:txBody>
      </p:sp>
      <p:sp>
        <p:nvSpPr>
          <p:cNvPr id="19" name="Shape 17"/>
          <p:cNvSpPr/>
          <p:nvPr/>
        </p:nvSpPr>
        <p:spPr>
          <a:xfrm>
            <a:off x="411480" y="1796796"/>
            <a:ext cx="11338560" cy="297180"/>
          </a:xfrm>
          <a:prstGeom prst="rect">
            <a:avLst/>
          </a:prstGeom>
          <a:solidFill>
            <a:srgbClr val="F4F7FA"/>
          </a:solidFill>
          <a:ln w="6350">
            <a:solidFill>
              <a:srgbClr val="D4DAE2"/>
            </a:solidFill>
            <a:prstDash val="solid"/>
          </a:ln>
        </p:spPr>
      </p:sp>
      <p:sp>
        <p:nvSpPr>
          <p:cNvPr id="20" name="Text 18"/>
          <p:cNvSpPr txBox="1"/>
          <p:nvPr/>
        </p:nvSpPr>
        <p:spPr>
          <a:xfrm>
            <a:off x="484632" y="1796796"/>
            <a:ext cx="2871216" cy="297180"/>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Intake completeness at handoff</a:t>
            </a:r>
            <a:endParaRPr lang="en-US" sz="760" dirty="0"/>
          </a:p>
        </p:txBody>
      </p:sp>
      <p:sp>
        <p:nvSpPr>
          <p:cNvPr id="21" name="Text 19"/>
          <p:cNvSpPr txBox="1"/>
          <p:nvPr/>
        </p:nvSpPr>
        <p:spPr>
          <a:xfrm>
            <a:off x="3502152" y="1796796"/>
            <a:ext cx="305409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Whether the data deficit is closing at source</a:t>
            </a:r>
            <a:endParaRPr lang="en-US" sz="760" dirty="0"/>
          </a:p>
        </p:txBody>
      </p:sp>
      <p:sp>
        <p:nvSpPr>
          <p:cNvPr id="22" name="Text 20"/>
          <p:cNvSpPr txBox="1"/>
          <p:nvPr/>
        </p:nvSpPr>
        <p:spPr>
          <a:xfrm>
            <a:off x="6702552" y="1796796"/>
            <a:ext cx="241401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Certificate on every intake</a:t>
            </a:r>
            <a:endParaRPr lang="en-US" sz="760" dirty="0"/>
          </a:p>
        </p:txBody>
      </p:sp>
      <p:sp>
        <p:nvSpPr>
          <p:cNvPr id="23" name="Text 21"/>
          <p:cNvSpPr txBox="1"/>
          <p:nvPr/>
        </p:nvSpPr>
        <p:spPr>
          <a:xfrm>
            <a:off x="9262872" y="1796796"/>
            <a:ext cx="241401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90%+ answered or dated</a:t>
            </a:r>
            <a:endParaRPr lang="en-US" sz="760" dirty="0"/>
          </a:p>
        </p:txBody>
      </p:sp>
      <p:sp>
        <p:nvSpPr>
          <p:cNvPr id="24" name="Shape 22"/>
          <p:cNvSpPr/>
          <p:nvPr/>
        </p:nvSpPr>
        <p:spPr>
          <a:xfrm>
            <a:off x="411480" y="2093976"/>
            <a:ext cx="11338560" cy="297180"/>
          </a:xfrm>
          <a:prstGeom prst="rect">
            <a:avLst/>
          </a:prstGeom>
          <a:solidFill>
            <a:srgbClr val="FFFFFF"/>
          </a:solidFill>
          <a:ln w="6350">
            <a:solidFill>
              <a:srgbClr val="D4DAE2"/>
            </a:solidFill>
            <a:prstDash val="solid"/>
          </a:ln>
        </p:spPr>
      </p:sp>
      <p:sp>
        <p:nvSpPr>
          <p:cNvPr id="25" name="Text 23"/>
          <p:cNvSpPr txBox="1"/>
          <p:nvPr/>
        </p:nvSpPr>
        <p:spPr>
          <a:xfrm>
            <a:off x="484632" y="2093976"/>
            <a:ext cx="2871216" cy="297180"/>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Tier distribution</a:t>
            </a:r>
            <a:endParaRPr lang="en-US" sz="760" dirty="0"/>
          </a:p>
        </p:txBody>
      </p:sp>
      <p:sp>
        <p:nvSpPr>
          <p:cNvPr id="26" name="Text 24"/>
          <p:cNvSpPr txBox="1"/>
          <p:nvPr/>
        </p:nvSpPr>
        <p:spPr>
          <a:xfrm>
            <a:off x="3502152" y="2093976"/>
            <a:ext cx="305409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Whether pattern investment is working</a:t>
            </a:r>
            <a:endParaRPr lang="en-US" sz="760" dirty="0"/>
          </a:p>
        </p:txBody>
      </p:sp>
      <p:sp>
        <p:nvSpPr>
          <p:cNvPr id="27" name="Text 25"/>
          <p:cNvSpPr txBox="1"/>
          <p:nvPr/>
        </p:nvSpPr>
        <p:spPr>
          <a:xfrm>
            <a:off x="6702552" y="2093976"/>
            <a:ext cx="241401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Known and baselined</a:t>
            </a:r>
            <a:endParaRPr lang="en-US" sz="760" dirty="0"/>
          </a:p>
        </p:txBody>
      </p:sp>
      <p:sp>
        <p:nvSpPr>
          <p:cNvPr id="28" name="Text 26"/>
          <p:cNvSpPr txBox="1"/>
          <p:nvPr/>
        </p:nvSpPr>
        <p:spPr>
          <a:xfrm>
            <a:off x="9262872" y="2093976"/>
            <a:ext cx="241401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40%+ Lean or Lean+</a:t>
            </a:r>
            <a:endParaRPr lang="en-US" sz="760" dirty="0"/>
          </a:p>
        </p:txBody>
      </p:sp>
      <p:sp>
        <p:nvSpPr>
          <p:cNvPr id="29" name="Shape 27"/>
          <p:cNvSpPr/>
          <p:nvPr/>
        </p:nvSpPr>
        <p:spPr>
          <a:xfrm>
            <a:off x="411480" y="2391156"/>
            <a:ext cx="11338560" cy="297180"/>
          </a:xfrm>
          <a:prstGeom prst="rect">
            <a:avLst/>
          </a:prstGeom>
          <a:solidFill>
            <a:srgbClr val="F4F7FA"/>
          </a:solidFill>
          <a:ln w="6350">
            <a:solidFill>
              <a:srgbClr val="D4DAE2"/>
            </a:solidFill>
            <a:prstDash val="solid"/>
          </a:ln>
        </p:spPr>
      </p:sp>
      <p:sp>
        <p:nvSpPr>
          <p:cNvPr id="30" name="Text 28"/>
          <p:cNvSpPr txBox="1"/>
          <p:nvPr/>
        </p:nvSpPr>
        <p:spPr>
          <a:xfrm>
            <a:off x="484632" y="2391156"/>
            <a:ext cx="2871216" cy="297180"/>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Intakes absorbed per period</a:t>
            </a:r>
            <a:endParaRPr lang="en-US" sz="760" dirty="0"/>
          </a:p>
        </p:txBody>
      </p:sp>
      <p:sp>
        <p:nvSpPr>
          <p:cNvPr id="31" name="Text 29"/>
          <p:cNvSpPr txBox="1"/>
          <p:nvPr/>
        </p:nvSpPr>
        <p:spPr>
          <a:xfrm>
            <a:off x="3502152" y="2391156"/>
            <a:ext cx="305409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The capacity outcome leadership is buying</a:t>
            </a:r>
            <a:endParaRPr lang="en-US" sz="760" dirty="0"/>
          </a:p>
        </p:txBody>
      </p:sp>
      <p:sp>
        <p:nvSpPr>
          <p:cNvPr id="32" name="Text 30"/>
          <p:cNvSpPr txBox="1"/>
          <p:nvPr/>
        </p:nvSpPr>
        <p:spPr>
          <a:xfrm>
            <a:off x="6702552" y="2391156"/>
            <a:ext cx="241401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Baseline established</a:t>
            </a:r>
            <a:endParaRPr lang="en-US" sz="760" dirty="0"/>
          </a:p>
        </p:txBody>
      </p:sp>
      <p:sp>
        <p:nvSpPr>
          <p:cNvPr id="33" name="Text 31"/>
          <p:cNvSpPr txBox="1"/>
          <p:nvPr/>
        </p:nvSpPr>
        <p:spPr>
          <a:xfrm>
            <a:off x="9262872" y="2391156"/>
            <a:ext cx="241401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Rising at constant headcount</a:t>
            </a:r>
            <a:endParaRPr lang="en-US" sz="760" dirty="0"/>
          </a:p>
        </p:txBody>
      </p:sp>
      <p:sp>
        <p:nvSpPr>
          <p:cNvPr id="34" name="Shape 32"/>
          <p:cNvSpPr/>
          <p:nvPr/>
        </p:nvSpPr>
        <p:spPr>
          <a:xfrm>
            <a:off x="411480" y="2688336"/>
            <a:ext cx="11338560" cy="297180"/>
          </a:xfrm>
          <a:prstGeom prst="rect">
            <a:avLst/>
          </a:prstGeom>
          <a:solidFill>
            <a:srgbClr val="FFFFFF"/>
          </a:solidFill>
          <a:ln w="6350">
            <a:solidFill>
              <a:srgbClr val="D4DAE2"/>
            </a:solidFill>
            <a:prstDash val="solid"/>
          </a:ln>
        </p:spPr>
      </p:sp>
      <p:sp>
        <p:nvSpPr>
          <p:cNvPr id="35" name="Text 33"/>
          <p:cNvSpPr txBox="1"/>
          <p:nvPr/>
        </p:nvSpPr>
        <p:spPr>
          <a:xfrm>
            <a:off x="484632" y="2688336"/>
            <a:ext cx="2871216" cy="297180"/>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Intake-to-live elapsed time by tier</a:t>
            </a:r>
            <a:endParaRPr lang="en-US" sz="760" dirty="0"/>
          </a:p>
        </p:txBody>
      </p:sp>
      <p:sp>
        <p:nvSpPr>
          <p:cNvPr id="36" name="Text 34"/>
          <p:cNvSpPr txBox="1"/>
          <p:nvPr/>
        </p:nvSpPr>
        <p:spPr>
          <a:xfrm>
            <a:off x="3502152" y="2688336"/>
            <a:ext cx="305409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Partner-visible value</a:t>
            </a:r>
            <a:endParaRPr lang="en-US" sz="760" dirty="0"/>
          </a:p>
        </p:txBody>
      </p:sp>
      <p:sp>
        <p:nvSpPr>
          <p:cNvPr id="37" name="Text 35"/>
          <p:cNvSpPr txBox="1"/>
          <p:nvPr/>
        </p:nvSpPr>
        <p:spPr>
          <a:xfrm>
            <a:off x="6702552" y="2688336"/>
            <a:ext cx="241401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First Lean comparison</a:t>
            </a:r>
            <a:endParaRPr lang="en-US" sz="760" dirty="0"/>
          </a:p>
        </p:txBody>
      </p:sp>
      <p:sp>
        <p:nvSpPr>
          <p:cNvPr id="38" name="Text 36"/>
          <p:cNvSpPr txBox="1"/>
          <p:nvPr/>
        </p:nvSpPr>
        <p:spPr>
          <a:xfrm>
            <a:off x="9262872" y="2688336"/>
            <a:ext cx="241401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Lean materially below Dedicated</a:t>
            </a:r>
            <a:endParaRPr lang="en-US" sz="760" dirty="0"/>
          </a:p>
        </p:txBody>
      </p:sp>
      <p:sp>
        <p:nvSpPr>
          <p:cNvPr id="39" name="Shape 37"/>
          <p:cNvSpPr/>
          <p:nvPr/>
        </p:nvSpPr>
        <p:spPr>
          <a:xfrm>
            <a:off x="411480" y="2985516"/>
            <a:ext cx="11338560" cy="297180"/>
          </a:xfrm>
          <a:prstGeom prst="rect">
            <a:avLst/>
          </a:prstGeom>
          <a:solidFill>
            <a:srgbClr val="F4F7FA"/>
          </a:solidFill>
          <a:ln w="6350">
            <a:solidFill>
              <a:srgbClr val="D4DAE2"/>
            </a:solidFill>
            <a:prstDash val="solid"/>
          </a:ln>
        </p:spPr>
      </p:sp>
      <p:sp>
        <p:nvSpPr>
          <p:cNvPr id="40" name="Text 38"/>
          <p:cNvSpPr txBox="1"/>
          <p:nvPr/>
        </p:nvSpPr>
        <p:spPr>
          <a:xfrm>
            <a:off x="484632" y="2985516"/>
            <a:ext cx="2871216" cy="297180"/>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Pattern maturity progression</a:t>
            </a:r>
            <a:endParaRPr lang="en-US" sz="760" dirty="0"/>
          </a:p>
        </p:txBody>
      </p:sp>
      <p:sp>
        <p:nvSpPr>
          <p:cNvPr id="41" name="Text 39"/>
          <p:cNvSpPr txBox="1"/>
          <p:nvPr/>
        </p:nvSpPr>
        <p:spPr>
          <a:xfrm>
            <a:off x="3502152" y="2985516"/>
            <a:ext cx="305409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Leading indicator of future distribution</a:t>
            </a:r>
            <a:endParaRPr lang="en-US" sz="760" dirty="0"/>
          </a:p>
        </p:txBody>
      </p:sp>
      <p:sp>
        <p:nvSpPr>
          <p:cNvPr id="42" name="Text 40"/>
          <p:cNvSpPr txBox="1"/>
          <p:nvPr/>
        </p:nvSpPr>
        <p:spPr>
          <a:xfrm>
            <a:off x="6702552" y="2985516"/>
            <a:ext cx="241401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Three at M2, one at M3</a:t>
            </a:r>
            <a:endParaRPr lang="en-US" sz="760" dirty="0"/>
          </a:p>
        </p:txBody>
      </p:sp>
      <p:sp>
        <p:nvSpPr>
          <p:cNvPr id="43" name="Text 41"/>
          <p:cNvSpPr txBox="1"/>
          <p:nvPr/>
        </p:nvSpPr>
        <p:spPr>
          <a:xfrm>
            <a:off x="9262872" y="2985516"/>
            <a:ext cx="241401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Twelve-plus at M2 or above</a:t>
            </a:r>
            <a:endParaRPr lang="en-US" sz="760" dirty="0"/>
          </a:p>
        </p:txBody>
      </p:sp>
      <p:sp>
        <p:nvSpPr>
          <p:cNvPr id="44" name="Shape 42"/>
          <p:cNvSpPr/>
          <p:nvPr/>
        </p:nvSpPr>
        <p:spPr>
          <a:xfrm>
            <a:off x="411480" y="3282696"/>
            <a:ext cx="11338560" cy="297180"/>
          </a:xfrm>
          <a:prstGeom prst="rect">
            <a:avLst/>
          </a:prstGeom>
          <a:solidFill>
            <a:srgbClr val="FFFFFF"/>
          </a:solidFill>
          <a:ln w="6350">
            <a:solidFill>
              <a:srgbClr val="D4DAE2"/>
            </a:solidFill>
            <a:prstDash val="solid"/>
          </a:ln>
        </p:spPr>
      </p:sp>
      <p:sp>
        <p:nvSpPr>
          <p:cNvPr id="45" name="Text 43"/>
          <p:cNvSpPr txBox="1"/>
          <p:nvPr/>
        </p:nvSpPr>
        <p:spPr>
          <a:xfrm>
            <a:off x="484632" y="3282696"/>
            <a:ext cx="2871216" cy="297180"/>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Pattern candidates per Dedicated closure</a:t>
            </a:r>
            <a:endParaRPr lang="en-US" sz="760" dirty="0"/>
          </a:p>
        </p:txBody>
      </p:sp>
      <p:sp>
        <p:nvSpPr>
          <p:cNvPr id="46" name="Text 44"/>
          <p:cNvSpPr txBox="1"/>
          <p:nvPr/>
        </p:nvSpPr>
        <p:spPr>
          <a:xfrm>
            <a:off x="3502152" y="3282696"/>
            <a:ext cx="305409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Whether the compounding works</a:t>
            </a:r>
            <a:endParaRPr lang="en-US" sz="760" dirty="0"/>
          </a:p>
        </p:txBody>
      </p:sp>
      <p:sp>
        <p:nvSpPr>
          <p:cNvPr id="47" name="Text 45"/>
          <p:cNvSpPr txBox="1"/>
          <p:nvPr/>
        </p:nvSpPr>
        <p:spPr>
          <a:xfrm>
            <a:off x="6702552" y="3282696"/>
            <a:ext cx="241401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Process defined</a:t>
            </a:r>
            <a:endParaRPr lang="en-US" sz="760" dirty="0"/>
          </a:p>
        </p:txBody>
      </p:sp>
      <p:sp>
        <p:nvSpPr>
          <p:cNvPr id="48" name="Text 46"/>
          <p:cNvSpPr txBox="1"/>
          <p:nvPr/>
        </p:nvSpPr>
        <p:spPr>
          <a:xfrm>
            <a:off x="9262872" y="3282696"/>
            <a:ext cx="241401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One per closure, no exceptions</a:t>
            </a:r>
            <a:endParaRPr lang="en-US" sz="760" dirty="0"/>
          </a:p>
        </p:txBody>
      </p:sp>
      <p:sp>
        <p:nvSpPr>
          <p:cNvPr id="49" name="Shape 47"/>
          <p:cNvSpPr/>
          <p:nvPr/>
        </p:nvSpPr>
        <p:spPr>
          <a:xfrm>
            <a:off x="411480" y="3579876"/>
            <a:ext cx="11338560" cy="297180"/>
          </a:xfrm>
          <a:prstGeom prst="rect">
            <a:avLst/>
          </a:prstGeom>
          <a:solidFill>
            <a:srgbClr val="F4F7FA"/>
          </a:solidFill>
          <a:ln w="6350">
            <a:solidFill>
              <a:srgbClr val="D4DAE2"/>
            </a:solidFill>
            <a:prstDash val="solid"/>
          </a:ln>
        </p:spPr>
      </p:sp>
      <p:sp>
        <p:nvSpPr>
          <p:cNvPr id="50" name="Text 48"/>
          <p:cNvSpPr txBox="1"/>
          <p:nvPr/>
        </p:nvSpPr>
        <p:spPr>
          <a:xfrm>
            <a:off x="484632" y="3579876"/>
            <a:ext cx="2871216" cy="297180"/>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Compliance findings on completed intakes</a:t>
            </a:r>
            <a:endParaRPr lang="en-US" sz="760" dirty="0"/>
          </a:p>
        </p:txBody>
      </p:sp>
      <p:sp>
        <p:nvSpPr>
          <p:cNvPr id="51" name="Text 49"/>
          <p:cNvSpPr txBox="1"/>
          <p:nvPr/>
        </p:nvSpPr>
        <p:spPr>
          <a:xfrm>
            <a:off x="3502152" y="3579876"/>
            <a:ext cx="305409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Whether lighter tiers are safe</a:t>
            </a:r>
            <a:endParaRPr lang="en-US" sz="760" dirty="0"/>
          </a:p>
        </p:txBody>
      </p:sp>
      <p:sp>
        <p:nvSpPr>
          <p:cNvPr id="52" name="Text 50"/>
          <p:cNvSpPr txBox="1"/>
          <p:nvPr/>
        </p:nvSpPr>
        <p:spPr>
          <a:xfrm>
            <a:off x="6702552" y="3579876"/>
            <a:ext cx="241401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No regression</a:t>
            </a:r>
            <a:endParaRPr lang="en-US" sz="760" dirty="0"/>
          </a:p>
        </p:txBody>
      </p:sp>
      <p:sp>
        <p:nvSpPr>
          <p:cNvPr id="53" name="Text 51"/>
          <p:cNvSpPr txBox="1"/>
          <p:nvPr/>
        </p:nvSpPr>
        <p:spPr>
          <a:xfrm>
            <a:off x="9262872" y="3579876"/>
            <a:ext cx="241401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No increase on baseline</a:t>
            </a:r>
            <a:endParaRPr lang="en-US" sz="760" dirty="0"/>
          </a:p>
        </p:txBody>
      </p:sp>
      <p:sp>
        <p:nvSpPr>
          <p:cNvPr id="54" name="Text 52"/>
          <p:cNvSpPr txBox="1"/>
          <p:nvPr/>
        </p:nvSpPr>
        <p:spPr>
          <a:xfrm>
            <a:off x="411480" y="4133088"/>
            <a:ext cx="5486400" cy="182880"/>
          </a:xfrm>
          <a:prstGeom prst="rect">
            <a:avLst/>
          </a:prstGeom>
          <a:noFill/>
          <a:ln/>
        </p:spPr>
        <p:txBody>
          <a:bodyPr wrap="square" lIns="0" tIns="0" rIns="0" bIns="0" rtlCol="0" anchor="ctr"/>
          <a:lstStyle/>
          <a:p>
            <a:pPr indent="0" marL="0">
              <a:buNone/>
            </a:pPr>
            <a:r>
              <a:rPr lang="en-US" sz="760" b="1" spc="110" kern="0" dirty="0">
                <a:solidFill>
                  <a:srgbClr val="A44A2A"/>
                </a:solidFill>
                <a:latin typeface="Calibri" pitchFamily="34" charset="0"/>
                <a:ea typeface="Calibri" pitchFamily="34" charset="-122"/>
                <a:cs typeface="Calibri" pitchFamily="34" charset="-120"/>
              </a:rPr>
              <a:t>THE THREE WAYS THIS FAILS</a:t>
            </a:r>
            <a:endParaRPr lang="en-US" sz="760" dirty="0"/>
          </a:p>
        </p:txBody>
      </p:sp>
      <p:sp>
        <p:nvSpPr>
          <p:cNvPr id="55" name="Shape 53"/>
          <p:cNvSpPr/>
          <p:nvPr/>
        </p:nvSpPr>
        <p:spPr>
          <a:xfrm>
            <a:off x="411480" y="4334256"/>
            <a:ext cx="3675888" cy="1389888"/>
          </a:xfrm>
          <a:prstGeom prst="roundRect">
            <a:avLst>
              <a:gd name="adj" fmla="val 3289"/>
            </a:avLst>
          </a:prstGeom>
          <a:solidFill>
            <a:srgbClr val="FFFFFF"/>
          </a:solidFill>
          <a:ln w="14605">
            <a:solidFill>
              <a:srgbClr val="A44A2A"/>
            </a:solidFill>
            <a:prstDash val="solid"/>
          </a:ln>
        </p:spPr>
      </p:sp>
      <p:sp>
        <p:nvSpPr>
          <p:cNvPr id="56" name="Shape 54"/>
          <p:cNvSpPr/>
          <p:nvPr/>
        </p:nvSpPr>
        <p:spPr>
          <a:xfrm>
            <a:off x="411480" y="4334256"/>
            <a:ext cx="3675888" cy="45720"/>
          </a:xfrm>
          <a:prstGeom prst="rect">
            <a:avLst/>
          </a:prstGeom>
          <a:solidFill>
            <a:srgbClr val="A44A2A"/>
          </a:solidFill>
          <a:ln w="12700">
            <a:solidFill>
              <a:srgbClr val="333333"/>
            </a:solidFill>
            <a:prstDash val="solid"/>
          </a:ln>
        </p:spPr>
      </p:sp>
      <p:sp>
        <p:nvSpPr>
          <p:cNvPr id="57" name="Text 55"/>
          <p:cNvSpPr txBox="1"/>
          <p:nvPr/>
        </p:nvSpPr>
        <p:spPr>
          <a:xfrm>
            <a:off x="539496" y="4443984"/>
            <a:ext cx="3419856" cy="310896"/>
          </a:xfrm>
          <a:prstGeom prst="rect">
            <a:avLst/>
          </a:prstGeom>
          <a:noFill/>
          <a:ln/>
        </p:spPr>
        <p:txBody>
          <a:bodyPr wrap="square" lIns="0" tIns="0" rIns="0" bIns="0" rtlCol="0" anchor="ctr"/>
          <a:lstStyle/>
          <a:p>
            <a:pPr indent="0" marL="0">
              <a:lnSpc>
                <a:spcPts val="1040"/>
              </a:lnSpc>
              <a:buNone/>
            </a:pPr>
            <a:r>
              <a:rPr lang="en-US" sz="900" b="1" dirty="0">
                <a:solidFill>
                  <a:srgbClr val="1B2432"/>
                </a:solidFill>
                <a:latin typeface="Calibri" pitchFamily="34" charset="0"/>
                <a:ea typeface="Calibri" pitchFamily="34" charset="-122"/>
                <a:cs typeface="Calibri" pitchFamily="34" charset="-120"/>
              </a:rPr>
              <a:t>Platform team is raided for delivery work</a:t>
            </a:r>
            <a:endParaRPr lang="en-US" sz="900" dirty="0"/>
          </a:p>
        </p:txBody>
      </p:sp>
      <p:sp>
        <p:nvSpPr>
          <p:cNvPr id="58" name="Text 56"/>
          <p:cNvSpPr txBox="1"/>
          <p:nvPr/>
        </p:nvSpPr>
        <p:spPr>
          <a:xfrm>
            <a:off x="539496" y="4791456"/>
            <a:ext cx="3419856" cy="566928"/>
          </a:xfrm>
          <a:prstGeom prst="rect">
            <a:avLst/>
          </a:prstGeom>
          <a:noFill/>
          <a:ln/>
        </p:spPr>
        <p:txBody>
          <a:bodyPr wrap="square" lIns="0" tIns="0" rIns="0" bIns="0" rtlCol="0" anchor="ctr"/>
          <a:lstStyle/>
          <a:p>
            <a:pPr indent="0" marL="0">
              <a:lnSpc>
                <a:spcPts val="880"/>
              </a:lnSpc>
              <a:buNone/>
            </a:pPr>
            <a:r>
              <a:rPr lang="en-US" sz="740" dirty="0">
                <a:solidFill>
                  <a:srgbClr val="55606E"/>
                </a:solidFill>
                <a:latin typeface="Calibri" pitchFamily="34" charset="0"/>
                <a:ea typeface="Calibri" pitchFamily="34" charset="-122"/>
                <a:cs typeface="Calibri" pitchFamily="34" charset="-120"/>
              </a:rPr>
              <a:t>Always justified at the time. Once it happens the function never recovers, because the platform never reaches the maturity that would have relieved the pressure.</a:t>
            </a:r>
            <a:endParaRPr lang="en-US" sz="740" dirty="0"/>
          </a:p>
        </p:txBody>
      </p:sp>
      <p:sp>
        <p:nvSpPr>
          <p:cNvPr id="59" name="Text 57"/>
          <p:cNvSpPr txBox="1"/>
          <p:nvPr/>
        </p:nvSpPr>
        <p:spPr>
          <a:xfrm>
            <a:off x="539496" y="5376672"/>
            <a:ext cx="3419856" cy="292608"/>
          </a:xfrm>
          <a:prstGeom prst="rect">
            <a:avLst/>
          </a:prstGeom>
          <a:noFill/>
          <a:ln/>
        </p:spPr>
        <p:txBody>
          <a:bodyPr wrap="square" lIns="0" tIns="0" rIns="0" bIns="0" rtlCol="0" anchor="ctr"/>
          <a:lstStyle/>
          <a:p>
            <a:pPr indent="0" marL="0">
              <a:lnSpc>
                <a:spcPts val="800"/>
              </a:lnSpc>
              <a:buNone/>
            </a:pPr>
            <a:r>
              <a:rPr lang="en-US" sz="680" b="1" dirty="0">
                <a:solidFill>
                  <a:srgbClr val="A44A2A"/>
                </a:solidFill>
                <a:latin typeface="Calibri" pitchFamily="34" charset="0"/>
                <a:ea typeface="Calibri" pitchFamily="34" charset="-122"/>
                <a:cs typeface="Calibri" pitchFamily="34" charset="-120"/>
              </a:rPr>
              <a:t>MITIGATION   Explicit leadership protection; monitored as a guardrail; escalate on any occurrence</a:t>
            </a:r>
            <a:endParaRPr lang="en-US" sz="680" dirty="0"/>
          </a:p>
        </p:txBody>
      </p:sp>
      <p:sp>
        <p:nvSpPr>
          <p:cNvPr id="60" name="Shape 58"/>
          <p:cNvSpPr/>
          <p:nvPr/>
        </p:nvSpPr>
        <p:spPr>
          <a:xfrm>
            <a:off x="4233672" y="4334256"/>
            <a:ext cx="3675888" cy="1389888"/>
          </a:xfrm>
          <a:prstGeom prst="roundRect">
            <a:avLst>
              <a:gd name="adj" fmla="val 3289"/>
            </a:avLst>
          </a:prstGeom>
          <a:solidFill>
            <a:srgbClr val="FFFFFF"/>
          </a:solidFill>
          <a:ln w="14605">
            <a:solidFill>
              <a:srgbClr val="A44A2A"/>
            </a:solidFill>
            <a:prstDash val="solid"/>
          </a:ln>
        </p:spPr>
      </p:sp>
      <p:sp>
        <p:nvSpPr>
          <p:cNvPr id="61" name="Shape 59"/>
          <p:cNvSpPr/>
          <p:nvPr/>
        </p:nvSpPr>
        <p:spPr>
          <a:xfrm>
            <a:off x="4233672" y="4334256"/>
            <a:ext cx="3675888" cy="45720"/>
          </a:xfrm>
          <a:prstGeom prst="rect">
            <a:avLst/>
          </a:prstGeom>
          <a:solidFill>
            <a:srgbClr val="A44A2A"/>
          </a:solidFill>
          <a:ln w="12700">
            <a:solidFill>
              <a:srgbClr val="333333"/>
            </a:solidFill>
            <a:prstDash val="solid"/>
          </a:ln>
        </p:spPr>
      </p:sp>
      <p:sp>
        <p:nvSpPr>
          <p:cNvPr id="62" name="Text 60"/>
          <p:cNvSpPr txBox="1"/>
          <p:nvPr/>
        </p:nvSpPr>
        <p:spPr>
          <a:xfrm>
            <a:off x="4361688" y="4443984"/>
            <a:ext cx="3419856" cy="310896"/>
          </a:xfrm>
          <a:prstGeom prst="rect">
            <a:avLst/>
          </a:prstGeom>
          <a:noFill/>
          <a:ln/>
        </p:spPr>
        <p:txBody>
          <a:bodyPr wrap="square" lIns="0" tIns="0" rIns="0" bIns="0" rtlCol="0" anchor="ctr"/>
          <a:lstStyle/>
          <a:p>
            <a:pPr indent="0" marL="0">
              <a:lnSpc>
                <a:spcPts val="1040"/>
              </a:lnSpc>
              <a:buNone/>
            </a:pPr>
            <a:r>
              <a:rPr lang="en-US" sz="900" b="1" dirty="0">
                <a:solidFill>
                  <a:srgbClr val="1B2432"/>
                </a:solidFill>
                <a:latin typeface="Calibri" pitchFamily="34" charset="0"/>
                <a:ea typeface="Calibri" pitchFamily="34" charset="-122"/>
                <a:cs typeface="Calibri" pitchFamily="34" charset="-120"/>
              </a:rPr>
              <a:t>Lean opens before patterns are mature</a:t>
            </a:r>
            <a:endParaRPr lang="en-US" sz="900" dirty="0"/>
          </a:p>
        </p:txBody>
      </p:sp>
      <p:sp>
        <p:nvSpPr>
          <p:cNvPr id="63" name="Text 61"/>
          <p:cNvSpPr txBox="1"/>
          <p:nvPr/>
        </p:nvSpPr>
        <p:spPr>
          <a:xfrm>
            <a:off x="4361688" y="4791456"/>
            <a:ext cx="3419856" cy="566928"/>
          </a:xfrm>
          <a:prstGeom prst="rect">
            <a:avLst/>
          </a:prstGeom>
          <a:noFill/>
          <a:ln/>
        </p:spPr>
        <p:txBody>
          <a:bodyPr wrap="square" lIns="0" tIns="0" rIns="0" bIns="0" rtlCol="0" anchor="ctr"/>
          <a:lstStyle/>
          <a:p>
            <a:pPr indent="0" marL="0">
              <a:lnSpc>
                <a:spcPts val="880"/>
              </a:lnSpc>
              <a:buNone/>
            </a:pPr>
            <a:r>
              <a:rPr lang="en-US" sz="740" dirty="0">
                <a:solidFill>
                  <a:srgbClr val="55606E"/>
                </a:solidFill>
                <a:latin typeface="Calibri" pitchFamily="34" charset="0"/>
                <a:ea typeface="Calibri" pitchFamily="34" charset="-122"/>
                <a:cs typeface="Calibri" pitchFamily="34" charset="-120"/>
              </a:rPr>
              <a:t>Produces unsupported partners, failed onboardings and a permanent credibility loss. The pressure will be considerable — it is where the visible saving is.</a:t>
            </a:r>
            <a:endParaRPr lang="en-US" sz="740" dirty="0"/>
          </a:p>
        </p:txBody>
      </p:sp>
      <p:sp>
        <p:nvSpPr>
          <p:cNvPr id="64" name="Text 62"/>
          <p:cNvSpPr txBox="1"/>
          <p:nvPr/>
        </p:nvSpPr>
        <p:spPr>
          <a:xfrm>
            <a:off x="4361688" y="5376672"/>
            <a:ext cx="3419856" cy="292608"/>
          </a:xfrm>
          <a:prstGeom prst="rect">
            <a:avLst/>
          </a:prstGeom>
          <a:noFill/>
          <a:ln/>
        </p:spPr>
        <p:txBody>
          <a:bodyPr wrap="square" lIns="0" tIns="0" rIns="0" bIns="0" rtlCol="0" anchor="ctr"/>
          <a:lstStyle/>
          <a:p>
            <a:pPr indent="0" marL="0">
              <a:lnSpc>
                <a:spcPts val="800"/>
              </a:lnSpc>
              <a:buNone/>
            </a:pPr>
            <a:r>
              <a:rPr lang="en-US" sz="680" b="1" dirty="0">
                <a:solidFill>
                  <a:srgbClr val="A44A2A"/>
                </a:solidFill>
                <a:latin typeface="Calibri" pitchFamily="34" charset="0"/>
                <a:ea typeface="Calibri" pitchFamily="34" charset="-122"/>
                <a:cs typeface="Calibri" pitchFamily="34" charset="-120"/>
              </a:rPr>
              <a:t>MITIGATION   Pattern maturity is a hard constraint, not a guideline. M3 required for Lean.</a:t>
            </a:r>
            <a:endParaRPr lang="en-US" sz="680" dirty="0"/>
          </a:p>
        </p:txBody>
      </p:sp>
      <p:sp>
        <p:nvSpPr>
          <p:cNvPr id="65" name="Shape 63"/>
          <p:cNvSpPr/>
          <p:nvPr/>
        </p:nvSpPr>
        <p:spPr>
          <a:xfrm>
            <a:off x="8055864" y="4334256"/>
            <a:ext cx="3675888" cy="1389888"/>
          </a:xfrm>
          <a:prstGeom prst="roundRect">
            <a:avLst>
              <a:gd name="adj" fmla="val 3289"/>
            </a:avLst>
          </a:prstGeom>
          <a:solidFill>
            <a:srgbClr val="FFFFFF"/>
          </a:solidFill>
          <a:ln w="14605">
            <a:solidFill>
              <a:srgbClr val="A44A2A"/>
            </a:solidFill>
            <a:prstDash val="solid"/>
          </a:ln>
        </p:spPr>
      </p:sp>
      <p:sp>
        <p:nvSpPr>
          <p:cNvPr id="66" name="Shape 64"/>
          <p:cNvSpPr/>
          <p:nvPr/>
        </p:nvSpPr>
        <p:spPr>
          <a:xfrm>
            <a:off x="8055864" y="4334256"/>
            <a:ext cx="3675888" cy="45720"/>
          </a:xfrm>
          <a:prstGeom prst="rect">
            <a:avLst/>
          </a:prstGeom>
          <a:solidFill>
            <a:srgbClr val="A44A2A"/>
          </a:solidFill>
          <a:ln w="12700">
            <a:solidFill>
              <a:srgbClr val="333333"/>
            </a:solidFill>
            <a:prstDash val="solid"/>
          </a:ln>
        </p:spPr>
      </p:sp>
      <p:sp>
        <p:nvSpPr>
          <p:cNvPr id="67" name="Text 65"/>
          <p:cNvSpPr txBox="1"/>
          <p:nvPr/>
        </p:nvSpPr>
        <p:spPr>
          <a:xfrm>
            <a:off x="8183880" y="4443984"/>
            <a:ext cx="3419856" cy="310896"/>
          </a:xfrm>
          <a:prstGeom prst="rect">
            <a:avLst/>
          </a:prstGeom>
          <a:noFill/>
          <a:ln/>
        </p:spPr>
        <p:txBody>
          <a:bodyPr wrap="square" lIns="0" tIns="0" rIns="0" bIns="0" rtlCol="0" anchor="ctr"/>
          <a:lstStyle/>
          <a:p>
            <a:pPr indent="0" marL="0">
              <a:lnSpc>
                <a:spcPts val="1040"/>
              </a:lnSpc>
              <a:buNone/>
            </a:pPr>
            <a:r>
              <a:rPr lang="en-US" sz="900" b="1" dirty="0">
                <a:solidFill>
                  <a:srgbClr val="1B2432"/>
                </a:solidFill>
                <a:latin typeface="Calibri" pitchFamily="34" charset="0"/>
                <a:ea typeface="Calibri" pitchFamily="34" charset="-122"/>
                <a:cs typeface="Calibri" pitchFamily="34" charset="-120"/>
              </a:rPr>
              <a:t>Patterns are not harvested</a:t>
            </a:r>
            <a:endParaRPr lang="en-US" sz="900" dirty="0"/>
          </a:p>
        </p:txBody>
      </p:sp>
      <p:sp>
        <p:nvSpPr>
          <p:cNvPr id="68" name="Text 66"/>
          <p:cNvSpPr txBox="1"/>
          <p:nvPr/>
        </p:nvSpPr>
        <p:spPr>
          <a:xfrm>
            <a:off x="8183880" y="4791456"/>
            <a:ext cx="3419856" cy="566928"/>
          </a:xfrm>
          <a:prstGeom prst="rect">
            <a:avLst/>
          </a:prstGeom>
          <a:noFill/>
          <a:ln/>
        </p:spPr>
        <p:txBody>
          <a:bodyPr wrap="square" lIns="0" tIns="0" rIns="0" bIns="0" rtlCol="0" anchor="ctr"/>
          <a:lstStyle/>
          <a:p>
            <a:pPr indent="0" marL="0">
              <a:lnSpc>
                <a:spcPts val="880"/>
              </a:lnSpc>
              <a:buNone/>
            </a:pPr>
            <a:r>
              <a:rPr lang="en-US" sz="740" dirty="0">
                <a:solidFill>
                  <a:srgbClr val="55606E"/>
                </a:solidFill>
                <a:latin typeface="Calibri" pitchFamily="34" charset="0"/>
                <a:ea typeface="Calibri" pitchFamily="34" charset="-122"/>
                <a:cs typeface="Calibri" pitchFamily="34" charset="-120"/>
              </a:rPr>
              <a:t>The compounding stops and the model quietly becomes a one-off efficiency exercise rather than a capability that grows.</a:t>
            </a:r>
            <a:endParaRPr lang="en-US" sz="740" dirty="0"/>
          </a:p>
        </p:txBody>
      </p:sp>
      <p:sp>
        <p:nvSpPr>
          <p:cNvPr id="69" name="Text 67"/>
          <p:cNvSpPr txBox="1"/>
          <p:nvPr/>
        </p:nvSpPr>
        <p:spPr>
          <a:xfrm>
            <a:off x="8183880" y="5376672"/>
            <a:ext cx="3419856" cy="292608"/>
          </a:xfrm>
          <a:prstGeom prst="rect">
            <a:avLst/>
          </a:prstGeom>
          <a:noFill/>
          <a:ln/>
        </p:spPr>
        <p:txBody>
          <a:bodyPr wrap="square" lIns="0" tIns="0" rIns="0" bIns="0" rtlCol="0" anchor="ctr"/>
          <a:lstStyle/>
          <a:p>
            <a:pPr indent="0" marL="0">
              <a:lnSpc>
                <a:spcPts val="800"/>
              </a:lnSpc>
              <a:buNone/>
            </a:pPr>
            <a:r>
              <a:rPr lang="en-US" sz="680" b="1" dirty="0">
                <a:solidFill>
                  <a:srgbClr val="A44A2A"/>
                </a:solidFill>
                <a:latin typeface="Calibri" pitchFamily="34" charset="0"/>
                <a:ea typeface="Calibri" pitchFamily="34" charset="-122"/>
                <a:cs typeface="Calibri" pitchFamily="34" charset="-120"/>
              </a:rPr>
              <a:t>MITIGATION   Closure condition on Dedicated intakes; monitored as pattern debt</a:t>
            </a:r>
            <a:endParaRPr lang="en-US" sz="680" dirty="0"/>
          </a:p>
        </p:txBody>
      </p:sp>
      <p:sp>
        <p:nvSpPr>
          <p:cNvPr id="70" name="Shape 68"/>
          <p:cNvSpPr/>
          <p:nvPr/>
        </p:nvSpPr>
        <p:spPr>
          <a:xfrm>
            <a:off x="411480" y="5870448"/>
            <a:ext cx="11338560" cy="658368"/>
          </a:xfrm>
          <a:prstGeom prst="roundRect">
            <a:avLst>
              <a:gd name="adj" fmla="val 6944"/>
            </a:avLst>
          </a:prstGeom>
          <a:solidFill>
            <a:srgbClr val="E9EEF4"/>
          </a:solidFill>
          <a:ln w="12700">
            <a:solidFill>
              <a:srgbClr val="15304F"/>
            </a:solidFill>
            <a:prstDash val="solid"/>
          </a:ln>
        </p:spPr>
      </p:sp>
      <p:sp>
        <p:nvSpPr>
          <p:cNvPr id="71" name="Text 69"/>
          <p:cNvSpPr txBox="1"/>
          <p:nvPr/>
        </p:nvSpPr>
        <p:spPr>
          <a:xfrm>
            <a:off x="557784" y="5952744"/>
            <a:ext cx="11045952" cy="182880"/>
          </a:xfrm>
          <a:prstGeom prst="rect">
            <a:avLst/>
          </a:prstGeom>
          <a:noFill/>
          <a:ln/>
        </p:spPr>
        <p:txBody>
          <a:bodyPr wrap="square" lIns="0" tIns="0" rIns="0" bIns="0" rtlCol="0" anchor="ctr"/>
          <a:lstStyle/>
          <a:p>
            <a:pPr indent="0" marL="0">
              <a:buNone/>
            </a:pPr>
            <a:r>
              <a:rPr lang="en-US" sz="760" b="1" spc="100" kern="0" dirty="0">
                <a:solidFill>
                  <a:srgbClr val="15304F"/>
                </a:solidFill>
                <a:latin typeface="Calibri" pitchFamily="34" charset="0"/>
                <a:ea typeface="Calibri" pitchFamily="34" charset="-122"/>
                <a:cs typeface="Calibri" pitchFamily="34" charset="-120"/>
              </a:rPr>
              <a:t>THE THREE QUESTIONS TO ASK AT EVERY CHECKPOINT</a:t>
            </a:r>
            <a:endParaRPr lang="en-US" sz="760" dirty="0"/>
          </a:p>
        </p:txBody>
      </p:sp>
      <p:sp>
        <p:nvSpPr>
          <p:cNvPr id="72" name="Text 70"/>
          <p:cNvSpPr txBox="1"/>
          <p:nvPr/>
        </p:nvSpPr>
        <p:spPr>
          <a:xfrm>
            <a:off x="557784" y="6144768"/>
            <a:ext cx="11045952" cy="292608"/>
          </a:xfrm>
          <a:prstGeom prst="rect">
            <a:avLst/>
          </a:prstGeom>
          <a:noFill/>
          <a:ln/>
        </p:spPr>
        <p:txBody>
          <a:bodyPr wrap="square" lIns="0" tIns="0" rIns="0" bIns="0" rtlCol="0" anchor="t"/>
          <a:lstStyle/>
          <a:p>
            <a:pPr indent="0" marL="0">
              <a:lnSpc>
                <a:spcPts val="1100"/>
              </a:lnSpc>
              <a:buNone/>
            </a:pPr>
            <a:r>
              <a:rPr lang="en-US" sz="900" dirty="0">
                <a:solidFill>
                  <a:srgbClr val="1B2432"/>
                </a:solidFill>
                <a:latin typeface="Calibri" pitchFamily="34" charset="0"/>
                <a:ea typeface="Calibri" pitchFamily="34" charset="-122"/>
                <a:cs typeface="Calibri" pitchFamily="34" charset="-120"/>
              </a:rPr>
              <a:t>1 — Is the tier distribution moving, and is the movement explained by pattern maturity rather than by softer assignment?      2 — Are Dedicated intakes producing pattern candidates?      3 — Has the platform team been pulled into delivery work?</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ECM Partner Enablement — Design Walkthrough</dc:title>
  <dc:subject>PptxGenJS Presentation</dc:subject>
  <dc:creator>ECM Partner Enablement</dc:creator>
  <cp:lastModifiedBy>ECM Partner Enablement</cp:lastModifiedBy>
  <cp:revision>1</cp:revision>
  <dcterms:created xsi:type="dcterms:W3CDTF">2026-10-16T07:44:31Z</dcterms:created>
  <dcterms:modified xsi:type="dcterms:W3CDTF">2026-10-16T07:44:31Z</dcterms:modified>
</cp:coreProperties>
</file>