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SLIDE
Establish that the problem is structural, that it is ours rather than the partners', and that it is visible in the portfolio itself. Do not move on until the room accepts the diagnosis — nothing on the following six slides lands without it.
THE PORTFOLIO — START HERE
We support thirty-eight distinct onboarding scenario types, which group into ten categories. Walk a few rows rather than all ten. The spread is the point: a support ownership change takes two to five ECM days; a greenfield partner onboarding takes thirty-five to sixty; a migration campaign takes forty to ninety. That is a twenty-fold range, and every single one of them is handled with the same dedicated pod from inception to release.
Ten of the thirty-eight types need under ten ECM days. Fourteen are genuinely high-effort. Fourteen sit in the middle. One delivery model is being asked to serve all three groups.
THE EFFORT SPLIT — THE HEART OF THIS SLIDE
Of an enabler squad member's time on a typical intake: eighteen per cent is design judgement, twenty-four per cent is ECM build and configuration, thirty-one per cent is chasing inputs the partner owns, fifteen per cent is chasing external teams, and twelve per cent is tracking and admin.
Say the headline plainly: forty-six per cent is chasing, not engineering. And the largest single block — thirty-one per cent — is spent chasing things that are the partner's own responsibility to supply.
Be scrupulous here, because someone will push: this is the squads' own estimate. We do not instrument it today. Producing the measurement is a named Phase 1 deliverable. Concede the precision immediately and hold the direction.
WHAT WE ARE ACTUALLY CHASING FOR — READ THE LIST OUT
Document inventory and sample files. Volume and peak projections. Retention requirements and the regulatory basis for them. The business meaning of metadata attributes. The entitlement model for their own users. Test data. UAT participants. The support and on-call owner after go-live.
Every item on that list is the partner's to provide. None of it requires ECM engineering knowledge to answer. We are paying engineers to extract information that the requesting party already holds.
THE SUBSIDY ARGUMENT — THIS IS THE KEY INSIGHT
This is the line to land: a dedicated resource is a subsidy for incomplete intake. Because we always assign someone, and that someone always chases, the partner never experiences any consequence from supplying nothing up front. We have, without ever deciding to, taken on their requirements-gathering as our own work. The model does not merely waste our capacity — it actively removes the incentive for the partner to arrive prepared.
If someone suggests we simply ask partners to do better: we have, repeatedly. Exhortation does not change a system where the cost of non-compliance falls on someone else. The tiered model changes it by making the obligation explicit and attaching it to what the partner receives.
THE FOUR GAPS
Depth is uniform, need is not — ten types need under ten days and all of them get a pod.
The hard intakes are starved — the fourteen genuinely complex types are competing for attention with twenty-four that are not. This is the one engineers in the room feel most sharply, and it is worth pausing on: the model over-serves the simple and under-serves the difficult simultaneously.
Responsibility transfers quietly — the subsidy argument above.
Growth has only one answer — capacity equals demand multiplied by a fixed depth, so every increase in partner demand arrives as a headcount request. That is why this conversation has happened before and ended the same way.
A FIFTH GAP, IF IT COMES UP
Without a published rule, depth gets allocated by influence: the partner who escalates hardest gets the pod. Nobody designed that, but it is what happens when there is no objective basis for saying no.
LIKELY QUESTIONS
"Are the squads just slow?" No. They are applying maximum depth uniformly and spending half their time chasing. This is an allocation problem, not a throughput problem.
"Could we hire our way out?" Only temporarily. Linear scaling means every demand increase needs a proportional headcount increase, and the chasing fraction does not improve with scale.
"Why thirty-eight?" That is the catalogue of distinct scenario types, not live intakes. Each type recurs.
"Where do the day ranges come from?" Squad estimates against recent deliveries of each type. Illustrative, and Phase 1 replaces them with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SLIDE
Define the model precisely enough that the room could apply it, and make the compliance position unambiguous. This is the slide people will come back to.
THE FOUR ADVANTAGES — LEAD WITH THESE
Depth matches assessed need. The second term of the capacity equation stops being a constant. That is the structural change; everything else follows from it.
Capacity stops scaling linearly. A Lean intake costs us almost nothing, and one shared pool of four to six people serves every Lean+ intake concurrently. So partner demand can grow without a proportional headcount request — which is the thing this room has been unable to say yes to before.
Partner obligations become explicit. This is the direct answer to the subsidy problem on the previous slide. Each tier states what the partner must do in order to receive it: follow the published pattern, attend both checkpoints with artefacts prepared, commit to a joint delivery plan. The obligation is attached to what they get, so it is not an exhortation.
Allocation stops being political. A published rubric with hard overrides replaces escalation. An appeal has to name a determinant it believes was scored wrongly — it cannot argue that the intake is important, because every partner believes that.
THE TIER TABLE — WALK IT BY COLUMN
Read down the columns, not across the rows. The columns are the dimensions along which the tiers actually differ.
What ECM allocates: nothing, a part-time shared pool, a full pod, a time-boxed campaign team. That is the capacity decision and it is the whole point of the model.
Checkpoints: this is the column people most want to understand. Lean has two binary checks and no scheduled design review at all — an entry check confirming the pattern and completeness band, and an exit check before go-live. Lean+ has two mandatory design checkpoints at defined moments, solution shape after triage and build readiness before configuration starts, plus the gate walk. Dedicated has continuous involvement with six named review points. Factory is certified at campaign boundaries with a sampling audit in the middle, because per-item review would defeat the purpose of batching.
Guardrails: note that every row begins with "all eight invariants". What differs is the tier-specific binding. Lean's is the escalation trigger — any deviation from the pattern forces a move to Lean+, which is what makes a no-review tier safe. Lean+'s is that the named guide signs the design record and no artefact means no review. Dedicated adds full design authority and formal change control. Factory binds a remediation standard once per campaign rather than per item.
THE TWO RULES THAT MAKE IT WORK
First: the Lean escalation trigger. A tier with no scheduled design review is only defensible because deviation from the pattern is itself a trigger. Make this explicit if anyone is nervous about Lean.
Second: the prior-intake condition. A partner that has not been through one onboarding with us cannot be Lean, whatever the scenario looks like on paper. That is about partner maturity, not intake complexity.
THE INVARIANTS — DO NOT SKIP
The band at the foot is the most important sentence here for anyone with a compliance interest. A lighter tier is a lighter allocation of design judgement to reach the same standard, not a lighter standard. Say it in those words. The first instinct of a partner told they are "Lean" is to hear deprioritisation, and the first instinct of a records or security stakeholder is to hear corner-cutting. Both are wrong and both will happen unless pre-empted.
ASSIGNMENT IS NOT NEGOTIABLE
Assigned by ECM, against a published rubric, with hard overrides. A model where partners self-select collapses within two months. Publishing the rubric is what makes assignment defensible rather than arbitrary.
LIKELY QUESTIONS
"What if a Lean intake turns out to be complex?" It escalates, and we track the rate. Above twenty-five per cent the rubric is wrong and we recalibrate.
"Who can override a tier?" Nobody on request. Five hard conditions force Dedicated regardless of score — no pattern precedent at all, content or metadata to be remediated, new regulated retention or WORM, multiple LOBs or partners in one intake. And no first-time partner can be Lean.
"Does Factory really belong here?" It is campaign-shaped rather than intake-shaped, so it behaves differently — but it is listed because those two scenario types otherwise distort every figure.
"Is this just triage with new labels?" No. Triage today classifies and routes. Here it determines how much engineering depth an intake receives, which is a resourcing decision with a published basis and an appeal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SLIDE
Show that the model can be run for a quarter at close to zero cost, and be scrupulously honest about its ceiling. Phase 1 is the only thing being approved today.
THE JOURNEY STRIP — ESTABLISH THE BASELINE
Four of the five stages are ECM-driven and the fifth is shared. That is the starting state, and it is the picture that will visibly change across the next three slides. Point at it and say: this is what "we are in the middle of everything" looks like.
The one stage that does change in Phase 1 is establishing requirements, and it changes by becoming a real conversation rather than a form. A pre-read, a ninety-minute Discovery Triage worked from a written guide with the reason explained at the point of asking, a thirty-minute internal tiering review, and a one-page Outcome Record. Roughly three hours of structured effort per intake, against weeks of serial clarification today.
THE SIX-PLUS-ONE WORKSTREAMS
Six are operating discipline: socialising the model; rebuilding the triage template; leads assigning tier and guardrails; the partner tier charter; the shared pool; and the governance wrapper.
The partner tier charter is the one that addresses the subsidy problem directly. It states per tier what the partner receives, what is expected of them in return, and the basis on which the tier was assigned. A partner who understands why they are in Lean+ will accept it; one who is merely informed will escalate, and will be right to.
The seventh is the architecture evaluation — design only. If someone asks what architects do during a no-build quarter, this is the answer.
ON "NOTHING IS BUILT"
Be unambiguous. No platform, no workflow engine, no AI, no agents, no partner portal, no integration work, no new headcount. The artefacts produced are written guidance, a scoring sheet, a tracker and a design document.
The reason this is credible: six of the seven workstreams are people writing down what they already know and then applying it consistently. That is days of work, not months, which is why Phase 1 can start on approval rather than on a funding cycle.
THE TWELVE WEEKS
Weeks 1–2 prepare. Weeks 3–6 run in parallel — every intake gets deep triage and a tier assignment but is still delivered the current way, so we get real data at zero delivery risk and the leads get four weeks of scoring practice. Weeks 7–10 the assignments take effect. Weeks 11–12 evidence review. Defend the parallel run if anyone proposes shortening it; it is the most tempting and most damaging cut available.
THE CEILING — GIVE THIS EQUAL WEIGHT
Present the right-hand card with the same energy as the left. The clerical load is untouched. Per-intake effort stays roughly constant, so the model does not scale. The partner still cannot act unaided. External queue time is unchanged. And guardrails applied by a person under schedule pressure are weaker than gates that block — they will be waived, and the defence is that every waiver is recorded and reviewed, not that none will happen.
Why this honesty matters: a phase that oversells itself cannot be trusted at the week-twelve review, and the ceiling is precisely what motivates Phases 2 to 4.
LIKELY QUESTIONS
"Why do you need the pool if nothing is being built?" Because Lean+ carries most of the Phase 1 gain — seventeen scenarios — and Lean+ is defined by scheduled design assurance from someone who is not the delivery team. No pool, no Lean+, and Phase 1 becomes a renaming exercise.
"What if it does not work?" We will have a measured baseline, a calibrated rubric and a clear statement of why, for about two weeks of writing. That is a far cheaper way to find out than four sprints into a build.
"Why only five Lean?" Lean+ is a human process by design and works well by hand. Lean assumes the partner can proceed unaided, which without tooling they cannot — so only the five simplest, most repeated patterns qualify.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SLIDE
Show the first real build, explain why its scope is drawn where it is, and set the compliance position on AI before anyone has to ask.
THE JOURNEY STRIP — THE FIRST GREEN
Compare it with the previous slide. "Raise the intake" has moved to partner-driven: they initiate unaided through a guided intake instead of raising a ticket and waiting for triage. "Establish requirements" is now genuinely shared, with an AI copilot asking the catalogue questions and explaining why each one matters, while ECM assures the result. The last three stages are still ours. That is the honest picture of Phase 2: the front of the journey opens up, the back does not.
WHY THE SCOPE IS DRAWN HERE
Everything in this phase is owned, specified and operated by ECM. Nothing requires another team to change an interface, commit roadmap capacity or agree a contract. That was a deliberate design constraint, not an accident.
The reason is delivery risk: a phase needing seven external teams to commit capacity has seven ways to stall. Confining Phase 2 to the perimeter guarantees we can deliver on our own schedule, and means we arrive at Phase 3 with a working system to integrate rather than a design to discuss.
It costs us something real — external queue time is untouched until Phase 3 — and that trade is worth stating openly.
THE CAPABILITIES — MAP THEM TO PHASE 1
Each one mechanises something the room will have spent a quarter doing by hand. The written guide becomes a guided intake. A lead's judgement on completeness becomes a gate that blocks. A spreadsheet column becomes a gap register that ages and chases. A scoring sheet becomes a tiering assistant. A lead's recall becomes a pattern matcher. Templates filled in by hand become generated artefacts. That mapping is deliberate: Phase 2 is not a new idea, it is the mechanisation of a process we will already have ten weeks of evidence about.
Two deserve emphasis. Completeness validation becomes a block rather than advice — a person under pressure lets things through and a gate does not. And artefact generation is where the clerical load finally goes.
THE AI AUTHORITY MODEL — DO NOT RUSH THIS
Four layers: propose, decide, act, authorise. An agent may do a great deal in propose and act, but the transition always passes through a named human, and anything irreversible requires a second authorisation.
The point that converts sceptics: this is architectural, not a policy an operator can relax under delivery pressure. No agent holds a credential capable of promoting, approving or clearing anything. The capability is simply absent.
Worth saying directly to compliance stakeholders: every determination stays with its existing owner. Imaging Governance still determines trust posture and allocates classification; Records Management still approves retention. The tiering assistant can score all seven determinants and show its reasoning, but it cannot assign — the lead assigns, every time.
Expect a question about hallucination in the intake copilot. Its drafts are proposals the partner must confirm, each attributed to the prior intake it was derived from, and nothing enters the record unconfirmed.
THE BOUND — SAY THE LINE VERBATIM
"Phase 2 is the phase that makes ECM efficient. It is not the phase that makes partner onboarding fast."
Saying that at the Phase 2 approval protects us from being judged at the end of Phase 2 against a Phase 4 expectation. Be concrete: a partner who previously waited six weeks, four on us and two on Imaging Governance, now waits perhaps three — of which two are still Imaging Governance. Real improvement, but not the improvement they were promised.
WHY DEDICATED DOES NOT MOVE
It looks like an error on the next slide's chart, so explain it here. The determinants that drive a Dedicated assignment are mostly external in origin — new regulated retention, DKE changes, uncertified volume envelopes. Automating our own work makes those intakes cheaper to run without making them less complex.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SLIDE
Show the phase where elapsed time genuinely falls, and be clear that the mechanism is simpler than it looks: send complete, well-formed requests the first time.
EFFORT VERSUS WAITING — THE CONCEPTUAL KEY
Open with this. A perfectly efficient ECM team still waits three weeks for a classification determination. That wait is invisible to every internal efficiency metric and completely visible to the partner. Phases 1 and 2 reduce effort; this phase reduces waiting, and they are different quantities.
THE MECHANISM — WALK ONE HAND-OFF END TO END
Use Imaging Governance, since it is the most consequential and most familiar. Today we submit a document inventory, and Imaging Governance comes back asking about sample traits or proposed subtypes — that round trip costs a full queue cycle, and it can happen twice. Under Phase 3 the request arrives with the inventory, the sampled traits, a proposed category, type and subtype allocation and the trust rationale, already checked against whether every type exists in the taxonomy and whether a DKE change is implied.
We are not speeding up the receiving team at all. We are removing the rework loop that currently multiplies the effective queue time.
WHAT WE ASK OF THE EXTERNAL TEAMS — USE THIS WHEN SOCIALISING
Three things: their acceptance criteria written down, a structured intake channel, and a status signal we can read. We are not asking them to change process, adopt our tooling or commit engineering capacity. That modest ask is precisely why this phase is realistic to sequence third rather than first — and it is in their interest too, since they stop receiving half-formed requests.
Plan the conversation during Phase 2, not at the start of Phase 3. This is the dependency most likely to bite, and the mitigation is descoping per team rather than delaying the whole phase.
THE AGENTIC ROLE — BE PRECISE
Agents assemble, validate, submit, track and chase. They influence no determination. Say that plainly to Imaging Governance and Records Management early, because the instinct on hearing "AI" and "classification" in the same sentence is that we are proposing to automate their judgement. We are not. Their authority is untouched.
WHY DEDICATED MOVES HERE AND NOT IN PHASE 2
The three scenarios that reclassify were Dedicated because of external complexity — new subtypes needing DKE assessment, a new retention binding, an uncertified volume envelope — not because the ECM work was hard. Once those hand-offs are routine, well-formed and predictable, the intake is not complex any more.
THE PARTNER-FACING POINT
This is the first phase a partner would actually notice. Phases 1 and 2 improve how we work; this one shows up in the only measure a partner experiences, which is how long it takes from raising an intake to being live. If the programme is going to be judged on partner-facing results, this is the phase that earns that judgement, and it is worth saying so when asking for it.
THE HONEST BOUND
Eleven scenarios stay Dedicated and will stay Dedicated through Phase 4, because they involve genuine novelty. That is the irreducible floor. We should stop implying it can be engineered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SLIDE
Close the arc: the partner journey is now almost entirely partner-driven, and ECM has moved from doing the work to assuring it. Give equal time to the second half of this phase, which is organisational rather than technical and is the part most likely to be neglected.
THE JOURNEY STRIP — THE PAYOFF
Compare all four phase slides side by side if you can. Phase 1: four of five stages ECM-driven. Phase 4: four of five partner-driven, with gates shared. That progression is the programme in one picture, and it is worth pausing on.
Note what stays shared: clearing the gates. That is deliberate and permanent. Deterministic gates can be cleared by the partner; judgement gates cannot, and never will be.
WHAT ECM RETAINS — WALK THIS COLUMN, NOT THE OTHER
It is what reassures the room. Pattern curation stays with us. The policy bounds stay with us. Every judgement-bearing gate stays with us. All eight invariants stay with us. Only own-state visibility is pure handover — and that is also the thing partners would value most today.
THE SECOND HALF — TIER UTILISATION DISCIPLINE
This is an organisational commitment, not a build, which is exactly why it gets neglected once the tooling is delivered. Dedicated pods reserved for seven scenarios. The shared pool sized on measured checkpoint load rather than estimate. The backlog drained through self-service instead of competing with new demand for the same pods.
None of that requires technology. It requires holding the line, and the line will be tested.
THE PRECONDITION — THE GOVERNANCE ANSWER
Self-service is only responsible on top of gates that are deterministic, automated and trustworthy. Producing those is precisely what Phases 2 and 3 do. This is the strongest single justification for the phase ordering, and it is worth repeating here even though it was made earlier: handing partners self-service before the gates were reliable would transfer risk to the party least equipped to carry it.
A NEW RISK THIS PHASE INTRODUCES
Self-service widens the blast radius of a bad pattern. When one partner follows a flawed pattern with a pod alongside them, someone notices. When forty partners self-serve on it, nobody does until something breaks. Pattern curation therefore becomes a standing ECM responsibility with its own review cadence — it is not a one-off Phase 4 deliverable.
ON CAPACITY — BE CONSISTENT
Released capacity absorbs demand growth. Say it that way every time. Framing it as headcount reduction will make the squads resist every phase of this programme, including the one we are asking approval for today.
LIKELY QUESTIONS
"What stops a partner self-serving something complex?" The rubric runs at intake. Anything scoring above the Lean threshold, or hitting a hard override, never reaches self-service in the first place.
"What if the backlog does not drain?" Measure it separately from new-intake turnaround. The two have different dynamics and averaging them hides both.
"Do we still need the shared pool?" Yes — thirteen Lean+ scenarios at steady state. What changes is that we can finally size it on measured checkpoint load instead of estimating.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SLIDE
Bring the four phases together, then narrow the ask to one quarter. The room should leave clear that they are approving a quarter of practice, not a programme.
THE DISTRIBUTION CHART
Five states, thirty-eight scenarios in each. Dedicated falls thirty-eight, fourteen, fourteen, eleven, seven. The first drop — thirty-eight to fourteen — costs no engineering at all, and that is the single most striking number in the deck.
Point out the flat step at Phase 2 before anyone asks. It looks like an error and is not: automating our own work makes dedicated intakes cheaper to run without making them less complex, because the determinants driving a Dedicated assignment are mostly external in origin. Complexity falls at Phase 3, when those hand-offs become routine.
THE TURNAROUND INDEX
A shape, not a forecast. It derives from the squads' own estimates and we have no measured baseline — which is precisely why Phase 1 exists. If challenged, do not defend the numbers; agree they are estimates and point out that producing defensible figures is a Phase 1 deliverable. Defending illustrative numbers as if they were measured is the fastest way to lose this room.
THE FOUR WASTES, IN ONE SENTENCE EACH
Phase 1 removes misallocation. Phase 2 removes our own effort. Phase 3 removes waiting. Phase 4 removes mediation. No phase substitutes for another, which is why none of them can simply be skipped to reach the end state faster.
THE THREE ASKS — SAY THEM AS THREE
One: run Phase 1 for a quarter. Two: protect the shared pool. Three: agree the evidence criteria now.
The second is the one most likely to be waved through and most likely to kill this. The pool is four to six people seconded from three squads already under delivery pressure. The first time a squad lead reclaims their person for a sprint commitment and it is allowed, the pool becomes notional and Lean+ silently reverts to unsupported self-service. We are asking for an explicit commitment with a named escalation route agreed before we start — not goodwill.
The third protects everyone. Agreeing criteria in advance makes the week-twelve review an assessment rather than an argument, and means a genuine negative result is as useful as a positive one.
WHAT WE ARE NOT ASKING FOR
No build funding. No headcount. No commitment to Phases 2 to 4. Those are sized by the architecture evaluation inside Phase 1 and come back to this room as a separate, costed proposal. Saying this explicitly makes the ask much easier to approve.
IF THE EVIDENCE IS MIXED AT WEEK TWELVE
We bring the measurements and recommend either a narrower Phase 2 scope or a second quarter of Phase 1 with named corrections. A mixed result is a steer, not a stop.
ON CAPACITY AND HEADCOUNT
Released capacity absorbs demand growth. Never frame any phase as headcount reduction — the squads will resist all four phases if they hear it that way, and the honest argument is the growth one anyway: this is how we serve more partner demand with the team we have.
CLOSING LINE
Each phase stands on its own, each is approved on the evidence the previous one produced, and no phase asks for agreement from a circle wider than the one it has already earned. If the room takes away one sentence, that is the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304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6E"/>
          </a:solidFill>
          <a:ln w="12700">
            <a:solidFill>
              <a:srgbClr val="333333"/>
            </a:solidFill>
            <a:prstDash val="solid"/>
          </a:ln>
        </p:spPr>
      </p:sp>
      <p:sp>
        <p:nvSpPr>
          <p:cNvPr id="3" name="Text 1"/>
          <p:cNvSpPr txBox="1"/>
          <p:nvPr/>
        </p:nvSpPr>
        <p:spPr>
          <a:xfrm>
            <a:off x="868680" y="1600200"/>
            <a:ext cx="10058400" cy="274320"/>
          </a:xfrm>
          <a:prstGeom prst="rect">
            <a:avLst/>
          </a:prstGeom>
          <a:noFill/>
          <a:ln/>
        </p:spPr>
        <p:txBody>
          <a:bodyPr wrap="square" lIns="0" tIns="0" rIns="0" bIns="0" rtlCol="0" anchor="ctr"/>
          <a:lstStyle/>
          <a:p>
            <a:pPr indent="0" marL="0">
              <a:buNone/>
            </a:pPr>
            <a:r>
              <a:rPr lang="en-US" sz="1200" b="1" spc="400" kern="0" dirty="0">
                <a:solidFill>
                  <a:srgbClr val="8FB8B8"/>
                </a:solidFill>
                <a:latin typeface="Calibri" pitchFamily="34" charset="0"/>
                <a:ea typeface="Calibri" pitchFamily="34" charset="-122"/>
                <a:cs typeface="Calibri" pitchFamily="34" charset="-120"/>
              </a:rPr>
              <a:t>Partner enablement operating model</a:t>
            </a:r>
            <a:endParaRPr lang="en-US" sz="1200" dirty="0"/>
          </a:p>
        </p:txBody>
      </p:sp>
      <p:sp>
        <p:nvSpPr>
          <p:cNvPr id="4" name="Text 2"/>
          <p:cNvSpPr txBox="1"/>
          <p:nvPr/>
        </p:nvSpPr>
        <p:spPr>
          <a:xfrm>
            <a:off x="868680" y="1920240"/>
            <a:ext cx="10607040" cy="841248"/>
          </a:xfrm>
          <a:prstGeom prst="rect">
            <a:avLst/>
          </a:prstGeom>
          <a:noFill/>
          <a:ln/>
        </p:spPr>
        <p:txBody>
          <a:bodyPr wrap="square" lIns="0" tIns="0" rIns="0" bIns="0" rtlCol="0" anchor="t"/>
          <a:lstStyle/>
          <a:p>
            <a:pPr indent="0" marL="0">
              <a:lnSpc>
                <a:spcPts val="5200"/>
              </a:lnSpc>
              <a:buNone/>
            </a:pPr>
            <a:r>
              <a:rPr lang="en-US" sz="4400" b="1" dirty="0">
                <a:solidFill>
                  <a:srgbClr val="FFFFFF"/>
                </a:solidFill>
                <a:latin typeface="Cambria" pitchFamily="34" charset="0"/>
                <a:ea typeface="Cambria" pitchFamily="34" charset="-122"/>
                <a:cs typeface="Cambria" pitchFamily="34" charset="-120"/>
              </a:rPr>
              <a:t>Tiered Enablement, in Four Phases</a:t>
            </a:r>
            <a:endParaRPr lang="en-US" sz="4400" dirty="0"/>
          </a:p>
        </p:txBody>
      </p:sp>
      <p:sp>
        <p:nvSpPr>
          <p:cNvPr id="5" name="Text 3"/>
          <p:cNvSpPr txBox="1"/>
          <p:nvPr/>
        </p:nvSpPr>
        <p:spPr>
          <a:xfrm>
            <a:off x="868680" y="2871216"/>
            <a:ext cx="10058400" cy="685800"/>
          </a:xfrm>
          <a:prstGeom prst="rect">
            <a:avLst/>
          </a:prstGeom>
          <a:noFill/>
          <a:ln/>
        </p:spPr>
        <p:txBody>
          <a:bodyPr wrap="square" lIns="0" tIns="0" rIns="0" bIns="0" rtlCol="0" anchor="ctr"/>
          <a:lstStyle/>
          <a:p>
            <a:pPr indent="0" marL="0">
              <a:lnSpc>
                <a:spcPts val="2400"/>
              </a:lnSpc>
              <a:buNone/>
            </a:pPr>
            <a:r>
              <a:rPr lang="en-US" sz="1800" dirty="0">
                <a:solidFill>
                  <a:srgbClr val="BFD0DF"/>
                </a:solidFill>
                <a:latin typeface="Cambria" pitchFamily="34" charset="0"/>
                <a:ea typeface="Cambria" pitchFamily="34" charset="-122"/>
                <a:cs typeface="Cambria" pitchFamily="34" charset="-120"/>
              </a:rPr>
              <a:t>Why one delivery model cannot serve thirty-eight different intakes — and how we fix it without building anything first</a:t>
            </a:r>
            <a:endParaRPr lang="en-US" sz="1800" dirty="0"/>
          </a:p>
        </p:txBody>
      </p:sp>
      <p:sp>
        <p:nvSpPr>
          <p:cNvPr id="6" name="Shape 4"/>
          <p:cNvSpPr/>
          <p:nvPr/>
        </p:nvSpPr>
        <p:spPr>
          <a:xfrm>
            <a:off x="868680" y="3785616"/>
            <a:ext cx="3840480" cy="0"/>
          </a:xfrm>
          <a:prstGeom prst="line">
            <a:avLst/>
          </a:prstGeom>
          <a:noFill/>
          <a:ln w="28575">
            <a:solidFill>
              <a:srgbClr val="0B6E6E"/>
            </a:solidFill>
            <a:prstDash val="solid"/>
          </a:ln>
        </p:spPr>
      </p:sp>
      <p:sp>
        <p:nvSpPr>
          <p:cNvPr id="7" name="Text 5"/>
          <p:cNvSpPr txBox="1"/>
          <p:nvPr/>
        </p:nvSpPr>
        <p:spPr>
          <a:xfrm>
            <a:off x="868680" y="4078224"/>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PORTFOLIO</a:t>
            </a:r>
            <a:endParaRPr lang="en-US" sz="800" dirty="0"/>
          </a:p>
        </p:txBody>
      </p:sp>
      <p:sp>
        <p:nvSpPr>
          <p:cNvPr id="8" name="Text 6"/>
          <p:cNvSpPr txBox="1"/>
          <p:nvPr/>
        </p:nvSpPr>
        <p:spPr>
          <a:xfrm>
            <a:off x="868680" y="4279392"/>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38 scenario types · 10 categories</a:t>
            </a:r>
            <a:endParaRPr lang="en-US" sz="1150" dirty="0"/>
          </a:p>
        </p:txBody>
      </p:sp>
      <p:sp>
        <p:nvSpPr>
          <p:cNvPr id="9" name="Text 7"/>
          <p:cNvSpPr txBox="1"/>
          <p:nvPr/>
        </p:nvSpPr>
        <p:spPr>
          <a:xfrm>
            <a:off x="3360420" y="4078224"/>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TEAMS</a:t>
            </a:r>
            <a:endParaRPr lang="en-US" sz="800" dirty="0"/>
          </a:p>
        </p:txBody>
      </p:sp>
      <p:sp>
        <p:nvSpPr>
          <p:cNvPr id="10" name="Text 8"/>
          <p:cNvSpPr txBox="1"/>
          <p:nvPr/>
        </p:nvSpPr>
        <p:spPr>
          <a:xfrm>
            <a:off x="3360420" y="4279392"/>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3 squads · 30+ engineers</a:t>
            </a:r>
            <a:endParaRPr lang="en-US" sz="1150" dirty="0"/>
          </a:p>
        </p:txBody>
      </p:sp>
      <p:sp>
        <p:nvSpPr>
          <p:cNvPr id="11" name="Text 9"/>
          <p:cNvSpPr txBox="1"/>
          <p:nvPr/>
        </p:nvSpPr>
        <p:spPr>
          <a:xfrm>
            <a:off x="5852160" y="4078224"/>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PHASE 1</a:t>
            </a:r>
            <a:endParaRPr lang="en-US" sz="800" dirty="0"/>
          </a:p>
        </p:txBody>
      </p:sp>
      <p:sp>
        <p:nvSpPr>
          <p:cNvPr id="12" name="Text 10"/>
          <p:cNvSpPr txBox="1"/>
          <p:nvPr/>
        </p:nvSpPr>
        <p:spPr>
          <a:xfrm>
            <a:off x="5852160" y="4279392"/>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One quarter · no build</a:t>
            </a:r>
            <a:endParaRPr lang="en-US" sz="1150" dirty="0"/>
          </a:p>
        </p:txBody>
      </p:sp>
      <p:sp>
        <p:nvSpPr>
          <p:cNvPr id="13" name="Text 11"/>
          <p:cNvSpPr txBox="1"/>
          <p:nvPr/>
        </p:nvSpPr>
        <p:spPr>
          <a:xfrm>
            <a:off x="8343900" y="4078224"/>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DECISION</a:t>
            </a:r>
            <a:endParaRPr lang="en-US" sz="800" dirty="0"/>
          </a:p>
        </p:txBody>
      </p:sp>
      <p:sp>
        <p:nvSpPr>
          <p:cNvPr id="14" name="Text 12"/>
          <p:cNvSpPr txBox="1"/>
          <p:nvPr/>
        </p:nvSpPr>
        <p:spPr>
          <a:xfrm>
            <a:off x="8343900" y="4279392"/>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Approve Phase 1</a:t>
            </a:r>
            <a:endParaRPr lang="en-US" sz="1150" dirty="0"/>
          </a:p>
        </p:txBody>
      </p:sp>
      <p:sp>
        <p:nvSpPr>
          <p:cNvPr id="15" name="Shape 13"/>
          <p:cNvSpPr/>
          <p:nvPr/>
        </p:nvSpPr>
        <p:spPr>
          <a:xfrm>
            <a:off x="868680" y="5998464"/>
            <a:ext cx="10607040" cy="0"/>
          </a:xfrm>
          <a:prstGeom prst="line">
            <a:avLst/>
          </a:prstGeom>
          <a:noFill/>
          <a:ln w="12700">
            <a:solidFill>
              <a:srgbClr val="2E4968"/>
            </a:solidFill>
            <a:prstDash val="solid"/>
          </a:ln>
        </p:spPr>
      </p:sp>
      <p:sp>
        <p:nvSpPr>
          <p:cNvPr id="16" name="Text 14"/>
          <p:cNvSpPr txBox="1"/>
          <p:nvPr/>
        </p:nvSpPr>
        <p:spPr>
          <a:xfrm>
            <a:off x="868680" y="6126480"/>
            <a:ext cx="6400800" cy="256032"/>
          </a:xfrm>
          <a:prstGeom prst="rect">
            <a:avLst/>
          </a:prstGeom>
          <a:noFill/>
          <a:ln/>
        </p:spPr>
        <p:txBody>
          <a:bodyPr wrap="square" lIns="0" tIns="0" rIns="0" bIns="0" rtlCol="0" anchor="ctr"/>
          <a:lstStyle/>
          <a:p>
            <a:pPr indent="0" marL="0">
              <a:buNone/>
            </a:pPr>
            <a:r>
              <a:rPr lang="en-US" sz="950" spc="80" kern="0" dirty="0">
                <a:solidFill>
                  <a:srgbClr val="7F97AE"/>
                </a:solidFill>
                <a:latin typeface="Calibri" pitchFamily="34" charset="0"/>
                <a:ea typeface="Calibri" pitchFamily="34" charset="-122"/>
                <a:cs typeface="Calibri" pitchFamily="34" charset="-120"/>
              </a:rPr>
              <a:t>ECM Partner Enablement   ·   Draft for review</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Text 2"/>
          <p:cNvSpPr txBox="1"/>
          <p:nvPr/>
        </p:nvSpPr>
        <p:spPr>
          <a:xfrm>
            <a:off x="795528" y="219456"/>
            <a:ext cx="96926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Thirty-eight different intakes, one delivery model</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Every intake receives a dedicated pod from inception to release, regardless of what it actually requires</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The problem</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24128"/>
            <a:ext cx="1042416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THE INTAKE PORTFOLIO — TEN CATEGORIES, THIRTY-EIGHT DISTINCT SCENARIO TYPES</a:t>
            </a:r>
            <a:endParaRPr lang="en-US" sz="760" dirty="0"/>
          </a:p>
        </p:txBody>
      </p:sp>
      <p:sp>
        <p:nvSpPr>
          <p:cNvPr id="9" name="Shape 7"/>
          <p:cNvSpPr/>
          <p:nvPr/>
        </p:nvSpPr>
        <p:spPr>
          <a:xfrm>
            <a:off x="411480" y="1225296"/>
            <a:ext cx="5577840" cy="237744"/>
          </a:xfrm>
          <a:prstGeom prst="rect">
            <a:avLst/>
          </a:prstGeom>
          <a:solidFill>
            <a:srgbClr val="15304F"/>
          </a:solidFill>
          <a:ln w="12700">
            <a:solidFill>
              <a:srgbClr val="333333"/>
            </a:solidFill>
            <a:prstDash val="solid"/>
          </a:ln>
        </p:spPr>
      </p:sp>
      <p:sp>
        <p:nvSpPr>
          <p:cNvPr id="10" name="Text 8"/>
          <p:cNvSpPr txBox="1"/>
          <p:nvPr/>
        </p:nvSpPr>
        <p:spPr>
          <a:xfrm>
            <a:off x="484632" y="1225296"/>
            <a:ext cx="2871216" cy="237744"/>
          </a:xfrm>
          <a:prstGeom prst="rect">
            <a:avLst/>
          </a:prstGeom>
          <a:noFill/>
          <a:ln/>
        </p:spPr>
        <p:txBody>
          <a:bodyPr wrap="square" lIns="0" tIns="0" rIns="0" bIns="0" rtlCol="0" anchor="ctr"/>
          <a:lstStyle/>
          <a:p>
            <a:pPr algn="l" indent="0" marL="0">
              <a:buNone/>
            </a:pPr>
            <a:r>
              <a:rPr lang="en-US" sz="760" b="1" dirty="0">
                <a:solidFill>
                  <a:srgbClr val="FFFFFF"/>
                </a:solidFill>
                <a:latin typeface="Calibri" pitchFamily="34" charset="0"/>
                <a:ea typeface="Calibri" pitchFamily="34" charset="-122"/>
                <a:cs typeface="Calibri" pitchFamily="34" charset="-120"/>
              </a:rPr>
              <a:t>Intake category</a:t>
            </a:r>
            <a:endParaRPr lang="en-US" sz="760" dirty="0"/>
          </a:p>
        </p:txBody>
      </p:sp>
      <p:sp>
        <p:nvSpPr>
          <p:cNvPr id="11" name="Text 9"/>
          <p:cNvSpPr txBox="1"/>
          <p:nvPr/>
        </p:nvSpPr>
        <p:spPr>
          <a:xfrm>
            <a:off x="3502152" y="1225296"/>
            <a:ext cx="329184" cy="237744"/>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Types</a:t>
            </a:r>
            <a:endParaRPr lang="en-US" sz="760" dirty="0"/>
          </a:p>
        </p:txBody>
      </p:sp>
      <p:sp>
        <p:nvSpPr>
          <p:cNvPr id="12" name="Text 10"/>
          <p:cNvSpPr txBox="1"/>
          <p:nvPr/>
        </p:nvSpPr>
        <p:spPr>
          <a:xfrm>
            <a:off x="3977640" y="1225296"/>
            <a:ext cx="932688" cy="237744"/>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Effort</a:t>
            </a:r>
            <a:endParaRPr lang="en-US" sz="760" dirty="0"/>
          </a:p>
        </p:txBody>
      </p:sp>
      <p:sp>
        <p:nvSpPr>
          <p:cNvPr id="13" name="Text 11"/>
          <p:cNvSpPr txBox="1"/>
          <p:nvPr/>
        </p:nvSpPr>
        <p:spPr>
          <a:xfrm>
            <a:off x="5056632" y="1225296"/>
            <a:ext cx="859536" cy="237744"/>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ECM days</a:t>
            </a:r>
            <a:endParaRPr lang="en-US" sz="760" dirty="0"/>
          </a:p>
        </p:txBody>
      </p:sp>
      <p:sp>
        <p:nvSpPr>
          <p:cNvPr id="14" name="Shape 12"/>
          <p:cNvSpPr/>
          <p:nvPr/>
        </p:nvSpPr>
        <p:spPr>
          <a:xfrm>
            <a:off x="411480" y="1463040"/>
            <a:ext cx="5577840" cy="260604"/>
          </a:xfrm>
          <a:prstGeom prst="rect">
            <a:avLst/>
          </a:prstGeom>
          <a:solidFill>
            <a:srgbClr val="F4F7FA"/>
          </a:solidFill>
          <a:ln w="6350">
            <a:solidFill>
              <a:srgbClr val="D4DAE2"/>
            </a:solidFill>
            <a:prstDash val="solid"/>
          </a:ln>
        </p:spPr>
      </p:sp>
      <p:sp>
        <p:nvSpPr>
          <p:cNvPr id="15" name="Text 13"/>
          <p:cNvSpPr txBox="1"/>
          <p:nvPr/>
        </p:nvSpPr>
        <p:spPr>
          <a:xfrm>
            <a:off x="484632" y="1463040"/>
            <a:ext cx="2871216" cy="26060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New partner onboarding (greenfield)</a:t>
            </a:r>
            <a:endParaRPr lang="en-US" sz="780" dirty="0"/>
          </a:p>
        </p:txBody>
      </p:sp>
      <p:sp>
        <p:nvSpPr>
          <p:cNvPr id="16" name="Text 14"/>
          <p:cNvSpPr txBox="1"/>
          <p:nvPr/>
        </p:nvSpPr>
        <p:spPr>
          <a:xfrm>
            <a:off x="3429000" y="1463040"/>
            <a:ext cx="475488" cy="260604"/>
          </a:xfrm>
          <a:prstGeom prst="rect">
            <a:avLst/>
          </a:prstGeom>
          <a:noFill/>
          <a:ln/>
        </p:spPr>
        <p:txBody>
          <a:bodyPr wrap="square" lIns="0" tIns="0" rIns="0" bIns="0" rtlCol="0" anchor="ctr"/>
          <a:lstStyle/>
          <a:p>
            <a:pPr algn="ctr" indent="0" marL="0">
              <a:buNone/>
            </a:pPr>
            <a:r>
              <a:rPr lang="en-US" sz="780" dirty="0">
                <a:solidFill>
                  <a:srgbClr val="1B2432"/>
                </a:solidFill>
                <a:latin typeface="Calibri" pitchFamily="34" charset="0"/>
                <a:ea typeface="Calibri" pitchFamily="34" charset="-122"/>
                <a:cs typeface="Calibri" pitchFamily="34" charset="-120"/>
              </a:rPr>
              <a:t>4</a:t>
            </a:r>
            <a:endParaRPr lang="en-US" sz="780" dirty="0"/>
          </a:p>
        </p:txBody>
      </p:sp>
      <p:sp>
        <p:nvSpPr>
          <p:cNvPr id="17" name="Shape 15"/>
          <p:cNvSpPr/>
          <p:nvPr/>
        </p:nvSpPr>
        <p:spPr>
          <a:xfrm>
            <a:off x="4032504" y="1508760"/>
            <a:ext cx="822960" cy="169164"/>
          </a:xfrm>
          <a:prstGeom prst="rect">
            <a:avLst/>
          </a:prstGeom>
          <a:solidFill>
            <a:srgbClr val="FBF0EB"/>
          </a:solidFill>
          <a:ln w="12700">
            <a:solidFill>
              <a:srgbClr val="FBF0EB"/>
            </a:solidFill>
            <a:prstDash val="solid"/>
          </a:ln>
        </p:spPr>
      </p:sp>
      <p:sp>
        <p:nvSpPr>
          <p:cNvPr id="18" name="Text 16"/>
          <p:cNvSpPr txBox="1"/>
          <p:nvPr/>
        </p:nvSpPr>
        <p:spPr>
          <a:xfrm>
            <a:off x="3904488" y="1463040"/>
            <a:ext cx="1078992" cy="260604"/>
          </a:xfrm>
          <a:prstGeom prst="rect">
            <a:avLst/>
          </a:prstGeom>
          <a:noFill/>
          <a:ln/>
        </p:spPr>
        <p:txBody>
          <a:bodyPr wrap="square" lIns="0" tIns="0" rIns="0" bIns="0" rtlCol="0" anchor="ctr"/>
          <a:lstStyle/>
          <a:p>
            <a:pPr algn="ctr" indent="0" marL="0">
              <a:buNone/>
            </a:pPr>
            <a:r>
              <a:rPr lang="en-US" sz="740" b="1" dirty="0">
                <a:solidFill>
                  <a:srgbClr val="A44A2A"/>
                </a:solidFill>
                <a:latin typeface="Calibri" pitchFamily="34" charset="0"/>
                <a:ea typeface="Calibri" pitchFamily="34" charset="-122"/>
                <a:cs typeface="Calibri" pitchFamily="34" charset="-120"/>
              </a:rPr>
              <a:t>High</a:t>
            </a:r>
            <a:endParaRPr lang="en-US" sz="740" dirty="0"/>
          </a:p>
        </p:txBody>
      </p:sp>
      <p:sp>
        <p:nvSpPr>
          <p:cNvPr id="19" name="Text 17"/>
          <p:cNvSpPr txBox="1"/>
          <p:nvPr/>
        </p:nvSpPr>
        <p:spPr>
          <a:xfrm>
            <a:off x="4983480" y="1463040"/>
            <a:ext cx="1005840" cy="260604"/>
          </a:xfrm>
          <a:prstGeom prst="rect">
            <a:avLst/>
          </a:prstGeom>
          <a:noFill/>
          <a:ln/>
        </p:spPr>
        <p:txBody>
          <a:bodyPr wrap="square" lIns="0" tIns="0" rIns="0" bIns="0" rtlCol="0" anchor="ctr"/>
          <a:lstStyle/>
          <a:p>
            <a:pPr algn="ctr" indent="0" marL="0">
              <a:buNone/>
            </a:pPr>
            <a:r>
              <a:rPr lang="en-US" sz="760" dirty="0">
                <a:solidFill>
                  <a:srgbClr val="55606E"/>
                </a:solidFill>
                <a:latin typeface="Calibri" pitchFamily="34" charset="0"/>
                <a:ea typeface="Calibri" pitchFamily="34" charset="-122"/>
                <a:cs typeface="Calibri" pitchFamily="34" charset="-120"/>
              </a:rPr>
              <a:t>35–60</a:t>
            </a:r>
            <a:endParaRPr lang="en-US" sz="760" dirty="0"/>
          </a:p>
        </p:txBody>
      </p:sp>
      <p:sp>
        <p:nvSpPr>
          <p:cNvPr id="20" name="Shape 18"/>
          <p:cNvSpPr/>
          <p:nvPr/>
        </p:nvSpPr>
        <p:spPr>
          <a:xfrm>
            <a:off x="411480" y="1723644"/>
            <a:ext cx="5577840" cy="260604"/>
          </a:xfrm>
          <a:prstGeom prst="rect">
            <a:avLst/>
          </a:prstGeom>
          <a:solidFill>
            <a:srgbClr val="FFFFFF"/>
          </a:solidFill>
          <a:ln w="6350">
            <a:solidFill>
              <a:srgbClr val="D4DAE2"/>
            </a:solidFill>
            <a:prstDash val="solid"/>
          </a:ln>
        </p:spPr>
      </p:sp>
      <p:sp>
        <p:nvSpPr>
          <p:cNvPr id="21" name="Text 19"/>
          <p:cNvSpPr txBox="1"/>
          <p:nvPr/>
        </p:nvSpPr>
        <p:spPr>
          <a:xfrm>
            <a:off x="484632" y="1723644"/>
            <a:ext cx="2871216" cy="26060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New document types / content extension</a:t>
            </a:r>
            <a:endParaRPr lang="en-US" sz="780" dirty="0"/>
          </a:p>
        </p:txBody>
      </p:sp>
      <p:sp>
        <p:nvSpPr>
          <p:cNvPr id="22" name="Text 20"/>
          <p:cNvSpPr txBox="1"/>
          <p:nvPr/>
        </p:nvSpPr>
        <p:spPr>
          <a:xfrm>
            <a:off x="3429000" y="1723644"/>
            <a:ext cx="475488" cy="260604"/>
          </a:xfrm>
          <a:prstGeom prst="rect">
            <a:avLst/>
          </a:prstGeom>
          <a:noFill/>
          <a:ln/>
        </p:spPr>
        <p:txBody>
          <a:bodyPr wrap="square" lIns="0" tIns="0" rIns="0" bIns="0" rtlCol="0" anchor="ctr"/>
          <a:lstStyle/>
          <a:p>
            <a:pPr algn="ctr" indent="0" marL="0">
              <a:buNone/>
            </a:pPr>
            <a:r>
              <a:rPr lang="en-US" sz="780" dirty="0">
                <a:solidFill>
                  <a:srgbClr val="1B2432"/>
                </a:solidFill>
                <a:latin typeface="Calibri" pitchFamily="34" charset="0"/>
                <a:ea typeface="Calibri" pitchFamily="34" charset="-122"/>
                <a:cs typeface="Calibri" pitchFamily="34" charset="-120"/>
              </a:rPr>
              <a:t>7</a:t>
            </a:r>
            <a:endParaRPr lang="en-US" sz="780" dirty="0"/>
          </a:p>
        </p:txBody>
      </p:sp>
      <p:sp>
        <p:nvSpPr>
          <p:cNvPr id="23" name="Shape 21"/>
          <p:cNvSpPr/>
          <p:nvPr/>
        </p:nvSpPr>
        <p:spPr>
          <a:xfrm>
            <a:off x="4032504" y="1769364"/>
            <a:ext cx="822960" cy="169164"/>
          </a:xfrm>
          <a:prstGeom prst="rect">
            <a:avLst/>
          </a:prstGeom>
          <a:solidFill>
            <a:srgbClr val="FAF1DF"/>
          </a:solidFill>
          <a:ln w="12700">
            <a:solidFill>
              <a:srgbClr val="FAF1DF"/>
            </a:solidFill>
            <a:prstDash val="solid"/>
          </a:ln>
        </p:spPr>
      </p:sp>
      <p:sp>
        <p:nvSpPr>
          <p:cNvPr id="24" name="Text 22"/>
          <p:cNvSpPr txBox="1"/>
          <p:nvPr/>
        </p:nvSpPr>
        <p:spPr>
          <a:xfrm>
            <a:off x="3904488" y="1723644"/>
            <a:ext cx="1078992" cy="260604"/>
          </a:xfrm>
          <a:prstGeom prst="rect">
            <a:avLst/>
          </a:prstGeom>
          <a:noFill/>
          <a:ln/>
        </p:spPr>
        <p:txBody>
          <a:bodyPr wrap="square" lIns="0" tIns="0" rIns="0" bIns="0" rtlCol="0" anchor="ctr"/>
          <a:lstStyle/>
          <a:p>
            <a:pPr algn="ctr" indent="0" marL="0">
              <a:buNone/>
            </a:pPr>
            <a:r>
              <a:rPr lang="en-US" sz="740" b="1" dirty="0">
                <a:solidFill>
                  <a:srgbClr val="9A6410"/>
                </a:solidFill>
                <a:latin typeface="Calibri" pitchFamily="34" charset="0"/>
                <a:ea typeface="Calibri" pitchFamily="34" charset="-122"/>
                <a:cs typeface="Calibri" pitchFamily="34" charset="-120"/>
              </a:rPr>
              <a:t>Medium</a:t>
            </a:r>
            <a:endParaRPr lang="en-US" sz="740" dirty="0"/>
          </a:p>
        </p:txBody>
      </p:sp>
      <p:sp>
        <p:nvSpPr>
          <p:cNvPr id="25" name="Text 23"/>
          <p:cNvSpPr txBox="1"/>
          <p:nvPr/>
        </p:nvSpPr>
        <p:spPr>
          <a:xfrm>
            <a:off x="4983480" y="1723644"/>
            <a:ext cx="1005840" cy="260604"/>
          </a:xfrm>
          <a:prstGeom prst="rect">
            <a:avLst/>
          </a:prstGeom>
          <a:noFill/>
          <a:ln/>
        </p:spPr>
        <p:txBody>
          <a:bodyPr wrap="square" lIns="0" tIns="0" rIns="0" bIns="0" rtlCol="0" anchor="ctr"/>
          <a:lstStyle/>
          <a:p>
            <a:pPr algn="ctr" indent="0" marL="0">
              <a:buNone/>
            </a:pPr>
            <a:r>
              <a:rPr lang="en-US" sz="760" dirty="0">
                <a:solidFill>
                  <a:srgbClr val="55606E"/>
                </a:solidFill>
                <a:latin typeface="Calibri" pitchFamily="34" charset="0"/>
                <a:ea typeface="Calibri" pitchFamily="34" charset="-122"/>
                <a:cs typeface="Calibri" pitchFamily="34" charset="-120"/>
              </a:rPr>
              <a:t>8–20</a:t>
            </a:r>
            <a:endParaRPr lang="en-US" sz="760" dirty="0"/>
          </a:p>
        </p:txBody>
      </p:sp>
      <p:sp>
        <p:nvSpPr>
          <p:cNvPr id="26" name="Shape 24"/>
          <p:cNvSpPr/>
          <p:nvPr/>
        </p:nvSpPr>
        <p:spPr>
          <a:xfrm>
            <a:off x="411480" y="1984248"/>
            <a:ext cx="5577840" cy="260604"/>
          </a:xfrm>
          <a:prstGeom prst="rect">
            <a:avLst/>
          </a:prstGeom>
          <a:solidFill>
            <a:srgbClr val="F4F7FA"/>
          </a:solidFill>
          <a:ln w="6350">
            <a:solidFill>
              <a:srgbClr val="D4DAE2"/>
            </a:solidFill>
            <a:prstDash val="solid"/>
          </a:ln>
        </p:spPr>
      </p:sp>
      <p:sp>
        <p:nvSpPr>
          <p:cNvPr id="27" name="Text 25"/>
          <p:cNvSpPr txBox="1"/>
          <p:nvPr/>
        </p:nvSpPr>
        <p:spPr>
          <a:xfrm>
            <a:off x="484632" y="1984248"/>
            <a:ext cx="2871216" cy="26060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Channel &amp; integration additions</a:t>
            </a:r>
            <a:endParaRPr lang="en-US" sz="780" dirty="0"/>
          </a:p>
        </p:txBody>
      </p:sp>
      <p:sp>
        <p:nvSpPr>
          <p:cNvPr id="28" name="Text 26"/>
          <p:cNvSpPr txBox="1"/>
          <p:nvPr/>
        </p:nvSpPr>
        <p:spPr>
          <a:xfrm>
            <a:off x="3429000" y="1984248"/>
            <a:ext cx="475488" cy="260604"/>
          </a:xfrm>
          <a:prstGeom prst="rect">
            <a:avLst/>
          </a:prstGeom>
          <a:noFill/>
          <a:ln/>
        </p:spPr>
        <p:txBody>
          <a:bodyPr wrap="square" lIns="0" tIns="0" rIns="0" bIns="0" rtlCol="0" anchor="ctr"/>
          <a:lstStyle/>
          <a:p>
            <a:pPr algn="ctr" indent="0" marL="0">
              <a:buNone/>
            </a:pPr>
            <a:r>
              <a:rPr lang="en-US" sz="780" dirty="0">
                <a:solidFill>
                  <a:srgbClr val="1B2432"/>
                </a:solidFill>
                <a:latin typeface="Calibri" pitchFamily="34" charset="0"/>
                <a:ea typeface="Calibri" pitchFamily="34" charset="-122"/>
                <a:cs typeface="Calibri" pitchFamily="34" charset="-120"/>
              </a:rPr>
              <a:t>5</a:t>
            </a:r>
            <a:endParaRPr lang="en-US" sz="780" dirty="0"/>
          </a:p>
        </p:txBody>
      </p:sp>
      <p:sp>
        <p:nvSpPr>
          <p:cNvPr id="29" name="Shape 27"/>
          <p:cNvSpPr/>
          <p:nvPr/>
        </p:nvSpPr>
        <p:spPr>
          <a:xfrm>
            <a:off x="4032504" y="2029968"/>
            <a:ext cx="822960" cy="169164"/>
          </a:xfrm>
          <a:prstGeom prst="rect">
            <a:avLst/>
          </a:prstGeom>
          <a:solidFill>
            <a:srgbClr val="FBF0EB"/>
          </a:solidFill>
          <a:ln w="12700">
            <a:solidFill>
              <a:srgbClr val="FBF0EB"/>
            </a:solidFill>
            <a:prstDash val="solid"/>
          </a:ln>
        </p:spPr>
      </p:sp>
      <p:sp>
        <p:nvSpPr>
          <p:cNvPr id="30" name="Text 28"/>
          <p:cNvSpPr txBox="1"/>
          <p:nvPr/>
        </p:nvSpPr>
        <p:spPr>
          <a:xfrm>
            <a:off x="3904488" y="1984248"/>
            <a:ext cx="1078992" cy="260604"/>
          </a:xfrm>
          <a:prstGeom prst="rect">
            <a:avLst/>
          </a:prstGeom>
          <a:noFill/>
          <a:ln/>
        </p:spPr>
        <p:txBody>
          <a:bodyPr wrap="square" lIns="0" tIns="0" rIns="0" bIns="0" rtlCol="0" anchor="ctr"/>
          <a:lstStyle/>
          <a:p>
            <a:pPr algn="ctr" indent="0" marL="0">
              <a:buNone/>
            </a:pPr>
            <a:r>
              <a:rPr lang="en-US" sz="740" b="1" dirty="0">
                <a:solidFill>
                  <a:srgbClr val="A44A2A"/>
                </a:solidFill>
                <a:latin typeface="Calibri" pitchFamily="34" charset="0"/>
                <a:ea typeface="Calibri" pitchFamily="34" charset="-122"/>
                <a:cs typeface="Calibri" pitchFamily="34" charset="-120"/>
              </a:rPr>
              <a:t>High</a:t>
            </a:r>
            <a:endParaRPr lang="en-US" sz="740" dirty="0"/>
          </a:p>
        </p:txBody>
      </p:sp>
      <p:sp>
        <p:nvSpPr>
          <p:cNvPr id="31" name="Text 29"/>
          <p:cNvSpPr txBox="1"/>
          <p:nvPr/>
        </p:nvSpPr>
        <p:spPr>
          <a:xfrm>
            <a:off x="4983480" y="1984248"/>
            <a:ext cx="1005840" cy="260604"/>
          </a:xfrm>
          <a:prstGeom prst="rect">
            <a:avLst/>
          </a:prstGeom>
          <a:noFill/>
          <a:ln/>
        </p:spPr>
        <p:txBody>
          <a:bodyPr wrap="square" lIns="0" tIns="0" rIns="0" bIns="0" rtlCol="0" anchor="ctr"/>
          <a:lstStyle/>
          <a:p>
            <a:pPr algn="ctr" indent="0" marL="0">
              <a:buNone/>
            </a:pPr>
            <a:r>
              <a:rPr lang="en-US" sz="760" dirty="0">
                <a:solidFill>
                  <a:srgbClr val="55606E"/>
                </a:solidFill>
                <a:latin typeface="Calibri" pitchFamily="34" charset="0"/>
                <a:ea typeface="Calibri" pitchFamily="34" charset="-122"/>
                <a:cs typeface="Calibri" pitchFamily="34" charset="-120"/>
              </a:rPr>
              <a:t>20–40</a:t>
            </a:r>
            <a:endParaRPr lang="en-US" sz="760" dirty="0"/>
          </a:p>
        </p:txBody>
      </p:sp>
      <p:sp>
        <p:nvSpPr>
          <p:cNvPr id="32" name="Shape 30"/>
          <p:cNvSpPr/>
          <p:nvPr/>
        </p:nvSpPr>
        <p:spPr>
          <a:xfrm>
            <a:off x="411480" y="2244852"/>
            <a:ext cx="5577840" cy="260604"/>
          </a:xfrm>
          <a:prstGeom prst="rect">
            <a:avLst/>
          </a:prstGeom>
          <a:solidFill>
            <a:srgbClr val="FFFFFF"/>
          </a:solidFill>
          <a:ln w="6350">
            <a:solidFill>
              <a:srgbClr val="D4DAE2"/>
            </a:solidFill>
            <a:prstDash val="solid"/>
          </a:ln>
        </p:spPr>
      </p:sp>
      <p:sp>
        <p:nvSpPr>
          <p:cNvPr id="33" name="Text 31"/>
          <p:cNvSpPr txBox="1"/>
          <p:nvPr/>
        </p:nvSpPr>
        <p:spPr>
          <a:xfrm>
            <a:off x="484632" y="2244852"/>
            <a:ext cx="2871216" cy="26060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Volume &amp; performance uplift</a:t>
            </a:r>
            <a:endParaRPr lang="en-US" sz="780" dirty="0"/>
          </a:p>
        </p:txBody>
      </p:sp>
      <p:sp>
        <p:nvSpPr>
          <p:cNvPr id="34" name="Text 32"/>
          <p:cNvSpPr txBox="1"/>
          <p:nvPr/>
        </p:nvSpPr>
        <p:spPr>
          <a:xfrm>
            <a:off x="3429000" y="2244852"/>
            <a:ext cx="475488" cy="260604"/>
          </a:xfrm>
          <a:prstGeom prst="rect">
            <a:avLst/>
          </a:prstGeom>
          <a:noFill/>
          <a:ln/>
        </p:spPr>
        <p:txBody>
          <a:bodyPr wrap="square" lIns="0" tIns="0" rIns="0" bIns="0" rtlCol="0" anchor="ctr"/>
          <a:lstStyle/>
          <a:p>
            <a:pPr algn="ctr" indent="0" marL="0">
              <a:buNone/>
            </a:pPr>
            <a:r>
              <a:rPr lang="en-US" sz="780" dirty="0">
                <a:solidFill>
                  <a:srgbClr val="1B2432"/>
                </a:solidFill>
                <a:latin typeface="Calibri" pitchFamily="34" charset="0"/>
                <a:ea typeface="Calibri" pitchFamily="34" charset="-122"/>
                <a:cs typeface="Calibri" pitchFamily="34" charset="-120"/>
              </a:rPr>
              <a:t>3</a:t>
            </a:r>
            <a:endParaRPr lang="en-US" sz="780" dirty="0"/>
          </a:p>
        </p:txBody>
      </p:sp>
      <p:sp>
        <p:nvSpPr>
          <p:cNvPr id="35" name="Shape 33"/>
          <p:cNvSpPr/>
          <p:nvPr/>
        </p:nvSpPr>
        <p:spPr>
          <a:xfrm>
            <a:off x="4032504" y="2290572"/>
            <a:ext cx="822960" cy="169164"/>
          </a:xfrm>
          <a:prstGeom prst="rect">
            <a:avLst/>
          </a:prstGeom>
          <a:solidFill>
            <a:srgbClr val="FAF1DF"/>
          </a:solidFill>
          <a:ln w="12700">
            <a:solidFill>
              <a:srgbClr val="FAF1DF"/>
            </a:solidFill>
            <a:prstDash val="solid"/>
          </a:ln>
        </p:spPr>
      </p:sp>
      <p:sp>
        <p:nvSpPr>
          <p:cNvPr id="36" name="Text 34"/>
          <p:cNvSpPr txBox="1"/>
          <p:nvPr/>
        </p:nvSpPr>
        <p:spPr>
          <a:xfrm>
            <a:off x="3904488" y="2244852"/>
            <a:ext cx="1078992" cy="260604"/>
          </a:xfrm>
          <a:prstGeom prst="rect">
            <a:avLst/>
          </a:prstGeom>
          <a:noFill/>
          <a:ln/>
        </p:spPr>
        <p:txBody>
          <a:bodyPr wrap="square" lIns="0" tIns="0" rIns="0" bIns="0" rtlCol="0" anchor="ctr"/>
          <a:lstStyle/>
          <a:p>
            <a:pPr algn="ctr" indent="0" marL="0">
              <a:buNone/>
            </a:pPr>
            <a:r>
              <a:rPr lang="en-US" sz="740" b="1" dirty="0">
                <a:solidFill>
                  <a:srgbClr val="9A6410"/>
                </a:solidFill>
                <a:latin typeface="Calibri" pitchFamily="34" charset="0"/>
                <a:ea typeface="Calibri" pitchFamily="34" charset="-122"/>
                <a:cs typeface="Calibri" pitchFamily="34" charset="-120"/>
              </a:rPr>
              <a:t>Medium</a:t>
            </a:r>
            <a:endParaRPr lang="en-US" sz="740" dirty="0"/>
          </a:p>
        </p:txBody>
      </p:sp>
      <p:sp>
        <p:nvSpPr>
          <p:cNvPr id="37" name="Text 35"/>
          <p:cNvSpPr txBox="1"/>
          <p:nvPr/>
        </p:nvSpPr>
        <p:spPr>
          <a:xfrm>
            <a:off x="4983480" y="2244852"/>
            <a:ext cx="1005840" cy="260604"/>
          </a:xfrm>
          <a:prstGeom prst="rect">
            <a:avLst/>
          </a:prstGeom>
          <a:noFill/>
          <a:ln/>
        </p:spPr>
        <p:txBody>
          <a:bodyPr wrap="square" lIns="0" tIns="0" rIns="0" bIns="0" rtlCol="0" anchor="ctr"/>
          <a:lstStyle/>
          <a:p>
            <a:pPr algn="ctr" indent="0" marL="0">
              <a:buNone/>
            </a:pPr>
            <a:r>
              <a:rPr lang="en-US" sz="760" dirty="0">
                <a:solidFill>
                  <a:srgbClr val="55606E"/>
                </a:solidFill>
                <a:latin typeface="Calibri" pitchFamily="34" charset="0"/>
                <a:ea typeface="Calibri" pitchFamily="34" charset="-122"/>
                <a:cs typeface="Calibri" pitchFamily="34" charset="-120"/>
              </a:rPr>
              <a:t>10–18</a:t>
            </a:r>
            <a:endParaRPr lang="en-US" sz="760" dirty="0"/>
          </a:p>
        </p:txBody>
      </p:sp>
      <p:sp>
        <p:nvSpPr>
          <p:cNvPr id="38" name="Shape 36"/>
          <p:cNvSpPr/>
          <p:nvPr/>
        </p:nvSpPr>
        <p:spPr>
          <a:xfrm>
            <a:off x="411480" y="2505456"/>
            <a:ext cx="5577840" cy="260604"/>
          </a:xfrm>
          <a:prstGeom prst="rect">
            <a:avLst/>
          </a:prstGeom>
          <a:solidFill>
            <a:srgbClr val="F4F7FA"/>
          </a:solidFill>
          <a:ln w="6350">
            <a:solidFill>
              <a:srgbClr val="D4DAE2"/>
            </a:solidFill>
            <a:prstDash val="solid"/>
          </a:ln>
        </p:spPr>
      </p:sp>
      <p:sp>
        <p:nvSpPr>
          <p:cNvPr id="39" name="Text 37"/>
          <p:cNvSpPr txBox="1"/>
          <p:nvPr/>
        </p:nvSpPr>
        <p:spPr>
          <a:xfrm>
            <a:off x="484632" y="2505456"/>
            <a:ext cx="2871216" cy="26060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Metadata &amp; data model changes</a:t>
            </a:r>
            <a:endParaRPr lang="en-US" sz="780" dirty="0"/>
          </a:p>
        </p:txBody>
      </p:sp>
      <p:sp>
        <p:nvSpPr>
          <p:cNvPr id="40" name="Text 38"/>
          <p:cNvSpPr txBox="1"/>
          <p:nvPr/>
        </p:nvSpPr>
        <p:spPr>
          <a:xfrm>
            <a:off x="3429000" y="2505456"/>
            <a:ext cx="475488" cy="260604"/>
          </a:xfrm>
          <a:prstGeom prst="rect">
            <a:avLst/>
          </a:prstGeom>
          <a:noFill/>
          <a:ln/>
        </p:spPr>
        <p:txBody>
          <a:bodyPr wrap="square" lIns="0" tIns="0" rIns="0" bIns="0" rtlCol="0" anchor="ctr"/>
          <a:lstStyle/>
          <a:p>
            <a:pPr algn="ctr" indent="0" marL="0">
              <a:buNone/>
            </a:pPr>
            <a:r>
              <a:rPr lang="en-US" sz="780" dirty="0">
                <a:solidFill>
                  <a:srgbClr val="1B2432"/>
                </a:solidFill>
                <a:latin typeface="Calibri" pitchFamily="34" charset="0"/>
                <a:ea typeface="Calibri" pitchFamily="34" charset="-122"/>
                <a:cs typeface="Calibri" pitchFamily="34" charset="-120"/>
              </a:rPr>
              <a:t>4</a:t>
            </a:r>
            <a:endParaRPr lang="en-US" sz="780" dirty="0"/>
          </a:p>
        </p:txBody>
      </p:sp>
      <p:sp>
        <p:nvSpPr>
          <p:cNvPr id="41" name="Shape 39"/>
          <p:cNvSpPr/>
          <p:nvPr/>
        </p:nvSpPr>
        <p:spPr>
          <a:xfrm>
            <a:off x="4032504" y="2551176"/>
            <a:ext cx="822960" cy="169164"/>
          </a:xfrm>
          <a:prstGeom prst="rect">
            <a:avLst/>
          </a:prstGeom>
          <a:solidFill>
            <a:srgbClr val="FAF1DF"/>
          </a:solidFill>
          <a:ln w="12700">
            <a:solidFill>
              <a:srgbClr val="FAF1DF"/>
            </a:solidFill>
            <a:prstDash val="solid"/>
          </a:ln>
        </p:spPr>
      </p:sp>
      <p:sp>
        <p:nvSpPr>
          <p:cNvPr id="42" name="Text 40"/>
          <p:cNvSpPr txBox="1"/>
          <p:nvPr/>
        </p:nvSpPr>
        <p:spPr>
          <a:xfrm>
            <a:off x="3904488" y="2505456"/>
            <a:ext cx="1078992" cy="260604"/>
          </a:xfrm>
          <a:prstGeom prst="rect">
            <a:avLst/>
          </a:prstGeom>
          <a:noFill/>
          <a:ln/>
        </p:spPr>
        <p:txBody>
          <a:bodyPr wrap="square" lIns="0" tIns="0" rIns="0" bIns="0" rtlCol="0" anchor="ctr"/>
          <a:lstStyle/>
          <a:p>
            <a:pPr algn="ctr" indent="0" marL="0">
              <a:buNone/>
            </a:pPr>
            <a:r>
              <a:rPr lang="en-US" sz="740" b="1" dirty="0">
                <a:solidFill>
                  <a:srgbClr val="9A6410"/>
                </a:solidFill>
                <a:latin typeface="Calibri" pitchFamily="34" charset="0"/>
                <a:ea typeface="Calibri" pitchFamily="34" charset="-122"/>
                <a:cs typeface="Calibri" pitchFamily="34" charset="-120"/>
              </a:rPr>
              <a:t>Medium</a:t>
            </a:r>
            <a:endParaRPr lang="en-US" sz="740" dirty="0"/>
          </a:p>
        </p:txBody>
      </p:sp>
      <p:sp>
        <p:nvSpPr>
          <p:cNvPr id="43" name="Text 41"/>
          <p:cNvSpPr txBox="1"/>
          <p:nvPr/>
        </p:nvSpPr>
        <p:spPr>
          <a:xfrm>
            <a:off x="4983480" y="2505456"/>
            <a:ext cx="1005840" cy="260604"/>
          </a:xfrm>
          <a:prstGeom prst="rect">
            <a:avLst/>
          </a:prstGeom>
          <a:noFill/>
          <a:ln/>
        </p:spPr>
        <p:txBody>
          <a:bodyPr wrap="square" lIns="0" tIns="0" rIns="0" bIns="0" rtlCol="0" anchor="ctr"/>
          <a:lstStyle/>
          <a:p>
            <a:pPr algn="ctr" indent="0" marL="0">
              <a:buNone/>
            </a:pPr>
            <a:r>
              <a:rPr lang="en-US" sz="760" dirty="0">
                <a:solidFill>
                  <a:srgbClr val="55606E"/>
                </a:solidFill>
                <a:latin typeface="Calibri" pitchFamily="34" charset="0"/>
                <a:ea typeface="Calibri" pitchFamily="34" charset="-122"/>
                <a:cs typeface="Calibri" pitchFamily="34" charset="-120"/>
              </a:rPr>
              <a:t>8–16</a:t>
            </a:r>
            <a:endParaRPr lang="en-US" sz="760" dirty="0"/>
          </a:p>
        </p:txBody>
      </p:sp>
      <p:sp>
        <p:nvSpPr>
          <p:cNvPr id="44" name="Shape 42"/>
          <p:cNvSpPr/>
          <p:nvPr/>
        </p:nvSpPr>
        <p:spPr>
          <a:xfrm>
            <a:off x="6172200" y="1225296"/>
            <a:ext cx="5577840" cy="237744"/>
          </a:xfrm>
          <a:prstGeom prst="rect">
            <a:avLst/>
          </a:prstGeom>
          <a:solidFill>
            <a:srgbClr val="15304F"/>
          </a:solidFill>
          <a:ln w="12700">
            <a:solidFill>
              <a:srgbClr val="333333"/>
            </a:solidFill>
            <a:prstDash val="solid"/>
          </a:ln>
        </p:spPr>
      </p:sp>
      <p:sp>
        <p:nvSpPr>
          <p:cNvPr id="45" name="Text 43"/>
          <p:cNvSpPr txBox="1"/>
          <p:nvPr/>
        </p:nvSpPr>
        <p:spPr>
          <a:xfrm>
            <a:off x="6245352" y="1225296"/>
            <a:ext cx="2871216" cy="237744"/>
          </a:xfrm>
          <a:prstGeom prst="rect">
            <a:avLst/>
          </a:prstGeom>
          <a:noFill/>
          <a:ln/>
        </p:spPr>
        <p:txBody>
          <a:bodyPr wrap="square" lIns="0" tIns="0" rIns="0" bIns="0" rtlCol="0" anchor="ctr"/>
          <a:lstStyle/>
          <a:p>
            <a:pPr algn="l" indent="0" marL="0">
              <a:buNone/>
            </a:pPr>
            <a:r>
              <a:rPr lang="en-US" sz="760" b="1" dirty="0">
                <a:solidFill>
                  <a:srgbClr val="FFFFFF"/>
                </a:solidFill>
                <a:latin typeface="Calibri" pitchFamily="34" charset="0"/>
                <a:ea typeface="Calibri" pitchFamily="34" charset="-122"/>
                <a:cs typeface="Calibri" pitchFamily="34" charset="-120"/>
              </a:rPr>
              <a:t>Intake category</a:t>
            </a:r>
            <a:endParaRPr lang="en-US" sz="760" dirty="0"/>
          </a:p>
        </p:txBody>
      </p:sp>
      <p:sp>
        <p:nvSpPr>
          <p:cNvPr id="46" name="Text 44"/>
          <p:cNvSpPr txBox="1"/>
          <p:nvPr/>
        </p:nvSpPr>
        <p:spPr>
          <a:xfrm>
            <a:off x="9262872" y="1225296"/>
            <a:ext cx="329184" cy="237744"/>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Types</a:t>
            </a:r>
            <a:endParaRPr lang="en-US" sz="760" dirty="0"/>
          </a:p>
        </p:txBody>
      </p:sp>
      <p:sp>
        <p:nvSpPr>
          <p:cNvPr id="47" name="Text 45"/>
          <p:cNvSpPr txBox="1"/>
          <p:nvPr/>
        </p:nvSpPr>
        <p:spPr>
          <a:xfrm>
            <a:off x="9738360" y="1225296"/>
            <a:ext cx="932688" cy="237744"/>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Effort</a:t>
            </a:r>
            <a:endParaRPr lang="en-US" sz="760" dirty="0"/>
          </a:p>
        </p:txBody>
      </p:sp>
      <p:sp>
        <p:nvSpPr>
          <p:cNvPr id="48" name="Text 46"/>
          <p:cNvSpPr txBox="1"/>
          <p:nvPr/>
        </p:nvSpPr>
        <p:spPr>
          <a:xfrm>
            <a:off x="10817352" y="1225296"/>
            <a:ext cx="859536" cy="237744"/>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ECM days</a:t>
            </a:r>
            <a:endParaRPr lang="en-US" sz="760" dirty="0"/>
          </a:p>
        </p:txBody>
      </p:sp>
      <p:sp>
        <p:nvSpPr>
          <p:cNvPr id="49" name="Shape 47"/>
          <p:cNvSpPr/>
          <p:nvPr/>
        </p:nvSpPr>
        <p:spPr>
          <a:xfrm>
            <a:off x="6172200" y="1463040"/>
            <a:ext cx="5577840" cy="260604"/>
          </a:xfrm>
          <a:prstGeom prst="rect">
            <a:avLst/>
          </a:prstGeom>
          <a:solidFill>
            <a:srgbClr val="F4F7FA"/>
          </a:solidFill>
          <a:ln w="6350">
            <a:solidFill>
              <a:srgbClr val="D4DAE2"/>
            </a:solidFill>
            <a:prstDash val="solid"/>
          </a:ln>
        </p:spPr>
      </p:sp>
      <p:sp>
        <p:nvSpPr>
          <p:cNvPr id="50" name="Text 48"/>
          <p:cNvSpPr txBox="1"/>
          <p:nvPr/>
        </p:nvSpPr>
        <p:spPr>
          <a:xfrm>
            <a:off x="6245352" y="1463040"/>
            <a:ext cx="2871216" cy="26060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Retention &amp; records changes</a:t>
            </a:r>
            <a:endParaRPr lang="en-US" sz="780" dirty="0"/>
          </a:p>
        </p:txBody>
      </p:sp>
      <p:sp>
        <p:nvSpPr>
          <p:cNvPr id="51" name="Text 49"/>
          <p:cNvSpPr txBox="1"/>
          <p:nvPr/>
        </p:nvSpPr>
        <p:spPr>
          <a:xfrm>
            <a:off x="9189720" y="1463040"/>
            <a:ext cx="475488" cy="260604"/>
          </a:xfrm>
          <a:prstGeom prst="rect">
            <a:avLst/>
          </a:prstGeom>
          <a:noFill/>
          <a:ln/>
        </p:spPr>
        <p:txBody>
          <a:bodyPr wrap="square" lIns="0" tIns="0" rIns="0" bIns="0" rtlCol="0" anchor="ctr"/>
          <a:lstStyle/>
          <a:p>
            <a:pPr algn="ctr" indent="0" marL="0">
              <a:buNone/>
            </a:pPr>
            <a:r>
              <a:rPr lang="en-US" sz="780" dirty="0">
                <a:solidFill>
                  <a:srgbClr val="1B2432"/>
                </a:solidFill>
                <a:latin typeface="Calibri" pitchFamily="34" charset="0"/>
                <a:ea typeface="Calibri" pitchFamily="34" charset="-122"/>
                <a:cs typeface="Calibri" pitchFamily="34" charset="-120"/>
              </a:rPr>
              <a:t>3</a:t>
            </a:r>
            <a:endParaRPr lang="en-US" sz="780" dirty="0"/>
          </a:p>
        </p:txBody>
      </p:sp>
      <p:sp>
        <p:nvSpPr>
          <p:cNvPr id="52" name="Shape 50"/>
          <p:cNvSpPr/>
          <p:nvPr/>
        </p:nvSpPr>
        <p:spPr>
          <a:xfrm>
            <a:off x="9793224" y="1508760"/>
            <a:ext cx="822960" cy="169164"/>
          </a:xfrm>
          <a:prstGeom prst="rect">
            <a:avLst/>
          </a:prstGeom>
          <a:solidFill>
            <a:srgbClr val="FBF0EB"/>
          </a:solidFill>
          <a:ln w="12700">
            <a:solidFill>
              <a:srgbClr val="FBF0EB"/>
            </a:solidFill>
            <a:prstDash val="solid"/>
          </a:ln>
        </p:spPr>
      </p:sp>
      <p:sp>
        <p:nvSpPr>
          <p:cNvPr id="53" name="Text 51"/>
          <p:cNvSpPr txBox="1"/>
          <p:nvPr/>
        </p:nvSpPr>
        <p:spPr>
          <a:xfrm>
            <a:off x="9665208" y="1463040"/>
            <a:ext cx="1078992" cy="260604"/>
          </a:xfrm>
          <a:prstGeom prst="rect">
            <a:avLst/>
          </a:prstGeom>
          <a:noFill/>
          <a:ln/>
        </p:spPr>
        <p:txBody>
          <a:bodyPr wrap="square" lIns="0" tIns="0" rIns="0" bIns="0" rtlCol="0" anchor="ctr"/>
          <a:lstStyle/>
          <a:p>
            <a:pPr algn="ctr" indent="0" marL="0">
              <a:buNone/>
            </a:pPr>
            <a:r>
              <a:rPr lang="en-US" sz="740" b="1" dirty="0">
                <a:solidFill>
                  <a:srgbClr val="A44A2A"/>
                </a:solidFill>
                <a:latin typeface="Calibri" pitchFamily="34" charset="0"/>
                <a:ea typeface="Calibri" pitchFamily="34" charset="-122"/>
                <a:cs typeface="Calibri" pitchFamily="34" charset="-120"/>
              </a:rPr>
              <a:t>High</a:t>
            </a:r>
            <a:endParaRPr lang="en-US" sz="740" dirty="0"/>
          </a:p>
        </p:txBody>
      </p:sp>
      <p:sp>
        <p:nvSpPr>
          <p:cNvPr id="54" name="Text 52"/>
          <p:cNvSpPr txBox="1"/>
          <p:nvPr/>
        </p:nvSpPr>
        <p:spPr>
          <a:xfrm>
            <a:off x="10744200" y="1463040"/>
            <a:ext cx="1005840" cy="260604"/>
          </a:xfrm>
          <a:prstGeom prst="rect">
            <a:avLst/>
          </a:prstGeom>
          <a:noFill/>
          <a:ln/>
        </p:spPr>
        <p:txBody>
          <a:bodyPr wrap="square" lIns="0" tIns="0" rIns="0" bIns="0" rtlCol="0" anchor="ctr"/>
          <a:lstStyle/>
          <a:p>
            <a:pPr algn="ctr" indent="0" marL="0">
              <a:buNone/>
            </a:pPr>
            <a:r>
              <a:rPr lang="en-US" sz="760" dirty="0">
                <a:solidFill>
                  <a:srgbClr val="55606E"/>
                </a:solidFill>
                <a:latin typeface="Calibri" pitchFamily="34" charset="0"/>
                <a:ea typeface="Calibri" pitchFamily="34" charset="-122"/>
                <a:cs typeface="Calibri" pitchFamily="34" charset="-120"/>
              </a:rPr>
              <a:t>15–30</a:t>
            </a:r>
            <a:endParaRPr lang="en-US" sz="760" dirty="0"/>
          </a:p>
        </p:txBody>
      </p:sp>
      <p:sp>
        <p:nvSpPr>
          <p:cNvPr id="55" name="Shape 53"/>
          <p:cNvSpPr/>
          <p:nvPr/>
        </p:nvSpPr>
        <p:spPr>
          <a:xfrm>
            <a:off x="6172200" y="1723644"/>
            <a:ext cx="5577840" cy="260604"/>
          </a:xfrm>
          <a:prstGeom prst="rect">
            <a:avLst/>
          </a:prstGeom>
          <a:solidFill>
            <a:srgbClr val="FFFFFF"/>
          </a:solidFill>
          <a:ln w="6350">
            <a:solidFill>
              <a:srgbClr val="D4DAE2"/>
            </a:solidFill>
            <a:prstDash val="solid"/>
          </a:ln>
        </p:spPr>
      </p:sp>
      <p:sp>
        <p:nvSpPr>
          <p:cNvPr id="56" name="Text 54"/>
          <p:cNvSpPr txBox="1"/>
          <p:nvPr/>
        </p:nvSpPr>
        <p:spPr>
          <a:xfrm>
            <a:off x="6245352" y="1723644"/>
            <a:ext cx="2871216" cy="26060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Security &amp; access changes</a:t>
            </a:r>
            <a:endParaRPr lang="en-US" sz="780" dirty="0"/>
          </a:p>
        </p:txBody>
      </p:sp>
      <p:sp>
        <p:nvSpPr>
          <p:cNvPr id="57" name="Text 55"/>
          <p:cNvSpPr txBox="1"/>
          <p:nvPr/>
        </p:nvSpPr>
        <p:spPr>
          <a:xfrm>
            <a:off x="9189720" y="1723644"/>
            <a:ext cx="475488" cy="260604"/>
          </a:xfrm>
          <a:prstGeom prst="rect">
            <a:avLst/>
          </a:prstGeom>
          <a:noFill/>
          <a:ln/>
        </p:spPr>
        <p:txBody>
          <a:bodyPr wrap="square" lIns="0" tIns="0" rIns="0" bIns="0" rtlCol="0" anchor="ctr"/>
          <a:lstStyle/>
          <a:p>
            <a:pPr algn="ctr" indent="0" marL="0">
              <a:buNone/>
            </a:pPr>
            <a:r>
              <a:rPr lang="en-US" sz="780" dirty="0">
                <a:solidFill>
                  <a:srgbClr val="1B2432"/>
                </a:solidFill>
                <a:latin typeface="Calibri" pitchFamily="34" charset="0"/>
                <a:ea typeface="Calibri" pitchFamily="34" charset="-122"/>
                <a:cs typeface="Calibri" pitchFamily="34" charset="-120"/>
              </a:rPr>
              <a:t>3</a:t>
            </a:r>
            <a:endParaRPr lang="en-US" sz="780" dirty="0"/>
          </a:p>
        </p:txBody>
      </p:sp>
      <p:sp>
        <p:nvSpPr>
          <p:cNvPr id="58" name="Shape 56"/>
          <p:cNvSpPr/>
          <p:nvPr/>
        </p:nvSpPr>
        <p:spPr>
          <a:xfrm>
            <a:off x="9793224" y="1769364"/>
            <a:ext cx="822960" cy="169164"/>
          </a:xfrm>
          <a:prstGeom prst="rect">
            <a:avLst/>
          </a:prstGeom>
          <a:solidFill>
            <a:srgbClr val="ECF3EE"/>
          </a:solidFill>
          <a:ln w="12700">
            <a:solidFill>
              <a:srgbClr val="ECF3EE"/>
            </a:solidFill>
            <a:prstDash val="solid"/>
          </a:ln>
        </p:spPr>
      </p:sp>
      <p:sp>
        <p:nvSpPr>
          <p:cNvPr id="59" name="Text 57"/>
          <p:cNvSpPr txBox="1"/>
          <p:nvPr/>
        </p:nvSpPr>
        <p:spPr>
          <a:xfrm>
            <a:off x="9665208" y="1723644"/>
            <a:ext cx="1078992" cy="260604"/>
          </a:xfrm>
          <a:prstGeom prst="rect">
            <a:avLst/>
          </a:prstGeom>
          <a:noFill/>
          <a:ln/>
        </p:spPr>
        <p:txBody>
          <a:bodyPr wrap="square" lIns="0" tIns="0" rIns="0" bIns="0" rtlCol="0" anchor="ctr"/>
          <a:lstStyle/>
          <a:p>
            <a:pPr algn="ctr" indent="0" marL="0">
              <a:buNone/>
            </a:pPr>
            <a:r>
              <a:rPr lang="en-US" sz="740" b="1" dirty="0">
                <a:solidFill>
                  <a:srgbClr val="2E6B4F"/>
                </a:solidFill>
                <a:latin typeface="Calibri" pitchFamily="34" charset="0"/>
                <a:ea typeface="Calibri" pitchFamily="34" charset="-122"/>
                <a:cs typeface="Calibri" pitchFamily="34" charset="-120"/>
              </a:rPr>
              <a:t>Low</a:t>
            </a:r>
            <a:endParaRPr lang="en-US" sz="740" dirty="0"/>
          </a:p>
        </p:txBody>
      </p:sp>
      <p:sp>
        <p:nvSpPr>
          <p:cNvPr id="60" name="Text 58"/>
          <p:cNvSpPr txBox="1"/>
          <p:nvPr/>
        </p:nvSpPr>
        <p:spPr>
          <a:xfrm>
            <a:off x="10744200" y="1723644"/>
            <a:ext cx="1005840" cy="260604"/>
          </a:xfrm>
          <a:prstGeom prst="rect">
            <a:avLst/>
          </a:prstGeom>
          <a:noFill/>
          <a:ln/>
        </p:spPr>
        <p:txBody>
          <a:bodyPr wrap="square" lIns="0" tIns="0" rIns="0" bIns="0" rtlCol="0" anchor="ctr"/>
          <a:lstStyle/>
          <a:p>
            <a:pPr algn="ctr" indent="0" marL="0">
              <a:buNone/>
            </a:pPr>
            <a:r>
              <a:rPr lang="en-US" sz="760" dirty="0">
                <a:solidFill>
                  <a:srgbClr val="55606E"/>
                </a:solidFill>
                <a:latin typeface="Calibri" pitchFamily="34" charset="0"/>
                <a:ea typeface="Calibri" pitchFamily="34" charset="-122"/>
                <a:cs typeface="Calibri" pitchFamily="34" charset="-120"/>
              </a:rPr>
              <a:t>4–8</a:t>
            </a:r>
            <a:endParaRPr lang="en-US" sz="760" dirty="0"/>
          </a:p>
        </p:txBody>
      </p:sp>
      <p:sp>
        <p:nvSpPr>
          <p:cNvPr id="61" name="Shape 59"/>
          <p:cNvSpPr/>
          <p:nvPr/>
        </p:nvSpPr>
        <p:spPr>
          <a:xfrm>
            <a:off x="6172200" y="1984248"/>
            <a:ext cx="5577840" cy="260604"/>
          </a:xfrm>
          <a:prstGeom prst="rect">
            <a:avLst/>
          </a:prstGeom>
          <a:solidFill>
            <a:srgbClr val="F4F7FA"/>
          </a:solidFill>
          <a:ln w="6350">
            <a:solidFill>
              <a:srgbClr val="D4DAE2"/>
            </a:solidFill>
            <a:prstDash val="solid"/>
          </a:ln>
        </p:spPr>
      </p:sp>
      <p:sp>
        <p:nvSpPr>
          <p:cNvPr id="62" name="Text 60"/>
          <p:cNvSpPr txBox="1"/>
          <p:nvPr/>
        </p:nvSpPr>
        <p:spPr>
          <a:xfrm>
            <a:off x="6245352" y="1984248"/>
            <a:ext cx="2871216" cy="26060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Environment &amp; cutover requests</a:t>
            </a:r>
            <a:endParaRPr lang="en-US" sz="780" dirty="0"/>
          </a:p>
        </p:txBody>
      </p:sp>
      <p:sp>
        <p:nvSpPr>
          <p:cNvPr id="63" name="Text 61"/>
          <p:cNvSpPr txBox="1"/>
          <p:nvPr/>
        </p:nvSpPr>
        <p:spPr>
          <a:xfrm>
            <a:off x="9189720" y="1984248"/>
            <a:ext cx="475488" cy="260604"/>
          </a:xfrm>
          <a:prstGeom prst="rect">
            <a:avLst/>
          </a:prstGeom>
          <a:noFill/>
          <a:ln/>
        </p:spPr>
        <p:txBody>
          <a:bodyPr wrap="square" lIns="0" tIns="0" rIns="0" bIns="0" rtlCol="0" anchor="ctr"/>
          <a:lstStyle/>
          <a:p>
            <a:pPr algn="ctr" indent="0" marL="0">
              <a:buNone/>
            </a:pPr>
            <a:r>
              <a:rPr lang="en-US" sz="780" dirty="0">
                <a:solidFill>
                  <a:srgbClr val="1B2432"/>
                </a:solidFill>
                <a:latin typeface="Calibri" pitchFamily="34" charset="0"/>
                <a:ea typeface="Calibri" pitchFamily="34" charset="-122"/>
                <a:cs typeface="Calibri" pitchFamily="34" charset="-120"/>
              </a:rPr>
              <a:t>3</a:t>
            </a:r>
            <a:endParaRPr lang="en-US" sz="780" dirty="0"/>
          </a:p>
        </p:txBody>
      </p:sp>
      <p:sp>
        <p:nvSpPr>
          <p:cNvPr id="64" name="Shape 62"/>
          <p:cNvSpPr/>
          <p:nvPr/>
        </p:nvSpPr>
        <p:spPr>
          <a:xfrm>
            <a:off x="9793224" y="2029968"/>
            <a:ext cx="822960" cy="169164"/>
          </a:xfrm>
          <a:prstGeom prst="rect">
            <a:avLst/>
          </a:prstGeom>
          <a:solidFill>
            <a:srgbClr val="ECF3EE"/>
          </a:solidFill>
          <a:ln w="12700">
            <a:solidFill>
              <a:srgbClr val="ECF3EE"/>
            </a:solidFill>
            <a:prstDash val="solid"/>
          </a:ln>
        </p:spPr>
      </p:sp>
      <p:sp>
        <p:nvSpPr>
          <p:cNvPr id="65" name="Text 63"/>
          <p:cNvSpPr txBox="1"/>
          <p:nvPr/>
        </p:nvSpPr>
        <p:spPr>
          <a:xfrm>
            <a:off x="9665208" y="1984248"/>
            <a:ext cx="1078992" cy="260604"/>
          </a:xfrm>
          <a:prstGeom prst="rect">
            <a:avLst/>
          </a:prstGeom>
          <a:noFill/>
          <a:ln/>
        </p:spPr>
        <p:txBody>
          <a:bodyPr wrap="square" lIns="0" tIns="0" rIns="0" bIns="0" rtlCol="0" anchor="ctr"/>
          <a:lstStyle/>
          <a:p>
            <a:pPr algn="ctr" indent="0" marL="0">
              <a:buNone/>
            </a:pPr>
            <a:r>
              <a:rPr lang="en-US" sz="740" b="1" dirty="0">
                <a:solidFill>
                  <a:srgbClr val="2E6B4F"/>
                </a:solidFill>
                <a:latin typeface="Calibri" pitchFamily="34" charset="0"/>
                <a:ea typeface="Calibri" pitchFamily="34" charset="-122"/>
                <a:cs typeface="Calibri" pitchFamily="34" charset="-120"/>
              </a:rPr>
              <a:t>Low</a:t>
            </a:r>
            <a:endParaRPr lang="en-US" sz="740" dirty="0"/>
          </a:p>
        </p:txBody>
      </p:sp>
      <p:sp>
        <p:nvSpPr>
          <p:cNvPr id="66" name="Text 64"/>
          <p:cNvSpPr txBox="1"/>
          <p:nvPr/>
        </p:nvSpPr>
        <p:spPr>
          <a:xfrm>
            <a:off x="10744200" y="1984248"/>
            <a:ext cx="1005840" cy="260604"/>
          </a:xfrm>
          <a:prstGeom prst="rect">
            <a:avLst/>
          </a:prstGeom>
          <a:noFill/>
          <a:ln/>
        </p:spPr>
        <p:txBody>
          <a:bodyPr wrap="square" lIns="0" tIns="0" rIns="0" bIns="0" rtlCol="0" anchor="ctr"/>
          <a:lstStyle/>
          <a:p>
            <a:pPr algn="ctr" indent="0" marL="0">
              <a:buNone/>
            </a:pPr>
            <a:r>
              <a:rPr lang="en-US" sz="760" dirty="0">
                <a:solidFill>
                  <a:srgbClr val="55606E"/>
                </a:solidFill>
                <a:latin typeface="Calibri" pitchFamily="34" charset="0"/>
                <a:ea typeface="Calibri" pitchFamily="34" charset="-122"/>
                <a:cs typeface="Calibri" pitchFamily="34" charset="-120"/>
              </a:rPr>
              <a:t>3–6</a:t>
            </a:r>
            <a:endParaRPr lang="en-US" sz="760" dirty="0"/>
          </a:p>
        </p:txBody>
      </p:sp>
      <p:sp>
        <p:nvSpPr>
          <p:cNvPr id="67" name="Shape 65"/>
          <p:cNvSpPr/>
          <p:nvPr/>
        </p:nvSpPr>
        <p:spPr>
          <a:xfrm>
            <a:off x="6172200" y="2244852"/>
            <a:ext cx="5577840" cy="260604"/>
          </a:xfrm>
          <a:prstGeom prst="rect">
            <a:avLst/>
          </a:prstGeom>
          <a:solidFill>
            <a:srgbClr val="FFFFFF"/>
          </a:solidFill>
          <a:ln w="6350">
            <a:solidFill>
              <a:srgbClr val="D4DAE2"/>
            </a:solidFill>
            <a:prstDash val="solid"/>
          </a:ln>
        </p:spPr>
      </p:sp>
      <p:sp>
        <p:nvSpPr>
          <p:cNvPr id="68" name="Text 66"/>
          <p:cNvSpPr txBox="1"/>
          <p:nvPr/>
        </p:nvSpPr>
        <p:spPr>
          <a:xfrm>
            <a:off x="6245352" y="2244852"/>
            <a:ext cx="2871216" cy="26060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Migration &amp; remediation campaigns</a:t>
            </a:r>
            <a:endParaRPr lang="en-US" sz="780" dirty="0"/>
          </a:p>
        </p:txBody>
      </p:sp>
      <p:sp>
        <p:nvSpPr>
          <p:cNvPr id="69" name="Text 67"/>
          <p:cNvSpPr txBox="1"/>
          <p:nvPr/>
        </p:nvSpPr>
        <p:spPr>
          <a:xfrm>
            <a:off x="9189720" y="2244852"/>
            <a:ext cx="475488" cy="260604"/>
          </a:xfrm>
          <a:prstGeom prst="rect">
            <a:avLst/>
          </a:prstGeom>
          <a:noFill/>
          <a:ln/>
        </p:spPr>
        <p:txBody>
          <a:bodyPr wrap="square" lIns="0" tIns="0" rIns="0" bIns="0" rtlCol="0" anchor="ctr"/>
          <a:lstStyle/>
          <a:p>
            <a:pPr algn="ctr" indent="0" marL="0">
              <a:buNone/>
            </a:pPr>
            <a:r>
              <a:rPr lang="en-US" sz="780" dirty="0">
                <a:solidFill>
                  <a:srgbClr val="1B2432"/>
                </a:solidFill>
                <a:latin typeface="Calibri" pitchFamily="34" charset="0"/>
                <a:ea typeface="Calibri" pitchFamily="34" charset="-122"/>
                <a:cs typeface="Calibri" pitchFamily="34" charset="-120"/>
              </a:rPr>
              <a:t>2</a:t>
            </a:r>
            <a:endParaRPr lang="en-US" sz="780" dirty="0"/>
          </a:p>
        </p:txBody>
      </p:sp>
      <p:sp>
        <p:nvSpPr>
          <p:cNvPr id="70" name="Shape 68"/>
          <p:cNvSpPr/>
          <p:nvPr/>
        </p:nvSpPr>
        <p:spPr>
          <a:xfrm>
            <a:off x="9793224" y="2290572"/>
            <a:ext cx="822960" cy="169164"/>
          </a:xfrm>
          <a:prstGeom prst="rect">
            <a:avLst/>
          </a:prstGeom>
          <a:solidFill>
            <a:srgbClr val="FBF0EB"/>
          </a:solidFill>
          <a:ln w="12700">
            <a:solidFill>
              <a:srgbClr val="FBF0EB"/>
            </a:solidFill>
            <a:prstDash val="solid"/>
          </a:ln>
        </p:spPr>
      </p:sp>
      <p:sp>
        <p:nvSpPr>
          <p:cNvPr id="71" name="Text 69"/>
          <p:cNvSpPr txBox="1"/>
          <p:nvPr/>
        </p:nvSpPr>
        <p:spPr>
          <a:xfrm>
            <a:off x="9665208" y="2244852"/>
            <a:ext cx="1078992" cy="260604"/>
          </a:xfrm>
          <a:prstGeom prst="rect">
            <a:avLst/>
          </a:prstGeom>
          <a:noFill/>
          <a:ln/>
        </p:spPr>
        <p:txBody>
          <a:bodyPr wrap="square" lIns="0" tIns="0" rIns="0" bIns="0" rtlCol="0" anchor="ctr"/>
          <a:lstStyle/>
          <a:p>
            <a:pPr algn="ctr" indent="0" marL="0">
              <a:buNone/>
            </a:pPr>
            <a:r>
              <a:rPr lang="en-US" sz="740" b="1" dirty="0">
                <a:solidFill>
                  <a:srgbClr val="A44A2A"/>
                </a:solidFill>
                <a:latin typeface="Calibri" pitchFamily="34" charset="0"/>
                <a:ea typeface="Calibri" pitchFamily="34" charset="-122"/>
                <a:cs typeface="Calibri" pitchFamily="34" charset="-120"/>
              </a:rPr>
              <a:t>High</a:t>
            </a:r>
            <a:endParaRPr lang="en-US" sz="740" dirty="0"/>
          </a:p>
        </p:txBody>
      </p:sp>
      <p:sp>
        <p:nvSpPr>
          <p:cNvPr id="72" name="Text 70"/>
          <p:cNvSpPr txBox="1"/>
          <p:nvPr/>
        </p:nvSpPr>
        <p:spPr>
          <a:xfrm>
            <a:off x="10744200" y="2244852"/>
            <a:ext cx="1005840" cy="260604"/>
          </a:xfrm>
          <a:prstGeom prst="rect">
            <a:avLst/>
          </a:prstGeom>
          <a:noFill/>
          <a:ln/>
        </p:spPr>
        <p:txBody>
          <a:bodyPr wrap="square" lIns="0" tIns="0" rIns="0" bIns="0" rtlCol="0" anchor="ctr"/>
          <a:lstStyle/>
          <a:p>
            <a:pPr algn="ctr" indent="0" marL="0">
              <a:buNone/>
            </a:pPr>
            <a:r>
              <a:rPr lang="en-US" sz="760" dirty="0">
                <a:solidFill>
                  <a:srgbClr val="55606E"/>
                </a:solidFill>
                <a:latin typeface="Calibri" pitchFamily="34" charset="0"/>
                <a:ea typeface="Calibri" pitchFamily="34" charset="-122"/>
                <a:cs typeface="Calibri" pitchFamily="34" charset="-120"/>
              </a:rPr>
              <a:t>40–90</a:t>
            </a:r>
            <a:endParaRPr lang="en-US" sz="760" dirty="0"/>
          </a:p>
        </p:txBody>
      </p:sp>
      <p:sp>
        <p:nvSpPr>
          <p:cNvPr id="73" name="Shape 71"/>
          <p:cNvSpPr/>
          <p:nvPr/>
        </p:nvSpPr>
        <p:spPr>
          <a:xfrm>
            <a:off x="6172200" y="2505456"/>
            <a:ext cx="5577840" cy="260604"/>
          </a:xfrm>
          <a:prstGeom prst="rect">
            <a:avLst/>
          </a:prstGeom>
          <a:solidFill>
            <a:srgbClr val="F4F7FA"/>
          </a:solidFill>
          <a:ln w="6350">
            <a:solidFill>
              <a:srgbClr val="D4DAE2"/>
            </a:solidFill>
            <a:prstDash val="solid"/>
          </a:ln>
        </p:spPr>
      </p:sp>
      <p:sp>
        <p:nvSpPr>
          <p:cNvPr id="74" name="Text 72"/>
          <p:cNvSpPr txBox="1"/>
          <p:nvPr/>
        </p:nvSpPr>
        <p:spPr>
          <a:xfrm>
            <a:off x="6245352" y="2505456"/>
            <a:ext cx="2871216" cy="26060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Support &amp; ownership changes</a:t>
            </a:r>
            <a:endParaRPr lang="en-US" sz="780" dirty="0"/>
          </a:p>
        </p:txBody>
      </p:sp>
      <p:sp>
        <p:nvSpPr>
          <p:cNvPr id="75" name="Text 73"/>
          <p:cNvSpPr txBox="1"/>
          <p:nvPr/>
        </p:nvSpPr>
        <p:spPr>
          <a:xfrm>
            <a:off x="9189720" y="2505456"/>
            <a:ext cx="475488" cy="260604"/>
          </a:xfrm>
          <a:prstGeom prst="rect">
            <a:avLst/>
          </a:prstGeom>
          <a:noFill/>
          <a:ln/>
        </p:spPr>
        <p:txBody>
          <a:bodyPr wrap="square" lIns="0" tIns="0" rIns="0" bIns="0" rtlCol="0" anchor="ctr"/>
          <a:lstStyle/>
          <a:p>
            <a:pPr algn="ctr" indent="0" marL="0">
              <a:buNone/>
            </a:pPr>
            <a:r>
              <a:rPr lang="en-US" sz="780" dirty="0">
                <a:solidFill>
                  <a:srgbClr val="1B2432"/>
                </a:solidFill>
                <a:latin typeface="Calibri" pitchFamily="34" charset="0"/>
                <a:ea typeface="Calibri" pitchFamily="34" charset="-122"/>
                <a:cs typeface="Calibri" pitchFamily="34" charset="-120"/>
              </a:rPr>
              <a:t>4</a:t>
            </a:r>
            <a:endParaRPr lang="en-US" sz="780" dirty="0"/>
          </a:p>
        </p:txBody>
      </p:sp>
      <p:sp>
        <p:nvSpPr>
          <p:cNvPr id="76" name="Shape 74"/>
          <p:cNvSpPr/>
          <p:nvPr/>
        </p:nvSpPr>
        <p:spPr>
          <a:xfrm>
            <a:off x="9793224" y="2551176"/>
            <a:ext cx="822960" cy="169164"/>
          </a:xfrm>
          <a:prstGeom prst="rect">
            <a:avLst/>
          </a:prstGeom>
          <a:solidFill>
            <a:srgbClr val="ECF3EE"/>
          </a:solidFill>
          <a:ln w="12700">
            <a:solidFill>
              <a:srgbClr val="ECF3EE"/>
            </a:solidFill>
            <a:prstDash val="solid"/>
          </a:ln>
        </p:spPr>
      </p:sp>
      <p:sp>
        <p:nvSpPr>
          <p:cNvPr id="77" name="Text 75"/>
          <p:cNvSpPr txBox="1"/>
          <p:nvPr/>
        </p:nvSpPr>
        <p:spPr>
          <a:xfrm>
            <a:off x="9665208" y="2505456"/>
            <a:ext cx="1078992" cy="260604"/>
          </a:xfrm>
          <a:prstGeom prst="rect">
            <a:avLst/>
          </a:prstGeom>
          <a:noFill/>
          <a:ln/>
        </p:spPr>
        <p:txBody>
          <a:bodyPr wrap="square" lIns="0" tIns="0" rIns="0" bIns="0" rtlCol="0" anchor="ctr"/>
          <a:lstStyle/>
          <a:p>
            <a:pPr algn="ctr" indent="0" marL="0">
              <a:buNone/>
            </a:pPr>
            <a:r>
              <a:rPr lang="en-US" sz="740" b="1" dirty="0">
                <a:solidFill>
                  <a:srgbClr val="2E6B4F"/>
                </a:solidFill>
                <a:latin typeface="Calibri" pitchFamily="34" charset="0"/>
                <a:ea typeface="Calibri" pitchFamily="34" charset="-122"/>
                <a:cs typeface="Calibri" pitchFamily="34" charset="-120"/>
              </a:rPr>
              <a:t>Low</a:t>
            </a:r>
            <a:endParaRPr lang="en-US" sz="740" dirty="0"/>
          </a:p>
        </p:txBody>
      </p:sp>
      <p:sp>
        <p:nvSpPr>
          <p:cNvPr id="78" name="Text 76"/>
          <p:cNvSpPr txBox="1"/>
          <p:nvPr/>
        </p:nvSpPr>
        <p:spPr>
          <a:xfrm>
            <a:off x="10744200" y="2505456"/>
            <a:ext cx="1005840" cy="260604"/>
          </a:xfrm>
          <a:prstGeom prst="rect">
            <a:avLst/>
          </a:prstGeom>
          <a:noFill/>
          <a:ln/>
        </p:spPr>
        <p:txBody>
          <a:bodyPr wrap="square" lIns="0" tIns="0" rIns="0" bIns="0" rtlCol="0" anchor="ctr"/>
          <a:lstStyle/>
          <a:p>
            <a:pPr algn="ctr" indent="0" marL="0">
              <a:buNone/>
            </a:pPr>
            <a:r>
              <a:rPr lang="en-US" sz="760" dirty="0">
                <a:solidFill>
                  <a:srgbClr val="55606E"/>
                </a:solidFill>
                <a:latin typeface="Calibri" pitchFamily="34" charset="0"/>
                <a:ea typeface="Calibri" pitchFamily="34" charset="-122"/>
                <a:cs typeface="Calibri" pitchFamily="34" charset="-120"/>
              </a:rPr>
              <a:t>2–5</a:t>
            </a:r>
            <a:endParaRPr lang="en-US" sz="760" dirty="0"/>
          </a:p>
        </p:txBody>
      </p:sp>
      <p:sp>
        <p:nvSpPr>
          <p:cNvPr id="79" name="Text 77"/>
          <p:cNvSpPr txBox="1"/>
          <p:nvPr/>
        </p:nvSpPr>
        <p:spPr>
          <a:xfrm>
            <a:off x="411480" y="2907792"/>
            <a:ext cx="1042416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WHERE AN ENABLER SQUAD MEMBER'S TIME ACTUALLY GOES ON A TYPICAL INTAKE</a:t>
            </a:r>
            <a:endParaRPr lang="en-US" sz="760" dirty="0"/>
          </a:p>
        </p:txBody>
      </p:sp>
      <p:sp>
        <p:nvSpPr>
          <p:cNvPr id="80" name="Shape 78"/>
          <p:cNvSpPr/>
          <p:nvPr/>
        </p:nvSpPr>
        <p:spPr>
          <a:xfrm>
            <a:off x="411480" y="3108960"/>
            <a:ext cx="2022653" cy="548640"/>
          </a:xfrm>
          <a:prstGeom prst="rect">
            <a:avLst/>
          </a:prstGeom>
          <a:solidFill>
            <a:srgbClr val="15304F"/>
          </a:solidFill>
          <a:ln w="12700">
            <a:solidFill>
              <a:srgbClr val="333333"/>
            </a:solidFill>
            <a:prstDash val="solid"/>
          </a:ln>
        </p:spPr>
      </p:sp>
      <p:sp>
        <p:nvSpPr>
          <p:cNvPr id="81" name="Text 79"/>
          <p:cNvSpPr txBox="1"/>
          <p:nvPr/>
        </p:nvSpPr>
        <p:spPr>
          <a:xfrm>
            <a:off x="411480" y="3136392"/>
            <a:ext cx="2022653"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18%</a:t>
            </a:r>
            <a:endParaRPr lang="en-US" sz="1000" dirty="0"/>
          </a:p>
        </p:txBody>
      </p:sp>
      <p:sp>
        <p:nvSpPr>
          <p:cNvPr id="82" name="Text 80"/>
          <p:cNvSpPr txBox="1"/>
          <p:nvPr/>
        </p:nvSpPr>
        <p:spPr>
          <a:xfrm>
            <a:off x="448056" y="3355848"/>
            <a:ext cx="1949501" cy="274320"/>
          </a:xfrm>
          <a:prstGeom prst="rect">
            <a:avLst/>
          </a:prstGeom>
          <a:noFill/>
          <a:ln/>
        </p:spPr>
        <p:txBody>
          <a:bodyPr wrap="square" lIns="0" tIns="0" rIns="0" bIns="0" rtlCol="0" anchor="t"/>
          <a:lstStyle/>
          <a:p>
            <a:pPr algn="ctr" indent="0" marL="0">
              <a:lnSpc>
                <a:spcPts val="840"/>
              </a:lnSpc>
              <a:buNone/>
            </a:pPr>
            <a:r>
              <a:rPr lang="en-US" sz="720" dirty="0">
                <a:solidFill>
                  <a:srgbClr val="FFFFFF"/>
                </a:solidFill>
                <a:latin typeface="Calibri" pitchFamily="34" charset="0"/>
                <a:ea typeface="Calibri" pitchFamily="34" charset="-122"/>
                <a:cs typeface="Calibri" pitchFamily="34" charset="-120"/>
              </a:rPr>
              <a:t>Design judgement</a:t>
            </a:r>
            <a:endParaRPr lang="en-US" sz="720" dirty="0"/>
          </a:p>
        </p:txBody>
      </p:sp>
      <p:sp>
        <p:nvSpPr>
          <p:cNvPr id="83" name="Shape 81"/>
          <p:cNvSpPr/>
          <p:nvPr/>
        </p:nvSpPr>
        <p:spPr>
          <a:xfrm>
            <a:off x="2452421" y="3108960"/>
            <a:ext cx="2702966" cy="548640"/>
          </a:xfrm>
          <a:prstGeom prst="rect">
            <a:avLst/>
          </a:prstGeom>
          <a:solidFill>
            <a:srgbClr val="3E6686"/>
          </a:solidFill>
          <a:ln w="12700">
            <a:solidFill>
              <a:srgbClr val="333333"/>
            </a:solidFill>
            <a:prstDash val="solid"/>
          </a:ln>
        </p:spPr>
      </p:sp>
      <p:sp>
        <p:nvSpPr>
          <p:cNvPr id="84" name="Text 82"/>
          <p:cNvSpPr txBox="1"/>
          <p:nvPr/>
        </p:nvSpPr>
        <p:spPr>
          <a:xfrm>
            <a:off x="2452421" y="3136392"/>
            <a:ext cx="270296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24%</a:t>
            </a:r>
            <a:endParaRPr lang="en-US" sz="1000" dirty="0"/>
          </a:p>
        </p:txBody>
      </p:sp>
      <p:sp>
        <p:nvSpPr>
          <p:cNvPr id="85" name="Text 83"/>
          <p:cNvSpPr txBox="1"/>
          <p:nvPr/>
        </p:nvSpPr>
        <p:spPr>
          <a:xfrm>
            <a:off x="2488997" y="3355848"/>
            <a:ext cx="2629814" cy="274320"/>
          </a:xfrm>
          <a:prstGeom prst="rect">
            <a:avLst/>
          </a:prstGeom>
          <a:noFill/>
          <a:ln/>
        </p:spPr>
        <p:txBody>
          <a:bodyPr wrap="square" lIns="0" tIns="0" rIns="0" bIns="0" rtlCol="0" anchor="t"/>
          <a:lstStyle/>
          <a:p>
            <a:pPr algn="ctr" indent="0" marL="0">
              <a:lnSpc>
                <a:spcPts val="840"/>
              </a:lnSpc>
              <a:buNone/>
            </a:pPr>
            <a:r>
              <a:rPr lang="en-US" sz="720" dirty="0">
                <a:solidFill>
                  <a:srgbClr val="FFFFFF"/>
                </a:solidFill>
                <a:latin typeface="Calibri" pitchFamily="34" charset="0"/>
                <a:ea typeface="Calibri" pitchFamily="34" charset="-122"/>
                <a:cs typeface="Calibri" pitchFamily="34" charset="-120"/>
              </a:rPr>
              <a:t>ECM build &amp; config</a:t>
            </a:r>
            <a:endParaRPr lang="en-US" sz="720" dirty="0"/>
          </a:p>
        </p:txBody>
      </p:sp>
      <p:sp>
        <p:nvSpPr>
          <p:cNvPr id="86" name="Shape 84"/>
          <p:cNvSpPr/>
          <p:nvPr/>
        </p:nvSpPr>
        <p:spPr>
          <a:xfrm>
            <a:off x="5173675" y="3108960"/>
            <a:ext cx="3496666" cy="548640"/>
          </a:xfrm>
          <a:prstGeom prst="rect">
            <a:avLst/>
          </a:prstGeom>
          <a:solidFill>
            <a:srgbClr val="A44A2A"/>
          </a:solidFill>
          <a:ln w="12700">
            <a:solidFill>
              <a:srgbClr val="333333"/>
            </a:solidFill>
            <a:prstDash val="solid"/>
          </a:ln>
        </p:spPr>
      </p:sp>
      <p:sp>
        <p:nvSpPr>
          <p:cNvPr id="87" name="Text 85"/>
          <p:cNvSpPr txBox="1"/>
          <p:nvPr/>
        </p:nvSpPr>
        <p:spPr>
          <a:xfrm>
            <a:off x="5173675" y="3136392"/>
            <a:ext cx="349666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31%</a:t>
            </a:r>
            <a:endParaRPr lang="en-US" sz="1000" dirty="0"/>
          </a:p>
        </p:txBody>
      </p:sp>
      <p:sp>
        <p:nvSpPr>
          <p:cNvPr id="88" name="Text 86"/>
          <p:cNvSpPr txBox="1"/>
          <p:nvPr/>
        </p:nvSpPr>
        <p:spPr>
          <a:xfrm>
            <a:off x="5210251" y="3355848"/>
            <a:ext cx="3423514" cy="274320"/>
          </a:xfrm>
          <a:prstGeom prst="rect">
            <a:avLst/>
          </a:prstGeom>
          <a:noFill/>
          <a:ln/>
        </p:spPr>
        <p:txBody>
          <a:bodyPr wrap="square" lIns="0" tIns="0" rIns="0" bIns="0" rtlCol="0" anchor="t"/>
          <a:lstStyle/>
          <a:p>
            <a:pPr algn="ctr" indent="0" marL="0">
              <a:lnSpc>
                <a:spcPts val="840"/>
              </a:lnSpc>
              <a:buNone/>
            </a:pPr>
            <a:r>
              <a:rPr lang="en-US" sz="720" dirty="0">
                <a:solidFill>
                  <a:srgbClr val="FFFFFF"/>
                </a:solidFill>
                <a:latin typeface="Calibri" pitchFamily="34" charset="0"/>
                <a:ea typeface="Calibri" pitchFamily="34" charset="-122"/>
                <a:cs typeface="Calibri" pitchFamily="34" charset="-120"/>
              </a:rPr>
              <a:t>Chasing partner-owned inputs</a:t>
            </a:r>
            <a:endParaRPr lang="en-US" sz="720" dirty="0"/>
          </a:p>
        </p:txBody>
      </p:sp>
      <p:sp>
        <p:nvSpPr>
          <p:cNvPr id="89" name="Shape 87"/>
          <p:cNvSpPr/>
          <p:nvPr/>
        </p:nvSpPr>
        <p:spPr>
          <a:xfrm>
            <a:off x="8688629" y="3108960"/>
            <a:ext cx="1682496" cy="548640"/>
          </a:xfrm>
          <a:prstGeom prst="rect">
            <a:avLst/>
          </a:prstGeom>
          <a:solidFill>
            <a:srgbClr val="C86B45"/>
          </a:solidFill>
          <a:ln w="12700">
            <a:solidFill>
              <a:srgbClr val="333333"/>
            </a:solidFill>
            <a:prstDash val="solid"/>
          </a:ln>
        </p:spPr>
      </p:sp>
      <p:sp>
        <p:nvSpPr>
          <p:cNvPr id="90" name="Text 88"/>
          <p:cNvSpPr txBox="1"/>
          <p:nvPr/>
        </p:nvSpPr>
        <p:spPr>
          <a:xfrm>
            <a:off x="8688629" y="3136392"/>
            <a:ext cx="168249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
        <p:nvSpPr>
          <p:cNvPr id="91" name="Text 89"/>
          <p:cNvSpPr txBox="1"/>
          <p:nvPr/>
        </p:nvSpPr>
        <p:spPr>
          <a:xfrm>
            <a:off x="8725205" y="3355848"/>
            <a:ext cx="1609344" cy="274320"/>
          </a:xfrm>
          <a:prstGeom prst="rect">
            <a:avLst/>
          </a:prstGeom>
          <a:noFill/>
          <a:ln/>
        </p:spPr>
        <p:txBody>
          <a:bodyPr wrap="square" lIns="0" tIns="0" rIns="0" bIns="0" rtlCol="0" anchor="t"/>
          <a:lstStyle/>
          <a:p>
            <a:pPr algn="ctr" indent="0" marL="0">
              <a:lnSpc>
                <a:spcPts val="840"/>
              </a:lnSpc>
              <a:buNone/>
            </a:pPr>
            <a:r>
              <a:rPr lang="en-US" sz="720" dirty="0">
                <a:solidFill>
                  <a:srgbClr val="FFFFFF"/>
                </a:solidFill>
                <a:latin typeface="Calibri" pitchFamily="34" charset="0"/>
                <a:ea typeface="Calibri" pitchFamily="34" charset="-122"/>
                <a:cs typeface="Calibri" pitchFamily="34" charset="-120"/>
              </a:rPr>
              <a:t>Chasing external teams</a:t>
            </a:r>
            <a:endParaRPr lang="en-US" sz="720" dirty="0"/>
          </a:p>
        </p:txBody>
      </p:sp>
      <p:sp>
        <p:nvSpPr>
          <p:cNvPr id="92" name="Shape 90"/>
          <p:cNvSpPr/>
          <p:nvPr/>
        </p:nvSpPr>
        <p:spPr>
          <a:xfrm>
            <a:off x="10389413" y="3108960"/>
            <a:ext cx="1342339" cy="548640"/>
          </a:xfrm>
          <a:prstGeom prst="rect">
            <a:avLst/>
          </a:prstGeom>
          <a:solidFill>
            <a:srgbClr val="7C8798"/>
          </a:solidFill>
          <a:ln w="12700">
            <a:solidFill>
              <a:srgbClr val="333333"/>
            </a:solidFill>
            <a:prstDash val="solid"/>
          </a:ln>
        </p:spPr>
      </p:sp>
      <p:sp>
        <p:nvSpPr>
          <p:cNvPr id="93" name="Text 91"/>
          <p:cNvSpPr txBox="1"/>
          <p:nvPr/>
        </p:nvSpPr>
        <p:spPr>
          <a:xfrm>
            <a:off x="10389413" y="3136392"/>
            <a:ext cx="1342339"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94" name="Text 92"/>
          <p:cNvSpPr txBox="1"/>
          <p:nvPr/>
        </p:nvSpPr>
        <p:spPr>
          <a:xfrm>
            <a:off x="10425989" y="3355848"/>
            <a:ext cx="1269187" cy="274320"/>
          </a:xfrm>
          <a:prstGeom prst="rect">
            <a:avLst/>
          </a:prstGeom>
          <a:noFill/>
          <a:ln/>
        </p:spPr>
        <p:txBody>
          <a:bodyPr wrap="square" lIns="0" tIns="0" rIns="0" bIns="0" rtlCol="0" anchor="t"/>
          <a:lstStyle/>
          <a:p>
            <a:pPr algn="ctr" indent="0" marL="0">
              <a:lnSpc>
                <a:spcPts val="840"/>
              </a:lnSpc>
              <a:buNone/>
            </a:pPr>
            <a:r>
              <a:rPr lang="en-US" sz="720" dirty="0">
                <a:solidFill>
                  <a:srgbClr val="FFFFFF"/>
                </a:solidFill>
                <a:latin typeface="Calibri" pitchFamily="34" charset="0"/>
                <a:ea typeface="Calibri" pitchFamily="34" charset="-122"/>
                <a:cs typeface="Calibri" pitchFamily="34" charset="-120"/>
              </a:rPr>
              <a:t>Tracking &amp; admin</a:t>
            </a:r>
            <a:endParaRPr lang="en-US" sz="720" dirty="0"/>
          </a:p>
        </p:txBody>
      </p:sp>
      <p:sp>
        <p:nvSpPr>
          <p:cNvPr id="95" name="Shape 93"/>
          <p:cNvSpPr/>
          <p:nvPr/>
        </p:nvSpPr>
        <p:spPr>
          <a:xfrm>
            <a:off x="411480" y="3803904"/>
            <a:ext cx="11338560" cy="841248"/>
          </a:xfrm>
          <a:prstGeom prst="roundRect">
            <a:avLst>
              <a:gd name="adj" fmla="val 5435"/>
            </a:avLst>
          </a:prstGeom>
          <a:solidFill>
            <a:srgbClr val="FBF0EB"/>
          </a:solidFill>
          <a:ln w="12700">
            <a:solidFill>
              <a:srgbClr val="A44A2A"/>
            </a:solidFill>
            <a:prstDash val="solid"/>
          </a:ln>
        </p:spPr>
      </p:sp>
      <p:sp>
        <p:nvSpPr>
          <p:cNvPr id="96" name="Text 94"/>
          <p:cNvSpPr txBox="1"/>
          <p:nvPr/>
        </p:nvSpPr>
        <p:spPr>
          <a:xfrm>
            <a:off x="557784" y="3886200"/>
            <a:ext cx="11045952" cy="182880"/>
          </a:xfrm>
          <a:prstGeom prst="rect">
            <a:avLst/>
          </a:prstGeom>
          <a:noFill/>
          <a:ln/>
        </p:spPr>
        <p:txBody>
          <a:bodyPr wrap="square" lIns="0" tIns="0" rIns="0" bIns="0" rtlCol="0" anchor="ctr"/>
          <a:lstStyle/>
          <a:p>
            <a:pPr indent="0" marL="0">
              <a:buNone/>
            </a:pPr>
            <a:r>
              <a:rPr lang="en-US" sz="760" b="1" spc="100" kern="0" dirty="0">
                <a:solidFill>
                  <a:srgbClr val="A44A2A"/>
                </a:solidFill>
                <a:latin typeface="Calibri" pitchFamily="34" charset="0"/>
                <a:ea typeface="Calibri" pitchFamily="34" charset="-122"/>
                <a:cs typeface="Calibri" pitchFamily="34" charset="-120"/>
              </a:rPr>
              <a:t>A DEDICATED RESOURCE IS A SUBSIDY FOR INCOMPLETE INTAKE</a:t>
            </a:r>
            <a:endParaRPr lang="en-US" sz="760" dirty="0"/>
          </a:p>
        </p:txBody>
      </p:sp>
      <p:sp>
        <p:nvSpPr>
          <p:cNvPr id="97" name="Text 95"/>
          <p:cNvSpPr txBox="1"/>
          <p:nvPr/>
        </p:nvSpPr>
        <p:spPr>
          <a:xfrm>
            <a:off x="557784" y="4078224"/>
            <a:ext cx="11045952" cy="475488"/>
          </a:xfrm>
          <a:prstGeom prst="rect">
            <a:avLst/>
          </a:prstGeom>
          <a:noFill/>
          <a:ln/>
        </p:spPr>
        <p:txBody>
          <a:bodyPr wrap="square" lIns="0" tIns="0" rIns="0" bIns="0" rtlCol="0" anchor="t"/>
          <a:lstStyle/>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Forty-six per cent of an enabler squad member's time is chasing rather than engineering — and two thirds of that is for inputs the partner owns: document inventory and samples · volume and peak projections · retention requirements and their regulatory basis · the business meaning of metadata · the entitlement model · test data · UAT participants · the support and on-call owner. Because someone is always assigned to chase, the cost of supplying none of it up front falls on us instead of on the partner.</a:t>
            </a:r>
            <a:endParaRPr lang="en-US" sz="900" dirty="0"/>
          </a:p>
        </p:txBody>
      </p:sp>
      <p:sp>
        <p:nvSpPr>
          <p:cNvPr id="98" name="Text 96"/>
          <p:cNvSpPr txBox="1"/>
          <p:nvPr/>
        </p:nvSpPr>
        <p:spPr>
          <a:xfrm>
            <a:off x="411480" y="4736592"/>
            <a:ext cx="1042416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THE REAL GAPS IN AN ALWAYS-DEDICATED MODEL</a:t>
            </a:r>
            <a:endParaRPr lang="en-US" sz="760" dirty="0"/>
          </a:p>
        </p:txBody>
      </p:sp>
      <p:sp>
        <p:nvSpPr>
          <p:cNvPr id="99" name="Shape 97"/>
          <p:cNvSpPr/>
          <p:nvPr/>
        </p:nvSpPr>
        <p:spPr>
          <a:xfrm>
            <a:off x="411480" y="4937760"/>
            <a:ext cx="2766060" cy="1005840"/>
          </a:xfrm>
          <a:prstGeom prst="roundRect">
            <a:avLst>
              <a:gd name="adj" fmla="val 4545"/>
            </a:avLst>
          </a:prstGeom>
          <a:solidFill>
            <a:srgbClr val="FFFFFF"/>
          </a:solidFill>
          <a:ln w="13970">
            <a:solidFill>
              <a:srgbClr val="A44A2A"/>
            </a:solidFill>
            <a:prstDash val="solid"/>
          </a:ln>
          <a:effectLst>
            <a:outerShdw sx="100000" sy="100000" kx="0" ky="0" algn="bl" rotWithShape="0" blurRad="88900" dist="12700" dir="5400000">
              <a:srgbClr val="97A3B4">
                <a:alpha val="16000"/>
              </a:srgbClr>
            </a:outerShdw>
          </a:effectLst>
        </p:spPr>
      </p:sp>
      <p:sp>
        <p:nvSpPr>
          <p:cNvPr id="100" name="Shape 98"/>
          <p:cNvSpPr/>
          <p:nvPr/>
        </p:nvSpPr>
        <p:spPr>
          <a:xfrm>
            <a:off x="411480" y="4937760"/>
            <a:ext cx="64008" cy="1005840"/>
          </a:xfrm>
          <a:prstGeom prst="rect">
            <a:avLst/>
          </a:prstGeom>
          <a:solidFill>
            <a:srgbClr val="A44A2A"/>
          </a:solidFill>
          <a:ln w="12700">
            <a:solidFill>
              <a:srgbClr val="333333"/>
            </a:solidFill>
            <a:prstDash val="solid"/>
          </a:ln>
        </p:spPr>
      </p:sp>
      <p:sp>
        <p:nvSpPr>
          <p:cNvPr id="101" name="Text 99"/>
          <p:cNvSpPr txBox="1"/>
          <p:nvPr/>
        </p:nvSpPr>
        <p:spPr>
          <a:xfrm>
            <a:off x="594360" y="5029200"/>
            <a:ext cx="2455164" cy="219456"/>
          </a:xfrm>
          <a:prstGeom prst="rect">
            <a:avLst/>
          </a:prstGeom>
          <a:noFill/>
          <a:ln/>
        </p:spPr>
        <p:txBody>
          <a:bodyPr wrap="square" lIns="0" tIns="0" rIns="0" bIns="0" rtlCol="0" anchor="ctr"/>
          <a:lstStyle/>
          <a:p>
            <a:pPr indent="0" marL="0">
              <a:buNone/>
            </a:pPr>
            <a:r>
              <a:rPr lang="en-US" sz="960" b="1" dirty="0">
                <a:solidFill>
                  <a:srgbClr val="1B2432"/>
                </a:solidFill>
                <a:latin typeface="Calibri" pitchFamily="34" charset="0"/>
                <a:ea typeface="Calibri" pitchFamily="34" charset="-122"/>
                <a:cs typeface="Calibri" pitchFamily="34" charset="-120"/>
              </a:rPr>
              <a:t>Depth is uniform, need is not</a:t>
            </a:r>
            <a:endParaRPr lang="en-US" sz="960" dirty="0"/>
          </a:p>
        </p:txBody>
      </p:sp>
      <p:sp>
        <p:nvSpPr>
          <p:cNvPr id="102" name="Text 100"/>
          <p:cNvSpPr txBox="1"/>
          <p:nvPr/>
        </p:nvSpPr>
        <p:spPr>
          <a:xfrm>
            <a:off x="594360" y="5266944"/>
            <a:ext cx="2455164" cy="585216"/>
          </a:xfrm>
          <a:prstGeom prst="rect">
            <a:avLst/>
          </a:prstGeom>
          <a:noFill/>
          <a:ln/>
        </p:spPr>
        <p:txBody>
          <a:bodyPr wrap="square" lIns="0" tIns="0" rIns="0" bIns="0" rtlCol="0" anchor="t"/>
          <a:lstStyle/>
          <a:p>
            <a:pPr indent="0" marL="0">
              <a:lnSpc>
                <a:spcPts val="980"/>
              </a:lnSpc>
              <a:buNone/>
            </a:pPr>
            <a:r>
              <a:rPr lang="en-US" sz="800" dirty="0">
                <a:solidFill>
                  <a:srgbClr val="55606E"/>
                </a:solidFill>
                <a:latin typeface="Calibri" pitchFamily="34" charset="0"/>
                <a:ea typeface="Calibri" pitchFamily="34" charset="-122"/>
                <a:cs typeface="Calibri" pitchFamily="34" charset="-120"/>
              </a:rPr>
              <a:t>10 of the 38 types need under ten ECM days. Every one is given a full pod anyway.</a:t>
            </a:r>
            <a:endParaRPr lang="en-US" sz="800" dirty="0"/>
          </a:p>
        </p:txBody>
      </p:sp>
      <p:sp>
        <p:nvSpPr>
          <p:cNvPr id="103" name="Shape 101"/>
          <p:cNvSpPr/>
          <p:nvPr/>
        </p:nvSpPr>
        <p:spPr>
          <a:xfrm>
            <a:off x="3268980" y="4937760"/>
            <a:ext cx="2766060" cy="1005840"/>
          </a:xfrm>
          <a:prstGeom prst="roundRect">
            <a:avLst>
              <a:gd name="adj" fmla="val 4545"/>
            </a:avLst>
          </a:prstGeom>
          <a:solidFill>
            <a:srgbClr val="FFFFFF"/>
          </a:solidFill>
          <a:ln w="13970">
            <a:solidFill>
              <a:srgbClr val="A44A2A"/>
            </a:solidFill>
            <a:prstDash val="solid"/>
          </a:ln>
          <a:effectLst>
            <a:outerShdw sx="100000" sy="100000" kx="0" ky="0" algn="bl" rotWithShape="0" blurRad="88900" dist="12700" dir="5400000">
              <a:srgbClr val="97A3B4">
                <a:alpha val="16000"/>
              </a:srgbClr>
            </a:outerShdw>
          </a:effectLst>
        </p:spPr>
      </p:sp>
      <p:sp>
        <p:nvSpPr>
          <p:cNvPr id="104" name="Shape 102"/>
          <p:cNvSpPr/>
          <p:nvPr/>
        </p:nvSpPr>
        <p:spPr>
          <a:xfrm>
            <a:off x="3268980" y="4937760"/>
            <a:ext cx="64008" cy="1005840"/>
          </a:xfrm>
          <a:prstGeom prst="rect">
            <a:avLst/>
          </a:prstGeom>
          <a:solidFill>
            <a:srgbClr val="A44A2A"/>
          </a:solidFill>
          <a:ln w="12700">
            <a:solidFill>
              <a:srgbClr val="333333"/>
            </a:solidFill>
            <a:prstDash val="solid"/>
          </a:ln>
        </p:spPr>
      </p:sp>
      <p:sp>
        <p:nvSpPr>
          <p:cNvPr id="105" name="Text 103"/>
          <p:cNvSpPr txBox="1"/>
          <p:nvPr/>
        </p:nvSpPr>
        <p:spPr>
          <a:xfrm>
            <a:off x="3451860" y="5029200"/>
            <a:ext cx="2455164" cy="219456"/>
          </a:xfrm>
          <a:prstGeom prst="rect">
            <a:avLst/>
          </a:prstGeom>
          <a:noFill/>
          <a:ln/>
        </p:spPr>
        <p:txBody>
          <a:bodyPr wrap="square" lIns="0" tIns="0" rIns="0" bIns="0" rtlCol="0" anchor="ctr"/>
          <a:lstStyle/>
          <a:p>
            <a:pPr indent="0" marL="0">
              <a:buNone/>
            </a:pPr>
            <a:r>
              <a:rPr lang="en-US" sz="960" b="1" dirty="0">
                <a:solidFill>
                  <a:srgbClr val="1B2432"/>
                </a:solidFill>
                <a:latin typeface="Calibri" pitchFamily="34" charset="0"/>
                <a:ea typeface="Calibri" pitchFamily="34" charset="-122"/>
                <a:cs typeface="Calibri" pitchFamily="34" charset="-120"/>
              </a:rPr>
              <a:t>The hard intakes are starved</a:t>
            </a:r>
            <a:endParaRPr lang="en-US" sz="960" dirty="0"/>
          </a:p>
        </p:txBody>
      </p:sp>
      <p:sp>
        <p:nvSpPr>
          <p:cNvPr id="106" name="Text 104"/>
          <p:cNvSpPr txBox="1"/>
          <p:nvPr/>
        </p:nvSpPr>
        <p:spPr>
          <a:xfrm>
            <a:off x="3451860" y="5266944"/>
            <a:ext cx="2455164" cy="585216"/>
          </a:xfrm>
          <a:prstGeom prst="rect">
            <a:avLst/>
          </a:prstGeom>
          <a:noFill/>
          <a:ln/>
        </p:spPr>
        <p:txBody>
          <a:bodyPr wrap="square" lIns="0" tIns="0" rIns="0" bIns="0" rtlCol="0" anchor="t"/>
          <a:lstStyle/>
          <a:p>
            <a:pPr indent="0" marL="0">
              <a:lnSpc>
                <a:spcPts val="980"/>
              </a:lnSpc>
              <a:buNone/>
            </a:pPr>
            <a:r>
              <a:rPr lang="en-US" sz="800" dirty="0">
                <a:solidFill>
                  <a:srgbClr val="55606E"/>
                </a:solidFill>
                <a:latin typeface="Calibri" pitchFamily="34" charset="0"/>
                <a:ea typeface="Calibri" pitchFamily="34" charset="-122"/>
                <a:cs typeface="Calibri" pitchFamily="34" charset="-120"/>
              </a:rPr>
              <a:t>The 14 genuinely complex types compete for the same attention as 24 that are not.</a:t>
            </a:r>
            <a:endParaRPr lang="en-US" sz="800" dirty="0"/>
          </a:p>
        </p:txBody>
      </p:sp>
      <p:sp>
        <p:nvSpPr>
          <p:cNvPr id="107" name="Shape 105"/>
          <p:cNvSpPr/>
          <p:nvPr/>
        </p:nvSpPr>
        <p:spPr>
          <a:xfrm>
            <a:off x="6126480" y="4937760"/>
            <a:ext cx="2766060" cy="1005840"/>
          </a:xfrm>
          <a:prstGeom prst="roundRect">
            <a:avLst>
              <a:gd name="adj" fmla="val 4545"/>
            </a:avLst>
          </a:prstGeom>
          <a:solidFill>
            <a:srgbClr val="FFFFFF"/>
          </a:solidFill>
          <a:ln w="13970">
            <a:solidFill>
              <a:srgbClr val="A44A2A"/>
            </a:solidFill>
            <a:prstDash val="solid"/>
          </a:ln>
          <a:effectLst>
            <a:outerShdw sx="100000" sy="100000" kx="0" ky="0" algn="bl" rotWithShape="0" blurRad="88900" dist="12700" dir="5400000">
              <a:srgbClr val="97A3B4">
                <a:alpha val="16000"/>
              </a:srgbClr>
            </a:outerShdw>
          </a:effectLst>
        </p:spPr>
      </p:sp>
      <p:sp>
        <p:nvSpPr>
          <p:cNvPr id="108" name="Shape 106"/>
          <p:cNvSpPr/>
          <p:nvPr/>
        </p:nvSpPr>
        <p:spPr>
          <a:xfrm>
            <a:off x="6126480" y="4937760"/>
            <a:ext cx="64008" cy="1005840"/>
          </a:xfrm>
          <a:prstGeom prst="rect">
            <a:avLst/>
          </a:prstGeom>
          <a:solidFill>
            <a:srgbClr val="A44A2A"/>
          </a:solidFill>
          <a:ln w="12700">
            <a:solidFill>
              <a:srgbClr val="333333"/>
            </a:solidFill>
            <a:prstDash val="solid"/>
          </a:ln>
        </p:spPr>
      </p:sp>
      <p:sp>
        <p:nvSpPr>
          <p:cNvPr id="109" name="Text 107"/>
          <p:cNvSpPr txBox="1"/>
          <p:nvPr/>
        </p:nvSpPr>
        <p:spPr>
          <a:xfrm>
            <a:off x="6309360" y="5029200"/>
            <a:ext cx="2455164" cy="219456"/>
          </a:xfrm>
          <a:prstGeom prst="rect">
            <a:avLst/>
          </a:prstGeom>
          <a:noFill/>
          <a:ln/>
        </p:spPr>
        <p:txBody>
          <a:bodyPr wrap="square" lIns="0" tIns="0" rIns="0" bIns="0" rtlCol="0" anchor="ctr"/>
          <a:lstStyle/>
          <a:p>
            <a:pPr indent="0" marL="0">
              <a:buNone/>
            </a:pPr>
            <a:r>
              <a:rPr lang="en-US" sz="960" b="1" dirty="0">
                <a:solidFill>
                  <a:srgbClr val="1B2432"/>
                </a:solidFill>
                <a:latin typeface="Calibri" pitchFamily="34" charset="0"/>
                <a:ea typeface="Calibri" pitchFamily="34" charset="-122"/>
                <a:cs typeface="Calibri" pitchFamily="34" charset="-120"/>
              </a:rPr>
              <a:t>Responsibility transfers quietly</a:t>
            </a:r>
            <a:endParaRPr lang="en-US" sz="960" dirty="0"/>
          </a:p>
        </p:txBody>
      </p:sp>
      <p:sp>
        <p:nvSpPr>
          <p:cNvPr id="110" name="Text 108"/>
          <p:cNvSpPr txBox="1"/>
          <p:nvPr/>
        </p:nvSpPr>
        <p:spPr>
          <a:xfrm>
            <a:off x="6309360" y="5266944"/>
            <a:ext cx="2455164" cy="585216"/>
          </a:xfrm>
          <a:prstGeom prst="rect">
            <a:avLst/>
          </a:prstGeom>
          <a:noFill/>
          <a:ln/>
        </p:spPr>
        <p:txBody>
          <a:bodyPr wrap="square" lIns="0" tIns="0" rIns="0" bIns="0" rtlCol="0" anchor="t"/>
          <a:lstStyle/>
          <a:p>
            <a:pPr indent="0" marL="0">
              <a:lnSpc>
                <a:spcPts val="980"/>
              </a:lnSpc>
              <a:buNone/>
            </a:pPr>
            <a:r>
              <a:rPr lang="en-US" sz="800" dirty="0">
                <a:solidFill>
                  <a:srgbClr val="55606E"/>
                </a:solidFill>
                <a:latin typeface="Calibri" pitchFamily="34" charset="0"/>
                <a:ea typeface="Calibri" pitchFamily="34" charset="-122"/>
                <a:cs typeface="Calibri" pitchFamily="34" charset="-120"/>
              </a:rPr>
              <a:t>With someone always assigned to chase, the partner never feels the cost of an incomplete intake.</a:t>
            </a:r>
            <a:endParaRPr lang="en-US" sz="800" dirty="0"/>
          </a:p>
        </p:txBody>
      </p:sp>
      <p:sp>
        <p:nvSpPr>
          <p:cNvPr id="111" name="Shape 109"/>
          <p:cNvSpPr/>
          <p:nvPr/>
        </p:nvSpPr>
        <p:spPr>
          <a:xfrm>
            <a:off x="8983980" y="4937760"/>
            <a:ext cx="2766060" cy="1005840"/>
          </a:xfrm>
          <a:prstGeom prst="roundRect">
            <a:avLst>
              <a:gd name="adj" fmla="val 4545"/>
            </a:avLst>
          </a:prstGeom>
          <a:solidFill>
            <a:srgbClr val="FFFFFF"/>
          </a:solidFill>
          <a:ln w="13970">
            <a:solidFill>
              <a:srgbClr val="A44A2A"/>
            </a:solidFill>
            <a:prstDash val="solid"/>
          </a:ln>
          <a:effectLst>
            <a:outerShdw sx="100000" sy="100000" kx="0" ky="0" algn="bl" rotWithShape="0" blurRad="88900" dist="12700" dir="5400000">
              <a:srgbClr val="97A3B4">
                <a:alpha val="16000"/>
              </a:srgbClr>
            </a:outerShdw>
          </a:effectLst>
        </p:spPr>
      </p:sp>
      <p:sp>
        <p:nvSpPr>
          <p:cNvPr id="112" name="Shape 110"/>
          <p:cNvSpPr/>
          <p:nvPr/>
        </p:nvSpPr>
        <p:spPr>
          <a:xfrm>
            <a:off x="8983980" y="4937760"/>
            <a:ext cx="64008" cy="1005840"/>
          </a:xfrm>
          <a:prstGeom prst="rect">
            <a:avLst/>
          </a:prstGeom>
          <a:solidFill>
            <a:srgbClr val="A44A2A"/>
          </a:solidFill>
          <a:ln w="12700">
            <a:solidFill>
              <a:srgbClr val="333333"/>
            </a:solidFill>
            <a:prstDash val="solid"/>
          </a:ln>
        </p:spPr>
      </p:sp>
      <p:sp>
        <p:nvSpPr>
          <p:cNvPr id="113" name="Text 111"/>
          <p:cNvSpPr txBox="1"/>
          <p:nvPr/>
        </p:nvSpPr>
        <p:spPr>
          <a:xfrm>
            <a:off x="9166860" y="5029200"/>
            <a:ext cx="2455164" cy="219456"/>
          </a:xfrm>
          <a:prstGeom prst="rect">
            <a:avLst/>
          </a:prstGeom>
          <a:noFill/>
          <a:ln/>
        </p:spPr>
        <p:txBody>
          <a:bodyPr wrap="square" lIns="0" tIns="0" rIns="0" bIns="0" rtlCol="0" anchor="ctr"/>
          <a:lstStyle/>
          <a:p>
            <a:pPr indent="0" marL="0">
              <a:buNone/>
            </a:pPr>
            <a:r>
              <a:rPr lang="en-US" sz="960" b="1" dirty="0">
                <a:solidFill>
                  <a:srgbClr val="1B2432"/>
                </a:solidFill>
                <a:latin typeface="Calibri" pitchFamily="34" charset="0"/>
                <a:ea typeface="Calibri" pitchFamily="34" charset="-122"/>
                <a:cs typeface="Calibri" pitchFamily="34" charset="-120"/>
              </a:rPr>
              <a:t>Growth has only one answer</a:t>
            </a:r>
            <a:endParaRPr lang="en-US" sz="960" dirty="0"/>
          </a:p>
        </p:txBody>
      </p:sp>
      <p:sp>
        <p:nvSpPr>
          <p:cNvPr id="114" name="Text 112"/>
          <p:cNvSpPr txBox="1"/>
          <p:nvPr/>
        </p:nvSpPr>
        <p:spPr>
          <a:xfrm>
            <a:off x="9166860" y="5266944"/>
            <a:ext cx="2455164" cy="585216"/>
          </a:xfrm>
          <a:prstGeom prst="rect">
            <a:avLst/>
          </a:prstGeom>
          <a:noFill/>
          <a:ln/>
        </p:spPr>
        <p:txBody>
          <a:bodyPr wrap="square" lIns="0" tIns="0" rIns="0" bIns="0" rtlCol="0" anchor="t"/>
          <a:lstStyle/>
          <a:p>
            <a:pPr indent="0" marL="0">
              <a:lnSpc>
                <a:spcPts val="980"/>
              </a:lnSpc>
              <a:buNone/>
            </a:pPr>
            <a:r>
              <a:rPr lang="en-US" sz="800" dirty="0">
                <a:solidFill>
                  <a:srgbClr val="55606E"/>
                </a:solidFill>
                <a:latin typeface="Calibri" pitchFamily="34" charset="0"/>
                <a:ea typeface="Calibri" pitchFamily="34" charset="-122"/>
                <a:cs typeface="Calibri" pitchFamily="34" charset="-120"/>
              </a:rPr>
              <a:t>Capacity = demand × fixed depth. Every uplift in partner demand becomes a headcount request.</a:t>
            </a:r>
            <a:endParaRPr lang="en-US" sz="800" dirty="0"/>
          </a:p>
        </p:txBody>
      </p:sp>
      <p:sp>
        <p:nvSpPr>
          <p:cNvPr id="115" name="Shape 113"/>
          <p:cNvSpPr/>
          <p:nvPr/>
        </p:nvSpPr>
        <p:spPr>
          <a:xfrm>
            <a:off x="411480" y="6108192"/>
            <a:ext cx="11338560" cy="438912"/>
          </a:xfrm>
          <a:prstGeom prst="roundRect">
            <a:avLst>
              <a:gd name="adj" fmla="val 10417"/>
            </a:avLst>
          </a:prstGeom>
          <a:solidFill>
            <a:srgbClr val="F4F7FA"/>
          </a:solidFill>
          <a:ln w="9525">
            <a:solidFill>
              <a:srgbClr val="D4DAE2"/>
            </a:solidFill>
            <a:prstDash val="solid"/>
          </a:ln>
        </p:spPr>
      </p:sp>
      <p:sp>
        <p:nvSpPr>
          <p:cNvPr id="116" name="Text 114"/>
          <p:cNvSpPr txBox="1"/>
          <p:nvPr/>
        </p:nvSpPr>
        <p:spPr>
          <a:xfrm>
            <a:off x="557784" y="6108192"/>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The effort split is the squads' own estimate, not a measurement — we do not currently instrument it, and producing that measurement is an explicit Phase 1 deliverable. The direction is not in doubt; the magnitude is what the quarter is for.</a:t>
            </a:r>
            <a:endParaRPr lang="en-US" sz="8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Text 2"/>
          <p:cNvSpPr txBox="1"/>
          <p:nvPr/>
        </p:nvSpPr>
        <p:spPr>
          <a:xfrm>
            <a:off x="795528" y="219456"/>
            <a:ext cx="96926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The solution: make engineering depth a variable</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Four enablement tiers assigned by ECM against a published rubric — each with its own checkpoints, guardrails and partner obligations</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The model</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24128"/>
            <a:ext cx="1042416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WHAT THE TIERED MODEL CHANGES</a:t>
            </a:r>
            <a:endParaRPr lang="en-US" sz="760" dirty="0"/>
          </a:p>
        </p:txBody>
      </p:sp>
      <p:sp>
        <p:nvSpPr>
          <p:cNvPr id="9" name="Shape 7"/>
          <p:cNvSpPr/>
          <p:nvPr/>
        </p:nvSpPr>
        <p:spPr>
          <a:xfrm>
            <a:off x="411480" y="1225296"/>
            <a:ext cx="2766060" cy="896112"/>
          </a:xfrm>
          <a:prstGeom prst="roundRect">
            <a:avLst>
              <a:gd name="adj" fmla="val 5102"/>
            </a:avLst>
          </a:prstGeom>
          <a:solidFill>
            <a:srgbClr val="ECF3EE"/>
          </a:solidFill>
          <a:ln w="13335">
            <a:solidFill>
              <a:srgbClr val="2E6B4F"/>
            </a:solidFill>
            <a:prstDash val="solid"/>
          </a:ln>
        </p:spPr>
      </p:sp>
      <p:sp>
        <p:nvSpPr>
          <p:cNvPr id="10" name="Text 8"/>
          <p:cNvSpPr txBox="1"/>
          <p:nvPr/>
        </p:nvSpPr>
        <p:spPr>
          <a:xfrm>
            <a:off x="557784" y="1298448"/>
            <a:ext cx="2473452" cy="201168"/>
          </a:xfrm>
          <a:prstGeom prst="rect">
            <a:avLst/>
          </a:prstGeom>
          <a:noFill/>
          <a:ln/>
        </p:spPr>
        <p:txBody>
          <a:bodyPr wrap="square" lIns="0" tIns="0" rIns="0" bIns="0" rtlCol="0" anchor="ctr"/>
          <a:lstStyle/>
          <a:p>
            <a:pPr indent="0" marL="0">
              <a:buNone/>
            </a:pPr>
            <a:r>
              <a:rPr lang="en-US" sz="940" b="1" dirty="0">
                <a:solidFill>
                  <a:srgbClr val="1B2432"/>
                </a:solidFill>
                <a:latin typeface="Calibri" pitchFamily="34" charset="0"/>
                <a:ea typeface="Calibri" pitchFamily="34" charset="-122"/>
                <a:cs typeface="Calibri" pitchFamily="34" charset="-120"/>
              </a:rPr>
              <a:t>Depth matches assessed need</a:t>
            </a:r>
            <a:endParaRPr lang="en-US" sz="940" dirty="0"/>
          </a:p>
        </p:txBody>
      </p:sp>
      <p:sp>
        <p:nvSpPr>
          <p:cNvPr id="11" name="Text 9"/>
          <p:cNvSpPr txBox="1"/>
          <p:nvPr/>
        </p:nvSpPr>
        <p:spPr>
          <a:xfrm>
            <a:off x="557784" y="1517904"/>
            <a:ext cx="2473452" cy="548640"/>
          </a:xfrm>
          <a:prstGeom prst="rect">
            <a:avLst/>
          </a:prstGeom>
          <a:noFill/>
          <a:ln/>
        </p:spPr>
        <p:txBody>
          <a:bodyPr wrap="square" lIns="0" tIns="0" rIns="0" bIns="0" rtlCol="0" anchor="t"/>
          <a:lstStyle/>
          <a:p>
            <a:pPr indent="0" marL="0">
              <a:lnSpc>
                <a:spcPts val="940"/>
              </a:lnSpc>
              <a:buNone/>
            </a:pPr>
            <a:r>
              <a:rPr lang="en-US" sz="780" dirty="0">
                <a:solidFill>
                  <a:srgbClr val="55606E"/>
                </a:solidFill>
                <a:latin typeface="Calibri" pitchFamily="34" charset="0"/>
                <a:ea typeface="Calibri" pitchFamily="34" charset="-122"/>
                <a:cs typeface="Calibri" pitchFamily="34" charset="-120"/>
              </a:rPr>
              <a:t>Engineering depth becomes a variable set by a published rubric, instead of a constant applied to everything.</a:t>
            </a:r>
            <a:endParaRPr lang="en-US" sz="780" dirty="0"/>
          </a:p>
        </p:txBody>
      </p:sp>
      <p:sp>
        <p:nvSpPr>
          <p:cNvPr id="12" name="Shape 10"/>
          <p:cNvSpPr/>
          <p:nvPr/>
        </p:nvSpPr>
        <p:spPr>
          <a:xfrm>
            <a:off x="3268980" y="1225296"/>
            <a:ext cx="2766060" cy="896112"/>
          </a:xfrm>
          <a:prstGeom prst="roundRect">
            <a:avLst>
              <a:gd name="adj" fmla="val 5102"/>
            </a:avLst>
          </a:prstGeom>
          <a:solidFill>
            <a:srgbClr val="ECF3EE"/>
          </a:solidFill>
          <a:ln w="13335">
            <a:solidFill>
              <a:srgbClr val="2E6B4F"/>
            </a:solidFill>
            <a:prstDash val="solid"/>
          </a:ln>
        </p:spPr>
      </p:sp>
      <p:sp>
        <p:nvSpPr>
          <p:cNvPr id="13" name="Text 11"/>
          <p:cNvSpPr txBox="1"/>
          <p:nvPr/>
        </p:nvSpPr>
        <p:spPr>
          <a:xfrm>
            <a:off x="3415284" y="1298448"/>
            <a:ext cx="2473452" cy="201168"/>
          </a:xfrm>
          <a:prstGeom prst="rect">
            <a:avLst/>
          </a:prstGeom>
          <a:noFill/>
          <a:ln/>
        </p:spPr>
        <p:txBody>
          <a:bodyPr wrap="square" lIns="0" tIns="0" rIns="0" bIns="0" rtlCol="0" anchor="ctr"/>
          <a:lstStyle/>
          <a:p>
            <a:pPr indent="0" marL="0">
              <a:buNone/>
            </a:pPr>
            <a:r>
              <a:rPr lang="en-US" sz="940" b="1" dirty="0">
                <a:solidFill>
                  <a:srgbClr val="1B2432"/>
                </a:solidFill>
                <a:latin typeface="Calibri" pitchFamily="34" charset="0"/>
                <a:ea typeface="Calibri" pitchFamily="34" charset="-122"/>
                <a:cs typeface="Calibri" pitchFamily="34" charset="-120"/>
              </a:rPr>
              <a:t>Capacity stops scaling linearly</a:t>
            </a:r>
            <a:endParaRPr lang="en-US" sz="940" dirty="0"/>
          </a:p>
        </p:txBody>
      </p:sp>
      <p:sp>
        <p:nvSpPr>
          <p:cNvPr id="14" name="Text 12"/>
          <p:cNvSpPr txBox="1"/>
          <p:nvPr/>
        </p:nvSpPr>
        <p:spPr>
          <a:xfrm>
            <a:off x="3415284" y="1517904"/>
            <a:ext cx="2473452" cy="548640"/>
          </a:xfrm>
          <a:prstGeom prst="rect">
            <a:avLst/>
          </a:prstGeom>
          <a:noFill/>
          <a:ln/>
        </p:spPr>
        <p:txBody>
          <a:bodyPr wrap="square" lIns="0" tIns="0" rIns="0" bIns="0" rtlCol="0" anchor="t"/>
          <a:lstStyle/>
          <a:p>
            <a:pPr indent="0" marL="0">
              <a:lnSpc>
                <a:spcPts val="940"/>
              </a:lnSpc>
              <a:buNone/>
            </a:pPr>
            <a:r>
              <a:rPr lang="en-US" sz="780" dirty="0">
                <a:solidFill>
                  <a:srgbClr val="55606E"/>
                </a:solidFill>
                <a:latin typeface="Calibri" pitchFamily="34" charset="0"/>
                <a:ea typeface="Calibri" pitchFamily="34" charset="-122"/>
                <a:cs typeface="Calibri" pitchFamily="34" charset="-120"/>
              </a:rPr>
              <a:t>Lean costs almost nothing per intake and one shared pool serves every Lean+ intake, so demand growth stops meaning headcount growth.</a:t>
            </a:r>
            <a:endParaRPr lang="en-US" sz="780" dirty="0"/>
          </a:p>
        </p:txBody>
      </p:sp>
      <p:sp>
        <p:nvSpPr>
          <p:cNvPr id="15" name="Shape 13"/>
          <p:cNvSpPr/>
          <p:nvPr/>
        </p:nvSpPr>
        <p:spPr>
          <a:xfrm>
            <a:off x="6126480" y="1225296"/>
            <a:ext cx="2766060" cy="896112"/>
          </a:xfrm>
          <a:prstGeom prst="roundRect">
            <a:avLst>
              <a:gd name="adj" fmla="val 5102"/>
            </a:avLst>
          </a:prstGeom>
          <a:solidFill>
            <a:srgbClr val="ECF3EE"/>
          </a:solidFill>
          <a:ln w="13335">
            <a:solidFill>
              <a:srgbClr val="2E6B4F"/>
            </a:solidFill>
            <a:prstDash val="solid"/>
          </a:ln>
        </p:spPr>
      </p:sp>
      <p:sp>
        <p:nvSpPr>
          <p:cNvPr id="16" name="Text 14"/>
          <p:cNvSpPr txBox="1"/>
          <p:nvPr/>
        </p:nvSpPr>
        <p:spPr>
          <a:xfrm>
            <a:off x="6272784" y="1298448"/>
            <a:ext cx="2473452" cy="201168"/>
          </a:xfrm>
          <a:prstGeom prst="rect">
            <a:avLst/>
          </a:prstGeom>
          <a:noFill/>
          <a:ln/>
        </p:spPr>
        <p:txBody>
          <a:bodyPr wrap="square" lIns="0" tIns="0" rIns="0" bIns="0" rtlCol="0" anchor="ctr"/>
          <a:lstStyle/>
          <a:p>
            <a:pPr indent="0" marL="0">
              <a:buNone/>
            </a:pPr>
            <a:r>
              <a:rPr lang="en-US" sz="940" b="1" dirty="0">
                <a:solidFill>
                  <a:srgbClr val="1B2432"/>
                </a:solidFill>
                <a:latin typeface="Calibri" pitchFamily="34" charset="0"/>
                <a:ea typeface="Calibri" pitchFamily="34" charset="-122"/>
                <a:cs typeface="Calibri" pitchFamily="34" charset="-120"/>
              </a:rPr>
              <a:t>Partner obligations become explicit</a:t>
            </a:r>
            <a:endParaRPr lang="en-US" sz="940" dirty="0"/>
          </a:p>
        </p:txBody>
      </p:sp>
      <p:sp>
        <p:nvSpPr>
          <p:cNvPr id="17" name="Text 15"/>
          <p:cNvSpPr txBox="1"/>
          <p:nvPr/>
        </p:nvSpPr>
        <p:spPr>
          <a:xfrm>
            <a:off x="6272784" y="1517904"/>
            <a:ext cx="2473452" cy="548640"/>
          </a:xfrm>
          <a:prstGeom prst="rect">
            <a:avLst/>
          </a:prstGeom>
          <a:noFill/>
          <a:ln/>
        </p:spPr>
        <p:txBody>
          <a:bodyPr wrap="square" lIns="0" tIns="0" rIns="0" bIns="0" rtlCol="0" anchor="t"/>
          <a:lstStyle/>
          <a:p>
            <a:pPr indent="0" marL="0">
              <a:lnSpc>
                <a:spcPts val="940"/>
              </a:lnSpc>
              <a:buNone/>
            </a:pPr>
            <a:r>
              <a:rPr lang="en-US" sz="780" dirty="0">
                <a:solidFill>
                  <a:srgbClr val="55606E"/>
                </a:solidFill>
                <a:latin typeface="Calibri" pitchFamily="34" charset="0"/>
                <a:ea typeface="Calibri" pitchFamily="34" charset="-122"/>
                <a:cs typeface="Calibri" pitchFamily="34" charset="-120"/>
              </a:rPr>
              <a:t>Each tier states what the partner must do to receive it. Responsibility stops transferring silently to whoever was assigned.</a:t>
            </a:r>
            <a:endParaRPr lang="en-US" sz="780" dirty="0"/>
          </a:p>
        </p:txBody>
      </p:sp>
      <p:sp>
        <p:nvSpPr>
          <p:cNvPr id="18" name="Shape 16"/>
          <p:cNvSpPr/>
          <p:nvPr/>
        </p:nvSpPr>
        <p:spPr>
          <a:xfrm>
            <a:off x="8983980" y="1225296"/>
            <a:ext cx="2766060" cy="896112"/>
          </a:xfrm>
          <a:prstGeom prst="roundRect">
            <a:avLst>
              <a:gd name="adj" fmla="val 5102"/>
            </a:avLst>
          </a:prstGeom>
          <a:solidFill>
            <a:srgbClr val="ECF3EE"/>
          </a:solidFill>
          <a:ln w="13335">
            <a:solidFill>
              <a:srgbClr val="2E6B4F"/>
            </a:solidFill>
            <a:prstDash val="solid"/>
          </a:ln>
        </p:spPr>
      </p:sp>
      <p:sp>
        <p:nvSpPr>
          <p:cNvPr id="19" name="Text 17"/>
          <p:cNvSpPr txBox="1"/>
          <p:nvPr/>
        </p:nvSpPr>
        <p:spPr>
          <a:xfrm>
            <a:off x="9130284" y="1298448"/>
            <a:ext cx="2473452" cy="201168"/>
          </a:xfrm>
          <a:prstGeom prst="rect">
            <a:avLst/>
          </a:prstGeom>
          <a:noFill/>
          <a:ln/>
        </p:spPr>
        <p:txBody>
          <a:bodyPr wrap="square" lIns="0" tIns="0" rIns="0" bIns="0" rtlCol="0" anchor="ctr"/>
          <a:lstStyle/>
          <a:p>
            <a:pPr indent="0" marL="0">
              <a:buNone/>
            </a:pPr>
            <a:r>
              <a:rPr lang="en-US" sz="940" b="1" dirty="0">
                <a:solidFill>
                  <a:srgbClr val="1B2432"/>
                </a:solidFill>
                <a:latin typeface="Calibri" pitchFamily="34" charset="0"/>
                <a:ea typeface="Calibri" pitchFamily="34" charset="-122"/>
                <a:cs typeface="Calibri" pitchFamily="34" charset="-120"/>
              </a:rPr>
              <a:t>Allocation stops being political</a:t>
            </a:r>
            <a:endParaRPr lang="en-US" sz="940" dirty="0"/>
          </a:p>
        </p:txBody>
      </p:sp>
      <p:sp>
        <p:nvSpPr>
          <p:cNvPr id="20" name="Text 18"/>
          <p:cNvSpPr txBox="1"/>
          <p:nvPr/>
        </p:nvSpPr>
        <p:spPr>
          <a:xfrm>
            <a:off x="9130284" y="1517904"/>
            <a:ext cx="2473452" cy="548640"/>
          </a:xfrm>
          <a:prstGeom prst="rect">
            <a:avLst/>
          </a:prstGeom>
          <a:noFill/>
          <a:ln/>
        </p:spPr>
        <p:txBody>
          <a:bodyPr wrap="square" lIns="0" tIns="0" rIns="0" bIns="0" rtlCol="0" anchor="t"/>
          <a:lstStyle/>
          <a:p>
            <a:pPr indent="0" marL="0">
              <a:lnSpc>
                <a:spcPts val="940"/>
              </a:lnSpc>
              <a:buNone/>
            </a:pPr>
            <a:r>
              <a:rPr lang="en-US" sz="780" dirty="0">
                <a:solidFill>
                  <a:srgbClr val="55606E"/>
                </a:solidFill>
                <a:latin typeface="Calibri" pitchFamily="34" charset="0"/>
                <a:ea typeface="Calibri" pitchFamily="34" charset="-122"/>
                <a:cs typeface="Calibri" pitchFamily="34" charset="-120"/>
              </a:rPr>
              <a:t>A published rubric with hard overrides replaces escalation. An appeal argues a determinant, never importance or urgency.</a:t>
            </a:r>
            <a:endParaRPr lang="en-US" sz="780" dirty="0"/>
          </a:p>
        </p:txBody>
      </p:sp>
      <p:sp>
        <p:nvSpPr>
          <p:cNvPr id="21" name="Text 19"/>
          <p:cNvSpPr txBox="1"/>
          <p:nvPr/>
        </p:nvSpPr>
        <p:spPr>
          <a:xfrm>
            <a:off x="411480" y="2267712"/>
            <a:ext cx="1042416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THE FOUR TIERS — WHAT ECM ALLOCATES, THE CHECKPOINTS THAT APPLY, AND THE GUARDRAILS THAT BIND THEM</a:t>
            </a:r>
            <a:endParaRPr lang="en-US" sz="760" dirty="0"/>
          </a:p>
        </p:txBody>
      </p:sp>
      <p:sp>
        <p:nvSpPr>
          <p:cNvPr id="22" name="Shape 20"/>
          <p:cNvSpPr/>
          <p:nvPr/>
        </p:nvSpPr>
        <p:spPr>
          <a:xfrm>
            <a:off x="411480" y="2468880"/>
            <a:ext cx="11338560" cy="256032"/>
          </a:xfrm>
          <a:prstGeom prst="rect">
            <a:avLst/>
          </a:prstGeom>
          <a:solidFill>
            <a:srgbClr val="15304F"/>
          </a:solidFill>
          <a:ln w="6350">
            <a:solidFill>
              <a:srgbClr val="15304F"/>
            </a:solidFill>
            <a:prstDash val="solid"/>
          </a:ln>
        </p:spPr>
      </p:sp>
      <p:sp>
        <p:nvSpPr>
          <p:cNvPr id="23" name="Text 21"/>
          <p:cNvSpPr txBox="1"/>
          <p:nvPr/>
        </p:nvSpPr>
        <p:spPr>
          <a:xfrm>
            <a:off x="484632" y="2468880"/>
            <a:ext cx="813816" cy="256032"/>
          </a:xfrm>
          <a:prstGeom prst="rect">
            <a:avLst/>
          </a:prstGeom>
          <a:noFill/>
          <a:ln/>
        </p:spPr>
        <p:txBody>
          <a:bodyPr wrap="square" lIns="0" tIns="0" rIns="0" bIns="0" rtlCol="0" anchor="ctr"/>
          <a:lstStyle/>
          <a:p>
            <a:pPr algn="l" indent="0" marL="0">
              <a:buNone/>
            </a:pPr>
            <a:r>
              <a:rPr lang="en-US" sz="780" b="1" dirty="0">
                <a:solidFill>
                  <a:srgbClr val="FFFFFF"/>
                </a:solidFill>
                <a:latin typeface="Calibri" pitchFamily="34" charset="0"/>
                <a:ea typeface="Calibri" pitchFamily="34" charset="-122"/>
                <a:cs typeface="Calibri" pitchFamily="34" charset="-120"/>
              </a:rPr>
              <a:t>Tier</a:t>
            </a:r>
            <a:endParaRPr lang="en-US" sz="780" dirty="0"/>
          </a:p>
        </p:txBody>
      </p:sp>
      <p:sp>
        <p:nvSpPr>
          <p:cNvPr id="24" name="Text 22"/>
          <p:cNvSpPr txBox="1"/>
          <p:nvPr/>
        </p:nvSpPr>
        <p:spPr>
          <a:xfrm>
            <a:off x="1444752" y="2468880"/>
            <a:ext cx="1636776" cy="256032"/>
          </a:xfrm>
          <a:prstGeom prst="rect">
            <a:avLst/>
          </a:prstGeom>
          <a:noFill/>
          <a:ln/>
        </p:spPr>
        <p:txBody>
          <a:bodyPr wrap="square" lIns="0" tIns="0" rIns="0" bIns="0" rtlCol="0" anchor="ctr"/>
          <a:lstStyle/>
          <a:p>
            <a:pPr algn="l" indent="0" marL="0">
              <a:buNone/>
            </a:pPr>
            <a:r>
              <a:rPr lang="en-US" sz="780" b="1" dirty="0">
                <a:solidFill>
                  <a:srgbClr val="FFFFFF"/>
                </a:solidFill>
                <a:latin typeface="Calibri" pitchFamily="34" charset="0"/>
                <a:ea typeface="Calibri" pitchFamily="34" charset="-122"/>
                <a:cs typeface="Calibri" pitchFamily="34" charset="-120"/>
              </a:rPr>
              <a:t>ECM allocates</a:t>
            </a:r>
            <a:endParaRPr lang="en-US" sz="780" dirty="0"/>
          </a:p>
        </p:txBody>
      </p:sp>
      <p:sp>
        <p:nvSpPr>
          <p:cNvPr id="25" name="Text 23"/>
          <p:cNvSpPr txBox="1"/>
          <p:nvPr/>
        </p:nvSpPr>
        <p:spPr>
          <a:xfrm>
            <a:off x="3227832" y="2468880"/>
            <a:ext cx="3785616" cy="256032"/>
          </a:xfrm>
          <a:prstGeom prst="rect">
            <a:avLst/>
          </a:prstGeom>
          <a:noFill/>
          <a:ln/>
        </p:spPr>
        <p:txBody>
          <a:bodyPr wrap="square" lIns="0" tIns="0" rIns="0" bIns="0" rtlCol="0" anchor="ctr"/>
          <a:lstStyle/>
          <a:p>
            <a:pPr algn="l" indent="0" marL="0">
              <a:buNone/>
            </a:pPr>
            <a:r>
              <a:rPr lang="en-US" sz="780" b="1" dirty="0">
                <a:solidFill>
                  <a:srgbClr val="FFFFFF"/>
                </a:solidFill>
                <a:latin typeface="Calibri" pitchFamily="34" charset="0"/>
                <a:ea typeface="Calibri" pitchFamily="34" charset="-122"/>
                <a:cs typeface="Calibri" pitchFamily="34" charset="-120"/>
              </a:rPr>
              <a:t>Checkpoints</a:t>
            </a:r>
            <a:endParaRPr lang="en-US" sz="780" dirty="0"/>
          </a:p>
        </p:txBody>
      </p:sp>
      <p:sp>
        <p:nvSpPr>
          <p:cNvPr id="26" name="Text 24"/>
          <p:cNvSpPr txBox="1"/>
          <p:nvPr/>
        </p:nvSpPr>
        <p:spPr>
          <a:xfrm>
            <a:off x="7159752" y="2468880"/>
            <a:ext cx="3602736" cy="256032"/>
          </a:xfrm>
          <a:prstGeom prst="rect">
            <a:avLst/>
          </a:prstGeom>
          <a:noFill/>
          <a:ln/>
        </p:spPr>
        <p:txBody>
          <a:bodyPr wrap="square" lIns="0" tIns="0" rIns="0" bIns="0" rtlCol="0" anchor="ctr"/>
          <a:lstStyle/>
          <a:p>
            <a:pPr algn="l" indent="0" marL="0">
              <a:buNone/>
            </a:pPr>
            <a:r>
              <a:rPr lang="en-US" sz="780" b="1" dirty="0">
                <a:solidFill>
                  <a:srgbClr val="FFFFFF"/>
                </a:solidFill>
                <a:latin typeface="Calibri" pitchFamily="34" charset="0"/>
                <a:ea typeface="Calibri" pitchFamily="34" charset="-122"/>
                <a:cs typeface="Calibri" pitchFamily="34" charset="-120"/>
              </a:rPr>
              <a:t>Guardrails specific to the tier</a:t>
            </a:r>
            <a:endParaRPr lang="en-US" sz="780" dirty="0"/>
          </a:p>
        </p:txBody>
      </p:sp>
      <p:sp>
        <p:nvSpPr>
          <p:cNvPr id="27" name="Text 25"/>
          <p:cNvSpPr txBox="1"/>
          <p:nvPr/>
        </p:nvSpPr>
        <p:spPr>
          <a:xfrm>
            <a:off x="10908792" y="2468880"/>
            <a:ext cx="768096" cy="256032"/>
          </a:xfrm>
          <a:prstGeom prst="rect">
            <a:avLst/>
          </a:prstGeom>
          <a:noFill/>
          <a:ln/>
        </p:spPr>
        <p:txBody>
          <a:bodyPr wrap="square" lIns="0" tIns="0" rIns="0" bIns="0" rtlCol="0" anchor="ctr"/>
          <a:lstStyle/>
          <a:p>
            <a:pPr algn="l" indent="0" marL="0">
              <a:buNone/>
            </a:pPr>
            <a:r>
              <a:rPr lang="en-US" sz="780" b="1" dirty="0">
                <a:solidFill>
                  <a:srgbClr val="FFFFFF"/>
                </a:solidFill>
                <a:latin typeface="Calibri" pitchFamily="34" charset="0"/>
                <a:ea typeface="Calibri" pitchFamily="34" charset="-122"/>
                <a:cs typeface="Calibri" pitchFamily="34" charset="-120"/>
              </a:rPr>
              <a:t>Steady</a:t>
            </a:r>
            <a:endParaRPr lang="en-US" sz="780" dirty="0"/>
          </a:p>
        </p:txBody>
      </p:sp>
      <p:sp>
        <p:nvSpPr>
          <p:cNvPr id="28" name="Shape 26"/>
          <p:cNvSpPr/>
          <p:nvPr/>
        </p:nvSpPr>
        <p:spPr>
          <a:xfrm>
            <a:off x="411480" y="2724912"/>
            <a:ext cx="11338560" cy="621792"/>
          </a:xfrm>
          <a:prstGeom prst="rect">
            <a:avLst/>
          </a:prstGeom>
          <a:solidFill>
            <a:srgbClr val="FFFFFF"/>
          </a:solidFill>
          <a:ln w="6350">
            <a:solidFill>
              <a:srgbClr val="D4DAE2"/>
            </a:solidFill>
            <a:prstDash val="solid"/>
          </a:ln>
        </p:spPr>
      </p:sp>
      <p:sp>
        <p:nvSpPr>
          <p:cNvPr id="29" name="Shape 27"/>
          <p:cNvSpPr/>
          <p:nvPr/>
        </p:nvSpPr>
        <p:spPr>
          <a:xfrm>
            <a:off x="457200" y="2898648"/>
            <a:ext cx="868680" cy="274320"/>
          </a:xfrm>
          <a:prstGeom prst="rect">
            <a:avLst/>
          </a:prstGeom>
          <a:solidFill>
            <a:srgbClr val="E6F2F1"/>
          </a:solidFill>
          <a:ln w="12700">
            <a:solidFill>
              <a:srgbClr val="E6F2F1"/>
            </a:solidFill>
            <a:prstDash val="solid"/>
          </a:ln>
        </p:spPr>
      </p:sp>
      <p:sp>
        <p:nvSpPr>
          <p:cNvPr id="30" name="Text 28"/>
          <p:cNvSpPr txBox="1"/>
          <p:nvPr/>
        </p:nvSpPr>
        <p:spPr>
          <a:xfrm>
            <a:off x="484632" y="2724912"/>
            <a:ext cx="813816" cy="621792"/>
          </a:xfrm>
          <a:prstGeom prst="rect">
            <a:avLst/>
          </a:prstGeom>
          <a:noFill/>
          <a:ln/>
        </p:spPr>
        <p:txBody>
          <a:bodyPr wrap="square" lIns="0" tIns="0" rIns="0" bIns="0" rtlCol="0" anchor="ctr"/>
          <a:lstStyle/>
          <a:p>
            <a:pPr algn="ctr" indent="0" marL="0">
              <a:buNone/>
            </a:pPr>
            <a:r>
              <a:rPr lang="en-US" sz="770" b="1" dirty="0">
                <a:solidFill>
                  <a:srgbClr val="0B6E6E"/>
                </a:solidFill>
                <a:latin typeface="Calibri" pitchFamily="34" charset="0"/>
                <a:ea typeface="Calibri" pitchFamily="34" charset="-122"/>
                <a:cs typeface="Calibri" pitchFamily="34" charset="-120"/>
              </a:rPr>
              <a:t>Lean</a:t>
            </a:r>
            <a:endParaRPr lang="en-US" sz="770" dirty="0"/>
          </a:p>
        </p:txBody>
      </p:sp>
      <p:sp>
        <p:nvSpPr>
          <p:cNvPr id="31" name="Text 29"/>
          <p:cNvSpPr txBox="1"/>
          <p:nvPr/>
        </p:nvSpPr>
        <p:spPr>
          <a:xfrm>
            <a:off x="1444752" y="2724912"/>
            <a:ext cx="1636776" cy="621792"/>
          </a:xfrm>
          <a:prstGeom prst="rect">
            <a:avLst/>
          </a:prstGeom>
          <a:noFill/>
          <a:ln/>
        </p:spPr>
        <p:txBody>
          <a:bodyPr wrap="square" lIns="0" tIns="0" rIns="0" bIns="0" rtlCol="0" anchor="ctr"/>
          <a:lstStyle/>
          <a:p>
            <a:pPr algn="l" indent="0" marL="0">
              <a:buNone/>
            </a:pPr>
            <a:r>
              <a:rPr lang="en-US" sz="770" dirty="0">
                <a:solidFill>
                  <a:srgbClr val="1B2432"/>
                </a:solidFill>
                <a:latin typeface="Calibri" pitchFamily="34" charset="0"/>
                <a:ea typeface="Calibri" pitchFamily="34" charset="-122"/>
                <a:cs typeface="Calibri" pitchFamily="34" charset="-120"/>
              </a:rPr>
              <a:t>No dedicated capacity</a:t>
            </a:r>
            <a:endParaRPr lang="en-US" sz="770" dirty="0"/>
          </a:p>
        </p:txBody>
      </p:sp>
      <p:sp>
        <p:nvSpPr>
          <p:cNvPr id="32" name="Text 30"/>
          <p:cNvSpPr txBox="1"/>
          <p:nvPr/>
        </p:nvSpPr>
        <p:spPr>
          <a:xfrm>
            <a:off x="3227832" y="2724912"/>
            <a:ext cx="3785616" cy="621792"/>
          </a:xfrm>
          <a:prstGeom prst="rect">
            <a:avLst/>
          </a:prstGeom>
          <a:noFill/>
          <a:ln/>
        </p:spPr>
        <p:txBody>
          <a:bodyPr wrap="square" lIns="0" tIns="0" rIns="0" bIns="0" rtlCol="0" anchor="ctr"/>
          <a:lstStyle/>
          <a:p>
            <a:pPr algn="l" indent="0" marL="0">
              <a:buNone/>
            </a:pPr>
            <a:r>
              <a:rPr lang="en-US" sz="770" dirty="0">
                <a:solidFill>
                  <a:srgbClr val="1B2432"/>
                </a:solidFill>
                <a:latin typeface="Calibri" pitchFamily="34" charset="0"/>
                <a:ea typeface="Calibri" pitchFamily="34" charset="-122"/>
                <a:cs typeface="Calibri" pitchFamily="34" charset="-120"/>
              </a:rPr>
              <a:t>Entry check at triage — pattern confirmed and completeness band met. Exit check before go-live. No scheduled design review.</a:t>
            </a:r>
            <a:endParaRPr lang="en-US" sz="770" dirty="0"/>
          </a:p>
        </p:txBody>
      </p:sp>
      <p:sp>
        <p:nvSpPr>
          <p:cNvPr id="33" name="Text 31"/>
          <p:cNvSpPr txBox="1"/>
          <p:nvPr/>
        </p:nvSpPr>
        <p:spPr>
          <a:xfrm>
            <a:off x="7159752" y="2724912"/>
            <a:ext cx="3602736" cy="621792"/>
          </a:xfrm>
          <a:prstGeom prst="rect">
            <a:avLst/>
          </a:prstGeom>
          <a:noFill/>
          <a:ln/>
        </p:spPr>
        <p:txBody>
          <a:bodyPr wrap="square" lIns="0" tIns="0" rIns="0" bIns="0" rtlCol="0" anchor="ctr"/>
          <a:lstStyle/>
          <a:p>
            <a:pPr algn="l" indent="0" marL="0">
              <a:buNone/>
            </a:pPr>
            <a:r>
              <a:rPr lang="en-US" sz="770" dirty="0">
                <a:solidFill>
                  <a:srgbClr val="1B2432"/>
                </a:solidFill>
                <a:latin typeface="Calibri" pitchFamily="34" charset="0"/>
                <a:ea typeface="Calibri" pitchFamily="34" charset="-122"/>
                <a:cs typeface="Calibri" pitchFamily="34" charset="-120"/>
              </a:rPr>
              <a:t>All eight invariants, evidenced by checklist · any deviation from the pattern forces escalation to Lean+ · partner must already have completed one prior intake.</a:t>
            </a:r>
            <a:endParaRPr lang="en-US" sz="770" dirty="0"/>
          </a:p>
        </p:txBody>
      </p:sp>
      <p:sp>
        <p:nvSpPr>
          <p:cNvPr id="34" name="Text 32"/>
          <p:cNvSpPr txBox="1"/>
          <p:nvPr/>
        </p:nvSpPr>
        <p:spPr>
          <a:xfrm>
            <a:off x="10908792" y="2724912"/>
            <a:ext cx="768096" cy="621792"/>
          </a:xfrm>
          <a:prstGeom prst="rect">
            <a:avLst/>
          </a:prstGeom>
          <a:noFill/>
          <a:ln/>
        </p:spPr>
        <p:txBody>
          <a:bodyPr wrap="square" lIns="0" tIns="0" rIns="0" bIns="0" rtlCol="0" anchor="ctr"/>
          <a:lstStyle/>
          <a:p>
            <a:pPr algn="l" indent="0" marL="0">
              <a:buNone/>
            </a:pPr>
            <a:r>
              <a:rPr lang="en-US" sz="770" dirty="0">
                <a:solidFill>
                  <a:srgbClr val="1B2432"/>
                </a:solidFill>
                <a:latin typeface="Calibri" pitchFamily="34" charset="0"/>
                <a:ea typeface="Calibri" pitchFamily="34" charset="-122"/>
                <a:cs typeface="Calibri" pitchFamily="34" charset="-120"/>
              </a:rPr>
              <a:t>16</a:t>
            </a:r>
            <a:endParaRPr lang="en-US" sz="770" dirty="0"/>
          </a:p>
        </p:txBody>
      </p:sp>
      <p:sp>
        <p:nvSpPr>
          <p:cNvPr id="35" name="Shape 33"/>
          <p:cNvSpPr/>
          <p:nvPr/>
        </p:nvSpPr>
        <p:spPr>
          <a:xfrm>
            <a:off x="411480" y="3346704"/>
            <a:ext cx="11338560" cy="621792"/>
          </a:xfrm>
          <a:prstGeom prst="rect">
            <a:avLst/>
          </a:prstGeom>
          <a:solidFill>
            <a:srgbClr val="F4F7FA"/>
          </a:solidFill>
          <a:ln w="6350">
            <a:solidFill>
              <a:srgbClr val="D4DAE2"/>
            </a:solidFill>
            <a:prstDash val="solid"/>
          </a:ln>
        </p:spPr>
      </p:sp>
      <p:sp>
        <p:nvSpPr>
          <p:cNvPr id="36" name="Shape 34"/>
          <p:cNvSpPr/>
          <p:nvPr/>
        </p:nvSpPr>
        <p:spPr>
          <a:xfrm>
            <a:off x="457200" y="3520440"/>
            <a:ext cx="868680" cy="274320"/>
          </a:xfrm>
          <a:prstGeom prst="rect">
            <a:avLst/>
          </a:prstGeom>
          <a:solidFill>
            <a:srgbClr val="FAF1DF"/>
          </a:solidFill>
          <a:ln w="12700">
            <a:solidFill>
              <a:srgbClr val="FAF1DF"/>
            </a:solidFill>
            <a:prstDash val="solid"/>
          </a:ln>
        </p:spPr>
      </p:sp>
      <p:sp>
        <p:nvSpPr>
          <p:cNvPr id="37" name="Text 35"/>
          <p:cNvSpPr txBox="1"/>
          <p:nvPr/>
        </p:nvSpPr>
        <p:spPr>
          <a:xfrm>
            <a:off x="484632" y="3346704"/>
            <a:ext cx="813816" cy="621792"/>
          </a:xfrm>
          <a:prstGeom prst="rect">
            <a:avLst/>
          </a:prstGeom>
          <a:noFill/>
          <a:ln/>
        </p:spPr>
        <p:txBody>
          <a:bodyPr wrap="square" lIns="0" tIns="0" rIns="0" bIns="0" rtlCol="0" anchor="ctr"/>
          <a:lstStyle/>
          <a:p>
            <a:pPr algn="ctr" indent="0" marL="0">
              <a:buNone/>
            </a:pPr>
            <a:r>
              <a:rPr lang="en-US" sz="770" b="1" dirty="0">
                <a:solidFill>
                  <a:srgbClr val="9A6410"/>
                </a:solidFill>
                <a:latin typeface="Calibri" pitchFamily="34" charset="0"/>
                <a:ea typeface="Calibri" pitchFamily="34" charset="-122"/>
                <a:cs typeface="Calibri" pitchFamily="34" charset="-120"/>
              </a:rPr>
              <a:t>Lean+</a:t>
            </a:r>
            <a:endParaRPr lang="en-US" sz="770" dirty="0"/>
          </a:p>
        </p:txBody>
      </p:sp>
      <p:sp>
        <p:nvSpPr>
          <p:cNvPr id="38" name="Text 36"/>
          <p:cNvSpPr txBox="1"/>
          <p:nvPr/>
        </p:nvSpPr>
        <p:spPr>
          <a:xfrm>
            <a:off x="1444752" y="3346704"/>
            <a:ext cx="1636776" cy="621792"/>
          </a:xfrm>
          <a:prstGeom prst="rect">
            <a:avLst/>
          </a:prstGeom>
          <a:noFill/>
          <a:ln/>
        </p:spPr>
        <p:txBody>
          <a:bodyPr wrap="square" lIns="0" tIns="0" rIns="0" bIns="0" rtlCol="0" anchor="ctr"/>
          <a:lstStyle/>
          <a:p>
            <a:pPr algn="l" indent="0" marL="0">
              <a:buNone/>
            </a:pPr>
            <a:r>
              <a:rPr lang="en-US" sz="770" dirty="0">
                <a:solidFill>
                  <a:srgbClr val="1B2432"/>
                </a:solidFill>
                <a:latin typeface="Calibri" pitchFamily="34" charset="0"/>
                <a:ea typeface="Calibri" pitchFamily="34" charset="-122"/>
                <a:cs typeface="Calibri" pitchFamily="34" charset="-120"/>
              </a:rPr>
              <a:t>A shared pool, part-time</a:t>
            </a:r>
            <a:endParaRPr lang="en-US" sz="770" dirty="0"/>
          </a:p>
        </p:txBody>
      </p:sp>
      <p:sp>
        <p:nvSpPr>
          <p:cNvPr id="39" name="Text 37"/>
          <p:cNvSpPr txBox="1"/>
          <p:nvPr/>
        </p:nvSpPr>
        <p:spPr>
          <a:xfrm>
            <a:off x="3227832" y="3346704"/>
            <a:ext cx="3785616" cy="621792"/>
          </a:xfrm>
          <a:prstGeom prst="rect">
            <a:avLst/>
          </a:prstGeom>
          <a:noFill/>
          <a:ln/>
        </p:spPr>
        <p:txBody>
          <a:bodyPr wrap="square" lIns="0" tIns="0" rIns="0" bIns="0" rtlCol="0" anchor="ctr"/>
          <a:lstStyle/>
          <a:p>
            <a:pPr algn="l" indent="0" marL="0">
              <a:buNone/>
            </a:pPr>
            <a:r>
              <a:rPr lang="en-US" sz="770" dirty="0">
                <a:solidFill>
                  <a:srgbClr val="1B2432"/>
                </a:solidFill>
                <a:latin typeface="Calibri" pitchFamily="34" charset="0"/>
                <a:ea typeface="Calibri" pitchFamily="34" charset="-122"/>
                <a:cs typeface="Calibri" pitchFamily="34" charset="-120"/>
              </a:rPr>
              <a:t>Two mandatory design checkpoints — solution shape after triage, build readiness before configuration — plus a pre-go-live gate walk.</a:t>
            </a:r>
            <a:endParaRPr lang="en-US" sz="770" dirty="0"/>
          </a:p>
        </p:txBody>
      </p:sp>
      <p:sp>
        <p:nvSpPr>
          <p:cNvPr id="40" name="Text 38"/>
          <p:cNvSpPr txBox="1"/>
          <p:nvPr/>
        </p:nvSpPr>
        <p:spPr>
          <a:xfrm>
            <a:off x="7159752" y="3346704"/>
            <a:ext cx="3602736" cy="621792"/>
          </a:xfrm>
          <a:prstGeom prst="rect">
            <a:avLst/>
          </a:prstGeom>
          <a:noFill/>
          <a:ln/>
        </p:spPr>
        <p:txBody>
          <a:bodyPr wrap="square" lIns="0" tIns="0" rIns="0" bIns="0" rtlCol="0" anchor="ctr"/>
          <a:lstStyle/>
          <a:p>
            <a:pPr algn="l" indent="0" marL="0">
              <a:buNone/>
            </a:pPr>
            <a:r>
              <a:rPr lang="en-US" sz="770" dirty="0">
                <a:solidFill>
                  <a:srgbClr val="1B2432"/>
                </a:solidFill>
                <a:latin typeface="Calibri" pitchFamily="34" charset="0"/>
                <a:ea typeface="Calibri" pitchFamily="34" charset="-122"/>
                <a:cs typeface="Calibri" pitchFamily="34" charset="-120"/>
              </a:rPr>
              <a:t>All eight invariants · the named guide signs the design record · no artefact means no review, rebook · scope beyond the pattern forces a re-tier.</a:t>
            </a:r>
            <a:endParaRPr lang="en-US" sz="770" dirty="0"/>
          </a:p>
        </p:txBody>
      </p:sp>
      <p:sp>
        <p:nvSpPr>
          <p:cNvPr id="41" name="Text 39"/>
          <p:cNvSpPr txBox="1"/>
          <p:nvPr/>
        </p:nvSpPr>
        <p:spPr>
          <a:xfrm>
            <a:off x="10908792" y="3346704"/>
            <a:ext cx="768096" cy="621792"/>
          </a:xfrm>
          <a:prstGeom prst="rect">
            <a:avLst/>
          </a:prstGeom>
          <a:noFill/>
          <a:ln/>
        </p:spPr>
        <p:txBody>
          <a:bodyPr wrap="square" lIns="0" tIns="0" rIns="0" bIns="0" rtlCol="0" anchor="ctr"/>
          <a:lstStyle/>
          <a:p>
            <a:pPr algn="l" indent="0" marL="0">
              <a:buNone/>
            </a:pPr>
            <a:r>
              <a:rPr lang="en-US" sz="770" dirty="0">
                <a:solidFill>
                  <a:srgbClr val="1B2432"/>
                </a:solidFill>
                <a:latin typeface="Calibri" pitchFamily="34" charset="0"/>
                <a:ea typeface="Calibri" pitchFamily="34" charset="-122"/>
                <a:cs typeface="Calibri" pitchFamily="34" charset="-120"/>
              </a:rPr>
              <a:t>13</a:t>
            </a:r>
            <a:endParaRPr lang="en-US" sz="770" dirty="0"/>
          </a:p>
        </p:txBody>
      </p:sp>
      <p:sp>
        <p:nvSpPr>
          <p:cNvPr id="42" name="Shape 40"/>
          <p:cNvSpPr/>
          <p:nvPr/>
        </p:nvSpPr>
        <p:spPr>
          <a:xfrm>
            <a:off x="411480" y="3968496"/>
            <a:ext cx="11338560" cy="621792"/>
          </a:xfrm>
          <a:prstGeom prst="rect">
            <a:avLst/>
          </a:prstGeom>
          <a:solidFill>
            <a:srgbClr val="FFFFFF"/>
          </a:solidFill>
          <a:ln w="6350">
            <a:solidFill>
              <a:srgbClr val="D4DAE2"/>
            </a:solidFill>
            <a:prstDash val="solid"/>
          </a:ln>
        </p:spPr>
      </p:sp>
      <p:sp>
        <p:nvSpPr>
          <p:cNvPr id="43" name="Shape 41"/>
          <p:cNvSpPr/>
          <p:nvPr/>
        </p:nvSpPr>
        <p:spPr>
          <a:xfrm>
            <a:off x="457200" y="4142232"/>
            <a:ext cx="868680" cy="274320"/>
          </a:xfrm>
          <a:prstGeom prst="rect">
            <a:avLst/>
          </a:prstGeom>
          <a:solidFill>
            <a:srgbClr val="E8EDF4"/>
          </a:solidFill>
          <a:ln w="12700">
            <a:solidFill>
              <a:srgbClr val="E8EDF4"/>
            </a:solidFill>
            <a:prstDash val="solid"/>
          </a:ln>
        </p:spPr>
      </p:sp>
      <p:sp>
        <p:nvSpPr>
          <p:cNvPr id="44" name="Text 42"/>
          <p:cNvSpPr txBox="1"/>
          <p:nvPr/>
        </p:nvSpPr>
        <p:spPr>
          <a:xfrm>
            <a:off x="484632" y="3968496"/>
            <a:ext cx="813816" cy="621792"/>
          </a:xfrm>
          <a:prstGeom prst="rect">
            <a:avLst/>
          </a:prstGeom>
          <a:noFill/>
          <a:ln/>
        </p:spPr>
        <p:txBody>
          <a:bodyPr wrap="square" lIns="0" tIns="0" rIns="0" bIns="0" rtlCol="0" anchor="ctr"/>
          <a:lstStyle/>
          <a:p>
            <a:pPr algn="ctr" indent="0" marL="0">
              <a:buNone/>
            </a:pPr>
            <a:r>
              <a:rPr lang="en-US" sz="770" b="1" dirty="0">
                <a:solidFill>
                  <a:srgbClr val="15304F"/>
                </a:solidFill>
                <a:latin typeface="Calibri" pitchFamily="34" charset="0"/>
                <a:ea typeface="Calibri" pitchFamily="34" charset="-122"/>
                <a:cs typeface="Calibri" pitchFamily="34" charset="-120"/>
              </a:rPr>
              <a:t>Dedicated</a:t>
            </a:r>
            <a:endParaRPr lang="en-US" sz="770" dirty="0"/>
          </a:p>
        </p:txBody>
      </p:sp>
      <p:sp>
        <p:nvSpPr>
          <p:cNvPr id="45" name="Text 43"/>
          <p:cNvSpPr txBox="1"/>
          <p:nvPr/>
        </p:nvSpPr>
        <p:spPr>
          <a:xfrm>
            <a:off x="1444752" y="3968496"/>
            <a:ext cx="1636776" cy="621792"/>
          </a:xfrm>
          <a:prstGeom prst="rect">
            <a:avLst/>
          </a:prstGeom>
          <a:noFill/>
          <a:ln/>
        </p:spPr>
        <p:txBody>
          <a:bodyPr wrap="square" lIns="0" tIns="0" rIns="0" bIns="0" rtlCol="0" anchor="ctr"/>
          <a:lstStyle/>
          <a:p>
            <a:pPr algn="l" indent="0" marL="0">
              <a:buNone/>
            </a:pPr>
            <a:r>
              <a:rPr lang="en-US" sz="770" dirty="0">
                <a:solidFill>
                  <a:srgbClr val="1B2432"/>
                </a:solidFill>
                <a:latin typeface="Calibri" pitchFamily="34" charset="0"/>
                <a:ea typeface="Calibri" pitchFamily="34" charset="-122"/>
                <a:cs typeface="Calibri" pitchFamily="34" charset="-120"/>
              </a:rPr>
              <a:t>A full pod, inception to release</a:t>
            </a:r>
            <a:endParaRPr lang="en-US" sz="770" dirty="0"/>
          </a:p>
        </p:txBody>
      </p:sp>
      <p:sp>
        <p:nvSpPr>
          <p:cNvPr id="46" name="Text 44"/>
          <p:cNvSpPr txBox="1"/>
          <p:nvPr/>
        </p:nvSpPr>
        <p:spPr>
          <a:xfrm>
            <a:off x="3227832" y="3968496"/>
            <a:ext cx="3785616" cy="621792"/>
          </a:xfrm>
          <a:prstGeom prst="rect">
            <a:avLst/>
          </a:prstGeom>
          <a:noFill/>
          <a:ln/>
        </p:spPr>
        <p:txBody>
          <a:bodyPr wrap="square" lIns="0" tIns="0" rIns="0" bIns="0" rtlCol="0" anchor="ctr"/>
          <a:lstStyle/>
          <a:p>
            <a:pPr algn="l" indent="0" marL="0">
              <a:buNone/>
            </a:pPr>
            <a:r>
              <a:rPr lang="en-US" sz="770" dirty="0">
                <a:solidFill>
                  <a:srgbClr val="1B2432"/>
                </a:solidFill>
                <a:latin typeface="Calibri" pitchFamily="34" charset="0"/>
                <a:ea typeface="Calibri" pitchFamily="34" charset="-122"/>
                <a:cs typeface="Calibri" pitchFamily="34" charset="-120"/>
              </a:rPr>
              <a:t>Continuous: architecture review · design authority sign-off · integration readiness · pre-UAT · pre-go-live · post-go-live review.</a:t>
            </a:r>
            <a:endParaRPr lang="en-US" sz="770" dirty="0"/>
          </a:p>
        </p:txBody>
      </p:sp>
      <p:sp>
        <p:nvSpPr>
          <p:cNvPr id="47" name="Text 45"/>
          <p:cNvSpPr txBox="1"/>
          <p:nvPr/>
        </p:nvSpPr>
        <p:spPr>
          <a:xfrm>
            <a:off x="7159752" y="3968496"/>
            <a:ext cx="3602736" cy="621792"/>
          </a:xfrm>
          <a:prstGeom prst="rect">
            <a:avLst/>
          </a:prstGeom>
          <a:noFill/>
          <a:ln/>
        </p:spPr>
        <p:txBody>
          <a:bodyPr wrap="square" lIns="0" tIns="0" rIns="0" bIns="0" rtlCol="0" anchor="ctr"/>
          <a:lstStyle/>
          <a:p>
            <a:pPr algn="l" indent="0" marL="0">
              <a:buNone/>
            </a:pPr>
            <a:r>
              <a:rPr lang="en-US" sz="770" dirty="0">
                <a:solidFill>
                  <a:srgbClr val="1B2432"/>
                </a:solidFill>
                <a:latin typeface="Calibri" pitchFamily="34" charset="0"/>
                <a:ea typeface="Calibri" pitchFamily="34" charset="-122"/>
                <a:cs typeface="Calibri" pitchFamily="34" charset="-120"/>
              </a:rPr>
              <a:t>All eight invariants plus full design authority review · a joint delivery plan with the partner · formal change control on any scope movement.</a:t>
            </a:r>
            <a:endParaRPr lang="en-US" sz="770" dirty="0"/>
          </a:p>
        </p:txBody>
      </p:sp>
      <p:sp>
        <p:nvSpPr>
          <p:cNvPr id="48" name="Text 46"/>
          <p:cNvSpPr txBox="1"/>
          <p:nvPr/>
        </p:nvSpPr>
        <p:spPr>
          <a:xfrm>
            <a:off x="10908792" y="3968496"/>
            <a:ext cx="768096" cy="621792"/>
          </a:xfrm>
          <a:prstGeom prst="rect">
            <a:avLst/>
          </a:prstGeom>
          <a:noFill/>
          <a:ln/>
        </p:spPr>
        <p:txBody>
          <a:bodyPr wrap="square" lIns="0" tIns="0" rIns="0" bIns="0" rtlCol="0" anchor="ctr"/>
          <a:lstStyle/>
          <a:p>
            <a:pPr algn="l" indent="0" marL="0">
              <a:buNone/>
            </a:pPr>
            <a:r>
              <a:rPr lang="en-US" sz="770" dirty="0">
                <a:solidFill>
                  <a:srgbClr val="1B2432"/>
                </a:solidFill>
                <a:latin typeface="Calibri" pitchFamily="34" charset="0"/>
                <a:ea typeface="Calibri" pitchFamily="34" charset="-122"/>
                <a:cs typeface="Calibri" pitchFamily="34" charset="-120"/>
              </a:rPr>
              <a:t>7</a:t>
            </a:r>
            <a:endParaRPr lang="en-US" sz="770" dirty="0"/>
          </a:p>
        </p:txBody>
      </p:sp>
      <p:sp>
        <p:nvSpPr>
          <p:cNvPr id="49" name="Shape 47"/>
          <p:cNvSpPr/>
          <p:nvPr/>
        </p:nvSpPr>
        <p:spPr>
          <a:xfrm>
            <a:off x="411480" y="4590288"/>
            <a:ext cx="11338560" cy="621792"/>
          </a:xfrm>
          <a:prstGeom prst="rect">
            <a:avLst/>
          </a:prstGeom>
          <a:solidFill>
            <a:srgbClr val="F4F7FA"/>
          </a:solidFill>
          <a:ln w="6350">
            <a:solidFill>
              <a:srgbClr val="D4DAE2"/>
            </a:solidFill>
            <a:prstDash val="solid"/>
          </a:ln>
        </p:spPr>
      </p:sp>
      <p:sp>
        <p:nvSpPr>
          <p:cNvPr id="50" name="Shape 48"/>
          <p:cNvSpPr/>
          <p:nvPr/>
        </p:nvSpPr>
        <p:spPr>
          <a:xfrm>
            <a:off x="457200" y="4764024"/>
            <a:ext cx="868680" cy="274320"/>
          </a:xfrm>
          <a:prstGeom prst="rect">
            <a:avLst/>
          </a:prstGeom>
          <a:solidFill>
            <a:srgbClr val="F1EEF6"/>
          </a:solidFill>
          <a:ln w="12700">
            <a:solidFill>
              <a:srgbClr val="F1EEF6"/>
            </a:solidFill>
            <a:prstDash val="solid"/>
          </a:ln>
        </p:spPr>
      </p:sp>
      <p:sp>
        <p:nvSpPr>
          <p:cNvPr id="51" name="Text 49"/>
          <p:cNvSpPr txBox="1"/>
          <p:nvPr/>
        </p:nvSpPr>
        <p:spPr>
          <a:xfrm>
            <a:off x="484632" y="4590288"/>
            <a:ext cx="813816" cy="621792"/>
          </a:xfrm>
          <a:prstGeom prst="rect">
            <a:avLst/>
          </a:prstGeom>
          <a:noFill/>
          <a:ln/>
        </p:spPr>
        <p:txBody>
          <a:bodyPr wrap="square" lIns="0" tIns="0" rIns="0" bIns="0" rtlCol="0" anchor="ctr"/>
          <a:lstStyle/>
          <a:p>
            <a:pPr algn="ctr" indent="0" marL="0">
              <a:buNone/>
            </a:pPr>
            <a:r>
              <a:rPr lang="en-US" sz="770" b="1" dirty="0">
                <a:solidFill>
                  <a:srgbClr val="5B4A72"/>
                </a:solidFill>
                <a:latin typeface="Calibri" pitchFamily="34" charset="0"/>
                <a:ea typeface="Calibri" pitchFamily="34" charset="-122"/>
                <a:cs typeface="Calibri" pitchFamily="34" charset="-120"/>
              </a:rPr>
              <a:t>Factory</a:t>
            </a:r>
            <a:endParaRPr lang="en-US" sz="770" dirty="0"/>
          </a:p>
        </p:txBody>
      </p:sp>
      <p:sp>
        <p:nvSpPr>
          <p:cNvPr id="52" name="Text 50"/>
          <p:cNvSpPr txBox="1"/>
          <p:nvPr/>
        </p:nvSpPr>
        <p:spPr>
          <a:xfrm>
            <a:off x="1444752" y="4590288"/>
            <a:ext cx="1636776" cy="621792"/>
          </a:xfrm>
          <a:prstGeom prst="rect">
            <a:avLst/>
          </a:prstGeom>
          <a:noFill/>
          <a:ln/>
        </p:spPr>
        <p:txBody>
          <a:bodyPr wrap="square" lIns="0" tIns="0" rIns="0" bIns="0" rtlCol="0" anchor="ctr"/>
          <a:lstStyle/>
          <a:p>
            <a:pPr algn="l" indent="0" marL="0">
              <a:buNone/>
            </a:pPr>
            <a:r>
              <a:rPr lang="en-US" sz="770" dirty="0">
                <a:solidFill>
                  <a:srgbClr val="1B2432"/>
                </a:solidFill>
                <a:latin typeface="Calibri" pitchFamily="34" charset="0"/>
                <a:ea typeface="Calibri" pitchFamily="34" charset="-122"/>
                <a:cs typeface="Calibri" pitchFamily="34" charset="-120"/>
              </a:rPr>
              <a:t>A campaign team, time-boxed</a:t>
            </a:r>
            <a:endParaRPr lang="en-US" sz="770" dirty="0"/>
          </a:p>
        </p:txBody>
      </p:sp>
      <p:sp>
        <p:nvSpPr>
          <p:cNvPr id="53" name="Text 51"/>
          <p:cNvSpPr txBox="1"/>
          <p:nvPr/>
        </p:nvSpPr>
        <p:spPr>
          <a:xfrm>
            <a:off x="3227832" y="4590288"/>
            <a:ext cx="3785616" cy="621792"/>
          </a:xfrm>
          <a:prstGeom prst="rect">
            <a:avLst/>
          </a:prstGeom>
          <a:noFill/>
          <a:ln/>
        </p:spPr>
        <p:txBody>
          <a:bodyPr wrap="square" lIns="0" tIns="0" rIns="0" bIns="0" rtlCol="0" anchor="ctr"/>
          <a:lstStyle/>
          <a:p>
            <a:pPr algn="l" indent="0" marL="0">
              <a:buNone/>
            </a:pPr>
            <a:r>
              <a:rPr lang="en-US" sz="770" dirty="0">
                <a:solidFill>
                  <a:srgbClr val="1B2432"/>
                </a:solidFill>
                <a:latin typeface="Calibri" pitchFamily="34" charset="0"/>
                <a:ea typeface="Calibri" pitchFamily="34" charset="-122"/>
                <a:cs typeface="Calibri" pitchFamily="34" charset="-120"/>
              </a:rPr>
              <a:t>Campaign entry certification · mid-campaign sampling audit · campaign exit certification.</a:t>
            </a:r>
            <a:endParaRPr lang="en-US" sz="770" dirty="0"/>
          </a:p>
        </p:txBody>
      </p:sp>
      <p:sp>
        <p:nvSpPr>
          <p:cNvPr id="54" name="Text 52"/>
          <p:cNvSpPr txBox="1"/>
          <p:nvPr/>
        </p:nvSpPr>
        <p:spPr>
          <a:xfrm>
            <a:off x="7159752" y="4590288"/>
            <a:ext cx="3602736" cy="621792"/>
          </a:xfrm>
          <a:prstGeom prst="rect">
            <a:avLst/>
          </a:prstGeom>
          <a:noFill/>
          <a:ln/>
        </p:spPr>
        <p:txBody>
          <a:bodyPr wrap="square" lIns="0" tIns="0" rIns="0" bIns="0" rtlCol="0" anchor="ctr"/>
          <a:lstStyle/>
          <a:p>
            <a:pPr algn="l" indent="0" marL="0">
              <a:buNone/>
            </a:pPr>
            <a:r>
              <a:rPr lang="en-US" sz="770" dirty="0">
                <a:solidFill>
                  <a:srgbClr val="1B2432"/>
                </a:solidFill>
                <a:latin typeface="Calibri" pitchFamily="34" charset="0"/>
                <a:ea typeface="Calibri" pitchFamily="34" charset="-122"/>
                <a:cs typeface="Calibri" pitchFamily="34" charset="-120"/>
              </a:rPr>
              <a:t>All eight invariants applied to a batch remediation standard signed off once per campaign · sampling assurance to a defined confidence level.</a:t>
            </a:r>
            <a:endParaRPr lang="en-US" sz="770" dirty="0"/>
          </a:p>
        </p:txBody>
      </p:sp>
      <p:sp>
        <p:nvSpPr>
          <p:cNvPr id="55" name="Text 53"/>
          <p:cNvSpPr txBox="1"/>
          <p:nvPr/>
        </p:nvSpPr>
        <p:spPr>
          <a:xfrm>
            <a:off x="10908792" y="4590288"/>
            <a:ext cx="768096" cy="621792"/>
          </a:xfrm>
          <a:prstGeom prst="rect">
            <a:avLst/>
          </a:prstGeom>
          <a:noFill/>
          <a:ln/>
        </p:spPr>
        <p:txBody>
          <a:bodyPr wrap="square" lIns="0" tIns="0" rIns="0" bIns="0" rtlCol="0" anchor="ctr"/>
          <a:lstStyle/>
          <a:p>
            <a:pPr algn="l" indent="0" marL="0">
              <a:buNone/>
            </a:pPr>
            <a:r>
              <a:rPr lang="en-US" sz="770" dirty="0">
                <a:solidFill>
                  <a:srgbClr val="1B2432"/>
                </a:solidFill>
                <a:latin typeface="Calibri" pitchFamily="34" charset="0"/>
                <a:ea typeface="Calibri" pitchFamily="34" charset="-122"/>
                <a:cs typeface="Calibri" pitchFamily="34" charset="-120"/>
              </a:rPr>
              <a:t>2</a:t>
            </a:r>
            <a:endParaRPr lang="en-US" sz="770" dirty="0"/>
          </a:p>
        </p:txBody>
      </p:sp>
      <p:sp>
        <p:nvSpPr>
          <p:cNvPr id="56" name="Shape 54"/>
          <p:cNvSpPr/>
          <p:nvPr/>
        </p:nvSpPr>
        <p:spPr>
          <a:xfrm>
            <a:off x="411480" y="5486400"/>
            <a:ext cx="11338560" cy="841248"/>
          </a:xfrm>
          <a:prstGeom prst="roundRect">
            <a:avLst>
              <a:gd name="adj" fmla="val 5435"/>
            </a:avLst>
          </a:prstGeom>
          <a:solidFill>
            <a:srgbClr val="E9EEF4"/>
          </a:solidFill>
          <a:ln w="12700">
            <a:solidFill>
              <a:srgbClr val="15304F"/>
            </a:solidFill>
            <a:prstDash val="solid"/>
          </a:ln>
        </p:spPr>
      </p:sp>
      <p:sp>
        <p:nvSpPr>
          <p:cNvPr id="57" name="Text 55"/>
          <p:cNvSpPr txBox="1"/>
          <p:nvPr/>
        </p:nvSpPr>
        <p:spPr>
          <a:xfrm>
            <a:off x="557784" y="5568696"/>
            <a:ext cx="11045952" cy="182880"/>
          </a:xfrm>
          <a:prstGeom prst="rect">
            <a:avLst/>
          </a:prstGeom>
          <a:noFill/>
          <a:ln/>
        </p:spPr>
        <p:txBody>
          <a:bodyPr wrap="square" lIns="0" tIns="0" rIns="0" bIns="0" rtlCol="0" anchor="ctr"/>
          <a:lstStyle/>
          <a:p>
            <a:pPr indent="0" marL="0">
              <a:buNone/>
            </a:pPr>
            <a:r>
              <a:rPr lang="en-US" sz="760" b="1" spc="100" kern="0" dirty="0">
                <a:solidFill>
                  <a:srgbClr val="15304F"/>
                </a:solidFill>
                <a:latin typeface="Calibri" pitchFamily="34" charset="0"/>
                <a:ea typeface="Calibri" pitchFamily="34" charset="-122"/>
                <a:cs typeface="Calibri" pitchFamily="34" charset="-120"/>
              </a:rPr>
              <a:t>A LIGHTER TIER IS A LIGHTER ALLOCATION OF JUDGEMENT — NEVER A LIGHTER STANDARD</a:t>
            </a:r>
            <a:endParaRPr lang="en-US" sz="760" dirty="0"/>
          </a:p>
        </p:txBody>
      </p:sp>
      <p:sp>
        <p:nvSpPr>
          <p:cNvPr id="58" name="Text 56"/>
          <p:cNvSpPr txBox="1"/>
          <p:nvPr/>
        </p:nvSpPr>
        <p:spPr>
          <a:xfrm>
            <a:off x="557784" y="5760720"/>
            <a:ext cx="11045952" cy="475488"/>
          </a:xfrm>
          <a:prstGeom prst="rect">
            <a:avLst/>
          </a:prstGeom>
          <a:noFill/>
          <a:ln/>
        </p:spPr>
        <p:txBody>
          <a:bodyPr wrap="square" lIns="0" tIns="0" rIns="0" bIns="0" rtlCol="0" anchor="t"/>
          <a:lstStyle/>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All four tiers meet the same eight compliance invariants: classification determination · retention approval · security and access review · volume certification · promotion ladder · support acceptance · audit trail · new document type re-review. What changes between tiers is how much design judgement ECM allocates to reaching them, and how that judgement is scheduled. Tier is assigned by ECM against a seven-determinant rubric with hard overrides — never chosen by the partner, and appealable on a determinant but not on preference.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Text 2"/>
          <p:cNvSpPr txBox="1"/>
          <p:nvPr/>
        </p:nvSpPr>
        <p:spPr>
          <a:xfrm>
            <a:off x="795528" y="219456"/>
            <a:ext cx="96926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Phase 1 — run the tiered model entirely by hand</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One quarter of operating discipline using the people and the knowledge we already have. Nothing is built</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Phase 1</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24128"/>
            <a:ext cx="11338560" cy="658368"/>
          </a:xfrm>
          <a:prstGeom prst="roundRect">
            <a:avLst>
              <a:gd name="adj" fmla="val 6944"/>
            </a:avLst>
          </a:prstGeom>
          <a:solidFill>
            <a:srgbClr val="5E7D96"/>
          </a:solidFill>
          <a:ln w="12700">
            <a:solidFill>
              <a:srgbClr val="333333"/>
            </a:solidFill>
            <a:prstDash val="solid"/>
          </a:ln>
        </p:spPr>
      </p:sp>
      <p:sp>
        <p:nvSpPr>
          <p:cNvPr id="9" name="Text 7"/>
          <p:cNvSpPr txBox="1"/>
          <p:nvPr/>
        </p:nvSpPr>
        <p:spPr>
          <a:xfrm>
            <a:off x="612648" y="1106424"/>
            <a:ext cx="1828800" cy="182880"/>
          </a:xfrm>
          <a:prstGeom prst="rect">
            <a:avLst/>
          </a:prstGeom>
          <a:noFill/>
          <a:ln/>
        </p:spPr>
        <p:txBody>
          <a:bodyPr wrap="square" lIns="0" tIns="0" rIns="0" bIns="0" rtlCol="0" anchor="ctr"/>
          <a:lstStyle/>
          <a:p>
            <a:pPr indent="0" marL="0">
              <a:buNone/>
            </a:pPr>
            <a:r>
              <a:rPr lang="en-US" sz="760" b="1" spc="140" kern="0" dirty="0">
                <a:solidFill>
                  <a:srgbClr val="CBD9E6"/>
                </a:solidFill>
                <a:latin typeface="Calibri" pitchFamily="34" charset="0"/>
                <a:ea typeface="Calibri" pitchFamily="34" charset="-122"/>
                <a:cs typeface="Calibri" pitchFamily="34" charset="-120"/>
              </a:rPr>
              <a:t>PHASE 1</a:t>
            </a:r>
            <a:endParaRPr lang="en-US" sz="760" dirty="0"/>
          </a:p>
        </p:txBody>
      </p:sp>
      <p:sp>
        <p:nvSpPr>
          <p:cNvPr id="10" name="Text 8"/>
          <p:cNvSpPr txBox="1"/>
          <p:nvPr/>
        </p:nvSpPr>
        <p:spPr>
          <a:xfrm>
            <a:off x="612648" y="1280160"/>
            <a:ext cx="4754880" cy="31089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Evaluate</a:t>
            </a:r>
            <a:endParaRPr lang="en-US" sz="1700" dirty="0"/>
          </a:p>
        </p:txBody>
      </p:sp>
      <p:sp>
        <p:nvSpPr>
          <p:cNvPr id="11" name="Text 9"/>
          <p:cNvSpPr txBox="1"/>
          <p:nvPr/>
        </p:nvSpPr>
        <p:spPr>
          <a:xfrm>
            <a:off x="5349240" y="1133856"/>
            <a:ext cx="1920240" cy="164592"/>
          </a:xfrm>
          <a:prstGeom prst="rect">
            <a:avLst/>
          </a:prstGeom>
          <a:noFill/>
          <a:ln/>
        </p:spPr>
        <p:txBody>
          <a:bodyPr wrap="square" lIns="0" tIns="0" rIns="0" bIns="0" rtlCol="0" anchor="ctr"/>
          <a:lstStyle/>
          <a:p>
            <a:pPr indent="0" marL="0">
              <a:buNone/>
            </a:pPr>
            <a:r>
              <a:rPr lang="en-US" sz="660" b="1" spc="100" kern="0" dirty="0">
                <a:solidFill>
                  <a:srgbClr val="9FB6CC"/>
                </a:solidFill>
                <a:latin typeface="Calibri" pitchFamily="34" charset="0"/>
                <a:ea typeface="Calibri" pitchFamily="34" charset="-122"/>
                <a:cs typeface="Calibri" pitchFamily="34" charset="-120"/>
              </a:rPr>
              <a:t>DEPENDENCY</a:t>
            </a:r>
            <a:endParaRPr lang="en-US" sz="660" dirty="0"/>
          </a:p>
        </p:txBody>
      </p:sp>
      <p:sp>
        <p:nvSpPr>
          <p:cNvPr id="12" name="Text 10"/>
          <p:cNvSpPr txBox="1"/>
          <p:nvPr/>
        </p:nvSpPr>
        <p:spPr>
          <a:xfrm>
            <a:off x="5349240" y="1298448"/>
            <a:ext cx="1920240" cy="292608"/>
          </a:xfrm>
          <a:prstGeom prst="rect">
            <a:avLst/>
          </a:prstGeom>
          <a:noFill/>
          <a:ln/>
        </p:spPr>
        <p:txBody>
          <a:bodyPr wrap="square" lIns="0" tIns="0" rIns="0" bIns="0" rtlCol="0" anchor="t"/>
          <a:lstStyle/>
          <a:p>
            <a:pPr indent="0" marL="0">
              <a:lnSpc>
                <a:spcPts val="1000"/>
              </a:lnSpc>
              <a:buNone/>
            </a:pPr>
            <a:r>
              <a:rPr lang="en-US" sz="860" b="1" dirty="0">
                <a:solidFill>
                  <a:srgbClr val="FFFFFF"/>
                </a:solidFill>
                <a:latin typeface="Calibri" pitchFamily="34" charset="0"/>
                <a:ea typeface="Calibri" pitchFamily="34" charset="-122"/>
                <a:cs typeface="Calibri" pitchFamily="34" charset="-120"/>
              </a:rPr>
              <a:t>ECM leadership only</a:t>
            </a:r>
            <a:endParaRPr lang="en-US" sz="860" dirty="0"/>
          </a:p>
        </p:txBody>
      </p:sp>
      <p:sp>
        <p:nvSpPr>
          <p:cNvPr id="13" name="Text 11"/>
          <p:cNvSpPr txBox="1"/>
          <p:nvPr/>
        </p:nvSpPr>
        <p:spPr>
          <a:xfrm>
            <a:off x="7415784" y="1133856"/>
            <a:ext cx="1920240" cy="164592"/>
          </a:xfrm>
          <a:prstGeom prst="rect">
            <a:avLst/>
          </a:prstGeom>
          <a:noFill/>
          <a:ln/>
        </p:spPr>
        <p:txBody>
          <a:bodyPr wrap="square" lIns="0" tIns="0" rIns="0" bIns="0" rtlCol="0" anchor="ctr"/>
          <a:lstStyle/>
          <a:p>
            <a:pPr indent="0" marL="0">
              <a:buNone/>
            </a:pPr>
            <a:r>
              <a:rPr lang="en-US" sz="660" b="1" spc="100" kern="0" dirty="0">
                <a:solidFill>
                  <a:srgbClr val="9FB6CC"/>
                </a:solidFill>
                <a:latin typeface="Calibri" pitchFamily="34" charset="0"/>
                <a:ea typeface="Calibri" pitchFamily="34" charset="-122"/>
                <a:cs typeface="Calibri" pitchFamily="34" charset="-120"/>
              </a:rPr>
              <a:t>BUILDS</a:t>
            </a:r>
            <a:endParaRPr lang="en-US" sz="660" dirty="0"/>
          </a:p>
        </p:txBody>
      </p:sp>
      <p:sp>
        <p:nvSpPr>
          <p:cNvPr id="14" name="Text 12"/>
          <p:cNvSpPr txBox="1"/>
          <p:nvPr/>
        </p:nvSpPr>
        <p:spPr>
          <a:xfrm>
            <a:off x="7415784" y="1298448"/>
            <a:ext cx="1920240" cy="292608"/>
          </a:xfrm>
          <a:prstGeom prst="rect">
            <a:avLst/>
          </a:prstGeom>
          <a:noFill/>
          <a:ln/>
        </p:spPr>
        <p:txBody>
          <a:bodyPr wrap="square" lIns="0" tIns="0" rIns="0" bIns="0" rtlCol="0" anchor="t"/>
          <a:lstStyle/>
          <a:p>
            <a:pPr indent="0" marL="0">
              <a:lnSpc>
                <a:spcPts val="1000"/>
              </a:lnSpc>
              <a:buNone/>
            </a:pPr>
            <a:r>
              <a:rPr lang="en-US" sz="860" b="1" dirty="0">
                <a:solidFill>
                  <a:srgbClr val="FFFFFF"/>
                </a:solidFill>
                <a:latin typeface="Calibri" pitchFamily="34" charset="0"/>
                <a:ea typeface="Calibri" pitchFamily="34" charset="-122"/>
                <a:cs typeface="Calibri" pitchFamily="34" charset="-120"/>
              </a:rPr>
              <a:t>Nothing at all</a:t>
            </a:r>
            <a:endParaRPr lang="en-US" sz="860" dirty="0"/>
          </a:p>
        </p:txBody>
      </p:sp>
      <p:sp>
        <p:nvSpPr>
          <p:cNvPr id="15" name="Text 13"/>
          <p:cNvSpPr txBox="1"/>
          <p:nvPr/>
        </p:nvSpPr>
        <p:spPr>
          <a:xfrm>
            <a:off x="9482328" y="1133856"/>
            <a:ext cx="1920240" cy="164592"/>
          </a:xfrm>
          <a:prstGeom prst="rect">
            <a:avLst/>
          </a:prstGeom>
          <a:noFill/>
          <a:ln/>
        </p:spPr>
        <p:txBody>
          <a:bodyPr wrap="square" lIns="0" tIns="0" rIns="0" bIns="0" rtlCol="0" anchor="ctr"/>
          <a:lstStyle/>
          <a:p>
            <a:pPr indent="0" marL="0">
              <a:buNone/>
            </a:pPr>
            <a:r>
              <a:rPr lang="en-US" sz="660" b="1" spc="100" kern="0" dirty="0">
                <a:solidFill>
                  <a:srgbClr val="9FB6CC"/>
                </a:solidFill>
                <a:latin typeface="Calibri" pitchFamily="34" charset="0"/>
                <a:ea typeface="Calibri" pitchFamily="34" charset="-122"/>
                <a:cs typeface="Calibri" pitchFamily="34" charset="-120"/>
              </a:rPr>
              <a:t>DURATION</a:t>
            </a:r>
            <a:endParaRPr lang="en-US" sz="660" dirty="0"/>
          </a:p>
        </p:txBody>
      </p:sp>
      <p:sp>
        <p:nvSpPr>
          <p:cNvPr id="16" name="Text 14"/>
          <p:cNvSpPr txBox="1"/>
          <p:nvPr/>
        </p:nvSpPr>
        <p:spPr>
          <a:xfrm>
            <a:off x="9482328" y="1298448"/>
            <a:ext cx="1920240" cy="292608"/>
          </a:xfrm>
          <a:prstGeom prst="rect">
            <a:avLst/>
          </a:prstGeom>
          <a:noFill/>
          <a:ln/>
        </p:spPr>
        <p:txBody>
          <a:bodyPr wrap="square" lIns="0" tIns="0" rIns="0" bIns="0" rtlCol="0" anchor="t"/>
          <a:lstStyle/>
          <a:p>
            <a:pPr indent="0" marL="0">
              <a:lnSpc>
                <a:spcPts val="1000"/>
              </a:lnSpc>
              <a:buNone/>
            </a:pPr>
            <a:r>
              <a:rPr lang="en-US" sz="860" b="1" dirty="0">
                <a:solidFill>
                  <a:srgbClr val="FFFFFF"/>
                </a:solidFill>
                <a:latin typeface="Calibri" pitchFamily="34" charset="0"/>
                <a:ea typeface="Calibri" pitchFamily="34" charset="-122"/>
                <a:cs typeface="Calibri" pitchFamily="34" charset="-120"/>
              </a:rPr>
              <a:t>One quarter</a:t>
            </a:r>
            <a:endParaRPr lang="en-US" sz="860" dirty="0"/>
          </a:p>
        </p:txBody>
      </p:sp>
      <p:sp>
        <p:nvSpPr>
          <p:cNvPr id="17" name="Text 15"/>
          <p:cNvSpPr txBox="1"/>
          <p:nvPr/>
        </p:nvSpPr>
        <p:spPr>
          <a:xfrm>
            <a:off x="411480" y="1828800"/>
            <a:ext cx="585216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THE PARTNER'S JOURNEY THROUGH AN INTAKE IN THIS PHASE</a:t>
            </a:r>
            <a:endParaRPr lang="en-US" sz="760" dirty="0"/>
          </a:p>
        </p:txBody>
      </p:sp>
      <p:sp>
        <p:nvSpPr>
          <p:cNvPr id="18" name="Shape 16"/>
          <p:cNvSpPr/>
          <p:nvPr/>
        </p:nvSpPr>
        <p:spPr>
          <a:xfrm>
            <a:off x="7360920" y="1837944"/>
            <a:ext cx="128016" cy="109728"/>
          </a:xfrm>
          <a:prstGeom prst="rect">
            <a:avLst/>
          </a:prstGeom>
          <a:solidFill>
            <a:srgbClr val="15304F"/>
          </a:solidFill>
          <a:ln w="12700">
            <a:solidFill>
              <a:srgbClr val="333333"/>
            </a:solidFill>
            <a:prstDash val="solid"/>
          </a:ln>
        </p:spPr>
      </p:sp>
      <p:sp>
        <p:nvSpPr>
          <p:cNvPr id="19" name="Text 17"/>
          <p:cNvSpPr txBox="1"/>
          <p:nvPr/>
        </p:nvSpPr>
        <p:spPr>
          <a:xfrm>
            <a:off x="7543800" y="1810512"/>
            <a:ext cx="1188720" cy="164592"/>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ECM drives</a:t>
            </a:r>
            <a:endParaRPr lang="en-US" sz="760" dirty="0"/>
          </a:p>
        </p:txBody>
      </p:sp>
      <p:sp>
        <p:nvSpPr>
          <p:cNvPr id="20" name="Shape 18"/>
          <p:cNvSpPr/>
          <p:nvPr/>
        </p:nvSpPr>
        <p:spPr>
          <a:xfrm>
            <a:off x="8787384" y="1837944"/>
            <a:ext cx="128016" cy="109728"/>
          </a:xfrm>
          <a:prstGeom prst="rect">
            <a:avLst/>
          </a:prstGeom>
          <a:solidFill>
            <a:srgbClr val="3E6686"/>
          </a:solidFill>
          <a:ln w="12700">
            <a:solidFill>
              <a:srgbClr val="333333"/>
            </a:solidFill>
            <a:prstDash val="solid"/>
          </a:ln>
        </p:spPr>
      </p:sp>
      <p:sp>
        <p:nvSpPr>
          <p:cNvPr id="21" name="Text 19"/>
          <p:cNvSpPr txBox="1"/>
          <p:nvPr/>
        </p:nvSpPr>
        <p:spPr>
          <a:xfrm>
            <a:off x="8970264" y="1810512"/>
            <a:ext cx="1188720" cy="164592"/>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Shared</a:t>
            </a:r>
            <a:endParaRPr lang="en-US" sz="760" dirty="0"/>
          </a:p>
        </p:txBody>
      </p:sp>
      <p:sp>
        <p:nvSpPr>
          <p:cNvPr id="22" name="Shape 20"/>
          <p:cNvSpPr/>
          <p:nvPr/>
        </p:nvSpPr>
        <p:spPr>
          <a:xfrm>
            <a:off x="10213848" y="1837944"/>
            <a:ext cx="128016" cy="109728"/>
          </a:xfrm>
          <a:prstGeom prst="rect">
            <a:avLst/>
          </a:prstGeom>
          <a:solidFill>
            <a:srgbClr val="2E6B4F"/>
          </a:solidFill>
          <a:ln w="12700">
            <a:solidFill>
              <a:srgbClr val="333333"/>
            </a:solidFill>
            <a:prstDash val="solid"/>
          </a:ln>
        </p:spPr>
      </p:sp>
      <p:sp>
        <p:nvSpPr>
          <p:cNvPr id="23" name="Text 21"/>
          <p:cNvSpPr txBox="1"/>
          <p:nvPr/>
        </p:nvSpPr>
        <p:spPr>
          <a:xfrm>
            <a:off x="10396728" y="1810512"/>
            <a:ext cx="1188720" cy="164592"/>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Partner drives</a:t>
            </a:r>
            <a:endParaRPr lang="en-US" sz="760" dirty="0"/>
          </a:p>
        </p:txBody>
      </p:sp>
      <p:sp>
        <p:nvSpPr>
          <p:cNvPr id="24" name="Shape 22"/>
          <p:cNvSpPr/>
          <p:nvPr/>
        </p:nvSpPr>
        <p:spPr>
          <a:xfrm>
            <a:off x="411480" y="2029968"/>
            <a:ext cx="2194560" cy="950976"/>
          </a:xfrm>
          <a:prstGeom prst="roundRect">
            <a:avLst>
              <a:gd name="adj" fmla="val 3846"/>
            </a:avLst>
          </a:prstGeom>
          <a:solidFill>
            <a:srgbClr val="E9EEF4"/>
          </a:solidFill>
          <a:ln w="12700">
            <a:solidFill>
              <a:srgbClr val="15304F"/>
            </a:solidFill>
            <a:prstDash val="solid"/>
          </a:ln>
        </p:spPr>
      </p:sp>
      <p:sp>
        <p:nvSpPr>
          <p:cNvPr id="25" name="Shape 23"/>
          <p:cNvSpPr/>
          <p:nvPr/>
        </p:nvSpPr>
        <p:spPr>
          <a:xfrm>
            <a:off x="411480" y="2029968"/>
            <a:ext cx="2194560" cy="50292"/>
          </a:xfrm>
          <a:prstGeom prst="rect">
            <a:avLst/>
          </a:prstGeom>
          <a:solidFill>
            <a:srgbClr val="15304F"/>
          </a:solidFill>
          <a:ln w="12700">
            <a:solidFill>
              <a:srgbClr val="333333"/>
            </a:solidFill>
            <a:prstDash val="solid"/>
          </a:ln>
        </p:spPr>
      </p:sp>
      <p:sp>
        <p:nvSpPr>
          <p:cNvPr id="26" name="Text 24"/>
          <p:cNvSpPr txBox="1"/>
          <p:nvPr/>
        </p:nvSpPr>
        <p:spPr>
          <a:xfrm>
            <a:off x="521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Raise the intake</a:t>
            </a:r>
            <a:endParaRPr lang="en-US" sz="860" dirty="0"/>
          </a:p>
        </p:txBody>
      </p:sp>
      <p:sp>
        <p:nvSpPr>
          <p:cNvPr id="27" name="Text 25"/>
          <p:cNvSpPr txBox="1"/>
          <p:nvPr/>
        </p:nvSpPr>
        <p:spPr>
          <a:xfrm>
            <a:off x="521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Partner raises it; ECM triage classifies and routes.</a:t>
            </a:r>
            <a:endParaRPr lang="en-US" sz="760" dirty="0"/>
          </a:p>
        </p:txBody>
      </p:sp>
      <p:sp>
        <p:nvSpPr>
          <p:cNvPr id="28" name="Text 26"/>
          <p:cNvSpPr txBox="1"/>
          <p:nvPr/>
        </p:nvSpPr>
        <p:spPr>
          <a:xfrm>
            <a:off x="521208" y="2779776"/>
            <a:ext cx="1975104" cy="146304"/>
          </a:xfrm>
          <a:prstGeom prst="rect">
            <a:avLst/>
          </a:prstGeom>
          <a:noFill/>
          <a:ln/>
        </p:spPr>
        <p:txBody>
          <a:bodyPr wrap="square" lIns="0" tIns="0" rIns="0" bIns="0" rtlCol="0" anchor="ctr"/>
          <a:lstStyle/>
          <a:p>
            <a:pPr indent="0" marL="0">
              <a:buNone/>
            </a:pPr>
            <a:r>
              <a:rPr lang="en-US" sz="630" b="1" spc="90" kern="0" dirty="0">
                <a:solidFill>
                  <a:srgbClr val="15304F"/>
                </a:solidFill>
                <a:latin typeface="Calibri" pitchFamily="34" charset="0"/>
                <a:ea typeface="Calibri" pitchFamily="34" charset="-122"/>
                <a:cs typeface="Calibri" pitchFamily="34" charset="-120"/>
              </a:rPr>
              <a:t>ECM DRIVES</a:t>
            </a:r>
            <a:endParaRPr lang="en-US" sz="630" dirty="0"/>
          </a:p>
        </p:txBody>
      </p:sp>
      <p:sp>
        <p:nvSpPr>
          <p:cNvPr id="29" name="Text 27"/>
          <p:cNvSpPr txBox="1"/>
          <p:nvPr/>
        </p:nvSpPr>
        <p:spPr>
          <a:xfrm>
            <a:off x="2596896" y="2377440"/>
            <a:ext cx="109728" cy="256032"/>
          </a:xfrm>
          <a:prstGeom prst="rect">
            <a:avLst/>
          </a:prstGeom>
          <a:noFill/>
          <a:ln/>
        </p:spPr>
        <p:txBody>
          <a:bodyPr wrap="square" lIns="0" tIns="0" rIns="0" bIns="0" rtlCol="0" anchor="ctr"/>
          <a:lstStyle/>
          <a:p>
            <a:pPr algn="ctr" indent="0" marL="0">
              <a:buNone/>
            </a:pPr>
            <a:r>
              <a:rPr lang="en-US" sz="1000" b="1" dirty="0">
                <a:solidFill>
                  <a:srgbClr val="7C8798"/>
                </a:solidFill>
                <a:latin typeface="Calibri" pitchFamily="34" charset="0"/>
                <a:ea typeface="Calibri" pitchFamily="34" charset="-122"/>
                <a:cs typeface="Calibri" pitchFamily="34" charset="-120"/>
              </a:rPr>
              <a:t>&gt;</a:t>
            </a:r>
            <a:endParaRPr lang="en-US" sz="1000" dirty="0"/>
          </a:p>
        </p:txBody>
      </p:sp>
      <p:sp>
        <p:nvSpPr>
          <p:cNvPr id="30" name="Shape 28"/>
          <p:cNvSpPr/>
          <p:nvPr/>
        </p:nvSpPr>
        <p:spPr>
          <a:xfrm>
            <a:off x="2697480" y="2029968"/>
            <a:ext cx="2194560" cy="950976"/>
          </a:xfrm>
          <a:prstGeom prst="roundRect">
            <a:avLst>
              <a:gd name="adj" fmla="val 3846"/>
            </a:avLst>
          </a:prstGeom>
          <a:solidFill>
            <a:srgbClr val="EAF0F5"/>
          </a:solidFill>
          <a:ln w="12700">
            <a:solidFill>
              <a:srgbClr val="3E6686"/>
            </a:solidFill>
            <a:prstDash val="solid"/>
          </a:ln>
        </p:spPr>
      </p:sp>
      <p:sp>
        <p:nvSpPr>
          <p:cNvPr id="31" name="Shape 29"/>
          <p:cNvSpPr/>
          <p:nvPr/>
        </p:nvSpPr>
        <p:spPr>
          <a:xfrm>
            <a:off x="2697480" y="2029968"/>
            <a:ext cx="2194560" cy="50292"/>
          </a:xfrm>
          <a:prstGeom prst="rect">
            <a:avLst/>
          </a:prstGeom>
          <a:solidFill>
            <a:srgbClr val="3E6686"/>
          </a:solidFill>
          <a:ln w="12700">
            <a:solidFill>
              <a:srgbClr val="333333"/>
            </a:solidFill>
            <a:prstDash val="solid"/>
          </a:ln>
        </p:spPr>
      </p:sp>
      <p:sp>
        <p:nvSpPr>
          <p:cNvPr id="32" name="Text 30"/>
          <p:cNvSpPr txBox="1"/>
          <p:nvPr/>
        </p:nvSpPr>
        <p:spPr>
          <a:xfrm>
            <a:off x="2807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Establish requirements</a:t>
            </a:r>
            <a:endParaRPr lang="en-US" sz="860" dirty="0"/>
          </a:p>
        </p:txBody>
      </p:sp>
      <p:sp>
        <p:nvSpPr>
          <p:cNvPr id="33" name="Text 31"/>
          <p:cNvSpPr txBox="1"/>
          <p:nvPr/>
        </p:nvSpPr>
        <p:spPr>
          <a:xfrm>
            <a:off x="2807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90-minute Discovery Triage from a written guide; every gap dated and owned.</a:t>
            </a:r>
            <a:endParaRPr lang="en-US" sz="760" dirty="0"/>
          </a:p>
        </p:txBody>
      </p:sp>
      <p:sp>
        <p:nvSpPr>
          <p:cNvPr id="34" name="Text 32"/>
          <p:cNvSpPr txBox="1"/>
          <p:nvPr/>
        </p:nvSpPr>
        <p:spPr>
          <a:xfrm>
            <a:off x="2807208" y="2779776"/>
            <a:ext cx="1975104" cy="146304"/>
          </a:xfrm>
          <a:prstGeom prst="rect">
            <a:avLst/>
          </a:prstGeom>
          <a:noFill/>
          <a:ln/>
        </p:spPr>
        <p:txBody>
          <a:bodyPr wrap="square" lIns="0" tIns="0" rIns="0" bIns="0" rtlCol="0" anchor="ctr"/>
          <a:lstStyle/>
          <a:p>
            <a:pPr indent="0" marL="0">
              <a:buNone/>
            </a:pPr>
            <a:r>
              <a:rPr lang="en-US" sz="630" b="1" spc="90" kern="0" dirty="0">
                <a:solidFill>
                  <a:srgbClr val="3E6686"/>
                </a:solidFill>
                <a:latin typeface="Calibri" pitchFamily="34" charset="0"/>
                <a:ea typeface="Calibri" pitchFamily="34" charset="-122"/>
                <a:cs typeface="Calibri" pitchFamily="34" charset="-120"/>
              </a:rPr>
              <a:t>SHARED</a:t>
            </a:r>
            <a:endParaRPr lang="en-US" sz="630" dirty="0"/>
          </a:p>
        </p:txBody>
      </p:sp>
      <p:sp>
        <p:nvSpPr>
          <p:cNvPr id="35" name="Text 33"/>
          <p:cNvSpPr txBox="1"/>
          <p:nvPr/>
        </p:nvSpPr>
        <p:spPr>
          <a:xfrm>
            <a:off x="4882896" y="2377440"/>
            <a:ext cx="109728" cy="256032"/>
          </a:xfrm>
          <a:prstGeom prst="rect">
            <a:avLst/>
          </a:prstGeom>
          <a:noFill/>
          <a:ln/>
        </p:spPr>
        <p:txBody>
          <a:bodyPr wrap="square" lIns="0" tIns="0" rIns="0" bIns="0" rtlCol="0" anchor="ctr"/>
          <a:lstStyle/>
          <a:p>
            <a:pPr algn="ctr" indent="0" marL="0">
              <a:buNone/>
            </a:pPr>
            <a:r>
              <a:rPr lang="en-US" sz="1000" b="1" dirty="0">
                <a:solidFill>
                  <a:srgbClr val="7C8798"/>
                </a:solidFill>
                <a:latin typeface="Calibri" pitchFamily="34" charset="0"/>
                <a:ea typeface="Calibri" pitchFamily="34" charset="-122"/>
                <a:cs typeface="Calibri" pitchFamily="34" charset="-120"/>
              </a:rPr>
              <a:t>&gt;</a:t>
            </a:r>
            <a:endParaRPr lang="en-US" sz="1000" dirty="0"/>
          </a:p>
        </p:txBody>
      </p:sp>
      <p:sp>
        <p:nvSpPr>
          <p:cNvPr id="36" name="Shape 34"/>
          <p:cNvSpPr/>
          <p:nvPr/>
        </p:nvSpPr>
        <p:spPr>
          <a:xfrm>
            <a:off x="4983480" y="2029968"/>
            <a:ext cx="2194560" cy="950976"/>
          </a:xfrm>
          <a:prstGeom prst="roundRect">
            <a:avLst>
              <a:gd name="adj" fmla="val 3846"/>
            </a:avLst>
          </a:prstGeom>
          <a:solidFill>
            <a:srgbClr val="E9EEF4"/>
          </a:solidFill>
          <a:ln w="12700">
            <a:solidFill>
              <a:srgbClr val="15304F"/>
            </a:solidFill>
            <a:prstDash val="solid"/>
          </a:ln>
        </p:spPr>
      </p:sp>
      <p:sp>
        <p:nvSpPr>
          <p:cNvPr id="37" name="Shape 35"/>
          <p:cNvSpPr/>
          <p:nvPr/>
        </p:nvSpPr>
        <p:spPr>
          <a:xfrm>
            <a:off x="4983480" y="2029968"/>
            <a:ext cx="2194560" cy="50292"/>
          </a:xfrm>
          <a:prstGeom prst="rect">
            <a:avLst/>
          </a:prstGeom>
          <a:solidFill>
            <a:srgbClr val="15304F"/>
          </a:solidFill>
          <a:ln w="12700">
            <a:solidFill>
              <a:srgbClr val="333333"/>
            </a:solidFill>
            <a:prstDash val="solid"/>
          </a:ln>
        </p:spPr>
      </p:sp>
      <p:sp>
        <p:nvSpPr>
          <p:cNvPr id="38" name="Text 36"/>
          <p:cNvSpPr txBox="1"/>
          <p:nvPr/>
        </p:nvSpPr>
        <p:spPr>
          <a:xfrm>
            <a:off x="5093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Build &amp; configure</a:t>
            </a:r>
            <a:endParaRPr lang="en-US" sz="860" dirty="0"/>
          </a:p>
        </p:txBody>
      </p:sp>
      <p:sp>
        <p:nvSpPr>
          <p:cNvPr id="39" name="Text 37"/>
          <p:cNvSpPr txBox="1"/>
          <p:nvPr/>
        </p:nvSpPr>
        <p:spPr>
          <a:xfrm>
            <a:off x="5093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Pod, shared pool or published pattern, by assigned tier.</a:t>
            </a:r>
            <a:endParaRPr lang="en-US" sz="760" dirty="0"/>
          </a:p>
        </p:txBody>
      </p:sp>
      <p:sp>
        <p:nvSpPr>
          <p:cNvPr id="40" name="Text 38"/>
          <p:cNvSpPr txBox="1"/>
          <p:nvPr/>
        </p:nvSpPr>
        <p:spPr>
          <a:xfrm>
            <a:off x="5093208" y="2779776"/>
            <a:ext cx="1975104" cy="146304"/>
          </a:xfrm>
          <a:prstGeom prst="rect">
            <a:avLst/>
          </a:prstGeom>
          <a:noFill/>
          <a:ln/>
        </p:spPr>
        <p:txBody>
          <a:bodyPr wrap="square" lIns="0" tIns="0" rIns="0" bIns="0" rtlCol="0" anchor="ctr"/>
          <a:lstStyle/>
          <a:p>
            <a:pPr indent="0" marL="0">
              <a:buNone/>
            </a:pPr>
            <a:r>
              <a:rPr lang="en-US" sz="630" b="1" spc="90" kern="0" dirty="0">
                <a:solidFill>
                  <a:srgbClr val="15304F"/>
                </a:solidFill>
                <a:latin typeface="Calibri" pitchFamily="34" charset="0"/>
                <a:ea typeface="Calibri" pitchFamily="34" charset="-122"/>
                <a:cs typeface="Calibri" pitchFamily="34" charset="-120"/>
              </a:rPr>
              <a:t>ECM DRIVES</a:t>
            </a:r>
            <a:endParaRPr lang="en-US" sz="630" dirty="0"/>
          </a:p>
        </p:txBody>
      </p:sp>
      <p:sp>
        <p:nvSpPr>
          <p:cNvPr id="41" name="Text 39"/>
          <p:cNvSpPr txBox="1"/>
          <p:nvPr/>
        </p:nvSpPr>
        <p:spPr>
          <a:xfrm>
            <a:off x="7168896" y="2377440"/>
            <a:ext cx="109728" cy="256032"/>
          </a:xfrm>
          <a:prstGeom prst="rect">
            <a:avLst/>
          </a:prstGeom>
          <a:noFill/>
          <a:ln/>
        </p:spPr>
        <p:txBody>
          <a:bodyPr wrap="square" lIns="0" tIns="0" rIns="0" bIns="0" rtlCol="0" anchor="ctr"/>
          <a:lstStyle/>
          <a:p>
            <a:pPr algn="ctr" indent="0" marL="0">
              <a:buNone/>
            </a:pPr>
            <a:r>
              <a:rPr lang="en-US" sz="1000" b="1" dirty="0">
                <a:solidFill>
                  <a:srgbClr val="7C8798"/>
                </a:solidFill>
                <a:latin typeface="Calibri" pitchFamily="34" charset="0"/>
                <a:ea typeface="Calibri" pitchFamily="34" charset="-122"/>
                <a:cs typeface="Calibri" pitchFamily="34" charset="-120"/>
              </a:rPr>
              <a:t>&gt;</a:t>
            </a:r>
            <a:endParaRPr lang="en-US" sz="1000" dirty="0"/>
          </a:p>
        </p:txBody>
      </p:sp>
      <p:sp>
        <p:nvSpPr>
          <p:cNvPr id="42" name="Shape 40"/>
          <p:cNvSpPr/>
          <p:nvPr/>
        </p:nvSpPr>
        <p:spPr>
          <a:xfrm>
            <a:off x="7269480" y="2029968"/>
            <a:ext cx="2194560" cy="950976"/>
          </a:xfrm>
          <a:prstGeom prst="roundRect">
            <a:avLst>
              <a:gd name="adj" fmla="val 3846"/>
            </a:avLst>
          </a:prstGeom>
          <a:solidFill>
            <a:srgbClr val="E9EEF4"/>
          </a:solidFill>
          <a:ln w="12700">
            <a:solidFill>
              <a:srgbClr val="15304F"/>
            </a:solidFill>
            <a:prstDash val="solid"/>
          </a:ln>
        </p:spPr>
      </p:sp>
      <p:sp>
        <p:nvSpPr>
          <p:cNvPr id="43" name="Shape 41"/>
          <p:cNvSpPr/>
          <p:nvPr/>
        </p:nvSpPr>
        <p:spPr>
          <a:xfrm>
            <a:off x="7269480" y="2029968"/>
            <a:ext cx="2194560" cy="50292"/>
          </a:xfrm>
          <a:prstGeom prst="rect">
            <a:avLst/>
          </a:prstGeom>
          <a:solidFill>
            <a:srgbClr val="15304F"/>
          </a:solidFill>
          <a:ln w="12700">
            <a:solidFill>
              <a:srgbClr val="333333"/>
            </a:solidFill>
            <a:prstDash val="solid"/>
          </a:ln>
        </p:spPr>
      </p:sp>
      <p:sp>
        <p:nvSpPr>
          <p:cNvPr id="44" name="Text 42"/>
          <p:cNvSpPr txBox="1"/>
          <p:nvPr/>
        </p:nvSpPr>
        <p:spPr>
          <a:xfrm>
            <a:off x="7379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Clear the gates</a:t>
            </a:r>
            <a:endParaRPr lang="en-US" sz="860" dirty="0"/>
          </a:p>
        </p:txBody>
      </p:sp>
      <p:sp>
        <p:nvSpPr>
          <p:cNvPr id="45" name="Text 43"/>
          <p:cNvSpPr txBox="1"/>
          <p:nvPr/>
        </p:nvSpPr>
        <p:spPr>
          <a:xfrm>
            <a:off x="7379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Checklist walked by lead and pool; every waiver recorded.</a:t>
            </a:r>
            <a:endParaRPr lang="en-US" sz="760" dirty="0"/>
          </a:p>
        </p:txBody>
      </p:sp>
      <p:sp>
        <p:nvSpPr>
          <p:cNvPr id="46" name="Text 44"/>
          <p:cNvSpPr txBox="1"/>
          <p:nvPr/>
        </p:nvSpPr>
        <p:spPr>
          <a:xfrm>
            <a:off x="7379208" y="2779776"/>
            <a:ext cx="1975104" cy="146304"/>
          </a:xfrm>
          <a:prstGeom prst="rect">
            <a:avLst/>
          </a:prstGeom>
          <a:noFill/>
          <a:ln/>
        </p:spPr>
        <p:txBody>
          <a:bodyPr wrap="square" lIns="0" tIns="0" rIns="0" bIns="0" rtlCol="0" anchor="ctr"/>
          <a:lstStyle/>
          <a:p>
            <a:pPr indent="0" marL="0">
              <a:buNone/>
            </a:pPr>
            <a:r>
              <a:rPr lang="en-US" sz="630" b="1" spc="90" kern="0" dirty="0">
                <a:solidFill>
                  <a:srgbClr val="15304F"/>
                </a:solidFill>
                <a:latin typeface="Calibri" pitchFamily="34" charset="0"/>
                <a:ea typeface="Calibri" pitchFamily="34" charset="-122"/>
                <a:cs typeface="Calibri" pitchFamily="34" charset="-120"/>
              </a:rPr>
              <a:t>ECM DRIVES</a:t>
            </a:r>
            <a:endParaRPr lang="en-US" sz="630" dirty="0"/>
          </a:p>
        </p:txBody>
      </p:sp>
      <p:sp>
        <p:nvSpPr>
          <p:cNvPr id="47" name="Text 45"/>
          <p:cNvSpPr txBox="1"/>
          <p:nvPr/>
        </p:nvSpPr>
        <p:spPr>
          <a:xfrm>
            <a:off x="9454896" y="2377440"/>
            <a:ext cx="109728" cy="256032"/>
          </a:xfrm>
          <a:prstGeom prst="rect">
            <a:avLst/>
          </a:prstGeom>
          <a:noFill/>
          <a:ln/>
        </p:spPr>
        <p:txBody>
          <a:bodyPr wrap="square" lIns="0" tIns="0" rIns="0" bIns="0" rtlCol="0" anchor="ctr"/>
          <a:lstStyle/>
          <a:p>
            <a:pPr algn="ctr" indent="0" marL="0">
              <a:buNone/>
            </a:pPr>
            <a:r>
              <a:rPr lang="en-US" sz="1000" b="1" dirty="0">
                <a:solidFill>
                  <a:srgbClr val="7C8798"/>
                </a:solidFill>
                <a:latin typeface="Calibri" pitchFamily="34" charset="0"/>
                <a:ea typeface="Calibri" pitchFamily="34" charset="-122"/>
                <a:cs typeface="Calibri" pitchFamily="34" charset="-120"/>
              </a:rPr>
              <a:t>&gt;</a:t>
            </a:r>
            <a:endParaRPr lang="en-US" sz="1000" dirty="0"/>
          </a:p>
        </p:txBody>
      </p:sp>
      <p:sp>
        <p:nvSpPr>
          <p:cNvPr id="48" name="Shape 46"/>
          <p:cNvSpPr/>
          <p:nvPr/>
        </p:nvSpPr>
        <p:spPr>
          <a:xfrm>
            <a:off x="9555480" y="2029968"/>
            <a:ext cx="2194560" cy="950976"/>
          </a:xfrm>
          <a:prstGeom prst="roundRect">
            <a:avLst>
              <a:gd name="adj" fmla="val 3846"/>
            </a:avLst>
          </a:prstGeom>
          <a:solidFill>
            <a:srgbClr val="E9EEF4"/>
          </a:solidFill>
          <a:ln w="12700">
            <a:solidFill>
              <a:srgbClr val="15304F"/>
            </a:solidFill>
            <a:prstDash val="solid"/>
          </a:ln>
        </p:spPr>
      </p:sp>
      <p:sp>
        <p:nvSpPr>
          <p:cNvPr id="49" name="Shape 47"/>
          <p:cNvSpPr/>
          <p:nvPr/>
        </p:nvSpPr>
        <p:spPr>
          <a:xfrm>
            <a:off x="9555480" y="2029968"/>
            <a:ext cx="2194560" cy="50292"/>
          </a:xfrm>
          <a:prstGeom prst="rect">
            <a:avLst/>
          </a:prstGeom>
          <a:solidFill>
            <a:srgbClr val="15304F"/>
          </a:solidFill>
          <a:ln w="12700">
            <a:solidFill>
              <a:srgbClr val="333333"/>
            </a:solidFill>
            <a:prstDash val="solid"/>
          </a:ln>
        </p:spPr>
      </p:sp>
      <p:sp>
        <p:nvSpPr>
          <p:cNvPr id="50" name="Text 48"/>
          <p:cNvSpPr txBox="1"/>
          <p:nvPr/>
        </p:nvSpPr>
        <p:spPr>
          <a:xfrm>
            <a:off x="9665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Go live &amp; support</a:t>
            </a:r>
            <a:endParaRPr lang="en-US" sz="860" dirty="0"/>
          </a:p>
        </p:txBody>
      </p:sp>
      <p:sp>
        <p:nvSpPr>
          <p:cNvPr id="51" name="Text 49"/>
          <p:cNvSpPr txBox="1"/>
          <p:nvPr/>
        </p:nvSpPr>
        <p:spPr>
          <a:xfrm>
            <a:off x="9665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ECM-led cutover, handover and support acceptance.</a:t>
            </a:r>
            <a:endParaRPr lang="en-US" sz="760" dirty="0"/>
          </a:p>
        </p:txBody>
      </p:sp>
      <p:sp>
        <p:nvSpPr>
          <p:cNvPr id="52" name="Text 50"/>
          <p:cNvSpPr txBox="1"/>
          <p:nvPr/>
        </p:nvSpPr>
        <p:spPr>
          <a:xfrm>
            <a:off x="9665208" y="2779776"/>
            <a:ext cx="1975104" cy="146304"/>
          </a:xfrm>
          <a:prstGeom prst="rect">
            <a:avLst/>
          </a:prstGeom>
          <a:noFill/>
          <a:ln/>
        </p:spPr>
        <p:txBody>
          <a:bodyPr wrap="square" lIns="0" tIns="0" rIns="0" bIns="0" rtlCol="0" anchor="ctr"/>
          <a:lstStyle/>
          <a:p>
            <a:pPr indent="0" marL="0">
              <a:buNone/>
            </a:pPr>
            <a:r>
              <a:rPr lang="en-US" sz="630" b="1" spc="90" kern="0" dirty="0">
                <a:solidFill>
                  <a:srgbClr val="15304F"/>
                </a:solidFill>
                <a:latin typeface="Calibri" pitchFamily="34" charset="0"/>
                <a:ea typeface="Calibri" pitchFamily="34" charset="-122"/>
                <a:cs typeface="Calibri" pitchFamily="34" charset="-120"/>
              </a:rPr>
              <a:t>ECM DRIVES</a:t>
            </a:r>
            <a:endParaRPr lang="en-US" sz="630" dirty="0"/>
          </a:p>
        </p:txBody>
      </p:sp>
      <p:sp>
        <p:nvSpPr>
          <p:cNvPr id="53" name="Text 51"/>
          <p:cNvSpPr txBox="1"/>
          <p:nvPr/>
        </p:nvSpPr>
        <p:spPr>
          <a:xfrm>
            <a:off x="411480" y="3127248"/>
            <a:ext cx="548640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WHAT CHANGES IN THIS PHASE</a:t>
            </a:r>
            <a:endParaRPr lang="en-US" sz="760" dirty="0"/>
          </a:p>
        </p:txBody>
      </p:sp>
      <p:sp>
        <p:nvSpPr>
          <p:cNvPr id="54" name="Text 52"/>
          <p:cNvSpPr txBox="1"/>
          <p:nvPr/>
        </p:nvSpPr>
        <p:spPr>
          <a:xfrm>
            <a:off x="6172200" y="3127248"/>
            <a:ext cx="548640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AUTOMATION, AI AND AGENTIC CAPABILITY</a:t>
            </a:r>
            <a:endParaRPr lang="en-US" sz="760" dirty="0"/>
          </a:p>
        </p:txBody>
      </p:sp>
      <p:sp>
        <p:nvSpPr>
          <p:cNvPr id="55" name="Shape 53"/>
          <p:cNvSpPr/>
          <p:nvPr/>
        </p:nvSpPr>
        <p:spPr>
          <a:xfrm>
            <a:off x="411480" y="3328416"/>
            <a:ext cx="5577840" cy="1627632"/>
          </a:xfrm>
          <a:prstGeom prst="roundRect">
            <a:avLst>
              <a:gd name="adj" fmla="val 2809"/>
            </a:avLst>
          </a:prstGeom>
          <a:solidFill>
            <a:srgbClr val="FFFFFF"/>
          </a:solidFill>
          <a:ln w="15875">
            <a:solidFill>
              <a:srgbClr val="5E7D96"/>
            </a:solidFill>
            <a:prstDash val="solid"/>
          </a:ln>
          <a:effectLst>
            <a:outerShdw sx="100000" sy="100000" kx="0" ky="0" algn="bl" rotWithShape="0" blurRad="88900" dist="12700" dir="5400000">
              <a:srgbClr val="97A3B4">
                <a:alpha val="16000"/>
              </a:srgbClr>
            </a:outerShdw>
          </a:effectLst>
        </p:spPr>
      </p:sp>
      <p:sp>
        <p:nvSpPr>
          <p:cNvPr id="56" name="Text 54"/>
          <p:cNvSpPr txBox="1"/>
          <p:nvPr/>
        </p:nvSpPr>
        <p:spPr>
          <a:xfrm>
            <a:off x="557784" y="3456432"/>
            <a:ext cx="5285232" cy="310896"/>
          </a:xfrm>
          <a:prstGeom prst="rect">
            <a:avLst/>
          </a:prstGeom>
          <a:noFill/>
          <a:ln/>
        </p:spPr>
        <p:txBody>
          <a:bodyPr wrap="square" lIns="0" tIns="0" rIns="0" bIns="0" rtlCol="0" anchor="t"/>
          <a:lstStyle/>
          <a:p>
            <a:pPr indent="0" marL="0">
              <a:lnSpc>
                <a:spcPts val="1300"/>
              </a:lnSpc>
              <a:buNone/>
            </a:pPr>
            <a:r>
              <a:rPr lang="en-US" sz="1050" b="1" dirty="0">
                <a:solidFill>
                  <a:srgbClr val="1B2432"/>
                </a:solidFill>
                <a:latin typeface="Calibri" pitchFamily="34" charset="0"/>
                <a:ea typeface="Calibri" pitchFamily="34" charset="-122"/>
                <a:cs typeface="Calibri" pitchFamily="34" charset="-120"/>
              </a:rPr>
              <a:t>Six workstreams of operating discipline, one of design</a:t>
            </a:r>
            <a:endParaRPr lang="en-US" sz="1050" dirty="0"/>
          </a:p>
        </p:txBody>
      </p:sp>
      <p:sp>
        <p:nvSpPr>
          <p:cNvPr id="57" name="Text 55"/>
          <p:cNvSpPr txBox="1"/>
          <p:nvPr/>
        </p:nvSpPr>
        <p:spPr>
          <a:xfrm>
            <a:off x="557784" y="3767328"/>
            <a:ext cx="5285232" cy="1042416"/>
          </a:xfrm>
          <a:prstGeom prst="rect">
            <a:avLst/>
          </a:prstGeom>
          <a:noFill/>
          <a:ln/>
        </p:spPr>
        <p:txBody>
          <a:bodyPr wrap="square" lIns="0" tIns="0" rIns="0" bIns="0" rtlCol="0" anchor="t"/>
          <a:lstStyle/>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Tier model published and socialised to the three squads and the partner community.</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Triage template rebuilt around the 54-point question set, every item carrying its reason.</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Triage leads assign the tier and select the guardrails, with the basis recorded.</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Partner tier charter issued with every assignment — what you receive, what you owe, why this tier.</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A shared pool of four to six stood up from the three existing squads.</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Governance, approvals and a waiver log reviewed fortnightly.</a:t>
            </a:r>
            <a:endParaRPr lang="en-US" sz="820" dirty="0"/>
          </a:p>
        </p:txBody>
      </p:sp>
      <p:sp>
        <p:nvSpPr>
          <p:cNvPr id="58" name="Shape 56"/>
          <p:cNvSpPr/>
          <p:nvPr/>
        </p:nvSpPr>
        <p:spPr>
          <a:xfrm>
            <a:off x="6172200" y="3328416"/>
            <a:ext cx="5577840" cy="1627632"/>
          </a:xfrm>
          <a:prstGeom prst="roundRect">
            <a:avLst>
              <a:gd name="adj" fmla="val 2809"/>
            </a:avLst>
          </a:prstGeom>
          <a:solidFill>
            <a:srgbClr val="F4F7FA"/>
          </a:solidFill>
          <a:ln w="15875">
            <a:solidFill>
              <a:srgbClr val="7C8798"/>
            </a:solidFill>
            <a:prstDash val="solid"/>
          </a:ln>
          <a:effectLst>
            <a:outerShdw sx="100000" sy="100000" kx="0" ky="0" algn="bl" rotWithShape="0" blurRad="88900" dist="12700" dir="5400000">
              <a:srgbClr val="97A3B4">
                <a:alpha val="16000"/>
              </a:srgbClr>
            </a:outerShdw>
          </a:effectLst>
        </p:spPr>
      </p:sp>
      <p:sp>
        <p:nvSpPr>
          <p:cNvPr id="59" name="Text 57"/>
          <p:cNvSpPr txBox="1"/>
          <p:nvPr/>
        </p:nvSpPr>
        <p:spPr>
          <a:xfrm>
            <a:off x="6318504" y="3456432"/>
            <a:ext cx="5285232" cy="310896"/>
          </a:xfrm>
          <a:prstGeom prst="rect">
            <a:avLst/>
          </a:prstGeom>
          <a:noFill/>
          <a:ln/>
        </p:spPr>
        <p:txBody>
          <a:bodyPr wrap="square" lIns="0" tIns="0" rIns="0" bIns="0" rtlCol="0" anchor="t"/>
          <a:lstStyle/>
          <a:p>
            <a:pPr indent="0" marL="0">
              <a:lnSpc>
                <a:spcPts val="1300"/>
              </a:lnSpc>
              <a:buNone/>
            </a:pPr>
            <a:r>
              <a:rPr lang="en-US" sz="1050" b="1" dirty="0">
                <a:solidFill>
                  <a:srgbClr val="1B2432"/>
                </a:solidFill>
                <a:latin typeface="Calibri" pitchFamily="34" charset="0"/>
                <a:ea typeface="Calibri" pitchFamily="34" charset="-122"/>
                <a:cs typeface="Calibri" pitchFamily="34" charset="-120"/>
              </a:rPr>
              <a:t>None — and deliberately so</a:t>
            </a:r>
            <a:endParaRPr lang="en-US" sz="1050" dirty="0"/>
          </a:p>
        </p:txBody>
      </p:sp>
      <p:sp>
        <p:nvSpPr>
          <p:cNvPr id="60" name="Text 58"/>
          <p:cNvSpPr txBox="1"/>
          <p:nvPr/>
        </p:nvSpPr>
        <p:spPr>
          <a:xfrm>
            <a:off x="6318504" y="3767328"/>
            <a:ext cx="5285232" cy="1042416"/>
          </a:xfrm>
          <a:prstGeom prst="rect">
            <a:avLst/>
          </a:prstGeom>
          <a:noFill/>
          <a:ln/>
        </p:spPr>
        <p:txBody>
          <a:bodyPr wrap="square" lIns="0" tIns="0" rIns="0" bIns="0" rtlCol="0" anchor="t"/>
          <a:lstStyle/>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Nothing is built, nothing is procured, no agent is deployed. Every mechanism the model needs has a human equivalent we already have the knowledge to run.</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The only forward-looking work is design, not construction: an architecture evaluation that specifies and costs Phase 2 — target architecture, the agentic authority model, the integration inventory and a build estimate.</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That is roughly two weeks of architect time spread across the quarter, and it is why Phase 1 ends with a costed proposal rather than a request for more time.</a:t>
            </a:r>
            <a:endParaRPr lang="en-US" sz="820" dirty="0"/>
          </a:p>
        </p:txBody>
      </p:sp>
      <p:sp>
        <p:nvSpPr>
          <p:cNvPr id="61" name="Shape 59"/>
          <p:cNvSpPr/>
          <p:nvPr/>
        </p:nvSpPr>
        <p:spPr>
          <a:xfrm>
            <a:off x="411480" y="5084064"/>
            <a:ext cx="6675120" cy="1499616"/>
          </a:xfrm>
          <a:prstGeom prst="roundRect">
            <a:avLst>
              <a:gd name="adj" fmla="val 3049"/>
            </a:avLst>
          </a:prstGeom>
          <a:solidFill>
            <a:srgbClr val="FFFFFF"/>
          </a:solidFill>
          <a:ln w="14605">
            <a:solidFill>
              <a:srgbClr val="5E7D96"/>
            </a:solidFill>
            <a:prstDash val="solid"/>
          </a:ln>
          <a:effectLst>
            <a:outerShdw sx="100000" sy="100000" kx="0" ky="0" algn="bl" rotWithShape="0" blurRad="88900" dist="12700" dir="5400000">
              <a:srgbClr val="97A3B4">
                <a:alpha val="16000"/>
              </a:srgbClr>
            </a:outerShdw>
          </a:effectLst>
        </p:spPr>
      </p:sp>
      <p:sp>
        <p:nvSpPr>
          <p:cNvPr id="62" name="Shape 60"/>
          <p:cNvSpPr/>
          <p:nvPr/>
        </p:nvSpPr>
        <p:spPr>
          <a:xfrm>
            <a:off x="411480" y="5084064"/>
            <a:ext cx="6675120" cy="50292"/>
          </a:xfrm>
          <a:prstGeom prst="rect">
            <a:avLst/>
          </a:prstGeom>
          <a:solidFill>
            <a:srgbClr val="5E7D96"/>
          </a:solidFill>
          <a:ln w="12700">
            <a:solidFill>
              <a:srgbClr val="333333"/>
            </a:solidFill>
            <a:prstDash val="solid"/>
          </a:ln>
        </p:spPr>
      </p:sp>
      <p:sp>
        <p:nvSpPr>
          <p:cNvPr id="63" name="Text 61"/>
          <p:cNvSpPr txBox="1"/>
          <p:nvPr/>
        </p:nvSpPr>
        <p:spPr>
          <a:xfrm>
            <a:off x="530352" y="5202936"/>
            <a:ext cx="6437376" cy="164592"/>
          </a:xfrm>
          <a:prstGeom prst="rect">
            <a:avLst/>
          </a:prstGeom>
          <a:noFill/>
          <a:ln/>
        </p:spPr>
        <p:txBody>
          <a:bodyPr wrap="square" lIns="0" tIns="0" rIns="0" bIns="0" rtlCol="0" anchor="ctr"/>
          <a:lstStyle/>
          <a:p>
            <a:pPr indent="0" marL="0">
              <a:buNone/>
            </a:pPr>
            <a:r>
              <a:rPr lang="en-US" sz="690" b="1" spc="110" kern="0" dirty="0">
                <a:solidFill>
                  <a:srgbClr val="5E7D96"/>
                </a:solidFill>
                <a:latin typeface="Calibri" pitchFamily="34" charset="0"/>
                <a:ea typeface="Calibri" pitchFamily="34" charset="-122"/>
                <a:cs typeface="Calibri" pitchFamily="34" charset="-120"/>
              </a:rPr>
              <a:t>P1 VALUE ADD</a:t>
            </a:r>
            <a:endParaRPr lang="en-US" sz="690" dirty="0"/>
          </a:p>
        </p:txBody>
      </p:sp>
      <p:sp>
        <p:nvSpPr>
          <p:cNvPr id="64" name="Text 62"/>
          <p:cNvSpPr txBox="1"/>
          <p:nvPr/>
        </p:nvSpPr>
        <p:spPr>
          <a:xfrm>
            <a:off x="530352" y="5376672"/>
            <a:ext cx="6437376" cy="219456"/>
          </a:xfrm>
          <a:prstGeom prst="rect">
            <a:avLst/>
          </a:prstGeom>
          <a:noFill/>
          <a:ln/>
        </p:spPr>
        <p:txBody>
          <a:bodyPr wrap="square" lIns="0" tIns="0" rIns="0" bIns="0" rtlCol="0" anchor="t"/>
          <a:lstStyle/>
          <a:p>
            <a:pPr indent="0" marL="0">
              <a:lnSpc>
                <a:spcPts val="1140"/>
              </a:lnSpc>
              <a:buNone/>
            </a:pPr>
            <a:r>
              <a:rPr lang="en-US" sz="960" b="1" dirty="0">
                <a:solidFill>
                  <a:srgbClr val="1B2432"/>
                </a:solidFill>
                <a:latin typeface="Calibri" pitchFamily="34" charset="0"/>
                <a:ea typeface="Calibri" pitchFamily="34" charset="-122"/>
                <a:cs typeface="Calibri" pitchFamily="34" charset="-120"/>
              </a:rPr>
              <a:t>Depth stops being uniform</a:t>
            </a:r>
            <a:endParaRPr lang="en-US" sz="960" dirty="0"/>
          </a:p>
        </p:txBody>
      </p:sp>
      <p:sp>
        <p:nvSpPr>
          <p:cNvPr id="65" name="Text 63"/>
          <p:cNvSpPr txBox="1"/>
          <p:nvPr/>
        </p:nvSpPr>
        <p:spPr>
          <a:xfrm>
            <a:off x="530352" y="5632704"/>
            <a:ext cx="6437376" cy="457200"/>
          </a:xfrm>
          <a:prstGeom prst="rect">
            <a:avLst/>
          </a:prstGeom>
          <a:noFill/>
          <a:ln/>
        </p:spPr>
        <p:txBody>
          <a:bodyPr wrap="square" lIns="0" tIns="0" rIns="0" bIns="0" rtlCol="0" anchor="t"/>
          <a:lstStyle/>
          <a:p>
            <a:pPr indent="0" marL="0">
              <a:lnSpc>
                <a:spcPts val="980"/>
              </a:lnSpc>
              <a:spcAft>
                <a:spcPts val="200"/>
              </a:spcAft>
              <a:buNone/>
            </a:pPr>
            <a:r>
              <a:rPr lang="en-US" sz="790" dirty="0">
                <a:solidFill>
                  <a:srgbClr val="55606E"/>
                </a:solidFill>
                <a:latin typeface="Calibri" pitchFamily="34" charset="0"/>
                <a:ea typeface="Calibri" pitchFamily="34" charset="-122"/>
                <a:cs typeface="Calibri" pitchFamily="34" charset="-120"/>
              </a:rPr>
              <a:t>17 scenarios move from a continuous pod to scheduled design assurance; Dedicated falls from 38 to 14.</a:t>
            </a:r>
            <a:endParaRPr lang="en-US" sz="790" dirty="0"/>
          </a:p>
          <a:p>
            <a:pPr indent="0" marL="0">
              <a:lnSpc>
                <a:spcPts val="980"/>
              </a:lnSpc>
              <a:spcAft>
                <a:spcPts val="200"/>
              </a:spcAft>
              <a:buNone/>
            </a:pPr>
            <a:r>
              <a:rPr lang="en-US" sz="790" dirty="0">
                <a:solidFill>
                  <a:srgbClr val="55606E"/>
                </a:solidFill>
                <a:latin typeface="Calibri" pitchFamily="34" charset="0"/>
                <a:ea typeface="Calibri" pitchFamily="34" charset="-122"/>
                <a:cs typeface="Calibri" pitchFamily="34" charset="-120"/>
              </a:rPr>
              <a:t>Clarification cycles fall on the deeper triage alone, and long-lead items are raised at triage rather than mid-build.</a:t>
            </a:r>
            <a:endParaRPr lang="en-US" sz="790" dirty="0"/>
          </a:p>
          <a:p>
            <a:pPr indent="0" marL="0">
              <a:lnSpc>
                <a:spcPts val="980"/>
              </a:lnSpc>
              <a:spcAft>
                <a:spcPts val="200"/>
              </a:spcAft>
              <a:buNone/>
            </a:pPr>
            <a:r>
              <a:rPr lang="en-US" sz="790" dirty="0">
                <a:solidFill>
                  <a:srgbClr val="55606E"/>
                </a:solidFill>
                <a:latin typeface="Calibri" pitchFamily="34" charset="0"/>
                <a:ea typeface="Calibri" pitchFamily="34" charset="-122"/>
                <a:cs typeface="Calibri" pitchFamily="34" charset="-120"/>
              </a:rPr>
              <a:t>The first measured effort and elapsed-time baseline we have ever had.</a:t>
            </a:r>
            <a:endParaRPr lang="en-US" sz="790" dirty="0"/>
          </a:p>
        </p:txBody>
      </p:sp>
      <p:sp>
        <p:nvSpPr>
          <p:cNvPr id="66" name="Shape 64"/>
          <p:cNvSpPr/>
          <p:nvPr/>
        </p:nvSpPr>
        <p:spPr>
          <a:xfrm>
            <a:off x="411480" y="6163056"/>
            <a:ext cx="6675120" cy="420624"/>
          </a:xfrm>
          <a:prstGeom prst="rect">
            <a:avLst/>
          </a:prstGeom>
          <a:solidFill>
            <a:srgbClr val="ECF3EE"/>
          </a:solidFill>
          <a:ln w="12700">
            <a:solidFill>
              <a:srgbClr val="ECF3EE"/>
            </a:solidFill>
            <a:prstDash val="solid"/>
          </a:ln>
        </p:spPr>
      </p:sp>
      <p:sp>
        <p:nvSpPr>
          <p:cNvPr id="67" name="Text 65"/>
          <p:cNvSpPr txBox="1"/>
          <p:nvPr/>
        </p:nvSpPr>
        <p:spPr>
          <a:xfrm>
            <a:off x="530352" y="6181344"/>
            <a:ext cx="6437376" cy="384048"/>
          </a:xfrm>
          <a:prstGeom prst="rect">
            <a:avLst/>
          </a:prstGeom>
          <a:noFill/>
          <a:ln/>
        </p:spPr>
        <p:txBody>
          <a:bodyPr wrap="square" lIns="0" tIns="0" rIns="0" bIns="0" rtlCol="0" anchor="ctr"/>
          <a:lstStyle/>
          <a:p>
            <a:pPr indent="0" marL="0">
              <a:lnSpc>
                <a:spcPts val="900"/>
              </a:lnSpc>
              <a:buNone/>
            </a:pPr>
            <a:r>
              <a:rPr lang="en-US" sz="770" b="1" dirty="0">
                <a:solidFill>
                  <a:srgbClr val="2E6B4F"/>
                </a:solidFill>
                <a:latin typeface="Calibri" pitchFamily="34" charset="0"/>
                <a:ea typeface="Calibri" pitchFamily="34" charset="-122"/>
                <a:cs typeface="Calibri" pitchFamily="34" charset="-120"/>
              </a:rPr>
              <a:t>Better than today: the 14 genuinely complex intakes stop competing with 24 that are not — at a cost of about two weeks of writing.</a:t>
            </a:r>
            <a:endParaRPr lang="en-US" sz="770" dirty="0"/>
          </a:p>
        </p:txBody>
      </p:sp>
      <p:sp>
        <p:nvSpPr>
          <p:cNvPr id="68" name="Shape 66"/>
          <p:cNvSpPr/>
          <p:nvPr/>
        </p:nvSpPr>
        <p:spPr>
          <a:xfrm>
            <a:off x="7269480" y="5084064"/>
            <a:ext cx="4480560" cy="1499616"/>
          </a:xfrm>
          <a:prstGeom prst="roundRect">
            <a:avLst>
              <a:gd name="adj" fmla="val 3049"/>
            </a:avLst>
          </a:prstGeom>
          <a:solidFill>
            <a:srgbClr val="FBF0EB"/>
          </a:solidFill>
          <a:ln w="15875">
            <a:solidFill>
              <a:srgbClr val="A44A2A"/>
            </a:solidFill>
            <a:prstDash val="solid"/>
          </a:ln>
          <a:effectLst>
            <a:outerShdw sx="100000" sy="100000" kx="0" ky="0" algn="bl" rotWithShape="0" blurRad="88900" dist="12700" dir="5400000">
              <a:srgbClr val="97A3B4">
                <a:alpha val="16000"/>
              </a:srgbClr>
            </a:outerShdw>
          </a:effectLst>
        </p:spPr>
      </p:sp>
      <p:sp>
        <p:nvSpPr>
          <p:cNvPr id="69" name="Text 67"/>
          <p:cNvSpPr txBox="1"/>
          <p:nvPr/>
        </p:nvSpPr>
        <p:spPr>
          <a:xfrm>
            <a:off x="7415784" y="5212080"/>
            <a:ext cx="4187952" cy="310896"/>
          </a:xfrm>
          <a:prstGeom prst="rect">
            <a:avLst/>
          </a:prstGeom>
          <a:noFill/>
          <a:ln/>
        </p:spPr>
        <p:txBody>
          <a:bodyPr wrap="square" lIns="0" tIns="0" rIns="0" bIns="0" rtlCol="0" anchor="t"/>
          <a:lstStyle/>
          <a:p>
            <a:pPr indent="0" marL="0">
              <a:lnSpc>
                <a:spcPts val="1300"/>
              </a:lnSpc>
              <a:buNone/>
            </a:pPr>
            <a:r>
              <a:rPr lang="en-US" sz="1050" b="1" dirty="0">
                <a:solidFill>
                  <a:srgbClr val="1B2432"/>
                </a:solidFill>
                <a:latin typeface="Calibri" pitchFamily="34" charset="0"/>
                <a:ea typeface="Calibri" pitchFamily="34" charset="-122"/>
                <a:cs typeface="Calibri" pitchFamily="34" charset="-120"/>
              </a:rPr>
              <a:t>What Phase 1 cannot fix</a:t>
            </a:r>
            <a:endParaRPr lang="en-US" sz="1050" dirty="0"/>
          </a:p>
        </p:txBody>
      </p:sp>
      <p:sp>
        <p:nvSpPr>
          <p:cNvPr id="70" name="Text 68"/>
          <p:cNvSpPr txBox="1"/>
          <p:nvPr/>
        </p:nvSpPr>
        <p:spPr>
          <a:xfrm>
            <a:off x="7415784" y="5522976"/>
            <a:ext cx="4187952" cy="914400"/>
          </a:xfrm>
          <a:prstGeom prst="rect">
            <a:avLst/>
          </a:prstGeom>
          <a:noFill/>
          <a:ln/>
        </p:spPr>
        <p:txBody>
          <a:bodyPr wrap="square" lIns="0" tIns="0" rIns="0" bIns="0" rtlCol="0" anchor="t"/>
          <a:lstStyle/>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The clerical load is untouched — artefacts, routing and tracking all stay manual.</a:t>
            </a:r>
            <a:endParaRPr lang="en-US" sz="800" dirty="0"/>
          </a:p>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Per-intake effort stays roughly constant, so the model still does not scale with demand.</a:t>
            </a:r>
            <a:endParaRPr lang="en-US" sz="800" dirty="0"/>
          </a:p>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The partner still cannot act unaided, and external queue time is unchanged.</a:t>
            </a:r>
            <a:endParaRPr lang="en-US" sz="800" dirty="0"/>
          </a:p>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Guardrails are enforced by people under schedule pressure, so they can still be waived.</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Text 2"/>
          <p:cNvSpPr txBox="1"/>
          <p:nvPr/>
        </p:nvSpPr>
        <p:spPr>
          <a:xfrm>
            <a:off x="795528" y="219456"/>
            <a:ext cx="96926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Phase 2 — automate and AI-enable everything inside ECM</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Scoped by what we own outright, so no external team's roadmap can delay it — and the partner begins to self-serve</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Phase 2</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24128"/>
            <a:ext cx="11338560" cy="658368"/>
          </a:xfrm>
          <a:prstGeom prst="roundRect">
            <a:avLst>
              <a:gd name="adj" fmla="val 6944"/>
            </a:avLst>
          </a:prstGeom>
          <a:solidFill>
            <a:srgbClr val="3E6686"/>
          </a:solidFill>
          <a:ln w="12700">
            <a:solidFill>
              <a:srgbClr val="333333"/>
            </a:solidFill>
            <a:prstDash val="solid"/>
          </a:ln>
        </p:spPr>
      </p:sp>
      <p:sp>
        <p:nvSpPr>
          <p:cNvPr id="9" name="Text 7"/>
          <p:cNvSpPr txBox="1"/>
          <p:nvPr/>
        </p:nvSpPr>
        <p:spPr>
          <a:xfrm>
            <a:off x="612648" y="1106424"/>
            <a:ext cx="1828800" cy="182880"/>
          </a:xfrm>
          <a:prstGeom prst="rect">
            <a:avLst/>
          </a:prstGeom>
          <a:noFill/>
          <a:ln/>
        </p:spPr>
        <p:txBody>
          <a:bodyPr wrap="square" lIns="0" tIns="0" rIns="0" bIns="0" rtlCol="0" anchor="ctr"/>
          <a:lstStyle/>
          <a:p>
            <a:pPr indent="0" marL="0">
              <a:buNone/>
            </a:pPr>
            <a:r>
              <a:rPr lang="en-US" sz="760" b="1" spc="140" kern="0" dirty="0">
                <a:solidFill>
                  <a:srgbClr val="CBD9E6"/>
                </a:solidFill>
                <a:latin typeface="Calibri" pitchFamily="34" charset="0"/>
                <a:ea typeface="Calibri" pitchFamily="34" charset="-122"/>
                <a:cs typeface="Calibri" pitchFamily="34" charset="-120"/>
              </a:rPr>
              <a:t>PHASE 2</a:t>
            </a:r>
            <a:endParaRPr lang="en-US" sz="760" dirty="0"/>
          </a:p>
        </p:txBody>
      </p:sp>
      <p:sp>
        <p:nvSpPr>
          <p:cNvPr id="10" name="Text 8"/>
          <p:cNvSpPr txBox="1"/>
          <p:nvPr/>
        </p:nvSpPr>
        <p:spPr>
          <a:xfrm>
            <a:off x="612648" y="1280160"/>
            <a:ext cx="4754880" cy="31089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Automate inside ECM</a:t>
            </a:r>
            <a:endParaRPr lang="en-US" sz="1700" dirty="0"/>
          </a:p>
        </p:txBody>
      </p:sp>
      <p:sp>
        <p:nvSpPr>
          <p:cNvPr id="11" name="Text 9"/>
          <p:cNvSpPr txBox="1"/>
          <p:nvPr/>
        </p:nvSpPr>
        <p:spPr>
          <a:xfrm>
            <a:off x="5349240" y="1133856"/>
            <a:ext cx="1920240" cy="164592"/>
          </a:xfrm>
          <a:prstGeom prst="rect">
            <a:avLst/>
          </a:prstGeom>
          <a:noFill/>
          <a:ln/>
        </p:spPr>
        <p:txBody>
          <a:bodyPr wrap="square" lIns="0" tIns="0" rIns="0" bIns="0" rtlCol="0" anchor="ctr"/>
          <a:lstStyle/>
          <a:p>
            <a:pPr indent="0" marL="0">
              <a:buNone/>
            </a:pPr>
            <a:r>
              <a:rPr lang="en-US" sz="660" b="1" spc="100" kern="0" dirty="0">
                <a:solidFill>
                  <a:srgbClr val="9FB6CC"/>
                </a:solidFill>
                <a:latin typeface="Calibri" pitchFamily="34" charset="0"/>
                <a:ea typeface="Calibri" pitchFamily="34" charset="-122"/>
                <a:cs typeface="Calibri" pitchFamily="34" charset="-120"/>
              </a:rPr>
              <a:t>DEPENDENCY</a:t>
            </a:r>
            <a:endParaRPr lang="en-US" sz="660" dirty="0"/>
          </a:p>
        </p:txBody>
      </p:sp>
      <p:sp>
        <p:nvSpPr>
          <p:cNvPr id="12" name="Text 10"/>
          <p:cNvSpPr txBox="1"/>
          <p:nvPr/>
        </p:nvSpPr>
        <p:spPr>
          <a:xfrm>
            <a:off x="5349240" y="1298448"/>
            <a:ext cx="1920240" cy="292608"/>
          </a:xfrm>
          <a:prstGeom prst="rect">
            <a:avLst/>
          </a:prstGeom>
          <a:noFill/>
          <a:ln/>
        </p:spPr>
        <p:txBody>
          <a:bodyPr wrap="square" lIns="0" tIns="0" rIns="0" bIns="0" rtlCol="0" anchor="t"/>
          <a:lstStyle/>
          <a:p>
            <a:pPr indent="0" marL="0">
              <a:lnSpc>
                <a:spcPts val="1000"/>
              </a:lnSpc>
              <a:buNone/>
            </a:pPr>
            <a:r>
              <a:rPr lang="en-US" sz="860" b="1" dirty="0">
                <a:solidFill>
                  <a:srgbClr val="FFFFFF"/>
                </a:solidFill>
                <a:latin typeface="Calibri" pitchFamily="34" charset="0"/>
                <a:ea typeface="Calibri" pitchFamily="34" charset="-122"/>
                <a:cs typeface="Calibri" pitchFamily="34" charset="-120"/>
              </a:rPr>
              <a:t>ECM engineering only</a:t>
            </a:r>
            <a:endParaRPr lang="en-US" sz="860" dirty="0"/>
          </a:p>
        </p:txBody>
      </p:sp>
      <p:sp>
        <p:nvSpPr>
          <p:cNvPr id="13" name="Text 11"/>
          <p:cNvSpPr txBox="1"/>
          <p:nvPr/>
        </p:nvSpPr>
        <p:spPr>
          <a:xfrm>
            <a:off x="7415784" y="1133856"/>
            <a:ext cx="1920240" cy="164592"/>
          </a:xfrm>
          <a:prstGeom prst="rect">
            <a:avLst/>
          </a:prstGeom>
          <a:noFill/>
          <a:ln/>
        </p:spPr>
        <p:txBody>
          <a:bodyPr wrap="square" lIns="0" tIns="0" rIns="0" bIns="0" rtlCol="0" anchor="ctr"/>
          <a:lstStyle/>
          <a:p>
            <a:pPr indent="0" marL="0">
              <a:buNone/>
            </a:pPr>
            <a:r>
              <a:rPr lang="en-US" sz="660" b="1" spc="100" kern="0" dirty="0">
                <a:solidFill>
                  <a:srgbClr val="9FB6CC"/>
                </a:solidFill>
                <a:latin typeface="Calibri" pitchFamily="34" charset="0"/>
                <a:ea typeface="Calibri" pitchFamily="34" charset="-122"/>
                <a:cs typeface="Calibri" pitchFamily="34" charset="-120"/>
              </a:rPr>
              <a:t>BUILDS</a:t>
            </a:r>
            <a:endParaRPr lang="en-US" sz="660" dirty="0"/>
          </a:p>
        </p:txBody>
      </p:sp>
      <p:sp>
        <p:nvSpPr>
          <p:cNvPr id="14" name="Text 12"/>
          <p:cNvSpPr txBox="1"/>
          <p:nvPr/>
        </p:nvSpPr>
        <p:spPr>
          <a:xfrm>
            <a:off x="7415784" y="1298448"/>
            <a:ext cx="1920240" cy="292608"/>
          </a:xfrm>
          <a:prstGeom prst="rect">
            <a:avLst/>
          </a:prstGeom>
          <a:noFill/>
          <a:ln/>
        </p:spPr>
        <p:txBody>
          <a:bodyPr wrap="square" lIns="0" tIns="0" rIns="0" bIns="0" rtlCol="0" anchor="t"/>
          <a:lstStyle/>
          <a:p>
            <a:pPr indent="0" marL="0">
              <a:lnSpc>
                <a:spcPts val="1000"/>
              </a:lnSpc>
              <a:buNone/>
            </a:pPr>
            <a:r>
              <a:rPr lang="en-US" sz="860" b="1" dirty="0">
                <a:solidFill>
                  <a:srgbClr val="FFFFFF"/>
                </a:solidFill>
                <a:latin typeface="Calibri" pitchFamily="34" charset="0"/>
                <a:ea typeface="Calibri" pitchFamily="34" charset="-122"/>
                <a:cs typeface="Calibri" pitchFamily="34" charset="-120"/>
              </a:rPr>
              <a:t>What ECM owns outright</a:t>
            </a:r>
            <a:endParaRPr lang="en-US" sz="860" dirty="0"/>
          </a:p>
        </p:txBody>
      </p:sp>
      <p:sp>
        <p:nvSpPr>
          <p:cNvPr id="15" name="Text 13"/>
          <p:cNvSpPr txBox="1"/>
          <p:nvPr/>
        </p:nvSpPr>
        <p:spPr>
          <a:xfrm>
            <a:off x="9482328" y="1133856"/>
            <a:ext cx="1920240" cy="164592"/>
          </a:xfrm>
          <a:prstGeom prst="rect">
            <a:avLst/>
          </a:prstGeom>
          <a:noFill/>
          <a:ln/>
        </p:spPr>
        <p:txBody>
          <a:bodyPr wrap="square" lIns="0" tIns="0" rIns="0" bIns="0" rtlCol="0" anchor="ctr"/>
          <a:lstStyle/>
          <a:p>
            <a:pPr indent="0" marL="0">
              <a:buNone/>
            </a:pPr>
            <a:r>
              <a:rPr lang="en-US" sz="660" b="1" spc="100" kern="0" dirty="0">
                <a:solidFill>
                  <a:srgbClr val="9FB6CC"/>
                </a:solidFill>
                <a:latin typeface="Calibri" pitchFamily="34" charset="0"/>
                <a:ea typeface="Calibri" pitchFamily="34" charset="-122"/>
                <a:cs typeface="Calibri" pitchFamily="34" charset="-120"/>
              </a:rPr>
              <a:t>AI</a:t>
            </a:r>
            <a:endParaRPr lang="en-US" sz="660" dirty="0"/>
          </a:p>
        </p:txBody>
      </p:sp>
      <p:sp>
        <p:nvSpPr>
          <p:cNvPr id="16" name="Text 14"/>
          <p:cNvSpPr txBox="1"/>
          <p:nvPr/>
        </p:nvSpPr>
        <p:spPr>
          <a:xfrm>
            <a:off x="9482328" y="1298448"/>
            <a:ext cx="1920240" cy="292608"/>
          </a:xfrm>
          <a:prstGeom prst="rect">
            <a:avLst/>
          </a:prstGeom>
          <a:noFill/>
          <a:ln/>
        </p:spPr>
        <p:txBody>
          <a:bodyPr wrap="square" lIns="0" tIns="0" rIns="0" bIns="0" rtlCol="0" anchor="t"/>
          <a:lstStyle/>
          <a:p>
            <a:pPr indent="0" marL="0">
              <a:lnSpc>
                <a:spcPts val="1000"/>
              </a:lnSpc>
              <a:buNone/>
            </a:pPr>
            <a:r>
              <a:rPr lang="en-US" sz="860" b="1" dirty="0">
                <a:solidFill>
                  <a:srgbClr val="FFFFFF"/>
                </a:solidFill>
                <a:latin typeface="Calibri" pitchFamily="34" charset="0"/>
                <a:ea typeface="Calibri" pitchFamily="34" charset="-122"/>
                <a:cs typeface="Calibri" pitchFamily="34" charset="-120"/>
              </a:rPr>
              <a:t>Agentic, inside the perimeter</a:t>
            </a:r>
            <a:endParaRPr lang="en-US" sz="860" dirty="0"/>
          </a:p>
        </p:txBody>
      </p:sp>
      <p:sp>
        <p:nvSpPr>
          <p:cNvPr id="17" name="Text 15"/>
          <p:cNvSpPr txBox="1"/>
          <p:nvPr/>
        </p:nvSpPr>
        <p:spPr>
          <a:xfrm>
            <a:off x="411480" y="1828800"/>
            <a:ext cx="585216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THE PARTNER'S JOURNEY THROUGH AN INTAKE IN THIS PHASE</a:t>
            </a:r>
            <a:endParaRPr lang="en-US" sz="760" dirty="0"/>
          </a:p>
        </p:txBody>
      </p:sp>
      <p:sp>
        <p:nvSpPr>
          <p:cNvPr id="18" name="Shape 16"/>
          <p:cNvSpPr/>
          <p:nvPr/>
        </p:nvSpPr>
        <p:spPr>
          <a:xfrm>
            <a:off x="7360920" y="1837944"/>
            <a:ext cx="128016" cy="109728"/>
          </a:xfrm>
          <a:prstGeom prst="rect">
            <a:avLst/>
          </a:prstGeom>
          <a:solidFill>
            <a:srgbClr val="15304F"/>
          </a:solidFill>
          <a:ln w="12700">
            <a:solidFill>
              <a:srgbClr val="333333"/>
            </a:solidFill>
            <a:prstDash val="solid"/>
          </a:ln>
        </p:spPr>
      </p:sp>
      <p:sp>
        <p:nvSpPr>
          <p:cNvPr id="19" name="Text 17"/>
          <p:cNvSpPr txBox="1"/>
          <p:nvPr/>
        </p:nvSpPr>
        <p:spPr>
          <a:xfrm>
            <a:off x="7543800" y="1810512"/>
            <a:ext cx="1188720" cy="164592"/>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ECM drives</a:t>
            </a:r>
            <a:endParaRPr lang="en-US" sz="760" dirty="0"/>
          </a:p>
        </p:txBody>
      </p:sp>
      <p:sp>
        <p:nvSpPr>
          <p:cNvPr id="20" name="Shape 18"/>
          <p:cNvSpPr/>
          <p:nvPr/>
        </p:nvSpPr>
        <p:spPr>
          <a:xfrm>
            <a:off x="8787384" y="1837944"/>
            <a:ext cx="128016" cy="109728"/>
          </a:xfrm>
          <a:prstGeom prst="rect">
            <a:avLst/>
          </a:prstGeom>
          <a:solidFill>
            <a:srgbClr val="3E6686"/>
          </a:solidFill>
          <a:ln w="12700">
            <a:solidFill>
              <a:srgbClr val="333333"/>
            </a:solidFill>
            <a:prstDash val="solid"/>
          </a:ln>
        </p:spPr>
      </p:sp>
      <p:sp>
        <p:nvSpPr>
          <p:cNvPr id="21" name="Text 19"/>
          <p:cNvSpPr txBox="1"/>
          <p:nvPr/>
        </p:nvSpPr>
        <p:spPr>
          <a:xfrm>
            <a:off x="8970264" y="1810512"/>
            <a:ext cx="1188720" cy="164592"/>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Shared</a:t>
            </a:r>
            <a:endParaRPr lang="en-US" sz="760" dirty="0"/>
          </a:p>
        </p:txBody>
      </p:sp>
      <p:sp>
        <p:nvSpPr>
          <p:cNvPr id="22" name="Shape 20"/>
          <p:cNvSpPr/>
          <p:nvPr/>
        </p:nvSpPr>
        <p:spPr>
          <a:xfrm>
            <a:off x="10213848" y="1837944"/>
            <a:ext cx="128016" cy="109728"/>
          </a:xfrm>
          <a:prstGeom prst="rect">
            <a:avLst/>
          </a:prstGeom>
          <a:solidFill>
            <a:srgbClr val="2E6B4F"/>
          </a:solidFill>
          <a:ln w="12700">
            <a:solidFill>
              <a:srgbClr val="333333"/>
            </a:solidFill>
            <a:prstDash val="solid"/>
          </a:ln>
        </p:spPr>
      </p:sp>
      <p:sp>
        <p:nvSpPr>
          <p:cNvPr id="23" name="Text 21"/>
          <p:cNvSpPr txBox="1"/>
          <p:nvPr/>
        </p:nvSpPr>
        <p:spPr>
          <a:xfrm>
            <a:off x="10396728" y="1810512"/>
            <a:ext cx="1188720" cy="164592"/>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Partner drives</a:t>
            </a:r>
            <a:endParaRPr lang="en-US" sz="760" dirty="0"/>
          </a:p>
        </p:txBody>
      </p:sp>
      <p:sp>
        <p:nvSpPr>
          <p:cNvPr id="24" name="Shape 22"/>
          <p:cNvSpPr/>
          <p:nvPr/>
        </p:nvSpPr>
        <p:spPr>
          <a:xfrm>
            <a:off x="411480" y="2029968"/>
            <a:ext cx="2194560" cy="950976"/>
          </a:xfrm>
          <a:prstGeom prst="roundRect">
            <a:avLst>
              <a:gd name="adj" fmla="val 3846"/>
            </a:avLst>
          </a:prstGeom>
          <a:solidFill>
            <a:srgbClr val="ECF3EE"/>
          </a:solidFill>
          <a:ln w="12700">
            <a:solidFill>
              <a:srgbClr val="2E6B4F"/>
            </a:solidFill>
            <a:prstDash val="solid"/>
          </a:ln>
        </p:spPr>
      </p:sp>
      <p:sp>
        <p:nvSpPr>
          <p:cNvPr id="25" name="Shape 23"/>
          <p:cNvSpPr/>
          <p:nvPr/>
        </p:nvSpPr>
        <p:spPr>
          <a:xfrm>
            <a:off x="411480" y="2029968"/>
            <a:ext cx="2194560" cy="50292"/>
          </a:xfrm>
          <a:prstGeom prst="rect">
            <a:avLst/>
          </a:prstGeom>
          <a:solidFill>
            <a:srgbClr val="2E6B4F"/>
          </a:solidFill>
          <a:ln w="12700">
            <a:solidFill>
              <a:srgbClr val="333333"/>
            </a:solidFill>
            <a:prstDash val="solid"/>
          </a:ln>
        </p:spPr>
      </p:sp>
      <p:sp>
        <p:nvSpPr>
          <p:cNvPr id="26" name="Text 24"/>
          <p:cNvSpPr txBox="1"/>
          <p:nvPr/>
        </p:nvSpPr>
        <p:spPr>
          <a:xfrm>
            <a:off x="521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Raise the intake</a:t>
            </a:r>
            <a:endParaRPr lang="en-US" sz="860" dirty="0"/>
          </a:p>
        </p:txBody>
      </p:sp>
      <p:sp>
        <p:nvSpPr>
          <p:cNvPr id="27" name="Text 25"/>
          <p:cNvSpPr txBox="1"/>
          <p:nvPr/>
        </p:nvSpPr>
        <p:spPr>
          <a:xfrm>
            <a:off x="521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Partner raises it unaided through a guided intake.</a:t>
            </a:r>
            <a:endParaRPr lang="en-US" sz="760" dirty="0"/>
          </a:p>
        </p:txBody>
      </p:sp>
      <p:sp>
        <p:nvSpPr>
          <p:cNvPr id="28" name="Text 26"/>
          <p:cNvSpPr txBox="1"/>
          <p:nvPr/>
        </p:nvSpPr>
        <p:spPr>
          <a:xfrm>
            <a:off x="521208" y="2779776"/>
            <a:ext cx="1975104" cy="146304"/>
          </a:xfrm>
          <a:prstGeom prst="rect">
            <a:avLst/>
          </a:prstGeom>
          <a:noFill/>
          <a:ln/>
        </p:spPr>
        <p:txBody>
          <a:bodyPr wrap="square" lIns="0" tIns="0" rIns="0" bIns="0" rtlCol="0" anchor="ctr"/>
          <a:lstStyle/>
          <a:p>
            <a:pPr indent="0" marL="0">
              <a:buNone/>
            </a:pPr>
            <a:r>
              <a:rPr lang="en-US" sz="630" b="1" spc="90" kern="0" dirty="0">
                <a:solidFill>
                  <a:srgbClr val="2E6B4F"/>
                </a:solidFill>
                <a:latin typeface="Calibri" pitchFamily="34" charset="0"/>
                <a:ea typeface="Calibri" pitchFamily="34" charset="-122"/>
                <a:cs typeface="Calibri" pitchFamily="34" charset="-120"/>
              </a:rPr>
              <a:t>PARTNER DRIVES</a:t>
            </a:r>
            <a:endParaRPr lang="en-US" sz="630" dirty="0"/>
          </a:p>
        </p:txBody>
      </p:sp>
      <p:sp>
        <p:nvSpPr>
          <p:cNvPr id="29" name="Text 27"/>
          <p:cNvSpPr txBox="1"/>
          <p:nvPr/>
        </p:nvSpPr>
        <p:spPr>
          <a:xfrm>
            <a:off x="2596896" y="2377440"/>
            <a:ext cx="109728" cy="256032"/>
          </a:xfrm>
          <a:prstGeom prst="rect">
            <a:avLst/>
          </a:prstGeom>
          <a:noFill/>
          <a:ln/>
        </p:spPr>
        <p:txBody>
          <a:bodyPr wrap="square" lIns="0" tIns="0" rIns="0" bIns="0" rtlCol="0" anchor="ctr"/>
          <a:lstStyle/>
          <a:p>
            <a:pPr algn="ctr" indent="0" marL="0">
              <a:buNone/>
            </a:pPr>
            <a:r>
              <a:rPr lang="en-US" sz="1000" b="1" dirty="0">
                <a:solidFill>
                  <a:srgbClr val="7C8798"/>
                </a:solidFill>
                <a:latin typeface="Calibri" pitchFamily="34" charset="0"/>
                <a:ea typeface="Calibri" pitchFamily="34" charset="-122"/>
                <a:cs typeface="Calibri" pitchFamily="34" charset="-120"/>
              </a:rPr>
              <a:t>&gt;</a:t>
            </a:r>
            <a:endParaRPr lang="en-US" sz="1000" dirty="0"/>
          </a:p>
        </p:txBody>
      </p:sp>
      <p:sp>
        <p:nvSpPr>
          <p:cNvPr id="30" name="Shape 28"/>
          <p:cNvSpPr/>
          <p:nvPr/>
        </p:nvSpPr>
        <p:spPr>
          <a:xfrm>
            <a:off x="2697480" y="2029968"/>
            <a:ext cx="2194560" cy="950976"/>
          </a:xfrm>
          <a:prstGeom prst="roundRect">
            <a:avLst>
              <a:gd name="adj" fmla="val 3846"/>
            </a:avLst>
          </a:prstGeom>
          <a:solidFill>
            <a:srgbClr val="EAF0F5"/>
          </a:solidFill>
          <a:ln w="12700">
            <a:solidFill>
              <a:srgbClr val="3E6686"/>
            </a:solidFill>
            <a:prstDash val="solid"/>
          </a:ln>
        </p:spPr>
      </p:sp>
      <p:sp>
        <p:nvSpPr>
          <p:cNvPr id="31" name="Shape 29"/>
          <p:cNvSpPr/>
          <p:nvPr/>
        </p:nvSpPr>
        <p:spPr>
          <a:xfrm>
            <a:off x="2697480" y="2029968"/>
            <a:ext cx="2194560" cy="50292"/>
          </a:xfrm>
          <a:prstGeom prst="rect">
            <a:avLst/>
          </a:prstGeom>
          <a:solidFill>
            <a:srgbClr val="3E6686"/>
          </a:solidFill>
          <a:ln w="12700">
            <a:solidFill>
              <a:srgbClr val="333333"/>
            </a:solidFill>
            <a:prstDash val="solid"/>
          </a:ln>
        </p:spPr>
      </p:sp>
      <p:sp>
        <p:nvSpPr>
          <p:cNvPr id="32" name="Text 30"/>
          <p:cNvSpPr txBox="1"/>
          <p:nvPr/>
        </p:nvSpPr>
        <p:spPr>
          <a:xfrm>
            <a:off x="2807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Establish requirements</a:t>
            </a:r>
            <a:endParaRPr lang="en-US" sz="860" dirty="0"/>
          </a:p>
        </p:txBody>
      </p:sp>
      <p:sp>
        <p:nvSpPr>
          <p:cNvPr id="33" name="Text 31"/>
          <p:cNvSpPr txBox="1"/>
          <p:nvPr/>
        </p:nvSpPr>
        <p:spPr>
          <a:xfrm>
            <a:off x="2807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AI copilot asks the catalogue questions and explains why each is needed.</a:t>
            </a:r>
            <a:endParaRPr lang="en-US" sz="760" dirty="0"/>
          </a:p>
        </p:txBody>
      </p:sp>
      <p:sp>
        <p:nvSpPr>
          <p:cNvPr id="34" name="Text 32"/>
          <p:cNvSpPr txBox="1"/>
          <p:nvPr/>
        </p:nvSpPr>
        <p:spPr>
          <a:xfrm>
            <a:off x="2807208" y="2779776"/>
            <a:ext cx="1975104" cy="146304"/>
          </a:xfrm>
          <a:prstGeom prst="rect">
            <a:avLst/>
          </a:prstGeom>
          <a:noFill/>
          <a:ln/>
        </p:spPr>
        <p:txBody>
          <a:bodyPr wrap="square" lIns="0" tIns="0" rIns="0" bIns="0" rtlCol="0" anchor="ctr"/>
          <a:lstStyle/>
          <a:p>
            <a:pPr indent="0" marL="0">
              <a:buNone/>
            </a:pPr>
            <a:r>
              <a:rPr lang="en-US" sz="630" b="1" spc="90" kern="0" dirty="0">
                <a:solidFill>
                  <a:srgbClr val="3E6686"/>
                </a:solidFill>
                <a:latin typeface="Calibri" pitchFamily="34" charset="0"/>
                <a:ea typeface="Calibri" pitchFamily="34" charset="-122"/>
                <a:cs typeface="Calibri" pitchFamily="34" charset="-120"/>
              </a:rPr>
              <a:t>SHARED</a:t>
            </a:r>
            <a:endParaRPr lang="en-US" sz="630" dirty="0"/>
          </a:p>
        </p:txBody>
      </p:sp>
      <p:sp>
        <p:nvSpPr>
          <p:cNvPr id="35" name="Text 33"/>
          <p:cNvSpPr txBox="1"/>
          <p:nvPr/>
        </p:nvSpPr>
        <p:spPr>
          <a:xfrm>
            <a:off x="4882896" y="2377440"/>
            <a:ext cx="109728" cy="256032"/>
          </a:xfrm>
          <a:prstGeom prst="rect">
            <a:avLst/>
          </a:prstGeom>
          <a:noFill/>
          <a:ln/>
        </p:spPr>
        <p:txBody>
          <a:bodyPr wrap="square" lIns="0" tIns="0" rIns="0" bIns="0" rtlCol="0" anchor="ctr"/>
          <a:lstStyle/>
          <a:p>
            <a:pPr algn="ctr" indent="0" marL="0">
              <a:buNone/>
            </a:pPr>
            <a:r>
              <a:rPr lang="en-US" sz="1000" b="1" dirty="0">
                <a:solidFill>
                  <a:srgbClr val="7C8798"/>
                </a:solidFill>
                <a:latin typeface="Calibri" pitchFamily="34" charset="0"/>
                <a:ea typeface="Calibri" pitchFamily="34" charset="-122"/>
                <a:cs typeface="Calibri" pitchFamily="34" charset="-120"/>
              </a:rPr>
              <a:t>&gt;</a:t>
            </a:r>
            <a:endParaRPr lang="en-US" sz="1000" dirty="0"/>
          </a:p>
        </p:txBody>
      </p:sp>
      <p:sp>
        <p:nvSpPr>
          <p:cNvPr id="36" name="Shape 34"/>
          <p:cNvSpPr/>
          <p:nvPr/>
        </p:nvSpPr>
        <p:spPr>
          <a:xfrm>
            <a:off x="4983480" y="2029968"/>
            <a:ext cx="2194560" cy="950976"/>
          </a:xfrm>
          <a:prstGeom prst="roundRect">
            <a:avLst>
              <a:gd name="adj" fmla="val 3846"/>
            </a:avLst>
          </a:prstGeom>
          <a:solidFill>
            <a:srgbClr val="E9EEF4"/>
          </a:solidFill>
          <a:ln w="12700">
            <a:solidFill>
              <a:srgbClr val="15304F"/>
            </a:solidFill>
            <a:prstDash val="solid"/>
          </a:ln>
        </p:spPr>
      </p:sp>
      <p:sp>
        <p:nvSpPr>
          <p:cNvPr id="37" name="Shape 35"/>
          <p:cNvSpPr/>
          <p:nvPr/>
        </p:nvSpPr>
        <p:spPr>
          <a:xfrm>
            <a:off x="4983480" y="2029968"/>
            <a:ext cx="2194560" cy="50292"/>
          </a:xfrm>
          <a:prstGeom prst="rect">
            <a:avLst/>
          </a:prstGeom>
          <a:solidFill>
            <a:srgbClr val="15304F"/>
          </a:solidFill>
          <a:ln w="12700">
            <a:solidFill>
              <a:srgbClr val="333333"/>
            </a:solidFill>
            <a:prstDash val="solid"/>
          </a:ln>
        </p:spPr>
      </p:sp>
      <p:sp>
        <p:nvSpPr>
          <p:cNvPr id="38" name="Text 36"/>
          <p:cNvSpPr txBox="1"/>
          <p:nvPr/>
        </p:nvSpPr>
        <p:spPr>
          <a:xfrm>
            <a:off x="5093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Build &amp; configure</a:t>
            </a:r>
            <a:endParaRPr lang="en-US" sz="860" dirty="0"/>
          </a:p>
        </p:txBody>
      </p:sp>
      <p:sp>
        <p:nvSpPr>
          <p:cNvPr id="39" name="Text 37"/>
          <p:cNvSpPr txBox="1"/>
          <p:nvPr/>
        </p:nvSpPr>
        <p:spPr>
          <a:xfrm>
            <a:off x="5093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ECM artefacts generated from the matched pattern.</a:t>
            </a:r>
            <a:endParaRPr lang="en-US" sz="760" dirty="0"/>
          </a:p>
        </p:txBody>
      </p:sp>
      <p:sp>
        <p:nvSpPr>
          <p:cNvPr id="40" name="Text 38"/>
          <p:cNvSpPr txBox="1"/>
          <p:nvPr/>
        </p:nvSpPr>
        <p:spPr>
          <a:xfrm>
            <a:off x="5093208" y="2779776"/>
            <a:ext cx="1975104" cy="146304"/>
          </a:xfrm>
          <a:prstGeom prst="rect">
            <a:avLst/>
          </a:prstGeom>
          <a:noFill/>
          <a:ln/>
        </p:spPr>
        <p:txBody>
          <a:bodyPr wrap="square" lIns="0" tIns="0" rIns="0" bIns="0" rtlCol="0" anchor="ctr"/>
          <a:lstStyle/>
          <a:p>
            <a:pPr indent="0" marL="0">
              <a:buNone/>
            </a:pPr>
            <a:r>
              <a:rPr lang="en-US" sz="630" b="1" spc="90" kern="0" dirty="0">
                <a:solidFill>
                  <a:srgbClr val="15304F"/>
                </a:solidFill>
                <a:latin typeface="Calibri" pitchFamily="34" charset="0"/>
                <a:ea typeface="Calibri" pitchFamily="34" charset="-122"/>
                <a:cs typeface="Calibri" pitchFamily="34" charset="-120"/>
              </a:rPr>
              <a:t>ECM DRIVES</a:t>
            </a:r>
            <a:endParaRPr lang="en-US" sz="630" dirty="0"/>
          </a:p>
        </p:txBody>
      </p:sp>
      <p:sp>
        <p:nvSpPr>
          <p:cNvPr id="41" name="Text 39"/>
          <p:cNvSpPr txBox="1"/>
          <p:nvPr/>
        </p:nvSpPr>
        <p:spPr>
          <a:xfrm>
            <a:off x="7168896" y="2377440"/>
            <a:ext cx="109728" cy="256032"/>
          </a:xfrm>
          <a:prstGeom prst="rect">
            <a:avLst/>
          </a:prstGeom>
          <a:noFill/>
          <a:ln/>
        </p:spPr>
        <p:txBody>
          <a:bodyPr wrap="square" lIns="0" tIns="0" rIns="0" bIns="0" rtlCol="0" anchor="ctr"/>
          <a:lstStyle/>
          <a:p>
            <a:pPr algn="ctr" indent="0" marL="0">
              <a:buNone/>
            </a:pPr>
            <a:r>
              <a:rPr lang="en-US" sz="1000" b="1" dirty="0">
                <a:solidFill>
                  <a:srgbClr val="7C8798"/>
                </a:solidFill>
                <a:latin typeface="Calibri" pitchFamily="34" charset="0"/>
                <a:ea typeface="Calibri" pitchFamily="34" charset="-122"/>
                <a:cs typeface="Calibri" pitchFamily="34" charset="-120"/>
              </a:rPr>
              <a:t>&gt;</a:t>
            </a:r>
            <a:endParaRPr lang="en-US" sz="1000" dirty="0"/>
          </a:p>
        </p:txBody>
      </p:sp>
      <p:sp>
        <p:nvSpPr>
          <p:cNvPr id="42" name="Shape 40"/>
          <p:cNvSpPr/>
          <p:nvPr/>
        </p:nvSpPr>
        <p:spPr>
          <a:xfrm>
            <a:off x="7269480" y="2029968"/>
            <a:ext cx="2194560" cy="950976"/>
          </a:xfrm>
          <a:prstGeom prst="roundRect">
            <a:avLst>
              <a:gd name="adj" fmla="val 3846"/>
            </a:avLst>
          </a:prstGeom>
          <a:solidFill>
            <a:srgbClr val="E9EEF4"/>
          </a:solidFill>
          <a:ln w="12700">
            <a:solidFill>
              <a:srgbClr val="15304F"/>
            </a:solidFill>
            <a:prstDash val="solid"/>
          </a:ln>
        </p:spPr>
      </p:sp>
      <p:sp>
        <p:nvSpPr>
          <p:cNvPr id="43" name="Shape 41"/>
          <p:cNvSpPr/>
          <p:nvPr/>
        </p:nvSpPr>
        <p:spPr>
          <a:xfrm>
            <a:off x="7269480" y="2029968"/>
            <a:ext cx="2194560" cy="50292"/>
          </a:xfrm>
          <a:prstGeom prst="rect">
            <a:avLst/>
          </a:prstGeom>
          <a:solidFill>
            <a:srgbClr val="15304F"/>
          </a:solidFill>
          <a:ln w="12700">
            <a:solidFill>
              <a:srgbClr val="333333"/>
            </a:solidFill>
            <a:prstDash val="solid"/>
          </a:ln>
        </p:spPr>
      </p:sp>
      <p:sp>
        <p:nvSpPr>
          <p:cNvPr id="44" name="Text 42"/>
          <p:cNvSpPr txBox="1"/>
          <p:nvPr/>
        </p:nvSpPr>
        <p:spPr>
          <a:xfrm>
            <a:off x="7379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Clear the gates</a:t>
            </a:r>
            <a:endParaRPr lang="en-US" sz="860" dirty="0"/>
          </a:p>
        </p:txBody>
      </p:sp>
      <p:sp>
        <p:nvSpPr>
          <p:cNvPr id="45" name="Text 43"/>
          <p:cNvSpPr txBox="1"/>
          <p:nvPr/>
        </p:nvSpPr>
        <p:spPr>
          <a:xfrm>
            <a:off x="7379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ECM gates enforced by the gate engine; external gates still manual.</a:t>
            </a:r>
            <a:endParaRPr lang="en-US" sz="760" dirty="0"/>
          </a:p>
        </p:txBody>
      </p:sp>
      <p:sp>
        <p:nvSpPr>
          <p:cNvPr id="46" name="Text 44"/>
          <p:cNvSpPr txBox="1"/>
          <p:nvPr/>
        </p:nvSpPr>
        <p:spPr>
          <a:xfrm>
            <a:off x="7379208" y="2779776"/>
            <a:ext cx="1975104" cy="146304"/>
          </a:xfrm>
          <a:prstGeom prst="rect">
            <a:avLst/>
          </a:prstGeom>
          <a:noFill/>
          <a:ln/>
        </p:spPr>
        <p:txBody>
          <a:bodyPr wrap="square" lIns="0" tIns="0" rIns="0" bIns="0" rtlCol="0" anchor="ctr"/>
          <a:lstStyle/>
          <a:p>
            <a:pPr indent="0" marL="0">
              <a:buNone/>
            </a:pPr>
            <a:r>
              <a:rPr lang="en-US" sz="630" b="1" spc="90" kern="0" dirty="0">
                <a:solidFill>
                  <a:srgbClr val="15304F"/>
                </a:solidFill>
                <a:latin typeface="Calibri" pitchFamily="34" charset="0"/>
                <a:ea typeface="Calibri" pitchFamily="34" charset="-122"/>
                <a:cs typeface="Calibri" pitchFamily="34" charset="-120"/>
              </a:rPr>
              <a:t>ECM DRIVES</a:t>
            </a:r>
            <a:endParaRPr lang="en-US" sz="630" dirty="0"/>
          </a:p>
        </p:txBody>
      </p:sp>
      <p:sp>
        <p:nvSpPr>
          <p:cNvPr id="47" name="Text 45"/>
          <p:cNvSpPr txBox="1"/>
          <p:nvPr/>
        </p:nvSpPr>
        <p:spPr>
          <a:xfrm>
            <a:off x="9454896" y="2377440"/>
            <a:ext cx="109728" cy="256032"/>
          </a:xfrm>
          <a:prstGeom prst="rect">
            <a:avLst/>
          </a:prstGeom>
          <a:noFill/>
          <a:ln/>
        </p:spPr>
        <p:txBody>
          <a:bodyPr wrap="square" lIns="0" tIns="0" rIns="0" bIns="0" rtlCol="0" anchor="ctr"/>
          <a:lstStyle/>
          <a:p>
            <a:pPr algn="ctr" indent="0" marL="0">
              <a:buNone/>
            </a:pPr>
            <a:r>
              <a:rPr lang="en-US" sz="1000" b="1" dirty="0">
                <a:solidFill>
                  <a:srgbClr val="7C8798"/>
                </a:solidFill>
                <a:latin typeface="Calibri" pitchFamily="34" charset="0"/>
                <a:ea typeface="Calibri" pitchFamily="34" charset="-122"/>
                <a:cs typeface="Calibri" pitchFamily="34" charset="-120"/>
              </a:rPr>
              <a:t>&gt;</a:t>
            </a:r>
            <a:endParaRPr lang="en-US" sz="1000" dirty="0"/>
          </a:p>
        </p:txBody>
      </p:sp>
      <p:sp>
        <p:nvSpPr>
          <p:cNvPr id="48" name="Shape 46"/>
          <p:cNvSpPr/>
          <p:nvPr/>
        </p:nvSpPr>
        <p:spPr>
          <a:xfrm>
            <a:off x="9555480" y="2029968"/>
            <a:ext cx="2194560" cy="950976"/>
          </a:xfrm>
          <a:prstGeom prst="roundRect">
            <a:avLst>
              <a:gd name="adj" fmla="val 3846"/>
            </a:avLst>
          </a:prstGeom>
          <a:solidFill>
            <a:srgbClr val="E9EEF4"/>
          </a:solidFill>
          <a:ln w="12700">
            <a:solidFill>
              <a:srgbClr val="15304F"/>
            </a:solidFill>
            <a:prstDash val="solid"/>
          </a:ln>
        </p:spPr>
      </p:sp>
      <p:sp>
        <p:nvSpPr>
          <p:cNvPr id="49" name="Shape 47"/>
          <p:cNvSpPr/>
          <p:nvPr/>
        </p:nvSpPr>
        <p:spPr>
          <a:xfrm>
            <a:off x="9555480" y="2029968"/>
            <a:ext cx="2194560" cy="50292"/>
          </a:xfrm>
          <a:prstGeom prst="rect">
            <a:avLst/>
          </a:prstGeom>
          <a:solidFill>
            <a:srgbClr val="15304F"/>
          </a:solidFill>
          <a:ln w="12700">
            <a:solidFill>
              <a:srgbClr val="333333"/>
            </a:solidFill>
            <a:prstDash val="solid"/>
          </a:ln>
        </p:spPr>
      </p:sp>
      <p:sp>
        <p:nvSpPr>
          <p:cNvPr id="50" name="Text 48"/>
          <p:cNvSpPr txBox="1"/>
          <p:nvPr/>
        </p:nvSpPr>
        <p:spPr>
          <a:xfrm>
            <a:off x="9665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Go live &amp; support</a:t>
            </a:r>
            <a:endParaRPr lang="en-US" sz="860" dirty="0"/>
          </a:p>
        </p:txBody>
      </p:sp>
      <p:sp>
        <p:nvSpPr>
          <p:cNvPr id="51" name="Text 49"/>
          <p:cNvSpPr txBox="1"/>
          <p:nvPr/>
        </p:nvSpPr>
        <p:spPr>
          <a:xfrm>
            <a:off x="9665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ECM-led, but with live state visible to the partner.</a:t>
            </a:r>
            <a:endParaRPr lang="en-US" sz="760" dirty="0"/>
          </a:p>
        </p:txBody>
      </p:sp>
      <p:sp>
        <p:nvSpPr>
          <p:cNvPr id="52" name="Text 50"/>
          <p:cNvSpPr txBox="1"/>
          <p:nvPr/>
        </p:nvSpPr>
        <p:spPr>
          <a:xfrm>
            <a:off x="9665208" y="2779776"/>
            <a:ext cx="1975104" cy="146304"/>
          </a:xfrm>
          <a:prstGeom prst="rect">
            <a:avLst/>
          </a:prstGeom>
          <a:noFill/>
          <a:ln/>
        </p:spPr>
        <p:txBody>
          <a:bodyPr wrap="square" lIns="0" tIns="0" rIns="0" bIns="0" rtlCol="0" anchor="ctr"/>
          <a:lstStyle/>
          <a:p>
            <a:pPr indent="0" marL="0">
              <a:buNone/>
            </a:pPr>
            <a:r>
              <a:rPr lang="en-US" sz="630" b="1" spc="90" kern="0" dirty="0">
                <a:solidFill>
                  <a:srgbClr val="15304F"/>
                </a:solidFill>
                <a:latin typeface="Calibri" pitchFamily="34" charset="0"/>
                <a:ea typeface="Calibri" pitchFamily="34" charset="-122"/>
                <a:cs typeface="Calibri" pitchFamily="34" charset="-120"/>
              </a:rPr>
              <a:t>ECM DRIVES</a:t>
            </a:r>
            <a:endParaRPr lang="en-US" sz="630" dirty="0"/>
          </a:p>
        </p:txBody>
      </p:sp>
      <p:sp>
        <p:nvSpPr>
          <p:cNvPr id="53" name="Text 51"/>
          <p:cNvSpPr txBox="1"/>
          <p:nvPr/>
        </p:nvSpPr>
        <p:spPr>
          <a:xfrm>
            <a:off x="411480" y="3127248"/>
            <a:ext cx="548640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WHAT CHANGES IN THIS PHASE</a:t>
            </a:r>
            <a:endParaRPr lang="en-US" sz="760" dirty="0"/>
          </a:p>
        </p:txBody>
      </p:sp>
      <p:sp>
        <p:nvSpPr>
          <p:cNvPr id="54" name="Text 52"/>
          <p:cNvSpPr txBox="1"/>
          <p:nvPr/>
        </p:nvSpPr>
        <p:spPr>
          <a:xfrm>
            <a:off x="6172200" y="3127248"/>
            <a:ext cx="548640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AUTOMATION, AI AND AGENTIC CAPABILITY</a:t>
            </a:r>
            <a:endParaRPr lang="en-US" sz="760" dirty="0"/>
          </a:p>
        </p:txBody>
      </p:sp>
      <p:sp>
        <p:nvSpPr>
          <p:cNvPr id="55" name="Shape 53"/>
          <p:cNvSpPr/>
          <p:nvPr/>
        </p:nvSpPr>
        <p:spPr>
          <a:xfrm>
            <a:off x="411480" y="3328416"/>
            <a:ext cx="5577840" cy="1627632"/>
          </a:xfrm>
          <a:prstGeom prst="roundRect">
            <a:avLst>
              <a:gd name="adj" fmla="val 2809"/>
            </a:avLst>
          </a:prstGeom>
          <a:solidFill>
            <a:srgbClr val="FFFFFF"/>
          </a:solidFill>
          <a:ln w="15875">
            <a:solidFill>
              <a:srgbClr val="3E6686"/>
            </a:solidFill>
            <a:prstDash val="solid"/>
          </a:ln>
          <a:effectLst>
            <a:outerShdw sx="100000" sy="100000" kx="0" ky="0" algn="bl" rotWithShape="0" blurRad="88900" dist="12700" dir="5400000">
              <a:srgbClr val="97A3B4">
                <a:alpha val="16000"/>
              </a:srgbClr>
            </a:outerShdw>
          </a:effectLst>
        </p:spPr>
      </p:sp>
      <p:sp>
        <p:nvSpPr>
          <p:cNvPr id="56" name="Text 54"/>
          <p:cNvSpPr txBox="1"/>
          <p:nvPr/>
        </p:nvSpPr>
        <p:spPr>
          <a:xfrm>
            <a:off x="557784" y="3456432"/>
            <a:ext cx="5285232" cy="310896"/>
          </a:xfrm>
          <a:prstGeom prst="rect">
            <a:avLst/>
          </a:prstGeom>
          <a:noFill/>
          <a:ln/>
        </p:spPr>
        <p:txBody>
          <a:bodyPr wrap="square" lIns="0" tIns="0" rIns="0" bIns="0" rtlCol="0" anchor="t"/>
          <a:lstStyle/>
          <a:p>
            <a:pPr indent="0" marL="0">
              <a:lnSpc>
                <a:spcPts val="1300"/>
              </a:lnSpc>
              <a:buNone/>
            </a:pPr>
            <a:r>
              <a:rPr lang="en-US" sz="1050" b="1" dirty="0">
                <a:solidFill>
                  <a:srgbClr val="1B2432"/>
                </a:solidFill>
                <a:latin typeface="Calibri" pitchFamily="34" charset="0"/>
                <a:ea typeface="Calibri" pitchFamily="34" charset="-122"/>
                <a:cs typeface="Calibri" pitchFamily="34" charset="-120"/>
              </a:rPr>
              <a:t>Everything inside the ECM perimeter</a:t>
            </a:r>
            <a:endParaRPr lang="en-US" sz="1050" dirty="0"/>
          </a:p>
        </p:txBody>
      </p:sp>
      <p:sp>
        <p:nvSpPr>
          <p:cNvPr id="57" name="Text 55"/>
          <p:cNvSpPr txBox="1"/>
          <p:nvPr/>
        </p:nvSpPr>
        <p:spPr>
          <a:xfrm>
            <a:off x="557784" y="3767328"/>
            <a:ext cx="5285232" cy="1042416"/>
          </a:xfrm>
          <a:prstGeom prst="rect">
            <a:avLst/>
          </a:prstGeom>
          <a:noFill/>
          <a:ln/>
        </p:spPr>
        <p:txBody>
          <a:bodyPr wrap="square" lIns="0" tIns="0" rIns="0" bIns="0" rtlCol="0" anchor="t"/>
          <a:lstStyle/>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Guided intake with the why-register — completeness enforced at source rather than discovered in week six.</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Gap register that ages open items, chases owners and escalates on the due date.</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Tiering assistant scores the determinants and proposes a tier; the lead still decides.</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Pattern matcher and automatic scope derivation from the catalogue seeded in Phase 1.</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ECM artefacts generated: repository definitions, metadata mappings, retention bindings, configuration.</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Partner cockpit — read-only state, open gaps, next action and due dates.</a:t>
            </a:r>
            <a:endParaRPr lang="en-US" sz="820" dirty="0"/>
          </a:p>
        </p:txBody>
      </p:sp>
      <p:sp>
        <p:nvSpPr>
          <p:cNvPr id="58" name="Shape 56"/>
          <p:cNvSpPr/>
          <p:nvPr/>
        </p:nvSpPr>
        <p:spPr>
          <a:xfrm>
            <a:off x="6172200" y="3328416"/>
            <a:ext cx="5577840" cy="1627632"/>
          </a:xfrm>
          <a:prstGeom prst="roundRect">
            <a:avLst>
              <a:gd name="adj" fmla="val 2809"/>
            </a:avLst>
          </a:prstGeom>
          <a:solidFill>
            <a:srgbClr val="EAF0F5"/>
          </a:solidFill>
          <a:ln w="15875">
            <a:solidFill>
              <a:srgbClr val="3E6686"/>
            </a:solidFill>
            <a:prstDash val="solid"/>
          </a:ln>
          <a:effectLst>
            <a:outerShdw sx="100000" sy="100000" kx="0" ky="0" algn="bl" rotWithShape="0" blurRad="88900" dist="12700" dir="5400000">
              <a:srgbClr val="97A3B4">
                <a:alpha val="16000"/>
              </a:srgbClr>
            </a:outerShdw>
          </a:effectLst>
        </p:spPr>
      </p:sp>
      <p:sp>
        <p:nvSpPr>
          <p:cNvPr id="59" name="Text 57"/>
          <p:cNvSpPr txBox="1"/>
          <p:nvPr/>
        </p:nvSpPr>
        <p:spPr>
          <a:xfrm>
            <a:off x="6318504" y="3456432"/>
            <a:ext cx="5285232" cy="310896"/>
          </a:xfrm>
          <a:prstGeom prst="rect">
            <a:avLst/>
          </a:prstGeom>
          <a:noFill/>
          <a:ln/>
        </p:spPr>
        <p:txBody>
          <a:bodyPr wrap="square" lIns="0" tIns="0" rIns="0" bIns="0" rtlCol="0" anchor="t"/>
          <a:lstStyle/>
          <a:p>
            <a:pPr indent="0" marL="0">
              <a:lnSpc>
                <a:spcPts val="1300"/>
              </a:lnSpc>
              <a:buNone/>
            </a:pPr>
            <a:r>
              <a:rPr lang="en-US" sz="1050" b="1" dirty="0">
                <a:solidFill>
                  <a:srgbClr val="1B2432"/>
                </a:solidFill>
                <a:latin typeface="Calibri" pitchFamily="34" charset="0"/>
                <a:ea typeface="Calibri" pitchFamily="34" charset="-122"/>
                <a:cs typeface="Calibri" pitchFamily="34" charset="-120"/>
              </a:rPr>
              <a:t>Agentic, with authority that stops at the perimeter</a:t>
            </a:r>
            <a:endParaRPr lang="en-US" sz="1050" dirty="0"/>
          </a:p>
        </p:txBody>
      </p:sp>
      <p:sp>
        <p:nvSpPr>
          <p:cNvPr id="60" name="Text 58"/>
          <p:cNvSpPr txBox="1"/>
          <p:nvPr/>
        </p:nvSpPr>
        <p:spPr>
          <a:xfrm>
            <a:off x="6318504" y="3767328"/>
            <a:ext cx="5285232" cy="1042416"/>
          </a:xfrm>
          <a:prstGeom prst="rect">
            <a:avLst/>
          </a:prstGeom>
          <a:noFill/>
          <a:ln/>
        </p:spPr>
        <p:txBody>
          <a:bodyPr wrap="square" lIns="0" tIns="0" rIns="0" bIns="0" rtlCol="0" anchor="t"/>
          <a:lstStyle/>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An Onboard360AI orchestrator with sub-agents bounded strictly by the ECM perimeter: intake copilot, completeness agent, tiering assistant, pattern matcher, scope composer, artefact generator, gate checker.</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The authority boundary is architectural, not a setting: agents propose and prepare, a named person decides, and anything irreversible or compliance-bearing takes a second explicit authorisation.</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No agent holds a credential that can promote, approve or clear. If one is wrong, the blast radius is a bad proposal that a person rejects.</a:t>
            </a:r>
            <a:endParaRPr lang="en-US" sz="820" dirty="0"/>
          </a:p>
        </p:txBody>
      </p:sp>
      <p:sp>
        <p:nvSpPr>
          <p:cNvPr id="61" name="Shape 59"/>
          <p:cNvSpPr/>
          <p:nvPr/>
        </p:nvSpPr>
        <p:spPr>
          <a:xfrm>
            <a:off x="411480" y="5084064"/>
            <a:ext cx="6675120" cy="1499616"/>
          </a:xfrm>
          <a:prstGeom prst="roundRect">
            <a:avLst>
              <a:gd name="adj" fmla="val 3049"/>
            </a:avLst>
          </a:prstGeom>
          <a:solidFill>
            <a:srgbClr val="FFFFFF"/>
          </a:solidFill>
          <a:ln w="14605">
            <a:solidFill>
              <a:srgbClr val="3E6686"/>
            </a:solidFill>
            <a:prstDash val="solid"/>
          </a:ln>
          <a:effectLst>
            <a:outerShdw sx="100000" sy="100000" kx="0" ky="0" algn="bl" rotWithShape="0" blurRad="88900" dist="12700" dir="5400000">
              <a:srgbClr val="97A3B4">
                <a:alpha val="16000"/>
              </a:srgbClr>
            </a:outerShdw>
          </a:effectLst>
        </p:spPr>
      </p:sp>
      <p:sp>
        <p:nvSpPr>
          <p:cNvPr id="62" name="Shape 60"/>
          <p:cNvSpPr/>
          <p:nvPr/>
        </p:nvSpPr>
        <p:spPr>
          <a:xfrm>
            <a:off x="411480" y="5084064"/>
            <a:ext cx="6675120" cy="50292"/>
          </a:xfrm>
          <a:prstGeom prst="rect">
            <a:avLst/>
          </a:prstGeom>
          <a:solidFill>
            <a:srgbClr val="3E6686"/>
          </a:solidFill>
          <a:ln w="12700">
            <a:solidFill>
              <a:srgbClr val="333333"/>
            </a:solidFill>
            <a:prstDash val="solid"/>
          </a:ln>
        </p:spPr>
      </p:sp>
      <p:sp>
        <p:nvSpPr>
          <p:cNvPr id="63" name="Text 61"/>
          <p:cNvSpPr txBox="1"/>
          <p:nvPr/>
        </p:nvSpPr>
        <p:spPr>
          <a:xfrm>
            <a:off x="530352" y="5202936"/>
            <a:ext cx="6437376" cy="164592"/>
          </a:xfrm>
          <a:prstGeom prst="rect">
            <a:avLst/>
          </a:prstGeom>
          <a:noFill/>
          <a:ln/>
        </p:spPr>
        <p:txBody>
          <a:bodyPr wrap="square" lIns="0" tIns="0" rIns="0" bIns="0" rtlCol="0" anchor="ctr"/>
          <a:lstStyle/>
          <a:p>
            <a:pPr indent="0" marL="0">
              <a:buNone/>
            </a:pPr>
            <a:r>
              <a:rPr lang="en-US" sz="690" b="1" spc="110" kern="0" dirty="0">
                <a:solidFill>
                  <a:srgbClr val="3E6686"/>
                </a:solidFill>
                <a:latin typeface="Calibri" pitchFamily="34" charset="0"/>
                <a:ea typeface="Calibri" pitchFamily="34" charset="-122"/>
                <a:cs typeface="Calibri" pitchFamily="34" charset="-120"/>
              </a:rPr>
              <a:t>P2 VALUE ADD</a:t>
            </a:r>
            <a:endParaRPr lang="en-US" sz="690" dirty="0"/>
          </a:p>
        </p:txBody>
      </p:sp>
      <p:sp>
        <p:nvSpPr>
          <p:cNvPr id="64" name="Text 62"/>
          <p:cNvSpPr txBox="1"/>
          <p:nvPr/>
        </p:nvSpPr>
        <p:spPr>
          <a:xfrm>
            <a:off x="530352" y="5376672"/>
            <a:ext cx="6437376" cy="219456"/>
          </a:xfrm>
          <a:prstGeom prst="rect">
            <a:avLst/>
          </a:prstGeom>
          <a:noFill/>
          <a:ln/>
        </p:spPr>
        <p:txBody>
          <a:bodyPr wrap="square" lIns="0" tIns="0" rIns="0" bIns="0" rtlCol="0" anchor="t"/>
          <a:lstStyle/>
          <a:p>
            <a:pPr indent="0" marL="0">
              <a:lnSpc>
                <a:spcPts val="1140"/>
              </a:lnSpc>
              <a:buNone/>
            </a:pPr>
            <a:r>
              <a:rPr lang="en-US" sz="960" b="1" dirty="0">
                <a:solidFill>
                  <a:srgbClr val="1B2432"/>
                </a:solidFill>
                <a:latin typeface="Calibri" pitchFamily="34" charset="0"/>
                <a:ea typeface="Calibri" pitchFamily="34" charset="-122"/>
                <a:cs typeface="Calibri" pitchFamily="34" charset="-120"/>
              </a:rPr>
              <a:t>The data deficit attacked at source</a:t>
            </a:r>
            <a:endParaRPr lang="en-US" sz="960" dirty="0"/>
          </a:p>
        </p:txBody>
      </p:sp>
      <p:sp>
        <p:nvSpPr>
          <p:cNvPr id="65" name="Text 63"/>
          <p:cNvSpPr txBox="1"/>
          <p:nvPr/>
        </p:nvSpPr>
        <p:spPr>
          <a:xfrm>
            <a:off x="530352" y="5632704"/>
            <a:ext cx="6437376" cy="457200"/>
          </a:xfrm>
          <a:prstGeom prst="rect">
            <a:avLst/>
          </a:prstGeom>
          <a:noFill/>
          <a:ln/>
        </p:spPr>
        <p:txBody>
          <a:bodyPr wrap="square" lIns="0" tIns="0" rIns="0" bIns="0" rtlCol="0" anchor="t"/>
          <a:lstStyle/>
          <a:p>
            <a:pPr indent="0" marL="0">
              <a:lnSpc>
                <a:spcPts val="980"/>
              </a:lnSpc>
              <a:spcAft>
                <a:spcPts val="200"/>
              </a:spcAft>
              <a:buNone/>
            </a:pPr>
            <a:r>
              <a:rPr lang="en-US" sz="790" dirty="0">
                <a:solidFill>
                  <a:srgbClr val="55606E"/>
                </a:solidFill>
                <a:latin typeface="Calibri" pitchFamily="34" charset="0"/>
                <a:ea typeface="Calibri" pitchFamily="34" charset="-122"/>
                <a:cs typeface="Calibri" pitchFamily="34" charset="-120"/>
              </a:rPr>
              <a:t>Completeness enforced at intake — this is the intervention aimed squarely at the 31% spent chasing partner-owned inputs.</a:t>
            </a:r>
            <a:endParaRPr lang="en-US" sz="790" dirty="0"/>
          </a:p>
          <a:p>
            <a:pPr indent="0" marL="0">
              <a:lnSpc>
                <a:spcPts val="980"/>
              </a:lnSpc>
              <a:spcAft>
                <a:spcPts val="200"/>
              </a:spcAft>
              <a:buNone/>
            </a:pPr>
            <a:r>
              <a:rPr lang="en-US" sz="790" dirty="0">
                <a:solidFill>
                  <a:srgbClr val="55606E"/>
                </a:solidFill>
                <a:latin typeface="Calibri" pitchFamily="34" charset="0"/>
                <a:ea typeface="Calibri" pitchFamily="34" charset="-122"/>
                <a:cs typeface="Calibri" pitchFamily="34" charset="-120"/>
              </a:rPr>
              <a:t>ECM artefacts generated rather than assembled, which removes the clerical load Phase 1 could not touch.</a:t>
            </a:r>
            <a:endParaRPr lang="en-US" sz="790" dirty="0"/>
          </a:p>
          <a:p>
            <a:pPr indent="0" marL="0">
              <a:lnSpc>
                <a:spcPts val="980"/>
              </a:lnSpc>
              <a:spcAft>
                <a:spcPts val="200"/>
              </a:spcAft>
              <a:buNone/>
            </a:pPr>
            <a:r>
              <a:rPr lang="en-US" sz="790" dirty="0">
                <a:solidFill>
                  <a:srgbClr val="55606E"/>
                </a:solidFill>
                <a:latin typeface="Calibri" pitchFamily="34" charset="0"/>
                <a:ea typeface="Calibri" pitchFamily="34" charset="-122"/>
                <a:cs typeface="Calibri" pitchFamily="34" charset="-120"/>
              </a:rPr>
              <a:t>Three scenarios move Lean+ to Lean as self-service becomes possible on proven patterns.</a:t>
            </a:r>
            <a:endParaRPr lang="en-US" sz="790" dirty="0"/>
          </a:p>
        </p:txBody>
      </p:sp>
      <p:sp>
        <p:nvSpPr>
          <p:cNvPr id="66" name="Shape 64"/>
          <p:cNvSpPr/>
          <p:nvPr/>
        </p:nvSpPr>
        <p:spPr>
          <a:xfrm>
            <a:off x="411480" y="6163056"/>
            <a:ext cx="6675120" cy="420624"/>
          </a:xfrm>
          <a:prstGeom prst="rect">
            <a:avLst/>
          </a:prstGeom>
          <a:solidFill>
            <a:srgbClr val="ECF3EE"/>
          </a:solidFill>
          <a:ln w="12700">
            <a:solidFill>
              <a:srgbClr val="ECF3EE"/>
            </a:solidFill>
            <a:prstDash val="solid"/>
          </a:ln>
        </p:spPr>
      </p:sp>
      <p:sp>
        <p:nvSpPr>
          <p:cNvPr id="67" name="Text 65"/>
          <p:cNvSpPr txBox="1"/>
          <p:nvPr/>
        </p:nvSpPr>
        <p:spPr>
          <a:xfrm>
            <a:off x="530352" y="6181344"/>
            <a:ext cx="6437376" cy="384048"/>
          </a:xfrm>
          <a:prstGeom prst="rect">
            <a:avLst/>
          </a:prstGeom>
          <a:noFill/>
          <a:ln/>
        </p:spPr>
        <p:txBody>
          <a:bodyPr wrap="square" lIns="0" tIns="0" rIns="0" bIns="0" rtlCol="0" anchor="ctr"/>
          <a:lstStyle/>
          <a:p>
            <a:pPr indent="0" marL="0">
              <a:lnSpc>
                <a:spcPts val="900"/>
              </a:lnSpc>
              <a:buNone/>
            </a:pPr>
            <a:r>
              <a:rPr lang="en-US" sz="770" b="1" dirty="0">
                <a:solidFill>
                  <a:srgbClr val="2E6B4F"/>
                </a:solidFill>
                <a:latin typeface="Calibri" pitchFamily="34" charset="0"/>
                <a:ea typeface="Calibri" pitchFamily="34" charset="-122"/>
                <a:cs typeface="Calibri" pitchFamily="34" charset="-120"/>
              </a:rPr>
              <a:t>Better than Phase 1: effort per intake finally falls, instead of only being better aimed at the right intakes.</a:t>
            </a:r>
            <a:endParaRPr lang="en-US" sz="770" dirty="0"/>
          </a:p>
        </p:txBody>
      </p:sp>
      <p:sp>
        <p:nvSpPr>
          <p:cNvPr id="68" name="Shape 66"/>
          <p:cNvSpPr/>
          <p:nvPr/>
        </p:nvSpPr>
        <p:spPr>
          <a:xfrm>
            <a:off x="7269480" y="5084064"/>
            <a:ext cx="4480560" cy="1499616"/>
          </a:xfrm>
          <a:prstGeom prst="roundRect">
            <a:avLst>
              <a:gd name="adj" fmla="val 3049"/>
            </a:avLst>
          </a:prstGeom>
          <a:solidFill>
            <a:srgbClr val="FBF0EB"/>
          </a:solidFill>
          <a:ln w="15875">
            <a:solidFill>
              <a:srgbClr val="A44A2A"/>
            </a:solidFill>
            <a:prstDash val="solid"/>
          </a:ln>
          <a:effectLst>
            <a:outerShdw sx="100000" sy="100000" kx="0" ky="0" algn="bl" rotWithShape="0" blurRad="88900" dist="12700" dir="5400000">
              <a:srgbClr val="97A3B4">
                <a:alpha val="16000"/>
              </a:srgbClr>
            </a:outerShdw>
          </a:effectLst>
        </p:spPr>
      </p:sp>
      <p:sp>
        <p:nvSpPr>
          <p:cNvPr id="69" name="Text 67"/>
          <p:cNvSpPr txBox="1"/>
          <p:nvPr/>
        </p:nvSpPr>
        <p:spPr>
          <a:xfrm>
            <a:off x="7415784" y="5212080"/>
            <a:ext cx="4187952" cy="310896"/>
          </a:xfrm>
          <a:prstGeom prst="rect">
            <a:avLst/>
          </a:prstGeom>
          <a:noFill/>
          <a:ln/>
        </p:spPr>
        <p:txBody>
          <a:bodyPr wrap="square" lIns="0" tIns="0" rIns="0" bIns="0" rtlCol="0" anchor="t"/>
          <a:lstStyle/>
          <a:p>
            <a:pPr indent="0" marL="0">
              <a:lnSpc>
                <a:spcPts val="1300"/>
              </a:lnSpc>
              <a:buNone/>
            </a:pPr>
            <a:r>
              <a:rPr lang="en-US" sz="1050" b="1" dirty="0">
                <a:solidFill>
                  <a:srgbClr val="1B2432"/>
                </a:solidFill>
                <a:latin typeface="Calibri" pitchFamily="34" charset="0"/>
                <a:ea typeface="Calibri" pitchFamily="34" charset="-122"/>
                <a:cs typeface="Calibri" pitchFamily="34" charset="-120"/>
              </a:rPr>
              <a:t>What Phase 2 still leaves</a:t>
            </a:r>
            <a:endParaRPr lang="en-US" sz="1050" dirty="0"/>
          </a:p>
        </p:txBody>
      </p:sp>
      <p:sp>
        <p:nvSpPr>
          <p:cNvPr id="70" name="Text 68"/>
          <p:cNvSpPr txBox="1"/>
          <p:nvPr/>
        </p:nvSpPr>
        <p:spPr>
          <a:xfrm>
            <a:off x="7415784" y="5522976"/>
            <a:ext cx="4187952" cy="914400"/>
          </a:xfrm>
          <a:prstGeom prst="rect">
            <a:avLst/>
          </a:prstGeom>
          <a:noFill/>
          <a:ln/>
        </p:spPr>
        <p:txBody>
          <a:bodyPr wrap="square" lIns="0" tIns="0" rIns="0" bIns="0" rtlCol="0" anchor="t"/>
          <a:lstStyle/>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Every external hand-off is still a manual submission into another team's queue.</a:t>
            </a:r>
            <a:endParaRPr lang="en-US" sz="800" dirty="0"/>
          </a:p>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Those queues become the dominant share of elapsed time once our own effort has fallen.</a:t>
            </a:r>
            <a:endParaRPr lang="en-US" sz="800" dirty="0"/>
          </a:p>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Dedicated does not move at all — automating our work does not make a complex intake less complex.</a:t>
            </a:r>
            <a:endParaRPr lang="en-US" sz="800" dirty="0"/>
          </a:p>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Phase 2 makes ECM efficient. It does not yet make onboarding fast.</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Text 2"/>
          <p:cNvSpPr txBox="1"/>
          <p:nvPr/>
        </p:nvSpPr>
        <p:spPr>
          <a:xfrm>
            <a:off x="795528" y="219456"/>
            <a:ext cx="96926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Phase 3 — orchestrate across the boundary</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Contract-first integration with the in-house teams every onboarding depends on, so queue time stops dominating the timeline</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Phase 3</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24128"/>
            <a:ext cx="11338560" cy="658368"/>
          </a:xfrm>
          <a:prstGeom prst="roundRect">
            <a:avLst>
              <a:gd name="adj" fmla="val 6944"/>
            </a:avLst>
          </a:prstGeom>
          <a:solidFill>
            <a:srgbClr val="264E72"/>
          </a:solidFill>
          <a:ln w="12700">
            <a:solidFill>
              <a:srgbClr val="333333"/>
            </a:solidFill>
            <a:prstDash val="solid"/>
          </a:ln>
        </p:spPr>
      </p:sp>
      <p:sp>
        <p:nvSpPr>
          <p:cNvPr id="9" name="Text 7"/>
          <p:cNvSpPr txBox="1"/>
          <p:nvPr/>
        </p:nvSpPr>
        <p:spPr>
          <a:xfrm>
            <a:off x="612648" y="1106424"/>
            <a:ext cx="1828800" cy="182880"/>
          </a:xfrm>
          <a:prstGeom prst="rect">
            <a:avLst/>
          </a:prstGeom>
          <a:noFill/>
          <a:ln/>
        </p:spPr>
        <p:txBody>
          <a:bodyPr wrap="square" lIns="0" tIns="0" rIns="0" bIns="0" rtlCol="0" anchor="ctr"/>
          <a:lstStyle/>
          <a:p>
            <a:pPr indent="0" marL="0">
              <a:buNone/>
            </a:pPr>
            <a:r>
              <a:rPr lang="en-US" sz="760" b="1" spc="140" kern="0" dirty="0">
                <a:solidFill>
                  <a:srgbClr val="CBD9E6"/>
                </a:solidFill>
                <a:latin typeface="Calibri" pitchFamily="34" charset="0"/>
                <a:ea typeface="Calibri" pitchFamily="34" charset="-122"/>
                <a:cs typeface="Calibri" pitchFamily="34" charset="-120"/>
              </a:rPr>
              <a:t>PHASE 3</a:t>
            </a:r>
            <a:endParaRPr lang="en-US" sz="760" dirty="0"/>
          </a:p>
        </p:txBody>
      </p:sp>
      <p:sp>
        <p:nvSpPr>
          <p:cNvPr id="10" name="Text 8"/>
          <p:cNvSpPr txBox="1"/>
          <p:nvPr/>
        </p:nvSpPr>
        <p:spPr>
          <a:xfrm>
            <a:off x="612648" y="1280160"/>
            <a:ext cx="4754880" cy="31089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Orchestrate outward</a:t>
            </a:r>
            <a:endParaRPr lang="en-US" sz="1700" dirty="0"/>
          </a:p>
        </p:txBody>
      </p:sp>
      <p:sp>
        <p:nvSpPr>
          <p:cNvPr id="11" name="Text 9"/>
          <p:cNvSpPr txBox="1"/>
          <p:nvPr/>
        </p:nvSpPr>
        <p:spPr>
          <a:xfrm>
            <a:off x="5349240" y="1133856"/>
            <a:ext cx="1920240" cy="164592"/>
          </a:xfrm>
          <a:prstGeom prst="rect">
            <a:avLst/>
          </a:prstGeom>
          <a:noFill/>
          <a:ln/>
        </p:spPr>
        <p:txBody>
          <a:bodyPr wrap="square" lIns="0" tIns="0" rIns="0" bIns="0" rtlCol="0" anchor="ctr"/>
          <a:lstStyle/>
          <a:p>
            <a:pPr indent="0" marL="0">
              <a:buNone/>
            </a:pPr>
            <a:r>
              <a:rPr lang="en-US" sz="660" b="1" spc="100" kern="0" dirty="0">
                <a:solidFill>
                  <a:srgbClr val="9FB6CC"/>
                </a:solidFill>
                <a:latin typeface="Calibri" pitchFamily="34" charset="0"/>
                <a:ea typeface="Calibri" pitchFamily="34" charset="-122"/>
                <a:cs typeface="Calibri" pitchFamily="34" charset="-120"/>
              </a:rPr>
              <a:t>DEPENDENCY</a:t>
            </a:r>
            <a:endParaRPr lang="en-US" sz="660" dirty="0"/>
          </a:p>
        </p:txBody>
      </p:sp>
      <p:sp>
        <p:nvSpPr>
          <p:cNvPr id="12" name="Text 10"/>
          <p:cNvSpPr txBox="1"/>
          <p:nvPr/>
        </p:nvSpPr>
        <p:spPr>
          <a:xfrm>
            <a:off x="5349240" y="1298448"/>
            <a:ext cx="1920240" cy="292608"/>
          </a:xfrm>
          <a:prstGeom prst="rect">
            <a:avLst/>
          </a:prstGeom>
          <a:noFill/>
          <a:ln/>
        </p:spPr>
        <p:txBody>
          <a:bodyPr wrap="square" lIns="0" tIns="0" rIns="0" bIns="0" rtlCol="0" anchor="t"/>
          <a:lstStyle/>
          <a:p>
            <a:pPr indent="0" marL="0">
              <a:lnSpc>
                <a:spcPts val="1000"/>
              </a:lnSpc>
              <a:buNone/>
            </a:pPr>
            <a:r>
              <a:rPr lang="en-US" sz="860" b="1" dirty="0">
                <a:solidFill>
                  <a:srgbClr val="FFFFFF"/>
                </a:solidFill>
                <a:latin typeface="Calibri" pitchFamily="34" charset="0"/>
                <a:ea typeface="Calibri" pitchFamily="34" charset="-122"/>
                <a:cs typeface="Calibri" pitchFamily="34" charset="-120"/>
              </a:rPr>
              <a:t>In-house partner teams</a:t>
            </a:r>
            <a:endParaRPr lang="en-US" sz="860" dirty="0"/>
          </a:p>
        </p:txBody>
      </p:sp>
      <p:sp>
        <p:nvSpPr>
          <p:cNvPr id="13" name="Text 11"/>
          <p:cNvSpPr txBox="1"/>
          <p:nvPr/>
        </p:nvSpPr>
        <p:spPr>
          <a:xfrm>
            <a:off x="7415784" y="1133856"/>
            <a:ext cx="1920240" cy="164592"/>
          </a:xfrm>
          <a:prstGeom prst="rect">
            <a:avLst/>
          </a:prstGeom>
          <a:noFill/>
          <a:ln/>
        </p:spPr>
        <p:txBody>
          <a:bodyPr wrap="square" lIns="0" tIns="0" rIns="0" bIns="0" rtlCol="0" anchor="ctr"/>
          <a:lstStyle/>
          <a:p>
            <a:pPr indent="0" marL="0">
              <a:buNone/>
            </a:pPr>
            <a:r>
              <a:rPr lang="en-US" sz="660" b="1" spc="100" kern="0" dirty="0">
                <a:solidFill>
                  <a:srgbClr val="9FB6CC"/>
                </a:solidFill>
                <a:latin typeface="Calibri" pitchFamily="34" charset="0"/>
                <a:ea typeface="Calibri" pitchFamily="34" charset="-122"/>
                <a:cs typeface="Calibri" pitchFamily="34" charset="-120"/>
              </a:rPr>
              <a:t>BUILDS</a:t>
            </a:r>
            <a:endParaRPr lang="en-US" sz="660" dirty="0"/>
          </a:p>
        </p:txBody>
      </p:sp>
      <p:sp>
        <p:nvSpPr>
          <p:cNvPr id="14" name="Text 12"/>
          <p:cNvSpPr txBox="1"/>
          <p:nvPr/>
        </p:nvSpPr>
        <p:spPr>
          <a:xfrm>
            <a:off x="7415784" y="1298448"/>
            <a:ext cx="1920240" cy="292608"/>
          </a:xfrm>
          <a:prstGeom prst="rect">
            <a:avLst/>
          </a:prstGeom>
          <a:noFill/>
          <a:ln/>
        </p:spPr>
        <p:txBody>
          <a:bodyPr wrap="square" lIns="0" tIns="0" rIns="0" bIns="0" rtlCol="0" anchor="t"/>
          <a:lstStyle/>
          <a:p>
            <a:pPr indent="0" marL="0">
              <a:lnSpc>
                <a:spcPts val="1000"/>
              </a:lnSpc>
              <a:buNone/>
            </a:pPr>
            <a:r>
              <a:rPr lang="en-US" sz="860" b="1" dirty="0">
                <a:solidFill>
                  <a:srgbClr val="FFFFFF"/>
                </a:solidFill>
                <a:latin typeface="Calibri" pitchFamily="34" charset="0"/>
                <a:ea typeface="Calibri" pitchFamily="34" charset="-122"/>
                <a:cs typeface="Calibri" pitchFamily="34" charset="-120"/>
              </a:rPr>
              <a:t>Across the boundary</a:t>
            </a:r>
            <a:endParaRPr lang="en-US" sz="860" dirty="0"/>
          </a:p>
        </p:txBody>
      </p:sp>
      <p:sp>
        <p:nvSpPr>
          <p:cNvPr id="15" name="Text 13"/>
          <p:cNvSpPr txBox="1"/>
          <p:nvPr/>
        </p:nvSpPr>
        <p:spPr>
          <a:xfrm>
            <a:off x="9482328" y="1133856"/>
            <a:ext cx="1920240" cy="164592"/>
          </a:xfrm>
          <a:prstGeom prst="rect">
            <a:avLst/>
          </a:prstGeom>
          <a:noFill/>
          <a:ln/>
        </p:spPr>
        <p:txBody>
          <a:bodyPr wrap="square" lIns="0" tIns="0" rIns="0" bIns="0" rtlCol="0" anchor="ctr"/>
          <a:lstStyle/>
          <a:p>
            <a:pPr indent="0" marL="0">
              <a:buNone/>
            </a:pPr>
            <a:r>
              <a:rPr lang="en-US" sz="660" b="1" spc="100" kern="0" dirty="0">
                <a:solidFill>
                  <a:srgbClr val="9FB6CC"/>
                </a:solidFill>
                <a:latin typeface="Calibri" pitchFamily="34" charset="0"/>
                <a:ea typeface="Calibri" pitchFamily="34" charset="-122"/>
                <a:cs typeface="Calibri" pitchFamily="34" charset="-120"/>
              </a:rPr>
              <a:t>AI</a:t>
            </a:r>
            <a:endParaRPr lang="en-US" sz="660" dirty="0"/>
          </a:p>
        </p:txBody>
      </p:sp>
      <p:sp>
        <p:nvSpPr>
          <p:cNvPr id="16" name="Text 14"/>
          <p:cNvSpPr txBox="1"/>
          <p:nvPr/>
        </p:nvSpPr>
        <p:spPr>
          <a:xfrm>
            <a:off x="9482328" y="1298448"/>
            <a:ext cx="1920240" cy="292608"/>
          </a:xfrm>
          <a:prstGeom prst="rect">
            <a:avLst/>
          </a:prstGeom>
          <a:noFill/>
          <a:ln/>
        </p:spPr>
        <p:txBody>
          <a:bodyPr wrap="square" lIns="0" tIns="0" rIns="0" bIns="0" rtlCol="0" anchor="t"/>
          <a:lstStyle/>
          <a:p>
            <a:pPr indent="0" marL="0">
              <a:lnSpc>
                <a:spcPts val="1000"/>
              </a:lnSpc>
              <a:buNone/>
            </a:pPr>
            <a:r>
              <a:rPr lang="en-US" sz="860" b="1" dirty="0">
                <a:solidFill>
                  <a:srgbClr val="FFFFFF"/>
                </a:solidFill>
                <a:latin typeface="Calibri" pitchFamily="34" charset="0"/>
                <a:ea typeface="Calibri" pitchFamily="34" charset="-122"/>
                <a:cs typeface="Calibri" pitchFamily="34" charset="-120"/>
              </a:rPr>
              <a:t>Agents assemble, validate, chase</a:t>
            </a:r>
            <a:endParaRPr lang="en-US" sz="860" dirty="0"/>
          </a:p>
        </p:txBody>
      </p:sp>
      <p:sp>
        <p:nvSpPr>
          <p:cNvPr id="17" name="Text 15"/>
          <p:cNvSpPr txBox="1"/>
          <p:nvPr/>
        </p:nvSpPr>
        <p:spPr>
          <a:xfrm>
            <a:off x="411480" y="1828800"/>
            <a:ext cx="585216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THE PARTNER'S JOURNEY THROUGH AN INTAKE IN THIS PHASE</a:t>
            </a:r>
            <a:endParaRPr lang="en-US" sz="760" dirty="0"/>
          </a:p>
        </p:txBody>
      </p:sp>
      <p:sp>
        <p:nvSpPr>
          <p:cNvPr id="18" name="Shape 16"/>
          <p:cNvSpPr/>
          <p:nvPr/>
        </p:nvSpPr>
        <p:spPr>
          <a:xfrm>
            <a:off x="7360920" y="1837944"/>
            <a:ext cx="128016" cy="109728"/>
          </a:xfrm>
          <a:prstGeom prst="rect">
            <a:avLst/>
          </a:prstGeom>
          <a:solidFill>
            <a:srgbClr val="15304F"/>
          </a:solidFill>
          <a:ln w="12700">
            <a:solidFill>
              <a:srgbClr val="333333"/>
            </a:solidFill>
            <a:prstDash val="solid"/>
          </a:ln>
        </p:spPr>
      </p:sp>
      <p:sp>
        <p:nvSpPr>
          <p:cNvPr id="19" name="Text 17"/>
          <p:cNvSpPr txBox="1"/>
          <p:nvPr/>
        </p:nvSpPr>
        <p:spPr>
          <a:xfrm>
            <a:off x="7543800" y="1810512"/>
            <a:ext cx="1188720" cy="164592"/>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ECM drives</a:t>
            </a:r>
            <a:endParaRPr lang="en-US" sz="760" dirty="0"/>
          </a:p>
        </p:txBody>
      </p:sp>
      <p:sp>
        <p:nvSpPr>
          <p:cNvPr id="20" name="Shape 18"/>
          <p:cNvSpPr/>
          <p:nvPr/>
        </p:nvSpPr>
        <p:spPr>
          <a:xfrm>
            <a:off x="8787384" y="1837944"/>
            <a:ext cx="128016" cy="109728"/>
          </a:xfrm>
          <a:prstGeom prst="rect">
            <a:avLst/>
          </a:prstGeom>
          <a:solidFill>
            <a:srgbClr val="3E6686"/>
          </a:solidFill>
          <a:ln w="12700">
            <a:solidFill>
              <a:srgbClr val="333333"/>
            </a:solidFill>
            <a:prstDash val="solid"/>
          </a:ln>
        </p:spPr>
      </p:sp>
      <p:sp>
        <p:nvSpPr>
          <p:cNvPr id="21" name="Text 19"/>
          <p:cNvSpPr txBox="1"/>
          <p:nvPr/>
        </p:nvSpPr>
        <p:spPr>
          <a:xfrm>
            <a:off x="8970264" y="1810512"/>
            <a:ext cx="1188720" cy="164592"/>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Shared</a:t>
            </a:r>
            <a:endParaRPr lang="en-US" sz="760" dirty="0"/>
          </a:p>
        </p:txBody>
      </p:sp>
      <p:sp>
        <p:nvSpPr>
          <p:cNvPr id="22" name="Shape 20"/>
          <p:cNvSpPr/>
          <p:nvPr/>
        </p:nvSpPr>
        <p:spPr>
          <a:xfrm>
            <a:off x="10213848" y="1837944"/>
            <a:ext cx="128016" cy="109728"/>
          </a:xfrm>
          <a:prstGeom prst="rect">
            <a:avLst/>
          </a:prstGeom>
          <a:solidFill>
            <a:srgbClr val="2E6B4F"/>
          </a:solidFill>
          <a:ln w="12700">
            <a:solidFill>
              <a:srgbClr val="333333"/>
            </a:solidFill>
            <a:prstDash val="solid"/>
          </a:ln>
        </p:spPr>
      </p:sp>
      <p:sp>
        <p:nvSpPr>
          <p:cNvPr id="23" name="Text 21"/>
          <p:cNvSpPr txBox="1"/>
          <p:nvPr/>
        </p:nvSpPr>
        <p:spPr>
          <a:xfrm>
            <a:off x="10396728" y="1810512"/>
            <a:ext cx="1188720" cy="164592"/>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Partner drives</a:t>
            </a:r>
            <a:endParaRPr lang="en-US" sz="760" dirty="0"/>
          </a:p>
        </p:txBody>
      </p:sp>
      <p:sp>
        <p:nvSpPr>
          <p:cNvPr id="24" name="Shape 22"/>
          <p:cNvSpPr/>
          <p:nvPr/>
        </p:nvSpPr>
        <p:spPr>
          <a:xfrm>
            <a:off x="411480" y="2029968"/>
            <a:ext cx="2194560" cy="950976"/>
          </a:xfrm>
          <a:prstGeom prst="roundRect">
            <a:avLst>
              <a:gd name="adj" fmla="val 3846"/>
            </a:avLst>
          </a:prstGeom>
          <a:solidFill>
            <a:srgbClr val="ECF3EE"/>
          </a:solidFill>
          <a:ln w="12700">
            <a:solidFill>
              <a:srgbClr val="2E6B4F"/>
            </a:solidFill>
            <a:prstDash val="solid"/>
          </a:ln>
        </p:spPr>
      </p:sp>
      <p:sp>
        <p:nvSpPr>
          <p:cNvPr id="25" name="Shape 23"/>
          <p:cNvSpPr/>
          <p:nvPr/>
        </p:nvSpPr>
        <p:spPr>
          <a:xfrm>
            <a:off x="411480" y="2029968"/>
            <a:ext cx="2194560" cy="50292"/>
          </a:xfrm>
          <a:prstGeom prst="rect">
            <a:avLst/>
          </a:prstGeom>
          <a:solidFill>
            <a:srgbClr val="2E6B4F"/>
          </a:solidFill>
          <a:ln w="12700">
            <a:solidFill>
              <a:srgbClr val="333333"/>
            </a:solidFill>
            <a:prstDash val="solid"/>
          </a:ln>
        </p:spPr>
      </p:sp>
      <p:sp>
        <p:nvSpPr>
          <p:cNvPr id="26" name="Text 24"/>
          <p:cNvSpPr txBox="1"/>
          <p:nvPr/>
        </p:nvSpPr>
        <p:spPr>
          <a:xfrm>
            <a:off x="521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Raise the intake</a:t>
            </a:r>
            <a:endParaRPr lang="en-US" sz="860" dirty="0"/>
          </a:p>
        </p:txBody>
      </p:sp>
      <p:sp>
        <p:nvSpPr>
          <p:cNvPr id="27" name="Text 25"/>
          <p:cNvSpPr txBox="1"/>
          <p:nvPr/>
        </p:nvSpPr>
        <p:spPr>
          <a:xfrm>
            <a:off x="521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Partner raises it unaided through a guided intake.</a:t>
            </a:r>
            <a:endParaRPr lang="en-US" sz="760" dirty="0"/>
          </a:p>
        </p:txBody>
      </p:sp>
      <p:sp>
        <p:nvSpPr>
          <p:cNvPr id="28" name="Text 26"/>
          <p:cNvSpPr txBox="1"/>
          <p:nvPr/>
        </p:nvSpPr>
        <p:spPr>
          <a:xfrm>
            <a:off x="521208" y="2779776"/>
            <a:ext cx="1975104" cy="146304"/>
          </a:xfrm>
          <a:prstGeom prst="rect">
            <a:avLst/>
          </a:prstGeom>
          <a:noFill/>
          <a:ln/>
        </p:spPr>
        <p:txBody>
          <a:bodyPr wrap="square" lIns="0" tIns="0" rIns="0" bIns="0" rtlCol="0" anchor="ctr"/>
          <a:lstStyle/>
          <a:p>
            <a:pPr indent="0" marL="0">
              <a:buNone/>
            </a:pPr>
            <a:r>
              <a:rPr lang="en-US" sz="630" b="1" spc="90" kern="0" dirty="0">
                <a:solidFill>
                  <a:srgbClr val="2E6B4F"/>
                </a:solidFill>
                <a:latin typeface="Calibri" pitchFamily="34" charset="0"/>
                <a:ea typeface="Calibri" pitchFamily="34" charset="-122"/>
                <a:cs typeface="Calibri" pitchFamily="34" charset="-120"/>
              </a:rPr>
              <a:t>PARTNER DRIVES</a:t>
            </a:r>
            <a:endParaRPr lang="en-US" sz="630" dirty="0"/>
          </a:p>
        </p:txBody>
      </p:sp>
      <p:sp>
        <p:nvSpPr>
          <p:cNvPr id="29" name="Text 27"/>
          <p:cNvSpPr txBox="1"/>
          <p:nvPr/>
        </p:nvSpPr>
        <p:spPr>
          <a:xfrm>
            <a:off x="2596896" y="2377440"/>
            <a:ext cx="109728" cy="256032"/>
          </a:xfrm>
          <a:prstGeom prst="rect">
            <a:avLst/>
          </a:prstGeom>
          <a:noFill/>
          <a:ln/>
        </p:spPr>
        <p:txBody>
          <a:bodyPr wrap="square" lIns="0" tIns="0" rIns="0" bIns="0" rtlCol="0" anchor="ctr"/>
          <a:lstStyle/>
          <a:p>
            <a:pPr algn="ctr" indent="0" marL="0">
              <a:buNone/>
            </a:pPr>
            <a:r>
              <a:rPr lang="en-US" sz="1000" b="1" dirty="0">
                <a:solidFill>
                  <a:srgbClr val="7C8798"/>
                </a:solidFill>
                <a:latin typeface="Calibri" pitchFamily="34" charset="0"/>
                <a:ea typeface="Calibri" pitchFamily="34" charset="-122"/>
                <a:cs typeface="Calibri" pitchFamily="34" charset="-120"/>
              </a:rPr>
              <a:t>&gt;</a:t>
            </a:r>
            <a:endParaRPr lang="en-US" sz="1000" dirty="0"/>
          </a:p>
        </p:txBody>
      </p:sp>
      <p:sp>
        <p:nvSpPr>
          <p:cNvPr id="30" name="Shape 28"/>
          <p:cNvSpPr/>
          <p:nvPr/>
        </p:nvSpPr>
        <p:spPr>
          <a:xfrm>
            <a:off x="2697480" y="2029968"/>
            <a:ext cx="2194560" cy="950976"/>
          </a:xfrm>
          <a:prstGeom prst="roundRect">
            <a:avLst>
              <a:gd name="adj" fmla="val 3846"/>
            </a:avLst>
          </a:prstGeom>
          <a:solidFill>
            <a:srgbClr val="ECF3EE"/>
          </a:solidFill>
          <a:ln w="12700">
            <a:solidFill>
              <a:srgbClr val="2E6B4F"/>
            </a:solidFill>
            <a:prstDash val="solid"/>
          </a:ln>
        </p:spPr>
      </p:sp>
      <p:sp>
        <p:nvSpPr>
          <p:cNvPr id="31" name="Shape 29"/>
          <p:cNvSpPr/>
          <p:nvPr/>
        </p:nvSpPr>
        <p:spPr>
          <a:xfrm>
            <a:off x="2697480" y="2029968"/>
            <a:ext cx="2194560" cy="50292"/>
          </a:xfrm>
          <a:prstGeom prst="rect">
            <a:avLst/>
          </a:prstGeom>
          <a:solidFill>
            <a:srgbClr val="2E6B4F"/>
          </a:solidFill>
          <a:ln w="12700">
            <a:solidFill>
              <a:srgbClr val="333333"/>
            </a:solidFill>
            <a:prstDash val="solid"/>
          </a:ln>
        </p:spPr>
      </p:sp>
      <p:sp>
        <p:nvSpPr>
          <p:cNvPr id="32" name="Text 30"/>
          <p:cNvSpPr txBox="1"/>
          <p:nvPr/>
        </p:nvSpPr>
        <p:spPr>
          <a:xfrm>
            <a:off x="2807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Establish requirements</a:t>
            </a:r>
            <a:endParaRPr lang="en-US" sz="860" dirty="0"/>
          </a:p>
        </p:txBody>
      </p:sp>
      <p:sp>
        <p:nvSpPr>
          <p:cNvPr id="33" name="Text 31"/>
          <p:cNvSpPr txBox="1"/>
          <p:nvPr/>
        </p:nvSpPr>
        <p:spPr>
          <a:xfrm>
            <a:off x="2807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Copilot-guided, with long-lead items identified and raised on day one.</a:t>
            </a:r>
            <a:endParaRPr lang="en-US" sz="760" dirty="0"/>
          </a:p>
        </p:txBody>
      </p:sp>
      <p:sp>
        <p:nvSpPr>
          <p:cNvPr id="34" name="Text 32"/>
          <p:cNvSpPr txBox="1"/>
          <p:nvPr/>
        </p:nvSpPr>
        <p:spPr>
          <a:xfrm>
            <a:off x="2807208" y="2779776"/>
            <a:ext cx="1975104" cy="146304"/>
          </a:xfrm>
          <a:prstGeom prst="rect">
            <a:avLst/>
          </a:prstGeom>
          <a:noFill/>
          <a:ln/>
        </p:spPr>
        <p:txBody>
          <a:bodyPr wrap="square" lIns="0" tIns="0" rIns="0" bIns="0" rtlCol="0" anchor="ctr"/>
          <a:lstStyle/>
          <a:p>
            <a:pPr indent="0" marL="0">
              <a:buNone/>
            </a:pPr>
            <a:r>
              <a:rPr lang="en-US" sz="630" b="1" spc="90" kern="0" dirty="0">
                <a:solidFill>
                  <a:srgbClr val="2E6B4F"/>
                </a:solidFill>
                <a:latin typeface="Calibri" pitchFamily="34" charset="0"/>
                <a:ea typeface="Calibri" pitchFamily="34" charset="-122"/>
                <a:cs typeface="Calibri" pitchFamily="34" charset="-120"/>
              </a:rPr>
              <a:t>PARTNER DRIVES</a:t>
            </a:r>
            <a:endParaRPr lang="en-US" sz="630" dirty="0"/>
          </a:p>
        </p:txBody>
      </p:sp>
      <p:sp>
        <p:nvSpPr>
          <p:cNvPr id="35" name="Text 33"/>
          <p:cNvSpPr txBox="1"/>
          <p:nvPr/>
        </p:nvSpPr>
        <p:spPr>
          <a:xfrm>
            <a:off x="4882896" y="2377440"/>
            <a:ext cx="109728" cy="256032"/>
          </a:xfrm>
          <a:prstGeom prst="rect">
            <a:avLst/>
          </a:prstGeom>
          <a:noFill/>
          <a:ln/>
        </p:spPr>
        <p:txBody>
          <a:bodyPr wrap="square" lIns="0" tIns="0" rIns="0" bIns="0" rtlCol="0" anchor="ctr"/>
          <a:lstStyle/>
          <a:p>
            <a:pPr algn="ctr" indent="0" marL="0">
              <a:buNone/>
            </a:pPr>
            <a:r>
              <a:rPr lang="en-US" sz="1000" b="1" dirty="0">
                <a:solidFill>
                  <a:srgbClr val="7C8798"/>
                </a:solidFill>
                <a:latin typeface="Calibri" pitchFamily="34" charset="0"/>
                <a:ea typeface="Calibri" pitchFamily="34" charset="-122"/>
                <a:cs typeface="Calibri" pitchFamily="34" charset="-120"/>
              </a:rPr>
              <a:t>&gt;</a:t>
            </a:r>
            <a:endParaRPr lang="en-US" sz="1000" dirty="0"/>
          </a:p>
        </p:txBody>
      </p:sp>
      <p:sp>
        <p:nvSpPr>
          <p:cNvPr id="36" name="Shape 34"/>
          <p:cNvSpPr/>
          <p:nvPr/>
        </p:nvSpPr>
        <p:spPr>
          <a:xfrm>
            <a:off x="4983480" y="2029968"/>
            <a:ext cx="2194560" cy="950976"/>
          </a:xfrm>
          <a:prstGeom prst="roundRect">
            <a:avLst>
              <a:gd name="adj" fmla="val 3846"/>
            </a:avLst>
          </a:prstGeom>
          <a:solidFill>
            <a:srgbClr val="E9EEF4"/>
          </a:solidFill>
          <a:ln w="12700">
            <a:solidFill>
              <a:srgbClr val="15304F"/>
            </a:solidFill>
            <a:prstDash val="solid"/>
          </a:ln>
        </p:spPr>
      </p:sp>
      <p:sp>
        <p:nvSpPr>
          <p:cNvPr id="37" name="Shape 35"/>
          <p:cNvSpPr/>
          <p:nvPr/>
        </p:nvSpPr>
        <p:spPr>
          <a:xfrm>
            <a:off x="4983480" y="2029968"/>
            <a:ext cx="2194560" cy="50292"/>
          </a:xfrm>
          <a:prstGeom prst="rect">
            <a:avLst/>
          </a:prstGeom>
          <a:solidFill>
            <a:srgbClr val="15304F"/>
          </a:solidFill>
          <a:ln w="12700">
            <a:solidFill>
              <a:srgbClr val="333333"/>
            </a:solidFill>
            <a:prstDash val="solid"/>
          </a:ln>
        </p:spPr>
      </p:sp>
      <p:sp>
        <p:nvSpPr>
          <p:cNvPr id="38" name="Text 36"/>
          <p:cNvSpPr txBox="1"/>
          <p:nvPr/>
        </p:nvSpPr>
        <p:spPr>
          <a:xfrm>
            <a:off x="5093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Build &amp; configure</a:t>
            </a:r>
            <a:endParaRPr lang="en-US" sz="860" dirty="0"/>
          </a:p>
        </p:txBody>
      </p:sp>
      <p:sp>
        <p:nvSpPr>
          <p:cNvPr id="39" name="Text 37"/>
          <p:cNvSpPr txBox="1"/>
          <p:nvPr/>
        </p:nvSpPr>
        <p:spPr>
          <a:xfrm>
            <a:off x="5093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ECM artefacts generated; external provisioning requested in parallel.</a:t>
            </a:r>
            <a:endParaRPr lang="en-US" sz="760" dirty="0"/>
          </a:p>
        </p:txBody>
      </p:sp>
      <p:sp>
        <p:nvSpPr>
          <p:cNvPr id="40" name="Text 38"/>
          <p:cNvSpPr txBox="1"/>
          <p:nvPr/>
        </p:nvSpPr>
        <p:spPr>
          <a:xfrm>
            <a:off x="5093208" y="2779776"/>
            <a:ext cx="1975104" cy="146304"/>
          </a:xfrm>
          <a:prstGeom prst="rect">
            <a:avLst/>
          </a:prstGeom>
          <a:noFill/>
          <a:ln/>
        </p:spPr>
        <p:txBody>
          <a:bodyPr wrap="square" lIns="0" tIns="0" rIns="0" bIns="0" rtlCol="0" anchor="ctr"/>
          <a:lstStyle/>
          <a:p>
            <a:pPr indent="0" marL="0">
              <a:buNone/>
            </a:pPr>
            <a:r>
              <a:rPr lang="en-US" sz="630" b="1" spc="90" kern="0" dirty="0">
                <a:solidFill>
                  <a:srgbClr val="15304F"/>
                </a:solidFill>
                <a:latin typeface="Calibri" pitchFamily="34" charset="0"/>
                <a:ea typeface="Calibri" pitchFamily="34" charset="-122"/>
                <a:cs typeface="Calibri" pitchFamily="34" charset="-120"/>
              </a:rPr>
              <a:t>ECM DRIVES</a:t>
            </a:r>
            <a:endParaRPr lang="en-US" sz="630" dirty="0"/>
          </a:p>
        </p:txBody>
      </p:sp>
      <p:sp>
        <p:nvSpPr>
          <p:cNvPr id="41" name="Text 39"/>
          <p:cNvSpPr txBox="1"/>
          <p:nvPr/>
        </p:nvSpPr>
        <p:spPr>
          <a:xfrm>
            <a:off x="7168896" y="2377440"/>
            <a:ext cx="109728" cy="256032"/>
          </a:xfrm>
          <a:prstGeom prst="rect">
            <a:avLst/>
          </a:prstGeom>
          <a:noFill/>
          <a:ln/>
        </p:spPr>
        <p:txBody>
          <a:bodyPr wrap="square" lIns="0" tIns="0" rIns="0" bIns="0" rtlCol="0" anchor="ctr"/>
          <a:lstStyle/>
          <a:p>
            <a:pPr algn="ctr" indent="0" marL="0">
              <a:buNone/>
            </a:pPr>
            <a:r>
              <a:rPr lang="en-US" sz="1000" b="1" dirty="0">
                <a:solidFill>
                  <a:srgbClr val="7C8798"/>
                </a:solidFill>
                <a:latin typeface="Calibri" pitchFamily="34" charset="0"/>
                <a:ea typeface="Calibri" pitchFamily="34" charset="-122"/>
                <a:cs typeface="Calibri" pitchFamily="34" charset="-120"/>
              </a:rPr>
              <a:t>&gt;</a:t>
            </a:r>
            <a:endParaRPr lang="en-US" sz="1000" dirty="0"/>
          </a:p>
        </p:txBody>
      </p:sp>
      <p:sp>
        <p:nvSpPr>
          <p:cNvPr id="42" name="Shape 40"/>
          <p:cNvSpPr/>
          <p:nvPr/>
        </p:nvSpPr>
        <p:spPr>
          <a:xfrm>
            <a:off x="7269480" y="2029968"/>
            <a:ext cx="2194560" cy="950976"/>
          </a:xfrm>
          <a:prstGeom prst="roundRect">
            <a:avLst>
              <a:gd name="adj" fmla="val 3846"/>
            </a:avLst>
          </a:prstGeom>
          <a:solidFill>
            <a:srgbClr val="EAF0F5"/>
          </a:solidFill>
          <a:ln w="12700">
            <a:solidFill>
              <a:srgbClr val="3E6686"/>
            </a:solidFill>
            <a:prstDash val="solid"/>
          </a:ln>
        </p:spPr>
      </p:sp>
      <p:sp>
        <p:nvSpPr>
          <p:cNvPr id="43" name="Shape 41"/>
          <p:cNvSpPr/>
          <p:nvPr/>
        </p:nvSpPr>
        <p:spPr>
          <a:xfrm>
            <a:off x="7269480" y="2029968"/>
            <a:ext cx="2194560" cy="50292"/>
          </a:xfrm>
          <a:prstGeom prst="rect">
            <a:avLst/>
          </a:prstGeom>
          <a:solidFill>
            <a:srgbClr val="3E6686"/>
          </a:solidFill>
          <a:ln w="12700">
            <a:solidFill>
              <a:srgbClr val="333333"/>
            </a:solidFill>
            <a:prstDash val="solid"/>
          </a:ln>
        </p:spPr>
      </p:sp>
      <p:sp>
        <p:nvSpPr>
          <p:cNvPr id="44" name="Text 42"/>
          <p:cNvSpPr txBox="1"/>
          <p:nvPr/>
        </p:nvSpPr>
        <p:spPr>
          <a:xfrm>
            <a:off x="7379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Clear the gates</a:t>
            </a:r>
            <a:endParaRPr lang="en-US" sz="860" dirty="0"/>
          </a:p>
        </p:txBody>
      </p:sp>
      <p:sp>
        <p:nvSpPr>
          <p:cNvPr id="45" name="Text 43"/>
          <p:cNvSpPr txBox="1"/>
          <p:nvPr/>
        </p:nvSpPr>
        <p:spPr>
          <a:xfrm>
            <a:off x="7379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External requests assembled, validated and tracked end to end.</a:t>
            </a:r>
            <a:endParaRPr lang="en-US" sz="760" dirty="0"/>
          </a:p>
        </p:txBody>
      </p:sp>
      <p:sp>
        <p:nvSpPr>
          <p:cNvPr id="46" name="Text 44"/>
          <p:cNvSpPr txBox="1"/>
          <p:nvPr/>
        </p:nvSpPr>
        <p:spPr>
          <a:xfrm>
            <a:off x="7379208" y="2779776"/>
            <a:ext cx="1975104" cy="146304"/>
          </a:xfrm>
          <a:prstGeom prst="rect">
            <a:avLst/>
          </a:prstGeom>
          <a:noFill/>
          <a:ln/>
        </p:spPr>
        <p:txBody>
          <a:bodyPr wrap="square" lIns="0" tIns="0" rIns="0" bIns="0" rtlCol="0" anchor="ctr"/>
          <a:lstStyle/>
          <a:p>
            <a:pPr indent="0" marL="0">
              <a:buNone/>
            </a:pPr>
            <a:r>
              <a:rPr lang="en-US" sz="630" b="1" spc="90" kern="0" dirty="0">
                <a:solidFill>
                  <a:srgbClr val="3E6686"/>
                </a:solidFill>
                <a:latin typeface="Calibri" pitchFamily="34" charset="0"/>
                <a:ea typeface="Calibri" pitchFamily="34" charset="-122"/>
                <a:cs typeface="Calibri" pitchFamily="34" charset="-120"/>
              </a:rPr>
              <a:t>SHARED</a:t>
            </a:r>
            <a:endParaRPr lang="en-US" sz="630" dirty="0"/>
          </a:p>
        </p:txBody>
      </p:sp>
      <p:sp>
        <p:nvSpPr>
          <p:cNvPr id="47" name="Text 45"/>
          <p:cNvSpPr txBox="1"/>
          <p:nvPr/>
        </p:nvSpPr>
        <p:spPr>
          <a:xfrm>
            <a:off x="9454896" y="2377440"/>
            <a:ext cx="109728" cy="256032"/>
          </a:xfrm>
          <a:prstGeom prst="rect">
            <a:avLst/>
          </a:prstGeom>
          <a:noFill/>
          <a:ln/>
        </p:spPr>
        <p:txBody>
          <a:bodyPr wrap="square" lIns="0" tIns="0" rIns="0" bIns="0" rtlCol="0" anchor="ctr"/>
          <a:lstStyle/>
          <a:p>
            <a:pPr algn="ctr" indent="0" marL="0">
              <a:buNone/>
            </a:pPr>
            <a:r>
              <a:rPr lang="en-US" sz="1000" b="1" dirty="0">
                <a:solidFill>
                  <a:srgbClr val="7C8798"/>
                </a:solidFill>
                <a:latin typeface="Calibri" pitchFamily="34" charset="0"/>
                <a:ea typeface="Calibri" pitchFamily="34" charset="-122"/>
                <a:cs typeface="Calibri" pitchFamily="34" charset="-120"/>
              </a:rPr>
              <a:t>&gt;</a:t>
            </a:r>
            <a:endParaRPr lang="en-US" sz="1000" dirty="0"/>
          </a:p>
        </p:txBody>
      </p:sp>
      <p:sp>
        <p:nvSpPr>
          <p:cNvPr id="48" name="Shape 46"/>
          <p:cNvSpPr/>
          <p:nvPr/>
        </p:nvSpPr>
        <p:spPr>
          <a:xfrm>
            <a:off x="9555480" y="2029968"/>
            <a:ext cx="2194560" cy="950976"/>
          </a:xfrm>
          <a:prstGeom prst="roundRect">
            <a:avLst>
              <a:gd name="adj" fmla="val 3846"/>
            </a:avLst>
          </a:prstGeom>
          <a:solidFill>
            <a:srgbClr val="E9EEF4"/>
          </a:solidFill>
          <a:ln w="12700">
            <a:solidFill>
              <a:srgbClr val="15304F"/>
            </a:solidFill>
            <a:prstDash val="solid"/>
          </a:ln>
        </p:spPr>
      </p:sp>
      <p:sp>
        <p:nvSpPr>
          <p:cNvPr id="49" name="Shape 47"/>
          <p:cNvSpPr/>
          <p:nvPr/>
        </p:nvSpPr>
        <p:spPr>
          <a:xfrm>
            <a:off x="9555480" y="2029968"/>
            <a:ext cx="2194560" cy="50292"/>
          </a:xfrm>
          <a:prstGeom prst="rect">
            <a:avLst/>
          </a:prstGeom>
          <a:solidFill>
            <a:srgbClr val="15304F"/>
          </a:solidFill>
          <a:ln w="12700">
            <a:solidFill>
              <a:srgbClr val="333333"/>
            </a:solidFill>
            <a:prstDash val="solid"/>
          </a:ln>
        </p:spPr>
      </p:sp>
      <p:sp>
        <p:nvSpPr>
          <p:cNvPr id="50" name="Text 48"/>
          <p:cNvSpPr txBox="1"/>
          <p:nvPr/>
        </p:nvSpPr>
        <p:spPr>
          <a:xfrm>
            <a:off x="9665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Go live &amp; support</a:t>
            </a:r>
            <a:endParaRPr lang="en-US" sz="860" dirty="0"/>
          </a:p>
        </p:txBody>
      </p:sp>
      <p:sp>
        <p:nvSpPr>
          <p:cNvPr id="51" name="Text 49"/>
          <p:cNvSpPr txBox="1"/>
          <p:nvPr/>
        </p:nvSpPr>
        <p:spPr>
          <a:xfrm>
            <a:off x="9665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ECM-led, with every dependency visible and chased.</a:t>
            </a:r>
            <a:endParaRPr lang="en-US" sz="760" dirty="0"/>
          </a:p>
        </p:txBody>
      </p:sp>
      <p:sp>
        <p:nvSpPr>
          <p:cNvPr id="52" name="Text 50"/>
          <p:cNvSpPr txBox="1"/>
          <p:nvPr/>
        </p:nvSpPr>
        <p:spPr>
          <a:xfrm>
            <a:off x="9665208" y="2779776"/>
            <a:ext cx="1975104" cy="146304"/>
          </a:xfrm>
          <a:prstGeom prst="rect">
            <a:avLst/>
          </a:prstGeom>
          <a:noFill/>
          <a:ln/>
        </p:spPr>
        <p:txBody>
          <a:bodyPr wrap="square" lIns="0" tIns="0" rIns="0" bIns="0" rtlCol="0" anchor="ctr"/>
          <a:lstStyle/>
          <a:p>
            <a:pPr indent="0" marL="0">
              <a:buNone/>
            </a:pPr>
            <a:r>
              <a:rPr lang="en-US" sz="630" b="1" spc="90" kern="0" dirty="0">
                <a:solidFill>
                  <a:srgbClr val="15304F"/>
                </a:solidFill>
                <a:latin typeface="Calibri" pitchFamily="34" charset="0"/>
                <a:ea typeface="Calibri" pitchFamily="34" charset="-122"/>
                <a:cs typeface="Calibri" pitchFamily="34" charset="-120"/>
              </a:rPr>
              <a:t>ECM DRIVES</a:t>
            </a:r>
            <a:endParaRPr lang="en-US" sz="630" dirty="0"/>
          </a:p>
        </p:txBody>
      </p:sp>
      <p:sp>
        <p:nvSpPr>
          <p:cNvPr id="53" name="Text 51"/>
          <p:cNvSpPr txBox="1"/>
          <p:nvPr/>
        </p:nvSpPr>
        <p:spPr>
          <a:xfrm>
            <a:off x="411480" y="3127248"/>
            <a:ext cx="548640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WHAT CHANGES IN THIS PHASE</a:t>
            </a:r>
            <a:endParaRPr lang="en-US" sz="760" dirty="0"/>
          </a:p>
        </p:txBody>
      </p:sp>
      <p:sp>
        <p:nvSpPr>
          <p:cNvPr id="54" name="Text 52"/>
          <p:cNvSpPr txBox="1"/>
          <p:nvPr/>
        </p:nvSpPr>
        <p:spPr>
          <a:xfrm>
            <a:off x="6172200" y="3127248"/>
            <a:ext cx="548640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AUTOMATION, AI AND AGENTIC CAPABILITY</a:t>
            </a:r>
            <a:endParaRPr lang="en-US" sz="760" dirty="0"/>
          </a:p>
        </p:txBody>
      </p:sp>
      <p:sp>
        <p:nvSpPr>
          <p:cNvPr id="55" name="Shape 53"/>
          <p:cNvSpPr/>
          <p:nvPr/>
        </p:nvSpPr>
        <p:spPr>
          <a:xfrm>
            <a:off x="411480" y="3328416"/>
            <a:ext cx="5577840" cy="1627632"/>
          </a:xfrm>
          <a:prstGeom prst="roundRect">
            <a:avLst>
              <a:gd name="adj" fmla="val 2809"/>
            </a:avLst>
          </a:prstGeom>
          <a:solidFill>
            <a:srgbClr val="FFFFFF"/>
          </a:solidFill>
          <a:ln w="15875">
            <a:solidFill>
              <a:srgbClr val="264E72"/>
            </a:solidFill>
            <a:prstDash val="solid"/>
          </a:ln>
          <a:effectLst>
            <a:outerShdw sx="100000" sy="100000" kx="0" ky="0" algn="bl" rotWithShape="0" blurRad="88900" dist="12700" dir="5400000">
              <a:srgbClr val="97A3B4">
                <a:alpha val="16000"/>
              </a:srgbClr>
            </a:outerShdw>
          </a:effectLst>
        </p:spPr>
      </p:sp>
      <p:sp>
        <p:nvSpPr>
          <p:cNvPr id="56" name="Text 54"/>
          <p:cNvSpPr txBox="1"/>
          <p:nvPr/>
        </p:nvSpPr>
        <p:spPr>
          <a:xfrm>
            <a:off x="557784" y="3456432"/>
            <a:ext cx="5285232" cy="310896"/>
          </a:xfrm>
          <a:prstGeom prst="rect">
            <a:avLst/>
          </a:prstGeom>
          <a:noFill/>
          <a:ln/>
        </p:spPr>
        <p:txBody>
          <a:bodyPr wrap="square" lIns="0" tIns="0" rIns="0" bIns="0" rtlCol="0" anchor="t"/>
          <a:lstStyle/>
          <a:p>
            <a:pPr indent="0" marL="0">
              <a:lnSpc>
                <a:spcPts val="1300"/>
              </a:lnSpc>
              <a:buNone/>
            </a:pPr>
            <a:r>
              <a:rPr lang="en-US" sz="1050" b="1" dirty="0">
                <a:solidFill>
                  <a:srgbClr val="1B2432"/>
                </a:solidFill>
                <a:latin typeface="Calibri" pitchFamily="34" charset="0"/>
                <a:ea typeface="Calibri" pitchFamily="34" charset="-122"/>
                <a:cs typeface="Calibri" pitchFamily="34" charset="-120"/>
              </a:rPr>
              <a:t>Every hand-off outside the ECM perimeter</a:t>
            </a:r>
            <a:endParaRPr lang="en-US" sz="1050" dirty="0"/>
          </a:p>
        </p:txBody>
      </p:sp>
      <p:sp>
        <p:nvSpPr>
          <p:cNvPr id="57" name="Text 55"/>
          <p:cNvSpPr txBox="1"/>
          <p:nvPr/>
        </p:nvSpPr>
        <p:spPr>
          <a:xfrm>
            <a:off x="557784" y="3767328"/>
            <a:ext cx="5285232" cy="1042416"/>
          </a:xfrm>
          <a:prstGeom prst="rect">
            <a:avLst/>
          </a:prstGeom>
          <a:noFill/>
          <a:ln/>
        </p:spPr>
        <p:txBody>
          <a:bodyPr wrap="square" lIns="0" tIns="0" rIns="0" bIns="0" rtlCol="0" anchor="t"/>
          <a:lstStyle/>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Contract-first integration with Imaging Governance, Records Management, Security, Apigee, KEES, DCT and SPLI.</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Requests assembled from the intake record and validated against each team's acceptance criteria before submission.</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Long-lead items — DKE changes, new retention bindings, SPLI certification — raised at triage rather than at the point of need.</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Status tracked, SLAs measured, escalation automatic on breach.</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What we ask of those teams is modest: written acceptance criteria, a structured channel, a readable status signal.</a:t>
            </a:r>
            <a:endParaRPr lang="en-US" sz="820" dirty="0"/>
          </a:p>
        </p:txBody>
      </p:sp>
      <p:sp>
        <p:nvSpPr>
          <p:cNvPr id="58" name="Shape 56"/>
          <p:cNvSpPr/>
          <p:nvPr/>
        </p:nvSpPr>
        <p:spPr>
          <a:xfrm>
            <a:off x="6172200" y="3328416"/>
            <a:ext cx="5577840" cy="1627632"/>
          </a:xfrm>
          <a:prstGeom prst="roundRect">
            <a:avLst>
              <a:gd name="adj" fmla="val 2809"/>
            </a:avLst>
          </a:prstGeom>
          <a:solidFill>
            <a:srgbClr val="E7ECF3"/>
          </a:solidFill>
          <a:ln w="15875">
            <a:solidFill>
              <a:srgbClr val="264E72"/>
            </a:solidFill>
            <a:prstDash val="solid"/>
          </a:ln>
          <a:effectLst>
            <a:outerShdw sx="100000" sy="100000" kx="0" ky="0" algn="bl" rotWithShape="0" blurRad="88900" dist="12700" dir="5400000">
              <a:srgbClr val="97A3B4">
                <a:alpha val="16000"/>
              </a:srgbClr>
            </a:outerShdw>
          </a:effectLst>
        </p:spPr>
      </p:sp>
      <p:sp>
        <p:nvSpPr>
          <p:cNvPr id="59" name="Text 57"/>
          <p:cNvSpPr txBox="1"/>
          <p:nvPr/>
        </p:nvSpPr>
        <p:spPr>
          <a:xfrm>
            <a:off x="6318504" y="3456432"/>
            <a:ext cx="5285232" cy="310896"/>
          </a:xfrm>
          <a:prstGeom prst="rect">
            <a:avLst/>
          </a:prstGeom>
          <a:noFill/>
          <a:ln/>
        </p:spPr>
        <p:txBody>
          <a:bodyPr wrap="square" lIns="0" tIns="0" rIns="0" bIns="0" rtlCol="0" anchor="t"/>
          <a:lstStyle/>
          <a:p>
            <a:pPr indent="0" marL="0">
              <a:lnSpc>
                <a:spcPts val="1300"/>
              </a:lnSpc>
              <a:buNone/>
            </a:pPr>
            <a:r>
              <a:rPr lang="en-US" sz="1050" b="1" dirty="0">
                <a:solidFill>
                  <a:srgbClr val="1B2432"/>
                </a:solidFill>
                <a:latin typeface="Calibri" pitchFamily="34" charset="0"/>
                <a:ea typeface="Calibri" pitchFamily="34" charset="-122"/>
                <a:cs typeface="Calibri" pitchFamily="34" charset="-120"/>
              </a:rPr>
              <a:t>Agents that assemble and chase, but never decide</a:t>
            </a:r>
            <a:endParaRPr lang="en-US" sz="1050" dirty="0"/>
          </a:p>
        </p:txBody>
      </p:sp>
      <p:sp>
        <p:nvSpPr>
          <p:cNvPr id="60" name="Text 58"/>
          <p:cNvSpPr txBox="1"/>
          <p:nvPr/>
        </p:nvSpPr>
        <p:spPr>
          <a:xfrm>
            <a:off x="6318504" y="3767328"/>
            <a:ext cx="5285232" cy="1042416"/>
          </a:xfrm>
          <a:prstGeom prst="rect">
            <a:avLst/>
          </a:prstGeom>
          <a:noFill/>
          <a:ln/>
        </p:spPr>
        <p:txBody>
          <a:bodyPr wrap="square" lIns="0" tIns="0" rIns="0" bIns="0" rtlCol="0" anchor="t"/>
          <a:lstStyle/>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Agents build each external request from the intake record, check it against the receiving team's published acceptance criteria, submit it, track status and chase on SLA breach.</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They influence no determination whatsoever. Imaging Governance still determines trust posture and allocates category, type and subtype; Records Management still approves retention and certifies WORM.</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What changes is that requests arrive complete, well-formed and explained — which converts a three-cycle hand-off into a one-cycle hand-off.</a:t>
            </a:r>
            <a:endParaRPr lang="en-US" sz="820" dirty="0"/>
          </a:p>
        </p:txBody>
      </p:sp>
      <p:sp>
        <p:nvSpPr>
          <p:cNvPr id="61" name="Shape 59"/>
          <p:cNvSpPr/>
          <p:nvPr/>
        </p:nvSpPr>
        <p:spPr>
          <a:xfrm>
            <a:off x="411480" y="5084064"/>
            <a:ext cx="6675120" cy="1499616"/>
          </a:xfrm>
          <a:prstGeom prst="roundRect">
            <a:avLst>
              <a:gd name="adj" fmla="val 3049"/>
            </a:avLst>
          </a:prstGeom>
          <a:solidFill>
            <a:srgbClr val="FFFFFF"/>
          </a:solidFill>
          <a:ln w="14605">
            <a:solidFill>
              <a:srgbClr val="264E72"/>
            </a:solidFill>
            <a:prstDash val="solid"/>
          </a:ln>
          <a:effectLst>
            <a:outerShdw sx="100000" sy="100000" kx="0" ky="0" algn="bl" rotWithShape="0" blurRad="88900" dist="12700" dir="5400000">
              <a:srgbClr val="97A3B4">
                <a:alpha val="16000"/>
              </a:srgbClr>
            </a:outerShdw>
          </a:effectLst>
        </p:spPr>
      </p:sp>
      <p:sp>
        <p:nvSpPr>
          <p:cNvPr id="62" name="Shape 60"/>
          <p:cNvSpPr/>
          <p:nvPr/>
        </p:nvSpPr>
        <p:spPr>
          <a:xfrm>
            <a:off x="411480" y="5084064"/>
            <a:ext cx="6675120" cy="50292"/>
          </a:xfrm>
          <a:prstGeom prst="rect">
            <a:avLst/>
          </a:prstGeom>
          <a:solidFill>
            <a:srgbClr val="264E72"/>
          </a:solidFill>
          <a:ln w="12700">
            <a:solidFill>
              <a:srgbClr val="333333"/>
            </a:solidFill>
            <a:prstDash val="solid"/>
          </a:ln>
        </p:spPr>
      </p:sp>
      <p:sp>
        <p:nvSpPr>
          <p:cNvPr id="63" name="Text 61"/>
          <p:cNvSpPr txBox="1"/>
          <p:nvPr/>
        </p:nvSpPr>
        <p:spPr>
          <a:xfrm>
            <a:off x="530352" y="5202936"/>
            <a:ext cx="6437376" cy="164592"/>
          </a:xfrm>
          <a:prstGeom prst="rect">
            <a:avLst/>
          </a:prstGeom>
          <a:noFill/>
          <a:ln/>
        </p:spPr>
        <p:txBody>
          <a:bodyPr wrap="square" lIns="0" tIns="0" rIns="0" bIns="0" rtlCol="0" anchor="ctr"/>
          <a:lstStyle/>
          <a:p>
            <a:pPr indent="0" marL="0">
              <a:buNone/>
            </a:pPr>
            <a:r>
              <a:rPr lang="en-US" sz="690" b="1" spc="110" kern="0" dirty="0">
                <a:solidFill>
                  <a:srgbClr val="264E72"/>
                </a:solidFill>
                <a:latin typeface="Calibri" pitchFamily="34" charset="0"/>
                <a:ea typeface="Calibri" pitchFamily="34" charset="-122"/>
                <a:cs typeface="Calibri" pitchFamily="34" charset="-120"/>
              </a:rPr>
              <a:t>P3 VALUE ADD</a:t>
            </a:r>
            <a:endParaRPr lang="en-US" sz="690" dirty="0"/>
          </a:p>
        </p:txBody>
      </p:sp>
      <p:sp>
        <p:nvSpPr>
          <p:cNvPr id="64" name="Text 62"/>
          <p:cNvSpPr txBox="1"/>
          <p:nvPr/>
        </p:nvSpPr>
        <p:spPr>
          <a:xfrm>
            <a:off x="530352" y="5376672"/>
            <a:ext cx="6437376" cy="219456"/>
          </a:xfrm>
          <a:prstGeom prst="rect">
            <a:avLst/>
          </a:prstGeom>
          <a:noFill/>
          <a:ln/>
        </p:spPr>
        <p:txBody>
          <a:bodyPr wrap="square" lIns="0" tIns="0" rIns="0" bIns="0" rtlCol="0" anchor="t"/>
          <a:lstStyle/>
          <a:p>
            <a:pPr indent="0" marL="0">
              <a:lnSpc>
                <a:spcPts val="1140"/>
              </a:lnSpc>
              <a:buNone/>
            </a:pPr>
            <a:r>
              <a:rPr lang="en-US" sz="960" b="1" dirty="0">
                <a:solidFill>
                  <a:srgbClr val="1B2432"/>
                </a:solidFill>
                <a:latin typeface="Calibri" pitchFamily="34" charset="0"/>
                <a:ea typeface="Calibri" pitchFamily="34" charset="-122"/>
                <a:cs typeface="Calibri" pitchFamily="34" charset="-120"/>
              </a:rPr>
              <a:t>Queue time stops dominating</a:t>
            </a:r>
            <a:endParaRPr lang="en-US" sz="960" dirty="0"/>
          </a:p>
        </p:txBody>
      </p:sp>
      <p:sp>
        <p:nvSpPr>
          <p:cNvPr id="65" name="Text 63"/>
          <p:cNvSpPr txBox="1"/>
          <p:nvPr/>
        </p:nvSpPr>
        <p:spPr>
          <a:xfrm>
            <a:off x="530352" y="5632704"/>
            <a:ext cx="6437376" cy="457200"/>
          </a:xfrm>
          <a:prstGeom prst="rect">
            <a:avLst/>
          </a:prstGeom>
          <a:noFill/>
          <a:ln/>
        </p:spPr>
        <p:txBody>
          <a:bodyPr wrap="square" lIns="0" tIns="0" rIns="0" bIns="0" rtlCol="0" anchor="t"/>
          <a:lstStyle/>
          <a:p>
            <a:pPr indent="0" marL="0">
              <a:lnSpc>
                <a:spcPts val="980"/>
              </a:lnSpc>
              <a:spcAft>
                <a:spcPts val="200"/>
              </a:spcAft>
              <a:buNone/>
            </a:pPr>
            <a:r>
              <a:rPr lang="en-US" sz="790" dirty="0">
                <a:solidFill>
                  <a:srgbClr val="55606E"/>
                </a:solidFill>
                <a:latin typeface="Calibri" pitchFamily="34" charset="0"/>
                <a:ea typeface="Calibri" pitchFamily="34" charset="-122"/>
                <a:cs typeface="Calibri" pitchFamily="34" charset="-120"/>
              </a:rPr>
              <a:t>Rework cycles with external teams removed — the single largest source of avoidable elapsed time once our own effort has fallen.</a:t>
            </a:r>
            <a:endParaRPr lang="en-US" sz="790" dirty="0"/>
          </a:p>
          <a:p>
            <a:pPr indent="0" marL="0">
              <a:lnSpc>
                <a:spcPts val="980"/>
              </a:lnSpc>
              <a:spcAft>
                <a:spcPts val="200"/>
              </a:spcAft>
              <a:buNone/>
            </a:pPr>
            <a:r>
              <a:rPr lang="en-US" sz="790" dirty="0">
                <a:solidFill>
                  <a:srgbClr val="55606E"/>
                </a:solidFill>
                <a:latin typeface="Calibri" pitchFamily="34" charset="0"/>
                <a:ea typeface="Calibri" pitchFamily="34" charset="-122"/>
                <a:cs typeface="Calibri" pitchFamily="34" charset="-120"/>
              </a:rPr>
              <a:t>The 15% of squad time spent chasing external teams largely disappears.</a:t>
            </a:r>
            <a:endParaRPr lang="en-US" sz="790" dirty="0"/>
          </a:p>
          <a:p>
            <a:pPr indent="0" marL="0">
              <a:lnSpc>
                <a:spcPts val="980"/>
              </a:lnSpc>
              <a:spcAft>
                <a:spcPts val="200"/>
              </a:spcAft>
              <a:buNone/>
            </a:pPr>
            <a:r>
              <a:rPr lang="en-US" sz="790" dirty="0">
                <a:solidFill>
                  <a:srgbClr val="55606E"/>
                </a:solidFill>
                <a:latin typeface="Calibri" pitchFamily="34" charset="0"/>
                <a:ea typeface="Calibri" pitchFamily="34" charset="-122"/>
                <a:cs typeface="Calibri" pitchFamily="34" charset="-120"/>
              </a:rPr>
              <a:t>Dedicated finally moves, 14 to 11, as external complexity becomes routine rather than bespoke.</a:t>
            </a:r>
            <a:endParaRPr lang="en-US" sz="790" dirty="0"/>
          </a:p>
        </p:txBody>
      </p:sp>
      <p:sp>
        <p:nvSpPr>
          <p:cNvPr id="66" name="Shape 64"/>
          <p:cNvSpPr/>
          <p:nvPr/>
        </p:nvSpPr>
        <p:spPr>
          <a:xfrm>
            <a:off x="411480" y="6163056"/>
            <a:ext cx="6675120" cy="420624"/>
          </a:xfrm>
          <a:prstGeom prst="rect">
            <a:avLst/>
          </a:prstGeom>
          <a:solidFill>
            <a:srgbClr val="ECF3EE"/>
          </a:solidFill>
          <a:ln w="12700">
            <a:solidFill>
              <a:srgbClr val="ECF3EE"/>
            </a:solidFill>
            <a:prstDash val="solid"/>
          </a:ln>
        </p:spPr>
      </p:sp>
      <p:sp>
        <p:nvSpPr>
          <p:cNvPr id="67" name="Text 65"/>
          <p:cNvSpPr txBox="1"/>
          <p:nvPr/>
        </p:nvSpPr>
        <p:spPr>
          <a:xfrm>
            <a:off x="530352" y="6181344"/>
            <a:ext cx="6437376" cy="384048"/>
          </a:xfrm>
          <a:prstGeom prst="rect">
            <a:avLst/>
          </a:prstGeom>
          <a:noFill/>
          <a:ln/>
        </p:spPr>
        <p:txBody>
          <a:bodyPr wrap="square" lIns="0" tIns="0" rIns="0" bIns="0" rtlCol="0" anchor="ctr"/>
          <a:lstStyle/>
          <a:p>
            <a:pPr indent="0" marL="0">
              <a:lnSpc>
                <a:spcPts val="900"/>
              </a:lnSpc>
              <a:buNone/>
            </a:pPr>
            <a:r>
              <a:rPr lang="en-US" sz="770" b="1" dirty="0">
                <a:solidFill>
                  <a:srgbClr val="2E6B4F"/>
                </a:solidFill>
                <a:latin typeface="Calibri" pitchFamily="34" charset="0"/>
                <a:ea typeface="Calibri" pitchFamily="34" charset="-122"/>
                <a:cs typeface="Calibri" pitchFamily="34" charset="-120"/>
              </a:rPr>
              <a:t>Better than Phase 2: cuts waiting, which is a different quantity from effort and which no ECM automation can reach.</a:t>
            </a:r>
            <a:endParaRPr lang="en-US" sz="770" dirty="0"/>
          </a:p>
        </p:txBody>
      </p:sp>
      <p:sp>
        <p:nvSpPr>
          <p:cNvPr id="68" name="Shape 66"/>
          <p:cNvSpPr/>
          <p:nvPr/>
        </p:nvSpPr>
        <p:spPr>
          <a:xfrm>
            <a:off x="7269480" y="5084064"/>
            <a:ext cx="4480560" cy="1499616"/>
          </a:xfrm>
          <a:prstGeom prst="roundRect">
            <a:avLst>
              <a:gd name="adj" fmla="val 3049"/>
            </a:avLst>
          </a:prstGeom>
          <a:solidFill>
            <a:srgbClr val="FBF0EB"/>
          </a:solidFill>
          <a:ln w="15875">
            <a:solidFill>
              <a:srgbClr val="A44A2A"/>
            </a:solidFill>
            <a:prstDash val="solid"/>
          </a:ln>
          <a:effectLst>
            <a:outerShdw sx="100000" sy="100000" kx="0" ky="0" algn="bl" rotWithShape="0" blurRad="88900" dist="12700" dir="5400000">
              <a:srgbClr val="97A3B4">
                <a:alpha val="16000"/>
              </a:srgbClr>
            </a:outerShdw>
          </a:effectLst>
        </p:spPr>
      </p:sp>
      <p:sp>
        <p:nvSpPr>
          <p:cNvPr id="69" name="Text 67"/>
          <p:cNvSpPr txBox="1"/>
          <p:nvPr/>
        </p:nvSpPr>
        <p:spPr>
          <a:xfrm>
            <a:off x="7415784" y="5212080"/>
            <a:ext cx="4187952" cy="310896"/>
          </a:xfrm>
          <a:prstGeom prst="rect">
            <a:avLst/>
          </a:prstGeom>
          <a:noFill/>
          <a:ln/>
        </p:spPr>
        <p:txBody>
          <a:bodyPr wrap="square" lIns="0" tIns="0" rIns="0" bIns="0" rtlCol="0" anchor="t"/>
          <a:lstStyle/>
          <a:p>
            <a:pPr indent="0" marL="0">
              <a:lnSpc>
                <a:spcPts val="1300"/>
              </a:lnSpc>
              <a:buNone/>
            </a:pPr>
            <a:r>
              <a:rPr lang="en-US" sz="1050" b="1" dirty="0">
                <a:solidFill>
                  <a:srgbClr val="1B2432"/>
                </a:solidFill>
                <a:latin typeface="Calibri" pitchFamily="34" charset="0"/>
                <a:ea typeface="Calibri" pitchFamily="34" charset="-122"/>
                <a:cs typeface="Calibri" pitchFamily="34" charset="-120"/>
              </a:rPr>
              <a:t>What Phase 3 still leaves</a:t>
            </a:r>
            <a:endParaRPr lang="en-US" sz="1050" dirty="0"/>
          </a:p>
        </p:txBody>
      </p:sp>
      <p:sp>
        <p:nvSpPr>
          <p:cNvPr id="70" name="Text 68"/>
          <p:cNvSpPr txBox="1"/>
          <p:nvPr/>
        </p:nvSpPr>
        <p:spPr>
          <a:xfrm>
            <a:off x="7415784" y="5522976"/>
            <a:ext cx="4187952" cy="914400"/>
          </a:xfrm>
          <a:prstGeom prst="rect">
            <a:avLst/>
          </a:prstGeom>
          <a:noFill/>
          <a:ln/>
        </p:spPr>
        <p:txBody>
          <a:bodyPr wrap="square" lIns="0" tIns="0" rIns="0" bIns="0" rtlCol="0" anchor="t"/>
          <a:lstStyle/>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The partner still depends on us to initiate every build step; the cockpit remains read-only.</a:t>
            </a:r>
            <a:endParaRPr lang="en-US" sz="800" dirty="0"/>
          </a:p>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Eleven scenarios stay Dedicated because they involve genuine novelty, and orchestration cannot make a novel problem routine.</a:t>
            </a:r>
            <a:endParaRPr lang="en-US" sz="800" dirty="0"/>
          </a:p>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The accumulated backlog still competes with new demand for the same capacity.</a:t>
            </a:r>
            <a:endParaRPr lang="en-US" sz="800" dirty="0"/>
          </a:p>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Our dependency on external SLAs is now measured rather than hidden — an improvement, but not control.</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Text 2"/>
          <p:cNvSpPr txBox="1"/>
          <p:nvPr/>
        </p:nvSpPr>
        <p:spPr>
          <a:xfrm>
            <a:off x="795528" y="219456"/>
            <a:ext cx="96926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Phase 4 — partner self-service, and tiers used as designed</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Take ECM out of the middle for everything that does not need us there, and drain the accumulated backlog through it</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Phase 4</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24128"/>
            <a:ext cx="11338560" cy="658368"/>
          </a:xfrm>
          <a:prstGeom prst="roundRect">
            <a:avLst>
              <a:gd name="adj" fmla="val 6944"/>
            </a:avLst>
          </a:prstGeom>
          <a:solidFill>
            <a:srgbClr val="15304F"/>
          </a:solidFill>
          <a:ln w="12700">
            <a:solidFill>
              <a:srgbClr val="333333"/>
            </a:solidFill>
            <a:prstDash val="solid"/>
          </a:ln>
        </p:spPr>
      </p:sp>
      <p:sp>
        <p:nvSpPr>
          <p:cNvPr id="9" name="Text 7"/>
          <p:cNvSpPr txBox="1"/>
          <p:nvPr/>
        </p:nvSpPr>
        <p:spPr>
          <a:xfrm>
            <a:off x="612648" y="1106424"/>
            <a:ext cx="1828800" cy="182880"/>
          </a:xfrm>
          <a:prstGeom prst="rect">
            <a:avLst/>
          </a:prstGeom>
          <a:noFill/>
          <a:ln/>
        </p:spPr>
        <p:txBody>
          <a:bodyPr wrap="square" lIns="0" tIns="0" rIns="0" bIns="0" rtlCol="0" anchor="ctr"/>
          <a:lstStyle/>
          <a:p>
            <a:pPr indent="0" marL="0">
              <a:buNone/>
            </a:pPr>
            <a:r>
              <a:rPr lang="en-US" sz="760" b="1" spc="140" kern="0" dirty="0">
                <a:solidFill>
                  <a:srgbClr val="CBD9E6"/>
                </a:solidFill>
                <a:latin typeface="Calibri" pitchFamily="34" charset="0"/>
                <a:ea typeface="Calibri" pitchFamily="34" charset="-122"/>
                <a:cs typeface="Calibri" pitchFamily="34" charset="-120"/>
              </a:rPr>
              <a:t>PHASE 4</a:t>
            </a:r>
            <a:endParaRPr lang="en-US" sz="760" dirty="0"/>
          </a:p>
        </p:txBody>
      </p:sp>
      <p:sp>
        <p:nvSpPr>
          <p:cNvPr id="10" name="Text 8"/>
          <p:cNvSpPr txBox="1"/>
          <p:nvPr/>
        </p:nvSpPr>
        <p:spPr>
          <a:xfrm>
            <a:off x="612648" y="1280160"/>
            <a:ext cx="4754880" cy="31089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Partner self-service</a:t>
            </a:r>
            <a:endParaRPr lang="en-US" sz="1700" dirty="0"/>
          </a:p>
        </p:txBody>
      </p:sp>
      <p:sp>
        <p:nvSpPr>
          <p:cNvPr id="11" name="Text 9"/>
          <p:cNvSpPr txBox="1"/>
          <p:nvPr/>
        </p:nvSpPr>
        <p:spPr>
          <a:xfrm>
            <a:off x="5349240" y="1133856"/>
            <a:ext cx="1920240" cy="164592"/>
          </a:xfrm>
          <a:prstGeom prst="rect">
            <a:avLst/>
          </a:prstGeom>
          <a:noFill/>
          <a:ln/>
        </p:spPr>
        <p:txBody>
          <a:bodyPr wrap="square" lIns="0" tIns="0" rIns="0" bIns="0" rtlCol="0" anchor="ctr"/>
          <a:lstStyle/>
          <a:p>
            <a:pPr indent="0" marL="0">
              <a:buNone/>
            </a:pPr>
            <a:r>
              <a:rPr lang="en-US" sz="660" b="1" spc="100" kern="0" dirty="0">
                <a:solidFill>
                  <a:srgbClr val="9FB6CC"/>
                </a:solidFill>
                <a:latin typeface="Calibri" pitchFamily="34" charset="0"/>
                <a:ea typeface="Calibri" pitchFamily="34" charset="-122"/>
                <a:cs typeface="Calibri" pitchFamily="34" charset="-120"/>
              </a:rPr>
              <a:t>DEPENDENCY</a:t>
            </a:r>
            <a:endParaRPr lang="en-US" sz="660" dirty="0"/>
          </a:p>
        </p:txBody>
      </p:sp>
      <p:sp>
        <p:nvSpPr>
          <p:cNvPr id="12" name="Text 10"/>
          <p:cNvSpPr txBox="1"/>
          <p:nvPr/>
        </p:nvSpPr>
        <p:spPr>
          <a:xfrm>
            <a:off x="5349240" y="1298448"/>
            <a:ext cx="1920240" cy="292608"/>
          </a:xfrm>
          <a:prstGeom prst="rect">
            <a:avLst/>
          </a:prstGeom>
          <a:noFill/>
          <a:ln/>
        </p:spPr>
        <p:txBody>
          <a:bodyPr wrap="square" lIns="0" tIns="0" rIns="0" bIns="0" rtlCol="0" anchor="t"/>
          <a:lstStyle/>
          <a:p>
            <a:pPr indent="0" marL="0">
              <a:lnSpc>
                <a:spcPts val="1000"/>
              </a:lnSpc>
              <a:buNone/>
            </a:pPr>
            <a:r>
              <a:rPr lang="en-US" sz="860" b="1" dirty="0">
                <a:solidFill>
                  <a:srgbClr val="FFFFFF"/>
                </a:solidFill>
                <a:latin typeface="Calibri" pitchFamily="34" charset="0"/>
                <a:ea typeface="Calibri" pitchFamily="34" charset="-122"/>
                <a:cs typeface="Calibri" pitchFamily="34" charset="-120"/>
              </a:rPr>
              <a:t>The partners themselves</a:t>
            </a:r>
            <a:endParaRPr lang="en-US" sz="860" dirty="0"/>
          </a:p>
        </p:txBody>
      </p:sp>
      <p:sp>
        <p:nvSpPr>
          <p:cNvPr id="13" name="Text 11"/>
          <p:cNvSpPr txBox="1"/>
          <p:nvPr/>
        </p:nvSpPr>
        <p:spPr>
          <a:xfrm>
            <a:off x="7415784" y="1133856"/>
            <a:ext cx="1920240" cy="164592"/>
          </a:xfrm>
          <a:prstGeom prst="rect">
            <a:avLst/>
          </a:prstGeom>
          <a:noFill/>
          <a:ln/>
        </p:spPr>
        <p:txBody>
          <a:bodyPr wrap="square" lIns="0" tIns="0" rIns="0" bIns="0" rtlCol="0" anchor="ctr"/>
          <a:lstStyle/>
          <a:p>
            <a:pPr indent="0" marL="0">
              <a:buNone/>
            </a:pPr>
            <a:r>
              <a:rPr lang="en-US" sz="660" b="1" spc="100" kern="0" dirty="0">
                <a:solidFill>
                  <a:srgbClr val="9FB6CC"/>
                </a:solidFill>
                <a:latin typeface="Calibri" pitchFamily="34" charset="0"/>
                <a:ea typeface="Calibri" pitchFamily="34" charset="-122"/>
                <a:cs typeface="Calibri" pitchFamily="34" charset="-120"/>
              </a:rPr>
              <a:t>BUILDS</a:t>
            </a:r>
            <a:endParaRPr lang="en-US" sz="660" dirty="0"/>
          </a:p>
        </p:txBody>
      </p:sp>
      <p:sp>
        <p:nvSpPr>
          <p:cNvPr id="14" name="Text 12"/>
          <p:cNvSpPr txBox="1"/>
          <p:nvPr/>
        </p:nvSpPr>
        <p:spPr>
          <a:xfrm>
            <a:off x="7415784" y="1298448"/>
            <a:ext cx="1920240" cy="292608"/>
          </a:xfrm>
          <a:prstGeom prst="rect">
            <a:avLst/>
          </a:prstGeom>
          <a:noFill/>
          <a:ln/>
        </p:spPr>
        <p:txBody>
          <a:bodyPr wrap="square" lIns="0" tIns="0" rIns="0" bIns="0" rtlCol="0" anchor="t"/>
          <a:lstStyle/>
          <a:p>
            <a:pPr indent="0" marL="0">
              <a:lnSpc>
                <a:spcPts val="1000"/>
              </a:lnSpc>
              <a:buNone/>
            </a:pPr>
            <a:r>
              <a:rPr lang="en-US" sz="860" b="1" dirty="0">
                <a:solidFill>
                  <a:srgbClr val="FFFFFF"/>
                </a:solidFill>
                <a:latin typeface="Calibri" pitchFamily="34" charset="0"/>
                <a:ea typeface="Calibri" pitchFamily="34" charset="-122"/>
                <a:cs typeface="Calibri" pitchFamily="34" charset="-120"/>
              </a:rPr>
              <a:t>Partner-facing</a:t>
            </a:r>
            <a:endParaRPr lang="en-US" sz="860" dirty="0"/>
          </a:p>
        </p:txBody>
      </p:sp>
      <p:sp>
        <p:nvSpPr>
          <p:cNvPr id="15" name="Text 13"/>
          <p:cNvSpPr txBox="1"/>
          <p:nvPr/>
        </p:nvSpPr>
        <p:spPr>
          <a:xfrm>
            <a:off x="9482328" y="1133856"/>
            <a:ext cx="1920240" cy="164592"/>
          </a:xfrm>
          <a:prstGeom prst="rect">
            <a:avLst/>
          </a:prstGeom>
          <a:noFill/>
          <a:ln/>
        </p:spPr>
        <p:txBody>
          <a:bodyPr wrap="square" lIns="0" tIns="0" rIns="0" bIns="0" rtlCol="0" anchor="ctr"/>
          <a:lstStyle/>
          <a:p>
            <a:pPr indent="0" marL="0">
              <a:buNone/>
            </a:pPr>
            <a:r>
              <a:rPr lang="en-US" sz="660" b="1" spc="100" kern="0" dirty="0">
                <a:solidFill>
                  <a:srgbClr val="9FB6CC"/>
                </a:solidFill>
                <a:latin typeface="Calibri" pitchFamily="34" charset="0"/>
                <a:ea typeface="Calibri" pitchFamily="34" charset="-122"/>
                <a:cs typeface="Calibri" pitchFamily="34" charset="-120"/>
              </a:rPr>
              <a:t>AI</a:t>
            </a:r>
            <a:endParaRPr lang="en-US" sz="660" dirty="0"/>
          </a:p>
        </p:txBody>
      </p:sp>
      <p:sp>
        <p:nvSpPr>
          <p:cNvPr id="16" name="Text 14"/>
          <p:cNvSpPr txBox="1"/>
          <p:nvPr/>
        </p:nvSpPr>
        <p:spPr>
          <a:xfrm>
            <a:off x="9482328" y="1298448"/>
            <a:ext cx="1920240" cy="292608"/>
          </a:xfrm>
          <a:prstGeom prst="rect">
            <a:avLst/>
          </a:prstGeom>
          <a:noFill/>
          <a:ln/>
        </p:spPr>
        <p:txBody>
          <a:bodyPr wrap="square" lIns="0" tIns="0" rIns="0" bIns="0" rtlCol="0" anchor="t"/>
          <a:lstStyle/>
          <a:p>
            <a:pPr indent="0" marL="0">
              <a:lnSpc>
                <a:spcPts val="1000"/>
              </a:lnSpc>
              <a:buNone/>
            </a:pPr>
            <a:r>
              <a:rPr lang="en-US" sz="860" b="1" dirty="0">
                <a:solidFill>
                  <a:srgbClr val="FFFFFF"/>
                </a:solidFill>
                <a:latin typeface="Calibri" pitchFamily="34" charset="0"/>
                <a:ea typeface="Calibri" pitchFamily="34" charset="-122"/>
                <a:cs typeface="Calibri" pitchFamily="34" charset="-120"/>
              </a:rPr>
              <a:t>Guided; judgement gates retained</a:t>
            </a:r>
            <a:endParaRPr lang="en-US" sz="860" dirty="0"/>
          </a:p>
        </p:txBody>
      </p:sp>
      <p:sp>
        <p:nvSpPr>
          <p:cNvPr id="17" name="Text 15"/>
          <p:cNvSpPr txBox="1"/>
          <p:nvPr/>
        </p:nvSpPr>
        <p:spPr>
          <a:xfrm>
            <a:off x="411480" y="1828800"/>
            <a:ext cx="585216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THE PARTNER'S JOURNEY THROUGH AN INTAKE IN THIS PHASE</a:t>
            </a:r>
            <a:endParaRPr lang="en-US" sz="760" dirty="0"/>
          </a:p>
        </p:txBody>
      </p:sp>
      <p:sp>
        <p:nvSpPr>
          <p:cNvPr id="18" name="Shape 16"/>
          <p:cNvSpPr/>
          <p:nvPr/>
        </p:nvSpPr>
        <p:spPr>
          <a:xfrm>
            <a:off x="7360920" y="1837944"/>
            <a:ext cx="128016" cy="109728"/>
          </a:xfrm>
          <a:prstGeom prst="rect">
            <a:avLst/>
          </a:prstGeom>
          <a:solidFill>
            <a:srgbClr val="15304F"/>
          </a:solidFill>
          <a:ln w="12700">
            <a:solidFill>
              <a:srgbClr val="333333"/>
            </a:solidFill>
            <a:prstDash val="solid"/>
          </a:ln>
        </p:spPr>
      </p:sp>
      <p:sp>
        <p:nvSpPr>
          <p:cNvPr id="19" name="Text 17"/>
          <p:cNvSpPr txBox="1"/>
          <p:nvPr/>
        </p:nvSpPr>
        <p:spPr>
          <a:xfrm>
            <a:off x="7543800" y="1810512"/>
            <a:ext cx="1188720" cy="164592"/>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ECM drives</a:t>
            </a:r>
            <a:endParaRPr lang="en-US" sz="760" dirty="0"/>
          </a:p>
        </p:txBody>
      </p:sp>
      <p:sp>
        <p:nvSpPr>
          <p:cNvPr id="20" name="Shape 18"/>
          <p:cNvSpPr/>
          <p:nvPr/>
        </p:nvSpPr>
        <p:spPr>
          <a:xfrm>
            <a:off x="8787384" y="1837944"/>
            <a:ext cx="128016" cy="109728"/>
          </a:xfrm>
          <a:prstGeom prst="rect">
            <a:avLst/>
          </a:prstGeom>
          <a:solidFill>
            <a:srgbClr val="3E6686"/>
          </a:solidFill>
          <a:ln w="12700">
            <a:solidFill>
              <a:srgbClr val="333333"/>
            </a:solidFill>
            <a:prstDash val="solid"/>
          </a:ln>
        </p:spPr>
      </p:sp>
      <p:sp>
        <p:nvSpPr>
          <p:cNvPr id="21" name="Text 19"/>
          <p:cNvSpPr txBox="1"/>
          <p:nvPr/>
        </p:nvSpPr>
        <p:spPr>
          <a:xfrm>
            <a:off x="8970264" y="1810512"/>
            <a:ext cx="1188720" cy="164592"/>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Shared</a:t>
            </a:r>
            <a:endParaRPr lang="en-US" sz="760" dirty="0"/>
          </a:p>
        </p:txBody>
      </p:sp>
      <p:sp>
        <p:nvSpPr>
          <p:cNvPr id="22" name="Shape 20"/>
          <p:cNvSpPr/>
          <p:nvPr/>
        </p:nvSpPr>
        <p:spPr>
          <a:xfrm>
            <a:off x="10213848" y="1837944"/>
            <a:ext cx="128016" cy="109728"/>
          </a:xfrm>
          <a:prstGeom prst="rect">
            <a:avLst/>
          </a:prstGeom>
          <a:solidFill>
            <a:srgbClr val="2E6B4F"/>
          </a:solidFill>
          <a:ln w="12700">
            <a:solidFill>
              <a:srgbClr val="333333"/>
            </a:solidFill>
            <a:prstDash val="solid"/>
          </a:ln>
        </p:spPr>
      </p:sp>
      <p:sp>
        <p:nvSpPr>
          <p:cNvPr id="23" name="Text 21"/>
          <p:cNvSpPr txBox="1"/>
          <p:nvPr/>
        </p:nvSpPr>
        <p:spPr>
          <a:xfrm>
            <a:off x="10396728" y="1810512"/>
            <a:ext cx="1188720" cy="164592"/>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Partner drives</a:t>
            </a:r>
            <a:endParaRPr lang="en-US" sz="760" dirty="0"/>
          </a:p>
        </p:txBody>
      </p:sp>
      <p:sp>
        <p:nvSpPr>
          <p:cNvPr id="24" name="Shape 22"/>
          <p:cNvSpPr/>
          <p:nvPr/>
        </p:nvSpPr>
        <p:spPr>
          <a:xfrm>
            <a:off x="411480" y="2029968"/>
            <a:ext cx="2194560" cy="950976"/>
          </a:xfrm>
          <a:prstGeom prst="roundRect">
            <a:avLst>
              <a:gd name="adj" fmla="val 3846"/>
            </a:avLst>
          </a:prstGeom>
          <a:solidFill>
            <a:srgbClr val="ECF3EE"/>
          </a:solidFill>
          <a:ln w="12700">
            <a:solidFill>
              <a:srgbClr val="2E6B4F"/>
            </a:solidFill>
            <a:prstDash val="solid"/>
          </a:ln>
        </p:spPr>
      </p:sp>
      <p:sp>
        <p:nvSpPr>
          <p:cNvPr id="25" name="Shape 23"/>
          <p:cNvSpPr/>
          <p:nvPr/>
        </p:nvSpPr>
        <p:spPr>
          <a:xfrm>
            <a:off x="411480" y="2029968"/>
            <a:ext cx="2194560" cy="50292"/>
          </a:xfrm>
          <a:prstGeom prst="rect">
            <a:avLst/>
          </a:prstGeom>
          <a:solidFill>
            <a:srgbClr val="2E6B4F"/>
          </a:solidFill>
          <a:ln w="12700">
            <a:solidFill>
              <a:srgbClr val="333333"/>
            </a:solidFill>
            <a:prstDash val="solid"/>
          </a:ln>
        </p:spPr>
      </p:sp>
      <p:sp>
        <p:nvSpPr>
          <p:cNvPr id="26" name="Text 24"/>
          <p:cNvSpPr txBox="1"/>
          <p:nvPr/>
        </p:nvSpPr>
        <p:spPr>
          <a:xfrm>
            <a:off x="521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Raise the intake</a:t>
            </a:r>
            <a:endParaRPr lang="en-US" sz="860" dirty="0"/>
          </a:p>
        </p:txBody>
      </p:sp>
      <p:sp>
        <p:nvSpPr>
          <p:cNvPr id="27" name="Text 25"/>
          <p:cNvSpPr txBox="1"/>
          <p:nvPr/>
        </p:nvSpPr>
        <p:spPr>
          <a:xfrm>
            <a:off x="521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Partner initiates against a proven pattern, no conversation needed.</a:t>
            </a:r>
            <a:endParaRPr lang="en-US" sz="760" dirty="0"/>
          </a:p>
        </p:txBody>
      </p:sp>
      <p:sp>
        <p:nvSpPr>
          <p:cNvPr id="28" name="Text 26"/>
          <p:cNvSpPr txBox="1"/>
          <p:nvPr/>
        </p:nvSpPr>
        <p:spPr>
          <a:xfrm>
            <a:off x="521208" y="2779776"/>
            <a:ext cx="1975104" cy="146304"/>
          </a:xfrm>
          <a:prstGeom prst="rect">
            <a:avLst/>
          </a:prstGeom>
          <a:noFill/>
          <a:ln/>
        </p:spPr>
        <p:txBody>
          <a:bodyPr wrap="square" lIns="0" tIns="0" rIns="0" bIns="0" rtlCol="0" anchor="ctr"/>
          <a:lstStyle/>
          <a:p>
            <a:pPr indent="0" marL="0">
              <a:buNone/>
            </a:pPr>
            <a:r>
              <a:rPr lang="en-US" sz="630" b="1" spc="90" kern="0" dirty="0">
                <a:solidFill>
                  <a:srgbClr val="2E6B4F"/>
                </a:solidFill>
                <a:latin typeface="Calibri" pitchFamily="34" charset="0"/>
                <a:ea typeface="Calibri" pitchFamily="34" charset="-122"/>
                <a:cs typeface="Calibri" pitchFamily="34" charset="-120"/>
              </a:rPr>
              <a:t>PARTNER DRIVES</a:t>
            </a:r>
            <a:endParaRPr lang="en-US" sz="630" dirty="0"/>
          </a:p>
        </p:txBody>
      </p:sp>
      <p:sp>
        <p:nvSpPr>
          <p:cNvPr id="29" name="Text 27"/>
          <p:cNvSpPr txBox="1"/>
          <p:nvPr/>
        </p:nvSpPr>
        <p:spPr>
          <a:xfrm>
            <a:off x="2596896" y="2377440"/>
            <a:ext cx="109728" cy="256032"/>
          </a:xfrm>
          <a:prstGeom prst="rect">
            <a:avLst/>
          </a:prstGeom>
          <a:noFill/>
          <a:ln/>
        </p:spPr>
        <p:txBody>
          <a:bodyPr wrap="square" lIns="0" tIns="0" rIns="0" bIns="0" rtlCol="0" anchor="ctr"/>
          <a:lstStyle/>
          <a:p>
            <a:pPr algn="ctr" indent="0" marL="0">
              <a:buNone/>
            </a:pPr>
            <a:r>
              <a:rPr lang="en-US" sz="1000" b="1" dirty="0">
                <a:solidFill>
                  <a:srgbClr val="7C8798"/>
                </a:solidFill>
                <a:latin typeface="Calibri" pitchFamily="34" charset="0"/>
                <a:ea typeface="Calibri" pitchFamily="34" charset="-122"/>
                <a:cs typeface="Calibri" pitchFamily="34" charset="-120"/>
              </a:rPr>
              <a:t>&gt;</a:t>
            </a:r>
            <a:endParaRPr lang="en-US" sz="1000" dirty="0"/>
          </a:p>
        </p:txBody>
      </p:sp>
      <p:sp>
        <p:nvSpPr>
          <p:cNvPr id="30" name="Shape 28"/>
          <p:cNvSpPr/>
          <p:nvPr/>
        </p:nvSpPr>
        <p:spPr>
          <a:xfrm>
            <a:off x="2697480" y="2029968"/>
            <a:ext cx="2194560" cy="950976"/>
          </a:xfrm>
          <a:prstGeom prst="roundRect">
            <a:avLst>
              <a:gd name="adj" fmla="val 3846"/>
            </a:avLst>
          </a:prstGeom>
          <a:solidFill>
            <a:srgbClr val="ECF3EE"/>
          </a:solidFill>
          <a:ln w="12700">
            <a:solidFill>
              <a:srgbClr val="2E6B4F"/>
            </a:solidFill>
            <a:prstDash val="solid"/>
          </a:ln>
        </p:spPr>
      </p:sp>
      <p:sp>
        <p:nvSpPr>
          <p:cNvPr id="31" name="Shape 29"/>
          <p:cNvSpPr/>
          <p:nvPr/>
        </p:nvSpPr>
        <p:spPr>
          <a:xfrm>
            <a:off x="2697480" y="2029968"/>
            <a:ext cx="2194560" cy="50292"/>
          </a:xfrm>
          <a:prstGeom prst="rect">
            <a:avLst/>
          </a:prstGeom>
          <a:solidFill>
            <a:srgbClr val="2E6B4F"/>
          </a:solidFill>
          <a:ln w="12700">
            <a:solidFill>
              <a:srgbClr val="333333"/>
            </a:solidFill>
            <a:prstDash val="solid"/>
          </a:ln>
        </p:spPr>
      </p:sp>
      <p:sp>
        <p:nvSpPr>
          <p:cNvPr id="32" name="Text 30"/>
          <p:cNvSpPr txBox="1"/>
          <p:nvPr/>
        </p:nvSpPr>
        <p:spPr>
          <a:xfrm>
            <a:off x="2807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Establish requirements</a:t>
            </a:r>
            <a:endParaRPr lang="en-US" sz="860" dirty="0"/>
          </a:p>
        </p:txBody>
      </p:sp>
      <p:sp>
        <p:nvSpPr>
          <p:cNvPr id="33" name="Text 31"/>
          <p:cNvSpPr txBox="1"/>
          <p:nvPr/>
        </p:nvSpPr>
        <p:spPr>
          <a:xfrm>
            <a:off x="2807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Self-served with guidance; the pattern carries most of the answers.</a:t>
            </a:r>
            <a:endParaRPr lang="en-US" sz="760" dirty="0"/>
          </a:p>
        </p:txBody>
      </p:sp>
      <p:sp>
        <p:nvSpPr>
          <p:cNvPr id="34" name="Text 32"/>
          <p:cNvSpPr txBox="1"/>
          <p:nvPr/>
        </p:nvSpPr>
        <p:spPr>
          <a:xfrm>
            <a:off x="2807208" y="2779776"/>
            <a:ext cx="1975104" cy="146304"/>
          </a:xfrm>
          <a:prstGeom prst="rect">
            <a:avLst/>
          </a:prstGeom>
          <a:noFill/>
          <a:ln/>
        </p:spPr>
        <p:txBody>
          <a:bodyPr wrap="square" lIns="0" tIns="0" rIns="0" bIns="0" rtlCol="0" anchor="ctr"/>
          <a:lstStyle/>
          <a:p>
            <a:pPr indent="0" marL="0">
              <a:buNone/>
            </a:pPr>
            <a:r>
              <a:rPr lang="en-US" sz="630" b="1" spc="90" kern="0" dirty="0">
                <a:solidFill>
                  <a:srgbClr val="2E6B4F"/>
                </a:solidFill>
                <a:latin typeface="Calibri" pitchFamily="34" charset="0"/>
                <a:ea typeface="Calibri" pitchFamily="34" charset="-122"/>
                <a:cs typeface="Calibri" pitchFamily="34" charset="-120"/>
              </a:rPr>
              <a:t>PARTNER DRIVES</a:t>
            </a:r>
            <a:endParaRPr lang="en-US" sz="630" dirty="0"/>
          </a:p>
        </p:txBody>
      </p:sp>
      <p:sp>
        <p:nvSpPr>
          <p:cNvPr id="35" name="Text 33"/>
          <p:cNvSpPr txBox="1"/>
          <p:nvPr/>
        </p:nvSpPr>
        <p:spPr>
          <a:xfrm>
            <a:off x="4882896" y="2377440"/>
            <a:ext cx="109728" cy="256032"/>
          </a:xfrm>
          <a:prstGeom prst="rect">
            <a:avLst/>
          </a:prstGeom>
          <a:noFill/>
          <a:ln/>
        </p:spPr>
        <p:txBody>
          <a:bodyPr wrap="square" lIns="0" tIns="0" rIns="0" bIns="0" rtlCol="0" anchor="ctr"/>
          <a:lstStyle/>
          <a:p>
            <a:pPr algn="ctr" indent="0" marL="0">
              <a:buNone/>
            </a:pPr>
            <a:r>
              <a:rPr lang="en-US" sz="1000" b="1" dirty="0">
                <a:solidFill>
                  <a:srgbClr val="7C8798"/>
                </a:solidFill>
                <a:latin typeface="Calibri" pitchFamily="34" charset="0"/>
                <a:ea typeface="Calibri" pitchFamily="34" charset="-122"/>
                <a:cs typeface="Calibri" pitchFamily="34" charset="-120"/>
              </a:rPr>
              <a:t>&gt;</a:t>
            </a:r>
            <a:endParaRPr lang="en-US" sz="1000" dirty="0"/>
          </a:p>
        </p:txBody>
      </p:sp>
      <p:sp>
        <p:nvSpPr>
          <p:cNvPr id="36" name="Shape 34"/>
          <p:cNvSpPr/>
          <p:nvPr/>
        </p:nvSpPr>
        <p:spPr>
          <a:xfrm>
            <a:off x="4983480" y="2029968"/>
            <a:ext cx="2194560" cy="950976"/>
          </a:xfrm>
          <a:prstGeom prst="roundRect">
            <a:avLst>
              <a:gd name="adj" fmla="val 3846"/>
            </a:avLst>
          </a:prstGeom>
          <a:solidFill>
            <a:srgbClr val="ECF3EE"/>
          </a:solidFill>
          <a:ln w="12700">
            <a:solidFill>
              <a:srgbClr val="2E6B4F"/>
            </a:solidFill>
            <a:prstDash val="solid"/>
          </a:ln>
        </p:spPr>
      </p:sp>
      <p:sp>
        <p:nvSpPr>
          <p:cNvPr id="37" name="Shape 35"/>
          <p:cNvSpPr/>
          <p:nvPr/>
        </p:nvSpPr>
        <p:spPr>
          <a:xfrm>
            <a:off x="4983480" y="2029968"/>
            <a:ext cx="2194560" cy="50292"/>
          </a:xfrm>
          <a:prstGeom prst="rect">
            <a:avLst/>
          </a:prstGeom>
          <a:solidFill>
            <a:srgbClr val="2E6B4F"/>
          </a:solidFill>
          <a:ln w="12700">
            <a:solidFill>
              <a:srgbClr val="333333"/>
            </a:solidFill>
            <a:prstDash val="solid"/>
          </a:ln>
        </p:spPr>
      </p:sp>
      <p:sp>
        <p:nvSpPr>
          <p:cNvPr id="38" name="Text 36"/>
          <p:cNvSpPr txBox="1"/>
          <p:nvPr/>
        </p:nvSpPr>
        <p:spPr>
          <a:xfrm>
            <a:off x="5093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Build &amp; configure</a:t>
            </a:r>
            <a:endParaRPr lang="en-US" sz="860" dirty="0"/>
          </a:p>
        </p:txBody>
      </p:sp>
      <p:sp>
        <p:nvSpPr>
          <p:cNvPr id="39" name="Text 37"/>
          <p:cNvSpPr txBox="1"/>
          <p:nvPr/>
        </p:nvSpPr>
        <p:spPr>
          <a:xfrm>
            <a:off x="5093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Partner provisions within pre-approved policy bounds.</a:t>
            </a:r>
            <a:endParaRPr lang="en-US" sz="760" dirty="0"/>
          </a:p>
        </p:txBody>
      </p:sp>
      <p:sp>
        <p:nvSpPr>
          <p:cNvPr id="40" name="Text 38"/>
          <p:cNvSpPr txBox="1"/>
          <p:nvPr/>
        </p:nvSpPr>
        <p:spPr>
          <a:xfrm>
            <a:off x="5093208" y="2779776"/>
            <a:ext cx="1975104" cy="146304"/>
          </a:xfrm>
          <a:prstGeom prst="rect">
            <a:avLst/>
          </a:prstGeom>
          <a:noFill/>
          <a:ln/>
        </p:spPr>
        <p:txBody>
          <a:bodyPr wrap="square" lIns="0" tIns="0" rIns="0" bIns="0" rtlCol="0" anchor="ctr"/>
          <a:lstStyle/>
          <a:p>
            <a:pPr indent="0" marL="0">
              <a:buNone/>
            </a:pPr>
            <a:r>
              <a:rPr lang="en-US" sz="630" b="1" spc="90" kern="0" dirty="0">
                <a:solidFill>
                  <a:srgbClr val="2E6B4F"/>
                </a:solidFill>
                <a:latin typeface="Calibri" pitchFamily="34" charset="0"/>
                <a:ea typeface="Calibri" pitchFamily="34" charset="-122"/>
                <a:cs typeface="Calibri" pitchFamily="34" charset="-120"/>
              </a:rPr>
              <a:t>PARTNER DRIVES</a:t>
            </a:r>
            <a:endParaRPr lang="en-US" sz="630" dirty="0"/>
          </a:p>
        </p:txBody>
      </p:sp>
      <p:sp>
        <p:nvSpPr>
          <p:cNvPr id="41" name="Text 39"/>
          <p:cNvSpPr txBox="1"/>
          <p:nvPr/>
        </p:nvSpPr>
        <p:spPr>
          <a:xfrm>
            <a:off x="7168896" y="2377440"/>
            <a:ext cx="109728" cy="256032"/>
          </a:xfrm>
          <a:prstGeom prst="rect">
            <a:avLst/>
          </a:prstGeom>
          <a:noFill/>
          <a:ln/>
        </p:spPr>
        <p:txBody>
          <a:bodyPr wrap="square" lIns="0" tIns="0" rIns="0" bIns="0" rtlCol="0" anchor="ctr"/>
          <a:lstStyle/>
          <a:p>
            <a:pPr algn="ctr" indent="0" marL="0">
              <a:buNone/>
            </a:pPr>
            <a:r>
              <a:rPr lang="en-US" sz="1000" b="1" dirty="0">
                <a:solidFill>
                  <a:srgbClr val="7C8798"/>
                </a:solidFill>
                <a:latin typeface="Calibri" pitchFamily="34" charset="0"/>
                <a:ea typeface="Calibri" pitchFamily="34" charset="-122"/>
                <a:cs typeface="Calibri" pitchFamily="34" charset="-120"/>
              </a:rPr>
              <a:t>&gt;</a:t>
            </a:r>
            <a:endParaRPr lang="en-US" sz="1000" dirty="0"/>
          </a:p>
        </p:txBody>
      </p:sp>
      <p:sp>
        <p:nvSpPr>
          <p:cNvPr id="42" name="Shape 40"/>
          <p:cNvSpPr/>
          <p:nvPr/>
        </p:nvSpPr>
        <p:spPr>
          <a:xfrm>
            <a:off x="7269480" y="2029968"/>
            <a:ext cx="2194560" cy="950976"/>
          </a:xfrm>
          <a:prstGeom prst="roundRect">
            <a:avLst>
              <a:gd name="adj" fmla="val 3846"/>
            </a:avLst>
          </a:prstGeom>
          <a:solidFill>
            <a:srgbClr val="EAF0F5"/>
          </a:solidFill>
          <a:ln w="12700">
            <a:solidFill>
              <a:srgbClr val="3E6686"/>
            </a:solidFill>
            <a:prstDash val="solid"/>
          </a:ln>
        </p:spPr>
      </p:sp>
      <p:sp>
        <p:nvSpPr>
          <p:cNvPr id="43" name="Shape 41"/>
          <p:cNvSpPr/>
          <p:nvPr/>
        </p:nvSpPr>
        <p:spPr>
          <a:xfrm>
            <a:off x="7269480" y="2029968"/>
            <a:ext cx="2194560" cy="50292"/>
          </a:xfrm>
          <a:prstGeom prst="rect">
            <a:avLst/>
          </a:prstGeom>
          <a:solidFill>
            <a:srgbClr val="3E6686"/>
          </a:solidFill>
          <a:ln w="12700">
            <a:solidFill>
              <a:srgbClr val="333333"/>
            </a:solidFill>
            <a:prstDash val="solid"/>
          </a:ln>
        </p:spPr>
      </p:sp>
      <p:sp>
        <p:nvSpPr>
          <p:cNvPr id="44" name="Text 42"/>
          <p:cNvSpPr txBox="1"/>
          <p:nvPr/>
        </p:nvSpPr>
        <p:spPr>
          <a:xfrm>
            <a:off x="7379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Clear the gates</a:t>
            </a:r>
            <a:endParaRPr lang="en-US" sz="860" dirty="0"/>
          </a:p>
        </p:txBody>
      </p:sp>
      <p:sp>
        <p:nvSpPr>
          <p:cNvPr id="45" name="Text 43"/>
          <p:cNvSpPr txBox="1"/>
          <p:nvPr/>
        </p:nvSpPr>
        <p:spPr>
          <a:xfrm>
            <a:off x="7379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Partner clears deterministic gates; judgement gates stay with ECM.</a:t>
            </a:r>
            <a:endParaRPr lang="en-US" sz="760" dirty="0"/>
          </a:p>
        </p:txBody>
      </p:sp>
      <p:sp>
        <p:nvSpPr>
          <p:cNvPr id="46" name="Text 44"/>
          <p:cNvSpPr txBox="1"/>
          <p:nvPr/>
        </p:nvSpPr>
        <p:spPr>
          <a:xfrm>
            <a:off x="7379208" y="2779776"/>
            <a:ext cx="1975104" cy="146304"/>
          </a:xfrm>
          <a:prstGeom prst="rect">
            <a:avLst/>
          </a:prstGeom>
          <a:noFill/>
          <a:ln/>
        </p:spPr>
        <p:txBody>
          <a:bodyPr wrap="square" lIns="0" tIns="0" rIns="0" bIns="0" rtlCol="0" anchor="ctr"/>
          <a:lstStyle/>
          <a:p>
            <a:pPr indent="0" marL="0">
              <a:buNone/>
            </a:pPr>
            <a:r>
              <a:rPr lang="en-US" sz="630" b="1" spc="90" kern="0" dirty="0">
                <a:solidFill>
                  <a:srgbClr val="3E6686"/>
                </a:solidFill>
                <a:latin typeface="Calibri" pitchFamily="34" charset="0"/>
                <a:ea typeface="Calibri" pitchFamily="34" charset="-122"/>
                <a:cs typeface="Calibri" pitchFamily="34" charset="-120"/>
              </a:rPr>
              <a:t>SHARED</a:t>
            </a:r>
            <a:endParaRPr lang="en-US" sz="630" dirty="0"/>
          </a:p>
        </p:txBody>
      </p:sp>
      <p:sp>
        <p:nvSpPr>
          <p:cNvPr id="47" name="Text 45"/>
          <p:cNvSpPr txBox="1"/>
          <p:nvPr/>
        </p:nvSpPr>
        <p:spPr>
          <a:xfrm>
            <a:off x="9454896" y="2377440"/>
            <a:ext cx="109728" cy="256032"/>
          </a:xfrm>
          <a:prstGeom prst="rect">
            <a:avLst/>
          </a:prstGeom>
          <a:noFill/>
          <a:ln/>
        </p:spPr>
        <p:txBody>
          <a:bodyPr wrap="square" lIns="0" tIns="0" rIns="0" bIns="0" rtlCol="0" anchor="ctr"/>
          <a:lstStyle/>
          <a:p>
            <a:pPr algn="ctr" indent="0" marL="0">
              <a:buNone/>
            </a:pPr>
            <a:r>
              <a:rPr lang="en-US" sz="1000" b="1" dirty="0">
                <a:solidFill>
                  <a:srgbClr val="7C8798"/>
                </a:solidFill>
                <a:latin typeface="Calibri" pitchFamily="34" charset="0"/>
                <a:ea typeface="Calibri" pitchFamily="34" charset="-122"/>
                <a:cs typeface="Calibri" pitchFamily="34" charset="-120"/>
              </a:rPr>
              <a:t>&gt;</a:t>
            </a:r>
            <a:endParaRPr lang="en-US" sz="1000" dirty="0"/>
          </a:p>
        </p:txBody>
      </p:sp>
      <p:sp>
        <p:nvSpPr>
          <p:cNvPr id="48" name="Shape 46"/>
          <p:cNvSpPr/>
          <p:nvPr/>
        </p:nvSpPr>
        <p:spPr>
          <a:xfrm>
            <a:off x="9555480" y="2029968"/>
            <a:ext cx="2194560" cy="950976"/>
          </a:xfrm>
          <a:prstGeom prst="roundRect">
            <a:avLst>
              <a:gd name="adj" fmla="val 3846"/>
            </a:avLst>
          </a:prstGeom>
          <a:solidFill>
            <a:srgbClr val="ECF3EE"/>
          </a:solidFill>
          <a:ln w="12700">
            <a:solidFill>
              <a:srgbClr val="2E6B4F"/>
            </a:solidFill>
            <a:prstDash val="solid"/>
          </a:ln>
        </p:spPr>
      </p:sp>
      <p:sp>
        <p:nvSpPr>
          <p:cNvPr id="49" name="Shape 47"/>
          <p:cNvSpPr/>
          <p:nvPr/>
        </p:nvSpPr>
        <p:spPr>
          <a:xfrm>
            <a:off x="9555480" y="2029968"/>
            <a:ext cx="2194560" cy="50292"/>
          </a:xfrm>
          <a:prstGeom prst="rect">
            <a:avLst/>
          </a:prstGeom>
          <a:solidFill>
            <a:srgbClr val="2E6B4F"/>
          </a:solidFill>
          <a:ln w="12700">
            <a:solidFill>
              <a:srgbClr val="333333"/>
            </a:solidFill>
            <a:prstDash val="solid"/>
          </a:ln>
        </p:spPr>
      </p:sp>
      <p:sp>
        <p:nvSpPr>
          <p:cNvPr id="50" name="Text 48"/>
          <p:cNvSpPr txBox="1"/>
          <p:nvPr/>
        </p:nvSpPr>
        <p:spPr>
          <a:xfrm>
            <a:off x="9665208" y="2139696"/>
            <a:ext cx="1975104" cy="18288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Go live &amp; support</a:t>
            </a:r>
            <a:endParaRPr lang="en-US" sz="860" dirty="0"/>
          </a:p>
        </p:txBody>
      </p:sp>
      <p:sp>
        <p:nvSpPr>
          <p:cNvPr id="51" name="Text 49"/>
          <p:cNvSpPr txBox="1"/>
          <p:nvPr/>
        </p:nvSpPr>
        <p:spPr>
          <a:xfrm>
            <a:off x="9665208" y="2340864"/>
            <a:ext cx="1975104" cy="402336"/>
          </a:xfrm>
          <a:prstGeom prst="rect">
            <a:avLst/>
          </a:prstGeom>
          <a:noFill/>
          <a:ln/>
        </p:spPr>
        <p:txBody>
          <a:bodyPr wrap="square" lIns="0" tIns="0" rIns="0" bIns="0" rtlCol="0" anchor="t"/>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Partner-led, with ECM on escalation only.</a:t>
            </a:r>
            <a:endParaRPr lang="en-US" sz="760" dirty="0"/>
          </a:p>
        </p:txBody>
      </p:sp>
      <p:sp>
        <p:nvSpPr>
          <p:cNvPr id="52" name="Text 50"/>
          <p:cNvSpPr txBox="1"/>
          <p:nvPr/>
        </p:nvSpPr>
        <p:spPr>
          <a:xfrm>
            <a:off x="9665208" y="2779776"/>
            <a:ext cx="1975104" cy="146304"/>
          </a:xfrm>
          <a:prstGeom prst="rect">
            <a:avLst/>
          </a:prstGeom>
          <a:noFill/>
          <a:ln/>
        </p:spPr>
        <p:txBody>
          <a:bodyPr wrap="square" lIns="0" tIns="0" rIns="0" bIns="0" rtlCol="0" anchor="ctr"/>
          <a:lstStyle/>
          <a:p>
            <a:pPr indent="0" marL="0">
              <a:buNone/>
            </a:pPr>
            <a:r>
              <a:rPr lang="en-US" sz="630" b="1" spc="90" kern="0" dirty="0">
                <a:solidFill>
                  <a:srgbClr val="2E6B4F"/>
                </a:solidFill>
                <a:latin typeface="Calibri" pitchFamily="34" charset="0"/>
                <a:ea typeface="Calibri" pitchFamily="34" charset="-122"/>
                <a:cs typeface="Calibri" pitchFamily="34" charset="-120"/>
              </a:rPr>
              <a:t>PARTNER DRIVES</a:t>
            </a:r>
            <a:endParaRPr lang="en-US" sz="630" dirty="0"/>
          </a:p>
        </p:txBody>
      </p:sp>
      <p:sp>
        <p:nvSpPr>
          <p:cNvPr id="53" name="Text 51"/>
          <p:cNvSpPr txBox="1"/>
          <p:nvPr/>
        </p:nvSpPr>
        <p:spPr>
          <a:xfrm>
            <a:off x="411480" y="3127248"/>
            <a:ext cx="548640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WHAT CHANGES IN THIS PHASE</a:t>
            </a:r>
            <a:endParaRPr lang="en-US" sz="760" dirty="0"/>
          </a:p>
        </p:txBody>
      </p:sp>
      <p:sp>
        <p:nvSpPr>
          <p:cNvPr id="54" name="Text 52"/>
          <p:cNvSpPr txBox="1"/>
          <p:nvPr/>
        </p:nvSpPr>
        <p:spPr>
          <a:xfrm>
            <a:off x="6172200" y="3127248"/>
            <a:ext cx="548640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AUTOMATION, AI AND AGENTIC CAPABILITY</a:t>
            </a:r>
            <a:endParaRPr lang="en-US" sz="760" dirty="0"/>
          </a:p>
        </p:txBody>
      </p:sp>
      <p:sp>
        <p:nvSpPr>
          <p:cNvPr id="55" name="Shape 53"/>
          <p:cNvSpPr/>
          <p:nvPr/>
        </p:nvSpPr>
        <p:spPr>
          <a:xfrm>
            <a:off x="411480" y="3328416"/>
            <a:ext cx="5577840" cy="1627632"/>
          </a:xfrm>
          <a:prstGeom prst="roundRect">
            <a:avLst>
              <a:gd name="adj" fmla="val 2809"/>
            </a:avLst>
          </a:prstGeom>
          <a:solidFill>
            <a:srgbClr val="FFFFFF"/>
          </a:solidFill>
          <a:ln w="15875">
            <a:solidFill>
              <a:srgbClr val="15304F"/>
            </a:solidFill>
            <a:prstDash val="solid"/>
          </a:ln>
          <a:effectLst>
            <a:outerShdw sx="100000" sy="100000" kx="0" ky="0" algn="bl" rotWithShape="0" blurRad="88900" dist="12700" dir="5400000">
              <a:srgbClr val="97A3B4">
                <a:alpha val="16000"/>
              </a:srgbClr>
            </a:outerShdw>
          </a:effectLst>
        </p:spPr>
      </p:sp>
      <p:sp>
        <p:nvSpPr>
          <p:cNvPr id="56" name="Text 54"/>
          <p:cNvSpPr txBox="1"/>
          <p:nvPr/>
        </p:nvSpPr>
        <p:spPr>
          <a:xfrm>
            <a:off x="557784" y="3456432"/>
            <a:ext cx="5285232" cy="310896"/>
          </a:xfrm>
          <a:prstGeom prst="rect">
            <a:avLst/>
          </a:prstGeom>
          <a:noFill/>
          <a:ln/>
        </p:spPr>
        <p:txBody>
          <a:bodyPr wrap="square" lIns="0" tIns="0" rIns="0" bIns="0" rtlCol="0" anchor="t"/>
          <a:lstStyle/>
          <a:p>
            <a:pPr indent="0" marL="0">
              <a:lnSpc>
                <a:spcPts val="1300"/>
              </a:lnSpc>
              <a:buNone/>
            </a:pPr>
            <a:r>
              <a:rPr lang="en-US" sz="1050" b="1" dirty="0">
                <a:solidFill>
                  <a:srgbClr val="1B2432"/>
                </a:solidFill>
                <a:latin typeface="Calibri" pitchFamily="34" charset="0"/>
                <a:ea typeface="Calibri" pitchFamily="34" charset="-122"/>
                <a:cs typeface="Calibri" pitchFamily="34" charset="-120"/>
              </a:rPr>
              <a:t>Self-service, plus the discipline to use the tiers properly</a:t>
            </a:r>
            <a:endParaRPr lang="en-US" sz="1050" dirty="0"/>
          </a:p>
        </p:txBody>
      </p:sp>
      <p:sp>
        <p:nvSpPr>
          <p:cNvPr id="57" name="Text 55"/>
          <p:cNvSpPr txBox="1"/>
          <p:nvPr/>
        </p:nvSpPr>
        <p:spPr>
          <a:xfrm>
            <a:off x="557784" y="3767328"/>
            <a:ext cx="5285232" cy="1042416"/>
          </a:xfrm>
          <a:prstGeom prst="rect">
            <a:avLst/>
          </a:prstGeom>
          <a:noFill/>
          <a:ln/>
        </p:spPr>
        <p:txBody>
          <a:bodyPr wrap="square" lIns="0" tIns="0" rIns="0" bIns="0" rtlCol="0" anchor="t"/>
          <a:lstStyle/>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Partners instantiate a proven pattern and initiate without a conversation.</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Provisioning within pre-approved policy bounds; anything outside them still comes to us.</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Self-serve clearance of gates with deterministic criteria — every judgement gate and all eight invariants stay with ECM.</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Guided remediation from published diagnostics before escalating.</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Dedicated pods reserved for the seven scenarios that genuinely need them; the shared pool sized on measured load.</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The accumulated backlog drained through self-service rather than competing for pod capacity.</a:t>
            </a:r>
            <a:endParaRPr lang="en-US" sz="820" dirty="0"/>
          </a:p>
        </p:txBody>
      </p:sp>
      <p:sp>
        <p:nvSpPr>
          <p:cNvPr id="58" name="Shape 56"/>
          <p:cNvSpPr/>
          <p:nvPr/>
        </p:nvSpPr>
        <p:spPr>
          <a:xfrm>
            <a:off x="6172200" y="3328416"/>
            <a:ext cx="5577840" cy="1627632"/>
          </a:xfrm>
          <a:prstGeom prst="roundRect">
            <a:avLst>
              <a:gd name="adj" fmla="val 2809"/>
            </a:avLst>
          </a:prstGeom>
          <a:solidFill>
            <a:srgbClr val="E9EEF4"/>
          </a:solidFill>
          <a:ln w="15875">
            <a:solidFill>
              <a:srgbClr val="15304F"/>
            </a:solidFill>
            <a:prstDash val="solid"/>
          </a:ln>
          <a:effectLst>
            <a:outerShdw sx="100000" sy="100000" kx="0" ky="0" algn="bl" rotWithShape="0" blurRad="88900" dist="12700" dir="5400000">
              <a:srgbClr val="97A3B4">
                <a:alpha val="16000"/>
              </a:srgbClr>
            </a:outerShdw>
          </a:effectLst>
        </p:spPr>
      </p:sp>
      <p:sp>
        <p:nvSpPr>
          <p:cNvPr id="59" name="Text 57"/>
          <p:cNvSpPr txBox="1"/>
          <p:nvPr/>
        </p:nvSpPr>
        <p:spPr>
          <a:xfrm>
            <a:off x="6318504" y="3456432"/>
            <a:ext cx="5285232" cy="310896"/>
          </a:xfrm>
          <a:prstGeom prst="rect">
            <a:avLst/>
          </a:prstGeom>
          <a:noFill/>
          <a:ln/>
        </p:spPr>
        <p:txBody>
          <a:bodyPr wrap="square" lIns="0" tIns="0" rIns="0" bIns="0" rtlCol="0" anchor="t"/>
          <a:lstStyle/>
          <a:p>
            <a:pPr indent="0" marL="0">
              <a:lnSpc>
                <a:spcPts val="1300"/>
              </a:lnSpc>
              <a:buNone/>
            </a:pPr>
            <a:r>
              <a:rPr lang="en-US" sz="1050" b="1" dirty="0">
                <a:solidFill>
                  <a:srgbClr val="1B2432"/>
                </a:solidFill>
                <a:latin typeface="Calibri" pitchFamily="34" charset="0"/>
                <a:ea typeface="Calibri" pitchFamily="34" charset="-122"/>
                <a:cs typeface="Calibri" pitchFamily="34" charset="-120"/>
              </a:rPr>
              <a:t>Guided self-service, with judgement never handed over</a:t>
            </a:r>
            <a:endParaRPr lang="en-US" sz="1050" dirty="0"/>
          </a:p>
        </p:txBody>
      </p:sp>
      <p:sp>
        <p:nvSpPr>
          <p:cNvPr id="60" name="Text 58"/>
          <p:cNvSpPr txBox="1"/>
          <p:nvPr/>
        </p:nvSpPr>
        <p:spPr>
          <a:xfrm>
            <a:off x="6318504" y="3767328"/>
            <a:ext cx="5285232" cy="1042416"/>
          </a:xfrm>
          <a:prstGeom prst="rect">
            <a:avLst/>
          </a:prstGeom>
          <a:noFill/>
          <a:ln/>
        </p:spPr>
        <p:txBody>
          <a:bodyPr wrap="square" lIns="0" tIns="0" rIns="0" bIns="0" rtlCol="0" anchor="t"/>
          <a:lstStyle/>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Partner-facing guidance: pattern recommendation, requirement explanation, diagnostics for common failures, and next-action prompts.</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The precondition that makes this responsible rather than reckless: self-service only sits on gates that are deterministic, automated and trustworthy — which is exactly what Phases 2 and 3 produce.</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Judgement gates are never handed over, and pattern deviation always forces a conversation with ECM rather than a warning the partner can dismiss.</a:t>
            </a:r>
            <a:endParaRPr lang="en-US" sz="820" dirty="0"/>
          </a:p>
        </p:txBody>
      </p:sp>
      <p:sp>
        <p:nvSpPr>
          <p:cNvPr id="61" name="Shape 59"/>
          <p:cNvSpPr/>
          <p:nvPr/>
        </p:nvSpPr>
        <p:spPr>
          <a:xfrm>
            <a:off x="411480" y="5084064"/>
            <a:ext cx="6675120" cy="1499616"/>
          </a:xfrm>
          <a:prstGeom prst="roundRect">
            <a:avLst>
              <a:gd name="adj" fmla="val 3049"/>
            </a:avLst>
          </a:prstGeom>
          <a:solidFill>
            <a:srgbClr val="FFFFFF"/>
          </a:solidFill>
          <a:ln w="14605">
            <a:solidFill>
              <a:srgbClr val="15304F"/>
            </a:solidFill>
            <a:prstDash val="solid"/>
          </a:ln>
          <a:effectLst>
            <a:outerShdw sx="100000" sy="100000" kx="0" ky="0" algn="bl" rotWithShape="0" blurRad="88900" dist="12700" dir="5400000">
              <a:srgbClr val="97A3B4">
                <a:alpha val="16000"/>
              </a:srgbClr>
            </a:outerShdw>
          </a:effectLst>
        </p:spPr>
      </p:sp>
      <p:sp>
        <p:nvSpPr>
          <p:cNvPr id="62" name="Shape 60"/>
          <p:cNvSpPr/>
          <p:nvPr/>
        </p:nvSpPr>
        <p:spPr>
          <a:xfrm>
            <a:off x="411480" y="5084064"/>
            <a:ext cx="6675120" cy="50292"/>
          </a:xfrm>
          <a:prstGeom prst="rect">
            <a:avLst/>
          </a:prstGeom>
          <a:solidFill>
            <a:srgbClr val="15304F"/>
          </a:solidFill>
          <a:ln w="12700">
            <a:solidFill>
              <a:srgbClr val="333333"/>
            </a:solidFill>
            <a:prstDash val="solid"/>
          </a:ln>
        </p:spPr>
      </p:sp>
      <p:sp>
        <p:nvSpPr>
          <p:cNvPr id="63" name="Text 61"/>
          <p:cNvSpPr txBox="1"/>
          <p:nvPr/>
        </p:nvSpPr>
        <p:spPr>
          <a:xfrm>
            <a:off x="530352" y="5202936"/>
            <a:ext cx="6437376" cy="164592"/>
          </a:xfrm>
          <a:prstGeom prst="rect">
            <a:avLst/>
          </a:prstGeom>
          <a:noFill/>
          <a:ln/>
        </p:spPr>
        <p:txBody>
          <a:bodyPr wrap="square" lIns="0" tIns="0" rIns="0" bIns="0" rtlCol="0" anchor="ctr"/>
          <a:lstStyle/>
          <a:p>
            <a:pPr indent="0" marL="0">
              <a:buNone/>
            </a:pPr>
            <a:r>
              <a:rPr lang="en-US" sz="690" b="1" spc="110" kern="0" dirty="0">
                <a:solidFill>
                  <a:srgbClr val="15304F"/>
                </a:solidFill>
                <a:latin typeface="Calibri" pitchFamily="34" charset="0"/>
                <a:ea typeface="Calibri" pitchFamily="34" charset="-122"/>
                <a:cs typeface="Calibri" pitchFamily="34" charset="-120"/>
              </a:rPr>
              <a:t>P4 VALUE ADD</a:t>
            </a:r>
            <a:endParaRPr lang="en-US" sz="690" dirty="0"/>
          </a:p>
        </p:txBody>
      </p:sp>
      <p:sp>
        <p:nvSpPr>
          <p:cNvPr id="64" name="Text 62"/>
          <p:cNvSpPr txBox="1"/>
          <p:nvPr/>
        </p:nvSpPr>
        <p:spPr>
          <a:xfrm>
            <a:off x="530352" y="5376672"/>
            <a:ext cx="6437376" cy="219456"/>
          </a:xfrm>
          <a:prstGeom prst="rect">
            <a:avLst/>
          </a:prstGeom>
          <a:noFill/>
          <a:ln/>
        </p:spPr>
        <p:txBody>
          <a:bodyPr wrap="square" lIns="0" tIns="0" rIns="0" bIns="0" rtlCol="0" anchor="t"/>
          <a:lstStyle/>
          <a:p>
            <a:pPr indent="0" marL="0">
              <a:lnSpc>
                <a:spcPts val="1140"/>
              </a:lnSpc>
              <a:buNone/>
            </a:pPr>
            <a:r>
              <a:rPr lang="en-US" sz="960" b="1" dirty="0">
                <a:solidFill>
                  <a:srgbClr val="1B2432"/>
                </a:solidFill>
                <a:latin typeface="Calibri" pitchFamily="34" charset="0"/>
                <a:ea typeface="Calibri" pitchFamily="34" charset="-122"/>
                <a:cs typeface="Calibri" pitchFamily="34" charset="-120"/>
              </a:rPr>
              <a:t>Partners stop waiting on us</a:t>
            </a:r>
            <a:endParaRPr lang="en-US" sz="960" dirty="0"/>
          </a:p>
        </p:txBody>
      </p:sp>
      <p:sp>
        <p:nvSpPr>
          <p:cNvPr id="65" name="Text 63"/>
          <p:cNvSpPr txBox="1"/>
          <p:nvPr/>
        </p:nvSpPr>
        <p:spPr>
          <a:xfrm>
            <a:off x="530352" y="5632704"/>
            <a:ext cx="6437376" cy="457200"/>
          </a:xfrm>
          <a:prstGeom prst="rect">
            <a:avLst/>
          </a:prstGeom>
          <a:noFill/>
          <a:ln/>
        </p:spPr>
        <p:txBody>
          <a:bodyPr wrap="square" lIns="0" tIns="0" rIns="0" bIns="0" rtlCol="0" anchor="t"/>
          <a:lstStyle/>
          <a:p>
            <a:pPr indent="0" marL="0">
              <a:lnSpc>
                <a:spcPts val="980"/>
              </a:lnSpc>
              <a:spcAft>
                <a:spcPts val="200"/>
              </a:spcAft>
              <a:buNone/>
            </a:pPr>
            <a:r>
              <a:rPr lang="en-US" sz="790" dirty="0">
                <a:solidFill>
                  <a:srgbClr val="55606E"/>
                </a:solidFill>
                <a:latin typeface="Calibri" pitchFamily="34" charset="0"/>
                <a:ea typeface="Calibri" pitchFamily="34" charset="-122"/>
                <a:cs typeface="Calibri" pitchFamily="34" charset="-120"/>
              </a:rPr>
              <a:t>Lean becomes genuinely self-service at 16 scenarios; Dedicated settles at 7, reserved for real novelty.</a:t>
            </a:r>
            <a:endParaRPr lang="en-US" sz="790" dirty="0"/>
          </a:p>
          <a:p>
            <a:pPr indent="0" marL="0">
              <a:lnSpc>
                <a:spcPts val="980"/>
              </a:lnSpc>
              <a:spcAft>
                <a:spcPts val="200"/>
              </a:spcAft>
              <a:buNone/>
            </a:pPr>
            <a:r>
              <a:rPr lang="en-US" sz="790" dirty="0">
                <a:solidFill>
                  <a:srgbClr val="55606E"/>
                </a:solidFill>
                <a:latin typeface="Calibri" pitchFamily="34" charset="0"/>
                <a:ea typeface="Calibri" pitchFamily="34" charset="-122"/>
                <a:cs typeface="Calibri" pitchFamily="34" charset="-120"/>
              </a:rPr>
              <a:t>The backlog drains through a separate route instead of competing with new demand for the same pods.</a:t>
            </a:r>
            <a:endParaRPr lang="en-US" sz="790" dirty="0"/>
          </a:p>
          <a:p>
            <a:pPr indent="0" marL="0">
              <a:lnSpc>
                <a:spcPts val="980"/>
              </a:lnSpc>
              <a:spcAft>
                <a:spcPts val="200"/>
              </a:spcAft>
              <a:buNone/>
            </a:pPr>
            <a:r>
              <a:rPr lang="en-US" sz="790" dirty="0">
                <a:solidFill>
                  <a:srgbClr val="55606E"/>
                </a:solidFill>
                <a:latin typeface="Calibri" pitchFamily="34" charset="0"/>
                <a:ea typeface="Calibri" pitchFamily="34" charset="-122"/>
                <a:cs typeface="Calibri" pitchFamily="34" charset="-120"/>
              </a:rPr>
              <a:t>Released capacity absorbs demand growth — this is a growth argument, not a headcount-reduction one.</a:t>
            </a:r>
            <a:endParaRPr lang="en-US" sz="790" dirty="0"/>
          </a:p>
        </p:txBody>
      </p:sp>
      <p:sp>
        <p:nvSpPr>
          <p:cNvPr id="66" name="Shape 64"/>
          <p:cNvSpPr/>
          <p:nvPr/>
        </p:nvSpPr>
        <p:spPr>
          <a:xfrm>
            <a:off x="411480" y="6163056"/>
            <a:ext cx="6675120" cy="420624"/>
          </a:xfrm>
          <a:prstGeom prst="rect">
            <a:avLst/>
          </a:prstGeom>
          <a:solidFill>
            <a:srgbClr val="ECF3EE"/>
          </a:solidFill>
          <a:ln w="12700">
            <a:solidFill>
              <a:srgbClr val="ECF3EE"/>
            </a:solidFill>
            <a:prstDash val="solid"/>
          </a:ln>
        </p:spPr>
      </p:sp>
      <p:sp>
        <p:nvSpPr>
          <p:cNvPr id="67" name="Text 65"/>
          <p:cNvSpPr txBox="1"/>
          <p:nvPr/>
        </p:nvSpPr>
        <p:spPr>
          <a:xfrm>
            <a:off x="530352" y="6181344"/>
            <a:ext cx="6437376" cy="384048"/>
          </a:xfrm>
          <a:prstGeom prst="rect">
            <a:avLst/>
          </a:prstGeom>
          <a:noFill/>
          <a:ln/>
        </p:spPr>
        <p:txBody>
          <a:bodyPr wrap="square" lIns="0" tIns="0" rIns="0" bIns="0" rtlCol="0" anchor="ctr"/>
          <a:lstStyle/>
          <a:p>
            <a:pPr indent="0" marL="0">
              <a:lnSpc>
                <a:spcPts val="900"/>
              </a:lnSpc>
              <a:buNone/>
            </a:pPr>
            <a:r>
              <a:rPr lang="en-US" sz="770" b="1" dirty="0">
                <a:solidFill>
                  <a:srgbClr val="2E6B4F"/>
                </a:solidFill>
                <a:latin typeface="Calibri" pitchFamily="34" charset="0"/>
                <a:ea typeface="Calibri" pitchFamily="34" charset="-122"/>
                <a:cs typeface="Calibri" pitchFamily="34" charset="-120"/>
              </a:rPr>
              <a:t>Better than Phase 3: turnaround improves for the partner, not only cost for us.</a:t>
            </a:r>
            <a:endParaRPr lang="en-US" sz="770" dirty="0"/>
          </a:p>
        </p:txBody>
      </p:sp>
      <p:sp>
        <p:nvSpPr>
          <p:cNvPr id="68" name="Shape 66"/>
          <p:cNvSpPr/>
          <p:nvPr/>
        </p:nvSpPr>
        <p:spPr>
          <a:xfrm>
            <a:off x="7269480" y="5084064"/>
            <a:ext cx="4480560" cy="1499616"/>
          </a:xfrm>
          <a:prstGeom prst="roundRect">
            <a:avLst>
              <a:gd name="adj" fmla="val 3049"/>
            </a:avLst>
          </a:prstGeom>
          <a:solidFill>
            <a:srgbClr val="FBF0EB"/>
          </a:solidFill>
          <a:ln w="15875">
            <a:solidFill>
              <a:srgbClr val="A44A2A"/>
            </a:solidFill>
            <a:prstDash val="solid"/>
          </a:ln>
          <a:effectLst>
            <a:outerShdw sx="100000" sy="100000" kx="0" ky="0" algn="bl" rotWithShape="0" blurRad="88900" dist="12700" dir="5400000">
              <a:srgbClr val="97A3B4">
                <a:alpha val="16000"/>
              </a:srgbClr>
            </a:outerShdw>
          </a:effectLst>
        </p:spPr>
      </p:sp>
      <p:sp>
        <p:nvSpPr>
          <p:cNvPr id="69" name="Text 67"/>
          <p:cNvSpPr txBox="1"/>
          <p:nvPr/>
        </p:nvSpPr>
        <p:spPr>
          <a:xfrm>
            <a:off x="7415784" y="5212080"/>
            <a:ext cx="4187952" cy="310896"/>
          </a:xfrm>
          <a:prstGeom prst="rect">
            <a:avLst/>
          </a:prstGeom>
          <a:noFill/>
          <a:ln/>
        </p:spPr>
        <p:txBody>
          <a:bodyPr wrap="square" lIns="0" tIns="0" rIns="0" bIns="0" rtlCol="0" anchor="t"/>
          <a:lstStyle/>
          <a:p>
            <a:pPr indent="0" marL="0">
              <a:lnSpc>
                <a:spcPts val="1300"/>
              </a:lnSpc>
              <a:buNone/>
            </a:pPr>
            <a:r>
              <a:rPr lang="en-US" sz="1050" b="1" dirty="0">
                <a:solidFill>
                  <a:srgbClr val="1B2432"/>
                </a:solidFill>
                <a:latin typeface="Calibri" pitchFamily="34" charset="0"/>
                <a:ea typeface="Calibri" pitchFamily="34" charset="-122"/>
                <a:cs typeface="Calibri" pitchFamily="34" charset="-120"/>
              </a:rPr>
              <a:t>What remains, permanently</a:t>
            </a:r>
            <a:endParaRPr lang="en-US" sz="1050" dirty="0"/>
          </a:p>
        </p:txBody>
      </p:sp>
      <p:sp>
        <p:nvSpPr>
          <p:cNvPr id="70" name="Text 68"/>
          <p:cNvSpPr txBox="1"/>
          <p:nvPr/>
        </p:nvSpPr>
        <p:spPr>
          <a:xfrm>
            <a:off x="7415784" y="5522976"/>
            <a:ext cx="4187952" cy="914400"/>
          </a:xfrm>
          <a:prstGeom prst="rect">
            <a:avLst/>
          </a:prstGeom>
          <a:noFill/>
          <a:ln/>
        </p:spPr>
        <p:txBody>
          <a:bodyPr wrap="square" lIns="0" tIns="0" rIns="0" bIns="0" rtlCol="0" anchor="t"/>
          <a:lstStyle/>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Seven scenarios need a dedicated pod and always will — genuine novelty cannot be patterned.</a:t>
            </a:r>
            <a:endParaRPr lang="en-US" sz="800" dirty="0"/>
          </a:p>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Tier utilisation discipline is an organisational commitment, not a build, and is the easiest part to let slip.</a:t>
            </a:r>
            <a:endParaRPr lang="en-US" sz="800" dirty="0"/>
          </a:p>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Self-service widens the blast radius of a bad pattern, so pattern curation becomes a standing ECM responsibility.</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 name="Text 2"/>
          <p:cNvSpPr txBox="1"/>
          <p:nvPr/>
        </p:nvSpPr>
        <p:spPr>
          <a:xfrm>
            <a:off x="795528" y="219456"/>
            <a:ext cx="96926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The compounding view, and what we are asking for today</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Four phases, four kinds of waste removed, four standalone gains — and an approval limited to the first of them</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The ask</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42416"/>
            <a:ext cx="640080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TIER DISTRIBUTION ACROSS THE FOUR PHASES</a:t>
            </a:r>
            <a:endParaRPr lang="en-US" sz="760" dirty="0"/>
          </a:p>
        </p:txBody>
      </p:sp>
      <p:sp>
        <p:nvSpPr>
          <p:cNvPr id="9" name="Text 7"/>
          <p:cNvSpPr txBox="1"/>
          <p:nvPr/>
        </p:nvSpPr>
        <p:spPr>
          <a:xfrm>
            <a:off x="411480" y="1280160"/>
            <a:ext cx="1298448" cy="256032"/>
          </a:xfrm>
          <a:prstGeom prst="rect">
            <a:avLst/>
          </a:prstGeom>
          <a:noFill/>
          <a:ln/>
        </p:spPr>
        <p:txBody>
          <a:bodyPr wrap="square" lIns="0" tIns="0" rIns="0" bIns="0" rtlCol="0" anchor="ctr"/>
          <a:lstStyle/>
          <a:p>
            <a:pPr indent="0" marL="0">
              <a:buNone/>
            </a:pPr>
            <a:r>
              <a:rPr lang="en-US" sz="840" b="1" dirty="0">
                <a:solidFill>
                  <a:srgbClr val="55606E"/>
                </a:solidFill>
                <a:latin typeface="Calibri" pitchFamily="34" charset="0"/>
                <a:ea typeface="Calibri" pitchFamily="34" charset="-122"/>
                <a:cs typeface="Calibri" pitchFamily="34" charset="-120"/>
              </a:rPr>
              <a:t>Today</a:t>
            </a:r>
            <a:endParaRPr lang="en-US" sz="840" dirty="0"/>
          </a:p>
        </p:txBody>
      </p:sp>
      <p:sp>
        <p:nvSpPr>
          <p:cNvPr id="10" name="Shape 8"/>
          <p:cNvSpPr/>
          <p:nvPr/>
        </p:nvSpPr>
        <p:spPr>
          <a:xfrm>
            <a:off x="1746504" y="1307592"/>
            <a:ext cx="5093208" cy="201168"/>
          </a:xfrm>
          <a:prstGeom prst="rect">
            <a:avLst/>
          </a:prstGeom>
          <a:solidFill>
            <a:srgbClr val="15304F"/>
          </a:solidFill>
          <a:ln w="12700">
            <a:solidFill>
              <a:srgbClr val="333333"/>
            </a:solidFill>
            <a:prstDash val="solid"/>
          </a:ln>
        </p:spPr>
      </p:sp>
      <p:sp>
        <p:nvSpPr>
          <p:cNvPr id="11" name="Text 9"/>
          <p:cNvSpPr txBox="1"/>
          <p:nvPr/>
        </p:nvSpPr>
        <p:spPr>
          <a:xfrm>
            <a:off x="1746504" y="1307592"/>
            <a:ext cx="5093208" cy="201168"/>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38</a:t>
            </a:r>
            <a:endParaRPr lang="en-US" sz="780" dirty="0"/>
          </a:p>
        </p:txBody>
      </p:sp>
      <p:sp>
        <p:nvSpPr>
          <p:cNvPr id="12" name="Text 10"/>
          <p:cNvSpPr txBox="1"/>
          <p:nvPr/>
        </p:nvSpPr>
        <p:spPr>
          <a:xfrm>
            <a:off x="411480" y="1664208"/>
            <a:ext cx="1298448" cy="256032"/>
          </a:xfrm>
          <a:prstGeom prst="rect">
            <a:avLst/>
          </a:prstGeom>
          <a:noFill/>
          <a:ln/>
        </p:spPr>
        <p:txBody>
          <a:bodyPr wrap="square" lIns="0" tIns="0" rIns="0" bIns="0" rtlCol="0" anchor="ctr"/>
          <a:lstStyle/>
          <a:p>
            <a:pPr indent="0" marL="0">
              <a:buNone/>
            </a:pPr>
            <a:r>
              <a:rPr lang="en-US" sz="840" b="1" dirty="0">
                <a:solidFill>
                  <a:srgbClr val="1B2432"/>
                </a:solidFill>
                <a:latin typeface="Calibri" pitchFamily="34" charset="0"/>
                <a:ea typeface="Calibri" pitchFamily="34" charset="-122"/>
                <a:cs typeface="Calibri" pitchFamily="34" charset="-120"/>
              </a:rPr>
              <a:t>After Phase 1</a:t>
            </a:r>
            <a:endParaRPr lang="en-US" sz="840" dirty="0"/>
          </a:p>
        </p:txBody>
      </p:sp>
      <p:sp>
        <p:nvSpPr>
          <p:cNvPr id="13" name="Shape 11"/>
          <p:cNvSpPr/>
          <p:nvPr/>
        </p:nvSpPr>
        <p:spPr>
          <a:xfrm>
            <a:off x="1746504" y="1691640"/>
            <a:ext cx="646336" cy="201168"/>
          </a:xfrm>
          <a:prstGeom prst="rect">
            <a:avLst/>
          </a:prstGeom>
          <a:solidFill>
            <a:srgbClr val="0B6E6E"/>
          </a:solidFill>
          <a:ln w="12700">
            <a:solidFill>
              <a:srgbClr val="333333"/>
            </a:solidFill>
            <a:prstDash val="solid"/>
          </a:ln>
        </p:spPr>
      </p:sp>
      <p:sp>
        <p:nvSpPr>
          <p:cNvPr id="14" name="Text 12"/>
          <p:cNvSpPr txBox="1"/>
          <p:nvPr/>
        </p:nvSpPr>
        <p:spPr>
          <a:xfrm>
            <a:off x="1746504" y="1691640"/>
            <a:ext cx="646336" cy="201168"/>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5</a:t>
            </a:r>
            <a:endParaRPr lang="en-US" sz="780" dirty="0"/>
          </a:p>
        </p:txBody>
      </p:sp>
      <p:sp>
        <p:nvSpPr>
          <p:cNvPr id="15" name="Shape 13"/>
          <p:cNvSpPr/>
          <p:nvPr/>
        </p:nvSpPr>
        <p:spPr>
          <a:xfrm>
            <a:off x="2420272" y="1691640"/>
            <a:ext cx="2263381" cy="201168"/>
          </a:xfrm>
          <a:prstGeom prst="rect">
            <a:avLst/>
          </a:prstGeom>
          <a:solidFill>
            <a:srgbClr val="9A6410"/>
          </a:solidFill>
          <a:ln w="12700">
            <a:solidFill>
              <a:srgbClr val="333333"/>
            </a:solidFill>
            <a:prstDash val="solid"/>
          </a:ln>
        </p:spPr>
      </p:sp>
      <p:sp>
        <p:nvSpPr>
          <p:cNvPr id="16" name="Text 14"/>
          <p:cNvSpPr txBox="1"/>
          <p:nvPr/>
        </p:nvSpPr>
        <p:spPr>
          <a:xfrm>
            <a:off x="2420272" y="1691640"/>
            <a:ext cx="2263381" cy="201168"/>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17</a:t>
            </a:r>
            <a:endParaRPr lang="en-US" sz="780" dirty="0"/>
          </a:p>
        </p:txBody>
      </p:sp>
      <p:sp>
        <p:nvSpPr>
          <p:cNvPr id="17" name="Shape 15"/>
          <p:cNvSpPr/>
          <p:nvPr/>
        </p:nvSpPr>
        <p:spPr>
          <a:xfrm>
            <a:off x="4711085" y="1691640"/>
            <a:ext cx="1859120" cy="201168"/>
          </a:xfrm>
          <a:prstGeom prst="rect">
            <a:avLst/>
          </a:prstGeom>
          <a:solidFill>
            <a:srgbClr val="15304F"/>
          </a:solidFill>
          <a:ln w="12700">
            <a:solidFill>
              <a:srgbClr val="333333"/>
            </a:solidFill>
            <a:prstDash val="solid"/>
          </a:ln>
        </p:spPr>
      </p:sp>
      <p:sp>
        <p:nvSpPr>
          <p:cNvPr id="18" name="Text 16"/>
          <p:cNvSpPr txBox="1"/>
          <p:nvPr/>
        </p:nvSpPr>
        <p:spPr>
          <a:xfrm>
            <a:off x="4711085" y="1691640"/>
            <a:ext cx="1859120" cy="201168"/>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14</a:t>
            </a:r>
            <a:endParaRPr lang="en-US" sz="780" dirty="0"/>
          </a:p>
        </p:txBody>
      </p:sp>
      <p:sp>
        <p:nvSpPr>
          <p:cNvPr id="19" name="Shape 17"/>
          <p:cNvSpPr/>
          <p:nvPr/>
        </p:nvSpPr>
        <p:spPr>
          <a:xfrm>
            <a:off x="6597637" y="1691640"/>
            <a:ext cx="242075" cy="201168"/>
          </a:xfrm>
          <a:prstGeom prst="rect">
            <a:avLst/>
          </a:prstGeom>
          <a:solidFill>
            <a:srgbClr val="5B4A72"/>
          </a:solidFill>
          <a:ln w="12700">
            <a:solidFill>
              <a:srgbClr val="333333"/>
            </a:solidFill>
            <a:prstDash val="solid"/>
          </a:ln>
        </p:spPr>
      </p:sp>
      <p:sp>
        <p:nvSpPr>
          <p:cNvPr id="20" name="Text 18"/>
          <p:cNvSpPr txBox="1"/>
          <p:nvPr/>
        </p:nvSpPr>
        <p:spPr>
          <a:xfrm>
            <a:off x="411480" y="2048256"/>
            <a:ext cx="1298448" cy="256032"/>
          </a:xfrm>
          <a:prstGeom prst="rect">
            <a:avLst/>
          </a:prstGeom>
          <a:noFill/>
          <a:ln/>
        </p:spPr>
        <p:txBody>
          <a:bodyPr wrap="square" lIns="0" tIns="0" rIns="0" bIns="0" rtlCol="0" anchor="ctr"/>
          <a:lstStyle/>
          <a:p>
            <a:pPr indent="0" marL="0">
              <a:buNone/>
            </a:pPr>
            <a:r>
              <a:rPr lang="en-US" sz="840" b="1" dirty="0">
                <a:solidFill>
                  <a:srgbClr val="1B2432"/>
                </a:solidFill>
                <a:latin typeface="Calibri" pitchFamily="34" charset="0"/>
                <a:ea typeface="Calibri" pitchFamily="34" charset="-122"/>
                <a:cs typeface="Calibri" pitchFamily="34" charset="-120"/>
              </a:rPr>
              <a:t>After Phase 2</a:t>
            </a:r>
            <a:endParaRPr lang="en-US" sz="840" dirty="0"/>
          </a:p>
        </p:txBody>
      </p:sp>
      <p:sp>
        <p:nvSpPr>
          <p:cNvPr id="21" name="Shape 19"/>
          <p:cNvSpPr/>
          <p:nvPr/>
        </p:nvSpPr>
        <p:spPr>
          <a:xfrm>
            <a:off x="1746504" y="2075688"/>
            <a:ext cx="1050597" cy="201168"/>
          </a:xfrm>
          <a:prstGeom prst="rect">
            <a:avLst/>
          </a:prstGeom>
          <a:solidFill>
            <a:srgbClr val="0B6E6E"/>
          </a:solidFill>
          <a:ln w="12700">
            <a:solidFill>
              <a:srgbClr val="333333"/>
            </a:solidFill>
            <a:prstDash val="solid"/>
          </a:ln>
        </p:spPr>
      </p:sp>
      <p:sp>
        <p:nvSpPr>
          <p:cNvPr id="22" name="Text 20"/>
          <p:cNvSpPr txBox="1"/>
          <p:nvPr/>
        </p:nvSpPr>
        <p:spPr>
          <a:xfrm>
            <a:off x="1746504" y="2075688"/>
            <a:ext cx="1050597" cy="201168"/>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8</a:t>
            </a:r>
            <a:endParaRPr lang="en-US" sz="780" dirty="0"/>
          </a:p>
        </p:txBody>
      </p:sp>
      <p:sp>
        <p:nvSpPr>
          <p:cNvPr id="23" name="Shape 21"/>
          <p:cNvSpPr/>
          <p:nvPr/>
        </p:nvSpPr>
        <p:spPr>
          <a:xfrm>
            <a:off x="2824533" y="2075688"/>
            <a:ext cx="1859120" cy="201168"/>
          </a:xfrm>
          <a:prstGeom prst="rect">
            <a:avLst/>
          </a:prstGeom>
          <a:solidFill>
            <a:srgbClr val="9A6410"/>
          </a:solidFill>
          <a:ln w="12700">
            <a:solidFill>
              <a:srgbClr val="333333"/>
            </a:solidFill>
            <a:prstDash val="solid"/>
          </a:ln>
        </p:spPr>
      </p:sp>
      <p:sp>
        <p:nvSpPr>
          <p:cNvPr id="24" name="Text 22"/>
          <p:cNvSpPr txBox="1"/>
          <p:nvPr/>
        </p:nvSpPr>
        <p:spPr>
          <a:xfrm>
            <a:off x="2824533" y="2075688"/>
            <a:ext cx="1859120" cy="201168"/>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14</a:t>
            </a:r>
            <a:endParaRPr lang="en-US" sz="780" dirty="0"/>
          </a:p>
        </p:txBody>
      </p:sp>
      <p:sp>
        <p:nvSpPr>
          <p:cNvPr id="25" name="Shape 23"/>
          <p:cNvSpPr/>
          <p:nvPr/>
        </p:nvSpPr>
        <p:spPr>
          <a:xfrm>
            <a:off x="4711085" y="2075688"/>
            <a:ext cx="1859120" cy="201168"/>
          </a:xfrm>
          <a:prstGeom prst="rect">
            <a:avLst/>
          </a:prstGeom>
          <a:solidFill>
            <a:srgbClr val="15304F"/>
          </a:solidFill>
          <a:ln w="12700">
            <a:solidFill>
              <a:srgbClr val="333333"/>
            </a:solidFill>
            <a:prstDash val="solid"/>
          </a:ln>
        </p:spPr>
      </p:sp>
      <p:sp>
        <p:nvSpPr>
          <p:cNvPr id="26" name="Text 24"/>
          <p:cNvSpPr txBox="1"/>
          <p:nvPr/>
        </p:nvSpPr>
        <p:spPr>
          <a:xfrm>
            <a:off x="4711085" y="2075688"/>
            <a:ext cx="1859120" cy="201168"/>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14</a:t>
            </a:r>
            <a:endParaRPr lang="en-US" sz="780" dirty="0"/>
          </a:p>
        </p:txBody>
      </p:sp>
      <p:sp>
        <p:nvSpPr>
          <p:cNvPr id="27" name="Shape 25"/>
          <p:cNvSpPr/>
          <p:nvPr/>
        </p:nvSpPr>
        <p:spPr>
          <a:xfrm>
            <a:off x="6597637" y="2075688"/>
            <a:ext cx="242075" cy="201168"/>
          </a:xfrm>
          <a:prstGeom prst="rect">
            <a:avLst/>
          </a:prstGeom>
          <a:solidFill>
            <a:srgbClr val="5B4A72"/>
          </a:solidFill>
          <a:ln w="12700">
            <a:solidFill>
              <a:srgbClr val="333333"/>
            </a:solidFill>
            <a:prstDash val="solid"/>
          </a:ln>
        </p:spPr>
      </p:sp>
      <p:sp>
        <p:nvSpPr>
          <p:cNvPr id="28" name="Text 26"/>
          <p:cNvSpPr txBox="1"/>
          <p:nvPr/>
        </p:nvSpPr>
        <p:spPr>
          <a:xfrm>
            <a:off x="411480" y="2432304"/>
            <a:ext cx="1298448" cy="256032"/>
          </a:xfrm>
          <a:prstGeom prst="rect">
            <a:avLst/>
          </a:prstGeom>
          <a:noFill/>
          <a:ln/>
        </p:spPr>
        <p:txBody>
          <a:bodyPr wrap="square" lIns="0" tIns="0" rIns="0" bIns="0" rtlCol="0" anchor="ctr"/>
          <a:lstStyle/>
          <a:p>
            <a:pPr indent="0" marL="0">
              <a:buNone/>
            </a:pPr>
            <a:r>
              <a:rPr lang="en-US" sz="840" b="1" dirty="0">
                <a:solidFill>
                  <a:srgbClr val="1B2432"/>
                </a:solidFill>
                <a:latin typeface="Calibri" pitchFamily="34" charset="0"/>
                <a:ea typeface="Calibri" pitchFamily="34" charset="-122"/>
                <a:cs typeface="Calibri" pitchFamily="34" charset="-120"/>
              </a:rPr>
              <a:t>After Phase 3</a:t>
            </a:r>
            <a:endParaRPr lang="en-US" sz="840" dirty="0"/>
          </a:p>
        </p:txBody>
      </p:sp>
      <p:sp>
        <p:nvSpPr>
          <p:cNvPr id="29" name="Shape 27"/>
          <p:cNvSpPr/>
          <p:nvPr/>
        </p:nvSpPr>
        <p:spPr>
          <a:xfrm>
            <a:off x="1746504" y="2459736"/>
            <a:ext cx="1589612" cy="201168"/>
          </a:xfrm>
          <a:prstGeom prst="rect">
            <a:avLst/>
          </a:prstGeom>
          <a:solidFill>
            <a:srgbClr val="0B6E6E"/>
          </a:solidFill>
          <a:ln w="12700">
            <a:solidFill>
              <a:srgbClr val="333333"/>
            </a:solidFill>
            <a:prstDash val="solid"/>
          </a:ln>
        </p:spPr>
      </p:sp>
      <p:sp>
        <p:nvSpPr>
          <p:cNvPr id="30" name="Text 28"/>
          <p:cNvSpPr txBox="1"/>
          <p:nvPr/>
        </p:nvSpPr>
        <p:spPr>
          <a:xfrm>
            <a:off x="1746504" y="2459736"/>
            <a:ext cx="1589612" cy="201168"/>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12</a:t>
            </a:r>
            <a:endParaRPr lang="en-US" sz="780" dirty="0"/>
          </a:p>
        </p:txBody>
      </p:sp>
      <p:sp>
        <p:nvSpPr>
          <p:cNvPr id="31" name="Shape 29"/>
          <p:cNvSpPr/>
          <p:nvPr/>
        </p:nvSpPr>
        <p:spPr>
          <a:xfrm>
            <a:off x="3363548" y="2459736"/>
            <a:ext cx="1724366" cy="201168"/>
          </a:xfrm>
          <a:prstGeom prst="rect">
            <a:avLst/>
          </a:prstGeom>
          <a:solidFill>
            <a:srgbClr val="9A6410"/>
          </a:solidFill>
          <a:ln w="12700">
            <a:solidFill>
              <a:srgbClr val="333333"/>
            </a:solidFill>
            <a:prstDash val="solid"/>
          </a:ln>
        </p:spPr>
      </p:sp>
      <p:sp>
        <p:nvSpPr>
          <p:cNvPr id="32" name="Text 30"/>
          <p:cNvSpPr txBox="1"/>
          <p:nvPr/>
        </p:nvSpPr>
        <p:spPr>
          <a:xfrm>
            <a:off x="3363548" y="2459736"/>
            <a:ext cx="1724366" cy="201168"/>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13</a:t>
            </a:r>
            <a:endParaRPr lang="en-US" sz="780" dirty="0"/>
          </a:p>
        </p:txBody>
      </p:sp>
      <p:sp>
        <p:nvSpPr>
          <p:cNvPr id="33" name="Shape 31"/>
          <p:cNvSpPr/>
          <p:nvPr/>
        </p:nvSpPr>
        <p:spPr>
          <a:xfrm>
            <a:off x="5115346" y="2459736"/>
            <a:ext cx="1454859" cy="201168"/>
          </a:xfrm>
          <a:prstGeom prst="rect">
            <a:avLst/>
          </a:prstGeom>
          <a:solidFill>
            <a:srgbClr val="15304F"/>
          </a:solidFill>
          <a:ln w="12700">
            <a:solidFill>
              <a:srgbClr val="333333"/>
            </a:solidFill>
            <a:prstDash val="solid"/>
          </a:ln>
        </p:spPr>
      </p:sp>
      <p:sp>
        <p:nvSpPr>
          <p:cNvPr id="34" name="Text 32"/>
          <p:cNvSpPr txBox="1"/>
          <p:nvPr/>
        </p:nvSpPr>
        <p:spPr>
          <a:xfrm>
            <a:off x="5115346" y="2459736"/>
            <a:ext cx="1454859" cy="201168"/>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11</a:t>
            </a:r>
            <a:endParaRPr lang="en-US" sz="780" dirty="0"/>
          </a:p>
        </p:txBody>
      </p:sp>
      <p:sp>
        <p:nvSpPr>
          <p:cNvPr id="35" name="Shape 33"/>
          <p:cNvSpPr/>
          <p:nvPr/>
        </p:nvSpPr>
        <p:spPr>
          <a:xfrm>
            <a:off x="6597637" y="2459736"/>
            <a:ext cx="242075" cy="201168"/>
          </a:xfrm>
          <a:prstGeom prst="rect">
            <a:avLst/>
          </a:prstGeom>
          <a:solidFill>
            <a:srgbClr val="5B4A72"/>
          </a:solidFill>
          <a:ln w="12700">
            <a:solidFill>
              <a:srgbClr val="333333"/>
            </a:solidFill>
            <a:prstDash val="solid"/>
          </a:ln>
        </p:spPr>
      </p:sp>
      <p:sp>
        <p:nvSpPr>
          <p:cNvPr id="36" name="Text 34"/>
          <p:cNvSpPr txBox="1"/>
          <p:nvPr/>
        </p:nvSpPr>
        <p:spPr>
          <a:xfrm>
            <a:off x="411480" y="2816352"/>
            <a:ext cx="1298448" cy="256032"/>
          </a:xfrm>
          <a:prstGeom prst="rect">
            <a:avLst/>
          </a:prstGeom>
          <a:noFill/>
          <a:ln/>
        </p:spPr>
        <p:txBody>
          <a:bodyPr wrap="square" lIns="0" tIns="0" rIns="0" bIns="0" rtlCol="0" anchor="ctr"/>
          <a:lstStyle/>
          <a:p>
            <a:pPr indent="0" marL="0">
              <a:buNone/>
            </a:pPr>
            <a:r>
              <a:rPr lang="en-US" sz="840" b="1" dirty="0">
                <a:solidFill>
                  <a:srgbClr val="1B2432"/>
                </a:solidFill>
                <a:latin typeface="Calibri" pitchFamily="34" charset="0"/>
                <a:ea typeface="Calibri" pitchFamily="34" charset="-122"/>
                <a:cs typeface="Calibri" pitchFamily="34" charset="-120"/>
              </a:rPr>
              <a:t>After Phase 4</a:t>
            </a:r>
            <a:endParaRPr lang="en-US" sz="840" dirty="0"/>
          </a:p>
        </p:txBody>
      </p:sp>
      <p:sp>
        <p:nvSpPr>
          <p:cNvPr id="37" name="Shape 35"/>
          <p:cNvSpPr/>
          <p:nvPr/>
        </p:nvSpPr>
        <p:spPr>
          <a:xfrm>
            <a:off x="1746504" y="2843784"/>
            <a:ext cx="2128627" cy="201168"/>
          </a:xfrm>
          <a:prstGeom prst="rect">
            <a:avLst/>
          </a:prstGeom>
          <a:solidFill>
            <a:srgbClr val="0B6E6E"/>
          </a:solidFill>
          <a:ln w="12700">
            <a:solidFill>
              <a:srgbClr val="333333"/>
            </a:solidFill>
            <a:prstDash val="solid"/>
          </a:ln>
        </p:spPr>
      </p:sp>
      <p:sp>
        <p:nvSpPr>
          <p:cNvPr id="38" name="Text 36"/>
          <p:cNvSpPr txBox="1"/>
          <p:nvPr/>
        </p:nvSpPr>
        <p:spPr>
          <a:xfrm>
            <a:off x="1746504" y="2843784"/>
            <a:ext cx="2128627" cy="201168"/>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16</a:t>
            </a:r>
            <a:endParaRPr lang="en-US" sz="780" dirty="0"/>
          </a:p>
        </p:txBody>
      </p:sp>
      <p:sp>
        <p:nvSpPr>
          <p:cNvPr id="39" name="Shape 37"/>
          <p:cNvSpPr/>
          <p:nvPr/>
        </p:nvSpPr>
        <p:spPr>
          <a:xfrm>
            <a:off x="3902563" y="2843784"/>
            <a:ext cx="1724366" cy="201168"/>
          </a:xfrm>
          <a:prstGeom prst="rect">
            <a:avLst/>
          </a:prstGeom>
          <a:solidFill>
            <a:srgbClr val="9A6410"/>
          </a:solidFill>
          <a:ln w="12700">
            <a:solidFill>
              <a:srgbClr val="333333"/>
            </a:solidFill>
            <a:prstDash val="solid"/>
          </a:ln>
        </p:spPr>
      </p:sp>
      <p:sp>
        <p:nvSpPr>
          <p:cNvPr id="40" name="Text 38"/>
          <p:cNvSpPr txBox="1"/>
          <p:nvPr/>
        </p:nvSpPr>
        <p:spPr>
          <a:xfrm>
            <a:off x="3902563" y="2843784"/>
            <a:ext cx="1724366" cy="201168"/>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13</a:t>
            </a:r>
            <a:endParaRPr lang="en-US" sz="780" dirty="0"/>
          </a:p>
        </p:txBody>
      </p:sp>
      <p:sp>
        <p:nvSpPr>
          <p:cNvPr id="41" name="Shape 39"/>
          <p:cNvSpPr/>
          <p:nvPr/>
        </p:nvSpPr>
        <p:spPr>
          <a:xfrm>
            <a:off x="5654361" y="2843784"/>
            <a:ext cx="915844" cy="201168"/>
          </a:xfrm>
          <a:prstGeom prst="rect">
            <a:avLst/>
          </a:prstGeom>
          <a:solidFill>
            <a:srgbClr val="15304F"/>
          </a:solidFill>
          <a:ln w="12700">
            <a:solidFill>
              <a:srgbClr val="333333"/>
            </a:solidFill>
            <a:prstDash val="solid"/>
          </a:ln>
        </p:spPr>
      </p:sp>
      <p:sp>
        <p:nvSpPr>
          <p:cNvPr id="42" name="Text 40"/>
          <p:cNvSpPr txBox="1"/>
          <p:nvPr/>
        </p:nvSpPr>
        <p:spPr>
          <a:xfrm>
            <a:off x="5654361" y="2843784"/>
            <a:ext cx="915844" cy="201168"/>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7</a:t>
            </a:r>
            <a:endParaRPr lang="en-US" sz="780" dirty="0"/>
          </a:p>
        </p:txBody>
      </p:sp>
      <p:sp>
        <p:nvSpPr>
          <p:cNvPr id="43" name="Shape 41"/>
          <p:cNvSpPr/>
          <p:nvPr/>
        </p:nvSpPr>
        <p:spPr>
          <a:xfrm>
            <a:off x="6597637" y="2843784"/>
            <a:ext cx="242075" cy="201168"/>
          </a:xfrm>
          <a:prstGeom prst="rect">
            <a:avLst/>
          </a:prstGeom>
          <a:solidFill>
            <a:srgbClr val="5B4A72"/>
          </a:solidFill>
          <a:ln w="12700">
            <a:solidFill>
              <a:srgbClr val="333333"/>
            </a:solidFill>
            <a:prstDash val="solid"/>
          </a:ln>
        </p:spPr>
      </p:sp>
      <p:sp>
        <p:nvSpPr>
          <p:cNvPr id="44" name="Shape 42"/>
          <p:cNvSpPr/>
          <p:nvPr/>
        </p:nvSpPr>
        <p:spPr>
          <a:xfrm>
            <a:off x="1746504" y="3259836"/>
            <a:ext cx="109728" cy="109728"/>
          </a:xfrm>
          <a:prstGeom prst="ellipse">
            <a:avLst/>
          </a:prstGeom>
          <a:solidFill>
            <a:srgbClr val="0B6E6E"/>
          </a:solidFill>
          <a:ln w="12700">
            <a:solidFill>
              <a:srgbClr val="333333"/>
            </a:solidFill>
            <a:prstDash val="solid"/>
          </a:ln>
        </p:spPr>
      </p:sp>
      <p:sp>
        <p:nvSpPr>
          <p:cNvPr id="45" name="Text 43"/>
          <p:cNvSpPr txBox="1"/>
          <p:nvPr/>
        </p:nvSpPr>
        <p:spPr>
          <a:xfrm>
            <a:off x="1901952" y="3236976"/>
            <a:ext cx="640080" cy="182880"/>
          </a:xfrm>
          <a:prstGeom prst="rect">
            <a:avLst/>
          </a:prstGeom>
          <a:noFill/>
          <a:ln/>
        </p:spPr>
        <p:txBody>
          <a:bodyPr wrap="square" lIns="0" tIns="0" rIns="0" bIns="0" rtlCol="0" anchor="ctr"/>
          <a:lstStyle/>
          <a:p>
            <a:pPr indent="0" marL="0">
              <a:buNone/>
            </a:pPr>
            <a:r>
              <a:rPr lang="en-US" sz="820" b="1" dirty="0">
                <a:solidFill>
                  <a:srgbClr val="1B2432"/>
                </a:solidFill>
                <a:latin typeface="Calibri" pitchFamily="34" charset="0"/>
                <a:ea typeface="Calibri" pitchFamily="34" charset="-122"/>
                <a:cs typeface="Calibri" pitchFamily="34" charset="-120"/>
              </a:rPr>
              <a:t>Lean</a:t>
            </a:r>
            <a:endParaRPr lang="en-US" sz="820" dirty="0"/>
          </a:p>
        </p:txBody>
      </p:sp>
      <p:sp>
        <p:nvSpPr>
          <p:cNvPr id="46" name="Shape 44"/>
          <p:cNvSpPr/>
          <p:nvPr/>
        </p:nvSpPr>
        <p:spPr>
          <a:xfrm>
            <a:off x="2633472" y="3259836"/>
            <a:ext cx="109728" cy="109728"/>
          </a:xfrm>
          <a:prstGeom prst="ellipse">
            <a:avLst/>
          </a:prstGeom>
          <a:solidFill>
            <a:srgbClr val="9A6410"/>
          </a:solidFill>
          <a:ln w="12700">
            <a:solidFill>
              <a:srgbClr val="333333"/>
            </a:solidFill>
            <a:prstDash val="solid"/>
          </a:ln>
        </p:spPr>
      </p:sp>
      <p:sp>
        <p:nvSpPr>
          <p:cNvPr id="47" name="Text 45"/>
          <p:cNvSpPr txBox="1"/>
          <p:nvPr/>
        </p:nvSpPr>
        <p:spPr>
          <a:xfrm>
            <a:off x="2788920" y="3236976"/>
            <a:ext cx="731520" cy="182880"/>
          </a:xfrm>
          <a:prstGeom prst="rect">
            <a:avLst/>
          </a:prstGeom>
          <a:noFill/>
          <a:ln/>
        </p:spPr>
        <p:txBody>
          <a:bodyPr wrap="square" lIns="0" tIns="0" rIns="0" bIns="0" rtlCol="0" anchor="ctr"/>
          <a:lstStyle/>
          <a:p>
            <a:pPr indent="0" marL="0">
              <a:buNone/>
            </a:pPr>
            <a:r>
              <a:rPr lang="en-US" sz="820" b="1" dirty="0">
                <a:solidFill>
                  <a:srgbClr val="1B2432"/>
                </a:solidFill>
                <a:latin typeface="Calibri" pitchFamily="34" charset="0"/>
                <a:ea typeface="Calibri" pitchFamily="34" charset="-122"/>
                <a:cs typeface="Calibri" pitchFamily="34" charset="-120"/>
              </a:rPr>
              <a:t>Lean+</a:t>
            </a:r>
            <a:endParaRPr lang="en-US" sz="820" dirty="0"/>
          </a:p>
        </p:txBody>
      </p:sp>
      <p:sp>
        <p:nvSpPr>
          <p:cNvPr id="48" name="Shape 46"/>
          <p:cNvSpPr/>
          <p:nvPr/>
        </p:nvSpPr>
        <p:spPr>
          <a:xfrm>
            <a:off x="3611880" y="3259836"/>
            <a:ext cx="109728" cy="109728"/>
          </a:xfrm>
          <a:prstGeom prst="ellipse">
            <a:avLst/>
          </a:prstGeom>
          <a:solidFill>
            <a:srgbClr val="15304F"/>
          </a:solidFill>
          <a:ln w="12700">
            <a:solidFill>
              <a:srgbClr val="333333"/>
            </a:solidFill>
            <a:prstDash val="solid"/>
          </a:ln>
        </p:spPr>
      </p:sp>
      <p:sp>
        <p:nvSpPr>
          <p:cNvPr id="49" name="Text 47"/>
          <p:cNvSpPr txBox="1"/>
          <p:nvPr/>
        </p:nvSpPr>
        <p:spPr>
          <a:xfrm>
            <a:off x="3767328" y="3236976"/>
            <a:ext cx="1097280" cy="182880"/>
          </a:xfrm>
          <a:prstGeom prst="rect">
            <a:avLst/>
          </a:prstGeom>
          <a:noFill/>
          <a:ln/>
        </p:spPr>
        <p:txBody>
          <a:bodyPr wrap="square" lIns="0" tIns="0" rIns="0" bIns="0" rtlCol="0" anchor="ctr"/>
          <a:lstStyle/>
          <a:p>
            <a:pPr indent="0" marL="0">
              <a:buNone/>
            </a:pPr>
            <a:r>
              <a:rPr lang="en-US" sz="820" b="1" dirty="0">
                <a:solidFill>
                  <a:srgbClr val="1B2432"/>
                </a:solidFill>
                <a:latin typeface="Calibri" pitchFamily="34" charset="0"/>
                <a:ea typeface="Calibri" pitchFamily="34" charset="-122"/>
                <a:cs typeface="Calibri" pitchFamily="34" charset="-120"/>
              </a:rPr>
              <a:t>Dedicated</a:t>
            </a:r>
            <a:endParaRPr lang="en-US" sz="820" dirty="0"/>
          </a:p>
        </p:txBody>
      </p:sp>
      <p:sp>
        <p:nvSpPr>
          <p:cNvPr id="50" name="Shape 48"/>
          <p:cNvSpPr/>
          <p:nvPr/>
        </p:nvSpPr>
        <p:spPr>
          <a:xfrm>
            <a:off x="4956048" y="3259836"/>
            <a:ext cx="109728" cy="109728"/>
          </a:xfrm>
          <a:prstGeom prst="ellipse">
            <a:avLst/>
          </a:prstGeom>
          <a:solidFill>
            <a:srgbClr val="5B4A72"/>
          </a:solidFill>
          <a:ln w="12700">
            <a:solidFill>
              <a:srgbClr val="333333"/>
            </a:solidFill>
            <a:prstDash val="solid"/>
          </a:ln>
        </p:spPr>
      </p:sp>
      <p:sp>
        <p:nvSpPr>
          <p:cNvPr id="51" name="Text 49"/>
          <p:cNvSpPr txBox="1"/>
          <p:nvPr/>
        </p:nvSpPr>
        <p:spPr>
          <a:xfrm>
            <a:off x="5111496" y="3236976"/>
            <a:ext cx="822960" cy="182880"/>
          </a:xfrm>
          <a:prstGeom prst="rect">
            <a:avLst/>
          </a:prstGeom>
          <a:noFill/>
          <a:ln/>
        </p:spPr>
        <p:txBody>
          <a:bodyPr wrap="square" lIns="0" tIns="0" rIns="0" bIns="0" rtlCol="0" anchor="ctr"/>
          <a:lstStyle/>
          <a:p>
            <a:pPr indent="0" marL="0">
              <a:buNone/>
            </a:pPr>
            <a:r>
              <a:rPr lang="en-US" sz="820" b="1" dirty="0">
                <a:solidFill>
                  <a:srgbClr val="1B2432"/>
                </a:solidFill>
                <a:latin typeface="Calibri" pitchFamily="34" charset="0"/>
                <a:ea typeface="Calibri" pitchFamily="34" charset="-122"/>
                <a:cs typeface="Calibri" pitchFamily="34" charset="-120"/>
              </a:rPr>
              <a:t>Factory</a:t>
            </a:r>
            <a:endParaRPr lang="en-US" sz="820" dirty="0"/>
          </a:p>
        </p:txBody>
      </p:sp>
      <p:sp>
        <p:nvSpPr>
          <p:cNvPr id="52" name="Shape 50"/>
          <p:cNvSpPr/>
          <p:nvPr/>
        </p:nvSpPr>
        <p:spPr>
          <a:xfrm>
            <a:off x="7415784" y="1152144"/>
            <a:ext cx="4334256" cy="2340864"/>
          </a:xfrm>
          <a:prstGeom prst="roundRect">
            <a:avLst>
              <a:gd name="adj" fmla="val 1953"/>
            </a:avLst>
          </a:prstGeom>
          <a:solidFill>
            <a:srgbClr val="F4F7FA"/>
          </a:solidFill>
          <a:ln w="11430">
            <a:solidFill>
              <a:srgbClr val="D4DAE2"/>
            </a:solidFill>
            <a:prstDash val="solid"/>
          </a:ln>
        </p:spPr>
      </p:sp>
      <p:sp>
        <p:nvSpPr>
          <p:cNvPr id="53" name="Text 51"/>
          <p:cNvSpPr txBox="1"/>
          <p:nvPr/>
        </p:nvSpPr>
        <p:spPr>
          <a:xfrm>
            <a:off x="7598664" y="1280160"/>
            <a:ext cx="402336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ILLUSTRATIVE SHAPE — PARTNER TURNAROUND, TODAY = 100</a:t>
            </a:r>
            <a:endParaRPr lang="en-US" sz="760" dirty="0"/>
          </a:p>
        </p:txBody>
      </p:sp>
      <p:sp>
        <p:nvSpPr>
          <p:cNvPr id="54" name="Text 52"/>
          <p:cNvSpPr txBox="1"/>
          <p:nvPr/>
        </p:nvSpPr>
        <p:spPr>
          <a:xfrm>
            <a:off x="7598664" y="1499616"/>
            <a:ext cx="841248" cy="274320"/>
          </a:xfrm>
          <a:prstGeom prst="rect">
            <a:avLst/>
          </a:prstGeom>
          <a:noFill/>
          <a:ln/>
        </p:spPr>
        <p:txBody>
          <a:bodyPr wrap="square" lIns="0" tIns="0" rIns="0" bIns="0" rtlCol="0" anchor="ctr"/>
          <a:lstStyle/>
          <a:p>
            <a:pPr indent="0" marL="0">
              <a:buNone/>
            </a:pPr>
            <a:r>
              <a:rPr lang="en-US" sz="800" b="1" dirty="0">
                <a:solidFill>
                  <a:srgbClr val="7C8798"/>
                </a:solidFill>
                <a:latin typeface="Calibri" pitchFamily="34" charset="0"/>
                <a:ea typeface="Calibri" pitchFamily="34" charset="-122"/>
                <a:cs typeface="Calibri" pitchFamily="34" charset="-120"/>
              </a:rPr>
              <a:t>Today</a:t>
            </a:r>
            <a:endParaRPr lang="en-US" sz="800" dirty="0"/>
          </a:p>
        </p:txBody>
      </p:sp>
      <p:sp>
        <p:nvSpPr>
          <p:cNvPr id="55" name="Shape 53"/>
          <p:cNvSpPr/>
          <p:nvPr/>
        </p:nvSpPr>
        <p:spPr>
          <a:xfrm>
            <a:off x="8439912" y="1543507"/>
            <a:ext cx="2651760" cy="186538"/>
          </a:xfrm>
          <a:prstGeom prst="rect">
            <a:avLst/>
          </a:prstGeom>
          <a:solidFill>
            <a:srgbClr val="F0F3F7"/>
          </a:solidFill>
          <a:ln w="12700">
            <a:solidFill>
              <a:srgbClr val="333333"/>
            </a:solidFill>
            <a:prstDash val="solid"/>
          </a:ln>
        </p:spPr>
      </p:sp>
      <p:sp>
        <p:nvSpPr>
          <p:cNvPr id="56" name="Shape 54"/>
          <p:cNvSpPr/>
          <p:nvPr/>
        </p:nvSpPr>
        <p:spPr>
          <a:xfrm>
            <a:off x="8439912" y="1543507"/>
            <a:ext cx="2651760" cy="186538"/>
          </a:xfrm>
          <a:prstGeom prst="rect">
            <a:avLst/>
          </a:prstGeom>
          <a:solidFill>
            <a:srgbClr val="7C8798"/>
          </a:solidFill>
          <a:ln w="12700">
            <a:solidFill>
              <a:srgbClr val="333333"/>
            </a:solidFill>
            <a:prstDash val="solid"/>
          </a:ln>
        </p:spPr>
      </p:sp>
      <p:sp>
        <p:nvSpPr>
          <p:cNvPr id="57" name="Text 55"/>
          <p:cNvSpPr txBox="1"/>
          <p:nvPr/>
        </p:nvSpPr>
        <p:spPr>
          <a:xfrm>
            <a:off x="11109960" y="1499616"/>
            <a:ext cx="457200" cy="274320"/>
          </a:xfrm>
          <a:prstGeom prst="rect">
            <a:avLst/>
          </a:prstGeom>
          <a:noFill/>
          <a:ln/>
        </p:spPr>
        <p:txBody>
          <a:bodyPr wrap="square" lIns="0" tIns="0" rIns="0" bIns="0" rtlCol="0" anchor="ctr"/>
          <a:lstStyle/>
          <a:p>
            <a:pPr algn="r" indent="0" marL="0">
              <a:buNone/>
            </a:pPr>
            <a:r>
              <a:rPr lang="en-US" sz="820" b="1" dirty="0">
                <a:solidFill>
                  <a:srgbClr val="7C8798"/>
                </a:solidFill>
                <a:latin typeface="Calibri" pitchFamily="34" charset="0"/>
                <a:ea typeface="Calibri" pitchFamily="34" charset="-122"/>
                <a:cs typeface="Calibri" pitchFamily="34" charset="-120"/>
              </a:rPr>
              <a:t>100</a:t>
            </a:r>
            <a:endParaRPr lang="en-US" sz="820" dirty="0"/>
          </a:p>
        </p:txBody>
      </p:sp>
      <p:sp>
        <p:nvSpPr>
          <p:cNvPr id="58" name="Text 56"/>
          <p:cNvSpPr txBox="1"/>
          <p:nvPr/>
        </p:nvSpPr>
        <p:spPr>
          <a:xfrm>
            <a:off x="7598664" y="1842516"/>
            <a:ext cx="841248" cy="274320"/>
          </a:xfrm>
          <a:prstGeom prst="rect">
            <a:avLst/>
          </a:prstGeom>
          <a:noFill/>
          <a:ln/>
        </p:spPr>
        <p:txBody>
          <a:bodyPr wrap="square" lIns="0" tIns="0" rIns="0" bIns="0" rtlCol="0" anchor="ctr"/>
          <a:lstStyle/>
          <a:p>
            <a:pPr indent="0" marL="0">
              <a:buNone/>
            </a:pPr>
            <a:r>
              <a:rPr lang="en-US" sz="800" b="1" dirty="0">
                <a:solidFill>
                  <a:srgbClr val="5E7D96"/>
                </a:solidFill>
                <a:latin typeface="Calibri" pitchFamily="34" charset="0"/>
                <a:ea typeface="Calibri" pitchFamily="34" charset="-122"/>
                <a:cs typeface="Calibri" pitchFamily="34" charset="-120"/>
              </a:rPr>
              <a:t>Phase 1</a:t>
            </a:r>
            <a:endParaRPr lang="en-US" sz="800" dirty="0"/>
          </a:p>
        </p:txBody>
      </p:sp>
      <p:sp>
        <p:nvSpPr>
          <p:cNvPr id="59" name="Shape 57"/>
          <p:cNvSpPr/>
          <p:nvPr/>
        </p:nvSpPr>
        <p:spPr>
          <a:xfrm>
            <a:off x="8439912" y="1886407"/>
            <a:ext cx="2651760" cy="186538"/>
          </a:xfrm>
          <a:prstGeom prst="rect">
            <a:avLst/>
          </a:prstGeom>
          <a:solidFill>
            <a:srgbClr val="F0F3F7"/>
          </a:solidFill>
          <a:ln w="12700">
            <a:solidFill>
              <a:srgbClr val="333333"/>
            </a:solidFill>
            <a:prstDash val="solid"/>
          </a:ln>
        </p:spPr>
      </p:sp>
      <p:sp>
        <p:nvSpPr>
          <p:cNvPr id="60" name="Shape 58"/>
          <p:cNvSpPr/>
          <p:nvPr/>
        </p:nvSpPr>
        <p:spPr>
          <a:xfrm>
            <a:off x="8439912" y="1886407"/>
            <a:ext cx="2174443" cy="186538"/>
          </a:xfrm>
          <a:prstGeom prst="rect">
            <a:avLst/>
          </a:prstGeom>
          <a:solidFill>
            <a:srgbClr val="5E7D96"/>
          </a:solidFill>
          <a:ln w="12700">
            <a:solidFill>
              <a:srgbClr val="333333"/>
            </a:solidFill>
            <a:prstDash val="solid"/>
          </a:ln>
        </p:spPr>
      </p:sp>
      <p:sp>
        <p:nvSpPr>
          <p:cNvPr id="61" name="Text 59"/>
          <p:cNvSpPr txBox="1"/>
          <p:nvPr/>
        </p:nvSpPr>
        <p:spPr>
          <a:xfrm>
            <a:off x="11109960" y="1842516"/>
            <a:ext cx="457200" cy="274320"/>
          </a:xfrm>
          <a:prstGeom prst="rect">
            <a:avLst/>
          </a:prstGeom>
          <a:noFill/>
          <a:ln/>
        </p:spPr>
        <p:txBody>
          <a:bodyPr wrap="square" lIns="0" tIns="0" rIns="0" bIns="0" rtlCol="0" anchor="ctr"/>
          <a:lstStyle/>
          <a:p>
            <a:pPr algn="r" indent="0" marL="0">
              <a:buNone/>
            </a:pPr>
            <a:r>
              <a:rPr lang="en-US" sz="820" b="1" dirty="0">
                <a:solidFill>
                  <a:srgbClr val="5E7D96"/>
                </a:solidFill>
                <a:latin typeface="Calibri" pitchFamily="34" charset="0"/>
                <a:ea typeface="Calibri" pitchFamily="34" charset="-122"/>
                <a:cs typeface="Calibri" pitchFamily="34" charset="-120"/>
              </a:rPr>
              <a:t>82</a:t>
            </a:r>
            <a:endParaRPr lang="en-US" sz="820" dirty="0"/>
          </a:p>
        </p:txBody>
      </p:sp>
      <p:sp>
        <p:nvSpPr>
          <p:cNvPr id="62" name="Text 60"/>
          <p:cNvSpPr txBox="1"/>
          <p:nvPr/>
        </p:nvSpPr>
        <p:spPr>
          <a:xfrm>
            <a:off x="7598664" y="2185416"/>
            <a:ext cx="841248" cy="274320"/>
          </a:xfrm>
          <a:prstGeom prst="rect">
            <a:avLst/>
          </a:prstGeom>
          <a:noFill/>
          <a:ln/>
        </p:spPr>
        <p:txBody>
          <a:bodyPr wrap="square" lIns="0" tIns="0" rIns="0" bIns="0" rtlCol="0" anchor="ctr"/>
          <a:lstStyle/>
          <a:p>
            <a:pPr indent="0" marL="0">
              <a:buNone/>
            </a:pPr>
            <a:r>
              <a:rPr lang="en-US" sz="800" b="1" dirty="0">
                <a:solidFill>
                  <a:srgbClr val="3E6686"/>
                </a:solidFill>
                <a:latin typeface="Calibri" pitchFamily="34" charset="0"/>
                <a:ea typeface="Calibri" pitchFamily="34" charset="-122"/>
                <a:cs typeface="Calibri" pitchFamily="34" charset="-120"/>
              </a:rPr>
              <a:t>Phase 2</a:t>
            </a:r>
            <a:endParaRPr lang="en-US" sz="800" dirty="0"/>
          </a:p>
        </p:txBody>
      </p:sp>
      <p:sp>
        <p:nvSpPr>
          <p:cNvPr id="63" name="Shape 61"/>
          <p:cNvSpPr/>
          <p:nvPr/>
        </p:nvSpPr>
        <p:spPr>
          <a:xfrm>
            <a:off x="8439912" y="2229307"/>
            <a:ext cx="2651760" cy="186538"/>
          </a:xfrm>
          <a:prstGeom prst="rect">
            <a:avLst/>
          </a:prstGeom>
          <a:solidFill>
            <a:srgbClr val="F0F3F7"/>
          </a:solidFill>
          <a:ln w="12700">
            <a:solidFill>
              <a:srgbClr val="333333"/>
            </a:solidFill>
            <a:prstDash val="solid"/>
          </a:ln>
        </p:spPr>
      </p:sp>
      <p:sp>
        <p:nvSpPr>
          <p:cNvPr id="64" name="Shape 62"/>
          <p:cNvSpPr/>
          <p:nvPr/>
        </p:nvSpPr>
        <p:spPr>
          <a:xfrm>
            <a:off x="8439912" y="2229307"/>
            <a:ext cx="1697126" cy="186538"/>
          </a:xfrm>
          <a:prstGeom prst="rect">
            <a:avLst/>
          </a:prstGeom>
          <a:solidFill>
            <a:srgbClr val="3E6686"/>
          </a:solidFill>
          <a:ln w="12700">
            <a:solidFill>
              <a:srgbClr val="333333"/>
            </a:solidFill>
            <a:prstDash val="solid"/>
          </a:ln>
        </p:spPr>
      </p:sp>
      <p:sp>
        <p:nvSpPr>
          <p:cNvPr id="65" name="Text 63"/>
          <p:cNvSpPr txBox="1"/>
          <p:nvPr/>
        </p:nvSpPr>
        <p:spPr>
          <a:xfrm>
            <a:off x="11109960" y="2185416"/>
            <a:ext cx="457200" cy="274320"/>
          </a:xfrm>
          <a:prstGeom prst="rect">
            <a:avLst/>
          </a:prstGeom>
          <a:noFill/>
          <a:ln/>
        </p:spPr>
        <p:txBody>
          <a:bodyPr wrap="square" lIns="0" tIns="0" rIns="0" bIns="0" rtlCol="0" anchor="ctr"/>
          <a:lstStyle/>
          <a:p>
            <a:pPr algn="r" indent="0" marL="0">
              <a:buNone/>
            </a:pPr>
            <a:r>
              <a:rPr lang="en-US" sz="820" b="1" dirty="0">
                <a:solidFill>
                  <a:srgbClr val="3E6686"/>
                </a:solidFill>
                <a:latin typeface="Calibri" pitchFamily="34" charset="0"/>
                <a:ea typeface="Calibri" pitchFamily="34" charset="-122"/>
                <a:cs typeface="Calibri" pitchFamily="34" charset="-120"/>
              </a:rPr>
              <a:t>64</a:t>
            </a:r>
            <a:endParaRPr lang="en-US" sz="820" dirty="0"/>
          </a:p>
        </p:txBody>
      </p:sp>
      <p:sp>
        <p:nvSpPr>
          <p:cNvPr id="66" name="Text 64"/>
          <p:cNvSpPr txBox="1"/>
          <p:nvPr/>
        </p:nvSpPr>
        <p:spPr>
          <a:xfrm>
            <a:off x="7598664" y="2528316"/>
            <a:ext cx="841248" cy="274320"/>
          </a:xfrm>
          <a:prstGeom prst="rect">
            <a:avLst/>
          </a:prstGeom>
          <a:noFill/>
          <a:ln/>
        </p:spPr>
        <p:txBody>
          <a:bodyPr wrap="square" lIns="0" tIns="0" rIns="0" bIns="0" rtlCol="0" anchor="ctr"/>
          <a:lstStyle/>
          <a:p>
            <a:pPr indent="0" marL="0">
              <a:buNone/>
            </a:pPr>
            <a:r>
              <a:rPr lang="en-US" sz="800" b="1" dirty="0">
                <a:solidFill>
                  <a:srgbClr val="264E72"/>
                </a:solidFill>
                <a:latin typeface="Calibri" pitchFamily="34" charset="0"/>
                <a:ea typeface="Calibri" pitchFamily="34" charset="-122"/>
                <a:cs typeface="Calibri" pitchFamily="34" charset="-120"/>
              </a:rPr>
              <a:t>Phase 3</a:t>
            </a:r>
            <a:endParaRPr lang="en-US" sz="800" dirty="0"/>
          </a:p>
        </p:txBody>
      </p:sp>
      <p:sp>
        <p:nvSpPr>
          <p:cNvPr id="67" name="Shape 65"/>
          <p:cNvSpPr/>
          <p:nvPr/>
        </p:nvSpPr>
        <p:spPr>
          <a:xfrm>
            <a:off x="8439912" y="2572207"/>
            <a:ext cx="2651760" cy="186538"/>
          </a:xfrm>
          <a:prstGeom prst="rect">
            <a:avLst/>
          </a:prstGeom>
          <a:solidFill>
            <a:srgbClr val="F0F3F7"/>
          </a:solidFill>
          <a:ln w="12700">
            <a:solidFill>
              <a:srgbClr val="333333"/>
            </a:solidFill>
            <a:prstDash val="solid"/>
          </a:ln>
        </p:spPr>
      </p:sp>
      <p:sp>
        <p:nvSpPr>
          <p:cNvPr id="68" name="Shape 66"/>
          <p:cNvSpPr/>
          <p:nvPr/>
        </p:nvSpPr>
        <p:spPr>
          <a:xfrm>
            <a:off x="8439912" y="2572207"/>
            <a:ext cx="1219810" cy="186538"/>
          </a:xfrm>
          <a:prstGeom prst="rect">
            <a:avLst/>
          </a:prstGeom>
          <a:solidFill>
            <a:srgbClr val="264E72"/>
          </a:solidFill>
          <a:ln w="12700">
            <a:solidFill>
              <a:srgbClr val="333333"/>
            </a:solidFill>
            <a:prstDash val="solid"/>
          </a:ln>
        </p:spPr>
      </p:sp>
      <p:sp>
        <p:nvSpPr>
          <p:cNvPr id="69" name="Text 67"/>
          <p:cNvSpPr txBox="1"/>
          <p:nvPr/>
        </p:nvSpPr>
        <p:spPr>
          <a:xfrm>
            <a:off x="11109960" y="2528316"/>
            <a:ext cx="457200" cy="274320"/>
          </a:xfrm>
          <a:prstGeom prst="rect">
            <a:avLst/>
          </a:prstGeom>
          <a:noFill/>
          <a:ln/>
        </p:spPr>
        <p:txBody>
          <a:bodyPr wrap="square" lIns="0" tIns="0" rIns="0" bIns="0" rtlCol="0" anchor="ctr"/>
          <a:lstStyle/>
          <a:p>
            <a:pPr algn="r" indent="0" marL="0">
              <a:buNone/>
            </a:pPr>
            <a:r>
              <a:rPr lang="en-US" sz="820" b="1" dirty="0">
                <a:solidFill>
                  <a:srgbClr val="264E72"/>
                </a:solidFill>
                <a:latin typeface="Calibri" pitchFamily="34" charset="0"/>
                <a:ea typeface="Calibri" pitchFamily="34" charset="-122"/>
                <a:cs typeface="Calibri" pitchFamily="34" charset="-120"/>
              </a:rPr>
              <a:t>46</a:t>
            </a:r>
            <a:endParaRPr lang="en-US" sz="820" dirty="0"/>
          </a:p>
        </p:txBody>
      </p:sp>
      <p:sp>
        <p:nvSpPr>
          <p:cNvPr id="70" name="Text 68"/>
          <p:cNvSpPr txBox="1"/>
          <p:nvPr/>
        </p:nvSpPr>
        <p:spPr>
          <a:xfrm>
            <a:off x="7598664" y="2871216"/>
            <a:ext cx="841248" cy="274320"/>
          </a:xfrm>
          <a:prstGeom prst="rect">
            <a:avLst/>
          </a:prstGeom>
          <a:noFill/>
          <a:ln/>
        </p:spPr>
        <p:txBody>
          <a:bodyPr wrap="square" lIns="0" tIns="0" rIns="0" bIns="0" rtlCol="0" anchor="ctr"/>
          <a:lstStyle/>
          <a:p>
            <a:pPr indent="0" marL="0">
              <a:buNone/>
            </a:pPr>
            <a:r>
              <a:rPr lang="en-US" sz="800" b="1" dirty="0">
                <a:solidFill>
                  <a:srgbClr val="15304F"/>
                </a:solidFill>
                <a:latin typeface="Calibri" pitchFamily="34" charset="0"/>
                <a:ea typeface="Calibri" pitchFamily="34" charset="-122"/>
                <a:cs typeface="Calibri" pitchFamily="34" charset="-120"/>
              </a:rPr>
              <a:t>Phase 4</a:t>
            </a:r>
            <a:endParaRPr lang="en-US" sz="800" dirty="0"/>
          </a:p>
        </p:txBody>
      </p:sp>
      <p:sp>
        <p:nvSpPr>
          <p:cNvPr id="71" name="Shape 69"/>
          <p:cNvSpPr/>
          <p:nvPr/>
        </p:nvSpPr>
        <p:spPr>
          <a:xfrm>
            <a:off x="8439912" y="2915107"/>
            <a:ext cx="2651760" cy="186538"/>
          </a:xfrm>
          <a:prstGeom prst="rect">
            <a:avLst/>
          </a:prstGeom>
          <a:solidFill>
            <a:srgbClr val="F0F3F7"/>
          </a:solidFill>
          <a:ln w="12700">
            <a:solidFill>
              <a:srgbClr val="333333"/>
            </a:solidFill>
            <a:prstDash val="solid"/>
          </a:ln>
        </p:spPr>
      </p:sp>
      <p:sp>
        <p:nvSpPr>
          <p:cNvPr id="72" name="Shape 70"/>
          <p:cNvSpPr/>
          <p:nvPr/>
        </p:nvSpPr>
        <p:spPr>
          <a:xfrm>
            <a:off x="8439912" y="2915107"/>
            <a:ext cx="848563" cy="186538"/>
          </a:xfrm>
          <a:prstGeom prst="rect">
            <a:avLst/>
          </a:prstGeom>
          <a:solidFill>
            <a:srgbClr val="15304F"/>
          </a:solidFill>
          <a:ln w="12700">
            <a:solidFill>
              <a:srgbClr val="333333"/>
            </a:solidFill>
            <a:prstDash val="solid"/>
          </a:ln>
        </p:spPr>
      </p:sp>
      <p:sp>
        <p:nvSpPr>
          <p:cNvPr id="73" name="Text 71"/>
          <p:cNvSpPr txBox="1"/>
          <p:nvPr/>
        </p:nvSpPr>
        <p:spPr>
          <a:xfrm>
            <a:off x="11109960" y="2871216"/>
            <a:ext cx="457200" cy="274320"/>
          </a:xfrm>
          <a:prstGeom prst="rect">
            <a:avLst/>
          </a:prstGeom>
          <a:noFill/>
          <a:ln/>
        </p:spPr>
        <p:txBody>
          <a:bodyPr wrap="square" lIns="0" tIns="0" rIns="0" bIns="0" rtlCol="0" anchor="ctr"/>
          <a:lstStyle/>
          <a:p>
            <a:pPr algn="r" indent="0" marL="0">
              <a:buNone/>
            </a:pPr>
            <a:r>
              <a:rPr lang="en-US" sz="820" b="1" dirty="0">
                <a:solidFill>
                  <a:srgbClr val="15304F"/>
                </a:solidFill>
                <a:latin typeface="Calibri" pitchFamily="34" charset="0"/>
                <a:ea typeface="Calibri" pitchFamily="34" charset="-122"/>
                <a:cs typeface="Calibri" pitchFamily="34" charset="-120"/>
              </a:rPr>
              <a:t>32</a:t>
            </a:r>
            <a:endParaRPr lang="en-US" sz="820" dirty="0"/>
          </a:p>
        </p:txBody>
      </p:sp>
      <p:sp>
        <p:nvSpPr>
          <p:cNvPr id="74" name="Text 72"/>
          <p:cNvSpPr txBox="1"/>
          <p:nvPr/>
        </p:nvSpPr>
        <p:spPr>
          <a:xfrm>
            <a:off x="7598664" y="3163824"/>
            <a:ext cx="3968496" cy="219456"/>
          </a:xfrm>
          <a:prstGeom prst="rect">
            <a:avLst/>
          </a:prstGeom>
          <a:noFill/>
          <a:ln/>
        </p:spPr>
        <p:txBody>
          <a:bodyPr wrap="square" lIns="0" tIns="0" rIns="0" bIns="0" rtlCol="0" anchor="ctr"/>
          <a:lstStyle/>
          <a:p>
            <a:pPr indent="0" marL="0">
              <a:buNone/>
            </a:pPr>
            <a:r>
              <a:rPr lang="en-US" sz="750" i="1" dirty="0">
                <a:solidFill>
                  <a:srgbClr val="55606E"/>
                </a:solidFill>
                <a:latin typeface="Calibri" pitchFamily="34" charset="0"/>
                <a:ea typeface="Calibri" pitchFamily="34" charset="-122"/>
                <a:cs typeface="Calibri" pitchFamily="34" charset="-120"/>
              </a:rPr>
              <a:t>A shape, not a forecast — Phase 1 produces the first measured baseline and these are then replaced.</a:t>
            </a:r>
            <a:endParaRPr lang="en-US" sz="750" dirty="0"/>
          </a:p>
        </p:txBody>
      </p:sp>
      <p:sp>
        <p:nvSpPr>
          <p:cNvPr id="75" name="Text 73"/>
          <p:cNvSpPr txBox="1"/>
          <p:nvPr/>
        </p:nvSpPr>
        <p:spPr>
          <a:xfrm>
            <a:off x="411480" y="3639312"/>
            <a:ext cx="1042416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WHAT PHASE 1 COSTS — THE ONLY PHASE BEING APPROVED TODAY</a:t>
            </a:r>
            <a:endParaRPr lang="en-US" sz="760" dirty="0"/>
          </a:p>
        </p:txBody>
      </p:sp>
      <p:sp>
        <p:nvSpPr>
          <p:cNvPr id="76" name="Shape 74"/>
          <p:cNvSpPr/>
          <p:nvPr/>
        </p:nvSpPr>
        <p:spPr>
          <a:xfrm>
            <a:off x="411480" y="3840480"/>
            <a:ext cx="2766060" cy="1133856"/>
          </a:xfrm>
          <a:prstGeom prst="roundRect">
            <a:avLst>
              <a:gd name="adj" fmla="val 4032"/>
            </a:avLst>
          </a:prstGeom>
          <a:solidFill>
            <a:srgbClr val="FFFFFF"/>
          </a:solidFill>
          <a:ln w="12700">
            <a:solidFill>
              <a:srgbClr val="D4DAE2"/>
            </a:solidFill>
            <a:prstDash val="solid"/>
          </a:ln>
          <a:effectLst>
            <a:outerShdw sx="100000" sy="100000" kx="0" ky="0" algn="bl" rotWithShape="0" blurRad="88900" dist="12700" dir="5400000">
              <a:srgbClr val="97A3B4">
                <a:alpha val="16000"/>
              </a:srgbClr>
            </a:outerShdw>
          </a:effectLst>
        </p:spPr>
      </p:sp>
      <p:sp>
        <p:nvSpPr>
          <p:cNvPr id="77" name="Shape 75"/>
          <p:cNvSpPr/>
          <p:nvPr/>
        </p:nvSpPr>
        <p:spPr>
          <a:xfrm>
            <a:off x="411480" y="3840480"/>
            <a:ext cx="2766060" cy="50292"/>
          </a:xfrm>
          <a:prstGeom prst="rect">
            <a:avLst/>
          </a:prstGeom>
          <a:solidFill>
            <a:srgbClr val="5E7D96"/>
          </a:solidFill>
          <a:ln w="12700">
            <a:solidFill>
              <a:srgbClr val="333333"/>
            </a:solidFill>
            <a:prstDash val="solid"/>
          </a:ln>
        </p:spPr>
      </p:sp>
      <p:sp>
        <p:nvSpPr>
          <p:cNvPr id="78" name="Text 76"/>
          <p:cNvSpPr txBox="1"/>
          <p:nvPr/>
        </p:nvSpPr>
        <p:spPr>
          <a:xfrm>
            <a:off x="539496" y="3913632"/>
            <a:ext cx="2510028" cy="530352"/>
          </a:xfrm>
          <a:prstGeom prst="rect">
            <a:avLst/>
          </a:prstGeom>
          <a:noFill/>
          <a:ln/>
        </p:spPr>
        <p:txBody>
          <a:bodyPr wrap="square" lIns="0" tIns="0" rIns="0" bIns="0" rtlCol="0" anchor="ctr"/>
          <a:lstStyle/>
          <a:p>
            <a:pPr indent="0" marL="0">
              <a:buNone/>
            </a:pPr>
            <a:r>
              <a:rPr lang="en-US" sz="3000" b="1" dirty="0">
                <a:solidFill>
                  <a:srgbClr val="5E7D96"/>
                </a:solidFill>
                <a:latin typeface="Cambria" pitchFamily="34" charset="0"/>
                <a:ea typeface="Cambria" pitchFamily="34" charset="-122"/>
                <a:cs typeface="Cambria" pitchFamily="34" charset="-120"/>
              </a:rPr>
              <a:t>~2 wks</a:t>
            </a:r>
            <a:endParaRPr lang="en-US" sz="3000" dirty="0"/>
          </a:p>
        </p:txBody>
      </p:sp>
      <p:sp>
        <p:nvSpPr>
          <p:cNvPr id="79" name="Text 77"/>
          <p:cNvSpPr txBox="1"/>
          <p:nvPr/>
        </p:nvSpPr>
        <p:spPr>
          <a:xfrm>
            <a:off x="539496" y="4443984"/>
            <a:ext cx="2510028" cy="402336"/>
          </a:xfrm>
          <a:prstGeom prst="rect">
            <a:avLst/>
          </a:prstGeom>
          <a:noFill/>
          <a:ln/>
        </p:spPr>
        <p:txBody>
          <a:bodyPr wrap="square" lIns="0" tIns="0" rIns="0" bIns="0" rtlCol="0" anchor="t"/>
          <a:lstStyle/>
          <a:p>
            <a:pPr indent="0" marL="0">
              <a:lnSpc>
                <a:spcPts val="1100"/>
              </a:lnSpc>
              <a:buNone/>
            </a:pPr>
            <a:r>
              <a:rPr lang="en-US" sz="950" b="1" dirty="0">
                <a:solidFill>
                  <a:srgbClr val="1B2432"/>
                </a:solidFill>
                <a:latin typeface="Calibri" pitchFamily="34" charset="0"/>
                <a:ea typeface="Calibri" pitchFamily="34" charset="-122"/>
                <a:cs typeface="Calibri" pitchFamily="34" charset="-120"/>
              </a:rPr>
              <a:t>of preparation</a:t>
            </a:r>
            <a:endParaRPr lang="en-US" sz="950" dirty="0"/>
          </a:p>
        </p:txBody>
      </p:sp>
      <p:sp>
        <p:nvSpPr>
          <p:cNvPr id="80" name="Text 78"/>
          <p:cNvSpPr txBox="1"/>
          <p:nvPr/>
        </p:nvSpPr>
        <p:spPr>
          <a:xfrm>
            <a:off x="539496" y="4498848"/>
            <a:ext cx="2510028" cy="402336"/>
          </a:xfrm>
          <a:prstGeom prst="rect">
            <a:avLst/>
          </a:prstGeom>
          <a:noFill/>
          <a:ln/>
        </p:spPr>
        <p:txBody>
          <a:bodyPr wrap="square" lIns="0" tIns="0" rIns="0" bIns="0" rtlCol="0" anchor="b"/>
          <a:lstStyle/>
          <a:p>
            <a:pPr indent="0" marL="0">
              <a:lnSpc>
                <a:spcPts val="940"/>
              </a:lnSpc>
              <a:buNone/>
            </a:pPr>
            <a:r>
              <a:rPr lang="en-US" sz="780" dirty="0">
                <a:solidFill>
                  <a:srgbClr val="55606E"/>
                </a:solidFill>
                <a:latin typeface="Calibri" pitchFamily="34" charset="0"/>
                <a:ea typeface="Calibri" pitchFamily="34" charset="-122"/>
                <a:cs typeface="Calibri" pitchFamily="34" charset="-120"/>
              </a:rPr>
              <a:t>Two engineers and a governance analyst, writing guidance they already hold.</a:t>
            </a:r>
            <a:endParaRPr lang="en-US" sz="780" dirty="0"/>
          </a:p>
        </p:txBody>
      </p:sp>
      <p:sp>
        <p:nvSpPr>
          <p:cNvPr id="81" name="Shape 79"/>
          <p:cNvSpPr/>
          <p:nvPr/>
        </p:nvSpPr>
        <p:spPr>
          <a:xfrm>
            <a:off x="3268980" y="3840480"/>
            <a:ext cx="2766060" cy="1133856"/>
          </a:xfrm>
          <a:prstGeom prst="roundRect">
            <a:avLst>
              <a:gd name="adj" fmla="val 4032"/>
            </a:avLst>
          </a:prstGeom>
          <a:solidFill>
            <a:srgbClr val="FFFFFF"/>
          </a:solidFill>
          <a:ln w="12700">
            <a:solidFill>
              <a:srgbClr val="D4DAE2"/>
            </a:solidFill>
            <a:prstDash val="solid"/>
          </a:ln>
          <a:effectLst>
            <a:outerShdw sx="100000" sy="100000" kx="0" ky="0" algn="bl" rotWithShape="0" blurRad="88900" dist="12700" dir="5400000">
              <a:srgbClr val="97A3B4">
                <a:alpha val="16000"/>
              </a:srgbClr>
            </a:outerShdw>
          </a:effectLst>
        </p:spPr>
      </p:sp>
      <p:sp>
        <p:nvSpPr>
          <p:cNvPr id="82" name="Shape 80"/>
          <p:cNvSpPr/>
          <p:nvPr/>
        </p:nvSpPr>
        <p:spPr>
          <a:xfrm>
            <a:off x="3268980" y="3840480"/>
            <a:ext cx="2766060" cy="50292"/>
          </a:xfrm>
          <a:prstGeom prst="rect">
            <a:avLst/>
          </a:prstGeom>
          <a:solidFill>
            <a:srgbClr val="5E7D96"/>
          </a:solidFill>
          <a:ln w="12700">
            <a:solidFill>
              <a:srgbClr val="333333"/>
            </a:solidFill>
            <a:prstDash val="solid"/>
          </a:ln>
        </p:spPr>
      </p:sp>
      <p:sp>
        <p:nvSpPr>
          <p:cNvPr id="83" name="Text 81"/>
          <p:cNvSpPr txBox="1"/>
          <p:nvPr/>
        </p:nvSpPr>
        <p:spPr>
          <a:xfrm>
            <a:off x="3396996" y="3913632"/>
            <a:ext cx="2510028" cy="530352"/>
          </a:xfrm>
          <a:prstGeom prst="rect">
            <a:avLst/>
          </a:prstGeom>
          <a:noFill/>
          <a:ln/>
        </p:spPr>
        <p:txBody>
          <a:bodyPr wrap="square" lIns="0" tIns="0" rIns="0" bIns="0" rtlCol="0" anchor="ctr"/>
          <a:lstStyle/>
          <a:p>
            <a:pPr indent="0" marL="0">
              <a:buNone/>
            </a:pPr>
            <a:r>
              <a:rPr lang="en-US" sz="3000" b="1" dirty="0">
                <a:solidFill>
                  <a:srgbClr val="5E7D96"/>
                </a:solidFill>
                <a:latin typeface="Cambria" pitchFamily="34" charset="0"/>
                <a:ea typeface="Cambria" pitchFamily="34" charset="-122"/>
                <a:cs typeface="Cambria" pitchFamily="34" charset="-120"/>
              </a:rPr>
              <a:t>0</a:t>
            </a:r>
            <a:endParaRPr lang="en-US" sz="3000" dirty="0"/>
          </a:p>
        </p:txBody>
      </p:sp>
      <p:sp>
        <p:nvSpPr>
          <p:cNvPr id="84" name="Text 82"/>
          <p:cNvSpPr txBox="1"/>
          <p:nvPr/>
        </p:nvSpPr>
        <p:spPr>
          <a:xfrm>
            <a:off x="3396996" y="4443984"/>
            <a:ext cx="2510028" cy="402336"/>
          </a:xfrm>
          <a:prstGeom prst="rect">
            <a:avLst/>
          </a:prstGeom>
          <a:noFill/>
          <a:ln/>
        </p:spPr>
        <p:txBody>
          <a:bodyPr wrap="square" lIns="0" tIns="0" rIns="0" bIns="0" rtlCol="0" anchor="t"/>
          <a:lstStyle/>
          <a:p>
            <a:pPr indent="0" marL="0">
              <a:lnSpc>
                <a:spcPts val="1100"/>
              </a:lnSpc>
              <a:buNone/>
            </a:pPr>
            <a:r>
              <a:rPr lang="en-US" sz="950" b="1" dirty="0">
                <a:solidFill>
                  <a:srgbClr val="1B2432"/>
                </a:solidFill>
                <a:latin typeface="Calibri" pitchFamily="34" charset="0"/>
                <a:ea typeface="Calibri" pitchFamily="34" charset="-122"/>
                <a:cs typeface="Calibri" pitchFamily="34" charset="-120"/>
              </a:rPr>
              <a:t>new headcount</a:t>
            </a:r>
            <a:endParaRPr lang="en-US" sz="950" dirty="0"/>
          </a:p>
        </p:txBody>
      </p:sp>
      <p:sp>
        <p:nvSpPr>
          <p:cNvPr id="85" name="Text 83"/>
          <p:cNvSpPr txBox="1"/>
          <p:nvPr/>
        </p:nvSpPr>
        <p:spPr>
          <a:xfrm>
            <a:off x="3396996" y="4498848"/>
            <a:ext cx="2510028" cy="402336"/>
          </a:xfrm>
          <a:prstGeom prst="rect">
            <a:avLst/>
          </a:prstGeom>
          <a:noFill/>
          <a:ln/>
        </p:spPr>
        <p:txBody>
          <a:bodyPr wrap="square" lIns="0" tIns="0" rIns="0" bIns="0" rtlCol="0" anchor="b"/>
          <a:lstStyle/>
          <a:p>
            <a:pPr indent="0" marL="0">
              <a:lnSpc>
                <a:spcPts val="940"/>
              </a:lnSpc>
              <a:buNone/>
            </a:pPr>
            <a:r>
              <a:rPr lang="en-US" sz="780" dirty="0">
                <a:solidFill>
                  <a:srgbClr val="55606E"/>
                </a:solidFill>
                <a:latin typeface="Calibri" pitchFamily="34" charset="0"/>
                <a:ea typeface="Calibri" pitchFamily="34" charset="-122"/>
                <a:cs typeface="Calibri" pitchFamily="34" charset="-120"/>
              </a:rPr>
              <a:t>The shared pool is seconded from the three squads we already have.</a:t>
            </a:r>
            <a:endParaRPr lang="en-US" sz="780" dirty="0"/>
          </a:p>
        </p:txBody>
      </p:sp>
      <p:sp>
        <p:nvSpPr>
          <p:cNvPr id="86" name="Shape 84"/>
          <p:cNvSpPr/>
          <p:nvPr/>
        </p:nvSpPr>
        <p:spPr>
          <a:xfrm>
            <a:off x="6126480" y="3840480"/>
            <a:ext cx="2766060" cy="1133856"/>
          </a:xfrm>
          <a:prstGeom prst="roundRect">
            <a:avLst>
              <a:gd name="adj" fmla="val 4032"/>
            </a:avLst>
          </a:prstGeom>
          <a:solidFill>
            <a:srgbClr val="FFFFFF"/>
          </a:solidFill>
          <a:ln w="12700">
            <a:solidFill>
              <a:srgbClr val="D4DAE2"/>
            </a:solidFill>
            <a:prstDash val="solid"/>
          </a:ln>
          <a:effectLst>
            <a:outerShdw sx="100000" sy="100000" kx="0" ky="0" algn="bl" rotWithShape="0" blurRad="88900" dist="12700" dir="5400000">
              <a:srgbClr val="97A3B4">
                <a:alpha val="16000"/>
              </a:srgbClr>
            </a:outerShdw>
          </a:effectLst>
        </p:spPr>
      </p:sp>
      <p:sp>
        <p:nvSpPr>
          <p:cNvPr id="87" name="Shape 85"/>
          <p:cNvSpPr/>
          <p:nvPr/>
        </p:nvSpPr>
        <p:spPr>
          <a:xfrm>
            <a:off x="6126480" y="3840480"/>
            <a:ext cx="2766060" cy="50292"/>
          </a:xfrm>
          <a:prstGeom prst="rect">
            <a:avLst/>
          </a:prstGeom>
          <a:solidFill>
            <a:srgbClr val="5E7D96"/>
          </a:solidFill>
          <a:ln w="12700">
            <a:solidFill>
              <a:srgbClr val="333333"/>
            </a:solidFill>
            <a:prstDash val="solid"/>
          </a:ln>
        </p:spPr>
      </p:sp>
      <p:sp>
        <p:nvSpPr>
          <p:cNvPr id="88" name="Text 86"/>
          <p:cNvSpPr txBox="1"/>
          <p:nvPr/>
        </p:nvSpPr>
        <p:spPr>
          <a:xfrm>
            <a:off x="6254496" y="3913632"/>
            <a:ext cx="2510028" cy="530352"/>
          </a:xfrm>
          <a:prstGeom prst="rect">
            <a:avLst/>
          </a:prstGeom>
          <a:noFill/>
          <a:ln/>
        </p:spPr>
        <p:txBody>
          <a:bodyPr wrap="square" lIns="0" tIns="0" rIns="0" bIns="0" rtlCol="0" anchor="ctr"/>
          <a:lstStyle/>
          <a:p>
            <a:pPr indent="0" marL="0">
              <a:buNone/>
            </a:pPr>
            <a:r>
              <a:rPr lang="en-US" sz="3000" b="1" dirty="0">
                <a:solidFill>
                  <a:srgbClr val="5E7D96"/>
                </a:solidFill>
                <a:latin typeface="Cambria" pitchFamily="34" charset="0"/>
                <a:ea typeface="Cambria" pitchFamily="34" charset="-122"/>
                <a:cs typeface="Cambria" pitchFamily="34" charset="-120"/>
              </a:rPr>
              <a:t>0</a:t>
            </a:r>
            <a:endParaRPr lang="en-US" sz="3000" dirty="0"/>
          </a:p>
        </p:txBody>
      </p:sp>
      <p:sp>
        <p:nvSpPr>
          <p:cNvPr id="89" name="Text 87"/>
          <p:cNvSpPr txBox="1"/>
          <p:nvPr/>
        </p:nvSpPr>
        <p:spPr>
          <a:xfrm>
            <a:off x="6254496" y="4443984"/>
            <a:ext cx="2510028" cy="402336"/>
          </a:xfrm>
          <a:prstGeom prst="rect">
            <a:avLst/>
          </a:prstGeom>
          <a:noFill/>
          <a:ln/>
        </p:spPr>
        <p:txBody>
          <a:bodyPr wrap="square" lIns="0" tIns="0" rIns="0" bIns="0" rtlCol="0" anchor="t"/>
          <a:lstStyle/>
          <a:p>
            <a:pPr indent="0" marL="0">
              <a:lnSpc>
                <a:spcPts val="1100"/>
              </a:lnSpc>
              <a:buNone/>
            </a:pPr>
            <a:r>
              <a:rPr lang="en-US" sz="950" b="1" dirty="0">
                <a:solidFill>
                  <a:srgbClr val="1B2432"/>
                </a:solidFill>
                <a:latin typeface="Calibri" pitchFamily="34" charset="0"/>
                <a:ea typeface="Calibri" pitchFamily="34" charset="-122"/>
                <a:cs typeface="Calibri" pitchFamily="34" charset="-120"/>
              </a:rPr>
              <a:t>lines of code</a:t>
            </a:r>
            <a:endParaRPr lang="en-US" sz="950" dirty="0"/>
          </a:p>
        </p:txBody>
      </p:sp>
      <p:sp>
        <p:nvSpPr>
          <p:cNvPr id="90" name="Text 88"/>
          <p:cNvSpPr txBox="1"/>
          <p:nvPr/>
        </p:nvSpPr>
        <p:spPr>
          <a:xfrm>
            <a:off x="6254496" y="4498848"/>
            <a:ext cx="2510028" cy="402336"/>
          </a:xfrm>
          <a:prstGeom prst="rect">
            <a:avLst/>
          </a:prstGeom>
          <a:noFill/>
          <a:ln/>
        </p:spPr>
        <p:txBody>
          <a:bodyPr wrap="square" lIns="0" tIns="0" rIns="0" bIns="0" rtlCol="0" anchor="b"/>
          <a:lstStyle/>
          <a:p>
            <a:pPr indent="0" marL="0">
              <a:lnSpc>
                <a:spcPts val="940"/>
              </a:lnSpc>
              <a:buNone/>
            </a:pPr>
            <a:r>
              <a:rPr lang="en-US" sz="780" dirty="0">
                <a:solidFill>
                  <a:srgbClr val="55606E"/>
                </a:solidFill>
                <a:latin typeface="Calibri" pitchFamily="34" charset="0"/>
                <a:ea typeface="Calibri" pitchFamily="34" charset="-122"/>
                <a:cs typeface="Calibri" pitchFamily="34" charset="-120"/>
              </a:rPr>
              <a:t>Nothing is built. The Phase 2 architecture is designed and costed only.</a:t>
            </a:r>
            <a:endParaRPr lang="en-US" sz="780" dirty="0"/>
          </a:p>
        </p:txBody>
      </p:sp>
      <p:sp>
        <p:nvSpPr>
          <p:cNvPr id="91" name="Shape 89"/>
          <p:cNvSpPr/>
          <p:nvPr/>
        </p:nvSpPr>
        <p:spPr>
          <a:xfrm>
            <a:off x="8983980" y="3840480"/>
            <a:ext cx="2766060" cy="1133856"/>
          </a:xfrm>
          <a:prstGeom prst="roundRect">
            <a:avLst>
              <a:gd name="adj" fmla="val 4032"/>
            </a:avLst>
          </a:prstGeom>
          <a:solidFill>
            <a:srgbClr val="FFFFFF"/>
          </a:solidFill>
          <a:ln w="12700">
            <a:solidFill>
              <a:srgbClr val="D4DAE2"/>
            </a:solidFill>
            <a:prstDash val="solid"/>
          </a:ln>
          <a:effectLst>
            <a:outerShdw sx="100000" sy="100000" kx="0" ky="0" algn="bl" rotWithShape="0" blurRad="88900" dist="12700" dir="5400000">
              <a:srgbClr val="97A3B4">
                <a:alpha val="16000"/>
              </a:srgbClr>
            </a:outerShdw>
          </a:effectLst>
        </p:spPr>
      </p:sp>
      <p:sp>
        <p:nvSpPr>
          <p:cNvPr id="92" name="Shape 90"/>
          <p:cNvSpPr/>
          <p:nvPr/>
        </p:nvSpPr>
        <p:spPr>
          <a:xfrm>
            <a:off x="8983980" y="3840480"/>
            <a:ext cx="2766060" cy="50292"/>
          </a:xfrm>
          <a:prstGeom prst="rect">
            <a:avLst/>
          </a:prstGeom>
          <a:solidFill>
            <a:srgbClr val="15304F"/>
          </a:solidFill>
          <a:ln w="12700">
            <a:solidFill>
              <a:srgbClr val="333333"/>
            </a:solidFill>
            <a:prstDash val="solid"/>
          </a:ln>
        </p:spPr>
      </p:sp>
      <p:sp>
        <p:nvSpPr>
          <p:cNvPr id="93" name="Text 91"/>
          <p:cNvSpPr txBox="1"/>
          <p:nvPr/>
        </p:nvSpPr>
        <p:spPr>
          <a:xfrm>
            <a:off x="9111996" y="3913632"/>
            <a:ext cx="2510028" cy="530352"/>
          </a:xfrm>
          <a:prstGeom prst="rect">
            <a:avLst/>
          </a:prstGeom>
          <a:noFill/>
          <a:ln/>
        </p:spPr>
        <p:txBody>
          <a:bodyPr wrap="square" lIns="0" tIns="0" rIns="0" bIns="0" rtlCol="0" anchor="ctr"/>
          <a:lstStyle/>
          <a:p>
            <a:pPr indent="0" marL="0">
              <a:buNone/>
            </a:pPr>
            <a:r>
              <a:rPr lang="en-US" sz="3000" b="1" dirty="0">
                <a:solidFill>
                  <a:srgbClr val="15304F"/>
                </a:solidFill>
                <a:latin typeface="Cambria" pitchFamily="34" charset="0"/>
                <a:ea typeface="Cambria" pitchFamily="34" charset="-122"/>
                <a:cs typeface="Cambria" pitchFamily="34" charset="-120"/>
              </a:rPr>
              <a:t>1 qtr</a:t>
            </a:r>
            <a:endParaRPr lang="en-US" sz="3000" dirty="0"/>
          </a:p>
        </p:txBody>
      </p:sp>
      <p:sp>
        <p:nvSpPr>
          <p:cNvPr id="94" name="Text 92"/>
          <p:cNvSpPr txBox="1"/>
          <p:nvPr/>
        </p:nvSpPr>
        <p:spPr>
          <a:xfrm>
            <a:off x="9111996" y="4443984"/>
            <a:ext cx="2510028" cy="402336"/>
          </a:xfrm>
          <a:prstGeom prst="rect">
            <a:avLst/>
          </a:prstGeom>
          <a:noFill/>
          <a:ln/>
        </p:spPr>
        <p:txBody>
          <a:bodyPr wrap="square" lIns="0" tIns="0" rIns="0" bIns="0" rtlCol="0" anchor="t"/>
          <a:lstStyle/>
          <a:p>
            <a:pPr indent="0" marL="0">
              <a:lnSpc>
                <a:spcPts val="1100"/>
              </a:lnSpc>
              <a:buNone/>
            </a:pPr>
            <a:r>
              <a:rPr lang="en-US" sz="950" b="1" dirty="0">
                <a:solidFill>
                  <a:srgbClr val="1B2432"/>
                </a:solidFill>
                <a:latin typeface="Calibri" pitchFamily="34" charset="0"/>
                <a:ea typeface="Calibri" pitchFamily="34" charset="-122"/>
                <a:cs typeface="Calibri" pitchFamily="34" charset="-120"/>
              </a:rPr>
              <a:t>to a decision</a:t>
            </a:r>
            <a:endParaRPr lang="en-US" sz="950" dirty="0"/>
          </a:p>
        </p:txBody>
      </p:sp>
      <p:sp>
        <p:nvSpPr>
          <p:cNvPr id="95" name="Text 93"/>
          <p:cNvSpPr txBox="1"/>
          <p:nvPr/>
        </p:nvSpPr>
        <p:spPr>
          <a:xfrm>
            <a:off x="9111996" y="4498848"/>
            <a:ext cx="2510028" cy="402336"/>
          </a:xfrm>
          <a:prstGeom prst="rect">
            <a:avLst/>
          </a:prstGeom>
          <a:noFill/>
          <a:ln/>
        </p:spPr>
        <p:txBody>
          <a:bodyPr wrap="square" lIns="0" tIns="0" rIns="0" bIns="0" rtlCol="0" anchor="b"/>
          <a:lstStyle/>
          <a:p>
            <a:pPr indent="0" marL="0">
              <a:lnSpc>
                <a:spcPts val="940"/>
              </a:lnSpc>
              <a:buNone/>
            </a:pPr>
            <a:r>
              <a:rPr lang="en-US" sz="780" dirty="0">
                <a:solidFill>
                  <a:srgbClr val="55606E"/>
                </a:solidFill>
                <a:latin typeface="Calibri" pitchFamily="34" charset="0"/>
                <a:ea typeface="Calibri" pitchFamily="34" charset="-122"/>
                <a:cs typeface="Calibri" pitchFamily="34" charset="-120"/>
              </a:rPr>
              <a:t>Twelve weeks, then approve or decline Phase 2 against the evidence.</a:t>
            </a:r>
            <a:endParaRPr lang="en-US" sz="780" dirty="0"/>
          </a:p>
        </p:txBody>
      </p:sp>
      <p:sp>
        <p:nvSpPr>
          <p:cNvPr id="96" name="Shape 94"/>
          <p:cNvSpPr/>
          <p:nvPr/>
        </p:nvSpPr>
        <p:spPr>
          <a:xfrm>
            <a:off x="411480" y="5175504"/>
            <a:ext cx="6656832" cy="1097280"/>
          </a:xfrm>
          <a:prstGeom prst="roundRect">
            <a:avLst>
              <a:gd name="adj" fmla="val 4167"/>
            </a:avLst>
          </a:prstGeom>
          <a:solidFill>
            <a:srgbClr val="E9EEF4"/>
          </a:solidFill>
          <a:ln w="12700">
            <a:solidFill>
              <a:srgbClr val="15304F"/>
            </a:solidFill>
            <a:prstDash val="solid"/>
          </a:ln>
        </p:spPr>
      </p:sp>
      <p:sp>
        <p:nvSpPr>
          <p:cNvPr id="97" name="Text 95"/>
          <p:cNvSpPr txBox="1"/>
          <p:nvPr/>
        </p:nvSpPr>
        <p:spPr>
          <a:xfrm>
            <a:off x="557784" y="5257800"/>
            <a:ext cx="6364224" cy="182880"/>
          </a:xfrm>
          <a:prstGeom prst="rect">
            <a:avLst/>
          </a:prstGeom>
          <a:noFill/>
          <a:ln/>
        </p:spPr>
        <p:txBody>
          <a:bodyPr wrap="square" lIns="0" tIns="0" rIns="0" bIns="0" rtlCol="0" anchor="ctr"/>
          <a:lstStyle/>
          <a:p>
            <a:pPr indent="0" marL="0">
              <a:buNone/>
            </a:pPr>
            <a:r>
              <a:rPr lang="en-US" sz="760" b="1" spc="100" kern="0" dirty="0">
                <a:solidFill>
                  <a:srgbClr val="15304F"/>
                </a:solidFill>
                <a:latin typeface="Calibri" pitchFamily="34" charset="0"/>
                <a:ea typeface="Calibri" pitchFamily="34" charset="-122"/>
                <a:cs typeface="Calibri" pitchFamily="34" charset="-120"/>
              </a:rPr>
              <a:t>WHAT WE ARE ASKING THIS ROOM TO APPROVE</a:t>
            </a:r>
            <a:endParaRPr lang="en-US" sz="760" dirty="0"/>
          </a:p>
        </p:txBody>
      </p:sp>
      <p:sp>
        <p:nvSpPr>
          <p:cNvPr id="98" name="Text 96"/>
          <p:cNvSpPr txBox="1"/>
          <p:nvPr/>
        </p:nvSpPr>
        <p:spPr>
          <a:xfrm>
            <a:off x="557784" y="5449824"/>
            <a:ext cx="6364224" cy="731520"/>
          </a:xfrm>
          <a:prstGeom prst="rect">
            <a:avLst/>
          </a:prstGeom>
          <a:noFill/>
          <a:ln/>
        </p:spPr>
        <p:txBody>
          <a:bodyPr wrap="square" lIns="0" tIns="0" rIns="0" bIns="0" rtlCol="0" anchor="t"/>
          <a:lstStyle/>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1   Run Phase 1 for one quarter — the operating discipline, not a build.</a:t>
            </a:r>
            <a:endParaRPr lang="en-US" sz="900" dirty="0"/>
          </a:p>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2   Protect the shared pool from reclaim by the squads, with a named escalation route agreed before we start.</a:t>
            </a:r>
            <a:endParaRPr lang="en-US" sz="900" dirty="0"/>
          </a:p>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3   Agree the evidence criteria now, and take the Phase 2 decision against them at week twelve.</a:t>
            </a:r>
            <a:endParaRPr lang="en-US" sz="900" dirty="0"/>
          </a:p>
        </p:txBody>
      </p:sp>
      <p:sp>
        <p:nvSpPr>
          <p:cNvPr id="99" name="Shape 97"/>
          <p:cNvSpPr/>
          <p:nvPr/>
        </p:nvSpPr>
        <p:spPr>
          <a:xfrm>
            <a:off x="7196328" y="5175504"/>
            <a:ext cx="4553712" cy="1097280"/>
          </a:xfrm>
          <a:prstGeom prst="roundRect">
            <a:avLst>
              <a:gd name="adj" fmla="val 4167"/>
            </a:avLst>
          </a:prstGeom>
          <a:solidFill>
            <a:srgbClr val="ECF3EE"/>
          </a:solidFill>
          <a:ln w="15875">
            <a:solidFill>
              <a:srgbClr val="2E6B4F"/>
            </a:solidFill>
            <a:prstDash val="solid"/>
          </a:ln>
          <a:effectLst>
            <a:outerShdw sx="100000" sy="100000" kx="0" ky="0" algn="bl" rotWithShape="0" blurRad="88900" dist="12700" dir="5400000">
              <a:srgbClr val="97A3B4">
                <a:alpha val="16000"/>
              </a:srgbClr>
            </a:outerShdw>
          </a:effectLst>
        </p:spPr>
      </p:sp>
      <p:sp>
        <p:nvSpPr>
          <p:cNvPr id="100" name="Text 98"/>
          <p:cNvSpPr txBox="1"/>
          <p:nvPr/>
        </p:nvSpPr>
        <p:spPr>
          <a:xfrm>
            <a:off x="7342632" y="5303520"/>
            <a:ext cx="4261104" cy="310896"/>
          </a:xfrm>
          <a:prstGeom prst="rect">
            <a:avLst/>
          </a:prstGeom>
          <a:noFill/>
          <a:ln/>
        </p:spPr>
        <p:txBody>
          <a:bodyPr wrap="square" lIns="0" tIns="0" rIns="0" bIns="0" rtlCol="0" anchor="t"/>
          <a:lstStyle/>
          <a:p>
            <a:pPr indent="0" marL="0">
              <a:lnSpc>
                <a:spcPts val="1300"/>
              </a:lnSpc>
              <a:buNone/>
            </a:pPr>
            <a:r>
              <a:rPr lang="en-US" sz="1050" b="1" dirty="0">
                <a:solidFill>
                  <a:srgbClr val="1B2432"/>
                </a:solidFill>
                <a:latin typeface="Calibri" pitchFamily="34" charset="0"/>
                <a:ea typeface="Calibri" pitchFamily="34" charset="-122"/>
                <a:cs typeface="Calibri" pitchFamily="34" charset="-120"/>
              </a:rPr>
              <a:t>What would justify Phase 2</a:t>
            </a:r>
            <a:endParaRPr lang="en-US" sz="1050" dirty="0"/>
          </a:p>
        </p:txBody>
      </p:sp>
      <p:sp>
        <p:nvSpPr>
          <p:cNvPr id="101" name="Text 99"/>
          <p:cNvSpPr txBox="1"/>
          <p:nvPr/>
        </p:nvSpPr>
        <p:spPr>
          <a:xfrm>
            <a:off x="7342632" y="5614416"/>
            <a:ext cx="4261104" cy="512064"/>
          </a:xfrm>
          <a:prstGeom prst="rect">
            <a:avLst/>
          </a:prstGeom>
          <a:noFill/>
          <a:ln/>
        </p:spPr>
        <p:txBody>
          <a:bodyPr wrap="square" lIns="0" tIns="0" rIns="0" bIns="0" rtlCol="0" anchor="t"/>
          <a:lstStyle/>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Distribution holds — half or more route to Lean or Lean+ · lighter tiers hold, escalation under 25% · clarification cycles measurably down · partners accept assigned tiering · the effort baseline exists · the bottleneck is quantified · no compliance regression.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ECM Partner Enablement — Leadership Briefing</dc:title>
  <dc:subject>PptxGenJS Presentation</dc:subject>
  <dc:creator>ECM Partner Enablement</dc:creator>
  <cp:lastModifiedBy>ECM Partner Enablement</cp:lastModifiedBy>
  <cp:revision>1</cp:revision>
  <dcterms:created xsi:type="dcterms:W3CDTF">2026-10-21T10:42:32Z</dcterms:created>
  <dcterms:modified xsi:type="dcterms:W3CDTF">2026-10-21T10:42:32Z</dcterms:modified>
</cp:coreProperties>
</file>