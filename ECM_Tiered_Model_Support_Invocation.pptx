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DIAGRAM
Answer the question that decides whether Partner Express is viable at all: if no capacity is allocated to an intake, how does the partner get help? This is the mechanism, and it is worth presenting to the triage leads and the specialist teams before it is presented to partners.
THE THREE CHANNELS, IN ORDER OF WEIGHT
Start at the left and move right, because the design intent is that most traffic never reaches the third channel.
The published pattern and guide carry the 54-point question set with the reason for every item, the completeness bands and the templates. If a partner has to raise a ticket to find out why we need something, the guide has failed.
Office hours are the deliberate middle channel — fixed weekly slots from the cell rota, first come first served, no ticket. They exist so the queue does not fill with questions that take two minutes to answer. Without them, the ticket catalogue becomes the only route and the rota drowns.
JIRA is the front door for anything that needs an answer on the record.
THE REQUEST CATALOGUE — WALK THE ROUTING COLUMN, NOT THE REQUEST TYPES
The important column is "routed to". Every request type has a predetermined destination, so the partner never has to work out who owns what. That is the single change that makes this workable: in the current state the onboarding resource is the human router, and Express has no such person.
Three rows deserve calling out.
GUIDANCE goes to the rota on escalation duty — one cell member per week, one working day response. Note that it goes to a duty, not to a person. A partner who learns to ask a specific engineer has recreated the allocated-resource model informally.
DEVIATION is the most consequential request type on the slide. It is the formal route for "the published pattern does not cover my case", and raising one triggers a re-tier assessment. That is how the control on the Express process diagram actually gets invoked — the partner tells us, rather than us discovering it at a gate.
APPEAL is bounded deliberately: one per intake, within five working days, and it must name the determinant believed to be wrongly scored. It goes to a second lead plus governance, never back to the lead who made the assignment.
WHAT HAPPENS TO A TICKET
Four steps and a decision. Raised, auto-routed, answered by the owning queue, then the test: is this answerable within the published pattern? Yes means resolved on the record, with the answer attached to the intake so the next partner on that pattern benefits. No means a deviation, which means a re-tier assessment.
That decision is the same control that appears on the Express process diagram, reached from the other direction. On the process diagram we catch deviation at a checkpoint; here the partner raises it themselves. Both routes converge on the same re-tier.
THE QUEUE IS EVIDENCE, NOT JUST SUPPORT
Worth saying to the leads explicitly. Ticket volume and type, read by pattern, tells us which patterns are unclear, which guidance is missing and which design decisions are being asked about so often that they should not have been left to a confirmation. A pattern generating a steady stream of GUIDANCE tickets is a pattern that needs rewriting, and that signal does not exist today.
LIKELY QUESTIONS
"What stops a partner just emailing someone they know?" Nothing, initially — and some will. The counter is that an emailed question gets no SLA and leaves no record, while a ticket does. The leads need to redirect rather than answer, consistently, for about two months.
"What if the rota cannot answer within the SLA?" It escalates to the triage lead, and a repeated miss on one request type is a capacity signal for the rota rather than a failure of the individual on duty.
"Does this replace the onboarding resource?" For Express, largely yes — the routing, the SLAs and the published guidance do what that role does by hand today. For commissioned work it does not, which is the next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DIAGRAM
Show that the support model is not uniform across the tiers, and explain why that is deliberate rather than an inconsistency. Present it immediately after the Express support diagram — the contrast is the content.
THE CENTRAL DISTINCTION
Say it in one sentence before anything else: in Express the ticket is how the partner gets attention, because none is allocated; in a Commissioned Cell attention is already allocated, so the ticket does a different job entirely.
This matters practically. If we tell a partner who has a cell sitting with them to raise a ticket to ask that cell a question, they will conclude the model is bureaucratic — and they will be right. The cell is the channel. The joint delivery plan sets the cadence. JIRA is for the record and for routing outward.
WHAT GETS RAISED HERE
Read the routing column and notice how few destinations are inside ECM delivery. SANCTION goes to the Executive Sponsor. DETERMINE-CLASS goes to Imaging Governance. APPROVE-RM, REVIEW-SEC, PROVISION and CERTIFY-VOL all go outside the cell. CHANGE goes to Design Authority. Only GATE and DEFECT stay close to the delivery team.
That shape is the point: the ticket exists to cross a boundary or to create an auditable record, never to request attention from people already assigned.
SANCTION deserves a specific mention. Recording the commissioning decision and its justification as a ticket is what makes the quarterly review of live commissions possible at all. Without a record there is nothing to review, and commissioning drifts back to being the default within a few quarters.
THE TICKET LIFECYCLE
Four steps and a decision, mirroring the Express diagram so the two can be read together. The decision differs: in Express the test is whether the question is answerable within the published pattern; here it is whether the request sits inside the baselined scope. Inside means evidence attached to a gate. Outside means formal change control and Design Authority re-baselines.
That distinction is what change control actually means in practice, and it is worth making concrete — a partner asking for something not in the signed design is not refused, they are routed to the mechanism that reprices and re-baselines.
THE LINK FORWARD TO THE ROADMAP
The outward-facing request types on this slide — the determinations, the provisioning, the certification — are exactly what Phase 3 later assembles, validates against each receiving team's acceptance criteria, submits and chases automatically. Today they are tickets a person raises and then chases. Naming them here as a catalogue is what makes that automation specifiable later, because you cannot automate a hand-off you have not first written down.
Worth saying when presenting the roadmap: this catalogue is a Phase 1 deliverable that happens to also be the Phase 3 specification.
LIKELY QUESTIONS
"Isn't it confusing to have two support models?" Only if presented as two models. Presented as one principle — the ticket crosses boundaries and creates records, the allocated team answers questions — it is a single rule applied to two situations.
"What if a commissioned partner raises a GUIDANCE ticket anyway?" The cell answers it and redirects, as they would an email. No harm done; it just adds a hop.
"Who owns the catalogue itself?" Governance, with the triage leads proposing changes. Request types that generate no traffic for two quarters should be retired, and a recurring question that has no request type is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Partner Express — how the partner invokes ECM support</a:t>
            </a:r>
            <a:endParaRPr lang="en-US" sz="2400" dirty="0"/>
          </a:p>
        </p:txBody>
      </p:sp>
      <p:sp>
        <p:nvSpPr>
          <p:cNvPr id="3" name="Text 1"/>
          <p:cNvSpPr txBox="1"/>
          <p:nvPr/>
        </p:nvSpPr>
        <p:spPr>
          <a:xfrm>
            <a:off x="411480"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No capacity is allocated, so the ticket is how the partner gets attention. One front door, routed by request type rather than by who they know</a:t>
            </a:r>
            <a:endParaRPr lang="en-US" sz="1050" dirty="0"/>
          </a:p>
        </p:txBody>
      </p:sp>
      <p:sp>
        <p:nvSpPr>
          <p:cNvPr id="4" name="Text 2"/>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Target state · Express support</a:t>
            </a:r>
            <a:endParaRPr lang="en-US" sz="950" dirty="0"/>
          </a:p>
        </p:txBody>
      </p:sp>
      <p:sp>
        <p:nvSpPr>
          <p:cNvPr id="5" name="Shape 3"/>
          <p:cNvSpPr/>
          <p:nvPr/>
        </p:nvSpPr>
        <p:spPr>
          <a:xfrm>
            <a:off x="411480" y="932688"/>
            <a:ext cx="11338560" cy="0"/>
          </a:xfrm>
          <a:prstGeom prst="line">
            <a:avLst/>
          </a:prstGeom>
          <a:noFill/>
          <a:ln w="12700">
            <a:solidFill>
              <a:srgbClr val="D4DAE2"/>
            </a:solidFill>
            <a:prstDash val="solid"/>
          </a:ln>
        </p:spPr>
      </p:sp>
      <p:sp>
        <p:nvSpPr>
          <p:cNvPr id="6" name="Shape 4"/>
          <p:cNvSpPr/>
          <p:nvPr/>
        </p:nvSpPr>
        <p:spPr>
          <a:xfrm>
            <a:off x="411480" y="1024128"/>
            <a:ext cx="3657600" cy="768096"/>
          </a:xfrm>
          <a:prstGeom prst="roundRect">
            <a:avLst>
              <a:gd name="adj" fmla="val 5952"/>
            </a:avLst>
          </a:prstGeom>
          <a:solidFill>
            <a:srgbClr val="FFFFFF"/>
          </a:solidFill>
          <a:ln w="15875">
            <a:solidFill>
              <a:srgbClr val="2E6B4F"/>
            </a:solidFill>
            <a:prstDash val="solid"/>
          </a:ln>
          <a:effectLst>
            <a:outerShdw sx="100000" sy="100000" kx="0" ky="0" algn="bl" rotWithShape="0" blurRad="88900" dist="12700" dir="5400000">
              <a:srgbClr val="97A3B4">
                <a:alpha val="16000"/>
              </a:srgbClr>
            </a:outerShdw>
          </a:effectLst>
        </p:spPr>
      </p:sp>
      <p:sp>
        <p:nvSpPr>
          <p:cNvPr id="7" name="Shape 5"/>
          <p:cNvSpPr/>
          <p:nvPr/>
        </p:nvSpPr>
        <p:spPr>
          <a:xfrm>
            <a:off x="411480" y="1024128"/>
            <a:ext cx="3657600" cy="292608"/>
          </a:xfrm>
          <a:prstGeom prst="rect">
            <a:avLst/>
          </a:prstGeom>
          <a:solidFill>
            <a:srgbClr val="2E6B4F"/>
          </a:solidFill>
          <a:ln w="12700">
            <a:solidFill>
              <a:srgbClr val="2E6B4F"/>
            </a:solidFill>
            <a:prstDash val="solid"/>
          </a:ln>
        </p:spPr>
      </p:sp>
      <p:sp>
        <p:nvSpPr>
          <p:cNvPr id="8" name="Text 6"/>
          <p:cNvSpPr txBox="1"/>
          <p:nvPr/>
        </p:nvSpPr>
        <p:spPr>
          <a:xfrm>
            <a:off x="52120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Published pattern &amp; guide</a:t>
            </a:r>
            <a:endParaRPr lang="en-US" sz="860" dirty="0"/>
          </a:p>
        </p:txBody>
      </p:sp>
      <p:sp>
        <p:nvSpPr>
          <p:cNvPr id="9" name="Text 7"/>
          <p:cNvSpPr txBox="1"/>
          <p:nvPr/>
        </p:nvSpPr>
        <p:spPr>
          <a:xfrm>
            <a:off x="291693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ZERO ECM TIME</a:t>
            </a:r>
            <a:endParaRPr lang="en-US" sz="660" dirty="0"/>
          </a:p>
        </p:txBody>
      </p:sp>
      <p:sp>
        <p:nvSpPr>
          <p:cNvPr id="10" name="Text 8"/>
          <p:cNvSpPr txBox="1"/>
          <p:nvPr/>
        </p:nvSpPr>
        <p:spPr>
          <a:xfrm>
            <a:off x="52120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The pattern, the 54-point question set with the reason for each item, the completeness bands and every template are published. Most questions are answered here.</a:t>
            </a:r>
            <a:endParaRPr lang="en-US" sz="720" dirty="0"/>
          </a:p>
        </p:txBody>
      </p:sp>
      <p:sp>
        <p:nvSpPr>
          <p:cNvPr id="11" name="Shape 9"/>
          <p:cNvSpPr/>
          <p:nvPr/>
        </p:nvSpPr>
        <p:spPr>
          <a:xfrm>
            <a:off x="4251960" y="1024128"/>
            <a:ext cx="3657600" cy="768096"/>
          </a:xfrm>
          <a:prstGeom prst="roundRect">
            <a:avLst>
              <a:gd name="adj" fmla="val 5952"/>
            </a:avLst>
          </a:prstGeom>
          <a:solidFill>
            <a:srgbClr val="FFFFFF"/>
          </a:solidFill>
          <a:ln w="15875">
            <a:solidFill>
              <a:srgbClr val="2E5A7D"/>
            </a:solidFill>
            <a:prstDash val="solid"/>
          </a:ln>
          <a:effectLst>
            <a:outerShdw sx="100000" sy="100000" kx="0" ky="0" algn="bl" rotWithShape="0" blurRad="88900" dist="12700" dir="5400000">
              <a:srgbClr val="97A3B4">
                <a:alpha val="16000"/>
              </a:srgbClr>
            </a:outerShdw>
          </a:effectLst>
        </p:spPr>
      </p:sp>
      <p:sp>
        <p:nvSpPr>
          <p:cNvPr id="12" name="Shape 10"/>
          <p:cNvSpPr/>
          <p:nvPr/>
        </p:nvSpPr>
        <p:spPr>
          <a:xfrm>
            <a:off x="4251960" y="1024128"/>
            <a:ext cx="3657600" cy="292608"/>
          </a:xfrm>
          <a:prstGeom prst="rect">
            <a:avLst/>
          </a:prstGeom>
          <a:solidFill>
            <a:srgbClr val="2E5A7D"/>
          </a:solidFill>
          <a:ln w="12700">
            <a:solidFill>
              <a:srgbClr val="2E5A7D"/>
            </a:solidFill>
            <a:prstDash val="solid"/>
          </a:ln>
        </p:spPr>
      </p:sp>
      <p:sp>
        <p:nvSpPr>
          <p:cNvPr id="13" name="Text 11"/>
          <p:cNvSpPr txBox="1"/>
          <p:nvPr/>
        </p:nvSpPr>
        <p:spPr>
          <a:xfrm>
            <a:off x="436168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Office hours</a:t>
            </a:r>
            <a:endParaRPr lang="en-US" sz="860" dirty="0"/>
          </a:p>
        </p:txBody>
      </p:sp>
      <p:sp>
        <p:nvSpPr>
          <p:cNvPr id="14" name="Text 12"/>
          <p:cNvSpPr txBox="1"/>
          <p:nvPr/>
        </p:nvSpPr>
        <p:spPr>
          <a:xfrm>
            <a:off x="675741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NO TICKET</a:t>
            </a:r>
            <a:endParaRPr lang="en-US" sz="660" dirty="0"/>
          </a:p>
        </p:txBody>
      </p:sp>
      <p:sp>
        <p:nvSpPr>
          <p:cNvPr id="15" name="Text 13"/>
          <p:cNvSpPr txBox="1"/>
          <p:nvPr/>
        </p:nvSpPr>
        <p:spPr>
          <a:xfrm>
            <a:off x="436168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Fixed weekly slots from the cell rota, first come first served, no ticket required. For the questions that take minutes rather than days.</a:t>
            </a:r>
            <a:endParaRPr lang="en-US" sz="720" dirty="0"/>
          </a:p>
        </p:txBody>
      </p:sp>
      <p:sp>
        <p:nvSpPr>
          <p:cNvPr id="16" name="Shape 14"/>
          <p:cNvSpPr/>
          <p:nvPr/>
        </p:nvSpPr>
        <p:spPr>
          <a:xfrm>
            <a:off x="8092440" y="1024128"/>
            <a:ext cx="3657600" cy="768096"/>
          </a:xfrm>
          <a:prstGeom prst="roundRect">
            <a:avLst>
              <a:gd name="adj" fmla="val 5952"/>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17" name="Shape 15"/>
          <p:cNvSpPr/>
          <p:nvPr/>
        </p:nvSpPr>
        <p:spPr>
          <a:xfrm>
            <a:off x="8092440" y="1024128"/>
            <a:ext cx="3657600" cy="292608"/>
          </a:xfrm>
          <a:prstGeom prst="rect">
            <a:avLst/>
          </a:prstGeom>
          <a:solidFill>
            <a:srgbClr val="15304F"/>
          </a:solidFill>
          <a:ln w="12700">
            <a:solidFill>
              <a:srgbClr val="15304F"/>
            </a:solidFill>
            <a:prstDash val="solid"/>
          </a:ln>
        </p:spPr>
      </p:sp>
      <p:sp>
        <p:nvSpPr>
          <p:cNvPr id="18" name="Text 16"/>
          <p:cNvSpPr txBox="1"/>
          <p:nvPr/>
        </p:nvSpPr>
        <p:spPr>
          <a:xfrm>
            <a:off x="820216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JIRA — ECM Partner Support</a:t>
            </a:r>
            <a:endParaRPr lang="en-US" sz="860" dirty="0"/>
          </a:p>
        </p:txBody>
      </p:sp>
      <p:sp>
        <p:nvSpPr>
          <p:cNvPr id="19" name="Text 17"/>
          <p:cNvSpPr txBox="1"/>
          <p:nvPr/>
        </p:nvSpPr>
        <p:spPr>
          <a:xfrm>
            <a:off x="1059789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ON THE RECORD</a:t>
            </a:r>
            <a:endParaRPr lang="en-US" sz="660" dirty="0"/>
          </a:p>
        </p:txBody>
      </p:sp>
      <p:sp>
        <p:nvSpPr>
          <p:cNvPr id="20" name="Text 18"/>
          <p:cNvSpPr txBox="1"/>
          <p:nvPr/>
        </p:nvSpPr>
        <p:spPr>
          <a:xfrm>
            <a:off x="820216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One front door for anything that needs an answer on the record: confirmations, checkpoints, blockers, defects, gate evidence, deviations and appeals.</a:t>
            </a:r>
            <a:endParaRPr lang="en-US" sz="720" dirty="0"/>
          </a:p>
        </p:txBody>
      </p:sp>
      <p:sp>
        <p:nvSpPr>
          <p:cNvPr id="21" name="Text 19"/>
          <p:cNvSpPr txBox="1"/>
          <p:nvPr/>
        </p:nvSpPr>
        <p:spPr>
          <a:xfrm>
            <a:off x="411480" y="1901952"/>
            <a:ext cx="6583680" cy="182880"/>
          </a:xfrm>
          <a:prstGeom prst="rect">
            <a:avLst/>
          </a:prstGeom>
          <a:noFill/>
          <a:ln/>
        </p:spPr>
        <p:txBody>
          <a:bodyPr wrap="square" lIns="0" tIns="0" rIns="0" bIns="0" rtlCol="0" anchor="ctr"/>
          <a:lstStyle/>
          <a:p>
            <a:pPr indent="0" marL="0">
              <a:buNone/>
            </a:pPr>
            <a:r>
              <a:rPr lang="en-US" sz="760" b="1" spc="110" kern="0" dirty="0">
                <a:solidFill>
                  <a:srgbClr val="15304F"/>
                </a:solidFill>
                <a:latin typeface="Calibri" pitchFamily="34" charset="0"/>
                <a:ea typeface="Calibri" pitchFamily="34" charset="-122"/>
                <a:cs typeface="Calibri" pitchFamily="34" charset="-120"/>
              </a:rPr>
              <a:t>THE REQUEST CATALOGUE — THE PARTNER PICKS A REQUEST TYPE; ROUTING FOLLOWS FROM IT</a:t>
            </a:r>
            <a:endParaRPr lang="en-US" sz="760" dirty="0"/>
          </a:p>
        </p:txBody>
      </p:sp>
      <p:sp>
        <p:nvSpPr>
          <p:cNvPr id="22" name="Text 20"/>
          <p:cNvSpPr txBox="1"/>
          <p:nvPr/>
        </p:nvSpPr>
        <p:spPr>
          <a:xfrm>
            <a:off x="7269480" y="1901952"/>
            <a:ext cx="4389120" cy="182880"/>
          </a:xfrm>
          <a:prstGeom prst="rect">
            <a:avLst/>
          </a:prstGeom>
          <a:noFill/>
          <a:ln/>
        </p:spPr>
        <p:txBody>
          <a:bodyPr wrap="square" lIns="0" tIns="0" rIns="0" bIns="0" rtlCol="0" anchor="ctr"/>
          <a:lstStyle/>
          <a:p>
            <a:pPr indent="0" marL="0">
              <a:buNone/>
            </a:pPr>
            <a:r>
              <a:rPr lang="en-US" sz="760" b="1" spc="110" kern="0" dirty="0">
                <a:solidFill>
                  <a:srgbClr val="15304F"/>
                </a:solidFill>
                <a:latin typeface="Calibri" pitchFamily="34" charset="0"/>
                <a:ea typeface="Calibri" pitchFamily="34" charset="-122"/>
                <a:cs typeface="Calibri" pitchFamily="34" charset="-120"/>
              </a:rPr>
              <a:t>WHAT HAPPENS TO A TICKET</a:t>
            </a:r>
            <a:endParaRPr lang="en-US" sz="760" dirty="0"/>
          </a:p>
        </p:txBody>
      </p:sp>
      <p:sp>
        <p:nvSpPr>
          <p:cNvPr id="23" name="Shape 21"/>
          <p:cNvSpPr/>
          <p:nvPr/>
        </p:nvSpPr>
        <p:spPr>
          <a:xfrm>
            <a:off x="411480" y="2103120"/>
            <a:ext cx="6675120" cy="237744"/>
          </a:xfrm>
          <a:prstGeom prst="rect">
            <a:avLst/>
          </a:prstGeom>
          <a:solidFill>
            <a:srgbClr val="15304F"/>
          </a:solidFill>
          <a:ln w="12700">
            <a:solidFill>
              <a:srgbClr val="15304F"/>
            </a:solidFill>
            <a:prstDash val="solid"/>
          </a:ln>
        </p:spPr>
      </p:sp>
      <p:sp>
        <p:nvSpPr>
          <p:cNvPr id="24" name="Text 22"/>
          <p:cNvSpPr txBox="1"/>
          <p:nvPr/>
        </p:nvSpPr>
        <p:spPr>
          <a:xfrm>
            <a:off x="484632" y="2103120"/>
            <a:ext cx="1298448"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Request type</a:t>
            </a:r>
            <a:endParaRPr lang="en-US" sz="720" dirty="0"/>
          </a:p>
        </p:txBody>
      </p:sp>
      <p:sp>
        <p:nvSpPr>
          <p:cNvPr id="25" name="Text 23"/>
          <p:cNvSpPr txBox="1"/>
          <p:nvPr/>
        </p:nvSpPr>
        <p:spPr>
          <a:xfrm>
            <a:off x="1929384" y="2103120"/>
            <a:ext cx="2523744"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Raised for</a:t>
            </a:r>
            <a:endParaRPr lang="en-US" sz="720" dirty="0"/>
          </a:p>
        </p:txBody>
      </p:sp>
      <p:sp>
        <p:nvSpPr>
          <p:cNvPr id="26" name="Text 24"/>
          <p:cNvSpPr txBox="1"/>
          <p:nvPr/>
        </p:nvSpPr>
        <p:spPr>
          <a:xfrm>
            <a:off x="4599432" y="2103120"/>
            <a:ext cx="1316736"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Routed to</a:t>
            </a:r>
            <a:endParaRPr lang="en-US" sz="720" dirty="0"/>
          </a:p>
        </p:txBody>
      </p:sp>
      <p:sp>
        <p:nvSpPr>
          <p:cNvPr id="27" name="Text 25"/>
          <p:cNvSpPr txBox="1"/>
          <p:nvPr/>
        </p:nvSpPr>
        <p:spPr>
          <a:xfrm>
            <a:off x="6062472" y="2103120"/>
            <a:ext cx="950976"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Response</a:t>
            </a:r>
            <a:endParaRPr lang="en-US" sz="720" dirty="0"/>
          </a:p>
        </p:txBody>
      </p:sp>
      <p:sp>
        <p:nvSpPr>
          <p:cNvPr id="28" name="Shape 26"/>
          <p:cNvSpPr/>
          <p:nvPr/>
        </p:nvSpPr>
        <p:spPr>
          <a:xfrm>
            <a:off x="411480" y="2340864"/>
            <a:ext cx="6675120" cy="246888"/>
          </a:xfrm>
          <a:prstGeom prst="rect">
            <a:avLst/>
          </a:prstGeom>
          <a:solidFill>
            <a:srgbClr val="F4F7FA"/>
          </a:solidFill>
          <a:ln w="6350">
            <a:solidFill>
              <a:srgbClr val="D4DAE2"/>
            </a:solidFill>
            <a:prstDash val="solid"/>
          </a:ln>
        </p:spPr>
      </p:sp>
      <p:sp>
        <p:nvSpPr>
          <p:cNvPr id="29" name="Shape 27"/>
          <p:cNvSpPr/>
          <p:nvPr/>
        </p:nvSpPr>
        <p:spPr>
          <a:xfrm>
            <a:off x="411480" y="2340864"/>
            <a:ext cx="45720" cy="246888"/>
          </a:xfrm>
          <a:prstGeom prst="rect">
            <a:avLst/>
          </a:prstGeom>
          <a:solidFill>
            <a:srgbClr val="2E5A7D"/>
          </a:solidFill>
          <a:ln w="12700">
            <a:solidFill>
              <a:srgbClr val="2E5A7D"/>
            </a:solidFill>
            <a:prstDash val="solid"/>
          </a:ln>
        </p:spPr>
      </p:sp>
      <p:sp>
        <p:nvSpPr>
          <p:cNvPr id="30" name="Text 28"/>
          <p:cNvSpPr txBox="1"/>
          <p:nvPr/>
        </p:nvSpPr>
        <p:spPr>
          <a:xfrm>
            <a:off x="530352" y="2340864"/>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2E5A7D"/>
                </a:solidFill>
                <a:latin typeface="Calibri" pitchFamily="34" charset="0"/>
                <a:ea typeface="Calibri" pitchFamily="34" charset="-122"/>
                <a:cs typeface="Calibri" pitchFamily="34" charset="-120"/>
              </a:rPr>
              <a:t>CHECKPOINT</a:t>
            </a:r>
            <a:endParaRPr lang="en-US" sz="690" dirty="0"/>
          </a:p>
        </p:txBody>
      </p:sp>
      <p:sp>
        <p:nvSpPr>
          <p:cNvPr id="31" name="Text 29"/>
          <p:cNvSpPr txBox="1"/>
          <p:nvPr/>
        </p:nvSpPr>
        <p:spPr>
          <a:xfrm>
            <a:off x="1929384" y="2340864"/>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Book or rebook the scheduled design checkpoint</a:t>
            </a:r>
            <a:endParaRPr lang="en-US" sz="700" dirty="0"/>
          </a:p>
        </p:txBody>
      </p:sp>
      <p:sp>
        <p:nvSpPr>
          <p:cNvPr id="32" name="Text 30"/>
          <p:cNvSpPr txBox="1"/>
          <p:nvPr/>
        </p:nvSpPr>
        <p:spPr>
          <a:xfrm>
            <a:off x="4599432" y="2340864"/>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Cell rota</a:t>
            </a:r>
            <a:endParaRPr lang="en-US" sz="700" dirty="0"/>
          </a:p>
        </p:txBody>
      </p:sp>
      <p:sp>
        <p:nvSpPr>
          <p:cNvPr id="33" name="Text 31"/>
          <p:cNvSpPr txBox="1"/>
          <p:nvPr/>
        </p:nvSpPr>
        <p:spPr>
          <a:xfrm>
            <a:off x="6062472" y="2340864"/>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Booked at triage</a:t>
            </a:r>
            <a:endParaRPr lang="en-US" sz="700" dirty="0"/>
          </a:p>
        </p:txBody>
      </p:sp>
      <p:sp>
        <p:nvSpPr>
          <p:cNvPr id="34" name="Shape 32"/>
          <p:cNvSpPr/>
          <p:nvPr/>
        </p:nvSpPr>
        <p:spPr>
          <a:xfrm>
            <a:off x="411480" y="2587752"/>
            <a:ext cx="6675120" cy="246888"/>
          </a:xfrm>
          <a:prstGeom prst="rect">
            <a:avLst/>
          </a:prstGeom>
          <a:solidFill>
            <a:srgbClr val="FFFFFF"/>
          </a:solidFill>
          <a:ln w="6350">
            <a:solidFill>
              <a:srgbClr val="D4DAE2"/>
            </a:solidFill>
            <a:prstDash val="solid"/>
          </a:ln>
        </p:spPr>
      </p:sp>
      <p:sp>
        <p:nvSpPr>
          <p:cNvPr id="35" name="Shape 33"/>
          <p:cNvSpPr/>
          <p:nvPr/>
        </p:nvSpPr>
        <p:spPr>
          <a:xfrm>
            <a:off x="411480" y="2587752"/>
            <a:ext cx="45720" cy="246888"/>
          </a:xfrm>
          <a:prstGeom prst="rect">
            <a:avLst/>
          </a:prstGeom>
          <a:solidFill>
            <a:srgbClr val="A44A2A"/>
          </a:solidFill>
          <a:ln w="12700">
            <a:solidFill>
              <a:srgbClr val="A44A2A"/>
            </a:solidFill>
            <a:prstDash val="solid"/>
          </a:ln>
        </p:spPr>
      </p:sp>
      <p:sp>
        <p:nvSpPr>
          <p:cNvPr id="36" name="Text 34"/>
          <p:cNvSpPr txBox="1"/>
          <p:nvPr/>
        </p:nvSpPr>
        <p:spPr>
          <a:xfrm>
            <a:off x="530352" y="2587752"/>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A44A2A"/>
                </a:solidFill>
                <a:latin typeface="Calibri" pitchFamily="34" charset="0"/>
                <a:ea typeface="Calibri" pitchFamily="34" charset="-122"/>
                <a:cs typeface="Calibri" pitchFamily="34" charset="-120"/>
              </a:rPr>
              <a:t>CONFIRM-CLASS</a:t>
            </a:r>
            <a:endParaRPr lang="en-US" sz="690" dirty="0"/>
          </a:p>
        </p:txBody>
      </p:sp>
      <p:sp>
        <p:nvSpPr>
          <p:cNvPr id="37" name="Text 35"/>
          <p:cNvSpPr txBox="1"/>
          <p:nvPr/>
        </p:nvSpPr>
        <p:spPr>
          <a:xfrm>
            <a:off x="1929384" y="2587752"/>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Trust posture, and that every type is already in the taxonomy</a:t>
            </a:r>
            <a:endParaRPr lang="en-US" sz="700" dirty="0"/>
          </a:p>
        </p:txBody>
      </p:sp>
      <p:sp>
        <p:nvSpPr>
          <p:cNvPr id="38" name="Text 36"/>
          <p:cNvSpPr txBox="1"/>
          <p:nvPr/>
        </p:nvSpPr>
        <p:spPr>
          <a:xfrm>
            <a:off x="4599432" y="2587752"/>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Imaging Governance</a:t>
            </a:r>
            <a:endParaRPr lang="en-US" sz="700" dirty="0"/>
          </a:p>
        </p:txBody>
      </p:sp>
      <p:sp>
        <p:nvSpPr>
          <p:cNvPr id="39" name="Text 37"/>
          <p:cNvSpPr txBox="1"/>
          <p:nvPr/>
        </p:nvSpPr>
        <p:spPr>
          <a:xfrm>
            <a:off x="6062472" y="2587752"/>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3 working days</a:t>
            </a:r>
            <a:endParaRPr lang="en-US" sz="700" dirty="0"/>
          </a:p>
        </p:txBody>
      </p:sp>
      <p:sp>
        <p:nvSpPr>
          <p:cNvPr id="40" name="Shape 38"/>
          <p:cNvSpPr/>
          <p:nvPr/>
        </p:nvSpPr>
        <p:spPr>
          <a:xfrm>
            <a:off x="411480" y="2834640"/>
            <a:ext cx="6675120" cy="246888"/>
          </a:xfrm>
          <a:prstGeom prst="rect">
            <a:avLst/>
          </a:prstGeom>
          <a:solidFill>
            <a:srgbClr val="F4F7FA"/>
          </a:solidFill>
          <a:ln w="6350">
            <a:solidFill>
              <a:srgbClr val="D4DAE2"/>
            </a:solidFill>
            <a:prstDash val="solid"/>
          </a:ln>
        </p:spPr>
      </p:sp>
      <p:sp>
        <p:nvSpPr>
          <p:cNvPr id="41" name="Shape 39"/>
          <p:cNvSpPr/>
          <p:nvPr/>
        </p:nvSpPr>
        <p:spPr>
          <a:xfrm>
            <a:off x="411480" y="2834640"/>
            <a:ext cx="45720" cy="246888"/>
          </a:xfrm>
          <a:prstGeom prst="rect">
            <a:avLst/>
          </a:prstGeom>
          <a:solidFill>
            <a:srgbClr val="9A6410"/>
          </a:solidFill>
          <a:ln w="12700">
            <a:solidFill>
              <a:srgbClr val="9A6410"/>
            </a:solidFill>
            <a:prstDash val="solid"/>
          </a:ln>
        </p:spPr>
      </p:sp>
      <p:sp>
        <p:nvSpPr>
          <p:cNvPr id="42" name="Text 40"/>
          <p:cNvSpPr txBox="1"/>
          <p:nvPr/>
        </p:nvSpPr>
        <p:spPr>
          <a:xfrm>
            <a:off x="530352" y="2834640"/>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CONFIRM-RM</a:t>
            </a:r>
            <a:endParaRPr lang="en-US" sz="690" dirty="0"/>
          </a:p>
        </p:txBody>
      </p:sp>
      <p:sp>
        <p:nvSpPr>
          <p:cNvPr id="43" name="Text 41"/>
          <p:cNvSpPr txBox="1"/>
          <p:nvPr/>
        </p:nvSpPr>
        <p:spPr>
          <a:xfrm>
            <a:off x="1929384" y="2834640"/>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Existing retention schedule confirmed and bound</a:t>
            </a:r>
            <a:endParaRPr lang="en-US" sz="700" dirty="0"/>
          </a:p>
        </p:txBody>
      </p:sp>
      <p:sp>
        <p:nvSpPr>
          <p:cNvPr id="44" name="Text 42"/>
          <p:cNvSpPr txBox="1"/>
          <p:nvPr/>
        </p:nvSpPr>
        <p:spPr>
          <a:xfrm>
            <a:off x="4599432" y="2834640"/>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Records Management</a:t>
            </a:r>
            <a:endParaRPr lang="en-US" sz="700" dirty="0"/>
          </a:p>
        </p:txBody>
      </p:sp>
      <p:sp>
        <p:nvSpPr>
          <p:cNvPr id="45" name="Text 43"/>
          <p:cNvSpPr txBox="1"/>
          <p:nvPr/>
        </p:nvSpPr>
        <p:spPr>
          <a:xfrm>
            <a:off x="6062472" y="2834640"/>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3 working days</a:t>
            </a:r>
            <a:endParaRPr lang="en-US" sz="700" dirty="0"/>
          </a:p>
        </p:txBody>
      </p:sp>
      <p:sp>
        <p:nvSpPr>
          <p:cNvPr id="46" name="Shape 44"/>
          <p:cNvSpPr/>
          <p:nvPr/>
        </p:nvSpPr>
        <p:spPr>
          <a:xfrm>
            <a:off x="411480" y="3081528"/>
            <a:ext cx="6675120" cy="246888"/>
          </a:xfrm>
          <a:prstGeom prst="rect">
            <a:avLst/>
          </a:prstGeom>
          <a:solidFill>
            <a:srgbClr val="FFFFFF"/>
          </a:solidFill>
          <a:ln w="6350">
            <a:solidFill>
              <a:srgbClr val="D4DAE2"/>
            </a:solidFill>
            <a:prstDash val="solid"/>
          </a:ln>
        </p:spPr>
      </p:sp>
      <p:sp>
        <p:nvSpPr>
          <p:cNvPr id="47" name="Shape 45"/>
          <p:cNvSpPr/>
          <p:nvPr/>
        </p:nvSpPr>
        <p:spPr>
          <a:xfrm>
            <a:off x="411480" y="3081528"/>
            <a:ext cx="45720" cy="246888"/>
          </a:xfrm>
          <a:prstGeom prst="rect">
            <a:avLst/>
          </a:prstGeom>
          <a:solidFill>
            <a:srgbClr val="9A6410"/>
          </a:solidFill>
          <a:ln w="12700">
            <a:solidFill>
              <a:srgbClr val="9A6410"/>
            </a:solidFill>
            <a:prstDash val="solid"/>
          </a:ln>
        </p:spPr>
      </p:sp>
      <p:sp>
        <p:nvSpPr>
          <p:cNvPr id="48" name="Text 46"/>
          <p:cNvSpPr txBox="1"/>
          <p:nvPr/>
        </p:nvSpPr>
        <p:spPr>
          <a:xfrm>
            <a:off x="530352" y="3081528"/>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CONFIRM-SEC</a:t>
            </a:r>
            <a:endParaRPr lang="en-US" sz="690" dirty="0"/>
          </a:p>
        </p:txBody>
      </p:sp>
      <p:sp>
        <p:nvSpPr>
          <p:cNvPr id="49" name="Text 47"/>
          <p:cNvSpPr txBox="1"/>
          <p:nvPr/>
        </p:nvSpPr>
        <p:spPr>
          <a:xfrm>
            <a:off x="1929384" y="3081528"/>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Entitlement model matched to an approved access pattern</a:t>
            </a:r>
            <a:endParaRPr lang="en-US" sz="700" dirty="0"/>
          </a:p>
        </p:txBody>
      </p:sp>
      <p:sp>
        <p:nvSpPr>
          <p:cNvPr id="50" name="Text 48"/>
          <p:cNvSpPr txBox="1"/>
          <p:nvPr/>
        </p:nvSpPr>
        <p:spPr>
          <a:xfrm>
            <a:off x="4599432" y="3081528"/>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Security Review</a:t>
            </a:r>
            <a:endParaRPr lang="en-US" sz="700" dirty="0"/>
          </a:p>
        </p:txBody>
      </p:sp>
      <p:sp>
        <p:nvSpPr>
          <p:cNvPr id="51" name="Text 49"/>
          <p:cNvSpPr txBox="1"/>
          <p:nvPr/>
        </p:nvSpPr>
        <p:spPr>
          <a:xfrm>
            <a:off x="6062472" y="3081528"/>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3 working days</a:t>
            </a:r>
            <a:endParaRPr lang="en-US" sz="700" dirty="0"/>
          </a:p>
        </p:txBody>
      </p:sp>
      <p:sp>
        <p:nvSpPr>
          <p:cNvPr id="52" name="Shape 50"/>
          <p:cNvSpPr/>
          <p:nvPr/>
        </p:nvSpPr>
        <p:spPr>
          <a:xfrm>
            <a:off x="411480" y="3328416"/>
            <a:ext cx="6675120" cy="246888"/>
          </a:xfrm>
          <a:prstGeom prst="rect">
            <a:avLst/>
          </a:prstGeom>
          <a:solidFill>
            <a:srgbClr val="F4F7FA"/>
          </a:solidFill>
          <a:ln w="6350">
            <a:solidFill>
              <a:srgbClr val="D4DAE2"/>
            </a:solidFill>
            <a:prstDash val="solid"/>
          </a:ln>
        </p:spPr>
      </p:sp>
      <p:sp>
        <p:nvSpPr>
          <p:cNvPr id="53" name="Shape 51"/>
          <p:cNvSpPr/>
          <p:nvPr/>
        </p:nvSpPr>
        <p:spPr>
          <a:xfrm>
            <a:off x="411480" y="3328416"/>
            <a:ext cx="45720" cy="246888"/>
          </a:xfrm>
          <a:prstGeom prst="rect">
            <a:avLst/>
          </a:prstGeom>
          <a:solidFill>
            <a:srgbClr val="9A6410"/>
          </a:solidFill>
          <a:ln w="12700">
            <a:solidFill>
              <a:srgbClr val="9A6410"/>
            </a:solidFill>
            <a:prstDash val="solid"/>
          </a:ln>
        </p:spPr>
      </p:sp>
      <p:sp>
        <p:nvSpPr>
          <p:cNvPr id="54" name="Text 52"/>
          <p:cNvSpPr txBox="1"/>
          <p:nvPr/>
        </p:nvSpPr>
        <p:spPr>
          <a:xfrm>
            <a:off x="530352" y="3328416"/>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CONFIRM-VOL</a:t>
            </a:r>
            <a:endParaRPr lang="en-US" sz="690" dirty="0"/>
          </a:p>
        </p:txBody>
      </p:sp>
      <p:sp>
        <p:nvSpPr>
          <p:cNvPr id="55" name="Text 53"/>
          <p:cNvSpPr txBox="1"/>
          <p:nvPr/>
        </p:nvSpPr>
        <p:spPr>
          <a:xfrm>
            <a:off x="1929384" y="3328416"/>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Volume desk-confirmed inside a certified envelope</a:t>
            </a:r>
            <a:endParaRPr lang="en-US" sz="700" dirty="0"/>
          </a:p>
        </p:txBody>
      </p:sp>
      <p:sp>
        <p:nvSpPr>
          <p:cNvPr id="56" name="Text 54"/>
          <p:cNvSpPr txBox="1"/>
          <p:nvPr/>
        </p:nvSpPr>
        <p:spPr>
          <a:xfrm>
            <a:off x="4599432" y="3328416"/>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SPLI</a:t>
            </a:r>
            <a:endParaRPr lang="en-US" sz="700" dirty="0"/>
          </a:p>
        </p:txBody>
      </p:sp>
      <p:sp>
        <p:nvSpPr>
          <p:cNvPr id="57" name="Text 55"/>
          <p:cNvSpPr txBox="1"/>
          <p:nvPr/>
        </p:nvSpPr>
        <p:spPr>
          <a:xfrm>
            <a:off x="6062472" y="3328416"/>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2 working days</a:t>
            </a:r>
            <a:endParaRPr lang="en-US" sz="700" dirty="0"/>
          </a:p>
        </p:txBody>
      </p:sp>
      <p:sp>
        <p:nvSpPr>
          <p:cNvPr id="58" name="Shape 56"/>
          <p:cNvSpPr/>
          <p:nvPr/>
        </p:nvSpPr>
        <p:spPr>
          <a:xfrm>
            <a:off x="411480" y="3575304"/>
            <a:ext cx="6675120" cy="246888"/>
          </a:xfrm>
          <a:prstGeom prst="rect">
            <a:avLst/>
          </a:prstGeom>
          <a:solidFill>
            <a:srgbClr val="FFFFFF"/>
          </a:solidFill>
          <a:ln w="6350">
            <a:solidFill>
              <a:srgbClr val="D4DAE2"/>
            </a:solidFill>
            <a:prstDash val="solid"/>
          </a:ln>
        </p:spPr>
      </p:sp>
      <p:sp>
        <p:nvSpPr>
          <p:cNvPr id="59" name="Shape 57"/>
          <p:cNvSpPr/>
          <p:nvPr/>
        </p:nvSpPr>
        <p:spPr>
          <a:xfrm>
            <a:off x="411480" y="3575304"/>
            <a:ext cx="45720" cy="246888"/>
          </a:xfrm>
          <a:prstGeom prst="rect">
            <a:avLst/>
          </a:prstGeom>
          <a:solidFill>
            <a:srgbClr val="2E5A7D"/>
          </a:solidFill>
          <a:ln w="12700">
            <a:solidFill>
              <a:srgbClr val="2E5A7D"/>
            </a:solidFill>
            <a:prstDash val="solid"/>
          </a:ln>
        </p:spPr>
      </p:sp>
      <p:sp>
        <p:nvSpPr>
          <p:cNvPr id="60" name="Text 58"/>
          <p:cNvSpPr txBox="1"/>
          <p:nvPr/>
        </p:nvSpPr>
        <p:spPr>
          <a:xfrm>
            <a:off x="530352" y="3575304"/>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2E5A7D"/>
                </a:solidFill>
                <a:latin typeface="Calibri" pitchFamily="34" charset="0"/>
                <a:ea typeface="Calibri" pitchFamily="34" charset="-122"/>
                <a:cs typeface="Calibri" pitchFamily="34" charset="-120"/>
              </a:rPr>
              <a:t>GUIDANCE</a:t>
            </a:r>
            <a:endParaRPr lang="en-US" sz="690" dirty="0"/>
          </a:p>
        </p:txBody>
      </p:sp>
      <p:sp>
        <p:nvSpPr>
          <p:cNvPr id="61" name="Text 59"/>
          <p:cNvSpPr txBox="1"/>
          <p:nvPr/>
        </p:nvSpPr>
        <p:spPr>
          <a:xfrm>
            <a:off x="1929384" y="3575304"/>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How to apply the published pattern to a specific case</a:t>
            </a:r>
            <a:endParaRPr lang="en-US" sz="700" dirty="0"/>
          </a:p>
        </p:txBody>
      </p:sp>
      <p:sp>
        <p:nvSpPr>
          <p:cNvPr id="62" name="Text 60"/>
          <p:cNvSpPr txBox="1"/>
          <p:nvPr/>
        </p:nvSpPr>
        <p:spPr>
          <a:xfrm>
            <a:off x="4599432" y="3575304"/>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Cell rota, escalation duty</a:t>
            </a:r>
            <a:endParaRPr lang="en-US" sz="700" dirty="0"/>
          </a:p>
        </p:txBody>
      </p:sp>
      <p:sp>
        <p:nvSpPr>
          <p:cNvPr id="63" name="Text 61"/>
          <p:cNvSpPr txBox="1"/>
          <p:nvPr/>
        </p:nvSpPr>
        <p:spPr>
          <a:xfrm>
            <a:off x="6062472" y="3575304"/>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1 working day</a:t>
            </a:r>
            <a:endParaRPr lang="en-US" sz="700" dirty="0"/>
          </a:p>
        </p:txBody>
      </p:sp>
      <p:sp>
        <p:nvSpPr>
          <p:cNvPr id="64" name="Shape 62"/>
          <p:cNvSpPr/>
          <p:nvPr/>
        </p:nvSpPr>
        <p:spPr>
          <a:xfrm>
            <a:off x="411480" y="3822192"/>
            <a:ext cx="6675120" cy="246888"/>
          </a:xfrm>
          <a:prstGeom prst="rect">
            <a:avLst/>
          </a:prstGeom>
          <a:solidFill>
            <a:srgbClr val="F4F7FA"/>
          </a:solidFill>
          <a:ln w="6350">
            <a:solidFill>
              <a:srgbClr val="D4DAE2"/>
            </a:solidFill>
            <a:prstDash val="solid"/>
          </a:ln>
        </p:spPr>
      </p:sp>
      <p:sp>
        <p:nvSpPr>
          <p:cNvPr id="65" name="Shape 63"/>
          <p:cNvSpPr/>
          <p:nvPr/>
        </p:nvSpPr>
        <p:spPr>
          <a:xfrm>
            <a:off x="411480" y="3822192"/>
            <a:ext cx="45720" cy="246888"/>
          </a:xfrm>
          <a:prstGeom prst="rect">
            <a:avLst/>
          </a:prstGeom>
          <a:solidFill>
            <a:srgbClr val="15304F"/>
          </a:solidFill>
          <a:ln w="12700">
            <a:solidFill>
              <a:srgbClr val="15304F"/>
            </a:solidFill>
            <a:prstDash val="solid"/>
          </a:ln>
        </p:spPr>
      </p:sp>
      <p:sp>
        <p:nvSpPr>
          <p:cNvPr id="66" name="Text 64"/>
          <p:cNvSpPr txBox="1"/>
          <p:nvPr/>
        </p:nvSpPr>
        <p:spPr>
          <a:xfrm>
            <a:off x="530352" y="3822192"/>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15304F"/>
                </a:solidFill>
                <a:latin typeface="Calibri" pitchFamily="34" charset="0"/>
                <a:ea typeface="Calibri" pitchFamily="34" charset="-122"/>
                <a:cs typeface="Calibri" pitchFamily="34" charset="-120"/>
              </a:rPr>
              <a:t>BLOCKER</a:t>
            </a:r>
            <a:endParaRPr lang="en-US" sz="690" dirty="0"/>
          </a:p>
        </p:txBody>
      </p:sp>
      <p:sp>
        <p:nvSpPr>
          <p:cNvPr id="67" name="Text 65"/>
          <p:cNvSpPr txBox="1"/>
          <p:nvPr/>
        </p:nvSpPr>
        <p:spPr>
          <a:xfrm>
            <a:off x="1929384" y="3822192"/>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An external dependency is holding up partner progress</a:t>
            </a:r>
            <a:endParaRPr lang="en-US" sz="700" dirty="0"/>
          </a:p>
        </p:txBody>
      </p:sp>
      <p:sp>
        <p:nvSpPr>
          <p:cNvPr id="68" name="Text 66"/>
          <p:cNvSpPr txBox="1"/>
          <p:nvPr/>
        </p:nvSpPr>
        <p:spPr>
          <a:xfrm>
            <a:off x="4599432" y="3822192"/>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Triage lead, then routed</a:t>
            </a:r>
            <a:endParaRPr lang="en-US" sz="700" dirty="0"/>
          </a:p>
        </p:txBody>
      </p:sp>
      <p:sp>
        <p:nvSpPr>
          <p:cNvPr id="69" name="Text 67"/>
          <p:cNvSpPr txBox="1"/>
          <p:nvPr/>
        </p:nvSpPr>
        <p:spPr>
          <a:xfrm>
            <a:off x="6062472" y="3822192"/>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1 working day</a:t>
            </a:r>
            <a:endParaRPr lang="en-US" sz="700" dirty="0"/>
          </a:p>
        </p:txBody>
      </p:sp>
      <p:sp>
        <p:nvSpPr>
          <p:cNvPr id="70" name="Shape 68"/>
          <p:cNvSpPr/>
          <p:nvPr/>
        </p:nvSpPr>
        <p:spPr>
          <a:xfrm>
            <a:off x="411480" y="4069080"/>
            <a:ext cx="6675120" cy="246888"/>
          </a:xfrm>
          <a:prstGeom prst="rect">
            <a:avLst/>
          </a:prstGeom>
          <a:solidFill>
            <a:srgbClr val="FFFFFF"/>
          </a:solidFill>
          <a:ln w="6350">
            <a:solidFill>
              <a:srgbClr val="D4DAE2"/>
            </a:solidFill>
            <a:prstDash val="solid"/>
          </a:ln>
        </p:spPr>
      </p:sp>
      <p:sp>
        <p:nvSpPr>
          <p:cNvPr id="71" name="Shape 69"/>
          <p:cNvSpPr/>
          <p:nvPr/>
        </p:nvSpPr>
        <p:spPr>
          <a:xfrm>
            <a:off x="411480" y="4069080"/>
            <a:ext cx="45720" cy="246888"/>
          </a:xfrm>
          <a:prstGeom prst="rect">
            <a:avLst/>
          </a:prstGeom>
          <a:solidFill>
            <a:srgbClr val="2E5A7D"/>
          </a:solidFill>
          <a:ln w="12700">
            <a:solidFill>
              <a:srgbClr val="2E5A7D"/>
            </a:solidFill>
            <a:prstDash val="solid"/>
          </a:ln>
        </p:spPr>
      </p:sp>
      <p:sp>
        <p:nvSpPr>
          <p:cNvPr id="72" name="Text 70"/>
          <p:cNvSpPr txBox="1"/>
          <p:nvPr/>
        </p:nvSpPr>
        <p:spPr>
          <a:xfrm>
            <a:off x="530352" y="4069080"/>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2E5A7D"/>
                </a:solidFill>
                <a:latin typeface="Calibri" pitchFamily="34" charset="0"/>
                <a:ea typeface="Calibri" pitchFamily="34" charset="-122"/>
                <a:cs typeface="Calibri" pitchFamily="34" charset="-120"/>
              </a:rPr>
              <a:t>DEFECT</a:t>
            </a:r>
            <a:endParaRPr lang="en-US" sz="690" dirty="0"/>
          </a:p>
        </p:txBody>
      </p:sp>
      <p:sp>
        <p:nvSpPr>
          <p:cNvPr id="73" name="Text 71"/>
          <p:cNvSpPr txBox="1"/>
          <p:nvPr/>
        </p:nvSpPr>
        <p:spPr>
          <a:xfrm>
            <a:off x="1929384" y="4069080"/>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Platform behaving differently from the published pattern</a:t>
            </a:r>
            <a:endParaRPr lang="en-US" sz="700" dirty="0"/>
          </a:p>
        </p:txBody>
      </p:sp>
      <p:sp>
        <p:nvSpPr>
          <p:cNvPr id="74" name="Text 72"/>
          <p:cNvSpPr txBox="1"/>
          <p:nvPr/>
        </p:nvSpPr>
        <p:spPr>
          <a:xfrm>
            <a:off x="4599432" y="4069080"/>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Cell rota, then engineering</a:t>
            </a:r>
            <a:endParaRPr lang="en-US" sz="700" dirty="0"/>
          </a:p>
        </p:txBody>
      </p:sp>
      <p:sp>
        <p:nvSpPr>
          <p:cNvPr id="75" name="Text 73"/>
          <p:cNvSpPr txBox="1"/>
          <p:nvPr/>
        </p:nvSpPr>
        <p:spPr>
          <a:xfrm>
            <a:off x="6062472" y="4069080"/>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1 day to triage</a:t>
            </a:r>
            <a:endParaRPr lang="en-US" sz="700" dirty="0"/>
          </a:p>
        </p:txBody>
      </p:sp>
      <p:sp>
        <p:nvSpPr>
          <p:cNvPr id="76" name="Shape 74"/>
          <p:cNvSpPr/>
          <p:nvPr/>
        </p:nvSpPr>
        <p:spPr>
          <a:xfrm>
            <a:off x="411480" y="4315968"/>
            <a:ext cx="6675120" cy="246888"/>
          </a:xfrm>
          <a:prstGeom prst="rect">
            <a:avLst/>
          </a:prstGeom>
          <a:solidFill>
            <a:srgbClr val="F4F7FA"/>
          </a:solidFill>
          <a:ln w="6350">
            <a:solidFill>
              <a:srgbClr val="D4DAE2"/>
            </a:solidFill>
            <a:prstDash val="solid"/>
          </a:ln>
        </p:spPr>
      </p:sp>
      <p:sp>
        <p:nvSpPr>
          <p:cNvPr id="77" name="Shape 75"/>
          <p:cNvSpPr/>
          <p:nvPr/>
        </p:nvSpPr>
        <p:spPr>
          <a:xfrm>
            <a:off x="411480" y="4315968"/>
            <a:ext cx="45720" cy="246888"/>
          </a:xfrm>
          <a:prstGeom prst="rect">
            <a:avLst/>
          </a:prstGeom>
          <a:solidFill>
            <a:srgbClr val="A44A2A"/>
          </a:solidFill>
          <a:ln w="12700">
            <a:solidFill>
              <a:srgbClr val="A44A2A"/>
            </a:solidFill>
            <a:prstDash val="solid"/>
          </a:ln>
        </p:spPr>
      </p:sp>
      <p:sp>
        <p:nvSpPr>
          <p:cNvPr id="78" name="Text 76"/>
          <p:cNvSpPr txBox="1"/>
          <p:nvPr/>
        </p:nvSpPr>
        <p:spPr>
          <a:xfrm>
            <a:off x="530352" y="4315968"/>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A44A2A"/>
                </a:solidFill>
                <a:latin typeface="Calibri" pitchFamily="34" charset="0"/>
                <a:ea typeface="Calibri" pitchFamily="34" charset="-122"/>
                <a:cs typeface="Calibri" pitchFamily="34" charset="-120"/>
              </a:rPr>
              <a:t>DEVIATION</a:t>
            </a:r>
            <a:endParaRPr lang="en-US" sz="690" dirty="0"/>
          </a:p>
        </p:txBody>
      </p:sp>
      <p:sp>
        <p:nvSpPr>
          <p:cNvPr id="79" name="Text 77"/>
          <p:cNvSpPr txBox="1"/>
          <p:nvPr/>
        </p:nvSpPr>
        <p:spPr>
          <a:xfrm>
            <a:off x="1929384" y="4315968"/>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The published pattern does not cover this case</a:t>
            </a:r>
            <a:endParaRPr lang="en-US" sz="700" dirty="0"/>
          </a:p>
        </p:txBody>
      </p:sp>
      <p:sp>
        <p:nvSpPr>
          <p:cNvPr id="80" name="Text 78"/>
          <p:cNvSpPr txBox="1"/>
          <p:nvPr/>
        </p:nvSpPr>
        <p:spPr>
          <a:xfrm>
            <a:off x="4599432" y="4315968"/>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Triage lead</a:t>
            </a:r>
            <a:endParaRPr lang="en-US" sz="700" dirty="0"/>
          </a:p>
        </p:txBody>
      </p:sp>
      <p:sp>
        <p:nvSpPr>
          <p:cNvPr id="81" name="Text 79"/>
          <p:cNvSpPr txBox="1"/>
          <p:nvPr/>
        </p:nvSpPr>
        <p:spPr>
          <a:xfrm>
            <a:off x="6062472" y="4315968"/>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Triggers re-tier</a:t>
            </a:r>
            <a:endParaRPr lang="en-US" sz="700" dirty="0"/>
          </a:p>
        </p:txBody>
      </p:sp>
      <p:sp>
        <p:nvSpPr>
          <p:cNvPr id="82" name="Shape 80"/>
          <p:cNvSpPr/>
          <p:nvPr/>
        </p:nvSpPr>
        <p:spPr>
          <a:xfrm>
            <a:off x="411480" y="4562856"/>
            <a:ext cx="6675120" cy="246888"/>
          </a:xfrm>
          <a:prstGeom prst="rect">
            <a:avLst/>
          </a:prstGeom>
          <a:solidFill>
            <a:srgbClr val="FFFFFF"/>
          </a:solidFill>
          <a:ln w="6350">
            <a:solidFill>
              <a:srgbClr val="D4DAE2"/>
            </a:solidFill>
            <a:prstDash val="solid"/>
          </a:ln>
        </p:spPr>
      </p:sp>
      <p:sp>
        <p:nvSpPr>
          <p:cNvPr id="83" name="Shape 81"/>
          <p:cNvSpPr/>
          <p:nvPr/>
        </p:nvSpPr>
        <p:spPr>
          <a:xfrm>
            <a:off x="411480" y="4562856"/>
            <a:ext cx="45720" cy="246888"/>
          </a:xfrm>
          <a:prstGeom prst="rect">
            <a:avLst/>
          </a:prstGeom>
          <a:solidFill>
            <a:srgbClr val="5B4A72"/>
          </a:solidFill>
          <a:ln w="12700">
            <a:solidFill>
              <a:srgbClr val="5B4A72"/>
            </a:solidFill>
            <a:prstDash val="solid"/>
          </a:ln>
        </p:spPr>
      </p:sp>
      <p:sp>
        <p:nvSpPr>
          <p:cNvPr id="84" name="Text 82"/>
          <p:cNvSpPr txBox="1"/>
          <p:nvPr/>
        </p:nvSpPr>
        <p:spPr>
          <a:xfrm>
            <a:off x="530352" y="4562856"/>
            <a:ext cx="1252728" cy="246888"/>
          </a:xfrm>
          <a:prstGeom prst="rect">
            <a:avLst/>
          </a:prstGeom>
          <a:noFill/>
          <a:ln/>
        </p:spPr>
        <p:txBody>
          <a:bodyPr wrap="square" lIns="0" tIns="0" rIns="0" bIns="0" rtlCol="0" anchor="ctr"/>
          <a:lstStyle/>
          <a:p>
            <a:pPr indent="0" marL="0">
              <a:lnSpc>
                <a:spcPts val="820"/>
              </a:lnSpc>
              <a:buNone/>
            </a:pPr>
            <a:r>
              <a:rPr lang="en-US" sz="690" b="1" dirty="0">
                <a:solidFill>
                  <a:srgbClr val="5B4A72"/>
                </a:solidFill>
                <a:latin typeface="Calibri" pitchFamily="34" charset="0"/>
                <a:ea typeface="Calibri" pitchFamily="34" charset="-122"/>
                <a:cs typeface="Calibri" pitchFamily="34" charset="-120"/>
              </a:rPr>
              <a:t>APPEAL</a:t>
            </a:r>
            <a:endParaRPr lang="en-US" sz="690" dirty="0"/>
          </a:p>
        </p:txBody>
      </p:sp>
      <p:sp>
        <p:nvSpPr>
          <p:cNvPr id="85" name="Text 83"/>
          <p:cNvSpPr txBox="1"/>
          <p:nvPr/>
        </p:nvSpPr>
        <p:spPr>
          <a:xfrm>
            <a:off x="1929384" y="4562856"/>
            <a:ext cx="2523744"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Challenge the tier on a named determinant, once per intake</a:t>
            </a:r>
            <a:endParaRPr lang="en-US" sz="700" dirty="0"/>
          </a:p>
        </p:txBody>
      </p:sp>
      <p:sp>
        <p:nvSpPr>
          <p:cNvPr id="86" name="Text 84"/>
          <p:cNvSpPr txBox="1"/>
          <p:nvPr/>
        </p:nvSpPr>
        <p:spPr>
          <a:xfrm>
            <a:off x="4599432" y="4562856"/>
            <a:ext cx="131673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Second lead + governance</a:t>
            </a:r>
            <a:endParaRPr lang="en-US" sz="700" dirty="0"/>
          </a:p>
        </p:txBody>
      </p:sp>
      <p:sp>
        <p:nvSpPr>
          <p:cNvPr id="87" name="Text 85"/>
          <p:cNvSpPr txBox="1"/>
          <p:nvPr/>
        </p:nvSpPr>
        <p:spPr>
          <a:xfrm>
            <a:off x="6062472" y="4562856"/>
            <a:ext cx="950976" cy="246888"/>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5 working days</a:t>
            </a:r>
            <a:endParaRPr lang="en-US" sz="700" dirty="0"/>
          </a:p>
        </p:txBody>
      </p:sp>
      <p:sp>
        <p:nvSpPr>
          <p:cNvPr id="88" name="Shape 86"/>
          <p:cNvSpPr/>
          <p:nvPr/>
        </p:nvSpPr>
        <p:spPr>
          <a:xfrm>
            <a:off x="7269480" y="2103120"/>
            <a:ext cx="4480560" cy="402336"/>
          </a:xfrm>
          <a:prstGeom prst="roundRect">
            <a:avLst>
              <a:gd name="adj" fmla="val 9091"/>
            </a:avLst>
          </a:prstGeom>
          <a:solidFill>
            <a:srgbClr val="FFFFFF"/>
          </a:solidFill>
          <a:ln w="14605">
            <a:solidFill>
              <a:srgbClr val="2E6B4F"/>
            </a:solidFill>
            <a:prstDash val="solid"/>
          </a:ln>
          <a:effectLst>
            <a:outerShdw sx="100000" sy="100000" kx="0" ky="0" algn="bl" rotWithShape="0" blurRad="88900" dist="12700" dir="5400000">
              <a:srgbClr val="97A3B4">
                <a:alpha val="16000"/>
              </a:srgbClr>
            </a:outerShdw>
          </a:effectLst>
        </p:spPr>
      </p:sp>
      <p:sp>
        <p:nvSpPr>
          <p:cNvPr id="89" name="Shape 87"/>
          <p:cNvSpPr/>
          <p:nvPr/>
        </p:nvSpPr>
        <p:spPr>
          <a:xfrm>
            <a:off x="7269480" y="2103120"/>
            <a:ext cx="64008" cy="402336"/>
          </a:xfrm>
          <a:prstGeom prst="rect">
            <a:avLst/>
          </a:prstGeom>
          <a:solidFill>
            <a:srgbClr val="2E6B4F"/>
          </a:solidFill>
          <a:ln w="12700">
            <a:solidFill>
              <a:srgbClr val="2E6B4F"/>
            </a:solidFill>
            <a:prstDash val="solid"/>
          </a:ln>
        </p:spPr>
      </p:sp>
      <p:sp>
        <p:nvSpPr>
          <p:cNvPr id="90" name="Text 88"/>
          <p:cNvSpPr txBox="1"/>
          <p:nvPr/>
        </p:nvSpPr>
        <p:spPr>
          <a:xfrm>
            <a:off x="7434072" y="2139696"/>
            <a:ext cx="4206240" cy="164592"/>
          </a:xfrm>
          <a:prstGeom prst="rect">
            <a:avLst/>
          </a:prstGeom>
          <a:noFill/>
          <a:ln/>
        </p:spPr>
        <p:txBody>
          <a:bodyPr wrap="square" lIns="0" tIns="0" rIns="0" bIns="0" rtlCol="0" anchor="ctr"/>
          <a:lstStyle/>
          <a:p>
            <a:pPr indent="0" marL="0">
              <a:buNone/>
            </a:pPr>
            <a:r>
              <a:rPr lang="en-US" sz="780" b="1" dirty="0">
                <a:solidFill>
                  <a:srgbClr val="2E6B4F"/>
                </a:solidFill>
                <a:latin typeface="Calibri" pitchFamily="34" charset="0"/>
                <a:ea typeface="Calibri" pitchFamily="34" charset="-122"/>
                <a:cs typeface="Calibri" pitchFamily="34" charset="-120"/>
              </a:rPr>
              <a:t>Partner raises the ticket</a:t>
            </a:r>
            <a:endParaRPr lang="en-US" sz="780" dirty="0"/>
          </a:p>
        </p:txBody>
      </p:sp>
      <p:sp>
        <p:nvSpPr>
          <p:cNvPr id="91" name="Text 89"/>
          <p:cNvSpPr txBox="1"/>
          <p:nvPr/>
        </p:nvSpPr>
        <p:spPr>
          <a:xfrm>
            <a:off x="7434072" y="2304288"/>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Against the ECM Partner Support project, choosing the request type from the catalogue.</a:t>
            </a:r>
            <a:endParaRPr lang="en-US" sz="690" dirty="0"/>
          </a:p>
        </p:txBody>
      </p:sp>
      <p:sp>
        <p:nvSpPr>
          <p:cNvPr id="92" name="Shape 90"/>
          <p:cNvSpPr/>
          <p:nvPr/>
        </p:nvSpPr>
        <p:spPr>
          <a:xfrm>
            <a:off x="9509760" y="2505456"/>
            <a:ext cx="0" cy="128016"/>
          </a:xfrm>
          <a:prstGeom prst="line">
            <a:avLst/>
          </a:prstGeom>
          <a:noFill/>
          <a:ln w="17780">
            <a:solidFill>
              <a:srgbClr val="7C8798"/>
            </a:solidFill>
            <a:prstDash val="solid"/>
            <a:tailEnd type="triangle"/>
          </a:ln>
        </p:spPr>
      </p:sp>
      <p:sp>
        <p:nvSpPr>
          <p:cNvPr id="93" name="Shape 91"/>
          <p:cNvSpPr/>
          <p:nvPr/>
        </p:nvSpPr>
        <p:spPr>
          <a:xfrm>
            <a:off x="7269480" y="2633472"/>
            <a:ext cx="4480560" cy="402336"/>
          </a:xfrm>
          <a:prstGeom prst="roundRect">
            <a:avLst>
              <a:gd name="adj" fmla="val 9091"/>
            </a:avLst>
          </a:prstGeom>
          <a:solidFill>
            <a:srgbClr val="FFFFFF"/>
          </a:solidFill>
          <a:ln w="14605">
            <a:solidFill>
              <a:srgbClr val="15304F"/>
            </a:solidFill>
            <a:prstDash val="solid"/>
          </a:ln>
          <a:effectLst>
            <a:outerShdw sx="100000" sy="100000" kx="0" ky="0" algn="bl" rotWithShape="0" blurRad="88900" dist="12700" dir="5400000">
              <a:srgbClr val="97A3B4">
                <a:alpha val="16000"/>
              </a:srgbClr>
            </a:outerShdw>
          </a:effectLst>
        </p:spPr>
      </p:sp>
      <p:sp>
        <p:nvSpPr>
          <p:cNvPr id="94" name="Shape 92"/>
          <p:cNvSpPr/>
          <p:nvPr/>
        </p:nvSpPr>
        <p:spPr>
          <a:xfrm>
            <a:off x="7269480" y="2633472"/>
            <a:ext cx="64008" cy="402336"/>
          </a:xfrm>
          <a:prstGeom prst="rect">
            <a:avLst/>
          </a:prstGeom>
          <a:solidFill>
            <a:srgbClr val="15304F"/>
          </a:solidFill>
          <a:ln w="12700">
            <a:solidFill>
              <a:srgbClr val="15304F"/>
            </a:solidFill>
            <a:prstDash val="solid"/>
          </a:ln>
        </p:spPr>
      </p:sp>
      <p:sp>
        <p:nvSpPr>
          <p:cNvPr id="95" name="Text 93"/>
          <p:cNvSpPr txBox="1"/>
          <p:nvPr/>
        </p:nvSpPr>
        <p:spPr>
          <a:xfrm>
            <a:off x="7434072" y="2670048"/>
            <a:ext cx="4206240" cy="164592"/>
          </a:xfrm>
          <a:prstGeom prst="rect">
            <a:avLst/>
          </a:prstGeom>
          <a:noFill/>
          <a:ln/>
        </p:spPr>
        <p:txBody>
          <a:bodyPr wrap="square" lIns="0" tIns="0" rIns="0" bIns="0" rtlCol="0" anchor="ctr"/>
          <a:lstStyle/>
          <a:p>
            <a:pPr indent="0" marL="0">
              <a:buNone/>
            </a:pPr>
            <a:r>
              <a:rPr lang="en-US" sz="780" b="1" dirty="0">
                <a:solidFill>
                  <a:srgbClr val="15304F"/>
                </a:solidFill>
                <a:latin typeface="Calibri" pitchFamily="34" charset="0"/>
                <a:ea typeface="Calibri" pitchFamily="34" charset="-122"/>
                <a:cs typeface="Calibri" pitchFamily="34" charset="-120"/>
              </a:rPr>
              <a:t>Auto-routed by request type</a:t>
            </a:r>
            <a:endParaRPr lang="en-US" sz="780" dirty="0"/>
          </a:p>
        </p:txBody>
      </p:sp>
      <p:sp>
        <p:nvSpPr>
          <p:cNvPr id="96" name="Text 94"/>
          <p:cNvSpPr txBox="1"/>
          <p:nvPr/>
        </p:nvSpPr>
        <p:spPr>
          <a:xfrm>
            <a:off x="7434072" y="2834640"/>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Not by who the partner knows. Routing is a property of the ticket, not of the relationship.</a:t>
            </a:r>
            <a:endParaRPr lang="en-US" sz="690" dirty="0"/>
          </a:p>
        </p:txBody>
      </p:sp>
      <p:sp>
        <p:nvSpPr>
          <p:cNvPr id="97" name="Shape 95"/>
          <p:cNvSpPr/>
          <p:nvPr/>
        </p:nvSpPr>
        <p:spPr>
          <a:xfrm>
            <a:off x="9509760" y="3035808"/>
            <a:ext cx="0" cy="128016"/>
          </a:xfrm>
          <a:prstGeom prst="line">
            <a:avLst/>
          </a:prstGeom>
          <a:noFill/>
          <a:ln w="17780">
            <a:solidFill>
              <a:srgbClr val="7C8798"/>
            </a:solidFill>
            <a:prstDash val="solid"/>
            <a:tailEnd type="triangle"/>
          </a:ln>
        </p:spPr>
      </p:sp>
      <p:sp>
        <p:nvSpPr>
          <p:cNvPr id="98" name="Shape 96"/>
          <p:cNvSpPr/>
          <p:nvPr/>
        </p:nvSpPr>
        <p:spPr>
          <a:xfrm>
            <a:off x="7269480" y="3163824"/>
            <a:ext cx="4480560" cy="402336"/>
          </a:xfrm>
          <a:prstGeom prst="roundRect">
            <a:avLst>
              <a:gd name="adj" fmla="val 9091"/>
            </a:avLst>
          </a:prstGeom>
          <a:solidFill>
            <a:srgbClr val="FFFFFF"/>
          </a:solidFill>
          <a:ln w="14605">
            <a:solidFill>
              <a:srgbClr val="9A6410"/>
            </a:solidFill>
            <a:prstDash val="solid"/>
          </a:ln>
          <a:effectLst>
            <a:outerShdw sx="100000" sy="100000" kx="0" ky="0" algn="bl" rotWithShape="0" blurRad="88900" dist="12700" dir="5400000">
              <a:srgbClr val="97A3B4">
                <a:alpha val="16000"/>
              </a:srgbClr>
            </a:outerShdw>
          </a:effectLst>
        </p:spPr>
      </p:sp>
      <p:sp>
        <p:nvSpPr>
          <p:cNvPr id="99" name="Shape 97"/>
          <p:cNvSpPr/>
          <p:nvPr/>
        </p:nvSpPr>
        <p:spPr>
          <a:xfrm>
            <a:off x="7269480" y="3163824"/>
            <a:ext cx="64008" cy="402336"/>
          </a:xfrm>
          <a:prstGeom prst="rect">
            <a:avLst/>
          </a:prstGeom>
          <a:solidFill>
            <a:srgbClr val="9A6410"/>
          </a:solidFill>
          <a:ln w="12700">
            <a:solidFill>
              <a:srgbClr val="9A6410"/>
            </a:solidFill>
            <a:prstDash val="solid"/>
          </a:ln>
        </p:spPr>
      </p:sp>
      <p:sp>
        <p:nvSpPr>
          <p:cNvPr id="100" name="Text 98"/>
          <p:cNvSpPr txBox="1"/>
          <p:nvPr/>
        </p:nvSpPr>
        <p:spPr>
          <a:xfrm>
            <a:off x="7434072" y="3200400"/>
            <a:ext cx="4206240" cy="164592"/>
          </a:xfrm>
          <a:prstGeom prst="rect">
            <a:avLst/>
          </a:prstGeom>
          <a:noFill/>
          <a:ln/>
        </p:spPr>
        <p:txBody>
          <a:bodyPr wrap="square" lIns="0" tIns="0" rIns="0" bIns="0" rtlCol="0" anchor="ctr"/>
          <a:lstStyle/>
          <a:p>
            <a:pPr indent="0" marL="0">
              <a:buNone/>
            </a:pPr>
            <a:r>
              <a:rPr lang="en-US" sz="780" b="1" dirty="0">
                <a:solidFill>
                  <a:srgbClr val="9A6410"/>
                </a:solidFill>
                <a:latin typeface="Calibri" pitchFamily="34" charset="0"/>
                <a:ea typeface="Calibri" pitchFamily="34" charset="-122"/>
                <a:cs typeface="Calibri" pitchFamily="34" charset="-120"/>
              </a:rPr>
              <a:t>The owning queue responds</a:t>
            </a:r>
            <a:endParaRPr lang="en-US" sz="780" dirty="0"/>
          </a:p>
        </p:txBody>
      </p:sp>
      <p:sp>
        <p:nvSpPr>
          <p:cNvPr id="101" name="Text 99"/>
          <p:cNvSpPr txBox="1"/>
          <p:nvPr/>
        </p:nvSpPr>
        <p:spPr>
          <a:xfrm>
            <a:off x="7434072" y="3364992"/>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Imaging Governance, Records, Security, SPLI or the rota on duty — not a named individual.</a:t>
            </a:r>
            <a:endParaRPr lang="en-US" sz="690" dirty="0"/>
          </a:p>
        </p:txBody>
      </p:sp>
      <p:sp>
        <p:nvSpPr>
          <p:cNvPr id="102" name="Shape 100"/>
          <p:cNvSpPr/>
          <p:nvPr/>
        </p:nvSpPr>
        <p:spPr>
          <a:xfrm>
            <a:off x="9509760" y="3566160"/>
            <a:ext cx="0" cy="128016"/>
          </a:xfrm>
          <a:prstGeom prst="line">
            <a:avLst/>
          </a:prstGeom>
          <a:noFill/>
          <a:ln w="17780">
            <a:solidFill>
              <a:srgbClr val="7C8798"/>
            </a:solidFill>
            <a:prstDash val="solid"/>
            <a:tailEnd type="triangle"/>
          </a:ln>
        </p:spPr>
      </p:sp>
      <p:sp>
        <p:nvSpPr>
          <p:cNvPr id="103" name="Shape 101"/>
          <p:cNvSpPr/>
          <p:nvPr/>
        </p:nvSpPr>
        <p:spPr>
          <a:xfrm>
            <a:off x="8001000" y="3694176"/>
            <a:ext cx="3017520" cy="566928"/>
          </a:xfrm>
          <a:prstGeom prst="diamond">
            <a:avLst/>
          </a:prstGeom>
          <a:solidFill>
            <a:srgbClr val="E7ECF3"/>
          </a:solidFill>
          <a:ln w="17780">
            <a:solidFill>
              <a:srgbClr val="2E5A7D"/>
            </a:solidFill>
            <a:prstDash val="solid"/>
          </a:ln>
        </p:spPr>
      </p:sp>
      <p:sp>
        <p:nvSpPr>
          <p:cNvPr id="104" name="Text 102"/>
          <p:cNvSpPr txBox="1"/>
          <p:nvPr/>
        </p:nvSpPr>
        <p:spPr>
          <a:xfrm>
            <a:off x="8311896" y="3694176"/>
            <a:ext cx="2395728" cy="566928"/>
          </a:xfrm>
          <a:prstGeom prst="rect">
            <a:avLst/>
          </a:prstGeom>
          <a:noFill/>
          <a:ln/>
        </p:spPr>
        <p:txBody>
          <a:bodyPr wrap="square" lIns="0" tIns="0" rIns="0" bIns="0" rtlCol="0" anchor="ctr"/>
          <a:lstStyle/>
          <a:p>
            <a:pPr algn="ctr" indent="0" marL="0">
              <a:lnSpc>
                <a:spcPts val="800"/>
              </a:lnSpc>
              <a:buNone/>
            </a:pPr>
            <a:r>
              <a:rPr lang="en-US" sz="690" b="1" dirty="0">
                <a:solidFill>
                  <a:srgbClr val="2E5A7D"/>
                </a:solidFill>
                <a:latin typeface="Calibri" pitchFamily="34" charset="0"/>
                <a:ea typeface="Calibri" pitchFamily="34" charset="-122"/>
                <a:cs typeface="Calibri" pitchFamily="34" charset="-120"/>
              </a:rPr>
              <a:t>Answerable within the published pattern?</a:t>
            </a:r>
            <a:endParaRPr lang="en-US" sz="690" dirty="0"/>
          </a:p>
        </p:txBody>
      </p:sp>
      <p:sp>
        <p:nvSpPr>
          <p:cNvPr id="105" name="Shape 103"/>
          <p:cNvSpPr/>
          <p:nvPr/>
        </p:nvSpPr>
        <p:spPr>
          <a:xfrm flipH="1">
            <a:off x="8353044" y="4261104"/>
            <a:ext cx="1156716" cy="128016"/>
          </a:xfrm>
          <a:prstGeom prst="line">
            <a:avLst/>
          </a:prstGeom>
          <a:noFill/>
          <a:ln w="17780">
            <a:solidFill>
              <a:srgbClr val="7C8798"/>
            </a:solidFill>
            <a:prstDash val="solid"/>
            <a:tailEnd type="triangle"/>
          </a:ln>
        </p:spPr>
      </p:sp>
      <p:sp>
        <p:nvSpPr>
          <p:cNvPr id="106" name="Shape 104"/>
          <p:cNvSpPr/>
          <p:nvPr/>
        </p:nvSpPr>
        <p:spPr>
          <a:xfrm>
            <a:off x="9509760" y="4261104"/>
            <a:ext cx="1156716" cy="128016"/>
          </a:xfrm>
          <a:prstGeom prst="line">
            <a:avLst/>
          </a:prstGeom>
          <a:noFill/>
          <a:ln w="17780">
            <a:solidFill>
              <a:srgbClr val="A44A2A"/>
            </a:solidFill>
            <a:prstDash val="solid"/>
            <a:tailEnd type="triangle"/>
          </a:ln>
        </p:spPr>
      </p:sp>
      <p:sp>
        <p:nvSpPr>
          <p:cNvPr id="107" name="Shape 105"/>
          <p:cNvSpPr/>
          <p:nvPr/>
        </p:nvSpPr>
        <p:spPr>
          <a:xfrm>
            <a:off x="7269480" y="4389120"/>
            <a:ext cx="2167128" cy="420624"/>
          </a:xfrm>
          <a:prstGeom prst="roundRect">
            <a:avLst>
              <a:gd name="adj" fmla="val 8696"/>
            </a:avLst>
          </a:prstGeom>
          <a:solidFill>
            <a:srgbClr val="FFFFFF"/>
          </a:solidFill>
          <a:ln w="14605">
            <a:solidFill>
              <a:srgbClr val="2E6B4F"/>
            </a:solidFill>
            <a:prstDash val="solid"/>
          </a:ln>
          <a:effectLst>
            <a:outerShdw sx="100000" sy="100000" kx="0" ky="0" algn="bl" rotWithShape="0" blurRad="88900" dist="12700" dir="5400000">
              <a:srgbClr val="97A3B4">
                <a:alpha val="16000"/>
              </a:srgbClr>
            </a:outerShdw>
          </a:effectLst>
        </p:spPr>
      </p:sp>
      <p:sp>
        <p:nvSpPr>
          <p:cNvPr id="108" name="Shape 106"/>
          <p:cNvSpPr/>
          <p:nvPr/>
        </p:nvSpPr>
        <p:spPr>
          <a:xfrm>
            <a:off x="7269480" y="4389120"/>
            <a:ext cx="64008" cy="420624"/>
          </a:xfrm>
          <a:prstGeom prst="rect">
            <a:avLst/>
          </a:prstGeom>
          <a:solidFill>
            <a:srgbClr val="2E6B4F"/>
          </a:solidFill>
          <a:ln w="12700">
            <a:solidFill>
              <a:srgbClr val="2E6B4F"/>
            </a:solidFill>
            <a:prstDash val="solid"/>
          </a:ln>
        </p:spPr>
      </p:sp>
      <p:sp>
        <p:nvSpPr>
          <p:cNvPr id="109" name="Text 107"/>
          <p:cNvSpPr txBox="1"/>
          <p:nvPr/>
        </p:nvSpPr>
        <p:spPr>
          <a:xfrm>
            <a:off x="7434072" y="4425696"/>
            <a:ext cx="1892808" cy="164592"/>
          </a:xfrm>
          <a:prstGeom prst="rect">
            <a:avLst/>
          </a:prstGeom>
          <a:noFill/>
          <a:ln/>
        </p:spPr>
        <p:txBody>
          <a:bodyPr wrap="square" lIns="0" tIns="0" rIns="0" bIns="0" rtlCol="0" anchor="ctr"/>
          <a:lstStyle/>
          <a:p>
            <a:pPr indent="0" marL="0">
              <a:buNone/>
            </a:pPr>
            <a:r>
              <a:rPr lang="en-US" sz="780" b="1" dirty="0">
                <a:solidFill>
                  <a:srgbClr val="2E6B4F"/>
                </a:solidFill>
                <a:latin typeface="Calibri" pitchFamily="34" charset="0"/>
                <a:ea typeface="Calibri" pitchFamily="34" charset="-122"/>
                <a:cs typeface="Calibri" pitchFamily="34" charset="-120"/>
              </a:rPr>
              <a:t>Resolved on the record</a:t>
            </a:r>
            <a:endParaRPr lang="en-US" sz="780" dirty="0"/>
          </a:p>
        </p:txBody>
      </p:sp>
      <p:sp>
        <p:nvSpPr>
          <p:cNvPr id="110" name="Text 108"/>
          <p:cNvSpPr txBox="1"/>
          <p:nvPr/>
        </p:nvSpPr>
        <p:spPr>
          <a:xfrm>
            <a:off x="7434072" y="4590288"/>
            <a:ext cx="1892808" cy="182880"/>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Answer attached to the intake.</a:t>
            </a:r>
            <a:endParaRPr lang="en-US" sz="690" dirty="0"/>
          </a:p>
        </p:txBody>
      </p:sp>
      <p:sp>
        <p:nvSpPr>
          <p:cNvPr id="111" name="Shape 109"/>
          <p:cNvSpPr/>
          <p:nvPr/>
        </p:nvSpPr>
        <p:spPr>
          <a:xfrm>
            <a:off x="9582912" y="4389120"/>
            <a:ext cx="2167128" cy="420624"/>
          </a:xfrm>
          <a:prstGeom prst="roundRect">
            <a:avLst>
              <a:gd name="adj" fmla="val 8696"/>
            </a:avLst>
          </a:prstGeom>
          <a:solidFill>
            <a:srgbClr val="FFFFFF"/>
          </a:solidFill>
          <a:ln w="14605">
            <a:solidFill>
              <a:srgbClr val="A44A2A"/>
            </a:solidFill>
            <a:prstDash val="solid"/>
          </a:ln>
          <a:effectLst>
            <a:outerShdw sx="100000" sy="100000" kx="0" ky="0" algn="bl" rotWithShape="0" blurRad="88900" dist="12700" dir="5400000">
              <a:srgbClr val="97A3B4">
                <a:alpha val="16000"/>
              </a:srgbClr>
            </a:outerShdw>
          </a:effectLst>
        </p:spPr>
      </p:sp>
      <p:sp>
        <p:nvSpPr>
          <p:cNvPr id="112" name="Shape 110"/>
          <p:cNvSpPr/>
          <p:nvPr/>
        </p:nvSpPr>
        <p:spPr>
          <a:xfrm>
            <a:off x="9582912" y="4389120"/>
            <a:ext cx="64008" cy="420624"/>
          </a:xfrm>
          <a:prstGeom prst="rect">
            <a:avLst/>
          </a:prstGeom>
          <a:solidFill>
            <a:srgbClr val="A44A2A"/>
          </a:solidFill>
          <a:ln w="12700">
            <a:solidFill>
              <a:srgbClr val="A44A2A"/>
            </a:solidFill>
            <a:prstDash val="solid"/>
          </a:ln>
        </p:spPr>
      </p:sp>
      <p:sp>
        <p:nvSpPr>
          <p:cNvPr id="113" name="Text 111"/>
          <p:cNvSpPr txBox="1"/>
          <p:nvPr/>
        </p:nvSpPr>
        <p:spPr>
          <a:xfrm>
            <a:off x="9747504" y="4425696"/>
            <a:ext cx="1892808" cy="164592"/>
          </a:xfrm>
          <a:prstGeom prst="rect">
            <a:avLst/>
          </a:prstGeom>
          <a:noFill/>
          <a:ln/>
        </p:spPr>
        <p:txBody>
          <a:bodyPr wrap="square" lIns="0" tIns="0" rIns="0" bIns="0" rtlCol="0" anchor="ctr"/>
          <a:lstStyle/>
          <a:p>
            <a:pPr indent="0" marL="0">
              <a:buNone/>
            </a:pPr>
            <a:r>
              <a:rPr lang="en-US" sz="780" b="1" dirty="0">
                <a:solidFill>
                  <a:srgbClr val="A44A2A"/>
                </a:solidFill>
                <a:latin typeface="Calibri" pitchFamily="34" charset="0"/>
                <a:ea typeface="Calibri" pitchFamily="34" charset="-122"/>
                <a:cs typeface="Calibri" pitchFamily="34" charset="-120"/>
              </a:rPr>
              <a:t>DEVIATION raised</a:t>
            </a:r>
            <a:endParaRPr lang="en-US" sz="780" dirty="0"/>
          </a:p>
        </p:txBody>
      </p:sp>
      <p:sp>
        <p:nvSpPr>
          <p:cNvPr id="114" name="Text 112"/>
          <p:cNvSpPr txBox="1"/>
          <p:nvPr/>
        </p:nvSpPr>
        <p:spPr>
          <a:xfrm>
            <a:off x="9747504" y="4590288"/>
            <a:ext cx="1892808" cy="182880"/>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Triggers a re-tier assessment.</a:t>
            </a:r>
            <a:endParaRPr lang="en-US" sz="690" dirty="0"/>
          </a:p>
        </p:txBody>
      </p:sp>
      <p:sp>
        <p:nvSpPr>
          <p:cNvPr id="115" name="Text 113"/>
          <p:cNvSpPr txBox="1"/>
          <p:nvPr/>
        </p:nvSpPr>
        <p:spPr>
          <a:xfrm>
            <a:off x="7488936" y="4151376"/>
            <a:ext cx="914400" cy="182880"/>
          </a:xfrm>
          <a:prstGeom prst="rect">
            <a:avLst/>
          </a:prstGeom>
          <a:noFill/>
          <a:ln/>
        </p:spPr>
        <p:txBody>
          <a:bodyPr wrap="square" lIns="0" tIns="0" rIns="0" bIns="0" rtlCol="0" anchor="ctr"/>
          <a:lstStyle/>
          <a:p>
            <a:pPr algn="l"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116" name="Text 114"/>
          <p:cNvSpPr txBox="1"/>
          <p:nvPr/>
        </p:nvSpPr>
        <p:spPr>
          <a:xfrm>
            <a:off x="10616184" y="4151376"/>
            <a:ext cx="914400" cy="182880"/>
          </a:xfrm>
          <a:prstGeom prst="rect">
            <a:avLst/>
          </a:prstGeom>
          <a:noFill/>
          <a:ln/>
        </p:spPr>
        <p:txBody>
          <a:bodyPr wrap="square" lIns="0" tIns="0" rIns="0" bIns="0" rtlCol="0" anchor="ctr"/>
          <a:lstStyle/>
          <a:p>
            <a:pPr algn="r" indent="0" marL="0">
              <a:buNone/>
            </a:pPr>
            <a:r>
              <a:rPr lang="en-US" sz="660" b="1" dirty="0">
                <a:solidFill>
                  <a:srgbClr val="A44A2A"/>
                </a:solidFill>
                <a:latin typeface="Calibri" pitchFamily="34" charset="0"/>
                <a:ea typeface="Calibri" pitchFamily="34" charset="-122"/>
                <a:cs typeface="Calibri" pitchFamily="34" charset="-120"/>
              </a:rPr>
              <a:t>No</a:t>
            </a:r>
            <a:endParaRPr lang="en-US" sz="660" dirty="0"/>
          </a:p>
        </p:txBody>
      </p:sp>
      <p:sp>
        <p:nvSpPr>
          <p:cNvPr id="117" name="Shape 115"/>
          <p:cNvSpPr/>
          <p:nvPr/>
        </p:nvSpPr>
        <p:spPr>
          <a:xfrm>
            <a:off x="411480" y="4956048"/>
            <a:ext cx="11338560" cy="859536"/>
          </a:xfrm>
          <a:prstGeom prst="roundRect">
            <a:avLst>
              <a:gd name="adj" fmla="val 5319"/>
            </a:avLst>
          </a:prstGeom>
          <a:solidFill>
            <a:srgbClr val="E8EDF4"/>
          </a:solidFill>
          <a:ln w="15240">
            <a:solidFill>
              <a:srgbClr val="15304F"/>
            </a:solidFill>
            <a:prstDash val="solid"/>
          </a:ln>
        </p:spPr>
      </p:sp>
      <p:sp>
        <p:nvSpPr>
          <p:cNvPr id="118" name="Shape 116"/>
          <p:cNvSpPr/>
          <p:nvPr/>
        </p:nvSpPr>
        <p:spPr>
          <a:xfrm>
            <a:off x="411480" y="4956048"/>
            <a:ext cx="73152" cy="859536"/>
          </a:xfrm>
          <a:prstGeom prst="rect">
            <a:avLst/>
          </a:prstGeom>
          <a:solidFill>
            <a:srgbClr val="15304F"/>
          </a:solidFill>
          <a:ln w="12700">
            <a:solidFill>
              <a:srgbClr val="15304F"/>
            </a:solidFill>
            <a:prstDash val="solid"/>
          </a:ln>
        </p:spPr>
      </p:sp>
      <p:sp>
        <p:nvSpPr>
          <p:cNvPr id="119" name="Text 117"/>
          <p:cNvSpPr txBox="1"/>
          <p:nvPr/>
        </p:nvSpPr>
        <p:spPr>
          <a:xfrm>
            <a:off x="612648" y="5001768"/>
            <a:ext cx="10936224" cy="173736"/>
          </a:xfrm>
          <a:prstGeom prst="rect">
            <a:avLst/>
          </a:prstGeom>
          <a:noFill/>
          <a:ln/>
        </p:spPr>
        <p:txBody>
          <a:bodyPr wrap="square" lIns="0" tIns="0" rIns="0" bIns="0" rtlCol="0" anchor="ctr"/>
          <a:lstStyle/>
          <a:p>
            <a:pPr indent="0" marL="0">
              <a:buNone/>
            </a:pPr>
            <a:r>
              <a:rPr lang="en-US" sz="700" b="1" spc="60" kern="0" dirty="0">
                <a:solidFill>
                  <a:srgbClr val="15304F"/>
                </a:solidFill>
                <a:latin typeface="Calibri" pitchFamily="34" charset="0"/>
                <a:ea typeface="Calibri" pitchFamily="34" charset="-122"/>
                <a:cs typeface="Calibri" pitchFamily="34" charset="-120"/>
              </a:rPr>
              <a:t>WHY ONE FRONT DOOR IS WHAT MAKES A TIER WITH NO ALLOCATED RESOURCE WORK</a:t>
            </a:r>
            <a:endParaRPr lang="en-US" sz="700" dirty="0"/>
          </a:p>
        </p:txBody>
      </p:sp>
      <p:sp>
        <p:nvSpPr>
          <p:cNvPr id="120" name="Text 118"/>
          <p:cNvSpPr txBox="1"/>
          <p:nvPr/>
        </p:nvSpPr>
        <p:spPr>
          <a:xfrm>
            <a:off x="612648" y="5175504"/>
            <a:ext cx="10936224" cy="585216"/>
          </a:xfrm>
          <a:prstGeom prst="rect">
            <a:avLst/>
          </a:prstGeom>
          <a:noFill/>
          <a:ln/>
        </p:spPr>
        <p:txBody>
          <a:bodyPr wrap="square" lIns="0" tIns="0" rIns="0" bIns="0" rtlCol="0" anchor="t"/>
          <a:lstStyle/>
          <a:p>
            <a:pPr indent="0" marL="0">
              <a:lnSpc>
                <a:spcPts val="860"/>
              </a:lnSpc>
              <a:buNone/>
            </a:pPr>
            <a:r>
              <a:rPr lang="en-US" sz="730" dirty="0">
                <a:solidFill>
                  <a:srgbClr val="1B2432"/>
                </a:solidFill>
                <a:latin typeface="Calibri" pitchFamily="34" charset="0"/>
                <a:ea typeface="Calibri" pitchFamily="34" charset="-122"/>
                <a:cs typeface="Calibri" pitchFamily="34" charset="-120"/>
              </a:rPr>
              <a:t>In the current state a ticket raised against the wrong project is not rejected — it is simply invisible to the team that needs to action it, and the onboarding resource is the fallback who chases it down. Under Express there is no such fallback, so the routing has to be a property of the ticket rather than of the partner's contacts. The rota on duty answers, not a named person who may be on another intake, which is what lets assurance be scheduled instead of reactive. And the queue is itself evidence: ticket volume and type, read by pattern, is what shows which patterns need improving, which guidance is unclear, and which design decisions cannot survive being left to a confirmation.</a:t>
            </a:r>
            <a:endParaRPr lang="en-US" sz="730" dirty="0"/>
          </a:p>
        </p:txBody>
      </p:sp>
      <p:sp>
        <p:nvSpPr>
          <p:cNvPr id="121" name="Text 119"/>
          <p:cNvSpPr txBox="1"/>
          <p:nvPr/>
        </p:nvSpPr>
        <p:spPr>
          <a:xfrm>
            <a:off x="411480" y="5943600"/>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OWNERSHIP COLOUR CODING</a:t>
            </a:r>
            <a:endParaRPr lang="en-US" sz="760" dirty="0"/>
          </a:p>
        </p:txBody>
      </p:sp>
      <p:sp>
        <p:nvSpPr>
          <p:cNvPr id="122" name="Shape 120"/>
          <p:cNvSpPr/>
          <p:nvPr/>
        </p:nvSpPr>
        <p:spPr>
          <a:xfrm>
            <a:off x="411480" y="6149340"/>
            <a:ext cx="118872" cy="118872"/>
          </a:xfrm>
          <a:prstGeom prst="rect">
            <a:avLst/>
          </a:prstGeom>
          <a:solidFill>
            <a:srgbClr val="2E6B4F"/>
          </a:solidFill>
          <a:ln w="12700">
            <a:solidFill>
              <a:srgbClr val="2E6B4F"/>
            </a:solidFill>
            <a:prstDash val="solid"/>
          </a:ln>
        </p:spPr>
      </p:sp>
      <p:sp>
        <p:nvSpPr>
          <p:cNvPr id="123" name="Text 121"/>
          <p:cNvSpPr txBox="1"/>
          <p:nvPr/>
        </p:nvSpPr>
        <p:spPr>
          <a:xfrm>
            <a:off x="58521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 app team</a:t>
            </a:r>
            <a:endParaRPr lang="en-US" sz="660" dirty="0"/>
          </a:p>
        </p:txBody>
      </p:sp>
      <p:sp>
        <p:nvSpPr>
          <p:cNvPr id="124" name="Shape 122"/>
          <p:cNvSpPr/>
          <p:nvPr/>
        </p:nvSpPr>
        <p:spPr>
          <a:xfrm>
            <a:off x="1828800" y="6149340"/>
            <a:ext cx="118872" cy="118872"/>
          </a:xfrm>
          <a:prstGeom prst="rect">
            <a:avLst/>
          </a:prstGeom>
          <a:solidFill>
            <a:srgbClr val="15304F"/>
          </a:solidFill>
          <a:ln w="12700">
            <a:solidFill>
              <a:srgbClr val="15304F"/>
            </a:solidFill>
            <a:prstDash val="solid"/>
          </a:ln>
        </p:spPr>
      </p:sp>
      <p:sp>
        <p:nvSpPr>
          <p:cNvPr id="125" name="Text 123"/>
          <p:cNvSpPr txBox="1"/>
          <p:nvPr/>
        </p:nvSpPr>
        <p:spPr>
          <a:xfrm>
            <a:off x="200253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Triage Lead (ECM)</a:t>
            </a:r>
            <a:endParaRPr lang="en-US" sz="660" dirty="0"/>
          </a:p>
        </p:txBody>
      </p:sp>
      <p:sp>
        <p:nvSpPr>
          <p:cNvPr id="126" name="Shape 124"/>
          <p:cNvSpPr/>
          <p:nvPr/>
        </p:nvSpPr>
        <p:spPr>
          <a:xfrm>
            <a:off x="3246120" y="6149340"/>
            <a:ext cx="118872" cy="118872"/>
          </a:xfrm>
          <a:prstGeom prst="rect">
            <a:avLst/>
          </a:prstGeom>
          <a:solidFill>
            <a:srgbClr val="2E5A7D"/>
          </a:solidFill>
          <a:ln w="12700">
            <a:solidFill>
              <a:srgbClr val="2E5A7D"/>
            </a:solidFill>
            <a:prstDash val="solid"/>
          </a:ln>
        </p:spPr>
      </p:sp>
      <p:sp>
        <p:nvSpPr>
          <p:cNvPr id="127" name="Text 125"/>
          <p:cNvSpPr txBox="1"/>
          <p:nvPr/>
        </p:nvSpPr>
        <p:spPr>
          <a:xfrm>
            <a:off x="341985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Enablement Cell</a:t>
            </a:r>
            <a:endParaRPr lang="en-US" sz="660" dirty="0"/>
          </a:p>
        </p:txBody>
      </p:sp>
      <p:sp>
        <p:nvSpPr>
          <p:cNvPr id="128" name="Shape 126"/>
          <p:cNvSpPr/>
          <p:nvPr/>
        </p:nvSpPr>
        <p:spPr>
          <a:xfrm>
            <a:off x="4663440" y="6149340"/>
            <a:ext cx="118872" cy="118872"/>
          </a:xfrm>
          <a:prstGeom prst="rect">
            <a:avLst/>
          </a:prstGeom>
          <a:solidFill>
            <a:srgbClr val="5E7D96"/>
          </a:solidFill>
          <a:ln w="12700">
            <a:solidFill>
              <a:srgbClr val="5E7D96"/>
            </a:solidFill>
            <a:prstDash val="solid"/>
          </a:ln>
        </p:spPr>
      </p:sp>
      <p:sp>
        <p:nvSpPr>
          <p:cNvPr id="129" name="Text 127"/>
          <p:cNvSpPr txBox="1"/>
          <p:nvPr/>
        </p:nvSpPr>
        <p:spPr>
          <a:xfrm>
            <a:off x="483717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Architecture · Design Authority</a:t>
            </a:r>
            <a:endParaRPr lang="en-US" sz="660" dirty="0"/>
          </a:p>
        </p:txBody>
      </p:sp>
      <p:sp>
        <p:nvSpPr>
          <p:cNvPr id="130" name="Shape 128"/>
          <p:cNvSpPr/>
          <p:nvPr/>
        </p:nvSpPr>
        <p:spPr>
          <a:xfrm>
            <a:off x="6080760" y="6149340"/>
            <a:ext cx="118872" cy="118872"/>
          </a:xfrm>
          <a:prstGeom prst="rect">
            <a:avLst/>
          </a:prstGeom>
          <a:solidFill>
            <a:srgbClr val="A44A2A"/>
          </a:solidFill>
          <a:ln w="12700">
            <a:solidFill>
              <a:srgbClr val="A44A2A"/>
            </a:solidFill>
            <a:prstDash val="solid"/>
          </a:ln>
        </p:spPr>
      </p:sp>
      <p:sp>
        <p:nvSpPr>
          <p:cNvPr id="131" name="Text 129"/>
          <p:cNvSpPr txBox="1"/>
          <p:nvPr/>
        </p:nvSpPr>
        <p:spPr>
          <a:xfrm>
            <a:off x="625449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Imaging Governance</a:t>
            </a:r>
            <a:endParaRPr lang="en-US" sz="660" dirty="0"/>
          </a:p>
        </p:txBody>
      </p:sp>
      <p:sp>
        <p:nvSpPr>
          <p:cNvPr id="132" name="Shape 130"/>
          <p:cNvSpPr/>
          <p:nvPr/>
        </p:nvSpPr>
        <p:spPr>
          <a:xfrm>
            <a:off x="7498080" y="6149340"/>
            <a:ext cx="118872" cy="118872"/>
          </a:xfrm>
          <a:prstGeom prst="rect">
            <a:avLst/>
          </a:prstGeom>
          <a:solidFill>
            <a:srgbClr val="9A6410"/>
          </a:solidFill>
          <a:ln w="12700">
            <a:solidFill>
              <a:srgbClr val="9A6410"/>
            </a:solidFill>
            <a:prstDash val="solid"/>
          </a:ln>
        </p:spPr>
      </p:sp>
      <p:sp>
        <p:nvSpPr>
          <p:cNvPr id="133" name="Text 131"/>
          <p:cNvSpPr txBox="1"/>
          <p:nvPr/>
        </p:nvSpPr>
        <p:spPr>
          <a:xfrm>
            <a:off x="767181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Records · Security · Platform · SPLI</a:t>
            </a:r>
            <a:endParaRPr lang="en-US" sz="660" dirty="0"/>
          </a:p>
        </p:txBody>
      </p:sp>
      <p:sp>
        <p:nvSpPr>
          <p:cNvPr id="134" name="Shape 132"/>
          <p:cNvSpPr/>
          <p:nvPr/>
        </p:nvSpPr>
        <p:spPr>
          <a:xfrm>
            <a:off x="8915400" y="6149340"/>
            <a:ext cx="118872" cy="118872"/>
          </a:xfrm>
          <a:prstGeom prst="rect">
            <a:avLst/>
          </a:prstGeom>
          <a:solidFill>
            <a:srgbClr val="5B4A72"/>
          </a:solidFill>
          <a:ln w="12700">
            <a:solidFill>
              <a:srgbClr val="5B4A72"/>
            </a:solidFill>
            <a:prstDash val="solid"/>
          </a:ln>
        </p:spPr>
      </p:sp>
      <p:sp>
        <p:nvSpPr>
          <p:cNvPr id="135" name="Text 133"/>
          <p:cNvSpPr txBox="1"/>
          <p:nvPr/>
        </p:nvSpPr>
        <p:spPr>
          <a:xfrm>
            <a:off x="908913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Executive Sponsor</a:t>
            </a:r>
            <a:endParaRPr lang="en-US" sz="660" dirty="0"/>
          </a:p>
        </p:txBody>
      </p:sp>
      <p:sp>
        <p:nvSpPr>
          <p:cNvPr id="136" name="Shape 134"/>
          <p:cNvSpPr/>
          <p:nvPr/>
        </p:nvSpPr>
        <p:spPr>
          <a:xfrm>
            <a:off x="10332720" y="6149340"/>
            <a:ext cx="118872" cy="118872"/>
          </a:xfrm>
          <a:prstGeom prst="rect">
            <a:avLst/>
          </a:prstGeom>
          <a:solidFill>
            <a:srgbClr val="7C8798"/>
          </a:solidFill>
          <a:ln w="12700">
            <a:solidFill>
              <a:srgbClr val="7C8798"/>
            </a:solidFill>
            <a:prstDash val="solid"/>
          </a:ln>
        </p:spPr>
      </p:sp>
      <p:sp>
        <p:nvSpPr>
          <p:cNvPr id="137" name="Text 135"/>
          <p:cNvSpPr txBox="1"/>
          <p:nvPr/>
        </p:nvSpPr>
        <p:spPr>
          <a:xfrm>
            <a:off x="1050645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Platform Support &amp; BAU</a:t>
            </a:r>
            <a:endParaRPr lang="en-US" sz="6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Commissioned Cell — how support works differently</a:t>
            </a:r>
            <a:endParaRPr lang="en-US" sz="2400" dirty="0"/>
          </a:p>
        </p:txBody>
      </p:sp>
      <p:sp>
        <p:nvSpPr>
          <p:cNvPr id="3" name="Text 1"/>
          <p:cNvSpPr txBox="1"/>
          <p:nvPr/>
        </p:nvSpPr>
        <p:spPr>
          <a:xfrm>
            <a:off x="411480"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Attention is already allocated, so a ticket is not how the partner gets help. JIRA carries what must be auditable and what must reach outside the cell</a:t>
            </a:r>
            <a:endParaRPr lang="en-US" sz="1050" dirty="0"/>
          </a:p>
        </p:txBody>
      </p:sp>
      <p:sp>
        <p:nvSpPr>
          <p:cNvPr id="4" name="Text 2"/>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Target state · Commissioned support</a:t>
            </a:r>
            <a:endParaRPr lang="en-US" sz="950" dirty="0"/>
          </a:p>
        </p:txBody>
      </p:sp>
      <p:sp>
        <p:nvSpPr>
          <p:cNvPr id="5" name="Shape 3"/>
          <p:cNvSpPr/>
          <p:nvPr/>
        </p:nvSpPr>
        <p:spPr>
          <a:xfrm>
            <a:off x="411480" y="932688"/>
            <a:ext cx="11338560" cy="0"/>
          </a:xfrm>
          <a:prstGeom prst="line">
            <a:avLst/>
          </a:prstGeom>
          <a:noFill/>
          <a:ln w="12700">
            <a:solidFill>
              <a:srgbClr val="D4DAE2"/>
            </a:solidFill>
            <a:prstDash val="solid"/>
          </a:ln>
        </p:spPr>
      </p:sp>
      <p:sp>
        <p:nvSpPr>
          <p:cNvPr id="6" name="Shape 4"/>
          <p:cNvSpPr/>
          <p:nvPr/>
        </p:nvSpPr>
        <p:spPr>
          <a:xfrm>
            <a:off x="411480" y="1024128"/>
            <a:ext cx="3657600" cy="768096"/>
          </a:xfrm>
          <a:prstGeom prst="roundRect">
            <a:avLst>
              <a:gd name="adj" fmla="val 5952"/>
            </a:avLst>
          </a:prstGeom>
          <a:solidFill>
            <a:srgbClr val="FFFFFF"/>
          </a:solidFill>
          <a:ln w="15875">
            <a:solidFill>
              <a:srgbClr val="2E5A7D"/>
            </a:solidFill>
            <a:prstDash val="solid"/>
          </a:ln>
          <a:effectLst>
            <a:outerShdw sx="100000" sy="100000" kx="0" ky="0" algn="bl" rotWithShape="0" blurRad="88900" dist="12700" dir="5400000">
              <a:srgbClr val="97A3B4">
                <a:alpha val="16000"/>
              </a:srgbClr>
            </a:outerShdw>
          </a:effectLst>
        </p:spPr>
      </p:sp>
      <p:sp>
        <p:nvSpPr>
          <p:cNvPr id="7" name="Shape 5"/>
          <p:cNvSpPr/>
          <p:nvPr/>
        </p:nvSpPr>
        <p:spPr>
          <a:xfrm>
            <a:off x="411480" y="1024128"/>
            <a:ext cx="3657600" cy="292608"/>
          </a:xfrm>
          <a:prstGeom prst="rect">
            <a:avLst/>
          </a:prstGeom>
          <a:solidFill>
            <a:srgbClr val="2E5A7D"/>
          </a:solidFill>
          <a:ln w="12700">
            <a:solidFill>
              <a:srgbClr val="2E5A7D"/>
            </a:solidFill>
            <a:prstDash val="solid"/>
          </a:ln>
        </p:spPr>
      </p:sp>
      <p:sp>
        <p:nvSpPr>
          <p:cNvPr id="8" name="Text 6"/>
          <p:cNvSpPr txBox="1"/>
          <p:nvPr/>
        </p:nvSpPr>
        <p:spPr>
          <a:xfrm>
            <a:off x="52120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The allocated cell</a:t>
            </a:r>
            <a:endParaRPr lang="en-US" sz="860" dirty="0"/>
          </a:p>
        </p:txBody>
      </p:sp>
      <p:sp>
        <p:nvSpPr>
          <p:cNvPr id="9" name="Text 7"/>
          <p:cNvSpPr txBox="1"/>
          <p:nvPr/>
        </p:nvSpPr>
        <p:spPr>
          <a:xfrm>
            <a:off x="291693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PRIMARY CHANNEL</a:t>
            </a:r>
            <a:endParaRPr lang="en-US" sz="660" dirty="0"/>
          </a:p>
        </p:txBody>
      </p:sp>
      <p:sp>
        <p:nvSpPr>
          <p:cNvPr id="10" name="Text 8"/>
          <p:cNvSpPr txBox="1"/>
          <p:nvPr/>
        </p:nvSpPr>
        <p:spPr>
          <a:xfrm>
            <a:off x="52120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Inception to release, with an agreed cadence and named contacts. Day-to-day questions go direct — a ticket would add latency to a conversation that takes minutes.</a:t>
            </a:r>
            <a:endParaRPr lang="en-US" sz="720" dirty="0"/>
          </a:p>
        </p:txBody>
      </p:sp>
      <p:sp>
        <p:nvSpPr>
          <p:cNvPr id="11" name="Shape 9"/>
          <p:cNvSpPr/>
          <p:nvPr/>
        </p:nvSpPr>
        <p:spPr>
          <a:xfrm>
            <a:off x="4251960" y="1024128"/>
            <a:ext cx="3657600" cy="768096"/>
          </a:xfrm>
          <a:prstGeom prst="roundRect">
            <a:avLst>
              <a:gd name="adj" fmla="val 5952"/>
            </a:avLst>
          </a:prstGeom>
          <a:solidFill>
            <a:srgbClr val="FFFFFF"/>
          </a:solidFill>
          <a:ln w="15875">
            <a:solidFill>
              <a:srgbClr val="2E6B4F"/>
            </a:solidFill>
            <a:prstDash val="solid"/>
          </a:ln>
          <a:effectLst>
            <a:outerShdw sx="100000" sy="100000" kx="0" ky="0" algn="bl" rotWithShape="0" blurRad="88900" dist="12700" dir="5400000">
              <a:srgbClr val="97A3B4">
                <a:alpha val="16000"/>
              </a:srgbClr>
            </a:outerShdw>
          </a:effectLst>
        </p:spPr>
      </p:sp>
      <p:sp>
        <p:nvSpPr>
          <p:cNvPr id="12" name="Shape 10"/>
          <p:cNvSpPr/>
          <p:nvPr/>
        </p:nvSpPr>
        <p:spPr>
          <a:xfrm>
            <a:off x="4251960" y="1024128"/>
            <a:ext cx="3657600" cy="292608"/>
          </a:xfrm>
          <a:prstGeom prst="rect">
            <a:avLst/>
          </a:prstGeom>
          <a:solidFill>
            <a:srgbClr val="2E6B4F"/>
          </a:solidFill>
          <a:ln w="12700">
            <a:solidFill>
              <a:srgbClr val="2E6B4F"/>
            </a:solidFill>
            <a:prstDash val="solid"/>
          </a:ln>
        </p:spPr>
      </p:sp>
      <p:sp>
        <p:nvSpPr>
          <p:cNvPr id="13" name="Text 11"/>
          <p:cNvSpPr txBox="1"/>
          <p:nvPr/>
        </p:nvSpPr>
        <p:spPr>
          <a:xfrm>
            <a:off x="436168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Joint delivery plan</a:t>
            </a:r>
            <a:endParaRPr lang="en-US" sz="860" dirty="0"/>
          </a:p>
        </p:txBody>
      </p:sp>
      <p:sp>
        <p:nvSpPr>
          <p:cNvPr id="14" name="Text 12"/>
          <p:cNvSpPr txBox="1"/>
          <p:nvPr/>
        </p:nvSpPr>
        <p:spPr>
          <a:xfrm>
            <a:off x="675741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STANDING AGREEMENT</a:t>
            </a:r>
            <a:endParaRPr lang="en-US" sz="660" dirty="0"/>
          </a:p>
        </p:txBody>
      </p:sp>
      <p:sp>
        <p:nvSpPr>
          <p:cNvPr id="15" name="Text 13"/>
          <p:cNvSpPr txBox="1"/>
          <p:nvPr/>
        </p:nvSpPr>
        <p:spPr>
          <a:xfrm>
            <a:off x="436168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Scope, sequence, milestones and the partner's own commitments, agreed at commissioning and reviewed at the agreed cadence rather than on request.</a:t>
            </a:r>
            <a:endParaRPr lang="en-US" sz="720" dirty="0"/>
          </a:p>
        </p:txBody>
      </p:sp>
      <p:sp>
        <p:nvSpPr>
          <p:cNvPr id="16" name="Shape 14"/>
          <p:cNvSpPr/>
          <p:nvPr/>
        </p:nvSpPr>
        <p:spPr>
          <a:xfrm>
            <a:off x="8092440" y="1024128"/>
            <a:ext cx="3657600" cy="768096"/>
          </a:xfrm>
          <a:prstGeom prst="roundRect">
            <a:avLst>
              <a:gd name="adj" fmla="val 5952"/>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17" name="Shape 15"/>
          <p:cNvSpPr/>
          <p:nvPr/>
        </p:nvSpPr>
        <p:spPr>
          <a:xfrm>
            <a:off x="8092440" y="1024128"/>
            <a:ext cx="3657600" cy="292608"/>
          </a:xfrm>
          <a:prstGeom prst="rect">
            <a:avLst/>
          </a:prstGeom>
          <a:solidFill>
            <a:srgbClr val="15304F"/>
          </a:solidFill>
          <a:ln w="12700">
            <a:solidFill>
              <a:srgbClr val="15304F"/>
            </a:solidFill>
            <a:prstDash val="solid"/>
          </a:ln>
        </p:spPr>
      </p:sp>
      <p:sp>
        <p:nvSpPr>
          <p:cNvPr id="18" name="Text 16"/>
          <p:cNvSpPr txBox="1"/>
          <p:nvPr/>
        </p:nvSpPr>
        <p:spPr>
          <a:xfrm>
            <a:off x="8202168" y="1024128"/>
            <a:ext cx="2468880" cy="292608"/>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JIRA — record and route</a:t>
            </a:r>
            <a:endParaRPr lang="en-US" sz="860" dirty="0"/>
          </a:p>
        </p:txBody>
      </p:sp>
      <p:sp>
        <p:nvSpPr>
          <p:cNvPr id="19" name="Text 17"/>
          <p:cNvSpPr txBox="1"/>
          <p:nvPr/>
        </p:nvSpPr>
        <p:spPr>
          <a:xfrm>
            <a:off x="10597896" y="1024128"/>
            <a:ext cx="1042416" cy="292608"/>
          </a:xfrm>
          <a:prstGeom prst="rect">
            <a:avLst/>
          </a:prstGeom>
          <a:noFill/>
          <a:ln/>
        </p:spPr>
        <p:txBody>
          <a:bodyPr wrap="square" lIns="0" tIns="0" rIns="0" bIns="0" rtlCol="0" anchor="ctr"/>
          <a:lstStyle/>
          <a:p>
            <a:pPr algn="r" indent="0" marL="0">
              <a:buNone/>
            </a:pPr>
            <a:r>
              <a:rPr lang="en-US" sz="660" b="1" dirty="0">
                <a:solidFill>
                  <a:srgbClr val="FFFFFF"/>
                </a:solidFill>
                <a:latin typeface="Calibri" pitchFamily="34" charset="0"/>
                <a:ea typeface="Calibri" pitchFamily="34" charset="-122"/>
                <a:cs typeface="Calibri" pitchFamily="34" charset="-120"/>
              </a:rPr>
              <a:t>AUDIT &amp; ROUTING</a:t>
            </a:r>
            <a:endParaRPr lang="en-US" sz="660" dirty="0"/>
          </a:p>
        </p:txBody>
      </p:sp>
      <p:sp>
        <p:nvSpPr>
          <p:cNvPr id="20" name="Text 18"/>
          <p:cNvSpPr txBox="1"/>
          <p:nvPr/>
        </p:nvSpPr>
        <p:spPr>
          <a:xfrm>
            <a:off x="8202168" y="1371600"/>
            <a:ext cx="3438144" cy="347472"/>
          </a:xfrm>
          <a:prstGeom prst="rect">
            <a:avLst/>
          </a:prstGeom>
          <a:noFill/>
          <a:ln/>
        </p:spPr>
        <p:txBody>
          <a:bodyPr wrap="square" lIns="0" tIns="0" rIns="0" bIns="0" rtlCol="0" anchor="t"/>
          <a:lstStyle/>
          <a:p>
            <a:pPr indent="0" marL="0">
              <a:lnSpc>
                <a:spcPts val="860"/>
              </a:lnSpc>
              <a:buNone/>
            </a:pPr>
            <a:r>
              <a:rPr lang="en-US" sz="720" dirty="0">
                <a:solidFill>
                  <a:srgbClr val="1B2432"/>
                </a:solidFill>
                <a:latin typeface="Calibri" pitchFamily="34" charset="0"/>
                <a:ea typeface="Calibri" pitchFamily="34" charset="-122"/>
                <a:cs typeface="Calibri" pitchFamily="34" charset="-120"/>
              </a:rPr>
              <a:t>Used where something must be auditable, or must reach a team outside the cell. Deliberately not used to ask the cell a question.</a:t>
            </a:r>
            <a:endParaRPr lang="en-US" sz="720" dirty="0"/>
          </a:p>
        </p:txBody>
      </p:sp>
      <p:sp>
        <p:nvSpPr>
          <p:cNvPr id="21" name="Text 19"/>
          <p:cNvSpPr txBox="1"/>
          <p:nvPr/>
        </p:nvSpPr>
        <p:spPr>
          <a:xfrm>
            <a:off x="411480" y="1901952"/>
            <a:ext cx="6583680" cy="182880"/>
          </a:xfrm>
          <a:prstGeom prst="rect">
            <a:avLst/>
          </a:prstGeom>
          <a:noFill/>
          <a:ln/>
        </p:spPr>
        <p:txBody>
          <a:bodyPr wrap="square" lIns="0" tIns="0" rIns="0" bIns="0" rtlCol="0" anchor="ctr"/>
          <a:lstStyle/>
          <a:p>
            <a:pPr indent="0" marL="0">
              <a:buNone/>
            </a:pPr>
            <a:r>
              <a:rPr lang="en-US" sz="760" b="1" spc="110" kern="0" dirty="0">
                <a:solidFill>
                  <a:srgbClr val="2E5A7D"/>
                </a:solidFill>
                <a:latin typeface="Calibri" pitchFamily="34" charset="0"/>
                <a:ea typeface="Calibri" pitchFamily="34" charset="-122"/>
                <a:cs typeface="Calibri" pitchFamily="34" charset="-120"/>
              </a:rPr>
              <a:t>WHAT IS RAISED AS A TICKET HERE — AND WHO IT REACHES</a:t>
            </a:r>
            <a:endParaRPr lang="en-US" sz="760" dirty="0"/>
          </a:p>
        </p:txBody>
      </p:sp>
      <p:sp>
        <p:nvSpPr>
          <p:cNvPr id="22" name="Text 20"/>
          <p:cNvSpPr txBox="1"/>
          <p:nvPr/>
        </p:nvSpPr>
        <p:spPr>
          <a:xfrm>
            <a:off x="7269480" y="1901952"/>
            <a:ext cx="4389120" cy="182880"/>
          </a:xfrm>
          <a:prstGeom prst="rect">
            <a:avLst/>
          </a:prstGeom>
          <a:noFill/>
          <a:ln/>
        </p:spPr>
        <p:txBody>
          <a:bodyPr wrap="square" lIns="0" tIns="0" rIns="0" bIns="0" rtlCol="0" anchor="ctr"/>
          <a:lstStyle/>
          <a:p>
            <a:pPr indent="0" marL="0">
              <a:buNone/>
            </a:pPr>
            <a:r>
              <a:rPr lang="en-US" sz="760" b="1" spc="110" kern="0" dirty="0">
                <a:solidFill>
                  <a:srgbClr val="2E5A7D"/>
                </a:solidFill>
                <a:latin typeface="Calibri" pitchFamily="34" charset="0"/>
                <a:ea typeface="Calibri" pitchFamily="34" charset="-122"/>
                <a:cs typeface="Calibri" pitchFamily="34" charset="-120"/>
              </a:rPr>
              <a:t>WHAT HAPPENS TO A TICKET</a:t>
            </a:r>
            <a:endParaRPr lang="en-US" sz="760" dirty="0"/>
          </a:p>
        </p:txBody>
      </p:sp>
      <p:sp>
        <p:nvSpPr>
          <p:cNvPr id="23" name="Shape 21"/>
          <p:cNvSpPr/>
          <p:nvPr/>
        </p:nvSpPr>
        <p:spPr>
          <a:xfrm>
            <a:off x="411480" y="2103120"/>
            <a:ext cx="6675120" cy="237744"/>
          </a:xfrm>
          <a:prstGeom prst="rect">
            <a:avLst/>
          </a:prstGeom>
          <a:solidFill>
            <a:srgbClr val="15304F"/>
          </a:solidFill>
          <a:ln w="12700">
            <a:solidFill>
              <a:srgbClr val="15304F"/>
            </a:solidFill>
            <a:prstDash val="solid"/>
          </a:ln>
        </p:spPr>
      </p:sp>
      <p:sp>
        <p:nvSpPr>
          <p:cNvPr id="24" name="Text 22"/>
          <p:cNvSpPr txBox="1"/>
          <p:nvPr/>
        </p:nvSpPr>
        <p:spPr>
          <a:xfrm>
            <a:off x="484632" y="2103120"/>
            <a:ext cx="1298448"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Request type</a:t>
            </a:r>
            <a:endParaRPr lang="en-US" sz="720" dirty="0"/>
          </a:p>
        </p:txBody>
      </p:sp>
      <p:sp>
        <p:nvSpPr>
          <p:cNvPr id="25" name="Text 23"/>
          <p:cNvSpPr txBox="1"/>
          <p:nvPr/>
        </p:nvSpPr>
        <p:spPr>
          <a:xfrm>
            <a:off x="1929384" y="2103120"/>
            <a:ext cx="2523744"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Raised for</a:t>
            </a:r>
            <a:endParaRPr lang="en-US" sz="720" dirty="0"/>
          </a:p>
        </p:txBody>
      </p:sp>
      <p:sp>
        <p:nvSpPr>
          <p:cNvPr id="26" name="Text 24"/>
          <p:cNvSpPr txBox="1"/>
          <p:nvPr/>
        </p:nvSpPr>
        <p:spPr>
          <a:xfrm>
            <a:off x="4599432" y="2103120"/>
            <a:ext cx="1316736"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Routed to</a:t>
            </a:r>
            <a:endParaRPr lang="en-US" sz="720" dirty="0"/>
          </a:p>
        </p:txBody>
      </p:sp>
      <p:sp>
        <p:nvSpPr>
          <p:cNvPr id="27" name="Text 25"/>
          <p:cNvSpPr txBox="1"/>
          <p:nvPr/>
        </p:nvSpPr>
        <p:spPr>
          <a:xfrm>
            <a:off x="6062472" y="2103120"/>
            <a:ext cx="950976" cy="237744"/>
          </a:xfrm>
          <a:prstGeom prst="rect">
            <a:avLst/>
          </a:prstGeom>
          <a:noFill/>
          <a:ln/>
        </p:spPr>
        <p:txBody>
          <a:bodyPr wrap="square" lIns="0" tIns="0" rIns="0" bIns="0" rtlCol="0" anchor="ctr"/>
          <a:lstStyle/>
          <a:p>
            <a:pPr indent="0" marL="0">
              <a:buNone/>
            </a:pPr>
            <a:r>
              <a:rPr lang="en-US" sz="720" b="1" dirty="0">
                <a:solidFill>
                  <a:srgbClr val="FFFFFF"/>
                </a:solidFill>
                <a:latin typeface="Calibri" pitchFamily="34" charset="0"/>
                <a:ea typeface="Calibri" pitchFamily="34" charset="-122"/>
                <a:cs typeface="Calibri" pitchFamily="34" charset="-120"/>
              </a:rPr>
              <a:t>Response</a:t>
            </a:r>
            <a:endParaRPr lang="en-US" sz="720" dirty="0"/>
          </a:p>
        </p:txBody>
      </p:sp>
      <p:sp>
        <p:nvSpPr>
          <p:cNvPr id="28" name="Shape 26"/>
          <p:cNvSpPr/>
          <p:nvPr/>
        </p:nvSpPr>
        <p:spPr>
          <a:xfrm>
            <a:off x="411480" y="2340864"/>
            <a:ext cx="6675120" cy="274320"/>
          </a:xfrm>
          <a:prstGeom prst="rect">
            <a:avLst/>
          </a:prstGeom>
          <a:solidFill>
            <a:srgbClr val="F4F7FA"/>
          </a:solidFill>
          <a:ln w="6350">
            <a:solidFill>
              <a:srgbClr val="D4DAE2"/>
            </a:solidFill>
            <a:prstDash val="solid"/>
          </a:ln>
        </p:spPr>
      </p:sp>
      <p:sp>
        <p:nvSpPr>
          <p:cNvPr id="29" name="Shape 27"/>
          <p:cNvSpPr/>
          <p:nvPr/>
        </p:nvSpPr>
        <p:spPr>
          <a:xfrm>
            <a:off x="411480" y="2340864"/>
            <a:ext cx="45720" cy="274320"/>
          </a:xfrm>
          <a:prstGeom prst="rect">
            <a:avLst/>
          </a:prstGeom>
          <a:solidFill>
            <a:srgbClr val="5B4A72"/>
          </a:solidFill>
          <a:ln w="12700">
            <a:solidFill>
              <a:srgbClr val="5B4A72"/>
            </a:solidFill>
            <a:prstDash val="solid"/>
          </a:ln>
        </p:spPr>
      </p:sp>
      <p:sp>
        <p:nvSpPr>
          <p:cNvPr id="30" name="Text 28"/>
          <p:cNvSpPr txBox="1"/>
          <p:nvPr/>
        </p:nvSpPr>
        <p:spPr>
          <a:xfrm>
            <a:off x="530352" y="234086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5B4A72"/>
                </a:solidFill>
                <a:latin typeface="Calibri" pitchFamily="34" charset="0"/>
                <a:ea typeface="Calibri" pitchFamily="34" charset="-122"/>
                <a:cs typeface="Calibri" pitchFamily="34" charset="-120"/>
              </a:rPr>
              <a:t>SANCTION</a:t>
            </a:r>
            <a:endParaRPr lang="en-US" sz="690" dirty="0"/>
          </a:p>
        </p:txBody>
      </p:sp>
      <p:sp>
        <p:nvSpPr>
          <p:cNvPr id="31" name="Text 29"/>
          <p:cNvSpPr txBox="1"/>
          <p:nvPr/>
        </p:nvSpPr>
        <p:spPr>
          <a:xfrm>
            <a:off x="1929384" y="234086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The commissioning decision and the justification for it</a:t>
            </a:r>
            <a:endParaRPr lang="en-US" sz="700" dirty="0"/>
          </a:p>
        </p:txBody>
      </p:sp>
      <p:sp>
        <p:nvSpPr>
          <p:cNvPr id="32" name="Text 30"/>
          <p:cNvSpPr txBox="1"/>
          <p:nvPr/>
        </p:nvSpPr>
        <p:spPr>
          <a:xfrm>
            <a:off x="4599432" y="234086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Executive Sponsor</a:t>
            </a:r>
            <a:endParaRPr lang="en-US" sz="700" dirty="0"/>
          </a:p>
        </p:txBody>
      </p:sp>
      <p:sp>
        <p:nvSpPr>
          <p:cNvPr id="33" name="Text 31"/>
          <p:cNvSpPr txBox="1"/>
          <p:nvPr/>
        </p:nvSpPr>
        <p:spPr>
          <a:xfrm>
            <a:off x="6062472" y="234086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Recorded; quarterly review</a:t>
            </a:r>
            <a:endParaRPr lang="en-US" sz="700" dirty="0"/>
          </a:p>
        </p:txBody>
      </p:sp>
      <p:sp>
        <p:nvSpPr>
          <p:cNvPr id="34" name="Shape 32"/>
          <p:cNvSpPr/>
          <p:nvPr/>
        </p:nvSpPr>
        <p:spPr>
          <a:xfrm>
            <a:off x="411480" y="2615184"/>
            <a:ext cx="6675120" cy="274320"/>
          </a:xfrm>
          <a:prstGeom prst="rect">
            <a:avLst/>
          </a:prstGeom>
          <a:solidFill>
            <a:srgbClr val="FFFFFF"/>
          </a:solidFill>
          <a:ln w="6350">
            <a:solidFill>
              <a:srgbClr val="D4DAE2"/>
            </a:solidFill>
            <a:prstDash val="solid"/>
          </a:ln>
        </p:spPr>
      </p:sp>
      <p:sp>
        <p:nvSpPr>
          <p:cNvPr id="35" name="Shape 33"/>
          <p:cNvSpPr/>
          <p:nvPr/>
        </p:nvSpPr>
        <p:spPr>
          <a:xfrm>
            <a:off x="411480" y="2615184"/>
            <a:ext cx="45720" cy="274320"/>
          </a:xfrm>
          <a:prstGeom prst="rect">
            <a:avLst/>
          </a:prstGeom>
          <a:solidFill>
            <a:srgbClr val="A44A2A"/>
          </a:solidFill>
          <a:ln w="12700">
            <a:solidFill>
              <a:srgbClr val="A44A2A"/>
            </a:solidFill>
            <a:prstDash val="solid"/>
          </a:ln>
        </p:spPr>
      </p:sp>
      <p:sp>
        <p:nvSpPr>
          <p:cNvPr id="36" name="Text 34"/>
          <p:cNvSpPr txBox="1"/>
          <p:nvPr/>
        </p:nvSpPr>
        <p:spPr>
          <a:xfrm>
            <a:off x="530352" y="261518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A44A2A"/>
                </a:solidFill>
                <a:latin typeface="Calibri" pitchFamily="34" charset="0"/>
                <a:ea typeface="Calibri" pitchFamily="34" charset="-122"/>
                <a:cs typeface="Calibri" pitchFamily="34" charset="-120"/>
              </a:rPr>
              <a:t>DETERMINE-CLASS</a:t>
            </a:r>
            <a:endParaRPr lang="en-US" sz="690" dirty="0"/>
          </a:p>
        </p:txBody>
      </p:sp>
      <p:sp>
        <p:nvSpPr>
          <p:cNvPr id="37" name="Text 35"/>
          <p:cNvSpPr txBox="1"/>
          <p:nvPr/>
        </p:nvSpPr>
        <p:spPr>
          <a:xfrm>
            <a:off x="1929384" y="261518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Trust posture, taxonomy allocation, DKE change and training</a:t>
            </a:r>
            <a:endParaRPr lang="en-US" sz="700" dirty="0"/>
          </a:p>
        </p:txBody>
      </p:sp>
      <p:sp>
        <p:nvSpPr>
          <p:cNvPr id="38" name="Text 36"/>
          <p:cNvSpPr txBox="1"/>
          <p:nvPr/>
        </p:nvSpPr>
        <p:spPr>
          <a:xfrm>
            <a:off x="4599432" y="261518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Imaging Governance</a:t>
            </a:r>
            <a:endParaRPr lang="en-US" sz="700" dirty="0"/>
          </a:p>
        </p:txBody>
      </p:sp>
      <p:sp>
        <p:nvSpPr>
          <p:cNvPr id="39" name="Text 37"/>
          <p:cNvSpPr txBox="1"/>
          <p:nvPr/>
        </p:nvSpPr>
        <p:spPr>
          <a:xfrm>
            <a:off x="6062472" y="261518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Governance cadence</a:t>
            </a:r>
            <a:endParaRPr lang="en-US" sz="700" dirty="0"/>
          </a:p>
        </p:txBody>
      </p:sp>
      <p:sp>
        <p:nvSpPr>
          <p:cNvPr id="40" name="Shape 38"/>
          <p:cNvSpPr/>
          <p:nvPr/>
        </p:nvSpPr>
        <p:spPr>
          <a:xfrm>
            <a:off x="411480" y="2889504"/>
            <a:ext cx="6675120" cy="274320"/>
          </a:xfrm>
          <a:prstGeom prst="rect">
            <a:avLst/>
          </a:prstGeom>
          <a:solidFill>
            <a:srgbClr val="F4F7FA"/>
          </a:solidFill>
          <a:ln w="6350">
            <a:solidFill>
              <a:srgbClr val="D4DAE2"/>
            </a:solidFill>
            <a:prstDash val="solid"/>
          </a:ln>
        </p:spPr>
      </p:sp>
      <p:sp>
        <p:nvSpPr>
          <p:cNvPr id="41" name="Shape 39"/>
          <p:cNvSpPr/>
          <p:nvPr/>
        </p:nvSpPr>
        <p:spPr>
          <a:xfrm>
            <a:off x="411480" y="2889504"/>
            <a:ext cx="45720" cy="274320"/>
          </a:xfrm>
          <a:prstGeom prst="rect">
            <a:avLst/>
          </a:prstGeom>
          <a:solidFill>
            <a:srgbClr val="9A6410"/>
          </a:solidFill>
          <a:ln w="12700">
            <a:solidFill>
              <a:srgbClr val="9A6410"/>
            </a:solidFill>
            <a:prstDash val="solid"/>
          </a:ln>
        </p:spPr>
      </p:sp>
      <p:sp>
        <p:nvSpPr>
          <p:cNvPr id="42" name="Text 40"/>
          <p:cNvSpPr txBox="1"/>
          <p:nvPr/>
        </p:nvSpPr>
        <p:spPr>
          <a:xfrm>
            <a:off x="530352" y="288950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APPROVE-RM</a:t>
            </a:r>
            <a:endParaRPr lang="en-US" sz="690" dirty="0"/>
          </a:p>
        </p:txBody>
      </p:sp>
      <p:sp>
        <p:nvSpPr>
          <p:cNvPr id="43" name="Text 41"/>
          <p:cNvSpPr txBox="1"/>
          <p:nvPr/>
        </p:nvSpPr>
        <p:spPr>
          <a:xfrm>
            <a:off x="1929384" y="288950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New retention schedule, disposition, WORM and INV160</a:t>
            </a:r>
            <a:endParaRPr lang="en-US" sz="700" dirty="0"/>
          </a:p>
        </p:txBody>
      </p:sp>
      <p:sp>
        <p:nvSpPr>
          <p:cNvPr id="44" name="Text 42"/>
          <p:cNvSpPr txBox="1"/>
          <p:nvPr/>
        </p:nvSpPr>
        <p:spPr>
          <a:xfrm>
            <a:off x="4599432" y="288950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Records Management</a:t>
            </a:r>
            <a:endParaRPr lang="en-US" sz="700" dirty="0"/>
          </a:p>
        </p:txBody>
      </p:sp>
      <p:sp>
        <p:nvSpPr>
          <p:cNvPr id="45" name="Text 43"/>
          <p:cNvSpPr txBox="1"/>
          <p:nvPr/>
        </p:nvSpPr>
        <p:spPr>
          <a:xfrm>
            <a:off x="6062472" y="288950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RM cadence</a:t>
            </a:r>
            <a:endParaRPr lang="en-US" sz="700" dirty="0"/>
          </a:p>
        </p:txBody>
      </p:sp>
      <p:sp>
        <p:nvSpPr>
          <p:cNvPr id="46" name="Shape 44"/>
          <p:cNvSpPr/>
          <p:nvPr/>
        </p:nvSpPr>
        <p:spPr>
          <a:xfrm>
            <a:off x="411480" y="3163824"/>
            <a:ext cx="6675120" cy="274320"/>
          </a:xfrm>
          <a:prstGeom prst="rect">
            <a:avLst/>
          </a:prstGeom>
          <a:solidFill>
            <a:srgbClr val="FFFFFF"/>
          </a:solidFill>
          <a:ln w="6350">
            <a:solidFill>
              <a:srgbClr val="D4DAE2"/>
            </a:solidFill>
            <a:prstDash val="solid"/>
          </a:ln>
        </p:spPr>
      </p:sp>
      <p:sp>
        <p:nvSpPr>
          <p:cNvPr id="47" name="Shape 45"/>
          <p:cNvSpPr/>
          <p:nvPr/>
        </p:nvSpPr>
        <p:spPr>
          <a:xfrm>
            <a:off x="411480" y="3163824"/>
            <a:ext cx="45720" cy="274320"/>
          </a:xfrm>
          <a:prstGeom prst="rect">
            <a:avLst/>
          </a:prstGeom>
          <a:solidFill>
            <a:srgbClr val="9A6410"/>
          </a:solidFill>
          <a:ln w="12700">
            <a:solidFill>
              <a:srgbClr val="9A6410"/>
            </a:solidFill>
            <a:prstDash val="solid"/>
          </a:ln>
        </p:spPr>
      </p:sp>
      <p:sp>
        <p:nvSpPr>
          <p:cNvPr id="48" name="Text 46"/>
          <p:cNvSpPr txBox="1"/>
          <p:nvPr/>
        </p:nvSpPr>
        <p:spPr>
          <a:xfrm>
            <a:off x="530352" y="316382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REVIEW-SEC</a:t>
            </a:r>
            <a:endParaRPr lang="en-US" sz="690" dirty="0"/>
          </a:p>
        </p:txBody>
      </p:sp>
      <p:sp>
        <p:nvSpPr>
          <p:cNvPr id="49" name="Text 47"/>
          <p:cNvSpPr txBox="1"/>
          <p:nvPr/>
        </p:nvSpPr>
        <p:spPr>
          <a:xfrm>
            <a:off x="1929384" y="316382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Entitlement model, access routing and zone controls</a:t>
            </a:r>
            <a:endParaRPr lang="en-US" sz="700" dirty="0"/>
          </a:p>
        </p:txBody>
      </p:sp>
      <p:sp>
        <p:nvSpPr>
          <p:cNvPr id="50" name="Text 48"/>
          <p:cNvSpPr txBox="1"/>
          <p:nvPr/>
        </p:nvSpPr>
        <p:spPr>
          <a:xfrm>
            <a:off x="4599432" y="316382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Security Review</a:t>
            </a:r>
            <a:endParaRPr lang="en-US" sz="700" dirty="0"/>
          </a:p>
        </p:txBody>
      </p:sp>
      <p:sp>
        <p:nvSpPr>
          <p:cNvPr id="51" name="Text 49"/>
          <p:cNvSpPr txBox="1"/>
          <p:nvPr/>
        </p:nvSpPr>
        <p:spPr>
          <a:xfrm>
            <a:off x="6062472" y="316382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Security cadence</a:t>
            </a:r>
            <a:endParaRPr lang="en-US" sz="700" dirty="0"/>
          </a:p>
        </p:txBody>
      </p:sp>
      <p:sp>
        <p:nvSpPr>
          <p:cNvPr id="52" name="Shape 50"/>
          <p:cNvSpPr/>
          <p:nvPr/>
        </p:nvSpPr>
        <p:spPr>
          <a:xfrm>
            <a:off x="411480" y="3438144"/>
            <a:ext cx="6675120" cy="274320"/>
          </a:xfrm>
          <a:prstGeom prst="rect">
            <a:avLst/>
          </a:prstGeom>
          <a:solidFill>
            <a:srgbClr val="F4F7FA"/>
          </a:solidFill>
          <a:ln w="6350">
            <a:solidFill>
              <a:srgbClr val="D4DAE2"/>
            </a:solidFill>
            <a:prstDash val="solid"/>
          </a:ln>
        </p:spPr>
      </p:sp>
      <p:sp>
        <p:nvSpPr>
          <p:cNvPr id="53" name="Shape 51"/>
          <p:cNvSpPr/>
          <p:nvPr/>
        </p:nvSpPr>
        <p:spPr>
          <a:xfrm>
            <a:off x="411480" y="3438144"/>
            <a:ext cx="45720" cy="274320"/>
          </a:xfrm>
          <a:prstGeom prst="rect">
            <a:avLst/>
          </a:prstGeom>
          <a:solidFill>
            <a:srgbClr val="9A6410"/>
          </a:solidFill>
          <a:ln w="12700">
            <a:solidFill>
              <a:srgbClr val="9A6410"/>
            </a:solidFill>
            <a:prstDash val="solid"/>
          </a:ln>
        </p:spPr>
      </p:sp>
      <p:sp>
        <p:nvSpPr>
          <p:cNvPr id="54" name="Text 52"/>
          <p:cNvSpPr txBox="1"/>
          <p:nvPr/>
        </p:nvSpPr>
        <p:spPr>
          <a:xfrm>
            <a:off x="530352" y="343814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PROVISION</a:t>
            </a:r>
            <a:endParaRPr lang="en-US" sz="690" dirty="0"/>
          </a:p>
        </p:txBody>
      </p:sp>
      <p:sp>
        <p:nvSpPr>
          <p:cNvPr id="55" name="Text 53"/>
          <p:cNvSpPr txBox="1"/>
          <p:nvPr/>
        </p:nvSpPr>
        <p:spPr>
          <a:xfrm>
            <a:off x="1929384" y="343814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Apigee, KEES and DCT against the signed design</a:t>
            </a:r>
            <a:endParaRPr lang="en-US" sz="700" dirty="0"/>
          </a:p>
        </p:txBody>
      </p:sp>
      <p:sp>
        <p:nvSpPr>
          <p:cNvPr id="56" name="Text 54"/>
          <p:cNvSpPr txBox="1"/>
          <p:nvPr/>
        </p:nvSpPr>
        <p:spPr>
          <a:xfrm>
            <a:off x="4599432" y="343814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Platform Engineering</a:t>
            </a:r>
            <a:endParaRPr lang="en-US" sz="700" dirty="0"/>
          </a:p>
        </p:txBody>
      </p:sp>
      <p:sp>
        <p:nvSpPr>
          <p:cNvPr id="57" name="Text 55"/>
          <p:cNvSpPr txBox="1"/>
          <p:nvPr/>
        </p:nvSpPr>
        <p:spPr>
          <a:xfrm>
            <a:off x="6062472" y="343814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Platform SLA</a:t>
            </a:r>
            <a:endParaRPr lang="en-US" sz="700" dirty="0"/>
          </a:p>
        </p:txBody>
      </p:sp>
      <p:sp>
        <p:nvSpPr>
          <p:cNvPr id="58" name="Shape 56"/>
          <p:cNvSpPr/>
          <p:nvPr/>
        </p:nvSpPr>
        <p:spPr>
          <a:xfrm>
            <a:off x="411480" y="3712464"/>
            <a:ext cx="6675120" cy="274320"/>
          </a:xfrm>
          <a:prstGeom prst="rect">
            <a:avLst/>
          </a:prstGeom>
          <a:solidFill>
            <a:srgbClr val="FFFFFF"/>
          </a:solidFill>
          <a:ln w="6350">
            <a:solidFill>
              <a:srgbClr val="D4DAE2"/>
            </a:solidFill>
            <a:prstDash val="solid"/>
          </a:ln>
        </p:spPr>
      </p:sp>
      <p:sp>
        <p:nvSpPr>
          <p:cNvPr id="59" name="Shape 57"/>
          <p:cNvSpPr/>
          <p:nvPr/>
        </p:nvSpPr>
        <p:spPr>
          <a:xfrm>
            <a:off x="411480" y="3712464"/>
            <a:ext cx="45720" cy="274320"/>
          </a:xfrm>
          <a:prstGeom prst="rect">
            <a:avLst/>
          </a:prstGeom>
          <a:solidFill>
            <a:srgbClr val="9A6410"/>
          </a:solidFill>
          <a:ln w="12700">
            <a:solidFill>
              <a:srgbClr val="9A6410"/>
            </a:solidFill>
            <a:prstDash val="solid"/>
          </a:ln>
        </p:spPr>
      </p:sp>
      <p:sp>
        <p:nvSpPr>
          <p:cNvPr id="60" name="Text 58"/>
          <p:cNvSpPr txBox="1"/>
          <p:nvPr/>
        </p:nvSpPr>
        <p:spPr>
          <a:xfrm>
            <a:off x="530352" y="371246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9A6410"/>
                </a:solidFill>
                <a:latin typeface="Calibri" pitchFamily="34" charset="0"/>
                <a:ea typeface="Calibri" pitchFamily="34" charset="-122"/>
                <a:cs typeface="Calibri" pitchFamily="34" charset="-120"/>
              </a:rPr>
              <a:t>CERTIFY-VOL</a:t>
            </a:r>
            <a:endParaRPr lang="en-US" sz="690" dirty="0"/>
          </a:p>
        </p:txBody>
      </p:sp>
      <p:sp>
        <p:nvSpPr>
          <p:cNvPr id="61" name="Text 59"/>
          <p:cNvSpPr txBox="1"/>
          <p:nvPr/>
        </p:nvSpPr>
        <p:spPr>
          <a:xfrm>
            <a:off x="1929384" y="371246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Load test execution and volume envelope certification</a:t>
            </a:r>
            <a:endParaRPr lang="en-US" sz="700" dirty="0"/>
          </a:p>
        </p:txBody>
      </p:sp>
      <p:sp>
        <p:nvSpPr>
          <p:cNvPr id="62" name="Text 60"/>
          <p:cNvSpPr txBox="1"/>
          <p:nvPr/>
        </p:nvSpPr>
        <p:spPr>
          <a:xfrm>
            <a:off x="4599432" y="371246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SPLI</a:t>
            </a:r>
            <a:endParaRPr lang="en-US" sz="700" dirty="0"/>
          </a:p>
        </p:txBody>
      </p:sp>
      <p:sp>
        <p:nvSpPr>
          <p:cNvPr id="63" name="Text 61"/>
          <p:cNvSpPr txBox="1"/>
          <p:nvPr/>
        </p:nvSpPr>
        <p:spPr>
          <a:xfrm>
            <a:off x="6062472" y="371246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Scheduled test window</a:t>
            </a:r>
            <a:endParaRPr lang="en-US" sz="700" dirty="0"/>
          </a:p>
        </p:txBody>
      </p:sp>
      <p:sp>
        <p:nvSpPr>
          <p:cNvPr id="64" name="Shape 62"/>
          <p:cNvSpPr/>
          <p:nvPr/>
        </p:nvSpPr>
        <p:spPr>
          <a:xfrm>
            <a:off x="411480" y="3986784"/>
            <a:ext cx="6675120" cy="274320"/>
          </a:xfrm>
          <a:prstGeom prst="rect">
            <a:avLst/>
          </a:prstGeom>
          <a:solidFill>
            <a:srgbClr val="F4F7FA"/>
          </a:solidFill>
          <a:ln w="6350">
            <a:solidFill>
              <a:srgbClr val="D4DAE2"/>
            </a:solidFill>
            <a:prstDash val="solid"/>
          </a:ln>
        </p:spPr>
      </p:sp>
      <p:sp>
        <p:nvSpPr>
          <p:cNvPr id="65" name="Shape 63"/>
          <p:cNvSpPr/>
          <p:nvPr/>
        </p:nvSpPr>
        <p:spPr>
          <a:xfrm>
            <a:off x="411480" y="3986784"/>
            <a:ext cx="45720" cy="274320"/>
          </a:xfrm>
          <a:prstGeom prst="rect">
            <a:avLst/>
          </a:prstGeom>
          <a:solidFill>
            <a:srgbClr val="5E7D96"/>
          </a:solidFill>
          <a:ln w="12700">
            <a:solidFill>
              <a:srgbClr val="5E7D96"/>
            </a:solidFill>
            <a:prstDash val="solid"/>
          </a:ln>
        </p:spPr>
      </p:sp>
      <p:sp>
        <p:nvSpPr>
          <p:cNvPr id="66" name="Text 64"/>
          <p:cNvSpPr txBox="1"/>
          <p:nvPr/>
        </p:nvSpPr>
        <p:spPr>
          <a:xfrm>
            <a:off x="530352" y="398678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5E7D96"/>
                </a:solidFill>
                <a:latin typeface="Calibri" pitchFamily="34" charset="0"/>
                <a:ea typeface="Calibri" pitchFamily="34" charset="-122"/>
                <a:cs typeface="Calibri" pitchFamily="34" charset="-120"/>
              </a:rPr>
              <a:t>CHANGE</a:t>
            </a:r>
            <a:endParaRPr lang="en-US" sz="690" dirty="0"/>
          </a:p>
        </p:txBody>
      </p:sp>
      <p:sp>
        <p:nvSpPr>
          <p:cNvPr id="67" name="Text 65"/>
          <p:cNvSpPr txBox="1"/>
          <p:nvPr/>
        </p:nvSpPr>
        <p:spPr>
          <a:xfrm>
            <a:off x="1929384" y="398678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Scope movement against the baselined design</a:t>
            </a:r>
            <a:endParaRPr lang="en-US" sz="700" dirty="0"/>
          </a:p>
        </p:txBody>
      </p:sp>
      <p:sp>
        <p:nvSpPr>
          <p:cNvPr id="68" name="Text 66"/>
          <p:cNvSpPr txBox="1"/>
          <p:nvPr/>
        </p:nvSpPr>
        <p:spPr>
          <a:xfrm>
            <a:off x="4599432" y="398678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Design Authority</a:t>
            </a:r>
            <a:endParaRPr lang="en-US" sz="700" dirty="0"/>
          </a:p>
        </p:txBody>
      </p:sp>
      <p:sp>
        <p:nvSpPr>
          <p:cNvPr id="69" name="Text 67"/>
          <p:cNvSpPr txBox="1"/>
          <p:nvPr/>
        </p:nvSpPr>
        <p:spPr>
          <a:xfrm>
            <a:off x="6062472" y="398678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Formal change control</a:t>
            </a:r>
            <a:endParaRPr lang="en-US" sz="700" dirty="0"/>
          </a:p>
        </p:txBody>
      </p:sp>
      <p:sp>
        <p:nvSpPr>
          <p:cNvPr id="70" name="Shape 68"/>
          <p:cNvSpPr/>
          <p:nvPr/>
        </p:nvSpPr>
        <p:spPr>
          <a:xfrm>
            <a:off x="411480" y="4261104"/>
            <a:ext cx="6675120" cy="274320"/>
          </a:xfrm>
          <a:prstGeom prst="rect">
            <a:avLst/>
          </a:prstGeom>
          <a:solidFill>
            <a:srgbClr val="FFFFFF"/>
          </a:solidFill>
          <a:ln w="6350">
            <a:solidFill>
              <a:srgbClr val="D4DAE2"/>
            </a:solidFill>
            <a:prstDash val="solid"/>
          </a:ln>
        </p:spPr>
      </p:sp>
      <p:sp>
        <p:nvSpPr>
          <p:cNvPr id="71" name="Shape 69"/>
          <p:cNvSpPr/>
          <p:nvPr/>
        </p:nvSpPr>
        <p:spPr>
          <a:xfrm>
            <a:off x="411480" y="4261104"/>
            <a:ext cx="45720" cy="274320"/>
          </a:xfrm>
          <a:prstGeom prst="rect">
            <a:avLst/>
          </a:prstGeom>
          <a:solidFill>
            <a:srgbClr val="2E5A7D"/>
          </a:solidFill>
          <a:ln w="12700">
            <a:solidFill>
              <a:srgbClr val="2E5A7D"/>
            </a:solidFill>
            <a:prstDash val="solid"/>
          </a:ln>
        </p:spPr>
      </p:sp>
      <p:sp>
        <p:nvSpPr>
          <p:cNvPr id="72" name="Text 70"/>
          <p:cNvSpPr txBox="1"/>
          <p:nvPr/>
        </p:nvSpPr>
        <p:spPr>
          <a:xfrm>
            <a:off x="530352" y="426110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2E5A7D"/>
                </a:solidFill>
                <a:latin typeface="Calibri" pitchFamily="34" charset="0"/>
                <a:ea typeface="Calibri" pitchFamily="34" charset="-122"/>
                <a:cs typeface="Calibri" pitchFamily="34" charset="-120"/>
              </a:rPr>
              <a:t>GATE</a:t>
            </a:r>
            <a:endParaRPr lang="en-US" sz="690" dirty="0"/>
          </a:p>
        </p:txBody>
      </p:sp>
      <p:sp>
        <p:nvSpPr>
          <p:cNvPr id="73" name="Text 71"/>
          <p:cNvSpPr txBox="1"/>
          <p:nvPr/>
        </p:nvSpPr>
        <p:spPr>
          <a:xfrm>
            <a:off x="1929384" y="426110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Evidence submitted for a named checkpoint</a:t>
            </a:r>
            <a:endParaRPr lang="en-US" sz="700" dirty="0"/>
          </a:p>
        </p:txBody>
      </p:sp>
      <p:sp>
        <p:nvSpPr>
          <p:cNvPr id="74" name="Text 72"/>
          <p:cNvSpPr txBox="1"/>
          <p:nvPr/>
        </p:nvSpPr>
        <p:spPr>
          <a:xfrm>
            <a:off x="4599432" y="426110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The gate owner</a:t>
            </a:r>
            <a:endParaRPr lang="en-US" sz="700" dirty="0"/>
          </a:p>
        </p:txBody>
      </p:sp>
      <p:sp>
        <p:nvSpPr>
          <p:cNvPr id="75" name="Text 73"/>
          <p:cNvSpPr txBox="1"/>
          <p:nvPr/>
        </p:nvSpPr>
        <p:spPr>
          <a:xfrm>
            <a:off x="6062472" y="426110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Per gate</a:t>
            </a:r>
            <a:endParaRPr lang="en-US" sz="700" dirty="0"/>
          </a:p>
        </p:txBody>
      </p:sp>
      <p:sp>
        <p:nvSpPr>
          <p:cNvPr id="76" name="Shape 74"/>
          <p:cNvSpPr/>
          <p:nvPr/>
        </p:nvSpPr>
        <p:spPr>
          <a:xfrm>
            <a:off x="411480" y="4535424"/>
            <a:ext cx="6675120" cy="274320"/>
          </a:xfrm>
          <a:prstGeom prst="rect">
            <a:avLst/>
          </a:prstGeom>
          <a:solidFill>
            <a:srgbClr val="F4F7FA"/>
          </a:solidFill>
          <a:ln w="6350">
            <a:solidFill>
              <a:srgbClr val="D4DAE2"/>
            </a:solidFill>
            <a:prstDash val="solid"/>
          </a:ln>
        </p:spPr>
      </p:sp>
      <p:sp>
        <p:nvSpPr>
          <p:cNvPr id="77" name="Shape 75"/>
          <p:cNvSpPr/>
          <p:nvPr/>
        </p:nvSpPr>
        <p:spPr>
          <a:xfrm>
            <a:off x="411480" y="4535424"/>
            <a:ext cx="45720" cy="274320"/>
          </a:xfrm>
          <a:prstGeom prst="rect">
            <a:avLst/>
          </a:prstGeom>
          <a:solidFill>
            <a:srgbClr val="2E5A7D"/>
          </a:solidFill>
          <a:ln w="12700">
            <a:solidFill>
              <a:srgbClr val="2E5A7D"/>
            </a:solidFill>
            <a:prstDash val="solid"/>
          </a:ln>
        </p:spPr>
      </p:sp>
      <p:sp>
        <p:nvSpPr>
          <p:cNvPr id="78" name="Text 76"/>
          <p:cNvSpPr txBox="1"/>
          <p:nvPr/>
        </p:nvSpPr>
        <p:spPr>
          <a:xfrm>
            <a:off x="530352" y="4535424"/>
            <a:ext cx="1252728" cy="274320"/>
          </a:xfrm>
          <a:prstGeom prst="rect">
            <a:avLst/>
          </a:prstGeom>
          <a:noFill/>
          <a:ln/>
        </p:spPr>
        <p:txBody>
          <a:bodyPr wrap="square" lIns="0" tIns="0" rIns="0" bIns="0" rtlCol="0" anchor="ctr"/>
          <a:lstStyle/>
          <a:p>
            <a:pPr indent="0" marL="0">
              <a:lnSpc>
                <a:spcPts val="820"/>
              </a:lnSpc>
              <a:buNone/>
            </a:pPr>
            <a:r>
              <a:rPr lang="en-US" sz="690" b="1" dirty="0">
                <a:solidFill>
                  <a:srgbClr val="2E5A7D"/>
                </a:solidFill>
                <a:latin typeface="Calibri" pitchFamily="34" charset="0"/>
                <a:ea typeface="Calibri" pitchFamily="34" charset="-122"/>
                <a:cs typeface="Calibri" pitchFamily="34" charset="-120"/>
              </a:rPr>
              <a:t>DEFECT</a:t>
            </a:r>
            <a:endParaRPr lang="en-US" sz="690" dirty="0"/>
          </a:p>
        </p:txBody>
      </p:sp>
      <p:sp>
        <p:nvSpPr>
          <p:cNvPr id="79" name="Text 77"/>
          <p:cNvSpPr txBox="1"/>
          <p:nvPr/>
        </p:nvSpPr>
        <p:spPr>
          <a:xfrm>
            <a:off x="1929384" y="4535424"/>
            <a:ext cx="2523744"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Raised during any of the five test cycles</a:t>
            </a:r>
            <a:endParaRPr lang="en-US" sz="700" dirty="0"/>
          </a:p>
        </p:txBody>
      </p:sp>
      <p:sp>
        <p:nvSpPr>
          <p:cNvPr id="80" name="Text 78"/>
          <p:cNvSpPr txBox="1"/>
          <p:nvPr/>
        </p:nvSpPr>
        <p:spPr>
          <a:xfrm>
            <a:off x="4599432" y="4535424"/>
            <a:ext cx="131673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Owning workstream</a:t>
            </a:r>
            <a:endParaRPr lang="en-US" sz="700" dirty="0"/>
          </a:p>
        </p:txBody>
      </p:sp>
      <p:sp>
        <p:nvSpPr>
          <p:cNvPr id="81" name="Text 79"/>
          <p:cNvSpPr txBox="1"/>
          <p:nvPr/>
        </p:nvSpPr>
        <p:spPr>
          <a:xfrm>
            <a:off x="6062472" y="4535424"/>
            <a:ext cx="950976" cy="274320"/>
          </a:xfrm>
          <a:prstGeom prst="rect">
            <a:avLst/>
          </a:prstGeom>
          <a:noFill/>
          <a:ln/>
        </p:spPr>
        <p:txBody>
          <a:bodyPr wrap="square" lIns="0" tIns="0" rIns="0" bIns="0" rtlCol="0" anchor="ctr"/>
          <a:lstStyle/>
          <a:p>
            <a:pPr indent="0" marL="0">
              <a:lnSpc>
                <a:spcPts val="820"/>
              </a:lnSpc>
              <a:buNone/>
            </a:pPr>
            <a:r>
              <a:rPr lang="en-US" sz="700" dirty="0">
                <a:solidFill>
                  <a:srgbClr val="1B2432"/>
                </a:solidFill>
                <a:latin typeface="Calibri" pitchFamily="34" charset="0"/>
                <a:ea typeface="Calibri" pitchFamily="34" charset="-122"/>
                <a:cs typeface="Calibri" pitchFamily="34" charset="-120"/>
              </a:rPr>
              <a:t>Within the sprint</a:t>
            </a:r>
            <a:endParaRPr lang="en-US" sz="700" dirty="0"/>
          </a:p>
        </p:txBody>
      </p:sp>
      <p:sp>
        <p:nvSpPr>
          <p:cNvPr id="82" name="Shape 80"/>
          <p:cNvSpPr/>
          <p:nvPr/>
        </p:nvSpPr>
        <p:spPr>
          <a:xfrm>
            <a:off x="7269480" y="2103120"/>
            <a:ext cx="4480560" cy="402336"/>
          </a:xfrm>
          <a:prstGeom prst="roundRect">
            <a:avLst>
              <a:gd name="adj" fmla="val 9091"/>
            </a:avLst>
          </a:prstGeom>
          <a:solidFill>
            <a:srgbClr val="FFFFFF"/>
          </a:solidFill>
          <a:ln w="14605">
            <a:solidFill>
              <a:srgbClr val="2E5A7D"/>
            </a:solidFill>
            <a:prstDash val="solid"/>
          </a:ln>
          <a:effectLst>
            <a:outerShdw sx="100000" sy="100000" kx="0" ky="0" algn="bl" rotWithShape="0" blurRad="88900" dist="12700" dir="5400000">
              <a:srgbClr val="97A3B4">
                <a:alpha val="16000"/>
              </a:srgbClr>
            </a:outerShdw>
          </a:effectLst>
        </p:spPr>
      </p:sp>
      <p:sp>
        <p:nvSpPr>
          <p:cNvPr id="83" name="Shape 81"/>
          <p:cNvSpPr/>
          <p:nvPr/>
        </p:nvSpPr>
        <p:spPr>
          <a:xfrm>
            <a:off x="7269480" y="2103120"/>
            <a:ext cx="64008" cy="402336"/>
          </a:xfrm>
          <a:prstGeom prst="rect">
            <a:avLst/>
          </a:prstGeom>
          <a:solidFill>
            <a:srgbClr val="2E5A7D"/>
          </a:solidFill>
          <a:ln w="12700">
            <a:solidFill>
              <a:srgbClr val="2E5A7D"/>
            </a:solidFill>
            <a:prstDash val="solid"/>
          </a:ln>
        </p:spPr>
      </p:sp>
      <p:sp>
        <p:nvSpPr>
          <p:cNvPr id="84" name="Text 82"/>
          <p:cNvSpPr txBox="1"/>
          <p:nvPr/>
        </p:nvSpPr>
        <p:spPr>
          <a:xfrm>
            <a:off x="7434072" y="2139696"/>
            <a:ext cx="4206240" cy="164592"/>
          </a:xfrm>
          <a:prstGeom prst="rect">
            <a:avLst/>
          </a:prstGeom>
          <a:noFill/>
          <a:ln/>
        </p:spPr>
        <p:txBody>
          <a:bodyPr wrap="square" lIns="0" tIns="0" rIns="0" bIns="0" rtlCol="0" anchor="ctr"/>
          <a:lstStyle/>
          <a:p>
            <a:pPr indent="0" marL="0">
              <a:buNone/>
            </a:pPr>
            <a:r>
              <a:rPr lang="en-US" sz="780" b="1" dirty="0">
                <a:solidFill>
                  <a:srgbClr val="2E5A7D"/>
                </a:solidFill>
                <a:latin typeface="Calibri" pitchFamily="34" charset="0"/>
                <a:ea typeface="Calibri" pitchFamily="34" charset="-122"/>
                <a:cs typeface="Calibri" pitchFamily="34" charset="-120"/>
              </a:rPr>
              <a:t>The cell or the partner raises it</a:t>
            </a:r>
            <a:endParaRPr lang="en-US" sz="780" dirty="0"/>
          </a:p>
        </p:txBody>
      </p:sp>
      <p:sp>
        <p:nvSpPr>
          <p:cNvPr id="85" name="Text 83"/>
          <p:cNvSpPr txBox="1"/>
          <p:nvPr/>
        </p:nvSpPr>
        <p:spPr>
          <a:xfrm>
            <a:off x="7434072" y="2304288"/>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Only where it must be auditable, or must reach a team outside the cell. Questions go direct.</a:t>
            </a:r>
            <a:endParaRPr lang="en-US" sz="690" dirty="0"/>
          </a:p>
        </p:txBody>
      </p:sp>
      <p:sp>
        <p:nvSpPr>
          <p:cNvPr id="86" name="Shape 84"/>
          <p:cNvSpPr/>
          <p:nvPr/>
        </p:nvSpPr>
        <p:spPr>
          <a:xfrm>
            <a:off x="9509760" y="2505456"/>
            <a:ext cx="0" cy="128016"/>
          </a:xfrm>
          <a:prstGeom prst="line">
            <a:avLst/>
          </a:prstGeom>
          <a:noFill/>
          <a:ln w="17780">
            <a:solidFill>
              <a:srgbClr val="7C8798"/>
            </a:solidFill>
            <a:prstDash val="solid"/>
            <a:tailEnd type="triangle"/>
          </a:ln>
        </p:spPr>
      </p:sp>
      <p:sp>
        <p:nvSpPr>
          <p:cNvPr id="87" name="Shape 85"/>
          <p:cNvSpPr/>
          <p:nvPr/>
        </p:nvSpPr>
        <p:spPr>
          <a:xfrm>
            <a:off x="7269480" y="2633472"/>
            <a:ext cx="4480560" cy="402336"/>
          </a:xfrm>
          <a:prstGeom prst="roundRect">
            <a:avLst>
              <a:gd name="adj" fmla="val 9091"/>
            </a:avLst>
          </a:prstGeom>
          <a:solidFill>
            <a:srgbClr val="FFFFFF"/>
          </a:solidFill>
          <a:ln w="14605">
            <a:solidFill>
              <a:srgbClr val="15304F"/>
            </a:solidFill>
            <a:prstDash val="solid"/>
          </a:ln>
          <a:effectLst>
            <a:outerShdw sx="100000" sy="100000" kx="0" ky="0" algn="bl" rotWithShape="0" blurRad="88900" dist="12700" dir="5400000">
              <a:srgbClr val="97A3B4">
                <a:alpha val="16000"/>
              </a:srgbClr>
            </a:outerShdw>
          </a:effectLst>
        </p:spPr>
      </p:sp>
      <p:sp>
        <p:nvSpPr>
          <p:cNvPr id="88" name="Shape 86"/>
          <p:cNvSpPr/>
          <p:nvPr/>
        </p:nvSpPr>
        <p:spPr>
          <a:xfrm>
            <a:off x="7269480" y="2633472"/>
            <a:ext cx="64008" cy="402336"/>
          </a:xfrm>
          <a:prstGeom prst="rect">
            <a:avLst/>
          </a:prstGeom>
          <a:solidFill>
            <a:srgbClr val="15304F"/>
          </a:solidFill>
          <a:ln w="12700">
            <a:solidFill>
              <a:srgbClr val="15304F"/>
            </a:solidFill>
            <a:prstDash val="solid"/>
          </a:ln>
        </p:spPr>
      </p:sp>
      <p:sp>
        <p:nvSpPr>
          <p:cNvPr id="89" name="Text 87"/>
          <p:cNvSpPr txBox="1"/>
          <p:nvPr/>
        </p:nvSpPr>
        <p:spPr>
          <a:xfrm>
            <a:off x="7434072" y="2670048"/>
            <a:ext cx="4206240" cy="164592"/>
          </a:xfrm>
          <a:prstGeom prst="rect">
            <a:avLst/>
          </a:prstGeom>
          <a:noFill/>
          <a:ln/>
        </p:spPr>
        <p:txBody>
          <a:bodyPr wrap="square" lIns="0" tIns="0" rIns="0" bIns="0" rtlCol="0" anchor="ctr"/>
          <a:lstStyle/>
          <a:p>
            <a:pPr indent="0" marL="0">
              <a:buNone/>
            </a:pPr>
            <a:r>
              <a:rPr lang="en-US" sz="780" b="1" dirty="0">
                <a:solidFill>
                  <a:srgbClr val="15304F"/>
                </a:solidFill>
                <a:latin typeface="Calibri" pitchFamily="34" charset="0"/>
                <a:ea typeface="Calibri" pitchFamily="34" charset="-122"/>
                <a:cs typeface="Calibri" pitchFamily="34" charset="-120"/>
              </a:rPr>
              <a:t>Routed outward, or to Design Authority</a:t>
            </a:r>
            <a:endParaRPr lang="en-US" sz="780" dirty="0"/>
          </a:p>
        </p:txBody>
      </p:sp>
      <p:sp>
        <p:nvSpPr>
          <p:cNvPr id="90" name="Text 88"/>
          <p:cNvSpPr txBox="1"/>
          <p:nvPr/>
        </p:nvSpPr>
        <p:spPr>
          <a:xfrm>
            <a:off x="7434072" y="2834640"/>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External determination, provisioning, certification — or a change against baselined scope.</a:t>
            </a:r>
            <a:endParaRPr lang="en-US" sz="690" dirty="0"/>
          </a:p>
        </p:txBody>
      </p:sp>
      <p:sp>
        <p:nvSpPr>
          <p:cNvPr id="91" name="Shape 89"/>
          <p:cNvSpPr/>
          <p:nvPr/>
        </p:nvSpPr>
        <p:spPr>
          <a:xfrm>
            <a:off x="9509760" y="3035808"/>
            <a:ext cx="0" cy="128016"/>
          </a:xfrm>
          <a:prstGeom prst="line">
            <a:avLst/>
          </a:prstGeom>
          <a:noFill/>
          <a:ln w="17780">
            <a:solidFill>
              <a:srgbClr val="7C8798"/>
            </a:solidFill>
            <a:prstDash val="solid"/>
            <a:tailEnd type="triangle"/>
          </a:ln>
        </p:spPr>
      </p:sp>
      <p:sp>
        <p:nvSpPr>
          <p:cNvPr id="92" name="Shape 90"/>
          <p:cNvSpPr/>
          <p:nvPr/>
        </p:nvSpPr>
        <p:spPr>
          <a:xfrm>
            <a:off x="7269480" y="3163824"/>
            <a:ext cx="4480560" cy="402336"/>
          </a:xfrm>
          <a:prstGeom prst="roundRect">
            <a:avLst>
              <a:gd name="adj" fmla="val 9091"/>
            </a:avLst>
          </a:prstGeom>
          <a:solidFill>
            <a:srgbClr val="FFFFFF"/>
          </a:solidFill>
          <a:ln w="14605">
            <a:solidFill>
              <a:srgbClr val="9A6410"/>
            </a:solidFill>
            <a:prstDash val="solid"/>
          </a:ln>
          <a:effectLst>
            <a:outerShdw sx="100000" sy="100000" kx="0" ky="0" algn="bl" rotWithShape="0" blurRad="88900" dist="12700" dir="5400000">
              <a:srgbClr val="97A3B4">
                <a:alpha val="16000"/>
              </a:srgbClr>
            </a:outerShdw>
          </a:effectLst>
        </p:spPr>
      </p:sp>
      <p:sp>
        <p:nvSpPr>
          <p:cNvPr id="93" name="Shape 91"/>
          <p:cNvSpPr/>
          <p:nvPr/>
        </p:nvSpPr>
        <p:spPr>
          <a:xfrm>
            <a:off x="7269480" y="3163824"/>
            <a:ext cx="64008" cy="402336"/>
          </a:xfrm>
          <a:prstGeom prst="rect">
            <a:avLst/>
          </a:prstGeom>
          <a:solidFill>
            <a:srgbClr val="9A6410"/>
          </a:solidFill>
          <a:ln w="12700">
            <a:solidFill>
              <a:srgbClr val="9A6410"/>
            </a:solidFill>
            <a:prstDash val="solid"/>
          </a:ln>
        </p:spPr>
      </p:sp>
      <p:sp>
        <p:nvSpPr>
          <p:cNvPr id="94" name="Text 92"/>
          <p:cNvSpPr txBox="1"/>
          <p:nvPr/>
        </p:nvSpPr>
        <p:spPr>
          <a:xfrm>
            <a:off x="7434072" y="3200400"/>
            <a:ext cx="4206240" cy="164592"/>
          </a:xfrm>
          <a:prstGeom prst="rect">
            <a:avLst/>
          </a:prstGeom>
          <a:noFill/>
          <a:ln/>
        </p:spPr>
        <p:txBody>
          <a:bodyPr wrap="square" lIns="0" tIns="0" rIns="0" bIns="0" rtlCol="0" anchor="ctr"/>
          <a:lstStyle/>
          <a:p>
            <a:pPr indent="0" marL="0">
              <a:buNone/>
            </a:pPr>
            <a:r>
              <a:rPr lang="en-US" sz="780" b="1" dirty="0">
                <a:solidFill>
                  <a:srgbClr val="9A6410"/>
                </a:solidFill>
                <a:latin typeface="Calibri" pitchFamily="34" charset="0"/>
                <a:ea typeface="Calibri" pitchFamily="34" charset="-122"/>
                <a:cs typeface="Calibri" pitchFamily="34" charset="-120"/>
              </a:rPr>
              <a:t>Actioned against the signed design</a:t>
            </a:r>
            <a:endParaRPr lang="en-US" sz="780" dirty="0"/>
          </a:p>
        </p:txBody>
      </p:sp>
      <p:sp>
        <p:nvSpPr>
          <p:cNvPr id="95" name="Text 93"/>
          <p:cNvSpPr txBox="1"/>
          <p:nvPr/>
        </p:nvSpPr>
        <p:spPr>
          <a:xfrm>
            <a:off x="7434072" y="3364992"/>
            <a:ext cx="4206240" cy="164592"/>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The receiving team works to the design that Design Authority has already signed off.</a:t>
            </a:r>
            <a:endParaRPr lang="en-US" sz="690" dirty="0"/>
          </a:p>
        </p:txBody>
      </p:sp>
      <p:sp>
        <p:nvSpPr>
          <p:cNvPr id="96" name="Shape 94"/>
          <p:cNvSpPr/>
          <p:nvPr/>
        </p:nvSpPr>
        <p:spPr>
          <a:xfrm>
            <a:off x="9509760" y="3566160"/>
            <a:ext cx="0" cy="128016"/>
          </a:xfrm>
          <a:prstGeom prst="line">
            <a:avLst/>
          </a:prstGeom>
          <a:noFill/>
          <a:ln w="17780">
            <a:solidFill>
              <a:srgbClr val="7C8798"/>
            </a:solidFill>
            <a:prstDash val="solid"/>
            <a:tailEnd type="triangle"/>
          </a:ln>
        </p:spPr>
      </p:sp>
      <p:sp>
        <p:nvSpPr>
          <p:cNvPr id="97" name="Shape 95"/>
          <p:cNvSpPr/>
          <p:nvPr/>
        </p:nvSpPr>
        <p:spPr>
          <a:xfrm>
            <a:off x="8001000" y="3694176"/>
            <a:ext cx="3017520" cy="566928"/>
          </a:xfrm>
          <a:prstGeom prst="diamond">
            <a:avLst/>
          </a:prstGeom>
          <a:solidFill>
            <a:srgbClr val="EEF2F6"/>
          </a:solidFill>
          <a:ln w="17780">
            <a:solidFill>
              <a:srgbClr val="5E7D96"/>
            </a:solidFill>
            <a:prstDash val="solid"/>
          </a:ln>
        </p:spPr>
      </p:sp>
      <p:sp>
        <p:nvSpPr>
          <p:cNvPr id="98" name="Text 96"/>
          <p:cNvSpPr txBox="1"/>
          <p:nvPr/>
        </p:nvSpPr>
        <p:spPr>
          <a:xfrm>
            <a:off x="8311896" y="3694176"/>
            <a:ext cx="2395728" cy="566928"/>
          </a:xfrm>
          <a:prstGeom prst="rect">
            <a:avLst/>
          </a:prstGeom>
          <a:noFill/>
          <a:ln/>
        </p:spPr>
        <p:txBody>
          <a:bodyPr wrap="square" lIns="0" tIns="0" rIns="0" bIns="0" rtlCol="0" anchor="ctr"/>
          <a:lstStyle/>
          <a:p>
            <a:pPr algn="ctr" indent="0" marL="0">
              <a:lnSpc>
                <a:spcPts val="800"/>
              </a:lnSpc>
              <a:buNone/>
            </a:pPr>
            <a:r>
              <a:rPr lang="en-US" sz="690" b="1" dirty="0">
                <a:solidFill>
                  <a:srgbClr val="5E7D96"/>
                </a:solidFill>
                <a:latin typeface="Calibri" pitchFamily="34" charset="0"/>
                <a:ea typeface="Calibri" pitchFamily="34" charset="-122"/>
                <a:cs typeface="Calibri" pitchFamily="34" charset="-120"/>
              </a:rPr>
              <a:t>Inside the baselined scope?</a:t>
            </a:r>
            <a:endParaRPr lang="en-US" sz="690" dirty="0"/>
          </a:p>
        </p:txBody>
      </p:sp>
      <p:sp>
        <p:nvSpPr>
          <p:cNvPr id="99" name="Shape 97"/>
          <p:cNvSpPr/>
          <p:nvPr/>
        </p:nvSpPr>
        <p:spPr>
          <a:xfrm flipH="1">
            <a:off x="8353044" y="4261104"/>
            <a:ext cx="1156716" cy="128016"/>
          </a:xfrm>
          <a:prstGeom prst="line">
            <a:avLst/>
          </a:prstGeom>
          <a:noFill/>
          <a:ln w="17780">
            <a:solidFill>
              <a:srgbClr val="7C8798"/>
            </a:solidFill>
            <a:prstDash val="solid"/>
            <a:tailEnd type="triangle"/>
          </a:ln>
        </p:spPr>
      </p:sp>
      <p:sp>
        <p:nvSpPr>
          <p:cNvPr id="100" name="Shape 98"/>
          <p:cNvSpPr/>
          <p:nvPr/>
        </p:nvSpPr>
        <p:spPr>
          <a:xfrm>
            <a:off x="9509760" y="4261104"/>
            <a:ext cx="1156716" cy="128016"/>
          </a:xfrm>
          <a:prstGeom prst="line">
            <a:avLst/>
          </a:prstGeom>
          <a:noFill/>
          <a:ln w="17780">
            <a:solidFill>
              <a:srgbClr val="5E7D96"/>
            </a:solidFill>
            <a:prstDash val="solid"/>
            <a:tailEnd type="triangle"/>
          </a:ln>
        </p:spPr>
      </p:sp>
      <p:sp>
        <p:nvSpPr>
          <p:cNvPr id="101" name="Shape 99"/>
          <p:cNvSpPr/>
          <p:nvPr/>
        </p:nvSpPr>
        <p:spPr>
          <a:xfrm>
            <a:off x="7269480" y="4389120"/>
            <a:ext cx="2167128" cy="420624"/>
          </a:xfrm>
          <a:prstGeom prst="roundRect">
            <a:avLst>
              <a:gd name="adj" fmla="val 8696"/>
            </a:avLst>
          </a:prstGeom>
          <a:solidFill>
            <a:srgbClr val="FFFFFF"/>
          </a:solidFill>
          <a:ln w="14605">
            <a:solidFill>
              <a:srgbClr val="2E5A7D"/>
            </a:solidFill>
            <a:prstDash val="solid"/>
          </a:ln>
          <a:effectLst>
            <a:outerShdw sx="100000" sy="100000" kx="0" ky="0" algn="bl" rotWithShape="0" blurRad="88900" dist="12700" dir="5400000">
              <a:srgbClr val="97A3B4">
                <a:alpha val="16000"/>
              </a:srgbClr>
            </a:outerShdw>
          </a:effectLst>
        </p:spPr>
      </p:sp>
      <p:sp>
        <p:nvSpPr>
          <p:cNvPr id="102" name="Shape 100"/>
          <p:cNvSpPr/>
          <p:nvPr/>
        </p:nvSpPr>
        <p:spPr>
          <a:xfrm>
            <a:off x="7269480" y="4389120"/>
            <a:ext cx="64008" cy="420624"/>
          </a:xfrm>
          <a:prstGeom prst="rect">
            <a:avLst/>
          </a:prstGeom>
          <a:solidFill>
            <a:srgbClr val="2E5A7D"/>
          </a:solidFill>
          <a:ln w="12700">
            <a:solidFill>
              <a:srgbClr val="2E5A7D"/>
            </a:solidFill>
            <a:prstDash val="solid"/>
          </a:ln>
        </p:spPr>
      </p:sp>
      <p:sp>
        <p:nvSpPr>
          <p:cNvPr id="103" name="Text 101"/>
          <p:cNvSpPr txBox="1"/>
          <p:nvPr/>
        </p:nvSpPr>
        <p:spPr>
          <a:xfrm>
            <a:off x="7434072" y="4425696"/>
            <a:ext cx="1892808" cy="164592"/>
          </a:xfrm>
          <a:prstGeom prst="rect">
            <a:avLst/>
          </a:prstGeom>
          <a:noFill/>
          <a:ln/>
        </p:spPr>
        <p:txBody>
          <a:bodyPr wrap="square" lIns="0" tIns="0" rIns="0" bIns="0" rtlCol="0" anchor="ctr"/>
          <a:lstStyle/>
          <a:p>
            <a:pPr indent="0" marL="0">
              <a:buNone/>
            </a:pPr>
            <a:r>
              <a:rPr lang="en-US" sz="780" b="1" dirty="0">
                <a:solidFill>
                  <a:srgbClr val="2E5A7D"/>
                </a:solidFill>
                <a:latin typeface="Calibri" pitchFamily="34" charset="0"/>
                <a:ea typeface="Calibri" pitchFamily="34" charset="-122"/>
                <a:cs typeface="Calibri" pitchFamily="34" charset="-120"/>
              </a:rPr>
              <a:t>Evidence attached to the gate</a:t>
            </a:r>
            <a:endParaRPr lang="en-US" sz="780" dirty="0"/>
          </a:p>
        </p:txBody>
      </p:sp>
      <p:sp>
        <p:nvSpPr>
          <p:cNvPr id="104" name="Text 102"/>
          <p:cNvSpPr txBox="1"/>
          <p:nvPr/>
        </p:nvSpPr>
        <p:spPr>
          <a:xfrm>
            <a:off x="7434072" y="4590288"/>
            <a:ext cx="1892808" cy="182880"/>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Closes against a checkpoint.</a:t>
            </a:r>
            <a:endParaRPr lang="en-US" sz="690" dirty="0"/>
          </a:p>
        </p:txBody>
      </p:sp>
      <p:sp>
        <p:nvSpPr>
          <p:cNvPr id="105" name="Shape 103"/>
          <p:cNvSpPr/>
          <p:nvPr/>
        </p:nvSpPr>
        <p:spPr>
          <a:xfrm>
            <a:off x="9582912" y="4389120"/>
            <a:ext cx="2167128" cy="420624"/>
          </a:xfrm>
          <a:prstGeom prst="roundRect">
            <a:avLst>
              <a:gd name="adj" fmla="val 8696"/>
            </a:avLst>
          </a:prstGeom>
          <a:solidFill>
            <a:srgbClr val="FFFFFF"/>
          </a:solidFill>
          <a:ln w="14605">
            <a:solidFill>
              <a:srgbClr val="5E7D96"/>
            </a:solidFill>
            <a:prstDash val="solid"/>
          </a:ln>
          <a:effectLst>
            <a:outerShdw sx="100000" sy="100000" kx="0" ky="0" algn="bl" rotWithShape="0" blurRad="88900" dist="12700" dir="5400000">
              <a:srgbClr val="97A3B4">
                <a:alpha val="16000"/>
              </a:srgbClr>
            </a:outerShdw>
          </a:effectLst>
        </p:spPr>
      </p:sp>
      <p:sp>
        <p:nvSpPr>
          <p:cNvPr id="106" name="Shape 104"/>
          <p:cNvSpPr/>
          <p:nvPr/>
        </p:nvSpPr>
        <p:spPr>
          <a:xfrm>
            <a:off x="9582912" y="4389120"/>
            <a:ext cx="64008" cy="420624"/>
          </a:xfrm>
          <a:prstGeom prst="rect">
            <a:avLst/>
          </a:prstGeom>
          <a:solidFill>
            <a:srgbClr val="5E7D96"/>
          </a:solidFill>
          <a:ln w="12700">
            <a:solidFill>
              <a:srgbClr val="5E7D96"/>
            </a:solidFill>
            <a:prstDash val="solid"/>
          </a:ln>
        </p:spPr>
      </p:sp>
      <p:sp>
        <p:nvSpPr>
          <p:cNvPr id="107" name="Text 105"/>
          <p:cNvSpPr txBox="1"/>
          <p:nvPr/>
        </p:nvSpPr>
        <p:spPr>
          <a:xfrm>
            <a:off x="9747504" y="4425696"/>
            <a:ext cx="1892808" cy="164592"/>
          </a:xfrm>
          <a:prstGeom prst="rect">
            <a:avLst/>
          </a:prstGeom>
          <a:noFill/>
          <a:ln/>
        </p:spPr>
        <p:txBody>
          <a:bodyPr wrap="square" lIns="0" tIns="0" rIns="0" bIns="0" rtlCol="0" anchor="ctr"/>
          <a:lstStyle/>
          <a:p>
            <a:pPr indent="0" marL="0">
              <a:buNone/>
            </a:pPr>
            <a:r>
              <a:rPr lang="en-US" sz="780" b="1" dirty="0">
                <a:solidFill>
                  <a:srgbClr val="5E7D96"/>
                </a:solidFill>
                <a:latin typeface="Calibri" pitchFamily="34" charset="0"/>
                <a:ea typeface="Calibri" pitchFamily="34" charset="-122"/>
                <a:cs typeface="Calibri" pitchFamily="34" charset="-120"/>
              </a:rPr>
              <a:t>Formal change control</a:t>
            </a:r>
            <a:endParaRPr lang="en-US" sz="780" dirty="0"/>
          </a:p>
        </p:txBody>
      </p:sp>
      <p:sp>
        <p:nvSpPr>
          <p:cNvPr id="108" name="Text 106"/>
          <p:cNvSpPr txBox="1"/>
          <p:nvPr/>
        </p:nvSpPr>
        <p:spPr>
          <a:xfrm>
            <a:off x="9747504" y="4590288"/>
            <a:ext cx="1892808" cy="182880"/>
          </a:xfrm>
          <a:prstGeom prst="rect">
            <a:avLst/>
          </a:prstGeom>
          <a:noFill/>
          <a:ln/>
        </p:spPr>
        <p:txBody>
          <a:bodyPr wrap="square" lIns="0" tIns="0" rIns="0" bIns="0" rtlCol="0" anchor="t"/>
          <a:lstStyle/>
          <a:p>
            <a:pPr indent="0" marL="0">
              <a:lnSpc>
                <a:spcPts val="820"/>
              </a:lnSpc>
              <a:buNone/>
            </a:pPr>
            <a:r>
              <a:rPr lang="en-US" sz="690" dirty="0">
                <a:solidFill>
                  <a:srgbClr val="1B2432"/>
                </a:solidFill>
                <a:latin typeface="Calibri" pitchFamily="34" charset="0"/>
                <a:ea typeface="Calibri" pitchFamily="34" charset="-122"/>
                <a:cs typeface="Calibri" pitchFamily="34" charset="-120"/>
              </a:rPr>
              <a:t>Design Authority re-baselines.</a:t>
            </a:r>
            <a:endParaRPr lang="en-US" sz="690" dirty="0"/>
          </a:p>
        </p:txBody>
      </p:sp>
      <p:sp>
        <p:nvSpPr>
          <p:cNvPr id="109" name="Text 107"/>
          <p:cNvSpPr txBox="1"/>
          <p:nvPr/>
        </p:nvSpPr>
        <p:spPr>
          <a:xfrm>
            <a:off x="7488936" y="4151376"/>
            <a:ext cx="914400" cy="182880"/>
          </a:xfrm>
          <a:prstGeom prst="rect">
            <a:avLst/>
          </a:prstGeom>
          <a:noFill/>
          <a:ln/>
        </p:spPr>
        <p:txBody>
          <a:bodyPr wrap="square" lIns="0" tIns="0" rIns="0" bIns="0" rtlCol="0" anchor="ctr"/>
          <a:lstStyle/>
          <a:p>
            <a:pPr algn="l"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110" name="Text 108"/>
          <p:cNvSpPr txBox="1"/>
          <p:nvPr/>
        </p:nvSpPr>
        <p:spPr>
          <a:xfrm>
            <a:off x="10616184" y="4151376"/>
            <a:ext cx="914400" cy="182880"/>
          </a:xfrm>
          <a:prstGeom prst="rect">
            <a:avLst/>
          </a:prstGeom>
          <a:noFill/>
          <a:ln/>
        </p:spPr>
        <p:txBody>
          <a:bodyPr wrap="square" lIns="0" tIns="0" rIns="0" bIns="0" rtlCol="0" anchor="ctr"/>
          <a:lstStyle/>
          <a:p>
            <a:pPr algn="r" indent="0" marL="0">
              <a:buNone/>
            </a:pPr>
            <a:r>
              <a:rPr lang="en-US" sz="660" b="1" dirty="0">
                <a:solidFill>
                  <a:srgbClr val="5E7D96"/>
                </a:solidFill>
                <a:latin typeface="Calibri" pitchFamily="34" charset="0"/>
                <a:ea typeface="Calibri" pitchFamily="34" charset="-122"/>
                <a:cs typeface="Calibri" pitchFamily="34" charset="-120"/>
              </a:rPr>
              <a:t>No</a:t>
            </a:r>
            <a:endParaRPr lang="en-US" sz="660" dirty="0"/>
          </a:p>
        </p:txBody>
      </p:sp>
      <p:sp>
        <p:nvSpPr>
          <p:cNvPr id="111" name="Shape 109"/>
          <p:cNvSpPr/>
          <p:nvPr/>
        </p:nvSpPr>
        <p:spPr>
          <a:xfrm>
            <a:off x="411480" y="4956048"/>
            <a:ext cx="11338560" cy="859536"/>
          </a:xfrm>
          <a:prstGeom prst="roundRect">
            <a:avLst>
              <a:gd name="adj" fmla="val 5319"/>
            </a:avLst>
          </a:prstGeom>
          <a:solidFill>
            <a:srgbClr val="E7ECF3"/>
          </a:solidFill>
          <a:ln w="15240">
            <a:solidFill>
              <a:srgbClr val="2E5A7D"/>
            </a:solidFill>
            <a:prstDash val="solid"/>
          </a:ln>
        </p:spPr>
      </p:sp>
      <p:sp>
        <p:nvSpPr>
          <p:cNvPr id="112" name="Shape 110"/>
          <p:cNvSpPr/>
          <p:nvPr/>
        </p:nvSpPr>
        <p:spPr>
          <a:xfrm>
            <a:off x="411480" y="4956048"/>
            <a:ext cx="73152" cy="859536"/>
          </a:xfrm>
          <a:prstGeom prst="rect">
            <a:avLst/>
          </a:prstGeom>
          <a:solidFill>
            <a:srgbClr val="2E5A7D"/>
          </a:solidFill>
          <a:ln w="12700">
            <a:solidFill>
              <a:srgbClr val="2E5A7D"/>
            </a:solidFill>
            <a:prstDash val="solid"/>
          </a:ln>
        </p:spPr>
      </p:sp>
      <p:sp>
        <p:nvSpPr>
          <p:cNvPr id="113" name="Text 111"/>
          <p:cNvSpPr txBox="1"/>
          <p:nvPr/>
        </p:nvSpPr>
        <p:spPr>
          <a:xfrm>
            <a:off x="612648" y="5001768"/>
            <a:ext cx="10936224" cy="173736"/>
          </a:xfrm>
          <a:prstGeom prst="rect">
            <a:avLst/>
          </a:prstGeom>
          <a:noFill/>
          <a:ln/>
        </p:spPr>
        <p:txBody>
          <a:bodyPr wrap="square" lIns="0" tIns="0" rIns="0" bIns="0" rtlCol="0" anchor="ctr"/>
          <a:lstStyle/>
          <a:p>
            <a:pPr indent="0" marL="0">
              <a:buNone/>
            </a:pPr>
            <a:r>
              <a:rPr lang="en-US" sz="700" b="1" spc="60" kern="0" dirty="0">
                <a:solidFill>
                  <a:srgbClr val="2E5A7D"/>
                </a:solidFill>
                <a:latin typeface="Calibri" pitchFamily="34" charset="0"/>
                <a:ea typeface="Calibri" pitchFamily="34" charset="-122"/>
                <a:cs typeface="Calibri" pitchFamily="34" charset="-120"/>
              </a:rPr>
              <a:t>THE DIFFERENCE THAT MATTERS, AND WHY IT IS NOT AN INCONSISTENCY</a:t>
            </a:r>
            <a:endParaRPr lang="en-US" sz="700" dirty="0"/>
          </a:p>
        </p:txBody>
      </p:sp>
      <p:sp>
        <p:nvSpPr>
          <p:cNvPr id="114" name="Text 112"/>
          <p:cNvSpPr txBox="1"/>
          <p:nvPr/>
        </p:nvSpPr>
        <p:spPr>
          <a:xfrm>
            <a:off x="612648" y="5175504"/>
            <a:ext cx="10936224" cy="585216"/>
          </a:xfrm>
          <a:prstGeom prst="rect">
            <a:avLst/>
          </a:prstGeom>
          <a:noFill/>
          <a:ln/>
        </p:spPr>
        <p:txBody>
          <a:bodyPr wrap="square" lIns="0" tIns="0" rIns="0" bIns="0" rtlCol="0" anchor="t"/>
          <a:lstStyle/>
          <a:p>
            <a:pPr indent="0" marL="0">
              <a:lnSpc>
                <a:spcPts val="860"/>
              </a:lnSpc>
              <a:buNone/>
            </a:pPr>
            <a:r>
              <a:rPr lang="en-US" sz="730" dirty="0">
                <a:solidFill>
                  <a:srgbClr val="1B2432"/>
                </a:solidFill>
                <a:latin typeface="Calibri" pitchFamily="34" charset="0"/>
                <a:ea typeface="Calibri" pitchFamily="34" charset="-122"/>
                <a:cs typeface="Calibri" pitchFamily="34" charset="-120"/>
              </a:rPr>
              <a:t>In Express the ticket is how the partner gets attention, because none is allocated. In a Commissioned Cell attention is already allocated, so a ticket raised to ask the cell a question adds latency to a conversation that should take minutes — and a partner who is told to raise a ticket to reach a team sitting with them will conclude the model is bureaucratic, correctly. Here JIRA does a different job: it carries what must be auditable — the commissioning sanction, the governance determinations, change control against baselined scope and gate evidence — and it routes what has to reach a team outside the cell. Those outward-facing request types are precisely the ones Phase 3 of the roadmap later assembles, validates and chases automatically.</a:t>
            </a:r>
            <a:endParaRPr lang="en-US" sz="730" dirty="0"/>
          </a:p>
        </p:txBody>
      </p:sp>
      <p:sp>
        <p:nvSpPr>
          <p:cNvPr id="115" name="Text 113"/>
          <p:cNvSpPr txBox="1"/>
          <p:nvPr/>
        </p:nvSpPr>
        <p:spPr>
          <a:xfrm>
            <a:off x="411480" y="5943600"/>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OWNERSHIP COLOUR CODING</a:t>
            </a:r>
            <a:endParaRPr lang="en-US" sz="760" dirty="0"/>
          </a:p>
        </p:txBody>
      </p:sp>
      <p:sp>
        <p:nvSpPr>
          <p:cNvPr id="116" name="Shape 114"/>
          <p:cNvSpPr/>
          <p:nvPr/>
        </p:nvSpPr>
        <p:spPr>
          <a:xfrm>
            <a:off x="411480" y="6149340"/>
            <a:ext cx="118872" cy="118872"/>
          </a:xfrm>
          <a:prstGeom prst="rect">
            <a:avLst/>
          </a:prstGeom>
          <a:solidFill>
            <a:srgbClr val="2E6B4F"/>
          </a:solidFill>
          <a:ln w="12700">
            <a:solidFill>
              <a:srgbClr val="2E6B4F"/>
            </a:solidFill>
            <a:prstDash val="solid"/>
          </a:ln>
        </p:spPr>
      </p:sp>
      <p:sp>
        <p:nvSpPr>
          <p:cNvPr id="117" name="Text 115"/>
          <p:cNvSpPr txBox="1"/>
          <p:nvPr/>
        </p:nvSpPr>
        <p:spPr>
          <a:xfrm>
            <a:off x="58521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 app team</a:t>
            </a:r>
            <a:endParaRPr lang="en-US" sz="660" dirty="0"/>
          </a:p>
        </p:txBody>
      </p:sp>
      <p:sp>
        <p:nvSpPr>
          <p:cNvPr id="118" name="Shape 116"/>
          <p:cNvSpPr/>
          <p:nvPr/>
        </p:nvSpPr>
        <p:spPr>
          <a:xfrm>
            <a:off x="1828800" y="6149340"/>
            <a:ext cx="118872" cy="118872"/>
          </a:xfrm>
          <a:prstGeom prst="rect">
            <a:avLst/>
          </a:prstGeom>
          <a:solidFill>
            <a:srgbClr val="15304F"/>
          </a:solidFill>
          <a:ln w="12700">
            <a:solidFill>
              <a:srgbClr val="15304F"/>
            </a:solidFill>
            <a:prstDash val="solid"/>
          </a:ln>
        </p:spPr>
      </p:sp>
      <p:sp>
        <p:nvSpPr>
          <p:cNvPr id="119" name="Text 117"/>
          <p:cNvSpPr txBox="1"/>
          <p:nvPr/>
        </p:nvSpPr>
        <p:spPr>
          <a:xfrm>
            <a:off x="200253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Triage Lead (ECM)</a:t>
            </a:r>
            <a:endParaRPr lang="en-US" sz="660" dirty="0"/>
          </a:p>
        </p:txBody>
      </p:sp>
      <p:sp>
        <p:nvSpPr>
          <p:cNvPr id="120" name="Shape 118"/>
          <p:cNvSpPr/>
          <p:nvPr/>
        </p:nvSpPr>
        <p:spPr>
          <a:xfrm>
            <a:off x="3246120" y="6149340"/>
            <a:ext cx="118872" cy="118872"/>
          </a:xfrm>
          <a:prstGeom prst="rect">
            <a:avLst/>
          </a:prstGeom>
          <a:solidFill>
            <a:srgbClr val="2E5A7D"/>
          </a:solidFill>
          <a:ln w="12700">
            <a:solidFill>
              <a:srgbClr val="2E5A7D"/>
            </a:solidFill>
            <a:prstDash val="solid"/>
          </a:ln>
        </p:spPr>
      </p:sp>
      <p:sp>
        <p:nvSpPr>
          <p:cNvPr id="121" name="Text 119"/>
          <p:cNvSpPr txBox="1"/>
          <p:nvPr/>
        </p:nvSpPr>
        <p:spPr>
          <a:xfrm>
            <a:off x="341985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Enablement Cell</a:t>
            </a:r>
            <a:endParaRPr lang="en-US" sz="660" dirty="0"/>
          </a:p>
        </p:txBody>
      </p:sp>
      <p:sp>
        <p:nvSpPr>
          <p:cNvPr id="122" name="Shape 120"/>
          <p:cNvSpPr/>
          <p:nvPr/>
        </p:nvSpPr>
        <p:spPr>
          <a:xfrm>
            <a:off x="4663440" y="6149340"/>
            <a:ext cx="118872" cy="118872"/>
          </a:xfrm>
          <a:prstGeom prst="rect">
            <a:avLst/>
          </a:prstGeom>
          <a:solidFill>
            <a:srgbClr val="5E7D96"/>
          </a:solidFill>
          <a:ln w="12700">
            <a:solidFill>
              <a:srgbClr val="5E7D96"/>
            </a:solidFill>
            <a:prstDash val="solid"/>
          </a:ln>
        </p:spPr>
      </p:sp>
      <p:sp>
        <p:nvSpPr>
          <p:cNvPr id="123" name="Text 121"/>
          <p:cNvSpPr txBox="1"/>
          <p:nvPr/>
        </p:nvSpPr>
        <p:spPr>
          <a:xfrm>
            <a:off x="483717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Architecture · Design Authority</a:t>
            </a:r>
            <a:endParaRPr lang="en-US" sz="660" dirty="0"/>
          </a:p>
        </p:txBody>
      </p:sp>
      <p:sp>
        <p:nvSpPr>
          <p:cNvPr id="124" name="Shape 122"/>
          <p:cNvSpPr/>
          <p:nvPr/>
        </p:nvSpPr>
        <p:spPr>
          <a:xfrm>
            <a:off x="6080760" y="6149340"/>
            <a:ext cx="118872" cy="118872"/>
          </a:xfrm>
          <a:prstGeom prst="rect">
            <a:avLst/>
          </a:prstGeom>
          <a:solidFill>
            <a:srgbClr val="A44A2A"/>
          </a:solidFill>
          <a:ln w="12700">
            <a:solidFill>
              <a:srgbClr val="A44A2A"/>
            </a:solidFill>
            <a:prstDash val="solid"/>
          </a:ln>
        </p:spPr>
      </p:sp>
      <p:sp>
        <p:nvSpPr>
          <p:cNvPr id="125" name="Text 123"/>
          <p:cNvSpPr txBox="1"/>
          <p:nvPr/>
        </p:nvSpPr>
        <p:spPr>
          <a:xfrm>
            <a:off x="625449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Imaging Governance</a:t>
            </a:r>
            <a:endParaRPr lang="en-US" sz="660" dirty="0"/>
          </a:p>
        </p:txBody>
      </p:sp>
      <p:sp>
        <p:nvSpPr>
          <p:cNvPr id="126" name="Shape 124"/>
          <p:cNvSpPr/>
          <p:nvPr/>
        </p:nvSpPr>
        <p:spPr>
          <a:xfrm>
            <a:off x="7498080" y="6149340"/>
            <a:ext cx="118872" cy="118872"/>
          </a:xfrm>
          <a:prstGeom prst="rect">
            <a:avLst/>
          </a:prstGeom>
          <a:solidFill>
            <a:srgbClr val="9A6410"/>
          </a:solidFill>
          <a:ln w="12700">
            <a:solidFill>
              <a:srgbClr val="9A6410"/>
            </a:solidFill>
            <a:prstDash val="solid"/>
          </a:ln>
        </p:spPr>
      </p:sp>
      <p:sp>
        <p:nvSpPr>
          <p:cNvPr id="127" name="Text 125"/>
          <p:cNvSpPr txBox="1"/>
          <p:nvPr/>
        </p:nvSpPr>
        <p:spPr>
          <a:xfrm>
            <a:off x="767181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Records · Security · Platform · SPLI</a:t>
            </a:r>
            <a:endParaRPr lang="en-US" sz="660" dirty="0"/>
          </a:p>
        </p:txBody>
      </p:sp>
      <p:sp>
        <p:nvSpPr>
          <p:cNvPr id="128" name="Shape 126"/>
          <p:cNvSpPr/>
          <p:nvPr/>
        </p:nvSpPr>
        <p:spPr>
          <a:xfrm>
            <a:off x="8915400" y="6149340"/>
            <a:ext cx="118872" cy="118872"/>
          </a:xfrm>
          <a:prstGeom prst="rect">
            <a:avLst/>
          </a:prstGeom>
          <a:solidFill>
            <a:srgbClr val="5B4A72"/>
          </a:solidFill>
          <a:ln w="12700">
            <a:solidFill>
              <a:srgbClr val="5B4A72"/>
            </a:solidFill>
            <a:prstDash val="solid"/>
          </a:ln>
        </p:spPr>
      </p:sp>
      <p:sp>
        <p:nvSpPr>
          <p:cNvPr id="129" name="Text 127"/>
          <p:cNvSpPr txBox="1"/>
          <p:nvPr/>
        </p:nvSpPr>
        <p:spPr>
          <a:xfrm>
            <a:off x="908913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Executive Sponsor</a:t>
            </a:r>
            <a:endParaRPr lang="en-US" sz="660" dirty="0"/>
          </a:p>
        </p:txBody>
      </p:sp>
      <p:sp>
        <p:nvSpPr>
          <p:cNvPr id="130" name="Shape 128"/>
          <p:cNvSpPr/>
          <p:nvPr/>
        </p:nvSpPr>
        <p:spPr>
          <a:xfrm>
            <a:off x="10332720" y="6149340"/>
            <a:ext cx="118872" cy="118872"/>
          </a:xfrm>
          <a:prstGeom prst="rect">
            <a:avLst/>
          </a:prstGeom>
          <a:solidFill>
            <a:srgbClr val="7C8798"/>
          </a:solidFill>
          <a:ln w="12700">
            <a:solidFill>
              <a:srgbClr val="7C8798"/>
            </a:solidFill>
            <a:prstDash val="solid"/>
          </a:ln>
        </p:spPr>
      </p:sp>
      <p:sp>
        <p:nvSpPr>
          <p:cNvPr id="131" name="Text 129"/>
          <p:cNvSpPr txBox="1"/>
          <p:nvPr/>
        </p:nvSpPr>
        <p:spPr>
          <a:xfrm>
            <a:off x="10506456" y="6108192"/>
            <a:ext cx="119786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Platform Support &amp; BAU</a:t>
            </a:r>
            <a:endParaRPr lang="en-US" sz="6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Invoking ECM support under the tiered model</dc:title>
  <dc:subject>PptxGenJS Presentation</dc:subject>
  <dc:creator>ECM Partner Enablement</dc:creator>
  <cp:lastModifiedBy>ECM Partner Enablement</cp:lastModifiedBy>
  <cp:revision>1</cp:revision>
  <dcterms:created xsi:type="dcterms:W3CDTF">2026-10-26T04:15:58Z</dcterms:created>
  <dcterms:modified xsi:type="dcterms:W3CDTF">2026-10-26T04:15:58Z</dcterms:modified>
</cp:coreProperties>
</file>