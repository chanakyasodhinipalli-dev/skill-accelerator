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ask is a build decision, not a technology tour. We will show how onboarding works now, where it breaks, and the specific design that fixes it while leaving every real decision with the people who own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does not vary by partner; the content does. That is the profile of work that benefits from agent assistance: stable procedure, variable input. We are not replacing judgement. We are removing rework, hidden waiting and lost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are performance problems of the people involved. They are structural. The third trait is the opportunity: because the shape is fixed, the rules can be written once and enforced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3 to 5 follow the process in order; each stage slide shows aim, goals, artifacts, current BAU, impediments, target state and the thought process linking them. Sections 6 to 8 are the so-what.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fail in different ways, so the interventions differ too. Improving Phase A does little for Phase C. That is why the target state is organised by stage and workstream, not as one generic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criticism of how the role is performed; it is excellent work under a design that depends on memory. A partner optimising for its own timeline will not naturally optimise for metadata quality, retention correctness or searchability. Reconciling those is the role's real job, and it should spend its time there, not on follow-up and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specialist teams provide services; Imaging Governance decides. That distinction drives one of our most important design choices: the agent prepares the submission, tracks the decision and registers the outcome, but never makes the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documents are generation problems once the onboarding record exists. That is why release readiness is late in the build sequence: it becomes cheap once everything upstream is captured.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handoff marker is a point where context can be lost. The one continuous bar is the onboarding resource, which is exactly what Onboard360AI externalises into a shared onboarding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is judgement-heavy and information-heavy. The target state here focuses on completeness before submission, routing without manual label edits, and preparing the Imaging Governance decision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types drive classification design; sizes and traits drive the trusted/untrusted determination and profile design; volumes decide whether load testing is needed at all. Every one of those decisions is sourced here, which is why we invest in Stage 1.
Thought process: Missing information costs most when found late, so check completeness before submission. Human decision retained: requestor owns completeness; Imaging Governance owns the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is not about whether the demand is worth doing; that is Stage 3. It is about whether it is understood. The second job, naming discovery participants, is easy to overlook and expensive to miss.
Thought process: Routing is a rule, not a judgement, so encode it. Human decision retained: ECM intake team decides whether a marginal intake advances.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example of a rule that fails silently. An intake with a missing impact tag does not error; the specialist team simply never sees it. Atomic completion removes the class of error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always exceeds capacity. The ranking becomes a formal input to planning, capacity and delivery commitments. A clean evidence pack shortens the conversation without taking the decision.
Thought process: Sponsors need evidence, not procedure; the agent assembles it, the sponsor ranks. Human decision retained: LOB sponsor decides whether the demand is worth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determinations that run to the end of the lifecycle are the governance determination, the retention and regulatory position, and the volume picture. Holding an intake in awaiting-details is better than advancing it on an assumption; the agent makes that waiting visible instead of hidden.
Thought process: An impacted area found in delivery costs an order of magnitude more; prepare decisions early, reuse precedent. Human decision retained: Imaging Governance determination and allocation; PO owns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Phase B lies as much in the refusals as the acceptances. A BTL position stated early lets the business re-prioritise or reset partner expectations; an unstated capacity problem shows up later as a missed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Decomposing by workstream (connectivity, events, untrusted content, trusted content, RM, metadata, search and viewing, capacity, testing, documentation) is what lets each specialist team commit to its own feature.
Thought process: A badly decomposed epic fails two stages later; decompose by workstream, validate links and owners. Human decision retained: L3 PM and POs approve the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planning in one room compresses many bilateral negotiations. The agent's contribution is preparation: everyone arrives having seen the scope, the dependency map and the open queries.
Thought process: Each team must see its own dependency to commit honestly, so the pack shows it per feature. Human decision retained: L1/L2 POs give commitment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sets a hard gate for Stage 8: a partner without an allocated scrum team cannot progress beyond the first environment. Delivery Team Resolution never guesses; it fails explicitly if the team cannot be resolved from the intake.
Thought process: Team allocation decides where tickets go and how far delivery can climb; resolve once, carry forward. Human decision retained: engineering teams own the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workstream consumes a determination made earlier. That cross-cutting state is why the target state needs an orchestrator holding the onboarding record, not just a set of independent helpers. Stage 8 is the largest stage by a wide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workstream is a strong candidate for early P3 integration because routing errors here are the most expensive in elapsed time.
Thought process: Routing is applied from memory today; encode it once and call it first for every access request. Human decision retained: security teams approve access through existing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generated partner-specific API collection removes a real source of early friction: partners can call ICMP services with the right endpoints, authentication and sample payloads from day one.
Thought process: Subscription is procedural, approvals are not: automate the procedure, make approvals visible and aged. Human decision retained: Apigee approvers.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ingestion design must absorb the migration and peak volumes captured back in Stage 1, which is another example of a determination carried forward.
Thought process: Reconciliation protects the business outcome, so keep it in scope and design the failure path explicitly. Human decision retained: KEES team provisions.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partner may need both paths. Trusted documents bypass classification and HITL but still carry a governance-allocated classification that retention and search depend on.
Thought process: One registered determination is the single source of truth; every profile keys to it. Human decision retained: Imaging Governance determination and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configuration follows metadata design, never the other way round. The agent structures workshops so the right questions are asked once.
Thought process: Design-led work benefits most from guided structure (P2), not automation. Human decision retained: business users approve the metadata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AGRIA case this meant a defined retention code, a ten-year period and write-once-read-many storage, all of which were knowable at intake.
Thought process: Generate the questionnaire from what intake captured, so RM reviews instead of re-asking. Human decision retained: Records Management decides the retention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Ticket Routing Guard never defaults or guesses. A ticket it cannot route correctly is a ticket it does not create, which is better than one nobody sees.
Thought process: Apply volume thresholds as a rule; refuse to create a ticket whose project cannot be resolved. Human decision retained: SPLI team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UAT is the only test that closes the loop back to the objectives stated at intake, which is why the UAT plan is assembled from the intake record.
Thought process: Detect configuration conflicts before integration testing does, and route defects with context. Human decision retained: business users give UAT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Stage 7 becomes a hard gate: team allocation decided in planning determines how far delivery can physically go.
Thought process: The ladder is a rule: refuse skips and explain what the skipped environment validates. Human decision retained: release and engineering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Runbooks are what let Platform Support operate a solution it did not build. Generating them from the configuration record makes them accurate by construction.
Thought process: Write facts once into the onboarding record and generate every document from it. Human decision retained: sign-off 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solution that passes UAT can still fail on production specifics, and the people who can diagnose it in minutes are the ones who built it. The onboarding resource stays engaged through validation by design; the agent prepares the brief so that time is spent diagnosing, not reconstructing.
Thought process: Generate the transition page from the record and check it against each support team's needs. Human decision retained: named sign-off holders; agent blocks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problem to solution. Every red cell maps to a named mechanism in the target state. None of the mechanisms replace a human decision; they remove rework, waiting and re-derivation around those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FinTech agreements arrive by email and are uploaded by hand through the ICMP interface. The target automates ingestion, applies retention and reconciles through events. Human-in-the-loop is invoked only where AI classification needs human confirmation; trusted documents bypass the classification workflow. This case touches almost every specialist team, which is why it is a good test of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Stable procedure plus variable input is exactly the profile that benefits from agent-assisted execution rather than wholesale replacement. This is the hinge of the deck: from here we show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role does not go away; it becomes more valuable, focusing on judgement and partner outcomes. The agent holds what was agreed, what is outstanding and who owes what, so the onboarding survives a handover, an absence or a reassignment without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on an existing platform and agent, not a new stack. Config-driven composition means sub-agents and skills are assembled from configuration and can be versioned and tested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rule keeps the design maintainable. When access routing changes, one skill changes, and every sub-agent that calls it picks up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prevents over-promising. At P2 the user knows they are the one who will click the button. It also lets us ship value early at P1 and P2 while P3 integrations are negotiated with system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MVP1 concentrates on Stage 8 because that is where lead times and routing errors cost most. The extension set closes the front of the flow, where incomplete work creates the most downstream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is deliberate. Access Route Determination, Ticket Routing Guard and Determination Carry-Forward are called by many sub-agents. The full skill list is in appendix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requestor never sees skills that write to platform systems. Imaging Governance sees only what it needs to decide: the documents on the flow, path context and the taxonomy, not the delivery procedure. The Partner Onboarding Resource sees every domain because the design is built around that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orchestrator is not just a router. It carries determinations forward and stops a downstream sub-agent from acting on anything unconfirmed. This is precisely the context that today lives in one person's working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rules exists and is known today. They fail because they are applied from memory, and they fail silently, surfacing days later as a request in the wrong queue or a ticket nobody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answer to risk and audit questions. Every action the agent takes is recorded with the rule that authorised it and the human who approved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separate two claims on purpose: making people faster, and removing time spent waiting. They need different evidence, and most of this design targets the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describes the full target and should not be built in one pass. Each wave proves the procedural layer before integration-heavy work begins. Within Wave 4, the governance liaison skills are worth pulling forward because an unregistered determination blocks the rest of the content workstream.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prerequisite, not a formality. It lets us distinguish making people faster from removing time they spend waiting, which are different claims needing different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risks are already addressed by design choices shown earlier. The open risk is integration access, which needs sponsorship from system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bounded first step. It proves the onboarding record, the routing guards and disclosure on real onboardings before we extend to the full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90-day plan is proposed; owners and exact scope are confirmed once the decisions on slide 49 are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A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B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C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D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E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F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G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I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J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K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L skills. Each skill does one thing, carries its integration phase, and many are reused across sub-agents.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enabler user is the role the design is built around, and the only persona that spans every domain. Their whole working journey is supported, not just isolated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enabler user is the role the design is built around, and the only persona that spans every domain. Their whole working journey is supported, not just isolated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enabler user is the role the design is built around, and the only persona that spans every domain. Their whole working journey is supported, not just isolated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enabler user is the role the design is built around, and the only persona that spans every domain. Their whole working journey is supported, not just isolated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8"/>
        </a:solidFill>
      </p:bgPr>
    </p:bg>
    <p:spTree>
      <p:nvGrpSpPr>
        <p:cNvPr id="1" name=""/>
        <p:cNvGrpSpPr/>
        <p:nvPr/>
      </p:nvGrpSpPr>
      <p:grpSpPr>
        <a:xfrm>
          <a:off x="0" y="0"/>
          <a:ext cx="0" cy="0"/>
          <a:chOff x="0" y="0"/>
          <a:chExt cx="0" cy="0"/>
        </a:xfrm>
      </p:grpSpPr>
      <p:sp>
        <p:nvSpPr>
          <p:cNvPr id="2" name="Text 0"/>
          <p:cNvSpPr txBox="1"/>
          <p:nvPr/>
        </p:nvSpPr>
        <p:spPr>
          <a:xfrm>
            <a:off x="640080" y="1463040"/>
            <a:ext cx="6400800" cy="320040"/>
          </a:xfrm>
          <a:prstGeom prst="rect">
            <a:avLst/>
          </a:prstGeom>
          <a:noFill/>
          <a:ln/>
        </p:spPr>
        <p:txBody>
          <a:bodyPr wrap="square" lIns="0" tIns="0" rIns="0" bIns="0" rtlCol="0" anchor="t"/>
          <a:lstStyle/>
          <a:p>
            <a:pPr indent="0" marL="0">
              <a:buNone/>
            </a:pPr>
            <a:r>
              <a:rPr lang="en-US" sz="1300" b="1" spc="300" kern="0" dirty="0">
                <a:solidFill>
                  <a:srgbClr val="AFC3E8"/>
                </a:solidFill>
                <a:latin typeface="Calibri" pitchFamily="34" charset="0"/>
                <a:ea typeface="Calibri" pitchFamily="34" charset="-122"/>
                <a:cs typeface="Calibri" pitchFamily="34" charset="-120"/>
              </a:rPr>
              <a:t>ECM / ICMP  ·  LEADERSHIP PROPOSAL</a:t>
            </a:r>
            <a:endParaRPr lang="en-US" sz="1300" dirty="0"/>
          </a:p>
        </p:txBody>
      </p:sp>
      <p:sp>
        <p:nvSpPr>
          <p:cNvPr id="3" name="Text 1"/>
          <p:cNvSpPr txBox="1"/>
          <p:nvPr/>
        </p:nvSpPr>
        <p:spPr>
          <a:xfrm>
            <a:off x="640080" y="1874520"/>
            <a:ext cx="6583680" cy="146304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Partner Onboarding Transformation</a:t>
            </a:r>
            <a:endParaRPr lang="en-US" sz="4200" dirty="0"/>
          </a:p>
        </p:txBody>
      </p:sp>
      <p:sp>
        <p:nvSpPr>
          <p:cNvPr id="4" name="Text 2"/>
          <p:cNvSpPr txBox="1"/>
          <p:nvPr/>
        </p:nvSpPr>
        <p:spPr>
          <a:xfrm>
            <a:off x="640080" y="3429000"/>
            <a:ext cx="6217920" cy="914400"/>
          </a:xfrm>
          <a:prstGeom prst="rect">
            <a:avLst/>
          </a:prstGeom>
          <a:noFill/>
          <a:ln/>
        </p:spPr>
        <p:txBody>
          <a:bodyPr wrap="square" lIns="0" tIns="0" rIns="0" bIns="0" rtlCol="0" anchor="t"/>
          <a:lstStyle/>
          <a:p>
            <a:pPr indent="0" marL="0">
              <a:buNone/>
            </a:pPr>
            <a:r>
              <a:rPr lang="en-US" sz="1800" dirty="0">
                <a:solidFill>
                  <a:srgbClr val="D7DCEA"/>
                </a:solidFill>
                <a:latin typeface="Calibri" pitchFamily="34" charset="0"/>
                <a:ea typeface="Calibri" pitchFamily="34" charset="-122"/>
                <a:cs typeface="Calibri" pitchFamily="34" charset="-120"/>
              </a:rPr>
              <a:t>From a person-held process to agent-assisted execution with Onboard360AI on iDocs Canvas</a:t>
            </a:r>
            <a:endParaRPr lang="en-US" sz="1800" dirty="0"/>
          </a:p>
        </p:txBody>
      </p:sp>
      <p:sp>
        <p:nvSpPr>
          <p:cNvPr id="5" name="Text 3"/>
          <p:cNvSpPr txBox="1"/>
          <p:nvPr/>
        </p:nvSpPr>
        <p:spPr>
          <a:xfrm>
            <a:off x="640080" y="5760720"/>
            <a:ext cx="4572000" cy="320040"/>
          </a:xfrm>
          <a:prstGeom prst="rect">
            <a:avLst/>
          </a:prstGeom>
          <a:noFill/>
          <a:ln/>
        </p:spPr>
        <p:txBody>
          <a:bodyPr wrap="square" lIns="0" tIns="0" rIns="0" bIns="0" rtlCol="0" anchor="t"/>
          <a:lstStyle/>
          <a:p>
            <a:pPr indent="0" marL="0">
              <a:buNone/>
            </a:pPr>
            <a:r>
              <a:rPr lang="en-US" sz="1200" dirty="0">
                <a:solidFill>
                  <a:srgbClr val="AFC3E8"/>
                </a:solidFill>
                <a:latin typeface="Calibri" pitchFamily="34" charset="0"/>
                <a:ea typeface="Calibri" pitchFamily="34" charset="-122"/>
                <a:cs typeface="Calibri" pitchFamily="34" charset="-120"/>
              </a:rPr>
              <a:t>Draft for review</a:t>
            </a:r>
            <a:endParaRPr lang="en-US" sz="1200" dirty="0"/>
          </a:p>
        </p:txBody>
      </p:sp>
      <p:sp>
        <p:nvSpPr>
          <p:cNvPr id="6" name="Shape 4"/>
          <p:cNvSpPr/>
          <p:nvPr/>
        </p:nvSpPr>
        <p:spPr>
          <a:xfrm>
            <a:off x="9418320" y="1371600"/>
            <a:ext cx="914" cy="2057400"/>
          </a:xfrm>
          <a:prstGeom prst="line">
            <a:avLst/>
          </a:prstGeom>
          <a:noFill/>
          <a:ln w="15875">
            <a:solidFill>
              <a:srgbClr val="4A557A"/>
            </a:solidFill>
            <a:prstDash val="solid"/>
          </a:ln>
        </p:spPr>
      </p:sp>
      <p:sp>
        <p:nvSpPr>
          <p:cNvPr id="7" name="Shape 5"/>
          <p:cNvSpPr/>
          <p:nvPr/>
        </p:nvSpPr>
        <p:spPr>
          <a:xfrm>
            <a:off x="8095849" y="1852940"/>
            <a:ext cx="1322471" cy="1576060"/>
          </a:xfrm>
          <a:prstGeom prst="line">
            <a:avLst/>
          </a:prstGeom>
          <a:noFill/>
          <a:ln w="15875">
            <a:solidFill>
              <a:srgbClr val="4A557A"/>
            </a:solidFill>
            <a:prstDash val="solid"/>
          </a:ln>
        </p:spPr>
      </p:sp>
      <p:sp>
        <p:nvSpPr>
          <p:cNvPr id="8" name="Shape 6"/>
          <p:cNvSpPr/>
          <p:nvPr/>
        </p:nvSpPr>
        <p:spPr>
          <a:xfrm>
            <a:off x="7392177" y="3071736"/>
            <a:ext cx="2026143" cy="357264"/>
          </a:xfrm>
          <a:prstGeom prst="line">
            <a:avLst/>
          </a:prstGeom>
          <a:noFill/>
          <a:ln w="15875">
            <a:solidFill>
              <a:srgbClr val="4A557A"/>
            </a:solidFill>
            <a:prstDash val="solid"/>
          </a:ln>
        </p:spPr>
      </p:sp>
      <p:sp>
        <p:nvSpPr>
          <p:cNvPr id="9" name="Shape 7"/>
          <p:cNvSpPr/>
          <p:nvPr/>
        </p:nvSpPr>
        <p:spPr>
          <a:xfrm flipH="1">
            <a:off x="7636559" y="3429000"/>
            <a:ext cx="1781761" cy="1028700"/>
          </a:xfrm>
          <a:prstGeom prst="line">
            <a:avLst/>
          </a:prstGeom>
          <a:noFill/>
          <a:ln w="15875">
            <a:solidFill>
              <a:srgbClr val="4A557A"/>
            </a:solidFill>
            <a:prstDash val="solid"/>
          </a:ln>
        </p:spPr>
      </p:sp>
      <p:sp>
        <p:nvSpPr>
          <p:cNvPr id="10" name="Shape 8"/>
          <p:cNvSpPr/>
          <p:nvPr/>
        </p:nvSpPr>
        <p:spPr>
          <a:xfrm flipH="1">
            <a:off x="8714648" y="3429000"/>
            <a:ext cx="703672" cy="1933324"/>
          </a:xfrm>
          <a:prstGeom prst="line">
            <a:avLst/>
          </a:prstGeom>
          <a:noFill/>
          <a:ln w="15875">
            <a:solidFill>
              <a:srgbClr val="4A557A"/>
            </a:solidFill>
            <a:prstDash val="solid"/>
          </a:ln>
        </p:spPr>
      </p:sp>
      <p:sp>
        <p:nvSpPr>
          <p:cNvPr id="11" name="Shape 9"/>
          <p:cNvSpPr/>
          <p:nvPr/>
        </p:nvSpPr>
        <p:spPr>
          <a:xfrm>
            <a:off x="9418320" y="3429000"/>
            <a:ext cx="703672" cy="1933324"/>
          </a:xfrm>
          <a:prstGeom prst="line">
            <a:avLst/>
          </a:prstGeom>
          <a:noFill/>
          <a:ln w="15875">
            <a:solidFill>
              <a:srgbClr val="4A557A"/>
            </a:solidFill>
            <a:prstDash val="solid"/>
          </a:ln>
        </p:spPr>
      </p:sp>
      <p:sp>
        <p:nvSpPr>
          <p:cNvPr id="12" name="Shape 10"/>
          <p:cNvSpPr/>
          <p:nvPr/>
        </p:nvSpPr>
        <p:spPr>
          <a:xfrm>
            <a:off x="9418320" y="3429000"/>
            <a:ext cx="1781761" cy="1028700"/>
          </a:xfrm>
          <a:prstGeom prst="line">
            <a:avLst/>
          </a:prstGeom>
          <a:noFill/>
          <a:ln w="15875">
            <a:solidFill>
              <a:srgbClr val="4A557A"/>
            </a:solidFill>
            <a:prstDash val="solid"/>
          </a:ln>
        </p:spPr>
      </p:sp>
      <p:sp>
        <p:nvSpPr>
          <p:cNvPr id="13" name="Shape 11"/>
          <p:cNvSpPr/>
          <p:nvPr/>
        </p:nvSpPr>
        <p:spPr>
          <a:xfrm flipH="1">
            <a:off x="9418320" y="3071736"/>
            <a:ext cx="2026143" cy="357264"/>
          </a:xfrm>
          <a:prstGeom prst="line">
            <a:avLst/>
          </a:prstGeom>
          <a:noFill/>
          <a:ln w="15875">
            <a:solidFill>
              <a:srgbClr val="4A557A"/>
            </a:solidFill>
            <a:prstDash val="solid"/>
          </a:ln>
        </p:spPr>
      </p:sp>
      <p:sp>
        <p:nvSpPr>
          <p:cNvPr id="14" name="Shape 12"/>
          <p:cNvSpPr/>
          <p:nvPr/>
        </p:nvSpPr>
        <p:spPr>
          <a:xfrm flipH="1">
            <a:off x="9418320" y="1852940"/>
            <a:ext cx="1322471" cy="1576060"/>
          </a:xfrm>
          <a:prstGeom prst="line">
            <a:avLst/>
          </a:prstGeom>
          <a:noFill/>
          <a:ln w="15875">
            <a:solidFill>
              <a:srgbClr val="4A557A"/>
            </a:solidFill>
            <a:prstDash val="solid"/>
          </a:ln>
        </p:spPr>
      </p:sp>
      <p:sp>
        <p:nvSpPr>
          <p:cNvPr id="15" name="Shape 13"/>
          <p:cNvSpPr/>
          <p:nvPr/>
        </p:nvSpPr>
        <p:spPr>
          <a:xfrm>
            <a:off x="9144000" y="1097280"/>
            <a:ext cx="548640" cy="548640"/>
          </a:xfrm>
          <a:prstGeom prst="ellipse">
            <a:avLst/>
          </a:prstGeom>
          <a:solidFill>
            <a:srgbClr val="2563A8"/>
          </a:solidFill>
          <a:ln w="12700">
            <a:solidFill>
              <a:srgbClr val="2563A8"/>
            </a:solidFill>
            <a:prstDash val="solid"/>
          </a:ln>
        </p:spPr>
      </p:sp>
      <p:sp>
        <p:nvSpPr>
          <p:cNvPr id="16" name="Text 14"/>
          <p:cNvSpPr txBox="1"/>
          <p:nvPr/>
        </p:nvSpPr>
        <p:spPr>
          <a:xfrm>
            <a:off x="9144000" y="109728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1</a:t>
            </a:r>
            <a:endParaRPr lang="en-US" sz="1680" dirty="0"/>
          </a:p>
        </p:txBody>
      </p:sp>
      <p:sp>
        <p:nvSpPr>
          <p:cNvPr id="17" name="Shape 15"/>
          <p:cNvSpPr/>
          <p:nvPr/>
        </p:nvSpPr>
        <p:spPr>
          <a:xfrm>
            <a:off x="7821529" y="1578620"/>
            <a:ext cx="548640" cy="548640"/>
          </a:xfrm>
          <a:prstGeom prst="ellipse">
            <a:avLst/>
          </a:prstGeom>
          <a:solidFill>
            <a:srgbClr val="2563A8"/>
          </a:solidFill>
          <a:ln w="12700">
            <a:solidFill>
              <a:srgbClr val="2563A8"/>
            </a:solidFill>
            <a:prstDash val="solid"/>
          </a:ln>
        </p:spPr>
      </p:sp>
      <p:sp>
        <p:nvSpPr>
          <p:cNvPr id="18" name="Text 16"/>
          <p:cNvSpPr txBox="1"/>
          <p:nvPr/>
        </p:nvSpPr>
        <p:spPr>
          <a:xfrm>
            <a:off x="7821529" y="157862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2</a:t>
            </a:r>
            <a:endParaRPr lang="en-US" sz="1680" dirty="0"/>
          </a:p>
        </p:txBody>
      </p:sp>
      <p:sp>
        <p:nvSpPr>
          <p:cNvPr id="19" name="Shape 17"/>
          <p:cNvSpPr/>
          <p:nvPr/>
        </p:nvSpPr>
        <p:spPr>
          <a:xfrm>
            <a:off x="7117857" y="2797416"/>
            <a:ext cx="548640" cy="548640"/>
          </a:xfrm>
          <a:prstGeom prst="ellipse">
            <a:avLst/>
          </a:prstGeom>
          <a:solidFill>
            <a:srgbClr val="2563A8"/>
          </a:solidFill>
          <a:ln w="12700">
            <a:solidFill>
              <a:srgbClr val="2563A8"/>
            </a:solidFill>
            <a:prstDash val="solid"/>
          </a:ln>
        </p:spPr>
      </p:sp>
      <p:sp>
        <p:nvSpPr>
          <p:cNvPr id="20" name="Text 18"/>
          <p:cNvSpPr txBox="1"/>
          <p:nvPr/>
        </p:nvSpPr>
        <p:spPr>
          <a:xfrm>
            <a:off x="7117857" y="2797416"/>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3</a:t>
            </a:r>
            <a:endParaRPr lang="en-US" sz="1680" dirty="0"/>
          </a:p>
        </p:txBody>
      </p:sp>
      <p:sp>
        <p:nvSpPr>
          <p:cNvPr id="21" name="Shape 19"/>
          <p:cNvSpPr/>
          <p:nvPr/>
        </p:nvSpPr>
        <p:spPr>
          <a:xfrm>
            <a:off x="7362239" y="4183380"/>
            <a:ext cx="548640" cy="548640"/>
          </a:xfrm>
          <a:prstGeom prst="ellipse">
            <a:avLst/>
          </a:prstGeom>
          <a:solidFill>
            <a:srgbClr val="2563A8"/>
          </a:solidFill>
          <a:ln w="12700">
            <a:solidFill>
              <a:srgbClr val="2563A8"/>
            </a:solidFill>
            <a:prstDash val="solid"/>
          </a:ln>
        </p:spPr>
      </p:sp>
      <p:sp>
        <p:nvSpPr>
          <p:cNvPr id="22" name="Text 20"/>
          <p:cNvSpPr txBox="1"/>
          <p:nvPr/>
        </p:nvSpPr>
        <p:spPr>
          <a:xfrm>
            <a:off x="7362239" y="418338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4</a:t>
            </a:r>
            <a:endParaRPr lang="en-US" sz="1680" dirty="0"/>
          </a:p>
        </p:txBody>
      </p:sp>
      <p:sp>
        <p:nvSpPr>
          <p:cNvPr id="23" name="Shape 21"/>
          <p:cNvSpPr/>
          <p:nvPr/>
        </p:nvSpPr>
        <p:spPr>
          <a:xfrm>
            <a:off x="8440328" y="5088004"/>
            <a:ext cx="548640" cy="548640"/>
          </a:xfrm>
          <a:prstGeom prst="ellipse">
            <a:avLst/>
          </a:prstGeom>
          <a:solidFill>
            <a:srgbClr val="B9771A"/>
          </a:solidFill>
          <a:ln w="12700">
            <a:solidFill>
              <a:srgbClr val="B9771A"/>
            </a:solidFill>
            <a:prstDash val="solid"/>
          </a:ln>
        </p:spPr>
      </p:sp>
      <p:sp>
        <p:nvSpPr>
          <p:cNvPr id="24" name="Text 22"/>
          <p:cNvSpPr txBox="1"/>
          <p:nvPr/>
        </p:nvSpPr>
        <p:spPr>
          <a:xfrm>
            <a:off x="8440328" y="5088004"/>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5</a:t>
            </a:r>
            <a:endParaRPr lang="en-US" sz="1680" dirty="0"/>
          </a:p>
        </p:txBody>
      </p:sp>
      <p:sp>
        <p:nvSpPr>
          <p:cNvPr id="25" name="Shape 23"/>
          <p:cNvSpPr/>
          <p:nvPr/>
        </p:nvSpPr>
        <p:spPr>
          <a:xfrm>
            <a:off x="9847672" y="5088004"/>
            <a:ext cx="548640" cy="548640"/>
          </a:xfrm>
          <a:prstGeom prst="ellipse">
            <a:avLst/>
          </a:prstGeom>
          <a:solidFill>
            <a:srgbClr val="B9771A"/>
          </a:solidFill>
          <a:ln w="12700">
            <a:solidFill>
              <a:srgbClr val="B9771A"/>
            </a:solidFill>
            <a:prstDash val="solid"/>
          </a:ln>
        </p:spPr>
      </p:sp>
      <p:sp>
        <p:nvSpPr>
          <p:cNvPr id="26" name="Text 24"/>
          <p:cNvSpPr txBox="1"/>
          <p:nvPr/>
        </p:nvSpPr>
        <p:spPr>
          <a:xfrm>
            <a:off x="9847672" y="5088004"/>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6</a:t>
            </a:r>
            <a:endParaRPr lang="en-US" sz="1680" dirty="0"/>
          </a:p>
        </p:txBody>
      </p:sp>
      <p:sp>
        <p:nvSpPr>
          <p:cNvPr id="27" name="Shape 25"/>
          <p:cNvSpPr/>
          <p:nvPr/>
        </p:nvSpPr>
        <p:spPr>
          <a:xfrm>
            <a:off x="10925761" y="4183380"/>
            <a:ext cx="548640" cy="548640"/>
          </a:xfrm>
          <a:prstGeom prst="ellipse">
            <a:avLst/>
          </a:prstGeom>
          <a:solidFill>
            <a:srgbClr val="B9771A"/>
          </a:solidFill>
          <a:ln w="12700">
            <a:solidFill>
              <a:srgbClr val="B9771A"/>
            </a:solidFill>
            <a:prstDash val="solid"/>
          </a:ln>
        </p:spPr>
      </p:sp>
      <p:sp>
        <p:nvSpPr>
          <p:cNvPr id="28" name="Text 26"/>
          <p:cNvSpPr txBox="1"/>
          <p:nvPr/>
        </p:nvSpPr>
        <p:spPr>
          <a:xfrm>
            <a:off x="10925761" y="418338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7</a:t>
            </a:r>
            <a:endParaRPr lang="en-US" sz="1680" dirty="0"/>
          </a:p>
        </p:txBody>
      </p:sp>
      <p:sp>
        <p:nvSpPr>
          <p:cNvPr id="29" name="Shape 27"/>
          <p:cNvSpPr/>
          <p:nvPr/>
        </p:nvSpPr>
        <p:spPr>
          <a:xfrm>
            <a:off x="11170143" y="2797416"/>
            <a:ext cx="548640" cy="548640"/>
          </a:xfrm>
          <a:prstGeom prst="ellipse">
            <a:avLst/>
          </a:prstGeom>
          <a:solidFill>
            <a:srgbClr val="2E7D4F"/>
          </a:solidFill>
          <a:ln w="12700">
            <a:solidFill>
              <a:srgbClr val="2E7D4F"/>
            </a:solidFill>
            <a:prstDash val="solid"/>
          </a:ln>
        </p:spPr>
      </p:sp>
      <p:sp>
        <p:nvSpPr>
          <p:cNvPr id="30" name="Text 28"/>
          <p:cNvSpPr txBox="1"/>
          <p:nvPr/>
        </p:nvSpPr>
        <p:spPr>
          <a:xfrm>
            <a:off x="11170143" y="2797416"/>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8</a:t>
            </a:r>
            <a:endParaRPr lang="en-US" sz="1680" dirty="0"/>
          </a:p>
        </p:txBody>
      </p:sp>
      <p:sp>
        <p:nvSpPr>
          <p:cNvPr id="31" name="Shape 29"/>
          <p:cNvSpPr/>
          <p:nvPr/>
        </p:nvSpPr>
        <p:spPr>
          <a:xfrm>
            <a:off x="10466471" y="1578620"/>
            <a:ext cx="548640" cy="548640"/>
          </a:xfrm>
          <a:prstGeom prst="ellipse">
            <a:avLst/>
          </a:prstGeom>
          <a:solidFill>
            <a:srgbClr val="2E7D4F"/>
          </a:solidFill>
          <a:ln w="12700">
            <a:solidFill>
              <a:srgbClr val="2E7D4F"/>
            </a:solidFill>
            <a:prstDash val="solid"/>
          </a:ln>
        </p:spPr>
      </p:sp>
      <p:sp>
        <p:nvSpPr>
          <p:cNvPr id="32" name="Text 30"/>
          <p:cNvSpPr txBox="1"/>
          <p:nvPr/>
        </p:nvSpPr>
        <p:spPr>
          <a:xfrm>
            <a:off x="10466471" y="157862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9</a:t>
            </a:r>
            <a:endParaRPr lang="en-US" sz="1680" dirty="0"/>
          </a:p>
        </p:txBody>
      </p:sp>
      <p:sp>
        <p:nvSpPr>
          <p:cNvPr id="33" name="Shape 31"/>
          <p:cNvSpPr/>
          <p:nvPr/>
        </p:nvSpPr>
        <p:spPr>
          <a:xfrm>
            <a:off x="8641080" y="2651760"/>
            <a:ext cx="1554480" cy="1554480"/>
          </a:xfrm>
          <a:prstGeom prst="ellipse">
            <a:avLst/>
          </a:prstGeom>
          <a:solidFill>
            <a:srgbClr val="5B3FA0"/>
          </a:solidFill>
          <a:ln w="25400">
            <a:solidFill>
              <a:srgbClr val="FFFFFF"/>
            </a:solidFill>
            <a:prstDash val="solid"/>
          </a:ln>
        </p:spPr>
      </p:sp>
      <p:sp>
        <p:nvSpPr>
          <p:cNvPr id="34" name="Text 32"/>
          <p:cNvSpPr txBox="1"/>
          <p:nvPr/>
        </p:nvSpPr>
        <p:spPr>
          <a:xfrm>
            <a:off x="8641080" y="2651760"/>
            <a:ext cx="1554480" cy="1554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Onboard360AI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Onboarding is a stable procedure held in one person's memory; we propose encoding it</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Opening · Executive summary</a:t>
            </a:r>
            <a:endParaRPr lang="en-US" sz="1000" dirty="0"/>
          </a:p>
        </p:txBody>
      </p:sp>
      <p:sp>
        <p:nvSpPr>
          <p:cNvPr id="4" name="Shape 2"/>
          <p:cNvSpPr/>
          <p:nvPr/>
        </p:nvSpPr>
        <p:spPr>
          <a:xfrm>
            <a:off x="411480" y="1234440"/>
            <a:ext cx="3639312" cy="4114800"/>
          </a:xfrm>
          <a:prstGeom prst="roundRect">
            <a:avLst>
              <a:gd name="adj" fmla="val 2010"/>
            </a:avLst>
          </a:prstGeom>
          <a:solidFill>
            <a:srgbClr val="F3F4F7"/>
          </a:solidFill>
          <a:ln w="9525">
            <a:solidFill>
              <a:srgbClr val="F3F4F7"/>
            </a:solidFill>
            <a:prstDash val="solid"/>
          </a:ln>
        </p:spPr>
      </p:sp>
      <p:sp>
        <p:nvSpPr>
          <p:cNvPr id="5" name="Text 3"/>
          <p:cNvSpPr txBox="1"/>
          <p:nvPr/>
        </p:nvSpPr>
        <p:spPr>
          <a:xfrm>
            <a:off x="640080" y="1417320"/>
            <a:ext cx="3200400" cy="411480"/>
          </a:xfrm>
          <a:prstGeom prst="rect">
            <a:avLst/>
          </a:prstGeom>
          <a:noFill/>
          <a:ln/>
        </p:spPr>
        <p:txBody>
          <a:bodyPr wrap="square" lIns="0" tIns="0" rIns="0" bIns="0" rtlCol="0" anchor="t"/>
          <a:lstStyle/>
          <a:p>
            <a:pPr indent="0" marL="0">
              <a:buNone/>
            </a:pPr>
            <a:r>
              <a:rPr lang="en-US" sz="2000" b="1" dirty="0">
                <a:solidFill>
                  <a:srgbClr val="5A6275"/>
                </a:solidFill>
                <a:latin typeface="Cambria" pitchFamily="34" charset="0"/>
                <a:ea typeface="Cambria" pitchFamily="34" charset="-122"/>
                <a:cs typeface="Cambria" pitchFamily="34" charset="-120"/>
              </a:rPr>
              <a:t>Today</a:t>
            </a:r>
            <a:endParaRPr lang="en-US" sz="2000" dirty="0"/>
          </a:p>
        </p:txBody>
      </p:sp>
      <p:sp>
        <p:nvSpPr>
          <p:cNvPr id="6" name="Text 4"/>
          <p:cNvSpPr txBox="1"/>
          <p:nvPr/>
        </p:nvSpPr>
        <p:spPr>
          <a:xfrm>
            <a:off x="640080" y="1965960"/>
            <a:ext cx="3200400" cy="3200400"/>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9 fixed stages in 3 phases, for every partner</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Accountability changes hands at least 6 times</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One role engaged in 8 of 9 stages</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Critical rules fail silently: ticket routing, access routing, environment ladder</a:t>
            </a:r>
            <a:endParaRPr lang="en-US" sz="1400" dirty="0"/>
          </a:p>
        </p:txBody>
      </p:sp>
      <p:sp>
        <p:nvSpPr>
          <p:cNvPr id="7" name="Shape 5"/>
          <p:cNvSpPr/>
          <p:nvPr/>
        </p:nvSpPr>
        <p:spPr>
          <a:xfrm>
            <a:off x="4233672" y="1234440"/>
            <a:ext cx="3639312" cy="4114800"/>
          </a:xfrm>
          <a:prstGeom prst="roundRect">
            <a:avLst>
              <a:gd name="adj" fmla="val 2010"/>
            </a:avLst>
          </a:prstGeom>
          <a:solidFill>
            <a:srgbClr val="F1EDF9"/>
          </a:solidFill>
          <a:ln w="9525">
            <a:solidFill>
              <a:srgbClr val="F1EDF9"/>
            </a:solidFill>
            <a:prstDash val="solid"/>
          </a:ln>
        </p:spPr>
      </p:sp>
      <p:sp>
        <p:nvSpPr>
          <p:cNvPr id="8" name="Text 6"/>
          <p:cNvSpPr txBox="1"/>
          <p:nvPr/>
        </p:nvSpPr>
        <p:spPr>
          <a:xfrm>
            <a:off x="4462272" y="1417320"/>
            <a:ext cx="3200400" cy="411480"/>
          </a:xfrm>
          <a:prstGeom prst="rect">
            <a:avLst/>
          </a:prstGeom>
          <a:noFill/>
          <a:ln/>
        </p:spPr>
        <p:txBody>
          <a:bodyPr wrap="square" lIns="0" tIns="0" rIns="0" bIns="0" rtlCol="0" anchor="t"/>
          <a:lstStyle/>
          <a:p>
            <a:pPr indent="0" marL="0">
              <a:buNone/>
            </a:pPr>
            <a:r>
              <a:rPr lang="en-US" sz="2000" b="1" dirty="0">
                <a:solidFill>
                  <a:srgbClr val="5B3FA0"/>
                </a:solidFill>
                <a:latin typeface="Cambria" pitchFamily="34" charset="0"/>
                <a:ea typeface="Cambria" pitchFamily="34" charset="-122"/>
                <a:cs typeface="Cambria" pitchFamily="34" charset="-120"/>
              </a:rPr>
              <a:t>Proposal</a:t>
            </a:r>
            <a:endParaRPr lang="en-US" sz="2000" dirty="0"/>
          </a:p>
        </p:txBody>
      </p:sp>
      <p:sp>
        <p:nvSpPr>
          <p:cNvPr id="9" name="Text 7"/>
          <p:cNvSpPr txBox="1"/>
          <p:nvPr/>
        </p:nvSpPr>
        <p:spPr>
          <a:xfrm>
            <a:off x="4462272" y="1965960"/>
            <a:ext cx="3200400" cy="3200400"/>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Onboard360AI as orchestrating sub-agent under the Platform Specialist Agent</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19 goal-bearing sub-agents, 138 skills in 12 domains</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Rules enforced, not remembered; waiting made visible</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Integration phased: P1 Link → P2 Guide → P3 Direct</a:t>
            </a:r>
            <a:endParaRPr lang="en-US" sz="1400" dirty="0"/>
          </a:p>
        </p:txBody>
      </p:sp>
      <p:sp>
        <p:nvSpPr>
          <p:cNvPr id="10" name="Shape 8"/>
          <p:cNvSpPr/>
          <p:nvPr/>
        </p:nvSpPr>
        <p:spPr>
          <a:xfrm>
            <a:off x="8055864" y="1234440"/>
            <a:ext cx="3639312" cy="4114800"/>
          </a:xfrm>
          <a:prstGeom prst="roundRect">
            <a:avLst>
              <a:gd name="adj" fmla="val 2010"/>
            </a:avLst>
          </a:prstGeom>
          <a:solidFill>
            <a:srgbClr val="FFFFFF"/>
          </a:solidFill>
          <a:ln w="9525">
            <a:solidFill>
              <a:srgbClr val="1B2238"/>
            </a:solidFill>
            <a:prstDash val="solid"/>
          </a:ln>
        </p:spPr>
      </p:sp>
      <p:sp>
        <p:nvSpPr>
          <p:cNvPr id="11" name="Text 9"/>
          <p:cNvSpPr txBox="1"/>
          <p:nvPr/>
        </p:nvSpPr>
        <p:spPr>
          <a:xfrm>
            <a:off x="8284464" y="1417320"/>
            <a:ext cx="3200400" cy="411480"/>
          </a:xfrm>
          <a:prstGeom prst="rect">
            <a:avLst/>
          </a:prstGeom>
          <a:noFill/>
          <a:ln/>
        </p:spPr>
        <p:txBody>
          <a:bodyPr wrap="square" lIns="0" tIns="0" rIns="0" bIns="0" rtlCol="0" anchor="t"/>
          <a:lstStyle/>
          <a:p>
            <a:pPr indent="0" marL="0">
              <a:buNone/>
            </a:pPr>
            <a:r>
              <a:rPr lang="en-US" sz="2000" b="1" dirty="0">
                <a:solidFill>
                  <a:srgbClr val="1B2238"/>
                </a:solidFill>
                <a:latin typeface="Cambria" pitchFamily="34" charset="0"/>
                <a:ea typeface="Cambria" pitchFamily="34" charset="-122"/>
                <a:cs typeface="Cambria" pitchFamily="34" charset="-120"/>
              </a:rPr>
              <a:t>Decision needed</a:t>
            </a:r>
            <a:endParaRPr lang="en-US" sz="2000" dirty="0"/>
          </a:p>
        </p:txBody>
      </p:sp>
      <p:sp>
        <p:nvSpPr>
          <p:cNvPr id="12" name="Text 10"/>
          <p:cNvSpPr txBox="1"/>
          <p:nvPr/>
        </p:nvSpPr>
        <p:spPr>
          <a:xfrm>
            <a:off x="8284464" y="1965960"/>
            <a:ext cx="3200400" cy="3200400"/>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Approve Wave 1: cross-cutting skills + 8 MVP1 sub-agents</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Fund the current-state baseline measurement</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Sponsor integration access with system owners</a:t>
            </a:r>
            <a:endParaRPr lang="en-US" sz="1400" dirty="0"/>
          </a:p>
          <a:p>
            <a:pPr marL="152400" indent="-152400">
              <a:spcAft>
                <a:spcPts val="1000"/>
              </a:spcAft>
              <a:buSzPct val="100000"/>
              <a:buChar char="•"/>
            </a:pPr>
            <a:r>
              <a:rPr lang="en-US" sz="1400" dirty="0">
                <a:solidFill>
                  <a:srgbClr val="1B2238"/>
                </a:solidFill>
                <a:latin typeface="Calibri" pitchFamily="34" charset="0"/>
                <a:ea typeface="Calibri" pitchFamily="34" charset="-122"/>
                <a:cs typeface="Calibri" pitchFamily="34" charset="-120"/>
              </a:rPr>
              <a:t>Agree success measures before build</a:t>
            </a:r>
            <a:endParaRPr lang="en-US" sz="1400" dirty="0"/>
          </a:p>
        </p:txBody>
      </p:sp>
      <p:sp>
        <p:nvSpPr>
          <p:cNvPr id="13" name="Shape 11"/>
          <p:cNvSpPr/>
          <p:nvPr/>
        </p:nvSpPr>
        <p:spPr>
          <a:xfrm>
            <a:off x="411480" y="5577840"/>
            <a:ext cx="11365992" cy="640080"/>
          </a:xfrm>
          <a:prstGeom prst="roundRect">
            <a:avLst>
              <a:gd name="adj" fmla="val 11429"/>
            </a:avLst>
          </a:prstGeom>
          <a:solidFill>
            <a:srgbClr val="5B3FA0"/>
          </a:solidFill>
          <a:ln w="9525">
            <a:solidFill>
              <a:srgbClr val="5B3FA0"/>
            </a:solidFill>
            <a:prstDash val="solid"/>
          </a:ln>
        </p:spPr>
      </p:sp>
      <p:sp>
        <p:nvSpPr>
          <p:cNvPr id="14" name="Text 12"/>
          <p:cNvSpPr txBox="1"/>
          <p:nvPr/>
        </p:nvSpPr>
        <p:spPr>
          <a:xfrm>
            <a:off x="411480" y="5577840"/>
            <a:ext cx="1136599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Onboard360AI assists and enforces. It does not approve.</a:t>
            </a:r>
            <a:endParaRPr lang="en-US" sz="1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Three structural traits make onboarding slow, fragile and hard to scale</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Opening · The problem</a:t>
            </a:r>
            <a:endParaRPr lang="en-US" sz="1000" dirty="0"/>
          </a:p>
        </p:txBody>
      </p:sp>
      <p:sp>
        <p:nvSpPr>
          <p:cNvPr id="4" name="Shape 2"/>
          <p:cNvSpPr/>
          <p:nvPr/>
        </p:nvSpPr>
        <p:spPr>
          <a:xfrm>
            <a:off x="411480" y="1234440"/>
            <a:ext cx="3639312" cy="2743200"/>
          </a:xfrm>
          <a:prstGeom prst="roundRect">
            <a:avLst>
              <a:gd name="adj" fmla="val 2667"/>
            </a:avLst>
          </a:prstGeom>
          <a:solidFill>
            <a:srgbClr val="F3F4F7"/>
          </a:solidFill>
          <a:ln w="9525">
            <a:solidFill>
              <a:srgbClr val="F3F4F7"/>
            </a:solidFill>
            <a:prstDash val="solid"/>
          </a:ln>
        </p:spPr>
      </p:sp>
      <p:sp>
        <p:nvSpPr>
          <p:cNvPr id="5" name="Shape 3"/>
          <p:cNvSpPr/>
          <p:nvPr/>
        </p:nvSpPr>
        <p:spPr>
          <a:xfrm>
            <a:off x="640080" y="1417320"/>
            <a:ext cx="548640" cy="548640"/>
          </a:xfrm>
          <a:prstGeom prst="ellipse">
            <a:avLst/>
          </a:prstGeom>
          <a:solidFill>
            <a:srgbClr val="1B2238"/>
          </a:solidFill>
          <a:ln w="12700">
            <a:solidFill>
              <a:srgbClr val="1B2238"/>
            </a:solidFill>
            <a:prstDash val="solid"/>
          </a:ln>
        </p:spPr>
      </p:sp>
      <p:sp>
        <p:nvSpPr>
          <p:cNvPr id="6" name="Text 4"/>
          <p:cNvSpPr txBox="1"/>
          <p:nvPr/>
        </p:nvSpPr>
        <p:spPr>
          <a:xfrm>
            <a:off x="640080" y="141732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1</a:t>
            </a:r>
            <a:endParaRPr lang="en-US" sz="1680" dirty="0"/>
          </a:p>
        </p:txBody>
      </p:sp>
      <p:sp>
        <p:nvSpPr>
          <p:cNvPr id="7" name="Text 5"/>
          <p:cNvSpPr txBox="1"/>
          <p:nvPr/>
        </p:nvSpPr>
        <p:spPr>
          <a:xfrm>
            <a:off x="640080" y="2103120"/>
            <a:ext cx="3200400" cy="64008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Accountability moves repeatedly</a:t>
            </a:r>
            <a:endParaRPr lang="en-US" sz="1700" dirty="0"/>
          </a:p>
        </p:txBody>
      </p:sp>
      <p:sp>
        <p:nvSpPr>
          <p:cNvPr id="8" name="Text 6"/>
          <p:cNvSpPr txBox="1"/>
          <p:nvPr/>
        </p:nvSpPr>
        <p:spPr>
          <a:xfrm>
            <a:off x="640080" y="2743200"/>
            <a:ext cx="3200400" cy="118872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Partner team → ECM intake → LOB sponsor → product owner → L3 PM → engineering → onboarding resource. Each handoff rebuilds context instead of carrying it.</a:t>
            </a:r>
            <a:endParaRPr lang="en-US" sz="1250" dirty="0"/>
          </a:p>
        </p:txBody>
      </p:sp>
      <p:sp>
        <p:nvSpPr>
          <p:cNvPr id="9" name="Shape 7"/>
          <p:cNvSpPr/>
          <p:nvPr/>
        </p:nvSpPr>
        <p:spPr>
          <a:xfrm>
            <a:off x="4233672" y="1234440"/>
            <a:ext cx="3639312" cy="2743200"/>
          </a:xfrm>
          <a:prstGeom prst="roundRect">
            <a:avLst>
              <a:gd name="adj" fmla="val 2667"/>
            </a:avLst>
          </a:prstGeom>
          <a:solidFill>
            <a:srgbClr val="F3F4F7"/>
          </a:solidFill>
          <a:ln w="9525">
            <a:solidFill>
              <a:srgbClr val="F3F4F7"/>
            </a:solidFill>
            <a:prstDash val="solid"/>
          </a:ln>
        </p:spPr>
      </p:sp>
      <p:sp>
        <p:nvSpPr>
          <p:cNvPr id="10" name="Shape 8"/>
          <p:cNvSpPr/>
          <p:nvPr/>
        </p:nvSpPr>
        <p:spPr>
          <a:xfrm>
            <a:off x="4462272" y="1417320"/>
            <a:ext cx="548640" cy="548640"/>
          </a:xfrm>
          <a:prstGeom prst="ellipse">
            <a:avLst/>
          </a:prstGeom>
          <a:solidFill>
            <a:srgbClr val="1B2238"/>
          </a:solidFill>
          <a:ln w="12700">
            <a:solidFill>
              <a:srgbClr val="1B2238"/>
            </a:solidFill>
            <a:prstDash val="solid"/>
          </a:ln>
        </p:spPr>
      </p:sp>
      <p:sp>
        <p:nvSpPr>
          <p:cNvPr id="11" name="Text 9"/>
          <p:cNvSpPr txBox="1"/>
          <p:nvPr/>
        </p:nvSpPr>
        <p:spPr>
          <a:xfrm>
            <a:off x="4462272" y="141732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2</a:t>
            </a:r>
            <a:endParaRPr lang="en-US" sz="1680" dirty="0"/>
          </a:p>
        </p:txBody>
      </p:sp>
      <p:sp>
        <p:nvSpPr>
          <p:cNvPr id="12" name="Text 10"/>
          <p:cNvSpPr txBox="1"/>
          <p:nvPr/>
        </p:nvSpPr>
        <p:spPr>
          <a:xfrm>
            <a:off x="4462272" y="2103120"/>
            <a:ext cx="3200400" cy="64008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One role spans everything</a:t>
            </a:r>
            <a:endParaRPr lang="en-US" sz="1700" dirty="0"/>
          </a:p>
        </p:txBody>
      </p:sp>
      <p:sp>
        <p:nvSpPr>
          <p:cNvPr id="13" name="Text 11"/>
          <p:cNvSpPr txBox="1"/>
          <p:nvPr/>
        </p:nvSpPr>
        <p:spPr>
          <a:xfrm>
            <a:off x="4462272" y="2743200"/>
            <a:ext cx="3200400" cy="118872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The Partner Onboarding Resource is the only participant in 8 of 9 stages. Continuity depends on their working memory.</a:t>
            </a:r>
            <a:endParaRPr lang="en-US" sz="1250" dirty="0"/>
          </a:p>
        </p:txBody>
      </p:sp>
      <p:sp>
        <p:nvSpPr>
          <p:cNvPr id="14" name="Shape 12"/>
          <p:cNvSpPr/>
          <p:nvPr/>
        </p:nvSpPr>
        <p:spPr>
          <a:xfrm>
            <a:off x="8055864" y="1234440"/>
            <a:ext cx="3639312" cy="2743200"/>
          </a:xfrm>
          <a:prstGeom prst="roundRect">
            <a:avLst>
              <a:gd name="adj" fmla="val 2667"/>
            </a:avLst>
          </a:prstGeom>
          <a:solidFill>
            <a:srgbClr val="F3F4F7"/>
          </a:solidFill>
          <a:ln w="9525">
            <a:solidFill>
              <a:srgbClr val="F3F4F7"/>
            </a:solidFill>
            <a:prstDash val="solid"/>
          </a:ln>
        </p:spPr>
      </p:sp>
      <p:sp>
        <p:nvSpPr>
          <p:cNvPr id="15" name="Shape 13"/>
          <p:cNvSpPr/>
          <p:nvPr/>
        </p:nvSpPr>
        <p:spPr>
          <a:xfrm>
            <a:off x="8284464" y="1417320"/>
            <a:ext cx="548640" cy="548640"/>
          </a:xfrm>
          <a:prstGeom prst="ellipse">
            <a:avLst/>
          </a:prstGeom>
          <a:solidFill>
            <a:srgbClr val="1B2238"/>
          </a:solidFill>
          <a:ln w="12700">
            <a:solidFill>
              <a:srgbClr val="1B2238"/>
            </a:solidFill>
            <a:prstDash val="solid"/>
          </a:ln>
        </p:spPr>
      </p:sp>
      <p:sp>
        <p:nvSpPr>
          <p:cNvPr id="16" name="Text 14"/>
          <p:cNvSpPr txBox="1"/>
          <p:nvPr/>
        </p:nvSpPr>
        <p:spPr>
          <a:xfrm>
            <a:off x="8284464" y="141732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3</a:t>
            </a:r>
            <a:endParaRPr lang="en-US" sz="1680" dirty="0"/>
          </a:p>
        </p:txBody>
      </p:sp>
      <p:sp>
        <p:nvSpPr>
          <p:cNvPr id="17" name="Text 15"/>
          <p:cNvSpPr txBox="1"/>
          <p:nvPr/>
        </p:nvSpPr>
        <p:spPr>
          <a:xfrm>
            <a:off x="8284464" y="2103120"/>
            <a:ext cx="3200400" cy="64008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The pattern repeats almost identically</a:t>
            </a:r>
            <a:endParaRPr lang="en-US" sz="1700" dirty="0"/>
          </a:p>
        </p:txBody>
      </p:sp>
      <p:sp>
        <p:nvSpPr>
          <p:cNvPr id="18" name="Text 16"/>
          <p:cNvSpPr txBox="1"/>
          <p:nvPr/>
        </p:nvSpPr>
        <p:spPr>
          <a:xfrm>
            <a:off x="8284464" y="2743200"/>
            <a:ext cx="3200400" cy="118872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Same stages, workstreams, artifacts, routing rules and approval paths. Only the content differs.</a:t>
            </a:r>
            <a:endParaRPr lang="en-US" sz="1250" dirty="0"/>
          </a:p>
        </p:txBody>
      </p:sp>
      <p:sp>
        <p:nvSpPr>
          <p:cNvPr id="19" name="Shape 17"/>
          <p:cNvSpPr/>
          <p:nvPr/>
        </p:nvSpPr>
        <p:spPr>
          <a:xfrm>
            <a:off x="411480" y="4206240"/>
            <a:ext cx="11365992" cy="2011680"/>
          </a:xfrm>
          <a:prstGeom prst="roundRect">
            <a:avLst>
              <a:gd name="adj" fmla="val 3636"/>
            </a:avLst>
          </a:prstGeom>
          <a:solidFill>
            <a:srgbClr val="FBEDEC"/>
          </a:solidFill>
          <a:ln w="9525">
            <a:solidFill>
              <a:srgbClr val="B3261E"/>
            </a:solidFill>
            <a:prstDash val="solid"/>
          </a:ln>
        </p:spPr>
      </p:sp>
      <p:sp>
        <p:nvSpPr>
          <p:cNvPr id="20" name="Text 18"/>
          <p:cNvSpPr txBox="1"/>
          <p:nvPr/>
        </p:nvSpPr>
        <p:spPr>
          <a:xfrm>
            <a:off x="640080" y="4343400"/>
            <a:ext cx="5486400" cy="274320"/>
          </a:xfrm>
          <a:prstGeom prst="rect">
            <a:avLst/>
          </a:prstGeom>
          <a:noFill/>
          <a:ln/>
        </p:spPr>
        <p:txBody>
          <a:bodyPr wrap="square" lIns="0" tIns="0" rIns="0" bIns="0" rtlCol="0" anchor="t"/>
          <a:lstStyle/>
          <a:p>
            <a:pPr indent="0" marL="0">
              <a:buNone/>
            </a:pPr>
            <a:r>
              <a:rPr lang="en-US" sz="1100" b="1" spc="100" kern="0" dirty="0">
                <a:solidFill>
                  <a:srgbClr val="B3261E"/>
                </a:solidFill>
                <a:latin typeface="Calibri" pitchFamily="34" charset="0"/>
                <a:ea typeface="Calibri" pitchFamily="34" charset="-122"/>
                <a:cs typeface="Calibri" pitchFamily="34" charset="-120"/>
              </a:rPr>
              <a:t>WHAT IT COSTS</a:t>
            </a:r>
            <a:endParaRPr lang="en-US" sz="1100" dirty="0"/>
          </a:p>
        </p:txBody>
      </p:sp>
      <p:sp>
        <p:nvSpPr>
          <p:cNvPr id="21" name="Text 19"/>
          <p:cNvSpPr txBox="1"/>
          <p:nvPr/>
        </p:nvSpPr>
        <p:spPr>
          <a:xfrm>
            <a:off x="640080" y="4663440"/>
            <a:ext cx="10972800" cy="1463040"/>
          </a:xfrm>
          <a:prstGeom prst="rect">
            <a:avLst/>
          </a:prstGeom>
          <a:noFill/>
          <a:ln/>
        </p:spPr>
        <p:txBody>
          <a:bodyPr wrap="square" lIns="0" tIns="0" rIns="0" bIns="0" rtlCol="0" anchor="t"/>
          <a:lstStyle/>
          <a:p>
            <a:pPr marL="152400" indent="-152400">
              <a:spcAft>
                <a:spcPts val="500"/>
              </a:spcAft>
              <a:buSzPct val="100000"/>
              <a:buChar char="•"/>
            </a:pPr>
            <a:r>
              <a:rPr lang="en-US" sz="1350" dirty="0">
                <a:solidFill>
                  <a:srgbClr val="1B2238"/>
                </a:solidFill>
                <a:latin typeface="Calibri" pitchFamily="34" charset="0"/>
                <a:ea typeface="Calibri" pitchFamily="34" charset="-122"/>
                <a:cs typeface="Calibri" pitchFamily="34" charset="-120"/>
              </a:rPr>
              <a:t>Misrouted tickets and access requests that fail days later, after the delay is incurred</a:t>
            </a:r>
            <a:endParaRPr lang="en-US" sz="1350" dirty="0"/>
          </a:p>
          <a:p>
            <a:pPr marL="152400" indent="-152400">
              <a:spcAft>
                <a:spcPts val="500"/>
              </a:spcAft>
              <a:buSzPct val="100000"/>
              <a:buChar char="•"/>
            </a:pPr>
            <a:r>
              <a:rPr lang="en-US" sz="1350" dirty="0">
                <a:solidFill>
                  <a:srgbClr val="1B2238"/>
                </a:solidFill>
                <a:latin typeface="Calibri" pitchFamily="34" charset="0"/>
                <a:ea typeface="Calibri" pitchFamily="34" charset="-122"/>
                <a:cs typeface="Calibri" pitchFamily="34" charset="-120"/>
              </a:rPr>
              <a:t>Designs built on an assumed classification, then reworked</a:t>
            </a:r>
            <a:endParaRPr lang="en-US" sz="1350" dirty="0"/>
          </a:p>
          <a:p>
            <a:pPr marL="152400" indent="-152400">
              <a:spcAft>
                <a:spcPts val="500"/>
              </a:spcAft>
              <a:buSzPct val="100000"/>
              <a:buChar char="•"/>
            </a:pPr>
            <a:r>
              <a:rPr lang="en-US" sz="1350" dirty="0">
                <a:solidFill>
                  <a:srgbClr val="1B2238"/>
                </a:solidFill>
                <a:latin typeface="Calibri" pitchFamily="34" charset="0"/>
                <a:ea typeface="Calibri" pitchFamily="34" charset="-122"/>
                <a:cs typeface="Calibri" pitchFamily="34" charset="-120"/>
              </a:rPr>
              <a:t>Waiting for clarifications, approvals and queues that nobody can see</a:t>
            </a:r>
            <a:endParaRPr lang="en-US" sz="1350" dirty="0"/>
          </a:p>
          <a:p>
            <a:pPr marL="152400" indent="-152400">
              <a:spcAft>
                <a:spcPts val="500"/>
              </a:spcAft>
              <a:buSzPct val="100000"/>
              <a:buChar char="•"/>
            </a:pPr>
            <a:r>
              <a:rPr lang="en-US" sz="1350" dirty="0">
                <a:solidFill>
                  <a:srgbClr val="1B2238"/>
                </a:solidFill>
                <a:latin typeface="Calibri" pitchFamily="34" charset="0"/>
                <a:ea typeface="Calibri" pitchFamily="34" charset="-122"/>
                <a:cs typeface="Calibri" pitchFamily="34" charset="-120"/>
              </a:rPr>
              <a:t>Effort and elapsed time per stage: [baseline], to be measured</a:t>
            </a:r>
            <a:endParaRPr lang="en-US" sz="13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We walk the process stage by stage, then show how Onboard360AI changes it</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Agenda</a:t>
            </a:r>
            <a:endParaRPr lang="en-US" sz="1000" dirty="0"/>
          </a:p>
        </p:txBody>
      </p:sp>
      <p:sp>
        <p:nvSpPr>
          <p:cNvPr id="4" name="Shape 2"/>
          <p:cNvSpPr/>
          <p:nvPr/>
        </p:nvSpPr>
        <p:spPr>
          <a:xfrm>
            <a:off x="411480" y="1234440"/>
            <a:ext cx="5577840" cy="685800"/>
          </a:xfrm>
          <a:prstGeom prst="roundRect">
            <a:avLst>
              <a:gd name="adj" fmla="val 10667"/>
            </a:avLst>
          </a:prstGeom>
          <a:solidFill>
            <a:srgbClr val="F3F4F7"/>
          </a:solidFill>
          <a:ln w="9525">
            <a:solidFill>
              <a:srgbClr val="F3F4F7"/>
            </a:solidFill>
            <a:prstDash val="solid"/>
          </a:ln>
        </p:spPr>
      </p:sp>
      <p:sp>
        <p:nvSpPr>
          <p:cNvPr id="5" name="Shape 3"/>
          <p:cNvSpPr/>
          <p:nvPr/>
        </p:nvSpPr>
        <p:spPr>
          <a:xfrm>
            <a:off x="594360" y="1371600"/>
            <a:ext cx="411480" cy="411480"/>
          </a:xfrm>
          <a:prstGeom prst="ellipse">
            <a:avLst/>
          </a:prstGeom>
          <a:solidFill>
            <a:srgbClr val="1B2238"/>
          </a:solidFill>
          <a:ln w="12700">
            <a:solidFill>
              <a:srgbClr val="1B2238"/>
            </a:solidFill>
            <a:prstDash val="solid"/>
          </a:ln>
        </p:spPr>
      </p:sp>
      <p:sp>
        <p:nvSpPr>
          <p:cNvPr id="6" name="Text 4"/>
          <p:cNvSpPr txBox="1"/>
          <p:nvPr/>
        </p:nvSpPr>
        <p:spPr>
          <a:xfrm>
            <a:off x="594360" y="1371600"/>
            <a:ext cx="411480" cy="411480"/>
          </a:xfrm>
          <a:prstGeom prst="rect">
            <a:avLst/>
          </a:prstGeom>
          <a:noFill/>
          <a:ln/>
        </p:spPr>
        <p:txBody>
          <a:bodyPr wrap="square" lIns="0" tIns="0" rIns="0" bIns="0" rtlCol="0" anchor="ctr"/>
          <a:lstStyle/>
          <a:p>
            <a:pPr algn="ctr" indent="0" marL="0">
              <a:buNone/>
            </a:pPr>
            <a:r>
              <a:rPr lang="en-US" sz="1260" b="1" dirty="0">
                <a:solidFill>
                  <a:srgbClr val="FFFFFF"/>
                </a:solidFill>
                <a:latin typeface="Calibri" pitchFamily="34" charset="0"/>
                <a:ea typeface="Calibri" pitchFamily="34" charset="-122"/>
                <a:cs typeface="Calibri" pitchFamily="34" charset="-120"/>
              </a:rPr>
              <a:t>1</a:t>
            </a:r>
            <a:endParaRPr lang="en-US" sz="1260" dirty="0"/>
          </a:p>
        </p:txBody>
      </p:sp>
      <p:sp>
        <p:nvSpPr>
          <p:cNvPr id="7" name="Text 5"/>
          <p:cNvSpPr txBox="1"/>
          <p:nvPr/>
        </p:nvSpPr>
        <p:spPr>
          <a:xfrm>
            <a:off x="1143000" y="1234440"/>
            <a:ext cx="4572000" cy="685800"/>
          </a:xfrm>
          <a:prstGeom prst="rect">
            <a:avLst/>
          </a:prstGeom>
          <a:noFill/>
          <a:ln/>
        </p:spPr>
        <p:txBody>
          <a:bodyPr wrap="square" lIns="0" tIns="0" rIns="0" bIns="0" rtlCol="0" anchor="ctr"/>
          <a:lstStyle/>
          <a:p>
            <a:pPr indent="0" marL="0">
              <a:buNone/>
            </a:pPr>
            <a:r>
              <a:rPr lang="en-US" sz="1600" b="1" dirty="0">
                <a:solidFill>
                  <a:srgbClr val="1B2238"/>
                </a:solidFill>
                <a:latin typeface="Calibri" pitchFamily="34" charset="0"/>
                <a:ea typeface="Calibri" pitchFamily="34" charset="-122"/>
                <a:cs typeface="Calibri" pitchFamily="34" charset="-120"/>
              </a:rPr>
              <a:t>Opening</a:t>
            </a:r>
            <a:endParaRPr lang="en-US" sz="1600" dirty="0"/>
          </a:p>
        </p:txBody>
      </p:sp>
      <p:sp>
        <p:nvSpPr>
          <p:cNvPr id="8" name="Shape 6"/>
          <p:cNvSpPr/>
          <p:nvPr/>
        </p:nvSpPr>
        <p:spPr>
          <a:xfrm>
            <a:off x="6144768" y="1234440"/>
            <a:ext cx="5577840" cy="685800"/>
          </a:xfrm>
          <a:prstGeom prst="roundRect">
            <a:avLst>
              <a:gd name="adj" fmla="val 10667"/>
            </a:avLst>
          </a:prstGeom>
          <a:solidFill>
            <a:srgbClr val="F3F4F7"/>
          </a:solidFill>
          <a:ln w="9525">
            <a:solidFill>
              <a:srgbClr val="F3F4F7"/>
            </a:solidFill>
            <a:prstDash val="solid"/>
          </a:ln>
        </p:spPr>
      </p:sp>
      <p:sp>
        <p:nvSpPr>
          <p:cNvPr id="9" name="Shape 7"/>
          <p:cNvSpPr/>
          <p:nvPr/>
        </p:nvSpPr>
        <p:spPr>
          <a:xfrm>
            <a:off x="6327648" y="1371600"/>
            <a:ext cx="411480" cy="411480"/>
          </a:xfrm>
          <a:prstGeom prst="ellipse">
            <a:avLst/>
          </a:prstGeom>
          <a:solidFill>
            <a:srgbClr val="1B2238"/>
          </a:solidFill>
          <a:ln w="12700">
            <a:solidFill>
              <a:srgbClr val="1B2238"/>
            </a:solidFill>
            <a:prstDash val="solid"/>
          </a:ln>
        </p:spPr>
      </p:sp>
      <p:sp>
        <p:nvSpPr>
          <p:cNvPr id="10" name="Text 8"/>
          <p:cNvSpPr txBox="1"/>
          <p:nvPr/>
        </p:nvSpPr>
        <p:spPr>
          <a:xfrm>
            <a:off x="6327648" y="1371600"/>
            <a:ext cx="411480" cy="411480"/>
          </a:xfrm>
          <a:prstGeom prst="rect">
            <a:avLst/>
          </a:prstGeom>
          <a:noFill/>
          <a:ln/>
        </p:spPr>
        <p:txBody>
          <a:bodyPr wrap="square" lIns="0" tIns="0" rIns="0" bIns="0" rtlCol="0" anchor="ctr"/>
          <a:lstStyle/>
          <a:p>
            <a:pPr algn="ctr" indent="0" marL="0">
              <a:buNone/>
            </a:pPr>
            <a:r>
              <a:rPr lang="en-US" sz="1260" b="1" dirty="0">
                <a:solidFill>
                  <a:srgbClr val="FFFFFF"/>
                </a:solidFill>
                <a:latin typeface="Calibri" pitchFamily="34" charset="0"/>
                <a:ea typeface="Calibri" pitchFamily="34" charset="-122"/>
                <a:cs typeface="Calibri" pitchFamily="34" charset="-120"/>
              </a:rPr>
              <a:t>2</a:t>
            </a:r>
            <a:endParaRPr lang="en-US" sz="1260" dirty="0"/>
          </a:p>
        </p:txBody>
      </p:sp>
      <p:sp>
        <p:nvSpPr>
          <p:cNvPr id="11" name="Text 9"/>
          <p:cNvSpPr txBox="1"/>
          <p:nvPr/>
        </p:nvSpPr>
        <p:spPr>
          <a:xfrm>
            <a:off x="6876288" y="1234440"/>
            <a:ext cx="4572000" cy="685800"/>
          </a:xfrm>
          <a:prstGeom prst="rect">
            <a:avLst/>
          </a:prstGeom>
          <a:noFill/>
          <a:ln/>
        </p:spPr>
        <p:txBody>
          <a:bodyPr wrap="square" lIns="0" tIns="0" rIns="0" bIns="0" rtlCol="0" anchor="ctr"/>
          <a:lstStyle/>
          <a:p>
            <a:pPr indent="0" marL="0">
              <a:buNone/>
            </a:pPr>
            <a:r>
              <a:rPr lang="en-US" sz="1600" b="1" dirty="0">
                <a:solidFill>
                  <a:srgbClr val="1B2238"/>
                </a:solidFill>
                <a:latin typeface="Calibri" pitchFamily="34" charset="0"/>
                <a:ea typeface="Calibri" pitchFamily="34" charset="-122"/>
                <a:cs typeface="Calibri" pitchFamily="34" charset="-120"/>
              </a:rPr>
              <a:t>Current-state foundations</a:t>
            </a:r>
            <a:endParaRPr lang="en-US" sz="1600" dirty="0"/>
          </a:p>
        </p:txBody>
      </p:sp>
      <p:sp>
        <p:nvSpPr>
          <p:cNvPr id="12" name="Shape 10"/>
          <p:cNvSpPr/>
          <p:nvPr/>
        </p:nvSpPr>
        <p:spPr>
          <a:xfrm>
            <a:off x="411480" y="2240280"/>
            <a:ext cx="3931920" cy="1463040"/>
          </a:xfrm>
          <a:prstGeom prst="homePlate">
            <a:avLst/>
          </a:prstGeom>
          <a:solidFill>
            <a:srgbClr val="2563A8"/>
          </a:solidFill>
          <a:ln w="12700">
            <a:solidFill>
              <a:srgbClr val="2563A8"/>
            </a:solidFill>
            <a:prstDash val="solid"/>
          </a:ln>
        </p:spPr>
      </p:sp>
      <p:sp>
        <p:nvSpPr>
          <p:cNvPr id="13" name="Text 11"/>
          <p:cNvSpPr txBox="1"/>
          <p:nvPr/>
        </p:nvSpPr>
        <p:spPr>
          <a:xfrm>
            <a:off x="777240" y="2377440"/>
            <a:ext cx="283464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Phase A · Intake &amp; Prioritisation</a:t>
            </a:r>
            <a:endParaRPr lang="en-US" sz="1500" dirty="0"/>
          </a:p>
        </p:txBody>
      </p:sp>
      <p:sp>
        <p:nvSpPr>
          <p:cNvPr id="14" name="Text 12"/>
          <p:cNvSpPr txBox="1"/>
          <p:nvPr/>
        </p:nvSpPr>
        <p:spPr>
          <a:xfrm>
            <a:off x="777240" y="3063240"/>
            <a:ext cx="2834640"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Stages 1–4</a:t>
            </a:r>
            <a:endParaRPr lang="en-US" sz="1250" dirty="0"/>
          </a:p>
        </p:txBody>
      </p:sp>
      <p:sp>
        <p:nvSpPr>
          <p:cNvPr id="15" name="Shape 13"/>
          <p:cNvSpPr/>
          <p:nvPr/>
        </p:nvSpPr>
        <p:spPr>
          <a:xfrm>
            <a:off x="4233672" y="2240280"/>
            <a:ext cx="3931920" cy="1463040"/>
          </a:xfrm>
          <a:prstGeom prst="chevron">
            <a:avLst/>
          </a:prstGeom>
          <a:solidFill>
            <a:srgbClr val="B9771A"/>
          </a:solidFill>
          <a:ln w="12700">
            <a:solidFill>
              <a:srgbClr val="B9771A"/>
            </a:solidFill>
            <a:prstDash val="solid"/>
          </a:ln>
        </p:spPr>
      </p:sp>
      <p:sp>
        <p:nvSpPr>
          <p:cNvPr id="16" name="Text 14"/>
          <p:cNvSpPr txBox="1"/>
          <p:nvPr/>
        </p:nvSpPr>
        <p:spPr>
          <a:xfrm>
            <a:off x="4965192" y="2377440"/>
            <a:ext cx="283464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4  Phase B · Planning &amp; Commitment</a:t>
            </a:r>
            <a:endParaRPr lang="en-US" sz="1500" dirty="0"/>
          </a:p>
        </p:txBody>
      </p:sp>
      <p:sp>
        <p:nvSpPr>
          <p:cNvPr id="17" name="Text 15"/>
          <p:cNvSpPr txBox="1"/>
          <p:nvPr/>
        </p:nvSpPr>
        <p:spPr>
          <a:xfrm>
            <a:off x="4965192" y="3063240"/>
            <a:ext cx="2834640"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Stages 5–7</a:t>
            </a:r>
            <a:endParaRPr lang="en-US" sz="1250" dirty="0"/>
          </a:p>
        </p:txBody>
      </p:sp>
      <p:sp>
        <p:nvSpPr>
          <p:cNvPr id="18" name="Shape 16"/>
          <p:cNvSpPr/>
          <p:nvPr/>
        </p:nvSpPr>
        <p:spPr>
          <a:xfrm>
            <a:off x="8055864" y="2240280"/>
            <a:ext cx="3931920" cy="1463040"/>
          </a:xfrm>
          <a:prstGeom prst="chevron">
            <a:avLst/>
          </a:prstGeom>
          <a:solidFill>
            <a:srgbClr val="2E7D4F"/>
          </a:solidFill>
          <a:ln w="12700">
            <a:solidFill>
              <a:srgbClr val="2E7D4F"/>
            </a:solidFill>
            <a:prstDash val="solid"/>
          </a:ln>
        </p:spPr>
      </p:sp>
      <p:sp>
        <p:nvSpPr>
          <p:cNvPr id="19" name="Text 17"/>
          <p:cNvSpPr txBox="1"/>
          <p:nvPr/>
        </p:nvSpPr>
        <p:spPr>
          <a:xfrm>
            <a:off x="8787384" y="2377440"/>
            <a:ext cx="283464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Phase C · Build &amp; Go-Live</a:t>
            </a:r>
            <a:endParaRPr lang="en-US" sz="1500" dirty="0"/>
          </a:p>
        </p:txBody>
      </p:sp>
      <p:sp>
        <p:nvSpPr>
          <p:cNvPr id="20" name="Text 18"/>
          <p:cNvSpPr txBox="1"/>
          <p:nvPr/>
        </p:nvSpPr>
        <p:spPr>
          <a:xfrm>
            <a:off x="8787384" y="3063240"/>
            <a:ext cx="2834640"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Stage 8 workstreams + Stage 9</a:t>
            </a:r>
            <a:endParaRPr lang="en-US" sz="1250" dirty="0"/>
          </a:p>
        </p:txBody>
      </p:sp>
      <p:sp>
        <p:nvSpPr>
          <p:cNvPr id="21" name="Text 19"/>
          <p:cNvSpPr txBox="1"/>
          <p:nvPr/>
        </p:nvSpPr>
        <p:spPr>
          <a:xfrm>
            <a:off x="411480" y="4023360"/>
            <a:ext cx="4572000" cy="274320"/>
          </a:xfrm>
          <a:prstGeom prst="rect">
            <a:avLst/>
          </a:prstGeom>
          <a:noFill/>
          <a:ln/>
        </p:spPr>
        <p:txBody>
          <a:bodyPr wrap="square" lIns="0" tIns="0" rIns="0" bIns="0" rtlCol="0" anchor="t"/>
          <a:lstStyle/>
          <a:p>
            <a:pPr indent="0" marL="0">
              <a:buNone/>
            </a:pPr>
            <a:r>
              <a:rPr lang="en-US" sz="1100" b="1" spc="200" kern="0" dirty="0">
                <a:solidFill>
                  <a:srgbClr val="5B3FA0"/>
                </a:solidFill>
                <a:latin typeface="Calibri" pitchFamily="34" charset="0"/>
                <a:ea typeface="Calibri" pitchFamily="34" charset="-122"/>
                <a:cs typeface="Calibri" pitchFamily="34" charset="-120"/>
              </a:rPr>
              <a:t>THE SO WHAT</a:t>
            </a:r>
            <a:endParaRPr lang="en-US" sz="1100" dirty="0"/>
          </a:p>
        </p:txBody>
      </p:sp>
      <p:sp>
        <p:nvSpPr>
          <p:cNvPr id="22" name="Shape 20"/>
          <p:cNvSpPr/>
          <p:nvPr/>
        </p:nvSpPr>
        <p:spPr>
          <a:xfrm>
            <a:off x="411480" y="4389120"/>
            <a:ext cx="3639312" cy="1188720"/>
          </a:xfrm>
          <a:prstGeom prst="roundRect">
            <a:avLst>
              <a:gd name="adj" fmla="val 6154"/>
            </a:avLst>
          </a:prstGeom>
          <a:solidFill>
            <a:srgbClr val="F1EDF9"/>
          </a:solidFill>
          <a:ln w="9525">
            <a:solidFill>
              <a:srgbClr val="5B3FA0"/>
            </a:solidFill>
            <a:prstDash val="solid"/>
          </a:ln>
        </p:spPr>
      </p:sp>
      <p:sp>
        <p:nvSpPr>
          <p:cNvPr id="23" name="Shape 21"/>
          <p:cNvSpPr/>
          <p:nvPr/>
        </p:nvSpPr>
        <p:spPr>
          <a:xfrm>
            <a:off x="640080" y="4754880"/>
            <a:ext cx="457200" cy="457200"/>
          </a:xfrm>
          <a:prstGeom prst="ellipse">
            <a:avLst/>
          </a:prstGeom>
          <a:solidFill>
            <a:srgbClr val="5B3FA0"/>
          </a:solidFill>
          <a:ln w="12700">
            <a:solidFill>
              <a:srgbClr val="5B3FA0"/>
            </a:solidFill>
            <a:prstDash val="solid"/>
          </a:ln>
        </p:spPr>
      </p:sp>
      <p:sp>
        <p:nvSpPr>
          <p:cNvPr id="24" name="Text 22"/>
          <p:cNvSpPr txBox="1"/>
          <p:nvPr/>
        </p:nvSpPr>
        <p:spPr>
          <a:xfrm>
            <a:off x="640080"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1234440" y="4389120"/>
            <a:ext cx="2651760" cy="1188720"/>
          </a:xfrm>
          <a:prstGeom prst="rect">
            <a:avLst/>
          </a:prstGeom>
          <a:noFill/>
          <a:ln/>
        </p:spPr>
        <p:txBody>
          <a:bodyPr wrap="square" lIns="0" tIns="0" rIns="0" bIns="0" rtlCol="0" anchor="ctr"/>
          <a:lstStyle/>
          <a:p>
            <a:pPr indent="0" marL="0">
              <a:buNone/>
            </a:pPr>
            <a:r>
              <a:rPr lang="en-US" sz="1500" b="1" dirty="0">
                <a:solidFill>
                  <a:srgbClr val="1B2238"/>
                </a:solidFill>
                <a:latin typeface="Calibri" pitchFamily="34" charset="0"/>
                <a:ea typeface="Calibri" pitchFamily="34" charset="-122"/>
                <a:cs typeface="Calibri" pitchFamily="34" charset="-120"/>
              </a:rPr>
              <a:t>Proof: AGRIA worked use case</a:t>
            </a:r>
            <a:endParaRPr lang="en-US" sz="1500" dirty="0"/>
          </a:p>
        </p:txBody>
      </p:sp>
      <p:sp>
        <p:nvSpPr>
          <p:cNvPr id="26" name="Shape 24"/>
          <p:cNvSpPr/>
          <p:nvPr/>
        </p:nvSpPr>
        <p:spPr>
          <a:xfrm>
            <a:off x="4233672" y="4389120"/>
            <a:ext cx="3639312" cy="1188720"/>
          </a:xfrm>
          <a:prstGeom prst="roundRect">
            <a:avLst>
              <a:gd name="adj" fmla="val 6154"/>
            </a:avLst>
          </a:prstGeom>
          <a:solidFill>
            <a:srgbClr val="F1EDF9"/>
          </a:solidFill>
          <a:ln w="9525">
            <a:solidFill>
              <a:srgbClr val="5B3FA0"/>
            </a:solidFill>
            <a:prstDash val="solid"/>
          </a:ln>
        </p:spPr>
      </p:sp>
      <p:sp>
        <p:nvSpPr>
          <p:cNvPr id="27" name="Shape 25"/>
          <p:cNvSpPr/>
          <p:nvPr/>
        </p:nvSpPr>
        <p:spPr>
          <a:xfrm>
            <a:off x="4462272" y="4754880"/>
            <a:ext cx="457200" cy="457200"/>
          </a:xfrm>
          <a:prstGeom prst="ellipse">
            <a:avLst/>
          </a:prstGeom>
          <a:solidFill>
            <a:srgbClr val="5B3FA0"/>
          </a:solidFill>
          <a:ln w="12700">
            <a:solidFill>
              <a:srgbClr val="5B3FA0"/>
            </a:solidFill>
            <a:prstDash val="solid"/>
          </a:ln>
        </p:spPr>
      </p:sp>
      <p:sp>
        <p:nvSpPr>
          <p:cNvPr id="28" name="Text 26"/>
          <p:cNvSpPr txBox="1"/>
          <p:nvPr/>
        </p:nvSpPr>
        <p:spPr>
          <a:xfrm>
            <a:off x="4462272"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9" name="Text 27"/>
          <p:cNvSpPr txBox="1"/>
          <p:nvPr/>
        </p:nvSpPr>
        <p:spPr>
          <a:xfrm>
            <a:off x="5056632" y="4389120"/>
            <a:ext cx="2651760" cy="1188720"/>
          </a:xfrm>
          <a:prstGeom prst="rect">
            <a:avLst/>
          </a:prstGeom>
          <a:noFill/>
          <a:ln/>
        </p:spPr>
        <p:txBody>
          <a:bodyPr wrap="square" lIns="0" tIns="0" rIns="0" bIns="0" rtlCol="0" anchor="ctr"/>
          <a:lstStyle/>
          <a:p>
            <a:pPr indent="0" marL="0">
              <a:buNone/>
            </a:pPr>
            <a:r>
              <a:rPr lang="en-US" sz="1500" b="1" dirty="0">
                <a:solidFill>
                  <a:srgbClr val="1B2238"/>
                </a:solidFill>
                <a:latin typeface="Calibri" pitchFamily="34" charset="0"/>
                <a:ea typeface="Calibri" pitchFamily="34" charset="-122"/>
                <a:cs typeface="Calibri" pitchFamily="34" charset="-120"/>
              </a:rPr>
              <a:t>Target state: Onboard360AI</a:t>
            </a:r>
            <a:endParaRPr lang="en-US" sz="1500" dirty="0"/>
          </a:p>
        </p:txBody>
      </p:sp>
      <p:sp>
        <p:nvSpPr>
          <p:cNvPr id="30" name="Shape 28"/>
          <p:cNvSpPr/>
          <p:nvPr/>
        </p:nvSpPr>
        <p:spPr>
          <a:xfrm>
            <a:off x="8055864" y="4389120"/>
            <a:ext cx="3639312" cy="1188720"/>
          </a:xfrm>
          <a:prstGeom prst="roundRect">
            <a:avLst>
              <a:gd name="adj" fmla="val 6154"/>
            </a:avLst>
          </a:prstGeom>
          <a:solidFill>
            <a:srgbClr val="F1EDF9"/>
          </a:solidFill>
          <a:ln w="9525">
            <a:solidFill>
              <a:srgbClr val="5B3FA0"/>
            </a:solidFill>
            <a:prstDash val="solid"/>
          </a:ln>
        </p:spPr>
      </p:sp>
      <p:sp>
        <p:nvSpPr>
          <p:cNvPr id="31" name="Shape 29"/>
          <p:cNvSpPr/>
          <p:nvPr/>
        </p:nvSpPr>
        <p:spPr>
          <a:xfrm>
            <a:off x="8284464" y="4754880"/>
            <a:ext cx="457200" cy="457200"/>
          </a:xfrm>
          <a:prstGeom prst="ellipse">
            <a:avLst/>
          </a:prstGeom>
          <a:solidFill>
            <a:srgbClr val="5B3FA0"/>
          </a:solidFill>
          <a:ln w="12700">
            <a:solidFill>
              <a:srgbClr val="5B3FA0"/>
            </a:solidFill>
            <a:prstDash val="solid"/>
          </a:ln>
        </p:spPr>
      </p:sp>
      <p:sp>
        <p:nvSpPr>
          <p:cNvPr id="32" name="Text 30"/>
          <p:cNvSpPr txBox="1"/>
          <p:nvPr/>
        </p:nvSpPr>
        <p:spPr>
          <a:xfrm>
            <a:off x="8284464"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3" name="Text 31"/>
          <p:cNvSpPr txBox="1"/>
          <p:nvPr/>
        </p:nvSpPr>
        <p:spPr>
          <a:xfrm>
            <a:off x="8878824" y="4389120"/>
            <a:ext cx="2651760" cy="1188720"/>
          </a:xfrm>
          <a:prstGeom prst="rect">
            <a:avLst/>
          </a:prstGeom>
          <a:noFill/>
          <a:ln/>
        </p:spPr>
        <p:txBody>
          <a:bodyPr wrap="square" lIns="0" tIns="0" rIns="0" bIns="0" rtlCol="0" anchor="ctr"/>
          <a:lstStyle/>
          <a:p>
            <a:pPr indent="0" marL="0">
              <a:buNone/>
            </a:pPr>
            <a:r>
              <a:rPr lang="en-US" sz="1500" b="1" dirty="0">
                <a:solidFill>
                  <a:srgbClr val="1B2238"/>
                </a:solidFill>
                <a:latin typeface="Calibri" pitchFamily="34" charset="0"/>
                <a:ea typeface="Calibri" pitchFamily="34" charset="-122"/>
                <a:cs typeface="Calibri" pitchFamily="34" charset="-120"/>
              </a:rPr>
              <a:t>Governance, roadmap and the ask</a:t>
            </a:r>
            <a:endParaRPr lang="en-US" sz="15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Every onboarding runs the same nine stages; only duration and teams vary</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Current state · End-to-end flow</a:t>
            </a:r>
            <a:endParaRPr lang="en-US" sz="1000" dirty="0"/>
          </a:p>
        </p:txBody>
      </p:sp>
      <p:sp>
        <p:nvSpPr>
          <p:cNvPr id="4" name="Shape 2"/>
          <p:cNvSpPr/>
          <p:nvPr/>
        </p:nvSpPr>
        <p:spPr>
          <a:xfrm>
            <a:off x="411480" y="1234440"/>
            <a:ext cx="4978400" cy="365760"/>
          </a:xfrm>
          <a:prstGeom prst="roundRect">
            <a:avLst>
              <a:gd name="adj" fmla="val 12500"/>
            </a:avLst>
          </a:prstGeom>
          <a:solidFill>
            <a:srgbClr val="2563A8"/>
          </a:solidFill>
          <a:ln w="9525">
            <a:solidFill>
              <a:srgbClr val="2563A8"/>
            </a:solidFill>
            <a:prstDash val="solid"/>
          </a:ln>
        </p:spPr>
      </p:sp>
      <p:sp>
        <p:nvSpPr>
          <p:cNvPr id="5" name="Text 3"/>
          <p:cNvSpPr txBox="1"/>
          <p:nvPr/>
        </p:nvSpPr>
        <p:spPr>
          <a:xfrm>
            <a:off x="411480" y="1234440"/>
            <a:ext cx="49784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 Intake &amp; Prioritisation</a:t>
            </a:r>
            <a:endParaRPr lang="en-US" sz="1200" dirty="0"/>
          </a:p>
        </p:txBody>
      </p:sp>
      <p:sp>
        <p:nvSpPr>
          <p:cNvPr id="6" name="Shape 4"/>
          <p:cNvSpPr/>
          <p:nvPr/>
        </p:nvSpPr>
        <p:spPr>
          <a:xfrm>
            <a:off x="411480" y="3017520"/>
            <a:ext cx="4978400" cy="2194560"/>
          </a:xfrm>
          <a:prstGeom prst="roundRect">
            <a:avLst>
              <a:gd name="adj" fmla="val 2500"/>
            </a:avLst>
          </a:prstGeom>
          <a:solidFill>
            <a:srgbClr val="E8F0FA"/>
          </a:solidFill>
          <a:ln w="9525">
            <a:solidFill>
              <a:srgbClr val="E8F0FA"/>
            </a:solidFill>
            <a:prstDash val="solid"/>
          </a:ln>
        </p:spPr>
      </p:sp>
      <p:sp>
        <p:nvSpPr>
          <p:cNvPr id="7" name="Text 5"/>
          <p:cNvSpPr txBox="1"/>
          <p:nvPr/>
        </p:nvSpPr>
        <p:spPr>
          <a:xfrm>
            <a:off x="548640" y="3108960"/>
            <a:ext cx="4704080" cy="2286000"/>
          </a:xfrm>
          <a:prstGeom prst="rect">
            <a:avLst/>
          </a:prstGeom>
          <a:noFill/>
          <a:ln/>
        </p:spPr>
        <p:txBody>
          <a:bodyPr wrap="square" lIns="0" tIns="0" rIns="0" bIns="0" rtlCol="0" anchor="t"/>
          <a:lstStyle/>
          <a:p>
            <a:pPr indent="0" marL="0">
              <a:buNone/>
            </a:pPr>
            <a:r>
              <a:rPr lang="en-US" sz="1100" b="1" dirty="0">
                <a:solidFill>
                  <a:srgbClr val="2563A8"/>
                </a:solidFill>
                <a:latin typeface="Calibri" pitchFamily="34" charset="0"/>
                <a:ea typeface="Calibri" pitchFamily="34" charset="-122"/>
                <a:cs typeface="Calibri" pitchFamily="34" charset="-120"/>
              </a:rPr>
              <a:t>ESTABLISHES</a:t>
            </a:r>
            <a:endParaRPr lang="en-US" sz="1200" dirty="0"/>
          </a:p>
          <a:p>
            <a:pPr indent="0" marL="0">
              <a:buNone/>
            </a:pPr>
            <a:r>
              <a:rPr lang="en-US" sz="1450" dirty="0">
                <a:solidFill>
                  <a:srgbClr val="1B2238"/>
                </a:solidFill>
                <a:latin typeface="Calibri" pitchFamily="34" charset="0"/>
                <a:ea typeface="Calibri" pitchFamily="34" charset="-122"/>
                <a:cs typeface="Calibri" pitchFamily="34" charset="-120"/>
              </a:rPr>
              <a:t>Demand is real, complete, understood and worth doing</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100" b="1" dirty="0">
                <a:solidFill>
                  <a:srgbClr val="2563A8"/>
                </a:solidFill>
                <a:latin typeface="Calibri" pitchFamily="34" charset="0"/>
                <a:ea typeface="Calibri" pitchFamily="34" charset="-122"/>
                <a:cs typeface="Calibri" pitchFamily="34" charset="-120"/>
              </a:rPr>
              <a:t>DOMINATED BY</a:t>
            </a:r>
            <a:endParaRPr lang="en-US" sz="1200" dirty="0"/>
          </a:p>
          <a:p>
            <a:pPr indent="0" marL="0">
              <a:buNone/>
            </a:pPr>
            <a:r>
              <a:rPr lang="en-US" sz="1450" dirty="0">
                <a:solidFill>
                  <a:srgbClr val="1B2238"/>
                </a:solidFill>
                <a:latin typeface="Calibri" pitchFamily="34" charset="0"/>
                <a:ea typeface="Calibri" pitchFamily="34" charset="-122"/>
                <a:cs typeface="Calibri" pitchFamily="34" charset="-120"/>
              </a:rPr>
              <a:t>Information gathering and judgement</a:t>
            </a:r>
            <a:endParaRPr lang="en-US" sz="1200" dirty="0"/>
          </a:p>
        </p:txBody>
      </p:sp>
      <p:sp>
        <p:nvSpPr>
          <p:cNvPr id="8" name="Shape 6"/>
          <p:cNvSpPr/>
          <p:nvPr/>
        </p:nvSpPr>
        <p:spPr>
          <a:xfrm>
            <a:off x="5463032" y="1234440"/>
            <a:ext cx="3715512" cy="365760"/>
          </a:xfrm>
          <a:prstGeom prst="roundRect">
            <a:avLst>
              <a:gd name="adj" fmla="val 12500"/>
            </a:avLst>
          </a:prstGeom>
          <a:solidFill>
            <a:srgbClr val="B9771A"/>
          </a:solidFill>
          <a:ln w="9525">
            <a:solidFill>
              <a:srgbClr val="B9771A"/>
            </a:solidFill>
            <a:prstDash val="solid"/>
          </a:ln>
        </p:spPr>
      </p:sp>
      <p:sp>
        <p:nvSpPr>
          <p:cNvPr id="9" name="Text 7"/>
          <p:cNvSpPr txBox="1"/>
          <p:nvPr/>
        </p:nvSpPr>
        <p:spPr>
          <a:xfrm>
            <a:off x="5463032" y="1234440"/>
            <a:ext cx="3715512"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 · Planning &amp; Commitment</a:t>
            </a:r>
            <a:endParaRPr lang="en-US" sz="1200" dirty="0"/>
          </a:p>
        </p:txBody>
      </p:sp>
      <p:sp>
        <p:nvSpPr>
          <p:cNvPr id="10" name="Shape 8"/>
          <p:cNvSpPr/>
          <p:nvPr/>
        </p:nvSpPr>
        <p:spPr>
          <a:xfrm>
            <a:off x="5463032" y="3017520"/>
            <a:ext cx="3715512" cy="2194560"/>
          </a:xfrm>
          <a:prstGeom prst="roundRect">
            <a:avLst>
              <a:gd name="adj" fmla="val 2500"/>
            </a:avLst>
          </a:prstGeom>
          <a:solidFill>
            <a:srgbClr val="FBF2E4"/>
          </a:solidFill>
          <a:ln w="9525">
            <a:solidFill>
              <a:srgbClr val="FBF2E4"/>
            </a:solidFill>
            <a:prstDash val="solid"/>
          </a:ln>
        </p:spPr>
      </p:sp>
      <p:sp>
        <p:nvSpPr>
          <p:cNvPr id="11" name="Text 9"/>
          <p:cNvSpPr txBox="1"/>
          <p:nvPr/>
        </p:nvSpPr>
        <p:spPr>
          <a:xfrm>
            <a:off x="5600192" y="3108960"/>
            <a:ext cx="3441192" cy="2286000"/>
          </a:xfrm>
          <a:prstGeom prst="rect">
            <a:avLst/>
          </a:prstGeom>
          <a:noFill/>
          <a:ln/>
        </p:spPr>
        <p:txBody>
          <a:bodyPr wrap="square" lIns="0" tIns="0" rIns="0" bIns="0" rtlCol="0" anchor="t"/>
          <a:lstStyle/>
          <a:p>
            <a:pPr indent="0" marL="0">
              <a:buNone/>
            </a:pPr>
            <a:r>
              <a:rPr lang="en-US" sz="1100" b="1" dirty="0">
                <a:solidFill>
                  <a:srgbClr val="B9771A"/>
                </a:solidFill>
                <a:latin typeface="Calibri" pitchFamily="34" charset="0"/>
                <a:ea typeface="Calibri" pitchFamily="34" charset="-122"/>
                <a:cs typeface="Calibri" pitchFamily="34" charset="-120"/>
              </a:rPr>
              <a:t>ESTABLISHES</a:t>
            </a:r>
            <a:endParaRPr lang="en-US" sz="1200" dirty="0"/>
          </a:p>
          <a:p>
            <a:pPr indent="0" marL="0">
              <a:buNone/>
            </a:pPr>
            <a:r>
              <a:rPr lang="en-US" sz="1450" dirty="0">
                <a:solidFill>
                  <a:srgbClr val="1B2238"/>
                </a:solidFill>
                <a:latin typeface="Calibri" pitchFamily="34" charset="0"/>
                <a:ea typeface="Calibri" pitchFamily="34" charset="-122"/>
                <a:cs typeface="Calibri" pitchFamily="34" charset="-120"/>
              </a:rPr>
              <a:t>Delivery will take the work against a planning increment</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100" b="1" dirty="0">
                <a:solidFill>
                  <a:srgbClr val="B9771A"/>
                </a:solidFill>
                <a:latin typeface="Calibri" pitchFamily="34" charset="0"/>
                <a:ea typeface="Calibri" pitchFamily="34" charset="-122"/>
                <a:cs typeface="Calibri" pitchFamily="34" charset="-120"/>
              </a:rPr>
              <a:t>DOMINATED BY</a:t>
            </a:r>
            <a:endParaRPr lang="en-US" sz="1200" dirty="0"/>
          </a:p>
          <a:p>
            <a:pPr indent="0" marL="0">
              <a:buNone/>
            </a:pPr>
            <a:r>
              <a:rPr lang="en-US" sz="1450" dirty="0">
                <a:solidFill>
                  <a:srgbClr val="1B2238"/>
                </a:solidFill>
                <a:latin typeface="Calibri" pitchFamily="34" charset="0"/>
                <a:ea typeface="Calibri" pitchFamily="34" charset="-122"/>
                <a:cs typeface="Calibri" pitchFamily="34" charset="-120"/>
              </a:rPr>
              <a:t>Negotiation and sequencing</a:t>
            </a:r>
            <a:endParaRPr lang="en-US" sz="1200" dirty="0"/>
          </a:p>
        </p:txBody>
      </p:sp>
      <p:sp>
        <p:nvSpPr>
          <p:cNvPr id="12" name="Shape 10"/>
          <p:cNvSpPr/>
          <p:nvPr/>
        </p:nvSpPr>
        <p:spPr>
          <a:xfrm>
            <a:off x="9251696" y="1234440"/>
            <a:ext cx="2452624" cy="365760"/>
          </a:xfrm>
          <a:prstGeom prst="roundRect">
            <a:avLst>
              <a:gd name="adj" fmla="val 12500"/>
            </a:avLst>
          </a:prstGeom>
          <a:solidFill>
            <a:srgbClr val="2E7D4F"/>
          </a:solidFill>
          <a:ln w="9525">
            <a:solidFill>
              <a:srgbClr val="2E7D4F"/>
            </a:solidFill>
            <a:prstDash val="solid"/>
          </a:ln>
        </p:spPr>
      </p:sp>
      <p:sp>
        <p:nvSpPr>
          <p:cNvPr id="13" name="Text 11"/>
          <p:cNvSpPr txBox="1"/>
          <p:nvPr/>
        </p:nvSpPr>
        <p:spPr>
          <a:xfrm>
            <a:off x="9251696" y="1234440"/>
            <a:ext cx="245262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Build &amp; Go-Live</a:t>
            </a:r>
            <a:endParaRPr lang="en-US" sz="1200" dirty="0"/>
          </a:p>
        </p:txBody>
      </p:sp>
      <p:sp>
        <p:nvSpPr>
          <p:cNvPr id="14" name="Shape 12"/>
          <p:cNvSpPr/>
          <p:nvPr/>
        </p:nvSpPr>
        <p:spPr>
          <a:xfrm>
            <a:off x="9251696" y="3017520"/>
            <a:ext cx="2452624" cy="2194560"/>
          </a:xfrm>
          <a:prstGeom prst="roundRect">
            <a:avLst>
              <a:gd name="adj" fmla="val 2500"/>
            </a:avLst>
          </a:prstGeom>
          <a:solidFill>
            <a:srgbClr val="E7F4EC"/>
          </a:solidFill>
          <a:ln w="9525">
            <a:solidFill>
              <a:srgbClr val="E7F4EC"/>
            </a:solidFill>
            <a:prstDash val="solid"/>
          </a:ln>
        </p:spPr>
      </p:sp>
      <p:sp>
        <p:nvSpPr>
          <p:cNvPr id="15" name="Text 13"/>
          <p:cNvSpPr txBox="1"/>
          <p:nvPr/>
        </p:nvSpPr>
        <p:spPr>
          <a:xfrm>
            <a:off x="9388856" y="3108960"/>
            <a:ext cx="2178304" cy="2286000"/>
          </a:xfrm>
          <a:prstGeom prst="rect">
            <a:avLst/>
          </a:prstGeom>
          <a:noFill/>
          <a:ln/>
        </p:spPr>
        <p:txBody>
          <a:bodyPr wrap="square" lIns="0" tIns="0" rIns="0" bIns="0" rtlCol="0" anchor="t"/>
          <a:lstStyle/>
          <a:p>
            <a:pPr indent="0" marL="0">
              <a:buNone/>
            </a:pPr>
            <a:r>
              <a:rPr lang="en-US" sz="1100" b="1" dirty="0">
                <a:solidFill>
                  <a:srgbClr val="2E7D4F"/>
                </a:solidFill>
                <a:latin typeface="Calibri" pitchFamily="34" charset="0"/>
                <a:ea typeface="Calibri" pitchFamily="34" charset="-122"/>
                <a:cs typeface="Calibri" pitchFamily="34" charset="-120"/>
              </a:rPr>
              <a:t>ESTABLISHES</a:t>
            </a:r>
            <a:endParaRPr lang="en-US" sz="1200" dirty="0"/>
          </a:p>
          <a:p>
            <a:pPr indent="0" marL="0">
              <a:buNone/>
            </a:pPr>
            <a:r>
              <a:rPr lang="en-US" sz="1450" dirty="0">
                <a:solidFill>
                  <a:srgbClr val="1B2238"/>
                </a:solidFill>
                <a:latin typeface="Calibri" pitchFamily="34" charset="0"/>
                <a:ea typeface="Calibri" pitchFamily="34" charset="-122"/>
                <a:cs typeface="Calibri" pitchFamily="34" charset="-120"/>
              </a:rPr>
              <a:t>Solution works, is compliant, supportable and operable by others</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100" b="1" dirty="0">
                <a:solidFill>
                  <a:srgbClr val="2E7D4F"/>
                </a:solidFill>
                <a:latin typeface="Calibri" pitchFamily="34" charset="0"/>
                <a:ea typeface="Calibri" pitchFamily="34" charset="-122"/>
                <a:cs typeface="Calibri" pitchFamily="34" charset="-120"/>
              </a:rPr>
              <a:t>DOMINATED BY</a:t>
            </a:r>
            <a:endParaRPr lang="en-US" sz="1200" dirty="0"/>
          </a:p>
          <a:p>
            <a:pPr indent="0" marL="0">
              <a:buNone/>
            </a:pPr>
            <a:r>
              <a:rPr lang="en-US" sz="1450" dirty="0">
                <a:solidFill>
                  <a:srgbClr val="1B2238"/>
                </a:solidFill>
                <a:latin typeface="Calibri" pitchFamily="34" charset="0"/>
                <a:ea typeface="Calibri" pitchFamily="34" charset="-122"/>
                <a:cs typeface="Calibri" pitchFamily="34" charset="-120"/>
              </a:rPr>
              <a:t>Engineering execution and validation</a:t>
            </a:r>
            <a:endParaRPr lang="en-US" sz="1200" dirty="0"/>
          </a:p>
        </p:txBody>
      </p:sp>
      <p:sp>
        <p:nvSpPr>
          <p:cNvPr id="16" name="Shape 14"/>
          <p:cNvSpPr/>
          <p:nvPr/>
        </p:nvSpPr>
        <p:spPr>
          <a:xfrm>
            <a:off x="411480" y="1737360"/>
            <a:ext cx="1336040" cy="640080"/>
          </a:xfrm>
          <a:prstGeom prst="homePlate">
            <a:avLst/>
          </a:prstGeom>
          <a:solidFill>
            <a:srgbClr val="2563A8"/>
          </a:solidFill>
          <a:ln w="12700">
            <a:solidFill>
              <a:srgbClr val="FFFFFF"/>
            </a:solidFill>
            <a:prstDash val="solid"/>
          </a:ln>
        </p:spPr>
      </p:sp>
      <p:sp>
        <p:nvSpPr>
          <p:cNvPr id="17" name="Text 15"/>
          <p:cNvSpPr txBox="1"/>
          <p:nvPr/>
        </p:nvSpPr>
        <p:spPr>
          <a:xfrm>
            <a:off x="685800"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8" name="Text 16"/>
          <p:cNvSpPr txBox="1"/>
          <p:nvPr/>
        </p:nvSpPr>
        <p:spPr>
          <a:xfrm>
            <a:off x="457200"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Partner Request</a:t>
            </a:r>
            <a:endParaRPr lang="en-US" sz="1050" dirty="0"/>
          </a:p>
        </p:txBody>
      </p:sp>
      <p:sp>
        <p:nvSpPr>
          <p:cNvPr id="19" name="Shape 17"/>
          <p:cNvSpPr/>
          <p:nvPr/>
        </p:nvSpPr>
        <p:spPr>
          <a:xfrm>
            <a:off x="1674368" y="1737360"/>
            <a:ext cx="1336040" cy="640080"/>
          </a:xfrm>
          <a:prstGeom prst="chevron">
            <a:avLst/>
          </a:prstGeom>
          <a:solidFill>
            <a:srgbClr val="2563A8"/>
          </a:solidFill>
          <a:ln w="12700">
            <a:solidFill>
              <a:srgbClr val="FFFFFF"/>
            </a:solidFill>
            <a:prstDash val="solid"/>
          </a:ln>
        </p:spPr>
      </p:sp>
      <p:sp>
        <p:nvSpPr>
          <p:cNvPr id="20" name="Text 18"/>
          <p:cNvSpPr txBox="1"/>
          <p:nvPr/>
        </p:nvSpPr>
        <p:spPr>
          <a:xfrm>
            <a:off x="1948688"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Text 19"/>
          <p:cNvSpPr txBox="1"/>
          <p:nvPr/>
        </p:nvSpPr>
        <p:spPr>
          <a:xfrm>
            <a:off x="1720088"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Intake Review</a:t>
            </a:r>
            <a:endParaRPr lang="en-US" sz="1050" dirty="0"/>
          </a:p>
        </p:txBody>
      </p:sp>
      <p:sp>
        <p:nvSpPr>
          <p:cNvPr id="22" name="Shape 20"/>
          <p:cNvSpPr/>
          <p:nvPr/>
        </p:nvSpPr>
        <p:spPr>
          <a:xfrm>
            <a:off x="2937256" y="1737360"/>
            <a:ext cx="1336040" cy="640080"/>
          </a:xfrm>
          <a:prstGeom prst="chevron">
            <a:avLst/>
          </a:prstGeom>
          <a:solidFill>
            <a:srgbClr val="2563A8"/>
          </a:solidFill>
          <a:ln w="12700">
            <a:solidFill>
              <a:srgbClr val="FFFFFF"/>
            </a:solidFill>
            <a:prstDash val="solid"/>
          </a:ln>
        </p:spPr>
      </p:sp>
      <p:sp>
        <p:nvSpPr>
          <p:cNvPr id="23" name="Text 21"/>
          <p:cNvSpPr txBox="1"/>
          <p:nvPr/>
        </p:nvSpPr>
        <p:spPr>
          <a:xfrm>
            <a:off x="3211576"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22"/>
          <p:cNvSpPr txBox="1"/>
          <p:nvPr/>
        </p:nvSpPr>
        <p:spPr>
          <a:xfrm>
            <a:off x="2982976"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LOB Priority</a:t>
            </a:r>
            <a:endParaRPr lang="en-US" sz="1050" dirty="0"/>
          </a:p>
        </p:txBody>
      </p:sp>
      <p:sp>
        <p:nvSpPr>
          <p:cNvPr id="25" name="Shape 23"/>
          <p:cNvSpPr/>
          <p:nvPr/>
        </p:nvSpPr>
        <p:spPr>
          <a:xfrm>
            <a:off x="4200144" y="1737360"/>
            <a:ext cx="1336040" cy="640080"/>
          </a:xfrm>
          <a:prstGeom prst="chevron">
            <a:avLst/>
          </a:prstGeom>
          <a:solidFill>
            <a:srgbClr val="2563A8"/>
          </a:solidFill>
          <a:ln w="12700">
            <a:solidFill>
              <a:srgbClr val="FFFFFF"/>
            </a:solidFill>
            <a:prstDash val="solid"/>
          </a:ln>
        </p:spPr>
      </p:sp>
      <p:sp>
        <p:nvSpPr>
          <p:cNvPr id="26" name="Text 24"/>
          <p:cNvSpPr txBox="1"/>
          <p:nvPr/>
        </p:nvSpPr>
        <p:spPr>
          <a:xfrm>
            <a:off x="4474464"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7" name="Text 25"/>
          <p:cNvSpPr txBox="1"/>
          <p:nvPr/>
        </p:nvSpPr>
        <p:spPr>
          <a:xfrm>
            <a:off x="4245864"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Discovery &amp; Triage</a:t>
            </a:r>
            <a:endParaRPr lang="en-US" sz="1050" dirty="0"/>
          </a:p>
        </p:txBody>
      </p:sp>
      <p:sp>
        <p:nvSpPr>
          <p:cNvPr id="28" name="Shape 26"/>
          <p:cNvSpPr/>
          <p:nvPr/>
        </p:nvSpPr>
        <p:spPr>
          <a:xfrm>
            <a:off x="5463032" y="1737360"/>
            <a:ext cx="1336040" cy="640080"/>
          </a:xfrm>
          <a:prstGeom prst="chevron">
            <a:avLst/>
          </a:prstGeom>
          <a:solidFill>
            <a:srgbClr val="B9771A"/>
          </a:solidFill>
          <a:ln w="12700">
            <a:solidFill>
              <a:srgbClr val="FFFFFF"/>
            </a:solidFill>
            <a:prstDash val="solid"/>
          </a:ln>
        </p:spPr>
      </p:sp>
      <p:sp>
        <p:nvSpPr>
          <p:cNvPr id="29" name="Text 27"/>
          <p:cNvSpPr txBox="1"/>
          <p:nvPr/>
        </p:nvSpPr>
        <p:spPr>
          <a:xfrm>
            <a:off x="5737352"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8"/>
          <p:cNvSpPr txBox="1"/>
          <p:nvPr/>
        </p:nvSpPr>
        <p:spPr>
          <a:xfrm>
            <a:off x="5508752"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Product Epic Creation</a:t>
            </a:r>
            <a:endParaRPr lang="en-US" sz="1050" dirty="0"/>
          </a:p>
        </p:txBody>
      </p:sp>
      <p:sp>
        <p:nvSpPr>
          <p:cNvPr id="31" name="Shape 29"/>
          <p:cNvSpPr/>
          <p:nvPr/>
        </p:nvSpPr>
        <p:spPr>
          <a:xfrm>
            <a:off x="6725920" y="1737360"/>
            <a:ext cx="1336040" cy="640080"/>
          </a:xfrm>
          <a:prstGeom prst="chevron">
            <a:avLst/>
          </a:prstGeom>
          <a:solidFill>
            <a:srgbClr val="B9771A"/>
          </a:solidFill>
          <a:ln w="12700">
            <a:solidFill>
              <a:srgbClr val="FFFFFF"/>
            </a:solidFill>
            <a:prstDash val="solid"/>
          </a:ln>
        </p:spPr>
      </p:sp>
      <p:sp>
        <p:nvSpPr>
          <p:cNvPr id="32" name="Text 30"/>
          <p:cNvSpPr txBox="1"/>
          <p:nvPr/>
        </p:nvSpPr>
        <p:spPr>
          <a:xfrm>
            <a:off x="7000240"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3" name="Text 31"/>
          <p:cNvSpPr txBox="1"/>
          <p:nvPr/>
        </p:nvSpPr>
        <p:spPr>
          <a:xfrm>
            <a:off x="6771640"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Big Room Planning</a:t>
            </a:r>
            <a:endParaRPr lang="en-US" sz="1050" dirty="0"/>
          </a:p>
        </p:txBody>
      </p:sp>
      <p:sp>
        <p:nvSpPr>
          <p:cNvPr id="34" name="Shape 32"/>
          <p:cNvSpPr/>
          <p:nvPr/>
        </p:nvSpPr>
        <p:spPr>
          <a:xfrm>
            <a:off x="7988808" y="1737360"/>
            <a:ext cx="1336040" cy="640080"/>
          </a:xfrm>
          <a:prstGeom prst="chevron">
            <a:avLst/>
          </a:prstGeom>
          <a:solidFill>
            <a:srgbClr val="B9771A"/>
          </a:solidFill>
          <a:ln w="12700">
            <a:solidFill>
              <a:srgbClr val="FFFFFF"/>
            </a:solidFill>
            <a:prstDash val="solid"/>
          </a:ln>
        </p:spPr>
      </p:sp>
      <p:sp>
        <p:nvSpPr>
          <p:cNvPr id="35" name="Text 33"/>
          <p:cNvSpPr txBox="1"/>
          <p:nvPr/>
        </p:nvSpPr>
        <p:spPr>
          <a:xfrm>
            <a:off x="8263128"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6" name="Text 34"/>
          <p:cNvSpPr txBox="1"/>
          <p:nvPr/>
        </p:nvSpPr>
        <p:spPr>
          <a:xfrm>
            <a:off x="8034528"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Capacity Assessment</a:t>
            </a:r>
            <a:endParaRPr lang="en-US" sz="1050" dirty="0"/>
          </a:p>
        </p:txBody>
      </p:sp>
      <p:sp>
        <p:nvSpPr>
          <p:cNvPr id="37" name="Shape 35"/>
          <p:cNvSpPr/>
          <p:nvPr/>
        </p:nvSpPr>
        <p:spPr>
          <a:xfrm>
            <a:off x="9251696" y="1737360"/>
            <a:ext cx="1336040" cy="640080"/>
          </a:xfrm>
          <a:prstGeom prst="chevron">
            <a:avLst/>
          </a:prstGeom>
          <a:solidFill>
            <a:srgbClr val="2E7D4F"/>
          </a:solidFill>
          <a:ln w="12700">
            <a:solidFill>
              <a:srgbClr val="FFFFFF"/>
            </a:solidFill>
            <a:prstDash val="solid"/>
          </a:ln>
        </p:spPr>
      </p:sp>
      <p:sp>
        <p:nvSpPr>
          <p:cNvPr id="38" name="Text 36"/>
          <p:cNvSpPr txBox="1"/>
          <p:nvPr/>
        </p:nvSpPr>
        <p:spPr>
          <a:xfrm>
            <a:off x="9526016"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39" name="Text 37"/>
          <p:cNvSpPr txBox="1"/>
          <p:nvPr/>
        </p:nvSpPr>
        <p:spPr>
          <a:xfrm>
            <a:off x="9297416"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Development &amp; Delivery</a:t>
            </a:r>
            <a:endParaRPr lang="en-US" sz="1050" dirty="0"/>
          </a:p>
        </p:txBody>
      </p:sp>
      <p:sp>
        <p:nvSpPr>
          <p:cNvPr id="40" name="Shape 38"/>
          <p:cNvSpPr/>
          <p:nvPr/>
        </p:nvSpPr>
        <p:spPr>
          <a:xfrm>
            <a:off x="10514584" y="1737360"/>
            <a:ext cx="1336040" cy="640080"/>
          </a:xfrm>
          <a:prstGeom prst="chevron">
            <a:avLst/>
          </a:prstGeom>
          <a:solidFill>
            <a:srgbClr val="2E7D4F"/>
          </a:solidFill>
          <a:ln w="12700">
            <a:solidFill>
              <a:srgbClr val="FFFFFF"/>
            </a:solidFill>
            <a:prstDash val="solid"/>
          </a:ln>
        </p:spPr>
      </p:sp>
      <p:sp>
        <p:nvSpPr>
          <p:cNvPr id="41" name="Text 39"/>
          <p:cNvSpPr txBox="1"/>
          <p:nvPr/>
        </p:nvSpPr>
        <p:spPr>
          <a:xfrm>
            <a:off x="10788904" y="1737360"/>
            <a:ext cx="851408"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42" name="Text 40"/>
          <p:cNvSpPr txBox="1"/>
          <p:nvPr/>
        </p:nvSpPr>
        <p:spPr>
          <a:xfrm>
            <a:off x="10560304" y="2423160"/>
            <a:ext cx="1171448" cy="457200"/>
          </a:xfrm>
          <a:prstGeom prst="rect">
            <a:avLst/>
          </a:prstGeom>
          <a:noFill/>
          <a:ln/>
        </p:spPr>
        <p:txBody>
          <a:bodyPr wrap="square" lIns="0" tIns="0" rIns="0" bIns="0" rtlCol="0" anchor="t"/>
          <a:lstStyle/>
          <a:p>
            <a:pPr algn="ctr" indent="0" marL="0">
              <a:buNone/>
            </a:pPr>
            <a:r>
              <a:rPr lang="en-US" sz="1050" b="1" dirty="0">
                <a:solidFill>
                  <a:srgbClr val="1B2238"/>
                </a:solidFill>
                <a:latin typeface="Calibri" pitchFamily="34" charset="0"/>
                <a:ea typeface="Calibri" pitchFamily="34" charset="-122"/>
                <a:cs typeface="Calibri" pitchFamily="34" charset="-120"/>
              </a:rPr>
              <a:t>Partner Live</a:t>
            </a:r>
            <a:endParaRPr lang="en-US" sz="1050" dirty="0"/>
          </a:p>
        </p:txBody>
      </p:sp>
      <p:sp>
        <p:nvSpPr>
          <p:cNvPr id="43" name="Text 41"/>
          <p:cNvSpPr txBox="1"/>
          <p:nvPr/>
        </p:nvSpPr>
        <p:spPr>
          <a:xfrm>
            <a:off x="411480" y="5440680"/>
            <a:ext cx="11338560" cy="365760"/>
          </a:xfrm>
          <a:prstGeom prst="rect">
            <a:avLst/>
          </a:prstGeom>
          <a:noFill/>
          <a:ln/>
        </p:spPr>
        <p:txBody>
          <a:bodyPr wrap="square" lIns="0" tIns="0" rIns="0" bIns="0" rtlCol="0" anchor="t"/>
          <a:lstStyle/>
          <a:p>
            <a:pPr indent="0" marL="0">
              <a:buNone/>
            </a:pPr>
            <a:r>
              <a:rPr lang="en-US" sz="1300" i="1" dirty="0">
                <a:solidFill>
                  <a:srgbClr val="5A6275"/>
                </a:solidFill>
                <a:latin typeface="Calibri" pitchFamily="34" charset="0"/>
                <a:ea typeface="Calibri" pitchFamily="34" charset="-122"/>
                <a:cs typeface="Calibri" pitchFamily="34" charset="-120"/>
              </a:rPr>
              <a:t>No stage is skipped; the sequence does not vary by partner type or request size.</a:t>
            </a:r>
            <a:endParaRPr lang="en-US" sz="13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One role carries the onboarding's memory across eight of nine stages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Current state · The Partner Onboarding Resource</a:t>
            </a:r>
            <a:endParaRPr lang="en-US" sz="1000" dirty="0"/>
          </a:p>
        </p:txBody>
      </p:sp>
      <p:sp>
        <p:nvSpPr>
          <p:cNvPr id="4" name="Shape 2"/>
          <p:cNvSpPr/>
          <p:nvPr/>
        </p:nvSpPr>
        <p:spPr>
          <a:xfrm>
            <a:off x="411480" y="1234440"/>
            <a:ext cx="3749040" cy="3566160"/>
          </a:xfrm>
          <a:prstGeom prst="roundRect">
            <a:avLst>
              <a:gd name="adj" fmla="val 2051"/>
            </a:avLst>
          </a:prstGeom>
          <a:solidFill>
            <a:srgbClr val="1B2238"/>
          </a:solidFill>
          <a:ln w="9525">
            <a:solidFill>
              <a:srgbClr val="1B2238"/>
            </a:solidFill>
            <a:prstDash val="solid"/>
          </a:ln>
        </p:spPr>
      </p:sp>
      <p:sp>
        <p:nvSpPr>
          <p:cNvPr id="5" name="Text 3"/>
          <p:cNvSpPr txBox="1"/>
          <p:nvPr/>
        </p:nvSpPr>
        <p:spPr>
          <a:xfrm>
            <a:off x="640080" y="1417320"/>
            <a:ext cx="3291840" cy="17373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Partner Onboarding Resource</a:t>
            </a:r>
            <a:endParaRPr lang="en-US" sz="1200" dirty="0"/>
          </a:p>
          <a:p>
            <a:pPr indent="0" marL="0">
              <a:buNone/>
            </a:pPr>
            <a:r>
              <a:rPr lang="en-US" sz="1200" i="1" dirty="0">
                <a:solidFill>
                  <a:srgbClr val="AFC3E8"/>
                </a:solidFill>
                <a:latin typeface="Calibri" pitchFamily="34" charset="0"/>
                <a:ea typeface="Calibri" pitchFamily="34" charset="-122"/>
                <a:cs typeface="Calibri" pitchFamily="34" charset="-120"/>
              </a:rPr>
              <a:t>The ICMP ambassador</a:t>
            </a:r>
            <a:endParaRPr lang="en-US" sz="1200" dirty="0"/>
          </a:p>
          <a:p>
            <a:pPr indent="0" marL="0">
              <a:buNone/>
            </a:pPr>
            <a:r>
              <a:rPr lang="en-US" sz="800" dirty="0">
                <a:solidFill>
                  <a:srgbClr val="FFFFFF"/>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FFFFFF"/>
                </a:solidFill>
                <a:latin typeface="Calibri" pitchFamily="34" charset="0"/>
                <a:ea typeface="Calibri" pitchFamily="34" charset="-122"/>
                <a:cs typeface="Calibri" pitchFamily="34" charset="-120"/>
              </a:rPr>
              <a:t>Helps the partner integrate so the business meets its goals, while keeping content valuable to the enterprise.</a:t>
            </a:r>
            <a:endParaRPr lang="en-US" sz="1200" dirty="0"/>
          </a:p>
        </p:txBody>
      </p:sp>
      <p:sp>
        <p:nvSpPr>
          <p:cNvPr id="6" name="Text 4"/>
          <p:cNvSpPr txBox="1"/>
          <p:nvPr/>
        </p:nvSpPr>
        <p:spPr>
          <a:xfrm>
            <a:off x="640080" y="2834640"/>
            <a:ext cx="3291840" cy="17373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Accountable for on-time completion</a:t>
            </a:r>
            <a:endParaRPr lang="en-US" sz="1300" dirty="0"/>
          </a:p>
          <a:p>
            <a:pPr marL="152400" indent="-1524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SME from first call to deployment validation call</a:t>
            </a:r>
            <a:endParaRPr lang="en-US" sz="1300" dirty="0"/>
          </a:p>
          <a:p>
            <a:pPr marL="152400" indent="-1524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Absorbs variability the process does not anticipate</a:t>
            </a:r>
            <a:endParaRPr lang="en-US" sz="1300" dirty="0"/>
          </a:p>
        </p:txBody>
      </p:sp>
      <p:sp>
        <p:nvSpPr>
          <p:cNvPr id="7" name="Shape 5"/>
          <p:cNvSpPr/>
          <p:nvPr/>
        </p:nvSpPr>
        <p:spPr>
          <a:xfrm>
            <a:off x="4343400" y="1234440"/>
            <a:ext cx="1737360" cy="1078992"/>
          </a:xfrm>
          <a:prstGeom prst="roundRect">
            <a:avLst>
              <a:gd name="adj" fmla="val 6780"/>
            </a:avLst>
          </a:prstGeom>
          <a:solidFill>
            <a:srgbClr val="F3F4F7"/>
          </a:solidFill>
          <a:ln w="9525">
            <a:solidFill>
              <a:srgbClr val="F3F4F7"/>
            </a:solidFill>
            <a:prstDash val="solid"/>
          </a:ln>
        </p:spPr>
      </p:sp>
      <p:sp>
        <p:nvSpPr>
          <p:cNvPr id="8" name="Text 6"/>
          <p:cNvSpPr txBox="1"/>
          <p:nvPr/>
        </p:nvSpPr>
        <p:spPr>
          <a:xfrm>
            <a:off x="4480560" y="1344168"/>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01</a:t>
            </a:r>
            <a:endParaRPr lang="en-US" sz="1000" dirty="0"/>
          </a:p>
        </p:txBody>
      </p:sp>
      <p:sp>
        <p:nvSpPr>
          <p:cNvPr id="9" name="Text 7"/>
          <p:cNvSpPr txBox="1"/>
          <p:nvPr/>
        </p:nvSpPr>
        <p:spPr>
          <a:xfrm>
            <a:off x="4480560" y="1618488"/>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Project engagement</a:t>
            </a:r>
            <a:endParaRPr lang="en-US" sz="1250" dirty="0"/>
          </a:p>
        </p:txBody>
      </p:sp>
      <p:sp>
        <p:nvSpPr>
          <p:cNvPr id="10" name="Shape 8"/>
          <p:cNvSpPr/>
          <p:nvPr/>
        </p:nvSpPr>
        <p:spPr>
          <a:xfrm>
            <a:off x="6217920" y="1234440"/>
            <a:ext cx="1737360" cy="1078992"/>
          </a:xfrm>
          <a:prstGeom prst="roundRect">
            <a:avLst>
              <a:gd name="adj" fmla="val 6780"/>
            </a:avLst>
          </a:prstGeom>
          <a:solidFill>
            <a:srgbClr val="F3F4F7"/>
          </a:solidFill>
          <a:ln w="9525">
            <a:solidFill>
              <a:srgbClr val="F3F4F7"/>
            </a:solidFill>
            <a:prstDash val="solid"/>
          </a:ln>
        </p:spPr>
      </p:sp>
      <p:sp>
        <p:nvSpPr>
          <p:cNvPr id="11" name="Text 9"/>
          <p:cNvSpPr txBox="1"/>
          <p:nvPr/>
        </p:nvSpPr>
        <p:spPr>
          <a:xfrm>
            <a:off x="6355080" y="1344168"/>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02</a:t>
            </a:r>
            <a:endParaRPr lang="en-US" sz="1000" dirty="0"/>
          </a:p>
        </p:txBody>
      </p:sp>
      <p:sp>
        <p:nvSpPr>
          <p:cNvPr id="12" name="Text 10"/>
          <p:cNvSpPr txBox="1"/>
          <p:nvPr/>
        </p:nvSpPr>
        <p:spPr>
          <a:xfrm>
            <a:off x="6355080" y="1618488"/>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Partner System Agreement</a:t>
            </a:r>
            <a:endParaRPr lang="en-US" sz="1250" dirty="0"/>
          </a:p>
        </p:txBody>
      </p:sp>
      <p:sp>
        <p:nvSpPr>
          <p:cNvPr id="13" name="Shape 11"/>
          <p:cNvSpPr/>
          <p:nvPr/>
        </p:nvSpPr>
        <p:spPr>
          <a:xfrm>
            <a:off x="8092440" y="1234440"/>
            <a:ext cx="1737360" cy="1078992"/>
          </a:xfrm>
          <a:prstGeom prst="roundRect">
            <a:avLst>
              <a:gd name="adj" fmla="val 6780"/>
            </a:avLst>
          </a:prstGeom>
          <a:solidFill>
            <a:srgbClr val="F3F4F7"/>
          </a:solidFill>
          <a:ln w="9525">
            <a:solidFill>
              <a:srgbClr val="F3F4F7"/>
            </a:solidFill>
            <a:prstDash val="solid"/>
          </a:ln>
        </p:spPr>
      </p:sp>
      <p:sp>
        <p:nvSpPr>
          <p:cNvPr id="14" name="Text 12"/>
          <p:cNvSpPr txBox="1"/>
          <p:nvPr/>
        </p:nvSpPr>
        <p:spPr>
          <a:xfrm>
            <a:off x="8229600" y="1344168"/>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03</a:t>
            </a:r>
            <a:endParaRPr lang="en-US" sz="1000" dirty="0"/>
          </a:p>
        </p:txBody>
      </p:sp>
      <p:sp>
        <p:nvSpPr>
          <p:cNvPr id="15" name="Text 13"/>
          <p:cNvSpPr txBox="1"/>
          <p:nvPr/>
        </p:nvSpPr>
        <p:spPr>
          <a:xfrm>
            <a:off x="8229600" y="1618488"/>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Capacity planning</a:t>
            </a:r>
            <a:endParaRPr lang="en-US" sz="1250" dirty="0"/>
          </a:p>
        </p:txBody>
      </p:sp>
      <p:sp>
        <p:nvSpPr>
          <p:cNvPr id="16" name="Shape 14"/>
          <p:cNvSpPr/>
          <p:nvPr/>
        </p:nvSpPr>
        <p:spPr>
          <a:xfrm>
            <a:off x="9966960" y="1234440"/>
            <a:ext cx="1737360" cy="1078992"/>
          </a:xfrm>
          <a:prstGeom prst="roundRect">
            <a:avLst>
              <a:gd name="adj" fmla="val 6780"/>
            </a:avLst>
          </a:prstGeom>
          <a:solidFill>
            <a:srgbClr val="F3F4F7"/>
          </a:solidFill>
          <a:ln w="9525">
            <a:solidFill>
              <a:srgbClr val="F3F4F7"/>
            </a:solidFill>
            <a:prstDash val="solid"/>
          </a:ln>
        </p:spPr>
      </p:sp>
      <p:sp>
        <p:nvSpPr>
          <p:cNvPr id="17" name="Text 15"/>
          <p:cNvSpPr txBox="1"/>
          <p:nvPr/>
        </p:nvSpPr>
        <p:spPr>
          <a:xfrm>
            <a:off x="10104120" y="1344168"/>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04</a:t>
            </a:r>
            <a:endParaRPr lang="en-US" sz="1000" dirty="0"/>
          </a:p>
        </p:txBody>
      </p:sp>
      <p:sp>
        <p:nvSpPr>
          <p:cNvPr id="18" name="Text 16"/>
          <p:cNvSpPr txBox="1"/>
          <p:nvPr/>
        </p:nvSpPr>
        <p:spPr>
          <a:xfrm>
            <a:off x="10104120" y="1618488"/>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SPLI engagement</a:t>
            </a:r>
            <a:endParaRPr lang="en-US" sz="1250" dirty="0"/>
          </a:p>
        </p:txBody>
      </p:sp>
      <p:sp>
        <p:nvSpPr>
          <p:cNvPr id="19" name="Shape 17"/>
          <p:cNvSpPr/>
          <p:nvPr/>
        </p:nvSpPr>
        <p:spPr>
          <a:xfrm>
            <a:off x="4343400" y="2450592"/>
            <a:ext cx="1737360" cy="1078992"/>
          </a:xfrm>
          <a:prstGeom prst="roundRect">
            <a:avLst>
              <a:gd name="adj" fmla="val 6780"/>
            </a:avLst>
          </a:prstGeom>
          <a:solidFill>
            <a:srgbClr val="F3F4F7"/>
          </a:solidFill>
          <a:ln w="9525">
            <a:solidFill>
              <a:srgbClr val="F3F4F7"/>
            </a:solidFill>
            <a:prstDash val="solid"/>
          </a:ln>
        </p:spPr>
      </p:sp>
      <p:sp>
        <p:nvSpPr>
          <p:cNvPr id="20" name="Text 18"/>
          <p:cNvSpPr txBox="1"/>
          <p:nvPr/>
        </p:nvSpPr>
        <p:spPr>
          <a:xfrm>
            <a:off x="4480560" y="2560320"/>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05</a:t>
            </a:r>
            <a:endParaRPr lang="en-US" sz="1000" dirty="0"/>
          </a:p>
        </p:txBody>
      </p:sp>
      <p:sp>
        <p:nvSpPr>
          <p:cNvPr id="21" name="Text 19"/>
          <p:cNvSpPr txBox="1"/>
          <p:nvPr/>
        </p:nvSpPr>
        <p:spPr>
          <a:xfrm>
            <a:off x="4480560" y="2834640"/>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Security analysis</a:t>
            </a:r>
            <a:endParaRPr lang="en-US" sz="1250" dirty="0"/>
          </a:p>
        </p:txBody>
      </p:sp>
      <p:sp>
        <p:nvSpPr>
          <p:cNvPr id="22" name="Shape 20"/>
          <p:cNvSpPr/>
          <p:nvPr/>
        </p:nvSpPr>
        <p:spPr>
          <a:xfrm>
            <a:off x="6217920" y="2450592"/>
            <a:ext cx="1737360" cy="1078992"/>
          </a:xfrm>
          <a:prstGeom prst="roundRect">
            <a:avLst>
              <a:gd name="adj" fmla="val 6780"/>
            </a:avLst>
          </a:prstGeom>
          <a:solidFill>
            <a:srgbClr val="F3F4F7"/>
          </a:solidFill>
          <a:ln w="9525">
            <a:solidFill>
              <a:srgbClr val="F3F4F7"/>
            </a:solidFill>
            <a:prstDash val="solid"/>
          </a:ln>
        </p:spPr>
      </p:sp>
      <p:sp>
        <p:nvSpPr>
          <p:cNvPr id="23" name="Text 21"/>
          <p:cNvSpPr txBox="1"/>
          <p:nvPr/>
        </p:nvSpPr>
        <p:spPr>
          <a:xfrm>
            <a:off x="6355080" y="2560320"/>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06</a:t>
            </a:r>
            <a:endParaRPr lang="en-US" sz="1000" dirty="0"/>
          </a:p>
        </p:txBody>
      </p:sp>
      <p:sp>
        <p:nvSpPr>
          <p:cNvPr id="24" name="Text 22"/>
          <p:cNvSpPr txBox="1"/>
          <p:nvPr/>
        </p:nvSpPr>
        <p:spPr>
          <a:xfrm>
            <a:off x="6355080" y="2834640"/>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Apigee</a:t>
            </a:r>
            <a:endParaRPr lang="en-US" sz="1250" dirty="0"/>
          </a:p>
        </p:txBody>
      </p:sp>
      <p:sp>
        <p:nvSpPr>
          <p:cNvPr id="25" name="Shape 23"/>
          <p:cNvSpPr/>
          <p:nvPr/>
        </p:nvSpPr>
        <p:spPr>
          <a:xfrm>
            <a:off x="8092440" y="2450592"/>
            <a:ext cx="1737360" cy="1078992"/>
          </a:xfrm>
          <a:prstGeom prst="roundRect">
            <a:avLst>
              <a:gd name="adj" fmla="val 6780"/>
            </a:avLst>
          </a:prstGeom>
          <a:solidFill>
            <a:srgbClr val="F3F4F7"/>
          </a:solidFill>
          <a:ln w="9525">
            <a:solidFill>
              <a:srgbClr val="F3F4F7"/>
            </a:solidFill>
            <a:prstDash val="solid"/>
          </a:ln>
        </p:spPr>
      </p:sp>
      <p:sp>
        <p:nvSpPr>
          <p:cNvPr id="26" name="Text 24"/>
          <p:cNvSpPr txBox="1"/>
          <p:nvPr/>
        </p:nvSpPr>
        <p:spPr>
          <a:xfrm>
            <a:off x="8229600" y="2560320"/>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07</a:t>
            </a:r>
            <a:endParaRPr lang="en-US" sz="1000" dirty="0"/>
          </a:p>
        </p:txBody>
      </p:sp>
      <p:sp>
        <p:nvSpPr>
          <p:cNvPr id="27" name="Text 25"/>
          <p:cNvSpPr txBox="1"/>
          <p:nvPr/>
        </p:nvSpPr>
        <p:spPr>
          <a:xfrm>
            <a:off x="8229600" y="2834640"/>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Technology notes</a:t>
            </a:r>
            <a:endParaRPr lang="en-US" sz="1250" dirty="0"/>
          </a:p>
        </p:txBody>
      </p:sp>
      <p:sp>
        <p:nvSpPr>
          <p:cNvPr id="28" name="Shape 26"/>
          <p:cNvSpPr/>
          <p:nvPr/>
        </p:nvSpPr>
        <p:spPr>
          <a:xfrm>
            <a:off x="9966960" y="2450592"/>
            <a:ext cx="1737360" cy="1078992"/>
          </a:xfrm>
          <a:prstGeom prst="roundRect">
            <a:avLst>
              <a:gd name="adj" fmla="val 6780"/>
            </a:avLst>
          </a:prstGeom>
          <a:solidFill>
            <a:srgbClr val="F3F4F7"/>
          </a:solidFill>
          <a:ln w="9525">
            <a:solidFill>
              <a:srgbClr val="F3F4F7"/>
            </a:solidFill>
            <a:prstDash val="solid"/>
          </a:ln>
        </p:spPr>
      </p:sp>
      <p:sp>
        <p:nvSpPr>
          <p:cNvPr id="29" name="Text 27"/>
          <p:cNvSpPr txBox="1"/>
          <p:nvPr/>
        </p:nvSpPr>
        <p:spPr>
          <a:xfrm>
            <a:off x="10104120" y="2560320"/>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08</a:t>
            </a:r>
            <a:endParaRPr lang="en-US" sz="1000" dirty="0"/>
          </a:p>
        </p:txBody>
      </p:sp>
      <p:sp>
        <p:nvSpPr>
          <p:cNvPr id="30" name="Text 28"/>
          <p:cNvSpPr txBox="1"/>
          <p:nvPr/>
        </p:nvSpPr>
        <p:spPr>
          <a:xfrm>
            <a:off x="10104120" y="2834640"/>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KEES</a:t>
            </a:r>
            <a:endParaRPr lang="en-US" sz="1250" dirty="0"/>
          </a:p>
        </p:txBody>
      </p:sp>
      <p:sp>
        <p:nvSpPr>
          <p:cNvPr id="31" name="Shape 29"/>
          <p:cNvSpPr/>
          <p:nvPr/>
        </p:nvSpPr>
        <p:spPr>
          <a:xfrm>
            <a:off x="4343400" y="3666744"/>
            <a:ext cx="1737360" cy="1078992"/>
          </a:xfrm>
          <a:prstGeom prst="roundRect">
            <a:avLst>
              <a:gd name="adj" fmla="val 6780"/>
            </a:avLst>
          </a:prstGeom>
          <a:solidFill>
            <a:srgbClr val="F3F4F7"/>
          </a:solidFill>
          <a:ln w="9525">
            <a:solidFill>
              <a:srgbClr val="F3F4F7"/>
            </a:solidFill>
            <a:prstDash val="solid"/>
          </a:ln>
        </p:spPr>
      </p:sp>
      <p:sp>
        <p:nvSpPr>
          <p:cNvPr id="32" name="Text 30"/>
          <p:cNvSpPr txBox="1"/>
          <p:nvPr/>
        </p:nvSpPr>
        <p:spPr>
          <a:xfrm>
            <a:off x="4480560" y="3776472"/>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09</a:t>
            </a:r>
            <a:endParaRPr lang="en-US" sz="1000" dirty="0"/>
          </a:p>
        </p:txBody>
      </p:sp>
      <p:sp>
        <p:nvSpPr>
          <p:cNvPr id="33" name="Text 31"/>
          <p:cNvSpPr txBox="1"/>
          <p:nvPr/>
        </p:nvSpPr>
        <p:spPr>
          <a:xfrm>
            <a:off x="4480560" y="4050792"/>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Records Management</a:t>
            </a:r>
            <a:endParaRPr lang="en-US" sz="1250" dirty="0"/>
          </a:p>
        </p:txBody>
      </p:sp>
      <p:sp>
        <p:nvSpPr>
          <p:cNvPr id="34" name="Shape 32"/>
          <p:cNvSpPr/>
          <p:nvPr/>
        </p:nvSpPr>
        <p:spPr>
          <a:xfrm>
            <a:off x="6217920" y="3666744"/>
            <a:ext cx="1737360" cy="1078992"/>
          </a:xfrm>
          <a:prstGeom prst="roundRect">
            <a:avLst>
              <a:gd name="adj" fmla="val 6780"/>
            </a:avLst>
          </a:prstGeom>
          <a:solidFill>
            <a:srgbClr val="F3F4F7"/>
          </a:solidFill>
          <a:ln w="9525">
            <a:solidFill>
              <a:srgbClr val="F3F4F7"/>
            </a:solidFill>
            <a:prstDash val="solid"/>
          </a:ln>
        </p:spPr>
      </p:sp>
      <p:sp>
        <p:nvSpPr>
          <p:cNvPr id="35" name="Text 33"/>
          <p:cNvSpPr txBox="1"/>
          <p:nvPr/>
        </p:nvSpPr>
        <p:spPr>
          <a:xfrm>
            <a:off x="6355080" y="3776472"/>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10</a:t>
            </a:r>
            <a:endParaRPr lang="en-US" sz="1000" dirty="0"/>
          </a:p>
        </p:txBody>
      </p:sp>
      <p:sp>
        <p:nvSpPr>
          <p:cNvPr id="36" name="Text 34"/>
          <p:cNvSpPr txBox="1"/>
          <p:nvPr/>
        </p:nvSpPr>
        <p:spPr>
          <a:xfrm>
            <a:off x="6355080" y="4050792"/>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Readiness</a:t>
            </a:r>
            <a:endParaRPr lang="en-US" sz="1250" dirty="0"/>
          </a:p>
        </p:txBody>
      </p:sp>
      <p:sp>
        <p:nvSpPr>
          <p:cNvPr id="37" name="Shape 35"/>
          <p:cNvSpPr/>
          <p:nvPr/>
        </p:nvSpPr>
        <p:spPr>
          <a:xfrm>
            <a:off x="8092440" y="3666744"/>
            <a:ext cx="1737360" cy="1078992"/>
          </a:xfrm>
          <a:prstGeom prst="roundRect">
            <a:avLst>
              <a:gd name="adj" fmla="val 6780"/>
            </a:avLst>
          </a:prstGeom>
          <a:solidFill>
            <a:srgbClr val="F3F4F7"/>
          </a:solidFill>
          <a:ln w="9525">
            <a:solidFill>
              <a:srgbClr val="F3F4F7"/>
            </a:solidFill>
            <a:prstDash val="solid"/>
          </a:ln>
        </p:spPr>
      </p:sp>
      <p:sp>
        <p:nvSpPr>
          <p:cNvPr id="38" name="Text 36"/>
          <p:cNvSpPr txBox="1"/>
          <p:nvPr/>
        </p:nvSpPr>
        <p:spPr>
          <a:xfrm>
            <a:off x="8229600" y="3776472"/>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11</a:t>
            </a:r>
            <a:endParaRPr lang="en-US" sz="1000" dirty="0"/>
          </a:p>
        </p:txBody>
      </p:sp>
      <p:sp>
        <p:nvSpPr>
          <p:cNvPr id="39" name="Text 37"/>
          <p:cNvSpPr txBox="1"/>
          <p:nvPr/>
        </p:nvSpPr>
        <p:spPr>
          <a:xfrm>
            <a:off x="8229600" y="4050792"/>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Release transition</a:t>
            </a:r>
            <a:endParaRPr lang="en-US" sz="1250" dirty="0"/>
          </a:p>
        </p:txBody>
      </p:sp>
      <p:sp>
        <p:nvSpPr>
          <p:cNvPr id="40" name="Shape 38"/>
          <p:cNvSpPr/>
          <p:nvPr/>
        </p:nvSpPr>
        <p:spPr>
          <a:xfrm>
            <a:off x="9966960" y="3666744"/>
            <a:ext cx="1737360" cy="1078992"/>
          </a:xfrm>
          <a:prstGeom prst="roundRect">
            <a:avLst>
              <a:gd name="adj" fmla="val 6780"/>
            </a:avLst>
          </a:prstGeom>
          <a:solidFill>
            <a:srgbClr val="F3F4F7"/>
          </a:solidFill>
          <a:ln w="9525">
            <a:solidFill>
              <a:srgbClr val="F3F4F7"/>
            </a:solidFill>
            <a:prstDash val="solid"/>
          </a:ln>
        </p:spPr>
      </p:sp>
      <p:sp>
        <p:nvSpPr>
          <p:cNvPr id="41" name="Text 39"/>
          <p:cNvSpPr txBox="1"/>
          <p:nvPr/>
        </p:nvSpPr>
        <p:spPr>
          <a:xfrm>
            <a:off x="10104120" y="3776472"/>
            <a:ext cx="914400" cy="274320"/>
          </a:xfrm>
          <a:prstGeom prst="rect">
            <a:avLst/>
          </a:prstGeom>
          <a:noFill/>
          <a:ln/>
        </p:spPr>
        <p:txBody>
          <a:bodyPr wrap="square" lIns="0" tIns="0" rIns="0" bIns="0" rtlCol="0" anchor="t"/>
          <a:lstStyle/>
          <a:p>
            <a:pPr indent="0" marL="0">
              <a:buNone/>
            </a:pPr>
            <a:r>
              <a:rPr lang="en-US" sz="1000" b="1" dirty="0">
                <a:solidFill>
                  <a:srgbClr val="5B3FA0"/>
                </a:solidFill>
                <a:latin typeface="Calibri" pitchFamily="34" charset="0"/>
                <a:ea typeface="Calibri" pitchFamily="34" charset="-122"/>
                <a:cs typeface="Calibri" pitchFamily="34" charset="-120"/>
              </a:rPr>
              <a:t>12</a:t>
            </a:r>
            <a:endParaRPr lang="en-US" sz="1000" dirty="0"/>
          </a:p>
        </p:txBody>
      </p:sp>
      <p:sp>
        <p:nvSpPr>
          <p:cNvPr id="42" name="Text 40"/>
          <p:cNvSpPr txBox="1"/>
          <p:nvPr/>
        </p:nvSpPr>
        <p:spPr>
          <a:xfrm>
            <a:off x="10104120" y="4050792"/>
            <a:ext cx="1508760" cy="594360"/>
          </a:xfrm>
          <a:prstGeom prst="rect">
            <a:avLst/>
          </a:prstGeom>
          <a:noFill/>
          <a:ln/>
        </p:spPr>
        <p:txBody>
          <a:bodyPr wrap="square" lIns="0" tIns="0" rIns="0" bIns="0" rtlCol="0" anchor="t"/>
          <a:lstStyle/>
          <a:p>
            <a:pPr indent="0" marL="0">
              <a:buNone/>
            </a:pPr>
            <a:r>
              <a:rPr lang="en-US" sz="1250" b="1" dirty="0">
                <a:solidFill>
                  <a:srgbClr val="1B2238"/>
                </a:solidFill>
                <a:latin typeface="Calibri" pitchFamily="34" charset="0"/>
                <a:ea typeface="Calibri" pitchFamily="34" charset="-122"/>
                <a:cs typeface="Calibri" pitchFamily="34" charset="-120"/>
              </a:rPr>
              <a:t>Go-live</a:t>
            </a:r>
            <a:endParaRPr lang="en-US" sz="1250" dirty="0"/>
          </a:p>
        </p:txBody>
      </p:sp>
      <p:sp>
        <p:nvSpPr>
          <p:cNvPr id="43" name="Shape 41"/>
          <p:cNvSpPr/>
          <p:nvPr/>
        </p:nvSpPr>
        <p:spPr>
          <a:xfrm>
            <a:off x="411480" y="5029200"/>
            <a:ext cx="11365992" cy="1188720"/>
          </a:xfrm>
          <a:prstGeom prst="roundRect">
            <a:avLst>
              <a:gd name="adj" fmla="val 6154"/>
            </a:avLst>
          </a:prstGeom>
          <a:solidFill>
            <a:srgbClr val="FBEDEC"/>
          </a:solidFill>
          <a:ln w="9525">
            <a:solidFill>
              <a:srgbClr val="B3261E"/>
            </a:solidFill>
            <a:prstDash val="solid"/>
          </a:ln>
        </p:spPr>
      </p:sp>
      <p:sp>
        <p:nvSpPr>
          <p:cNvPr id="44" name="Text 42"/>
          <p:cNvSpPr txBox="1"/>
          <p:nvPr/>
        </p:nvSpPr>
        <p:spPr>
          <a:xfrm>
            <a:off x="640080" y="5029200"/>
            <a:ext cx="10972800" cy="1188720"/>
          </a:xfrm>
          <a:prstGeom prst="rect">
            <a:avLst/>
          </a:prstGeom>
          <a:noFill/>
          <a:ln/>
        </p:spPr>
        <p:txBody>
          <a:bodyPr wrap="square" lIns="0" tIns="0" rIns="0" bIns="0" rtlCol="0" anchor="ctr"/>
          <a:lstStyle/>
          <a:p>
            <a:pPr indent="0" marL="0">
              <a:buNone/>
            </a:pPr>
            <a:r>
              <a:rPr lang="en-US" sz="1100" b="1" dirty="0">
                <a:solidFill>
                  <a:srgbClr val="B3261E"/>
                </a:solidFill>
                <a:latin typeface="Calibri" pitchFamily="34" charset="0"/>
                <a:ea typeface="Calibri" pitchFamily="34" charset="-122"/>
                <a:cs typeface="Calibri" pitchFamily="34" charset="-120"/>
              </a:rPr>
              <a:t>STRUCTURAL CONSTRAINT   </a:t>
            </a:r>
            <a:pPr indent="0" marL="0">
              <a:buNone/>
            </a:pPr>
            <a:r>
              <a:rPr lang="en-US" sz="1400" dirty="0">
                <a:solidFill>
                  <a:srgbClr val="1B2238"/>
                </a:solidFill>
                <a:latin typeface="Calibri" pitchFamily="34" charset="0"/>
                <a:ea typeface="Calibri" pitchFamily="34" charset="-122"/>
                <a:cs typeface="Calibri" pitchFamily="34" charset="-120"/>
              </a:rPr>
              <a:t>What was agreed, what is outstanding, who owes what, and which approval blocks which activity lives in one person's working memory, not in a system.</a:t>
            </a:r>
            <a:endParaRPr lang="en-US" sz="12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Imaging Governance holds a decision right that sets the whole content design</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Current state · Imaging Governance</a:t>
            </a:r>
            <a:endParaRPr lang="en-US" sz="1000" dirty="0"/>
          </a:p>
        </p:txBody>
      </p:sp>
      <p:sp>
        <p:nvSpPr>
          <p:cNvPr id="4" name="Shape 2"/>
          <p:cNvSpPr/>
          <p:nvPr/>
        </p:nvSpPr>
        <p:spPr>
          <a:xfrm>
            <a:off x="411480" y="1234440"/>
            <a:ext cx="5605272" cy="2148840"/>
          </a:xfrm>
          <a:prstGeom prst="roundRect">
            <a:avLst>
              <a:gd name="adj" fmla="val 3404"/>
            </a:avLst>
          </a:prstGeom>
          <a:solidFill>
            <a:srgbClr val="FFFFFF"/>
          </a:solidFill>
          <a:ln w="9525">
            <a:solidFill>
              <a:srgbClr val="1B2238"/>
            </a:solidFill>
            <a:prstDash val="solid"/>
          </a:ln>
        </p:spPr>
      </p:sp>
      <p:sp>
        <p:nvSpPr>
          <p:cNvPr id="5" name="Shape 3"/>
          <p:cNvSpPr/>
          <p:nvPr/>
        </p:nvSpPr>
        <p:spPr>
          <a:xfrm>
            <a:off x="4160520" y="1371600"/>
            <a:ext cx="1691640" cy="329184"/>
          </a:xfrm>
          <a:prstGeom prst="roundRect">
            <a:avLst>
              <a:gd name="adj" fmla="val 27778"/>
            </a:avLst>
          </a:prstGeom>
          <a:solidFill>
            <a:srgbClr val="B3261E"/>
          </a:solidFill>
          <a:ln w="9525">
            <a:solidFill>
              <a:srgbClr val="B3261E"/>
            </a:solidFill>
            <a:prstDash val="solid"/>
          </a:ln>
        </p:spPr>
      </p:sp>
      <p:sp>
        <p:nvSpPr>
          <p:cNvPr id="6" name="Text 4"/>
          <p:cNvSpPr txBox="1"/>
          <p:nvPr/>
        </p:nvSpPr>
        <p:spPr>
          <a:xfrm>
            <a:off x="4160520" y="1371600"/>
            <a:ext cx="169164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HUMAN DECISION</a:t>
            </a:r>
            <a:endParaRPr lang="en-US" sz="1000" dirty="0"/>
          </a:p>
        </p:txBody>
      </p:sp>
      <p:sp>
        <p:nvSpPr>
          <p:cNvPr id="7" name="Text 5"/>
          <p:cNvSpPr txBox="1"/>
          <p:nvPr/>
        </p:nvSpPr>
        <p:spPr>
          <a:xfrm>
            <a:off x="640080" y="1783080"/>
            <a:ext cx="5120640" cy="411480"/>
          </a:xfrm>
          <a:prstGeom prst="rect">
            <a:avLst/>
          </a:prstGeom>
          <a:noFill/>
          <a:ln/>
        </p:spPr>
        <p:txBody>
          <a:bodyPr wrap="square" lIns="0" tIns="0" rIns="0" bIns="0" rtlCol="0" anchor="t"/>
          <a:lstStyle/>
          <a:p>
            <a:pPr indent="0" marL="0">
              <a:buNone/>
            </a:pPr>
            <a:r>
              <a:rPr lang="en-US" sz="1800" b="1" dirty="0">
                <a:solidFill>
                  <a:srgbClr val="1B2238"/>
                </a:solidFill>
                <a:latin typeface="Cambria" pitchFamily="34" charset="0"/>
                <a:ea typeface="Cambria" pitchFamily="34" charset="-122"/>
                <a:cs typeface="Cambria" pitchFamily="34" charset="-120"/>
              </a:rPr>
              <a:t>Trusted vs untrusted determination</a:t>
            </a:r>
            <a:endParaRPr lang="en-US" sz="1800" dirty="0"/>
          </a:p>
        </p:txBody>
      </p:sp>
      <p:sp>
        <p:nvSpPr>
          <p:cNvPr id="8" name="Text 6"/>
          <p:cNvSpPr txBox="1"/>
          <p:nvPr/>
        </p:nvSpPr>
        <p:spPr>
          <a:xfrm>
            <a:off x="640080" y="2286000"/>
            <a:ext cx="5120640" cy="1005840"/>
          </a:xfrm>
          <a:prstGeom prst="rect">
            <a:avLst/>
          </a:prstGeom>
          <a:noFill/>
          <a:ln/>
        </p:spPr>
        <p:txBody>
          <a:bodyPr wrap="square" lIns="0" tIns="0" rIns="0" bIns="0" rtlCol="0" anchor="t"/>
          <a:lstStyle/>
          <a:p>
            <a:pPr indent="0" marL="0">
              <a:buNone/>
            </a:pPr>
            <a:r>
              <a:rPr lang="en-US" sz="1300" dirty="0">
                <a:solidFill>
                  <a:srgbClr val="5A6275"/>
                </a:solidFill>
                <a:latin typeface="Calibri" pitchFamily="34" charset="0"/>
                <a:ea typeface="Calibri" pitchFamily="34" charset="-122"/>
                <a:cs typeface="Calibri" pitchFamily="34" charset="-120"/>
              </a:rPr>
              <a:t>Whether a document path needs virus scanning, AI classification and human-in-the-loop, or bypasses classification. Sets the scope of an entire workstream.</a:t>
            </a:r>
            <a:endParaRPr lang="en-US" sz="1300" dirty="0"/>
          </a:p>
        </p:txBody>
      </p:sp>
      <p:sp>
        <p:nvSpPr>
          <p:cNvPr id="9" name="Shape 7"/>
          <p:cNvSpPr/>
          <p:nvPr/>
        </p:nvSpPr>
        <p:spPr>
          <a:xfrm>
            <a:off x="6172200" y="1234440"/>
            <a:ext cx="5605272" cy="2148840"/>
          </a:xfrm>
          <a:prstGeom prst="roundRect">
            <a:avLst>
              <a:gd name="adj" fmla="val 3404"/>
            </a:avLst>
          </a:prstGeom>
          <a:solidFill>
            <a:srgbClr val="FFFFFF"/>
          </a:solidFill>
          <a:ln w="9525">
            <a:solidFill>
              <a:srgbClr val="1B2238"/>
            </a:solidFill>
            <a:prstDash val="solid"/>
          </a:ln>
        </p:spPr>
      </p:sp>
      <p:sp>
        <p:nvSpPr>
          <p:cNvPr id="10" name="Shape 8"/>
          <p:cNvSpPr/>
          <p:nvPr/>
        </p:nvSpPr>
        <p:spPr>
          <a:xfrm>
            <a:off x="9921240" y="1371600"/>
            <a:ext cx="1691640" cy="329184"/>
          </a:xfrm>
          <a:prstGeom prst="roundRect">
            <a:avLst>
              <a:gd name="adj" fmla="val 27778"/>
            </a:avLst>
          </a:prstGeom>
          <a:solidFill>
            <a:srgbClr val="B3261E"/>
          </a:solidFill>
          <a:ln w="9525">
            <a:solidFill>
              <a:srgbClr val="B3261E"/>
            </a:solidFill>
            <a:prstDash val="solid"/>
          </a:ln>
        </p:spPr>
      </p:sp>
      <p:sp>
        <p:nvSpPr>
          <p:cNvPr id="11" name="Text 9"/>
          <p:cNvSpPr txBox="1"/>
          <p:nvPr/>
        </p:nvSpPr>
        <p:spPr>
          <a:xfrm>
            <a:off x="9921240" y="1371600"/>
            <a:ext cx="169164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HUMAN DECISION</a:t>
            </a:r>
            <a:endParaRPr lang="en-US" sz="1000" dirty="0"/>
          </a:p>
        </p:txBody>
      </p:sp>
      <p:sp>
        <p:nvSpPr>
          <p:cNvPr id="12" name="Text 10"/>
          <p:cNvSpPr txBox="1"/>
          <p:nvPr/>
        </p:nvSpPr>
        <p:spPr>
          <a:xfrm>
            <a:off x="6400800" y="1783080"/>
            <a:ext cx="5120640" cy="411480"/>
          </a:xfrm>
          <a:prstGeom prst="rect">
            <a:avLst/>
          </a:prstGeom>
          <a:noFill/>
          <a:ln/>
        </p:spPr>
        <p:txBody>
          <a:bodyPr wrap="square" lIns="0" tIns="0" rIns="0" bIns="0" rtlCol="0" anchor="t"/>
          <a:lstStyle/>
          <a:p>
            <a:pPr indent="0" marL="0">
              <a:buNone/>
            </a:pPr>
            <a:r>
              <a:rPr lang="en-US" sz="1800" b="1" dirty="0">
                <a:solidFill>
                  <a:srgbClr val="1B2238"/>
                </a:solidFill>
                <a:latin typeface="Cambria" pitchFamily="34" charset="0"/>
                <a:ea typeface="Cambria" pitchFamily="34" charset="-122"/>
                <a:cs typeface="Cambria" pitchFamily="34" charset="-120"/>
              </a:rPr>
              <a:t>Document classification allocation</a:t>
            </a:r>
            <a:endParaRPr lang="en-US" sz="1800" dirty="0"/>
          </a:p>
        </p:txBody>
      </p:sp>
      <p:sp>
        <p:nvSpPr>
          <p:cNvPr id="13" name="Text 11"/>
          <p:cNvSpPr txBox="1"/>
          <p:nvPr/>
        </p:nvSpPr>
        <p:spPr>
          <a:xfrm>
            <a:off x="6400800" y="2286000"/>
            <a:ext cx="5120640" cy="1005840"/>
          </a:xfrm>
          <a:prstGeom prst="rect">
            <a:avLst/>
          </a:prstGeom>
          <a:noFill/>
          <a:ln/>
        </p:spPr>
        <p:txBody>
          <a:bodyPr wrap="square" lIns="0" tIns="0" rIns="0" bIns="0" rtlCol="0" anchor="t"/>
          <a:lstStyle/>
          <a:p>
            <a:pPr indent="0" marL="0">
              <a:buNone/>
            </a:pPr>
            <a:r>
              <a:rPr lang="en-US" sz="1300" dirty="0">
                <a:solidFill>
                  <a:srgbClr val="5A6275"/>
                </a:solidFill>
                <a:latin typeface="Calibri" pitchFamily="34" charset="0"/>
                <a:ea typeface="Calibri" pitchFamily="34" charset="-122"/>
                <a:cs typeface="Calibri" pitchFamily="34" charset="-120"/>
              </a:rPr>
              <a:t>For trusted content: category, type and subtype applied on arrival. Retention, search filters and audit retrieval are keyed to it.</a:t>
            </a:r>
            <a:endParaRPr lang="en-US" sz="1300" dirty="0"/>
          </a:p>
        </p:txBody>
      </p:sp>
      <p:sp>
        <p:nvSpPr>
          <p:cNvPr id="14" name="Shape 12"/>
          <p:cNvSpPr/>
          <p:nvPr/>
        </p:nvSpPr>
        <p:spPr>
          <a:xfrm>
            <a:off x="411480" y="3611880"/>
            <a:ext cx="11365992" cy="731520"/>
          </a:xfrm>
          <a:prstGeom prst="roundRect">
            <a:avLst>
              <a:gd name="adj" fmla="val 7500"/>
            </a:avLst>
          </a:prstGeom>
          <a:solidFill>
            <a:srgbClr val="F3F4F7"/>
          </a:solidFill>
          <a:ln w="9525">
            <a:solidFill>
              <a:srgbClr val="F3F4F7"/>
            </a:solidFill>
            <a:prstDash val="solid"/>
          </a:ln>
        </p:spPr>
      </p:sp>
      <p:sp>
        <p:nvSpPr>
          <p:cNvPr id="15" name="Text 13"/>
          <p:cNvSpPr txBox="1"/>
          <p:nvPr/>
        </p:nvSpPr>
        <p:spPr>
          <a:xfrm>
            <a:off x="640080" y="3611880"/>
            <a:ext cx="3931920" cy="731520"/>
          </a:xfrm>
          <a:prstGeom prst="rect">
            <a:avLst/>
          </a:prstGeom>
          <a:noFill/>
          <a:ln/>
        </p:spPr>
        <p:txBody>
          <a:bodyPr wrap="square" lIns="0" tIns="0" rIns="0" bIns="0" rtlCol="0" anchor="ctr"/>
          <a:lstStyle/>
          <a:p>
            <a:pPr indent="0" marL="0">
              <a:buNone/>
            </a:pPr>
            <a:r>
              <a:rPr lang="en-US" sz="1350" b="1" dirty="0">
                <a:solidFill>
                  <a:srgbClr val="1B2238"/>
                </a:solidFill>
                <a:latin typeface="Calibri" pitchFamily="34" charset="0"/>
                <a:ea typeface="Calibri" pitchFamily="34" charset="-122"/>
                <a:cs typeface="Calibri" pitchFamily="34" charset="-120"/>
              </a:rPr>
              <a:t>Samples are needed at discovery, not delivery</a:t>
            </a:r>
            <a:endParaRPr lang="en-US" sz="1350" dirty="0"/>
          </a:p>
        </p:txBody>
      </p:sp>
      <p:sp>
        <p:nvSpPr>
          <p:cNvPr id="16" name="Shape 14"/>
          <p:cNvSpPr/>
          <p:nvPr/>
        </p:nvSpPr>
        <p:spPr>
          <a:xfrm>
            <a:off x="4663440" y="3977640"/>
            <a:ext cx="548640" cy="0"/>
          </a:xfrm>
          <a:prstGeom prst="line">
            <a:avLst/>
          </a:prstGeom>
          <a:noFill/>
          <a:ln w="19050">
            <a:solidFill>
              <a:srgbClr val="5A6275"/>
            </a:solidFill>
            <a:prstDash val="solid"/>
            <a:tailEnd type="triangle"/>
          </a:ln>
        </p:spPr>
      </p:sp>
      <p:sp>
        <p:nvSpPr>
          <p:cNvPr id="17" name="Text 15"/>
          <p:cNvSpPr txBox="1"/>
          <p:nvPr/>
        </p:nvSpPr>
        <p:spPr>
          <a:xfrm>
            <a:off x="5394960" y="3611880"/>
            <a:ext cx="6217920" cy="731520"/>
          </a:xfrm>
          <a:prstGeom prst="rect">
            <a:avLst/>
          </a:prstGeom>
          <a:noFill/>
          <a:ln/>
        </p:spPr>
        <p:txBody>
          <a:bodyPr wrap="square" lIns="0" tIns="0" rIns="0" bIns="0" rtlCol="0" anchor="ctr"/>
          <a:lstStyle/>
          <a:p>
            <a:pPr indent="0" marL="0">
              <a:buNone/>
            </a:pPr>
            <a:r>
              <a:rPr lang="en-US" sz="1300" dirty="0">
                <a:solidFill>
                  <a:srgbClr val="1B2238"/>
                </a:solidFill>
                <a:latin typeface="Calibri" pitchFamily="34" charset="0"/>
                <a:ea typeface="Calibri" pitchFamily="34" charset="-122"/>
                <a:cs typeface="Calibri" pitchFamily="34" charset="-120"/>
              </a:rPr>
              <a:t>The determination is made by viewing documents on the flow, so representative samples must exist by Stage 4.</a:t>
            </a:r>
            <a:endParaRPr lang="en-US" sz="1300" dirty="0"/>
          </a:p>
        </p:txBody>
      </p:sp>
      <p:sp>
        <p:nvSpPr>
          <p:cNvPr id="18" name="Shape 16"/>
          <p:cNvSpPr/>
          <p:nvPr/>
        </p:nvSpPr>
        <p:spPr>
          <a:xfrm>
            <a:off x="411480" y="4480560"/>
            <a:ext cx="11365992" cy="731520"/>
          </a:xfrm>
          <a:prstGeom prst="roundRect">
            <a:avLst>
              <a:gd name="adj" fmla="val 7500"/>
            </a:avLst>
          </a:prstGeom>
          <a:solidFill>
            <a:srgbClr val="F3F4F7"/>
          </a:solidFill>
          <a:ln w="9525">
            <a:solidFill>
              <a:srgbClr val="F3F4F7"/>
            </a:solidFill>
            <a:prstDash val="solid"/>
          </a:ln>
        </p:spPr>
      </p:sp>
      <p:sp>
        <p:nvSpPr>
          <p:cNvPr id="19" name="Text 17"/>
          <p:cNvSpPr txBox="1"/>
          <p:nvPr/>
        </p:nvSpPr>
        <p:spPr>
          <a:xfrm>
            <a:off x="640080" y="4480560"/>
            <a:ext cx="3931920" cy="731520"/>
          </a:xfrm>
          <a:prstGeom prst="rect">
            <a:avLst/>
          </a:prstGeom>
          <a:noFill/>
          <a:ln/>
        </p:spPr>
        <p:txBody>
          <a:bodyPr wrap="square" lIns="0" tIns="0" rIns="0" bIns="0" rtlCol="0" anchor="ctr"/>
          <a:lstStyle/>
          <a:p>
            <a:pPr indent="0" marL="0">
              <a:buNone/>
            </a:pPr>
            <a:r>
              <a:rPr lang="en-US" sz="1350" b="1" dirty="0">
                <a:solidFill>
                  <a:srgbClr val="1B2238"/>
                </a:solidFill>
                <a:latin typeface="Calibri" pitchFamily="34" charset="0"/>
                <a:ea typeface="Calibri" pitchFamily="34" charset="-122"/>
                <a:cs typeface="Calibri" pitchFamily="34" charset="-120"/>
              </a:rPr>
              <a:t>A determination is a decision, not a recommendation</a:t>
            </a:r>
            <a:endParaRPr lang="en-US" sz="1350" dirty="0"/>
          </a:p>
        </p:txBody>
      </p:sp>
      <p:sp>
        <p:nvSpPr>
          <p:cNvPr id="20" name="Shape 18"/>
          <p:cNvSpPr/>
          <p:nvPr/>
        </p:nvSpPr>
        <p:spPr>
          <a:xfrm>
            <a:off x="4663440" y="4846320"/>
            <a:ext cx="548640" cy="0"/>
          </a:xfrm>
          <a:prstGeom prst="line">
            <a:avLst/>
          </a:prstGeom>
          <a:noFill/>
          <a:ln w="19050">
            <a:solidFill>
              <a:srgbClr val="5A6275"/>
            </a:solidFill>
            <a:prstDash val="solid"/>
            <a:tailEnd type="triangle"/>
          </a:ln>
        </p:spPr>
      </p:sp>
      <p:sp>
        <p:nvSpPr>
          <p:cNvPr id="21" name="Text 19"/>
          <p:cNvSpPr txBox="1"/>
          <p:nvPr/>
        </p:nvSpPr>
        <p:spPr>
          <a:xfrm>
            <a:off x="5394960" y="4480560"/>
            <a:ext cx="6217920" cy="731520"/>
          </a:xfrm>
          <a:prstGeom prst="rect">
            <a:avLst/>
          </a:prstGeom>
          <a:noFill/>
          <a:ln/>
        </p:spPr>
        <p:txBody>
          <a:bodyPr wrap="square" lIns="0" tIns="0" rIns="0" bIns="0" rtlCol="0" anchor="ctr"/>
          <a:lstStyle/>
          <a:p>
            <a:pPr indent="0" marL="0">
              <a:buNone/>
            </a:pPr>
            <a:r>
              <a:rPr lang="en-US" sz="1300" dirty="0">
                <a:solidFill>
                  <a:srgbClr val="1B2238"/>
                </a:solidFill>
                <a:latin typeface="Calibri" pitchFamily="34" charset="0"/>
                <a:ea typeface="Calibri" pitchFamily="34" charset="-122"/>
                <a:cs typeface="Calibri" pitchFamily="34" charset="-120"/>
              </a:rPr>
              <a:t>Designing against an assumed classification forces rework of profiles, classification configuration and retention keying.</a:t>
            </a:r>
            <a:endParaRPr lang="en-US" sz="1300" dirty="0"/>
          </a:p>
        </p:txBody>
      </p:sp>
      <p:sp>
        <p:nvSpPr>
          <p:cNvPr id="22" name="Shape 20"/>
          <p:cNvSpPr/>
          <p:nvPr/>
        </p:nvSpPr>
        <p:spPr>
          <a:xfrm>
            <a:off x="411480" y="5440680"/>
            <a:ext cx="11365992" cy="777240"/>
          </a:xfrm>
          <a:prstGeom prst="roundRect">
            <a:avLst>
              <a:gd name="adj" fmla="val 9412"/>
            </a:avLst>
          </a:prstGeom>
          <a:solidFill>
            <a:srgbClr val="5B3FA0"/>
          </a:solidFill>
          <a:ln w="9525">
            <a:solidFill>
              <a:srgbClr val="5B3FA0"/>
            </a:solidFill>
            <a:prstDash val="solid"/>
          </a:ln>
        </p:spPr>
      </p:sp>
      <p:sp>
        <p:nvSpPr>
          <p:cNvPr id="23" name="Text 21"/>
          <p:cNvSpPr txBox="1"/>
          <p:nvPr/>
        </p:nvSpPr>
        <p:spPr>
          <a:xfrm>
            <a:off x="640080" y="5440680"/>
            <a:ext cx="1097280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service can be accelerated. A decision right can be prepared for, tracked and carried forward, but not taken over by an agent.</a:t>
            </a:r>
            <a:endParaRPr lang="en-US" sz="15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Four deliverables are hand-assembled from information that already exists</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Current state · Lifecycle deliverables</a:t>
            </a:r>
            <a:endParaRPr lang="en-US" sz="1000" dirty="0"/>
          </a:p>
        </p:txBody>
      </p:sp>
      <p:sp>
        <p:nvSpPr>
          <p:cNvPr id="4" name="Shape 2"/>
          <p:cNvSpPr/>
          <p:nvPr/>
        </p:nvSpPr>
        <p:spPr>
          <a:xfrm>
            <a:off x="411480" y="1234440"/>
            <a:ext cx="5605272" cy="1965960"/>
          </a:xfrm>
          <a:prstGeom prst="roundRect">
            <a:avLst>
              <a:gd name="adj" fmla="val 3721"/>
            </a:avLst>
          </a:prstGeom>
          <a:solidFill>
            <a:srgbClr val="F3F4F7"/>
          </a:solidFill>
          <a:ln w="9525">
            <a:solidFill>
              <a:srgbClr val="F3F4F7"/>
            </a:solidFill>
            <a:prstDash val="solid"/>
          </a:ln>
        </p:spPr>
      </p:sp>
      <p:sp>
        <p:nvSpPr>
          <p:cNvPr id="5" name="Shape 3"/>
          <p:cNvSpPr/>
          <p:nvPr/>
        </p:nvSpPr>
        <p:spPr>
          <a:xfrm>
            <a:off x="4663440" y="1417320"/>
            <a:ext cx="1143000" cy="329184"/>
          </a:xfrm>
          <a:prstGeom prst="roundRect">
            <a:avLst>
              <a:gd name="adj" fmla="val 27778"/>
            </a:avLst>
          </a:prstGeom>
          <a:solidFill>
            <a:srgbClr val="2E7D4F"/>
          </a:solidFill>
          <a:ln w="9525">
            <a:solidFill>
              <a:srgbClr val="2E7D4F"/>
            </a:solidFill>
            <a:prstDash val="solid"/>
          </a:ln>
        </p:spPr>
      </p:sp>
      <p:sp>
        <p:nvSpPr>
          <p:cNvPr id="6" name="Text 4"/>
          <p:cNvSpPr txBox="1"/>
          <p:nvPr/>
        </p:nvSpPr>
        <p:spPr>
          <a:xfrm>
            <a:off x="4663440" y="1417320"/>
            <a:ext cx="11430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Stage 9</a:t>
            </a:r>
            <a:endParaRPr lang="en-US" sz="1050" dirty="0"/>
          </a:p>
        </p:txBody>
      </p:sp>
      <p:sp>
        <p:nvSpPr>
          <p:cNvPr id="7" name="Text 5"/>
          <p:cNvSpPr txBox="1"/>
          <p:nvPr/>
        </p:nvSpPr>
        <p:spPr>
          <a:xfrm>
            <a:off x="640080" y="1417320"/>
            <a:ext cx="3931920" cy="73152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Production Release Transition Page</a:t>
            </a:r>
            <a:endParaRPr lang="en-US" sz="1700" dirty="0"/>
          </a:p>
        </p:txBody>
      </p:sp>
      <p:sp>
        <p:nvSpPr>
          <p:cNvPr id="8" name="Text 6"/>
          <p:cNvSpPr txBox="1"/>
          <p:nvPr/>
        </p:nvSpPr>
        <p:spPr>
          <a:xfrm>
            <a:off x="640080" y="2148840"/>
            <a:ext cx="5120640" cy="914400"/>
          </a:xfrm>
          <a:prstGeom prst="rect">
            <a:avLst/>
          </a:prstGeom>
          <a:noFill/>
          <a:ln/>
        </p:spPr>
        <p:txBody>
          <a:bodyPr wrap="square" lIns="0" tIns="0" rIns="0" bIns="0" rtlCol="0" anchor="t"/>
          <a:lstStyle/>
          <a:p>
            <a:pPr indent="0" marL="0">
              <a:buNone/>
            </a:pPr>
            <a:r>
              <a:rPr lang="en-US" sz="1450" dirty="0">
                <a:solidFill>
                  <a:srgbClr val="5A6275"/>
                </a:solidFill>
                <a:latin typeface="Calibri" pitchFamily="34" charset="0"/>
                <a:ea typeface="Calibri" pitchFamily="34" charset="-122"/>
                <a:cs typeface="Calibri" pitchFamily="34" charset="-120"/>
              </a:rPr>
              <a:t>Makes the solution supportable by Platform Support, Delivery Management and Cloud/Hosting Engineering.</a:t>
            </a:r>
            <a:endParaRPr lang="en-US" sz="1450" dirty="0"/>
          </a:p>
        </p:txBody>
      </p:sp>
      <p:sp>
        <p:nvSpPr>
          <p:cNvPr id="9" name="Shape 7"/>
          <p:cNvSpPr/>
          <p:nvPr/>
        </p:nvSpPr>
        <p:spPr>
          <a:xfrm>
            <a:off x="6172200" y="1234440"/>
            <a:ext cx="5605272" cy="1965960"/>
          </a:xfrm>
          <a:prstGeom prst="roundRect">
            <a:avLst>
              <a:gd name="adj" fmla="val 3721"/>
            </a:avLst>
          </a:prstGeom>
          <a:solidFill>
            <a:srgbClr val="F3F4F7"/>
          </a:solidFill>
          <a:ln w="9525">
            <a:solidFill>
              <a:srgbClr val="F3F4F7"/>
            </a:solidFill>
            <a:prstDash val="solid"/>
          </a:ln>
        </p:spPr>
      </p:sp>
      <p:sp>
        <p:nvSpPr>
          <p:cNvPr id="10" name="Shape 8"/>
          <p:cNvSpPr/>
          <p:nvPr/>
        </p:nvSpPr>
        <p:spPr>
          <a:xfrm>
            <a:off x="10424160" y="1417320"/>
            <a:ext cx="1143000" cy="329184"/>
          </a:xfrm>
          <a:prstGeom prst="roundRect">
            <a:avLst>
              <a:gd name="adj" fmla="val 27778"/>
            </a:avLst>
          </a:prstGeom>
          <a:solidFill>
            <a:srgbClr val="2E7D4F"/>
          </a:solidFill>
          <a:ln w="9525">
            <a:solidFill>
              <a:srgbClr val="2E7D4F"/>
            </a:solidFill>
            <a:prstDash val="solid"/>
          </a:ln>
        </p:spPr>
      </p:sp>
      <p:sp>
        <p:nvSpPr>
          <p:cNvPr id="11" name="Text 9"/>
          <p:cNvSpPr txBox="1"/>
          <p:nvPr/>
        </p:nvSpPr>
        <p:spPr>
          <a:xfrm>
            <a:off x="10424160" y="1417320"/>
            <a:ext cx="11430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Stage 8.1</a:t>
            </a:r>
            <a:endParaRPr lang="en-US" sz="1050" dirty="0"/>
          </a:p>
        </p:txBody>
      </p:sp>
      <p:sp>
        <p:nvSpPr>
          <p:cNvPr id="12" name="Text 10"/>
          <p:cNvSpPr txBox="1"/>
          <p:nvPr/>
        </p:nvSpPr>
        <p:spPr>
          <a:xfrm>
            <a:off x="6400800" y="1417320"/>
            <a:ext cx="3931920" cy="73152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Partner System Agreement</a:t>
            </a:r>
            <a:endParaRPr lang="en-US" sz="1700" dirty="0"/>
          </a:p>
        </p:txBody>
      </p:sp>
      <p:sp>
        <p:nvSpPr>
          <p:cNvPr id="13" name="Text 11"/>
          <p:cNvSpPr txBox="1"/>
          <p:nvPr/>
        </p:nvSpPr>
        <p:spPr>
          <a:xfrm>
            <a:off x="6400800" y="2148840"/>
            <a:ext cx="5120640" cy="914400"/>
          </a:xfrm>
          <a:prstGeom prst="rect">
            <a:avLst/>
          </a:prstGeom>
          <a:noFill/>
          <a:ln/>
        </p:spPr>
        <p:txBody>
          <a:bodyPr wrap="square" lIns="0" tIns="0" rIns="0" bIns="0" rtlCol="0" anchor="t"/>
          <a:lstStyle/>
          <a:p>
            <a:pPr indent="0" marL="0">
              <a:buNone/>
            </a:pPr>
            <a:r>
              <a:rPr lang="en-US" sz="1450" dirty="0">
                <a:solidFill>
                  <a:srgbClr val="5A6275"/>
                </a:solidFill>
                <a:latin typeface="Calibri" pitchFamily="34" charset="0"/>
                <a:ea typeface="Calibri" pitchFamily="34" charset="-122"/>
                <a:cs typeface="Calibri" pitchFamily="34" charset="-120"/>
              </a:rPr>
              <a:t>Records the partner's use of ICMP, sign-off evidence, the email and copied support teams.</a:t>
            </a:r>
            <a:endParaRPr lang="en-US" sz="1450" dirty="0"/>
          </a:p>
        </p:txBody>
      </p:sp>
      <p:sp>
        <p:nvSpPr>
          <p:cNvPr id="14" name="Shape 12"/>
          <p:cNvSpPr/>
          <p:nvPr/>
        </p:nvSpPr>
        <p:spPr>
          <a:xfrm>
            <a:off x="411480" y="3383280"/>
            <a:ext cx="5605272" cy="1965960"/>
          </a:xfrm>
          <a:prstGeom prst="roundRect">
            <a:avLst>
              <a:gd name="adj" fmla="val 3721"/>
            </a:avLst>
          </a:prstGeom>
          <a:solidFill>
            <a:srgbClr val="F3F4F7"/>
          </a:solidFill>
          <a:ln w="9525">
            <a:solidFill>
              <a:srgbClr val="F3F4F7"/>
            </a:solidFill>
            <a:prstDash val="solid"/>
          </a:ln>
        </p:spPr>
      </p:sp>
      <p:sp>
        <p:nvSpPr>
          <p:cNvPr id="15" name="Shape 13"/>
          <p:cNvSpPr/>
          <p:nvPr/>
        </p:nvSpPr>
        <p:spPr>
          <a:xfrm>
            <a:off x="4663440" y="3566160"/>
            <a:ext cx="1143000" cy="329184"/>
          </a:xfrm>
          <a:prstGeom prst="roundRect">
            <a:avLst>
              <a:gd name="adj" fmla="val 27778"/>
            </a:avLst>
          </a:prstGeom>
          <a:solidFill>
            <a:srgbClr val="2E7D4F"/>
          </a:solidFill>
          <a:ln w="9525">
            <a:solidFill>
              <a:srgbClr val="2E7D4F"/>
            </a:solidFill>
            <a:prstDash val="solid"/>
          </a:ln>
        </p:spPr>
      </p:sp>
      <p:sp>
        <p:nvSpPr>
          <p:cNvPr id="16" name="Text 14"/>
          <p:cNvSpPr txBox="1"/>
          <p:nvPr/>
        </p:nvSpPr>
        <p:spPr>
          <a:xfrm>
            <a:off x="4663440" y="3566160"/>
            <a:ext cx="11430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Stage 8.6</a:t>
            </a:r>
            <a:endParaRPr lang="en-US" sz="1050" dirty="0"/>
          </a:p>
        </p:txBody>
      </p:sp>
      <p:sp>
        <p:nvSpPr>
          <p:cNvPr id="17" name="Text 15"/>
          <p:cNvSpPr txBox="1"/>
          <p:nvPr/>
        </p:nvSpPr>
        <p:spPr>
          <a:xfrm>
            <a:off x="640080" y="3566160"/>
            <a:ext cx="3931920" cy="73152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RM Onboarding Questionnaire</a:t>
            </a:r>
            <a:endParaRPr lang="en-US" sz="1700" dirty="0"/>
          </a:p>
        </p:txBody>
      </p:sp>
      <p:sp>
        <p:nvSpPr>
          <p:cNvPr id="18" name="Text 16"/>
          <p:cNvSpPr txBox="1"/>
          <p:nvPr/>
        </p:nvSpPr>
        <p:spPr>
          <a:xfrm>
            <a:off x="640080" y="4297680"/>
            <a:ext cx="5120640" cy="914400"/>
          </a:xfrm>
          <a:prstGeom prst="rect">
            <a:avLst/>
          </a:prstGeom>
          <a:noFill/>
          <a:ln/>
        </p:spPr>
        <p:txBody>
          <a:bodyPr wrap="square" lIns="0" tIns="0" rIns="0" bIns="0" rtlCol="0" anchor="t"/>
          <a:lstStyle/>
          <a:p>
            <a:pPr indent="0" marL="0">
              <a:buNone/>
            </a:pPr>
            <a:r>
              <a:rPr lang="en-US" sz="1450" dirty="0">
                <a:solidFill>
                  <a:srgbClr val="5A6275"/>
                </a:solidFill>
                <a:latin typeface="Calibri" pitchFamily="34" charset="0"/>
                <a:ea typeface="Calibri" pitchFamily="34" charset="-122"/>
                <a:cs typeface="Calibri" pitchFamily="34" charset="-120"/>
              </a:rPr>
              <a:t>Turns a business retention requirement into an enforced retention schedule.</a:t>
            </a:r>
            <a:endParaRPr lang="en-US" sz="1450" dirty="0"/>
          </a:p>
        </p:txBody>
      </p:sp>
      <p:sp>
        <p:nvSpPr>
          <p:cNvPr id="19" name="Shape 17"/>
          <p:cNvSpPr/>
          <p:nvPr/>
        </p:nvSpPr>
        <p:spPr>
          <a:xfrm>
            <a:off x="6172200" y="3383280"/>
            <a:ext cx="5605272" cy="1965960"/>
          </a:xfrm>
          <a:prstGeom prst="roundRect">
            <a:avLst>
              <a:gd name="adj" fmla="val 3721"/>
            </a:avLst>
          </a:prstGeom>
          <a:solidFill>
            <a:srgbClr val="F3F4F7"/>
          </a:solidFill>
          <a:ln w="9525">
            <a:solidFill>
              <a:srgbClr val="F3F4F7"/>
            </a:solidFill>
            <a:prstDash val="solid"/>
          </a:ln>
        </p:spPr>
      </p:sp>
      <p:sp>
        <p:nvSpPr>
          <p:cNvPr id="20" name="Shape 18"/>
          <p:cNvSpPr/>
          <p:nvPr/>
        </p:nvSpPr>
        <p:spPr>
          <a:xfrm>
            <a:off x="10424160" y="3566160"/>
            <a:ext cx="1143000" cy="329184"/>
          </a:xfrm>
          <a:prstGeom prst="roundRect">
            <a:avLst>
              <a:gd name="adj" fmla="val 27778"/>
            </a:avLst>
          </a:prstGeom>
          <a:solidFill>
            <a:srgbClr val="2E7D4F"/>
          </a:solidFill>
          <a:ln w="9525">
            <a:solidFill>
              <a:srgbClr val="2E7D4F"/>
            </a:solidFill>
            <a:prstDash val="solid"/>
          </a:ln>
        </p:spPr>
      </p:sp>
      <p:sp>
        <p:nvSpPr>
          <p:cNvPr id="21" name="Text 19"/>
          <p:cNvSpPr txBox="1"/>
          <p:nvPr/>
        </p:nvSpPr>
        <p:spPr>
          <a:xfrm>
            <a:off x="10424160" y="3566160"/>
            <a:ext cx="11430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Stage 8</a:t>
            </a:r>
            <a:endParaRPr lang="en-US" sz="1050" dirty="0"/>
          </a:p>
        </p:txBody>
      </p:sp>
      <p:sp>
        <p:nvSpPr>
          <p:cNvPr id="22" name="Text 20"/>
          <p:cNvSpPr txBox="1"/>
          <p:nvPr/>
        </p:nvSpPr>
        <p:spPr>
          <a:xfrm>
            <a:off x="6400800" y="3566160"/>
            <a:ext cx="3931920" cy="73152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TS Profile Updates &amp; Configuration Changes</a:t>
            </a:r>
            <a:endParaRPr lang="en-US" sz="1700" dirty="0"/>
          </a:p>
        </p:txBody>
      </p:sp>
      <p:sp>
        <p:nvSpPr>
          <p:cNvPr id="23" name="Text 21"/>
          <p:cNvSpPr txBox="1"/>
          <p:nvPr/>
        </p:nvSpPr>
        <p:spPr>
          <a:xfrm>
            <a:off x="6400800" y="4297680"/>
            <a:ext cx="5120640" cy="914400"/>
          </a:xfrm>
          <a:prstGeom prst="rect">
            <a:avLst/>
          </a:prstGeom>
          <a:noFill/>
          <a:ln/>
        </p:spPr>
        <p:txBody>
          <a:bodyPr wrap="square" lIns="0" tIns="0" rIns="0" bIns="0" rtlCol="0" anchor="t"/>
          <a:lstStyle/>
          <a:p>
            <a:pPr indent="0" marL="0">
              <a:buNone/>
            </a:pPr>
            <a:r>
              <a:rPr lang="en-US" sz="1450" dirty="0">
                <a:solidFill>
                  <a:srgbClr val="5A6275"/>
                </a:solidFill>
                <a:latin typeface="Calibri" pitchFamily="34" charset="0"/>
                <a:ea typeface="Calibri" pitchFamily="34" charset="-122"/>
                <a:cs typeface="Calibri" pitchFamily="34" charset="-120"/>
              </a:rPr>
              <a:t>Technical specification and configuration for the partner application to run on ICMP.</a:t>
            </a:r>
            <a:endParaRPr lang="en-US" sz="1450" dirty="0"/>
          </a:p>
        </p:txBody>
      </p:sp>
      <p:sp>
        <p:nvSpPr>
          <p:cNvPr id="24" name="Shape 22"/>
          <p:cNvSpPr/>
          <p:nvPr/>
        </p:nvSpPr>
        <p:spPr>
          <a:xfrm>
            <a:off x="411480" y="5577840"/>
            <a:ext cx="11365992" cy="640080"/>
          </a:xfrm>
          <a:prstGeom prst="roundRect">
            <a:avLst>
              <a:gd name="adj" fmla="val 11429"/>
            </a:avLst>
          </a:prstGeom>
          <a:solidFill>
            <a:srgbClr val="F1EDF9"/>
          </a:solidFill>
          <a:ln w="9525">
            <a:solidFill>
              <a:srgbClr val="5B3FA0"/>
            </a:solidFill>
            <a:prstDash val="solid"/>
          </a:ln>
        </p:spPr>
      </p:sp>
      <p:sp>
        <p:nvSpPr>
          <p:cNvPr id="25" name="Text 23"/>
          <p:cNvSpPr txBox="1"/>
          <p:nvPr/>
        </p:nvSpPr>
        <p:spPr>
          <a:xfrm>
            <a:off x="640080" y="5577840"/>
            <a:ext cx="10972800" cy="640080"/>
          </a:xfrm>
          <a:prstGeom prst="rect">
            <a:avLst/>
          </a:prstGeom>
          <a:noFill/>
          <a:ln/>
        </p:spPr>
        <p:txBody>
          <a:bodyPr wrap="square" lIns="0" tIns="0" rIns="0" bIns="0" rtlCol="0" anchor="ctr"/>
          <a:lstStyle/>
          <a:p>
            <a:pPr indent="0" marL="0">
              <a:buNone/>
            </a:pPr>
            <a:r>
              <a:rPr lang="en-US" sz="1400" b="1" dirty="0">
                <a:solidFill>
                  <a:srgbClr val="5B3FA0"/>
                </a:solidFill>
                <a:latin typeface="Calibri" pitchFamily="34" charset="0"/>
                <a:ea typeface="Calibri" pitchFamily="34" charset="-122"/>
                <a:cs typeface="Calibri" pitchFamily="34" charset="-120"/>
              </a:rPr>
              <a:t>Each is assembled by hand, largely from information already captured elsewhere in the process.</a:t>
            </a:r>
            <a:endParaRPr lang="en-US" sz="14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Ownership changes hands at least six times; context is rebuilt at each</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Current state · Accountability and effort</a:t>
            </a:r>
            <a:endParaRPr lang="en-US" sz="1000" dirty="0"/>
          </a:p>
        </p:txBody>
      </p:sp>
      <p:sp>
        <p:nvSpPr>
          <p:cNvPr id="4" name="Shape 2"/>
          <p:cNvSpPr/>
          <p:nvPr/>
        </p:nvSpPr>
        <p:spPr>
          <a:xfrm>
            <a:off x="457200" y="1280160"/>
            <a:ext cx="1171448" cy="502920"/>
          </a:xfrm>
          <a:prstGeom prst="roundRect">
            <a:avLst>
              <a:gd name="adj" fmla="val 9091"/>
            </a:avLst>
          </a:prstGeom>
          <a:solidFill>
            <a:srgbClr val="2563A8"/>
          </a:solidFill>
          <a:ln w="9525">
            <a:solidFill>
              <a:srgbClr val="2563A8"/>
            </a:solidFill>
            <a:prstDash val="solid"/>
          </a:ln>
        </p:spPr>
      </p:sp>
      <p:sp>
        <p:nvSpPr>
          <p:cNvPr id="5" name="Text 3"/>
          <p:cNvSpPr txBox="1"/>
          <p:nvPr/>
        </p:nvSpPr>
        <p:spPr>
          <a:xfrm>
            <a:off x="457200"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Request</a:t>
            </a:r>
            <a:endParaRPr lang="en-US" sz="1050" dirty="0"/>
          </a:p>
        </p:txBody>
      </p:sp>
      <p:sp>
        <p:nvSpPr>
          <p:cNvPr id="6" name="Shape 4"/>
          <p:cNvSpPr/>
          <p:nvPr/>
        </p:nvSpPr>
        <p:spPr>
          <a:xfrm>
            <a:off x="457200" y="1874520"/>
            <a:ext cx="1171448" cy="1097280"/>
          </a:xfrm>
          <a:prstGeom prst="roundRect">
            <a:avLst>
              <a:gd name="adj" fmla="val 4167"/>
            </a:avLst>
          </a:prstGeom>
          <a:solidFill>
            <a:srgbClr val="F3F4F7"/>
          </a:solidFill>
          <a:ln w="9525">
            <a:solidFill>
              <a:srgbClr val="F3F4F7"/>
            </a:solidFill>
            <a:prstDash val="solid"/>
          </a:ln>
        </p:spPr>
      </p:sp>
      <p:sp>
        <p:nvSpPr>
          <p:cNvPr id="7" name="Text 5"/>
          <p:cNvSpPr txBox="1"/>
          <p:nvPr/>
        </p:nvSpPr>
        <p:spPr>
          <a:xfrm>
            <a:off x="521208"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Partner or application team</a:t>
            </a:r>
            <a:endParaRPr lang="en-US" sz="1150" dirty="0"/>
          </a:p>
        </p:txBody>
      </p:sp>
      <p:sp>
        <p:nvSpPr>
          <p:cNvPr id="8" name="Shape 6"/>
          <p:cNvSpPr/>
          <p:nvPr/>
        </p:nvSpPr>
        <p:spPr>
          <a:xfrm>
            <a:off x="1720088" y="1280160"/>
            <a:ext cx="1171448" cy="502920"/>
          </a:xfrm>
          <a:prstGeom prst="roundRect">
            <a:avLst>
              <a:gd name="adj" fmla="val 9091"/>
            </a:avLst>
          </a:prstGeom>
          <a:solidFill>
            <a:srgbClr val="2563A8"/>
          </a:solidFill>
          <a:ln w="9525">
            <a:solidFill>
              <a:srgbClr val="2563A8"/>
            </a:solidFill>
            <a:prstDash val="solid"/>
          </a:ln>
        </p:spPr>
      </p:sp>
      <p:sp>
        <p:nvSpPr>
          <p:cNvPr id="9" name="Text 7"/>
          <p:cNvSpPr txBox="1"/>
          <p:nvPr/>
        </p:nvSpPr>
        <p:spPr>
          <a:xfrm>
            <a:off x="1720088"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Intake Review</a:t>
            </a:r>
            <a:endParaRPr lang="en-US" sz="1050" dirty="0"/>
          </a:p>
        </p:txBody>
      </p:sp>
      <p:sp>
        <p:nvSpPr>
          <p:cNvPr id="10" name="Shape 8"/>
          <p:cNvSpPr/>
          <p:nvPr/>
        </p:nvSpPr>
        <p:spPr>
          <a:xfrm>
            <a:off x="1720088" y="1874520"/>
            <a:ext cx="1171448" cy="1097280"/>
          </a:xfrm>
          <a:prstGeom prst="roundRect">
            <a:avLst>
              <a:gd name="adj" fmla="val 4167"/>
            </a:avLst>
          </a:prstGeom>
          <a:solidFill>
            <a:srgbClr val="F3F4F7"/>
          </a:solidFill>
          <a:ln w="9525">
            <a:solidFill>
              <a:srgbClr val="F3F4F7"/>
            </a:solidFill>
            <a:prstDash val="solid"/>
          </a:ln>
        </p:spPr>
      </p:sp>
      <p:sp>
        <p:nvSpPr>
          <p:cNvPr id="11" name="Text 9"/>
          <p:cNvSpPr txBox="1"/>
          <p:nvPr/>
        </p:nvSpPr>
        <p:spPr>
          <a:xfrm>
            <a:off x="1784096"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ECM intake team (L4/L3 PMs)</a:t>
            </a:r>
            <a:endParaRPr lang="en-US" sz="1150" dirty="0"/>
          </a:p>
        </p:txBody>
      </p:sp>
      <p:sp>
        <p:nvSpPr>
          <p:cNvPr id="12" name="Shape 10"/>
          <p:cNvSpPr/>
          <p:nvPr/>
        </p:nvSpPr>
        <p:spPr>
          <a:xfrm>
            <a:off x="2982976" y="1280160"/>
            <a:ext cx="1171448" cy="502920"/>
          </a:xfrm>
          <a:prstGeom prst="roundRect">
            <a:avLst>
              <a:gd name="adj" fmla="val 9091"/>
            </a:avLst>
          </a:prstGeom>
          <a:solidFill>
            <a:srgbClr val="2563A8"/>
          </a:solidFill>
          <a:ln w="9525">
            <a:solidFill>
              <a:srgbClr val="2563A8"/>
            </a:solidFill>
            <a:prstDash val="solid"/>
          </a:ln>
        </p:spPr>
      </p:sp>
      <p:sp>
        <p:nvSpPr>
          <p:cNvPr id="13" name="Text 11"/>
          <p:cNvSpPr txBox="1"/>
          <p:nvPr/>
        </p:nvSpPr>
        <p:spPr>
          <a:xfrm>
            <a:off x="2982976"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LOB Priority</a:t>
            </a:r>
            <a:endParaRPr lang="en-US" sz="1050" dirty="0"/>
          </a:p>
        </p:txBody>
      </p:sp>
      <p:sp>
        <p:nvSpPr>
          <p:cNvPr id="14" name="Shape 12"/>
          <p:cNvSpPr/>
          <p:nvPr/>
        </p:nvSpPr>
        <p:spPr>
          <a:xfrm>
            <a:off x="2982976" y="1874520"/>
            <a:ext cx="1171448" cy="1097280"/>
          </a:xfrm>
          <a:prstGeom prst="roundRect">
            <a:avLst>
              <a:gd name="adj" fmla="val 4167"/>
            </a:avLst>
          </a:prstGeom>
          <a:solidFill>
            <a:srgbClr val="F3F4F7"/>
          </a:solidFill>
          <a:ln w="9525">
            <a:solidFill>
              <a:srgbClr val="F3F4F7"/>
            </a:solidFill>
            <a:prstDash val="solid"/>
          </a:ln>
        </p:spPr>
      </p:sp>
      <p:sp>
        <p:nvSpPr>
          <p:cNvPr id="15" name="Text 13"/>
          <p:cNvSpPr txBox="1"/>
          <p:nvPr/>
        </p:nvSpPr>
        <p:spPr>
          <a:xfrm>
            <a:off x="3046984"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LOB sponsor</a:t>
            </a:r>
            <a:endParaRPr lang="en-US" sz="1150" dirty="0"/>
          </a:p>
        </p:txBody>
      </p:sp>
      <p:sp>
        <p:nvSpPr>
          <p:cNvPr id="16" name="Shape 14"/>
          <p:cNvSpPr/>
          <p:nvPr/>
        </p:nvSpPr>
        <p:spPr>
          <a:xfrm>
            <a:off x="4245864" y="1280160"/>
            <a:ext cx="1171448" cy="502920"/>
          </a:xfrm>
          <a:prstGeom prst="roundRect">
            <a:avLst>
              <a:gd name="adj" fmla="val 9091"/>
            </a:avLst>
          </a:prstGeom>
          <a:solidFill>
            <a:srgbClr val="2563A8"/>
          </a:solidFill>
          <a:ln w="9525">
            <a:solidFill>
              <a:srgbClr val="2563A8"/>
            </a:solidFill>
            <a:prstDash val="solid"/>
          </a:ln>
        </p:spPr>
      </p:sp>
      <p:sp>
        <p:nvSpPr>
          <p:cNvPr id="17" name="Text 15"/>
          <p:cNvSpPr txBox="1"/>
          <p:nvPr/>
        </p:nvSpPr>
        <p:spPr>
          <a:xfrm>
            <a:off x="4245864"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Discovery</a:t>
            </a:r>
            <a:endParaRPr lang="en-US" sz="1050" dirty="0"/>
          </a:p>
        </p:txBody>
      </p:sp>
      <p:sp>
        <p:nvSpPr>
          <p:cNvPr id="18" name="Shape 16"/>
          <p:cNvSpPr/>
          <p:nvPr/>
        </p:nvSpPr>
        <p:spPr>
          <a:xfrm>
            <a:off x="4245864" y="1874520"/>
            <a:ext cx="1171448" cy="1097280"/>
          </a:xfrm>
          <a:prstGeom prst="roundRect">
            <a:avLst>
              <a:gd name="adj" fmla="val 4167"/>
            </a:avLst>
          </a:prstGeom>
          <a:solidFill>
            <a:srgbClr val="F3F4F7"/>
          </a:solidFill>
          <a:ln w="9525">
            <a:solidFill>
              <a:srgbClr val="F3F4F7"/>
            </a:solidFill>
            <a:prstDash val="solid"/>
          </a:ln>
        </p:spPr>
      </p:sp>
      <p:sp>
        <p:nvSpPr>
          <p:cNvPr id="19" name="Text 17"/>
          <p:cNvSpPr txBox="1"/>
          <p:nvPr/>
        </p:nvSpPr>
        <p:spPr>
          <a:xfrm>
            <a:off x="4309872"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Product owner</a:t>
            </a:r>
            <a:endParaRPr lang="en-US" sz="1150" dirty="0"/>
          </a:p>
        </p:txBody>
      </p:sp>
      <p:sp>
        <p:nvSpPr>
          <p:cNvPr id="20" name="Shape 18"/>
          <p:cNvSpPr/>
          <p:nvPr/>
        </p:nvSpPr>
        <p:spPr>
          <a:xfrm>
            <a:off x="5508752" y="1280160"/>
            <a:ext cx="1171448" cy="502920"/>
          </a:xfrm>
          <a:prstGeom prst="roundRect">
            <a:avLst>
              <a:gd name="adj" fmla="val 9091"/>
            </a:avLst>
          </a:prstGeom>
          <a:solidFill>
            <a:srgbClr val="B9771A"/>
          </a:solidFill>
          <a:ln w="9525">
            <a:solidFill>
              <a:srgbClr val="B9771A"/>
            </a:solidFill>
            <a:prstDash val="solid"/>
          </a:ln>
        </p:spPr>
      </p:sp>
      <p:sp>
        <p:nvSpPr>
          <p:cNvPr id="21" name="Text 19"/>
          <p:cNvSpPr txBox="1"/>
          <p:nvPr/>
        </p:nvSpPr>
        <p:spPr>
          <a:xfrm>
            <a:off x="5508752"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 Epic</a:t>
            </a:r>
            <a:endParaRPr lang="en-US" sz="1050" dirty="0"/>
          </a:p>
        </p:txBody>
      </p:sp>
      <p:sp>
        <p:nvSpPr>
          <p:cNvPr id="22" name="Shape 20"/>
          <p:cNvSpPr/>
          <p:nvPr/>
        </p:nvSpPr>
        <p:spPr>
          <a:xfrm>
            <a:off x="5508752" y="1874520"/>
            <a:ext cx="1171448" cy="1097280"/>
          </a:xfrm>
          <a:prstGeom prst="roundRect">
            <a:avLst>
              <a:gd name="adj" fmla="val 4167"/>
            </a:avLst>
          </a:prstGeom>
          <a:solidFill>
            <a:srgbClr val="F3F4F7"/>
          </a:solidFill>
          <a:ln w="9525">
            <a:solidFill>
              <a:srgbClr val="F3F4F7"/>
            </a:solidFill>
            <a:prstDash val="solid"/>
          </a:ln>
        </p:spPr>
      </p:sp>
      <p:sp>
        <p:nvSpPr>
          <p:cNvPr id="23" name="Text 21"/>
          <p:cNvSpPr txBox="1"/>
          <p:nvPr/>
        </p:nvSpPr>
        <p:spPr>
          <a:xfrm>
            <a:off x="5572760"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L3 product manager</a:t>
            </a:r>
            <a:endParaRPr lang="en-US" sz="1150" dirty="0"/>
          </a:p>
        </p:txBody>
      </p:sp>
      <p:sp>
        <p:nvSpPr>
          <p:cNvPr id="24" name="Shape 22"/>
          <p:cNvSpPr/>
          <p:nvPr/>
        </p:nvSpPr>
        <p:spPr>
          <a:xfrm>
            <a:off x="6771640" y="1280160"/>
            <a:ext cx="1171448" cy="502920"/>
          </a:xfrm>
          <a:prstGeom prst="roundRect">
            <a:avLst>
              <a:gd name="adj" fmla="val 9091"/>
            </a:avLst>
          </a:prstGeom>
          <a:solidFill>
            <a:srgbClr val="B9771A"/>
          </a:solidFill>
          <a:ln w="9525">
            <a:solidFill>
              <a:srgbClr val="B9771A"/>
            </a:solidFill>
            <a:prstDash val="solid"/>
          </a:ln>
        </p:spPr>
      </p:sp>
      <p:sp>
        <p:nvSpPr>
          <p:cNvPr id="25" name="Text 23"/>
          <p:cNvSpPr txBox="1"/>
          <p:nvPr/>
        </p:nvSpPr>
        <p:spPr>
          <a:xfrm>
            <a:off x="6771640"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 Big Room</a:t>
            </a:r>
            <a:endParaRPr lang="en-US" sz="1050" dirty="0"/>
          </a:p>
        </p:txBody>
      </p:sp>
      <p:sp>
        <p:nvSpPr>
          <p:cNvPr id="26" name="Shape 24"/>
          <p:cNvSpPr/>
          <p:nvPr/>
        </p:nvSpPr>
        <p:spPr>
          <a:xfrm>
            <a:off x="6771640" y="1874520"/>
            <a:ext cx="1171448" cy="1097280"/>
          </a:xfrm>
          <a:prstGeom prst="roundRect">
            <a:avLst>
              <a:gd name="adj" fmla="val 4167"/>
            </a:avLst>
          </a:prstGeom>
          <a:solidFill>
            <a:srgbClr val="F3F4F7"/>
          </a:solidFill>
          <a:ln w="9525">
            <a:solidFill>
              <a:srgbClr val="F3F4F7"/>
            </a:solidFill>
            <a:prstDash val="solid"/>
          </a:ln>
        </p:spPr>
      </p:sp>
      <p:sp>
        <p:nvSpPr>
          <p:cNvPr id="27" name="Text 25"/>
          <p:cNvSpPr txBox="1"/>
          <p:nvPr/>
        </p:nvSpPr>
        <p:spPr>
          <a:xfrm>
            <a:off x="6835648"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L3 product manager</a:t>
            </a:r>
            <a:endParaRPr lang="en-US" sz="1150" dirty="0"/>
          </a:p>
        </p:txBody>
      </p:sp>
      <p:sp>
        <p:nvSpPr>
          <p:cNvPr id="28" name="Shape 26"/>
          <p:cNvSpPr/>
          <p:nvPr/>
        </p:nvSpPr>
        <p:spPr>
          <a:xfrm>
            <a:off x="8034528" y="1280160"/>
            <a:ext cx="1171448" cy="502920"/>
          </a:xfrm>
          <a:prstGeom prst="roundRect">
            <a:avLst>
              <a:gd name="adj" fmla="val 9091"/>
            </a:avLst>
          </a:prstGeom>
          <a:solidFill>
            <a:srgbClr val="B9771A"/>
          </a:solidFill>
          <a:ln w="9525">
            <a:solidFill>
              <a:srgbClr val="B9771A"/>
            </a:solidFill>
            <a:prstDash val="solid"/>
          </a:ln>
        </p:spPr>
      </p:sp>
      <p:sp>
        <p:nvSpPr>
          <p:cNvPr id="29" name="Text 27"/>
          <p:cNvSpPr txBox="1"/>
          <p:nvPr/>
        </p:nvSpPr>
        <p:spPr>
          <a:xfrm>
            <a:off x="8034528"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 Capacity</a:t>
            </a:r>
            <a:endParaRPr lang="en-US" sz="1050" dirty="0"/>
          </a:p>
        </p:txBody>
      </p:sp>
      <p:sp>
        <p:nvSpPr>
          <p:cNvPr id="30" name="Shape 28"/>
          <p:cNvSpPr/>
          <p:nvPr/>
        </p:nvSpPr>
        <p:spPr>
          <a:xfrm>
            <a:off x="8034528" y="1874520"/>
            <a:ext cx="1171448" cy="1097280"/>
          </a:xfrm>
          <a:prstGeom prst="roundRect">
            <a:avLst>
              <a:gd name="adj" fmla="val 4167"/>
            </a:avLst>
          </a:prstGeom>
          <a:solidFill>
            <a:srgbClr val="F3F4F7"/>
          </a:solidFill>
          <a:ln w="9525">
            <a:solidFill>
              <a:srgbClr val="F3F4F7"/>
            </a:solidFill>
            <a:prstDash val="solid"/>
          </a:ln>
        </p:spPr>
      </p:sp>
      <p:sp>
        <p:nvSpPr>
          <p:cNvPr id="31" name="Text 29"/>
          <p:cNvSpPr txBox="1"/>
          <p:nvPr/>
        </p:nvSpPr>
        <p:spPr>
          <a:xfrm>
            <a:off x="8098536"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Enabling &amp; engineering teams</a:t>
            </a:r>
            <a:endParaRPr lang="en-US" sz="1150" dirty="0"/>
          </a:p>
        </p:txBody>
      </p:sp>
      <p:sp>
        <p:nvSpPr>
          <p:cNvPr id="32" name="Shape 30"/>
          <p:cNvSpPr/>
          <p:nvPr/>
        </p:nvSpPr>
        <p:spPr>
          <a:xfrm>
            <a:off x="9297416" y="1280160"/>
            <a:ext cx="1171448" cy="502920"/>
          </a:xfrm>
          <a:prstGeom prst="roundRect">
            <a:avLst>
              <a:gd name="adj" fmla="val 9091"/>
            </a:avLst>
          </a:prstGeom>
          <a:solidFill>
            <a:srgbClr val="2E7D4F"/>
          </a:solidFill>
          <a:ln w="9525">
            <a:solidFill>
              <a:srgbClr val="2E7D4F"/>
            </a:solidFill>
            <a:prstDash val="solid"/>
          </a:ln>
        </p:spPr>
      </p:sp>
      <p:sp>
        <p:nvSpPr>
          <p:cNvPr id="33" name="Text 31"/>
          <p:cNvSpPr txBox="1"/>
          <p:nvPr/>
        </p:nvSpPr>
        <p:spPr>
          <a:xfrm>
            <a:off x="9297416"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 Delivery</a:t>
            </a:r>
            <a:endParaRPr lang="en-US" sz="1050" dirty="0"/>
          </a:p>
        </p:txBody>
      </p:sp>
      <p:sp>
        <p:nvSpPr>
          <p:cNvPr id="34" name="Shape 32"/>
          <p:cNvSpPr/>
          <p:nvPr/>
        </p:nvSpPr>
        <p:spPr>
          <a:xfrm>
            <a:off x="9297416" y="1874520"/>
            <a:ext cx="1171448" cy="1097280"/>
          </a:xfrm>
          <a:prstGeom prst="roundRect">
            <a:avLst>
              <a:gd name="adj" fmla="val 4167"/>
            </a:avLst>
          </a:prstGeom>
          <a:solidFill>
            <a:srgbClr val="F3F4F7"/>
          </a:solidFill>
          <a:ln w="9525">
            <a:solidFill>
              <a:srgbClr val="F3F4F7"/>
            </a:solidFill>
            <a:prstDash val="solid"/>
          </a:ln>
        </p:spPr>
      </p:sp>
      <p:sp>
        <p:nvSpPr>
          <p:cNvPr id="35" name="Text 33"/>
          <p:cNvSpPr txBox="1"/>
          <p:nvPr/>
        </p:nvSpPr>
        <p:spPr>
          <a:xfrm>
            <a:off x="9361424"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Engineering &amp; enabling teams</a:t>
            </a:r>
            <a:endParaRPr lang="en-US" sz="1150" dirty="0"/>
          </a:p>
        </p:txBody>
      </p:sp>
      <p:sp>
        <p:nvSpPr>
          <p:cNvPr id="36" name="Shape 34"/>
          <p:cNvSpPr/>
          <p:nvPr/>
        </p:nvSpPr>
        <p:spPr>
          <a:xfrm>
            <a:off x="10560304" y="1280160"/>
            <a:ext cx="1171448" cy="502920"/>
          </a:xfrm>
          <a:prstGeom prst="roundRect">
            <a:avLst>
              <a:gd name="adj" fmla="val 9091"/>
            </a:avLst>
          </a:prstGeom>
          <a:solidFill>
            <a:srgbClr val="2E7D4F"/>
          </a:solidFill>
          <a:ln w="9525">
            <a:solidFill>
              <a:srgbClr val="2E7D4F"/>
            </a:solidFill>
            <a:prstDash val="solid"/>
          </a:ln>
        </p:spPr>
      </p:sp>
      <p:sp>
        <p:nvSpPr>
          <p:cNvPr id="37" name="Text 35"/>
          <p:cNvSpPr txBox="1"/>
          <p:nvPr/>
        </p:nvSpPr>
        <p:spPr>
          <a:xfrm>
            <a:off x="10560304" y="1280160"/>
            <a:ext cx="117144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9 Partner Live</a:t>
            </a:r>
            <a:endParaRPr lang="en-US" sz="1050" dirty="0"/>
          </a:p>
        </p:txBody>
      </p:sp>
      <p:sp>
        <p:nvSpPr>
          <p:cNvPr id="38" name="Shape 36"/>
          <p:cNvSpPr/>
          <p:nvPr/>
        </p:nvSpPr>
        <p:spPr>
          <a:xfrm>
            <a:off x="10560304" y="1874520"/>
            <a:ext cx="1171448" cy="1097280"/>
          </a:xfrm>
          <a:prstGeom prst="roundRect">
            <a:avLst>
              <a:gd name="adj" fmla="val 4167"/>
            </a:avLst>
          </a:prstGeom>
          <a:solidFill>
            <a:srgbClr val="F3F4F7"/>
          </a:solidFill>
          <a:ln w="9525">
            <a:solidFill>
              <a:srgbClr val="F3F4F7"/>
            </a:solidFill>
            <a:prstDash val="solid"/>
          </a:ln>
        </p:spPr>
      </p:sp>
      <p:sp>
        <p:nvSpPr>
          <p:cNvPr id="39" name="Text 37"/>
          <p:cNvSpPr txBox="1"/>
          <p:nvPr/>
        </p:nvSpPr>
        <p:spPr>
          <a:xfrm>
            <a:off x="10624312" y="1874520"/>
            <a:ext cx="1043432" cy="109728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Partner Onboarding Resource</a:t>
            </a:r>
            <a:endParaRPr lang="en-US" sz="1150" dirty="0"/>
          </a:p>
        </p:txBody>
      </p:sp>
      <p:sp>
        <p:nvSpPr>
          <p:cNvPr id="40" name="Shape 38"/>
          <p:cNvSpPr/>
          <p:nvPr/>
        </p:nvSpPr>
        <p:spPr>
          <a:xfrm>
            <a:off x="1518920" y="1376172"/>
            <a:ext cx="310896" cy="310896"/>
          </a:xfrm>
          <a:prstGeom prst="ellipse">
            <a:avLst/>
          </a:prstGeom>
          <a:solidFill>
            <a:srgbClr val="B3261E"/>
          </a:solidFill>
          <a:ln w="19050">
            <a:solidFill>
              <a:srgbClr val="FFFFFF"/>
            </a:solidFill>
            <a:prstDash val="solid"/>
          </a:ln>
        </p:spPr>
      </p:sp>
      <p:sp>
        <p:nvSpPr>
          <p:cNvPr id="41" name="Text 39"/>
          <p:cNvSpPr txBox="1"/>
          <p:nvPr/>
        </p:nvSpPr>
        <p:spPr>
          <a:xfrm>
            <a:off x="1518920" y="13761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2781808" y="1376172"/>
            <a:ext cx="310896" cy="310896"/>
          </a:xfrm>
          <a:prstGeom prst="ellipse">
            <a:avLst/>
          </a:prstGeom>
          <a:solidFill>
            <a:srgbClr val="B3261E"/>
          </a:solidFill>
          <a:ln w="19050">
            <a:solidFill>
              <a:srgbClr val="FFFFFF"/>
            </a:solidFill>
            <a:prstDash val="solid"/>
          </a:ln>
        </p:spPr>
      </p:sp>
      <p:sp>
        <p:nvSpPr>
          <p:cNvPr id="43" name="Text 41"/>
          <p:cNvSpPr txBox="1"/>
          <p:nvPr/>
        </p:nvSpPr>
        <p:spPr>
          <a:xfrm>
            <a:off x="2781808" y="13761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4044696" y="1376172"/>
            <a:ext cx="310896" cy="310896"/>
          </a:xfrm>
          <a:prstGeom prst="ellipse">
            <a:avLst/>
          </a:prstGeom>
          <a:solidFill>
            <a:srgbClr val="B3261E"/>
          </a:solidFill>
          <a:ln w="19050">
            <a:solidFill>
              <a:srgbClr val="FFFFFF"/>
            </a:solidFill>
            <a:prstDash val="solid"/>
          </a:ln>
        </p:spPr>
      </p:sp>
      <p:sp>
        <p:nvSpPr>
          <p:cNvPr id="45" name="Text 43"/>
          <p:cNvSpPr txBox="1"/>
          <p:nvPr/>
        </p:nvSpPr>
        <p:spPr>
          <a:xfrm>
            <a:off x="4044696" y="13761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5307584" y="1376172"/>
            <a:ext cx="310896" cy="310896"/>
          </a:xfrm>
          <a:prstGeom prst="ellipse">
            <a:avLst/>
          </a:prstGeom>
          <a:solidFill>
            <a:srgbClr val="B3261E"/>
          </a:solidFill>
          <a:ln w="19050">
            <a:solidFill>
              <a:srgbClr val="FFFFFF"/>
            </a:solidFill>
            <a:prstDash val="solid"/>
          </a:ln>
        </p:spPr>
      </p:sp>
      <p:sp>
        <p:nvSpPr>
          <p:cNvPr id="47" name="Text 45"/>
          <p:cNvSpPr txBox="1"/>
          <p:nvPr/>
        </p:nvSpPr>
        <p:spPr>
          <a:xfrm>
            <a:off x="5307584" y="13761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8" name="Shape 46"/>
          <p:cNvSpPr/>
          <p:nvPr/>
        </p:nvSpPr>
        <p:spPr>
          <a:xfrm>
            <a:off x="7833360" y="1376172"/>
            <a:ext cx="310896" cy="310896"/>
          </a:xfrm>
          <a:prstGeom prst="ellipse">
            <a:avLst/>
          </a:prstGeom>
          <a:solidFill>
            <a:srgbClr val="B3261E"/>
          </a:solidFill>
          <a:ln w="19050">
            <a:solidFill>
              <a:srgbClr val="FFFFFF"/>
            </a:solidFill>
            <a:prstDash val="solid"/>
          </a:ln>
        </p:spPr>
      </p:sp>
      <p:sp>
        <p:nvSpPr>
          <p:cNvPr id="49" name="Text 47"/>
          <p:cNvSpPr txBox="1"/>
          <p:nvPr/>
        </p:nvSpPr>
        <p:spPr>
          <a:xfrm>
            <a:off x="7833360" y="13761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0" name="Shape 48"/>
          <p:cNvSpPr/>
          <p:nvPr/>
        </p:nvSpPr>
        <p:spPr>
          <a:xfrm>
            <a:off x="10359136" y="1376172"/>
            <a:ext cx="310896" cy="310896"/>
          </a:xfrm>
          <a:prstGeom prst="ellipse">
            <a:avLst/>
          </a:prstGeom>
          <a:solidFill>
            <a:srgbClr val="B3261E"/>
          </a:solidFill>
          <a:ln w="19050">
            <a:solidFill>
              <a:srgbClr val="FFFFFF"/>
            </a:solidFill>
            <a:prstDash val="solid"/>
          </a:ln>
        </p:spPr>
      </p:sp>
      <p:sp>
        <p:nvSpPr>
          <p:cNvPr id="51" name="Text 49"/>
          <p:cNvSpPr txBox="1"/>
          <p:nvPr/>
        </p:nvSpPr>
        <p:spPr>
          <a:xfrm>
            <a:off x="10359136" y="13761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2" name="Text 50"/>
          <p:cNvSpPr txBox="1"/>
          <p:nvPr/>
        </p:nvSpPr>
        <p:spPr>
          <a:xfrm>
            <a:off x="411480" y="3035808"/>
            <a:ext cx="3657600" cy="228600"/>
          </a:xfrm>
          <a:prstGeom prst="rect">
            <a:avLst/>
          </a:prstGeom>
          <a:noFill/>
          <a:ln/>
        </p:spPr>
        <p:txBody>
          <a:bodyPr wrap="square" lIns="0" tIns="0" rIns="0" bIns="0" rtlCol="0" anchor="t"/>
          <a:lstStyle/>
          <a:p>
            <a:pPr indent="0" marL="0">
              <a:buNone/>
            </a:pPr>
            <a:r>
              <a:rPr lang="en-US" sz="900" b="1" dirty="0">
                <a:solidFill>
                  <a:srgbClr val="5A6275"/>
                </a:solidFill>
                <a:latin typeface="Calibri" pitchFamily="34" charset="0"/>
                <a:ea typeface="Calibri" pitchFamily="34" charset="-122"/>
                <a:cs typeface="Calibri" pitchFamily="34" charset="-120"/>
              </a:rPr>
              <a:t>ACCOUNTABLE OWNER</a:t>
            </a:r>
            <a:endParaRPr lang="en-US" sz="900" dirty="0"/>
          </a:p>
        </p:txBody>
      </p:sp>
      <p:sp>
        <p:nvSpPr>
          <p:cNvPr id="53" name="Text 51"/>
          <p:cNvSpPr txBox="1"/>
          <p:nvPr/>
        </p:nvSpPr>
        <p:spPr>
          <a:xfrm>
            <a:off x="9966960" y="3035808"/>
            <a:ext cx="1828800" cy="228600"/>
          </a:xfrm>
          <a:prstGeom prst="rect">
            <a:avLst/>
          </a:prstGeom>
          <a:noFill/>
          <a:ln/>
        </p:spPr>
        <p:txBody>
          <a:bodyPr wrap="square" lIns="0" tIns="0" rIns="0" bIns="0" rtlCol="0" anchor="t"/>
          <a:lstStyle/>
          <a:p>
            <a:pPr algn="r" indent="0" marL="0">
              <a:buNone/>
            </a:pPr>
            <a:r>
              <a:rPr lang="en-US" sz="900" b="1" dirty="0">
                <a:solidFill>
                  <a:srgbClr val="B3261E"/>
                </a:solidFill>
                <a:latin typeface="Calibri" pitchFamily="34" charset="0"/>
                <a:ea typeface="Calibri" pitchFamily="34" charset="-122"/>
                <a:cs typeface="Calibri" pitchFamily="34" charset="-120"/>
              </a:rPr>
              <a:t>● = handoff (6)</a:t>
            </a:r>
            <a:endParaRPr lang="en-US" sz="900" dirty="0"/>
          </a:p>
        </p:txBody>
      </p:sp>
      <p:sp>
        <p:nvSpPr>
          <p:cNvPr id="54" name="Shape 52"/>
          <p:cNvSpPr/>
          <p:nvPr/>
        </p:nvSpPr>
        <p:spPr>
          <a:xfrm>
            <a:off x="457200" y="3383280"/>
            <a:ext cx="2434336" cy="411480"/>
          </a:xfrm>
          <a:prstGeom prst="roundRect">
            <a:avLst>
              <a:gd name="adj" fmla="val 22222"/>
            </a:avLst>
          </a:prstGeom>
          <a:solidFill>
            <a:srgbClr val="5B3FA0"/>
          </a:solidFill>
          <a:ln w="9525">
            <a:solidFill>
              <a:srgbClr val="5B3FA0"/>
            </a:solidFill>
            <a:prstDash val="solid"/>
          </a:ln>
        </p:spPr>
      </p:sp>
      <p:sp>
        <p:nvSpPr>
          <p:cNvPr id="55" name="Text 53"/>
          <p:cNvSpPr txBox="1"/>
          <p:nvPr/>
        </p:nvSpPr>
        <p:spPr>
          <a:xfrm>
            <a:off x="457200" y="3383280"/>
            <a:ext cx="2434336"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 Onboarding Resource engaged</a:t>
            </a:r>
            <a:endParaRPr lang="en-US" sz="1100" dirty="0"/>
          </a:p>
        </p:txBody>
      </p:sp>
      <p:sp>
        <p:nvSpPr>
          <p:cNvPr id="56" name="Shape 54"/>
          <p:cNvSpPr/>
          <p:nvPr/>
        </p:nvSpPr>
        <p:spPr>
          <a:xfrm>
            <a:off x="4245864" y="3383280"/>
            <a:ext cx="7485888" cy="411480"/>
          </a:xfrm>
          <a:prstGeom prst="roundRect">
            <a:avLst>
              <a:gd name="adj" fmla="val 22222"/>
            </a:avLst>
          </a:prstGeom>
          <a:solidFill>
            <a:srgbClr val="5B3FA0"/>
          </a:solidFill>
          <a:ln w="9525">
            <a:solidFill>
              <a:srgbClr val="5B3FA0"/>
            </a:solidFill>
            <a:prstDash val="solid"/>
          </a:ln>
        </p:spPr>
      </p:sp>
      <p:sp>
        <p:nvSpPr>
          <p:cNvPr id="57" name="Text 55"/>
          <p:cNvSpPr txBox="1"/>
          <p:nvPr/>
        </p:nvSpPr>
        <p:spPr>
          <a:xfrm>
            <a:off x="4245864" y="3383280"/>
            <a:ext cx="748588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 Onboarding Resource engaged</a:t>
            </a:r>
            <a:endParaRPr lang="en-US" sz="1100" dirty="0"/>
          </a:p>
        </p:txBody>
      </p:sp>
      <p:sp>
        <p:nvSpPr>
          <p:cNvPr id="58" name="Shape 56"/>
          <p:cNvSpPr/>
          <p:nvPr/>
        </p:nvSpPr>
        <p:spPr>
          <a:xfrm>
            <a:off x="411480" y="4114800"/>
            <a:ext cx="3639312" cy="1280160"/>
          </a:xfrm>
          <a:prstGeom prst="roundRect">
            <a:avLst>
              <a:gd name="adj" fmla="val 5714"/>
            </a:avLst>
          </a:prstGeom>
          <a:solidFill>
            <a:srgbClr val="FFFFFF"/>
          </a:solidFill>
          <a:ln w="9525">
            <a:solidFill>
              <a:srgbClr val="2563A8"/>
            </a:solidFill>
            <a:prstDash val="solid"/>
          </a:ln>
        </p:spPr>
      </p:sp>
      <p:sp>
        <p:nvSpPr>
          <p:cNvPr id="59" name="Text 57"/>
          <p:cNvSpPr txBox="1"/>
          <p:nvPr/>
        </p:nvSpPr>
        <p:spPr>
          <a:xfrm>
            <a:off x="594360" y="4206240"/>
            <a:ext cx="3291840" cy="1097280"/>
          </a:xfrm>
          <a:prstGeom prst="rect">
            <a:avLst/>
          </a:prstGeom>
          <a:noFill/>
          <a:ln/>
        </p:spPr>
        <p:txBody>
          <a:bodyPr wrap="square" lIns="0" tIns="0" rIns="0" bIns="0" rtlCol="0" anchor="t"/>
          <a:lstStyle/>
          <a:p>
            <a:pPr indent="0" marL="0">
              <a:buNone/>
            </a:pPr>
            <a:r>
              <a:rPr lang="en-US" sz="1300" b="1" dirty="0">
                <a:solidFill>
                  <a:srgbClr val="2563A8"/>
                </a:solidFill>
                <a:latin typeface="Calibri" pitchFamily="34" charset="0"/>
                <a:ea typeface="Calibri" pitchFamily="34" charset="-122"/>
                <a:cs typeface="Calibri" pitchFamily="34" charset="-120"/>
              </a:rPr>
              <a:t>Phase A effort profile</a:t>
            </a:r>
            <a:endParaRPr lang="en-US" sz="1200" dirty="0"/>
          </a:p>
          <a:p>
            <a:pPr indent="0" marL="0">
              <a:buNone/>
            </a:pPr>
            <a:r>
              <a:rPr lang="en-US" sz="1250" dirty="0">
                <a:solidFill>
                  <a:srgbClr val="1B2238"/>
                </a:solidFill>
                <a:latin typeface="Calibri" pitchFamily="34" charset="0"/>
                <a:ea typeface="Calibri" pitchFamily="34" charset="-122"/>
                <a:cs typeface="Calibri" pitchFamily="34" charset="-120"/>
              </a:rPr>
              <a:t>Dominated by information gathering and judgement</a:t>
            </a:r>
            <a:endParaRPr lang="en-US" sz="1200" dirty="0"/>
          </a:p>
        </p:txBody>
      </p:sp>
      <p:sp>
        <p:nvSpPr>
          <p:cNvPr id="60" name="Shape 58"/>
          <p:cNvSpPr/>
          <p:nvPr/>
        </p:nvSpPr>
        <p:spPr>
          <a:xfrm>
            <a:off x="4233672" y="4114800"/>
            <a:ext cx="3639312" cy="1280160"/>
          </a:xfrm>
          <a:prstGeom prst="roundRect">
            <a:avLst>
              <a:gd name="adj" fmla="val 5714"/>
            </a:avLst>
          </a:prstGeom>
          <a:solidFill>
            <a:srgbClr val="FFFFFF"/>
          </a:solidFill>
          <a:ln w="9525">
            <a:solidFill>
              <a:srgbClr val="B9771A"/>
            </a:solidFill>
            <a:prstDash val="solid"/>
          </a:ln>
        </p:spPr>
      </p:sp>
      <p:sp>
        <p:nvSpPr>
          <p:cNvPr id="61" name="Text 59"/>
          <p:cNvSpPr txBox="1"/>
          <p:nvPr/>
        </p:nvSpPr>
        <p:spPr>
          <a:xfrm>
            <a:off x="4416552" y="4206240"/>
            <a:ext cx="3291840" cy="1097280"/>
          </a:xfrm>
          <a:prstGeom prst="rect">
            <a:avLst/>
          </a:prstGeom>
          <a:noFill/>
          <a:ln/>
        </p:spPr>
        <p:txBody>
          <a:bodyPr wrap="square" lIns="0" tIns="0" rIns="0" bIns="0" rtlCol="0" anchor="t"/>
          <a:lstStyle/>
          <a:p>
            <a:pPr indent="0" marL="0">
              <a:buNone/>
            </a:pPr>
            <a:r>
              <a:rPr lang="en-US" sz="1300" b="1" dirty="0">
                <a:solidFill>
                  <a:srgbClr val="B9771A"/>
                </a:solidFill>
                <a:latin typeface="Calibri" pitchFamily="34" charset="0"/>
                <a:ea typeface="Calibri" pitchFamily="34" charset="-122"/>
                <a:cs typeface="Calibri" pitchFamily="34" charset="-120"/>
              </a:rPr>
              <a:t>Phase B effort profile</a:t>
            </a:r>
            <a:endParaRPr lang="en-US" sz="1200" dirty="0"/>
          </a:p>
          <a:p>
            <a:pPr indent="0" marL="0">
              <a:buNone/>
            </a:pPr>
            <a:r>
              <a:rPr lang="en-US" sz="1250" dirty="0">
                <a:solidFill>
                  <a:srgbClr val="1B2238"/>
                </a:solidFill>
                <a:latin typeface="Calibri" pitchFamily="34" charset="0"/>
                <a:ea typeface="Calibri" pitchFamily="34" charset="-122"/>
                <a:cs typeface="Calibri" pitchFamily="34" charset="-120"/>
              </a:rPr>
              <a:t>Dominated by negotiation and sequencing</a:t>
            </a:r>
            <a:endParaRPr lang="en-US" sz="1200" dirty="0"/>
          </a:p>
        </p:txBody>
      </p:sp>
      <p:sp>
        <p:nvSpPr>
          <p:cNvPr id="62" name="Shape 60"/>
          <p:cNvSpPr/>
          <p:nvPr/>
        </p:nvSpPr>
        <p:spPr>
          <a:xfrm>
            <a:off x="8055864" y="4114800"/>
            <a:ext cx="3639312" cy="1280160"/>
          </a:xfrm>
          <a:prstGeom prst="roundRect">
            <a:avLst>
              <a:gd name="adj" fmla="val 5714"/>
            </a:avLst>
          </a:prstGeom>
          <a:solidFill>
            <a:srgbClr val="FFFFFF"/>
          </a:solidFill>
          <a:ln w="9525">
            <a:solidFill>
              <a:srgbClr val="2E7D4F"/>
            </a:solidFill>
            <a:prstDash val="solid"/>
          </a:ln>
        </p:spPr>
      </p:sp>
      <p:sp>
        <p:nvSpPr>
          <p:cNvPr id="63" name="Text 61"/>
          <p:cNvSpPr txBox="1"/>
          <p:nvPr/>
        </p:nvSpPr>
        <p:spPr>
          <a:xfrm>
            <a:off x="8238744" y="4206240"/>
            <a:ext cx="3291840" cy="1097280"/>
          </a:xfrm>
          <a:prstGeom prst="rect">
            <a:avLst/>
          </a:prstGeom>
          <a:noFill/>
          <a:ln/>
        </p:spPr>
        <p:txBody>
          <a:bodyPr wrap="square" lIns="0" tIns="0" rIns="0" bIns="0" rtlCol="0" anchor="t"/>
          <a:lstStyle/>
          <a:p>
            <a:pPr indent="0" marL="0">
              <a:buNone/>
            </a:pPr>
            <a:r>
              <a:rPr lang="en-US" sz="1300" b="1" dirty="0">
                <a:solidFill>
                  <a:srgbClr val="2E7D4F"/>
                </a:solidFill>
                <a:latin typeface="Calibri" pitchFamily="34" charset="0"/>
                <a:ea typeface="Calibri" pitchFamily="34" charset="-122"/>
                <a:cs typeface="Calibri" pitchFamily="34" charset="-120"/>
              </a:rPr>
              <a:t>Phase C effort profile</a:t>
            </a:r>
            <a:endParaRPr lang="en-US" sz="1200" dirty="0"/>
          </a:p>
          <a:p>
            <a:pPr indent="0" marL="0">
              <a:buNone/>
            </a:pPr>
            <a:r>
              <a:rPr lang="en-US" sz="1250" dirty="0">
                <a:solidFill>
                  <a:srgbClr val="1B2238"/>
                </a:solidFill>
                <a:latin typeface="Calibri" pitchFamily="34" charset="0"/>
                <a:ea typeface="Calibri" pitchFamily="34" charset="-122"/>
                <a:cs typeface="Calibri" pitchFamily="34" charset="-120"/>
              </a:rPr>
              <a:t>Dominated by engineering execution and validation</a:t>
            </a:r>
            <a:endParaRPr lang="en-US" sz="1200" dirty="0"/>
          </a:p>
        </p:txBody>
      </p:sp>
      <p:sp>
        <p:nvSpPr>
          <p:cNvPr id="64" name="Text 62"/>
          <p:cNvSpPr txBox="1"/>
          <p:nvPr/>
        </p:nvSpPr>
        <p:spPr>
          <a:xfrm>
            <a:off x="411480" y="5623560"/>
            <a:ext cx="11338560" cy="365760"/>
          </a:xfrm>
          <a:prstGeom prst="rect">
            <a:avLst/>
          </a:prstGeom>
          <a:noFill/>
          <a:ln/>
        </p:spPr>
        <p:txBody>
          <a:bodyPr wrap="square" lIns="0" tIns="0" rIns="0" bIns="0" rtlCol="0" anchor="t"/>
          <a:lstStyle/>
          <a:p>
            <a:pPr indent="0" marL="0">
              <a:buNone/>
            </a:pPr>
            <a:r>
              <a:rPr lang="en-US" sz="1200" i="1" dirty="0">
                <a:solidFill>
                  <a:srgbClr val="5A6275"/>
                </a:solidFill>
                <a:latin typeface="Calibri" pitchFamily="34" charset="0"/>
                <a:ea typeface="Calibri" pitchFamily="34" charset="-122"/>
                <a:cs typeface="Calibri" pitchFamily="34" charset="-120"/>
              </a:rPr>
              <a:t>Effort (person-days) and elapsed days per stage: [baseline], to be measured from completed intakes.</a:t>
            </a:r>
            <a:endParaRPr lang="en-US" sz="12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563A8"/>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FFFFFF"/>
                </a:solidFill>
                <a:latin typeface="Calibri" pitchFamily="34" charset="0"/>
                <a:ea typeface="Calibri" pitchFamily="34" charset="-122"/>
                <a:cs typeface="Calibri" pitchFamily="34" charset="-120"/>
              </a:rPr>
              <a:t>SECTION 3 · PHASE A</a:t>
            </a:r>
            <a:endParaRPr lang="en-US" sz="1200" dirty="0"/>
          </a:p>
        </p:txBody>
      </p:sp>
      <p:sp>
        <p:nvSpPr>
          <p:cNvPr id="3" name="Text 1"/>
          <p:cNvSpPr txBox="1"/>
          <p:nvPr/>
        </p:nvSpPr>
        <p:spPr>
          <a:xfrm>
            <a:off x="548640" y="77724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Intake &amp; Prioritisation</a:t>
            </a:r>
            <a:endParaRPr lang="en-US" sz="3400" dirty="0"/>
          </a:p>
        </p:txBody>
      </p:sp>
      <p:sp>
        <p:nvSpPr>
          <p:cNvPr id="4" name="Text 2"/>
          <p:cNvSpPr txBox="1"/>
          <p:nvPr/>
        </p:nvSpPr>
        <p:spPr>
          <a:xfrm>
            <a:off x="548640" y="1600200"/>
            <a:ext cx="10972800" cy="457200"/>
          </a:xfrm>
          <a:prstGeom prst="rect">
            <a:avLst/>
          </a:prstGeom>
          <a:noFill/>
          <a:ln/>
        </p:spPr>
        <p:txBody>
          <a:bodyPr wrap="square" lIns="0" tIns="0" rIns="0" bIns="0" rtlCol="0" anchor="t"/>
          <a:lstStyle/>
          <a:p>
            <a:pPr indent="0" marL="0">
              <a:buNone/>
            </a:pPr>
            <a:r>
              <a:rPr lang="en-US" sz="1600" i="1" dirty="0">
                <a:solidFill>
                  <a:srgbClr val="FFFFFF"/>
                </a:solidFill>
                <a:latin typeface="Calibri" pitchFamily="34" charset="0"/>
                <a:ea typeface="Calibri" pitchFamily="34" charset="-122"/>
                <a:cs typeface="Calibri" pitchFamily="34" charset="-120"/>
              </a:rPr>
              <a:t>Phase A converts a business need into a validated, ranked, scoped demand.</a:t>
            </a:r>
            <a:endParaRPr lang="en-US" sz="1600" dirty="0"/>
          </a:p>
        </p:txBody>
      </p:sp>
      <p:sp>
        <p:nvSpPr>
          <p:cNvPr id="5" name="Shape 3"/>
          <p:cNvSpPr/>
          <p:nvPr/>
        </p:nvSpPr>
        <p:spPr>
          <a:xfrm>
            <a:off x="548640" y="2468880"/>
            <a:ext cx="1668780" cy="3291840"/>
          </a:xfrm>
          <a:prstGeom prst="roundRect">
            <a:avLst>
              <a:gd name="adj" fmla="val 4384"/>
            </a:avLst>
          </a:prstGeom>
          <a:solidFill>
            <a:srgbClr val="FFFFFF"/>
          </a:solidFill>
          <a:ln w="9525">
            <a:solidFill>
              <a:srgbClr val="FFFFFF"/>
            </a:solidFill>
            <a:prstDash val="solid"/>
          </a:ln>
        </p:spPr>
      </p:sp>
      <p:sp>
        <p:nvSpPr>
          <p:cNvPr id="6" name="Text 4"/>
          <p:cNvSpPr txBox="1"/>
          <p:nvPr/>
        </p:nvSpPr>
        <p:spPr>
          <a:xfrm>
            <a:off x="731520" y="2651760"/>
            <a:ext cx="1303020" cy="320040"/>
          </a:xfrm>
          <a:prstGeom prst="rect">
            <a:avLst/>
          </a:prstGeom>
          <a:noFill/>
          <a:ln/>
        </p:spPr>
        <p:txBody>
          <a:bodyPr wrap="square" lIns="0" tIns="0" rIns="0" bIns="0" rtlCol="0" anchor="t"/>
          <a:lstStyle/>
          <a:p>
            <a:pPr indent="0" marL="0">
              <a:buNone/>
            </a:pPr>
            <a:r>
              <a:rPr lang="en-US" sz="1200" b="1" dirty="0">
                <a:solidFill>
                  <a:srgbClr val="2563A8"/>
                </a:solidFill>
                <a:latin typeface="Calibri" pitchFamily="34" charset="0"/>
                <a:ea typeface="Calibri" pitchFamily="34" charset="-122"/>
                <a:cs typeface="Calibri" pitchFamily="34" charset="-120"/>
              </a:rPr>
              <a:t>STAGE 1</a:t>
            </a:r>
            <a:endParaRPr lang="en-US" sz="1200" dirty="0"/>
          </a:p>
        </p:txBody>
      </p:sp>
      <p:sp>
        <p:nvSpPr>
          <p:cNvPr id="7" name="Text 5"/>
          <p:cNvSpPr txBox="1"/>
          <p:nvPr/>
        </p:nvSpPr>
        <p:spPr>
          <a:xfrm>
            <a:off x="731520" y="3017520"/>
            <a:ext cx="1303020" cy="6858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Partner Request</a:t>
            </a:r>
            <a:endParaRPr lang="en-US" sz="1700" dirty="0"/>
          </a:p>
        </p:txBody>
      </p:sp>
      <p:sp>
        <p:nvSpPr>
          <p:cNvPr id="8" name="Text 6"/>
          <p:cNvSpPr txBox="1"/>
          <p:nvPr/>
        </p:nvSpPr>
        <p:spPr>
          <a:xfrm>
            <a:off x="731520" y="3794760"/>
            <a:ext cx="1303020" cy="182880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Captures the need</a:t>
            </a:r>
            <a:endParaRPr lang="en-US" sz="1250" dirty="0"/>
          </a:p>
        </p:txBody>
      </p:sp>
      <p:sp>
        <p:nvSpPr>
          <p:cNvPr id="9" name="Shape 7"/>
          <p:cNvSpPr/>
          <p:nvPr/>
        </p:nvSpPr>
        <p:spPr>
          <a:xfrm>
            <a:off x="2400300" y="2468880"/>
            <a:ext cx="1668780" cy="3291840"/>
          </a:xfrm>
          <a:prstGeom prst="roundRect">
            <a:avLst>
              <a:gd name="adj" fmla="val 4384"/>
            </a:avLst>
          </a:prstGeom>
          <a:solidFill>
            <a:srgbClr val="FFFFFF"/>
          </a:solidFill>
          <a:ln w="9525">
            <a:solidFill>
              <a:srgbClr val="FFFFFF"/>
            </a:solidFill>
            <a:prstDash val="solid"/>
          </a:ln>
        </p:spPr>
      </p:sp>
      <p:sp>
        <p:nvSpPr>
          <p:cNvPr id="10" name="Text 8"/>
          <p:cNvSpPr txBox="1"/>
          <p:nvPr/>
        </p:nvSpPr>
        <p:spPr>
          <a:xfrm>
            <a:off x="2583180" y="2651760"/>
            <a:ext cx="1303020" cy="320040"/>
          </a:xfrm>
          <a:prstGeom prst="rect">
            <a:avLst/>
          </a:prstGeom>
          <a:noFill/>
          <a:ln/>
        </p:spPr>
        <p:txBody>
          <a:bodyPr wrap="square" lIns="0" tIns="0" rIns="0" bIns="0" rtlCol="0" anchor="t"/>
          <a:lstStyle/>
          <a:p>
            <a:pPr indent="0" marL="0">
              <a:buNone/>
            </a:pPr>
            <a:r>
              <a:rPr lang="en-US" sz="1200" b="1" dirty="0">
                <a:solidFill>
                  <a:srgbClr val="2563A8"/>
                </a:solidFill>
                <a:latin typeface="Calibri" pitchFamily="34" charset="0"/>
                <a:ea typeface="Calibri" pitchFamily="34" charset="-122"/>
                <a:cs typeface="Calibri" pitchFamily="34" charset="-120"/>
              </a:rPr>
              <a:t>STAGE 2</a:t>
            </a:r>
            <a:endParaRPr lang="en-US" sz="1200" dirty="0"/>
          </a:p>
        </p:txBody>
      </p:sp>
      <p:sp>
        <p:nvSpPr>
          <p:cNvPr id="11" name="Text 9"/>
          <p:cNvSpPr txBox="1"/>
          <p:nvPr/>
        </p:nvSpPr>
        <p:spPr>
          <a:xfrm>
            <a:off x="2583180" y="3017520"/>
            <a:ext cx="1303020" cy="6858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Intake Review</a:t>
            </a:r>
            <a:endParaRPr lang="en-US" sz="1700" dirty="0"/>
          </a:p>
        </p:txBody>
      </p:sp>
      <p:sp>
        <p:nvSpPr>
          <p:cNvPr id="12" name="Text 10"/>
          <p:cNvSpPr txBox="1"/>
          <p:nvPr/>
        </p:nvSpPr>
        <p:spPr>
          <a:xfrm>
            <a:off x="2583180" y="3794760"/>
            <a:ext cx="1303020" cy="182880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Checks it is understood</a:t>
            </a:r>
            <a:endParaRPr lang="en-US" sz="1250" dirty="0"/>
          </a:p>
        </p:txBody>
      </p:sp>
      <p:sp>
        <p:nvSpPr>
          <p:cNvPr id="13" name="Shape 11"/>
          <p:cNvSpPr/>
          <p:nvPr/>
        </p:nvSpPr>
        <p:spPr>
          <a:xfrm>
            <a:off x="4251960" y="2468880"/>
            <a:ext cx="1668780" cy="3291840"/>
          </a:xfrm>
          <a:prstGeom prst="roundRect">
            <a:avLst>
              <a:gd name="adj" fmla="val 4384"/>
            </a:avLst>
          </a:prstGeom>
          <a:solidFill>
            <a:srgbClr val="FFFFFF"/>
          </a:solidFill>
          <a:ln w="9525">
            <a:solidFill>
              <a:srgbClr val="FFFFFF"/>
            </a:solidFill>
            <a:prstDash val="solid"/>
          </a:ln>
        </p:spPr>
      </p:sp>
      <p:sp>
        <p:nvSpPr>
          <p:cNvPr id="14" name="Text 12"/>
          <p:cNvSpPr txBox="1"/>
          <p:nvPr/>
        </p:nvSpPr>
        <p:spPr>
          <a:xfrm>
            <a:off x="4434840" y="2651760"/>
            <a:ext cx="1303020" cy="320040"/>
          </a:xfrm>
          <a:prstGeom prst="rect">
            <a:avLst/>
          </a:prstGeom>
          <a:noFill/>
          <a:ln/>
        </p:spPr>
        <p:txBody>
          <a:bodyPr wrap="square" lIns="0" tIns="0" rIns="0" bIns="0" rtlCol="0" anchor="t"/>
          <a:lstStyle/>
          <a:p>
            <a:pPr indent="0" marL="0">
              <a:buNone/>
            </a:pPr>
            <a:r>
              <a:rPr lang="en-US" sz="1200" b="1" dirty="0">
                <a:solidFill>
                  <a:srgbClr val="2563A8"/>
                </a:solidFill>
                <a:latin typeface="Calibri" pitchFamily="34" charset="0"/>
                <a:ea typeface="Calibri" pitchFamily="34" charset="-122"/>
                <a:cs typeface="Calibri" pitchFamily="34" charset="-120"/>
              </a:rPr>
              <a:t>STAGE 3</a:t>
            </a:r>
            <a:endParaRPr lang="en-US" sz="1200" dirty="0"/>
          </a:p>
        </p:txBody>
      </p:sp>
      <p:sp>
        <p:nvSpPr>
          <p:cNvPr id="15" name="Text 13"/>
          <p:cNvSpPr txBox="1"/>
          <p:nvPr/>
        </p:nvSpPr>
        <p:spPr>
          <a:xfrm>
            <a:off x="4434840" y="3017520"/>
            <a:ext cx="1303020" cy="6858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LOB Priority</a:t>
            </a:r>
            <a:endParaRPr lang="en-US" sz="1700" dirty="0"/>
          </a:p>
        </p:txBody>
      </p:sp>
      <p:sp>
        <p:nvSpPr>
          <p:cNvPr id="16" name="Text 14"/>
          <p:cNvSpPr txBox="1"/>
          <p:nvPr/>
        </p:nvSpPr>
        <p:spPr>
          <a:xfrm>
            <a:off x="4434840" y="3794760"/>
            <a:ext cx="1303020" cy="182880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Decides if it is worth doing</a:t>
            </a:r>
            <a:endParaRPr lang="en-US" sz="1250" dirty="0"/>
          </a:p>
        </p:txBody>
      </p:sp>
      <p:sp>
        <p:nvSpPr>
          <p:cNvPr id="17" name="Shape 15"/>
          <p:cNvSpPr/>
          <p:nvPr/>
        </p:nvSpPr>
        <p:spPr>
          <a:xfrm>
            <a:off x="6103620" y="2468880"/>
            <a:ext cx="1668780" cy="3291840"/>
          </a:xfrm>
          <a:prstGeom prst="roundRect">
            <a:avLst>
              <a:gd name="adj" fmla="val 4384"/>
            </a:avLst>
          </a:prstGeom>
          <a:solidFill>
            <a:srgbClr val="FFFFFF"/>
          </a:solidFill>
          <a:ln w="9525">
            <a:solidFill>
              <a:srgbClr val="FFFFFF"/>
            </a:solidFill>
            <a:prstDash val="solid"/>
          </a:ln>
        </p:spPr>
      </p:sp>
      <p:sp>
        <p:nvSpPr>
          <p:cNvPr id="18" name="Text 16"/>
          <p:cNvSpPr txBox="1"/>
          <p:nvPr/>
        </p:nvSpPr>
        <p:spPr>
          <a:xfrm>
            <a:off x="6286500" y="2651760"/>
            <a:ext cx="1303020" cy="320040"/>
          </a:xfrm>
          <a:prstGeom prst="rect">
            <a:avLst/>
          </a:prstGeom>
          <a:noFill/>
          <a:ln/>
        </p:spPr>
        <p:txBody>
          <a:bodyPr wrap="square" lIns="0" tIns="0" rIns="0" bIns="0" rtlCol="0" anchor="t"/>
          <a:lstStyle/>
          <a:p>
            <a:pPr indent="0" marL="0">
              <a:buNone/>
            </a:pPr>
            <a:r>
              <a:rPr lang="en-US" sz="1200" b="1" dirty="0">
                <a:solidFill>
                  <a:srgbClr val="2563A8"/>
                </a:solidFill>
                <a:latin typeface="Calibri" pitchFamily="34" charset="0"/>
                <a:ea typeface="Calibri" pitchFamily="34" charset="-122"/>
                <a:cs typeface="Calibri" pitchFamily="34" charset="-120"/>
              </a:rPr>
              <a:t>STAGE 4</a:t>
            </a:r>
            <a:endParaRPr lang="en-US" sz="1200" dirty="0"/>
          </a:p>
        </p:txBody>
      </p:sp>
      <p:sp>
        <p:nvSpPr>
          <p:cNvPr id="19" name="Text 17"/>
          <p:cNvSpPr txBox="1"/>
          <p:nvPr/>
        </p:nvSpPr>
        <p:spPr>
          <a:xfrm>
            <a:off x="6286500" y="3017520"/>
            <a:ext cx="1303020" cy="6858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Discovery &amp; Triage</a:t>
            </a:r>
            <a:endParaRPr lang="en-US" sz="1700" dirty="0"/>
          </a:p>
        </p:txBody>
      </p:sp>
      <p:sp>
        <p:nvSpPr>
          <p:cNvPr id="20" name="Text 18"/>
          <p:cNvSpPr txBox="1"/>
          <p:nvPr/>
        </p:nvSpPr>
        <p:spPr>
          <a:xfrm>
            <a:off x="6286500" y="3794760"/>
            <a:ext cx="1303020" cy="182880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Turns it into a design</a:t>
            </a:r>
            <a:endParaRPr lang="en-US" sz="1250" dirty="0"/>
          </a:p>
        </p:txBody>
      </p:sp>
      <p:sp>
        <p:nvSpPr>
          <p:cNvPr id="21" name="Shape 19"/>
          <p:cNvSpPr/>
          <p:nvPr/>
        </p:nvSpPr>
        <p:spPr>
          <a:xfrm>
            <a:off x="8138160" y="2468880"/>
            <a:ext cx="3520440" cy="3291840"/>
          </a:xfrm>
          <a:prstGeom prst="roundRect">
            <a:avLst>
              <a:gd name="adj" fmla="val 2222"/>
            </a:avLst>
          </a:prstGeom>
          <a:solidFill>
            <a:srgbClr val="1B2238"/>
          </a:solidFill>
          <a:ln w="9525">
            <a:solidFill>
              <a:srgbClr val="1B2238"/>
            </a:solidFill>
            <a:prstDash val="solid"/>
          </a:ln>
        </p:spPr>
      </p:sp>
      <p:sp>
        <p:nvSpPr>
          <p:cNvPr id="22" name="Text 20"/>
          <p:cNvSpPr txBox="1"/>
          <p:nvPr/>
        </p:nvSpPr>
        <p:spPr>
          <a:xfrm>
            <a:off x="8321040" y="2651760"/>
            <a:ext cx="3200400" cy="36576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What goes wrong in this phase</a:t>
            </a:r>
            <a:endParaRPr lang="en-US" sz="1300" dirty="0"/>
          </a:p>
        </p:txBody>
      </p:sp>
      <p:sp>
        <p:nvSpPr>
          <p:cNvPr id="23" name="Text 21"/>
          <p:cNvSpPr txBox="1"/>
          <p:nvPr/>
        </p:nvSpPr>
        <p:spPr>
          <a:xfrm>
            <a:off x="8321040" y="3108960"/>
            <a:ext cx="3200400" cy="256032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Incomplete packages chased in discovery</a:t>
            </a:r>
            <a:endParaRPr lang="en-US" sz="1250" dirty="0"/>
          </a:p>
          <a:p>
            <a:pPr marL="152400" indent="-1524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Misrouting through missing labels</a:t>
            </a:r>
            <a:endParaRPr lang="en-US" sz="1250" dirty="0"/>
          </a:p>
          <a:p>
            <a:pPr marL="152400" indent="-1524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Scope set on an assumed classification</a:t>
            </a:r>
            <a:endParaRPr lang="en-US" sz="12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A complete intake package is the cheapest fix in the whole lifecycle</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563A8"/>
                </a:solidFill>
                <a:latin typeface="Calibri" pitchFamily="34" charset="0"/>
                <a:ea typeface="Calibri" pitchFamily="34" charset="-122"/>
                <a:cs typeface="Calibri" pitchFamily="34" charset="-120"/>
              </a:rPr>
              <a:t>Phase A · Intake &amp; Prioritisation · Stage 1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563A8"/>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Give product teams enough to judge scope, readiness and alignment before engineering is invested.</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Business need and objectives stated in terms a product team can evaluate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ICMP capabilities named: archival, retention, search, retrieval, viewing, notification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Document profile captured: types, sizes, traits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Volumes, retention obligations and dependencies listed</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Completed Definition of Ready (DOR) workbook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Submitted request with supporting detail</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Exit: request submitted (completeness judged in Stage 2)</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Partner or application team</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Requestor downloads and completes the DOR workbook by hand</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Onboarding resource explains the process</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Gaps surface three stages later in discovery, at far higher cost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Requestors do not know how each field is used downstream</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Samples, volumes and retention often missing, yet they drive classification, capacity and repository design</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Intake Authoring Assistance · POC Assistance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SK-IN-01 DOR Workbook Walkthrough</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SK-IN-03 / 04 Document Profile and Volume Capture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SK-IN-06 Retention Requirement Capture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SK-IN-13 Sample Availability 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SK-IN-09 Intake Completeness Pre-Check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SK-IN-10 Intake Ticket Creation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SK-IN-05 Trusted/Untrusted Pre-Assessment, labelled provisional</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Missing information costs most when found late, so check completeness before submission.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requestor owns completeness; Imaging Governance owns the determination.</a:t>
            </a:r>
            <a:endParaRPr lang="en-US" sz="1200" dirty="0"/>
          </a:p>
        </p:txBody>
      </p:sp>
      <p:sp>
        <p:nvSpPr>
          <p:cNvPr id="23" name="Shape 21"/>
          <p:cNvSpPr/>
          <p:nvPr/>
        </p:nvSpPr>
        <p:spPr>
          <a:xfrm>
            <a:off x="411480" y="6355080"/>
            <a:ext cx="1249680" cy="310896"/>
          </a:xfrm>
          <a:prstGeom prst="chevron">
            <a:avLst/>
          </a:prstGeom>
          <a:solidFill>
            <a:srgbClr val="2563A8"/>
          </a:solidFill>
          <a:ln w="12700">
            <a:solidFill>
              <a:srgbClr val="2563A8"/>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Intake Review protects engineering capacity, but routing depends on manual labels</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563A8"/>
                </a:solidFill>
                <a:latin typeface="Calibri" pitchFamily="34" charset="0"/>
                <a:ea typeface="Calibri" pitchFamily="34" charset="-122"/>
                <a:cs typeface="Calibri" pitchFamily="34" charset="-120"/>
              </a:rPr>
              <a:t>Phase A · Intake &amp; Prioritisation · Stage 2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563A8"/>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Confirm the request is understood well enough for anyone to judge it, and name who must attend discovery.</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Validate completeness, accuracy and readiness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Open the triage state on the intake record</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Return or clarify incomplete requests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Identify POs, architects and SMEs for discovery</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Validated intake record</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Triage label opened</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Named discovery participant list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Exit: intake meets minimum criteria</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ECM intake team (L4/L3 PMs)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Manual review; intake coordinator applies first label</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Clarifications brokered by the onboarding resource</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No validation that labels, area tags and date are all set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 missing impact tag silently never reaches the right team</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Follow-ups rely on a note being read in time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Discovery without the right SME produces scope that must be revisited</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Intake Verification · Triage Classification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SK-TR-01 Intake Completeness Validation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SK-TR-02 Missing-Detail Gap Report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SK-TR-03 Triage Label State Transition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SK-TR-09 SME &amp; Participant Identification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SK-TR-10 Triage Readiness Brief</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SK-TR-11 Triage Audit Trail</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Routing is a rule, not a judgement, so encode it.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ECM intake team decides whether a marginal intake advances.</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2563A8"/>
          </a:solidFill>
          <a:ln w="12700">
            <a:solidFill>
              <a:srgbClr val="2563A8"/>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Four manual edits complete triage, and nothing checks they were all made</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563A8"/>
                </a:solidFill>
                <a:latin typeface="Calibri" pitchFamily="34" charset="0"/>
                <a:ea typeface="Calibri" pitchFamily="34" charset="-122"/>
                <a:cs typeface="Calibri" pitchFamily="34" charset="-120"/>
              </a:rPr>
              <a:t>Phase A · Stage 2 deep dive</a:t>
            </a:r>
            <a:endParaRPr lang="en-US" sz="1000" dirty="0"/>
          </a:p>
        </p:txBody>
      </p:sp>
      <p:sp>
        <p:nvSpPr>
          <p:cNvPr id="4" name="Shape 2"/>
          <p:cNvSpPr/>
          <p:nvPr/>
        </p:nvSpPr>
        <p:spPr>
          <a:xfrm>
            <a:off x="411480" y="1600200"/>
            <a:ext cx="2514600" cy="731520"/>
          </a:xfrm>
          <a:prstGeom prst="roundRect">
            <a:avLst>
              <a:gd name="adj" fmla="val 15000"/>
            </a:avLst>
          </a:prstGeom>
          <a:solidFill>
            <a:srgbClr val="2563A8"/>
          </a:solidFill>
          <a:ln w="9525">
            <a:solidFill>
              <a:srgbClr val="2563A8"/>
            </a:solidFill>
            <a:prstDash val="solid"/>
          </a:ln>
        </p:spPr>
      </p:sp>
      <p:sp>
        <p:nvSpPr>
          <p:cNvPr id="5" name="Text 3"/>
          <p:cNvSpPr txBox="1"/>
          <p:nvPr/>
        </p:nvSpPr>
        <p:spPr>
          <a:xfrm>
            <a:off x="411480" y="1600200"/>
            <a:ext cx="2514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TRIAGE-NOT-STARTED</a:t>
            </a:r>
            <a:endParaRPr lang="en-US" sz="1200" dirty="0"/>
          </a:p>
        </p:txBody>
      </p:sp>
      <p:sp>
        <p:nvSpPr>
          <p:cNvPr id="6" name="Text 4"/>
          <p:cNvSpPr txBox="1"/>
          <p:nvPr/>
        </p:nvSpPr>
        <p:spPr>
          <a:xfrm>
            <a:off x="457200" y="2423160"/>
            <a:ext cx="2423160" cy="1005840"/>
          </a:xfrm>
          <a:prstGeom prst="rect">
            <a:avLst/>
          </a:prstGeom>
          <a:noFill/>
          <a:ln/>
        </p:spPr>
        <p:txBody>
          <a:bodyPr wrap="square" lIns="0" tIns="0" rIns="0" bIns="0" rtlCol="0" anchor="t"/>
          <a:lstStyle/>
          <a:p>
            <a:pPr indent="0" marL="0">
              <a:buNone/>
            </a:pPr>
            <a:r>
              <a:rPr lang="en-US" sz="1200" b="1" dirty="0">
                <a:solidFill>
                  <a:srgbClr val="1B2238"/>
                </a:solidFill>
                <a:latin typeface="Calibri" pitchFamily="34" charset="0"/>
                <a:ea typeface="Calibri" pitchFamily="34" charset="-122"/>
                <a:cs typeface="Calibri" pitchFamily="34" charset="-120"/>
              </a:rPr>
              <a:t>Intake coordinator</a:t>
            </a:r>
            <a:endParaRPr lang="en-US" sz="1200" dirty="0"/>
          </a:p>
          <a:p>
            <a:pPr indent="0" marL="0">
              <a:buNone/>
            </a:pPr>
            <a:r>
              <a:rPr lang="en-US" sz="1200" dirty="0">
                <a:solidFill>
                  <a:srgbClr val="5A6275"/>
                </a:solidFill>
                <a:latin typeface="Calibri" pitchFamily="34" charset="0"/>
                <a:ea typeface="Calibri" pitchFamily="34" charset="-122"/>
                <a:cs typeface="Calibri" pitchFamily="34" charset="-120"/>
              </a:rPr>
              <a:t>In queue, not yet picked up</a:t>
            </a:r>
            <a:endParaRPr lang="en-US" sz="1200" dirty="0"/>
          </a:p>
        </p:txBody>
      </p:sp>
      <p:sp>
        <p:nvSpPr>
          <p:cNvPr id="7" name="Shape 5"/>
          <p:cNvSpPr/>
          <p:nvPr/>
        </p:nvSpPr>
        <p:spPr>
          <a:xfrm>
            <a:off x="2953512" y="1965960"/>
            <a:ext cx="347472" cy="0"/>
          </a:xfrm>
          <a:prstGeom prst="line">
            <a:avLst/>
          </a:prstGeom>
          <a:noFill/>
          <a:ln w="19050">
            <a:solidFill>
              <a:srgbClr val="2563A8"/>
            </a:solidFill>
            <a:prstDash val="solid"/>
            <a:tailEnd type="triangle"/>
          </a:ln>
        </p:spPr>
      </p:sp>
      <p:sp>
        <p:nvSpPr>
          <p:cNvPr id="8" name="Shape 6"/>
          <p:cNvSpPr/>
          <p:nvPr/>
        </p:nvSpPr>
        <p:spPr>
          <a:xfrm>
            <a:off x="3337560" y="1600200"/>
            <a:ext cx="2514600" cy="731520"/>
          </a:xfrm>
          <a:prstGeom prst="roundRect">
            <a:avLst>
              <a:gd name="adj" fmla="val 15000"/>
            </a:avLst>
          </a:prstGeom>
          <a:solidFill>
            <a:srgbClr val="2563A8"/>
          </a:solidFill>
          <a:ln w="9525">
            <a:solidFill>
              <a:srgbClr val="2563A8"/>
            </a:solidFill>
            <a:prstDash val="solid"/>
          </a:ln>
        </p:spPr>
      </p:sp>
      <p:sp>
        <p:nvSpPr>
          <p:cNvPr id="9" name="Text 7"/>
          <p:cNvSpPr txBox="1"/>
          <p:nvPr/>
        </p:nvSpPr>
        <p:spPr>
          <a:xfrm>
            <a:off x="3337560" y="1600200"/>
            <a:ext cx="2514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TRIAGE-AWAITING-DETAILS</a:t>
            </a:r>
            <a:endParaRPr lang="en-US" sz="1200" dirty="0"/>
          </a:p>
        </p:txBody>
      </p:sp>
      <p:sp>
        <p:nvSpPr>
          <p:cNvPr id="10" name="Text 8"/>
          <p:cNvSpPr txBox="1"/>
          <p:nvPr/>
        </p:nvSpPr>
        <p:spPr>
          <a:xfrm>
            <a:off x="3383280" y="2423160"/>
            <a:ext cx="2423160" cy="1005840"/>
          </a:xfrm>
          <a:prstGeom prst="rect">
            <a:avLst/>
          </a:prstGeom>
          <a:noFill/>
          <a:ln/>
        </p:spPr>
        <p:txBody>
          <a:bodyPr wrap="square" lIns="0" tIns="0" rIns="0" bIns="0" rtlCol="0" anchor="t"/>
          <a:lstStyle/>
          <a:p>
            <a:pPr indent="0" marL="0">
              <a:buNone/>
            </a:pPr>
            <a:r>
              <a:rPr lang="en-US" sz="1200" b="1" dirty="0">
                <a:solidFill>
                  <a:srgbClr val="1B2238"/>
                </a:solidFill>
                <a:latin typeface="Calibri" pitchFamily="34" charset="0"/>
                <a:ea typeface="Calibri" pitchFamily="34" charset="-122"/>
                <a:cs typeface="Calibri" pitchFamily="34" charset="-120"/>
              </a:rPr>
              <a:t>Triage lead</a:t>
            </a:r>
            <a:endParaRPr lang="en-US" sz="1200" dirty="0"/>
          </a:p>
          <a:p>
            <a:pPr indent="0" marL="0">
              <a:buNone/>
            </a:pPr>
            <a:r>
              <a:rPr lang="en-US" sz="1200" dirty="0">
                <a:solidFill>
                  <a:srgbClr val="5A6275"/>
                </a:solidFill>
                <a:latin typeface="Calibri" pitchFamily="34" charset="0"/>
                <a:ea typeface="Calibri" pitchFamily="34" charset="-122"/>
                <a:cs typeface="Calibri" pitchFamily="34" charset="-120"/>
              </a:rPr>
              <a:t>Remove NOT-STARTED; add follow-up tags; note what is needed and by when</a:t>
            </a:r>
            <a:endParaRPr lang="en-US" sz="1200" dirty="0"/>
          </a:p>
        </p:txBody>
      </p:sp>
      <p:sp>
        <p:nvSpPr>
          <p:cNvPr id="11" name="Shape 9"/>
          <p:cNvSpPr/>
          <p:nvPr/>
        </p:nvSpPr>
        <p:spPr>
          <a:xfrm>
            <a:off x="5879592" y="1965960"/>
            <a:ext cx="347472" cy="0"/>
          </a:xfrm>
          <a:prstGeom prst="line">
            <a:avLst/>
          </a:prstGeom>
          <a:noFill/>
          <a:ln w="19050">
            <a:solidFill>
              <a:srgbClr val="2563A8"/>
            </a:solidFill>
            <a:prstDash val="solid"/>
            <a:tailEnd type="triangle"/>
          </a:ln>
        </p:spPr>
      </p:sp>
      <p:sp>
        <p:nvSpPr>
          <p:cNvPr id="12" name="Shape 10"/>
          <p:cNvSpPr/>
          <p:nvPr/>
        </p:nvSpPr>
        <p:spPr>
          <a:xfrm>
            <a:off x="6263640" y="1600200"/>
            <a:ext cx="2514600" cy="731520"/>
          </a:xfrm>
          <a:prstGeom prst="roundRect">
            <a:avLst>
              <a:gd name="adj" fmla="val 15000"/>
            </a:avLst>
          </a:prstGeom>
          <a:solidFill>
            <a:srgbClr val="2563A8"/>
          </a:solidFill>
          <a:ln w="9525">
            <a:solidFill>
              <a:srgbClr val="2563A8"/>
            </a:solidFill>
            <a:prstDash val="solid"/>
          </a:ln>
        </p:spPr>
      </p:sp>
      <p:sp>
        <p:nvSpPr>
          <p:cNvPr id="13" name="Text 11"/>
          <p:cNvSpPr txBox="1"/>
          <p:nvPr/>
        </p:nvSpPr>
        <p:spPr>
          <a:xfrm>
            <a:off x="6263640" y="1600200"/>
            <a:ext cx="2514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TRIAGE-COMPLETED</a:t>
            </a:r>
            <a:endParaRPr lang="en-US" sz="1200" dirty="0"/>
          </a:p>
        </p:txBody>
      </p:sp>
      <p:sp>
        <p:nvSpPr>
          <p:cNvPr id="14" name="Text 12"/>
          <p:cNvSpPr txBox="1"/>
          <p:nvPr/>
        </p:nvSpPr>
        <p:spPr>
          <a:xfrm>
            <a:off x="6309360" y="2423160"/>
            <a:ext cx="2423160" cy="1005840"/>
          </a:xfrm>
          <a:prstGeom prst="rect">
            <a:avLst/>
          </a:prstGeom>
          <a:noFill/>
          <a:ln/>
        </p:spPr>
        <p:txBody>
          <a:bodyPr wrap="square" lIns="0" tIns="0" rIns="0" bIns="0" rtlCol="0" anchor="t"/>
          <a:lstStyle/>
          <a:p>
            <a:pPr indent="0" marL="0">
              <a:buNone/>
            </a:pPr>
            <a:r>
              <a:rPr lang="en-US" sz="1200" b="1" dirty="0">
                <a:solidFill>
                  <a:srgbClr val="1B2238"/>
                </a:solidFill>
                <a:latin typeface="Calibri" pitchFamily="34" charset="0"/>
                <a:ea typeface="Calibri" pitchFamily="34" charset="-122"/>
                <a:cs typeface="Calibri" pitchFamily="34" charset="-120"/>
              </a:rPr>
              <a:t>Triage lead</a:t>
            </a:r>
            <a:endParaRPr lang="en-US" sz="1200" dirty="0"/>
          </a:p>
          <a:p>
            <a:pPr indent="0" marL="0">
              <a:buNone/>
            </a:pPr>
            <a:r>
              <a:rPr lang="en-US" sz="1200" dirty="0">
                <a:solidFill>
                  <a:srgbClr val="5A6275"/>
                </a:solidFill>
                <a:latin typeface="Calibri" pitchFamily="34" charset="0"/>
                <a:ea typeface="Calibri" pitchFamily="34" charset="-122"/>
                <a:cs typeface="Calibri" pitchFamily="34" charset="-120"/>
              </a:rPr>
              <a:t>Remove prior labels; add DCRS area labels; enter completion date</a:t>
            </a:r>
            <a:endParaRPr lang="en-US" sz="1200" dirty="0"/>
          </a:p>
        </p:txBody>
      </p:sp>
      <p:sp>
        <p:nvSpPr>
          <p:cNvPr id="15" name="Shape 13"/>
          <p:cNvSpPr/>
          <p:nvPr/>
        </p:nvSpPr>
        <p:spPr>
          <a:xfrm>
            <a:off x="8805672" y="1965960"/>
            <a:ext cx="347472" cy="0"/>
          </a:xfrm>
          <a:prstGeom prst="line">
            <a:avLst/>
          </a:prstGeom>
          <a:noFill/>
          <a:ln w="19050">
            <a:solidFill>
              <a:srgbClr val="2563A8"/>
            </a:solidFill>
            <a:prstDash val="solid"/>
            <a:tailEnd type="triangle"/>
          </a:ln>
        </p:spPr>
      </p:sp>
      <p:sp>
        <p:nvSpPr>
          <p:cNvPr id="16" name="Shape 14"/>
          <p:cNvSpPr/>
          <p:nvPr/>
        </p:nvSpPr>
        <p:spPr>
          <a:xfrm>
            <a:off x="9189720" y="1600200"/>
            <a:ext cx="2514600" cy="731520"/>
          </a:xfrm>
          <a:prstGeom prst="roundRect">
            <a:avLst>
              <a:gd name="adj" fmla="val 15000"/>
            </a:avLst>
          </a:prstGeom>
          <a:solidFill>
            <a:srgbClr val="2563A8"/>
          </a:solidFill>
          <a:ln w="9525">
            <a:solidFill>
              <a:srgbClr val="2563A8"/>
            </a:solidFill>
            <a:prstDash val="solid"/>
          </a:ln>
        </p:spPr>
      </p:sp>
      <p:sp>
        <p:nvSpPr>
          <p:cNvPr id="17" name="Text 15"/>
          <p:cNvSpPr txBox="1"/>
          <p:nvPr/>
        </p:nvSpPr>
        <p:spPr>
          <a:xfrm>
            <a:off x="9189720" y="1600200"/>
            <a:ext cx="2514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Intake-Done</a:t>
            </a:r>
            <a:endParaRPr lang="en-US" sz="1200" dirty="0"/>
          </a:p>
        </p:txBody>
      </p:sp>
      <p:sp>
        <p:nvSpPr>
          <p:cNvPr id="18" name="Text 16"/>
          <p:cNvSpPr txBox="1"/>
          <p:nvPr/>
        </p:nvSpPr>
        <p:spPr>
          <a:xfrm>
            <a:off x="9235440" y="2423160"/>
            <a:ext cx="2423160" cy="1005840"/>
          </a:xfrm>
          <a:prstGeom prst="rect">
            <a:avLst/>
          </a:prstGeom>
          <a:noFill/>
          <a:ln/>
        </p:spPr>
        <p:txBody>
          <a:bodyPr wrap="square" lIns="0" tIns="0" rIns="0" bIns="0" rtlCol="0" anchor="t"/>
          <a:lstStyle/>
          <a:p>
            <a:pPr indent="0" marL="0">
              <a:buNone/>
            </a:pPr>
            <a:r>
              <a:rPr lang="en-US" sz="1200" b="1" dirty="0">
                <a:solidFill>
                  <a:srgbClr val="1B2238"/>
                </a:solidFill>
                <a:latin typeface="Calibri" pitchFamily="34" charset="0"/>
                <a:ea typeface="Calibri" pitchFamily="34" charset="-122"/>
                <a:cs typeface="Calibri" pitchFamily="34" charset="-120"/>
              </a:rPr>
              <a:t>Intake coordinator</a:t>
            </a:r>
            <a:endParaRPr lang="en-US" sz="1200" dirty="0"/>
          </a:p>
          <a:p>
            <a:pPr indent="0" marL="0">
              <a:buNone/>
            </a:pPr>
            <a:r>
              <a:rPr lang="en-US" sz="1200" dirty="0">
                <a:solidFill>
                  <a:srgbClr val="5A6275"/>
                </a:solidFill>
                <a:latin typeface="Calibri" pitchFamily="34" charset="0"/>
                <a:ea typeface="Calibri" pitchFamily="34" charset="-122"/>
                <a:cs typeface="Calibri" pitchFamily="34" charset="-120"/>
              </a:rPr>
              <a:t>Closes the loop</a:t>
            </a:r>
            <a:endParaRPr lang="en-US" sz="1200" dirty="0"/>
          </a:p>
        </p:txBody>
      </p:sp>
      <p:sp>
        <p:nvSpPr>
          <p:cNvPr id="19" name="Shape 17"/>
          <p:cNvSpPr/>
          <p:nvPr/>
        </p:nvSpPr>
        <p:spPr>
          <a:xfrm>
            <a:off x="1664208" y="1371600"/>
            <a:ext cx="914" cy="228600"/>
          </a:xfrm>
          <a:prstGeom prst="line">
            <a:avLst/>
          </a:prstGeom>
          <a:noFill/>
          <a:ln w="19050">
            <a:solidFill>
              <a:srgbClr val="2563A8"/>
            </a:solidFill>
            <a:prstDash val="solid"/>
          </a:ln>
        </p:spPr>
      </p:sp>
      <p:sp>
        <p:nvSpPr>
          <p:cNvPr id="20" name="Shape 18"/>
          <p:cNvSpPr/>
          <p:nvPr/>
        </p:nvSpPr>
        <p:spPr>
          <a:xfrm>
            <a:off x="1664208" y="1371600"/>
            <a:ext cx="5513832" cy="914"/>
          </a:xfrm>
          <a:prstGeom prst="line">
            <a:avLst/>
          </a:prstGeom>
          <a:noFill/>
          <a:ln w="19050">
            <a:solidFill>
              <a:srgbClr val="2563A8"/>
            </a:solidFill>
            <a:prstDash val="solid"/>
          </a:ln>
        </p:spPr>
      </p:sp>
      <p:sp>
        <p:nvSpPr>
          <p:cNvPr id="21" name="Shape 19"/>
          <p:cNvSpPr/>
          <p:nvPr/>
        </p:nvSpPr>
        <p:spPr>
          <a:xfrm>
            <a:off x="7178040" y="1371600"/>
            <a:ext cx="0" cy="228600"/>
          </a:xfrm>
          <a:prstGeom prst="line">
            <a:avLst/>
          </a:prstGeom>
          <a:noFill/>
          <a:ln w="19050">
            <a:solidFill>
              <a:srgbClr val="2563A8"/>
            </a:solidFill>
            <a:prstDash val="solid"/>
            <a:tailEnd type="triangle"/>
          </a:ln>
        </p:spPr>
      </p:sp>
      <p:sp>
        <p:nvSpPr>
          <p:cNvPr id="22" name="Text 20"/>
          <p:cNvSpPr txBox="1"/>
          <p:nvPr/>
        </p:nvSpPr>
        <p:spPr>
          <a:xfrm>
            <a:off x="3291840" y="1161288"/>
            <a:ext cx="2377440" cy="201168"/>
          </a:xfrm>
          <a:prstGeom prst="rect">
            <a:avLst/>
          </a:prstGeom>
          <a:noFill/>
          <a:ln/>
        </p:spPr>
        <p:txBody>
          <a:bodyPr wrap="square" lIns="0" tIns="0" rIns="0" bIns="0" rtlCol="0" anchor="t"/>
          <a:lstStyle/>
          <a:p>
            <a:pPr algn="ctr" indent="0" marL="0">
              <a:buNone/>
            </a:pPr>
            <a:r>
              <a:rPr lang="en-US" sz="1000" i="1" dirty="0">
                <a:solidFill>
                  <a:srgbClr val="2563A8"/>
                </a:solidFill>
                <a:latin typeface="Calibri" pitchFamily="34" charset="0"/>
                <a:ea typeface="Calibri" pitchFamily="34" charset="-122"/>
                <a:cs typeface="Calibri" pitchFamily="34" charset="-120"/>
              </a:rPr>
              <a:t>no follow-up needed</a:t>
            </a:r>
            <a:endParaRPr lang="en-US" sz="1000" dirty="0"/>
          </a:p>
        </p:txBody>
      </p:sp>
      <p:sp>
        <p:nvSpPr>
          <p:cNvPr id="23" name="Text 21"/>
          <p:cNvSpPr txBox="1"/>
          <p:nvPr/>
        </p:nvSpPr>
        <p:spPr>
          <a:xfrm>
            <a:off x="411480" y="3474720"/>
            <a:ext cx="11338560" cy="411480"/>
          </a:xfrm>
          <a:prstGeom prst="rect">
            <a:avLst/>
          </a:prstGeom>
          <a:noFill/>
          <a:ln/>
        </p:spPr>
        <p:txBody>
          <a:bodyPr wrap="square" lIns="0" tIns="0" rIns="0" bIns="0" rtlCol="0" anchor="t"/>
          <a:lstStyle/>
          <a:p>
            <a:pPr indent="0" marL="0">
              <a:buNone/>
            </a:pPr>
            <a:r>
              <a:rPr lang="en-US" sz="1250" i="1" dirty="0">
                <a:solidFill>
                  <a:srgbClr val="5A6275"/>
                </a:solidFill>
                <a:latin typeface="Calibri" pitchFamily="34" charset="0"/>
                <a:ea typeface="Calibri" pitchFamily="34" charset="-122"/>
                <a:cs typeface="Calibri" pitchFamily="34" charset="-120"/>
              </a:rPr>
              <a:t>Impact tags also applied by hand: image capture · document generation · print-and-mail data flow · SHRP · AI document classification · impacted components</a:t>
            </a:r>
            <a:endParaRPr lang="en-US" sz="1250" dirty="0"/>
          </a:p>
        </p:txBody>
      </p:sp>
      <p:sp>
        <p:nvSpPr>
          <p:cNvPr id="24" name="Shape 22"/>
          <p:cNvSpPr/>
          <p:nvPr/>
        </p:nvSpPr>
        <p:spPr>
          <a:xfrm>
            <a:off x="411480" y="3977640"/>
            <a:ext cx="5577840" cy="2240280"/>
          </a:xfrm>
          <a:prstGeom prst="roundRect">
            <a:avLst>
              <a:gd name="adj" fmla="val 2449"/>
            </a:avLst>
          </a:prstGeom>
          <a:solidFill>
            <a:srgbClr val="FBEDEC"/>
          </a:solidFill>
          <a:ln w="9525">
            <a:solidFill>
              <a:srgbClr val="B3261E"/>
            </a:solidFill>
            <a:prstDash val="solid"/>
          </a:ln>
        </p:spPr>
      </p:sp>
      <p:sp>
        <p:nvSpPr>
          <p:cNvPr id="25" name="Text 23"/>
          <p:cNvSpPr txBox="1"/>
          <p:nvPr/>
        </p:nvSpPr>
        <p:spPr>
          <a:xfrm>
            <a:off x="548640" y="4069080"/>
            <a:ext cx="530352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a:t>
            </a:r>
            <a:endParaRPr lang="en-US" sz="950" dirty="0"/>
          </a:p>
        </p:txBody>
      </p:sp>
      <p:sp>
        <p:nvSpPr>
          <p:cNvPr id="26" name="Text 24"/>
          <p:cNvSpPr txBox="1"/>
          <p:nvPr/>
        </p:nvSpPr>
        <p:spPr>
          <a:xfrm>
            <a:off x="548640" y="4343400"/>
            <a:ext cx="5303520" cy="1783080"/>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Three label fields plus a date field, edited separately, never validated</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A missing impact tag does not fail loudly: the team simply never sees the intake</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Follow-up depends on tags and a note being read at the right time; nothing enforces the date</a:t>
            </a:r>
            <a:endParaRPr lang="en-US" sz="1300" dirty="0"/>
          </a:p>
        </p:txBody>
      </p:sp>
      <p:sp>
        <p:nvSpPr>
          <p:cNvPr id="27" name="Shape 25"/>
          <p:cNvSpPr/>
          <p:nvPr/>
        </p:nvSpPr>
        <p:spPr>
          <a:xfrm>
            <a:off x="6199632" y="3977640"/>
            <a:ext cx="5577840" cy="2240280"/>
          </a:xfrm>
          <a:prstGeom prst="roundRect">
            <a:avLst>
              <a:gd name="adj" fmla="val 2449"/>
            </a:avLst>
          </a:prstGeom>
          <a:solidFill>
            <a:srgbClr val="F1EDF9"/>
          </a:solidFill>
          <a:ln w="9525">
            <a:solidFill>
              <a:srgbClr val="5B3FA0"/>
            </a:solidFill>
            <a:prstDash val="solid"/>
          </a:ln>
        </p:spPr>
      </p:sp>
      <p:sp>
        <p:nvSpPr>
          <p:cNvPr id="28" name="Text 26"/>
          <p:cNvSpPr txBox="1"/>
          <p:nvPr/>
        </p:nvSpPr>
        <p:spPr>
          <a:xfrm>
            <a:off x="6336792" y="4069080"/>
            <a:ext cx="5303520"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a:t>
            </a:r>
            <a:endParaRPr lang="en-US" sz="950" dirty="0"/>
          </a:p>
        </p:txBody>
      </p:sp>
      <p:sp>
        <p:nvSpPr>
          <p:cNvPr id="29" name="Text 27"/>
          <p:cNvSpPr txBox="1"/>
          <p:nvPr/>
        </p:nvSpPr>
        <p:spPr>
          <a:xfrm>
            <a:off x="6336792" y="4343400"/>
            <a:ext cx="5303520" cy="1783080"/>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SK-TR-06 Triage Completion Field Set: the full sequence as one atomic action</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SK-TR-07 / 08 Follow-Up Loop Registration and Ageing Report enforce the date</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SK-TR-04 / 05 propose area labels and impact tags with reasoning</a:t>
            </a:r>
            <a:endParaRPr lang="en-US" sz="13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The business ranks demand, and that ranking is the argument at capacity</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563A8"/>
                </a:solidFill>
                <a:latin typeface="Calibri" pitchFamily="34" charset="0"/>
                <a:ea typeface="Calibri" pitchFamily="34" charset="-122"/>
                <a:cs typeface="Calibri" pitchFamily="34" charset="-120"/>
              </a:rPr>
              <a:t>Phase A · Intake &amp; Prioritisation · Stage 3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563A8"/>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Let the people accountable for the outcome decide sequencing, not whoever pushes hardest or submits first.</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Assess business value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Weigh regulatory impact and customer commitments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Assess operational risk, including of not doing it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Check strategic alignment with the LOB agenda</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Prioritised ranking within the LOB portfolio</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Exit: ranking established and communicated</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LOB sponsor</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Sponsors and liaisons assemble evidence and rank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ECM product management supports</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Evidence assembled ad hoc for each demand</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Regulatory drivers not always surfaced, though they turn discretionary work into obligation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 weak ranking leaves no basis to argue for a slot in Stage 7</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Prioritisation Support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SK-PL-01 LOB Priority Evidence Pack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SK-PL-02 Regulatory Driver Summary</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SK-PL-03 Operational Risk Framing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SK-XC-01 Onboarding Status View</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SK-XC-11 Ageing &amp; Bottleneck Report</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Sponsors need evidence, not procedure; the agent assembles it, the sponsor ranks.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LOB sponsor decides whether the demand is worth doing.</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2563A8"/>
          </a:solidFill>
          <a:ln w="12700">
            <a:solidFill>
              <a:srgbClr val="2563A8"/>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Discovery turns a request into a design and fixes three lifelong determinations</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563A8"/>
                </a:solidFill>
                <a:latin typeface="Calibri" pitchFamily="34" charset="0"/>
                <a:ea typeface="Calibri" pitchFamily="34" charset="-122"/>
                <a:cs typeface="Calibri" pitchFamily="34" charset="-120"/>
              </a:rPr>
              <a:t>Phase A · Intake &amp; Prioritisation · Stage 4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563A8"/>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Identify every impacted area early and give all participants one shared understanding of the approach.</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Map requirements, dependencies, architecture and integration touchpoints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Surface retention, regulatory storage, legal hold and audit needs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Obtain trusted/untrusted determination and, for trusted content, category/type/subtype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Refine volumes; apply area and impact labels</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Agreed scope; dependencies and risks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Governance determination and classification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Area and impact labels; triage completion date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Exit: triage complete or held in awaiting-details</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563A8"/>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Product owner</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All five team groups engaged at once, including Imaging Governance</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All five team groups needed in the same sessions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No samples, so governance cannot decide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Designs advance on an assumed classification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Regulatory position found late invalidates repository design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Missing labels misroute work</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POC Assistance · Triage Classification · Imaging Governance Liaison · Records &amp; Retention · Volume Assessment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SK-CN-12 Governance Submission Pack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SK-CN-13 Determination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SK-CN-14 Classification Registration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SK-RM-06 Regulatory Storage 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SK-CP-01 Volume Assessment Execution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SK-TR-04 / 05 Area and Impact Derivation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SK-XC-12 Onboarding Pattern Reuse</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An impacted area found in delivery costs an order of magnitude more; prepare decisions early, reuse precedent.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Imaging Governance determination and allocation; PO owns scope.</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2563A8"/>
          </a:solidFill>
          <a:ln w="12700">
            <a:solidFill>
              <a:srgbClr val="2563A8"/>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B9771A"/>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FFFFFF"/>
                </a:solidFill>
                <a:latin typeface="Calibri" pitchFamily="34" charset="0"/>
                <a:ea typeface="Calibri" pitchFamily="34" charset="-122"/>
                <a:cs typeface="Calibri" pitchFamily="34" charset="-120"/>
              </a:rPr>
              <a:t>SECTION 4 · PHASE B</a:t>
            </a:r>
            <a:endParaRPr lang="en-US" sz="1200" dirty="0"/>
          </a:p>
        </p:txBody>
      </p:sp>
      <p:sp>
        <p:nvSpPr>
          <p:cNvPr id="3" name="Text 1"/>
          <p:cNvSpPr txBox="1"/>
          <p:nvPr/>
        </p:nvSpPr>
        <p:spPr>
          <a:xfrm>
            <a:off x="548640" y="77724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Planning &amp; Commitment</a:t>
            </a:r>
            <a:endParaRPr lang="en-US" sz="3400" dirty="0"/>
          </a:p>
        </p:txBody>
      </p:sp>
      <p:sp>
        <p:nvSpPr>
          <p:cNvPr id="4" name="Text 2"/>
          <p:cNvSpPr txBox="1"/>
          <p:nvPr/>
        </p:nvSpPr>
        <p:spPr>
          <a:xfrm>
            <a:off x="548640" y="1600200"/>
            <a:ext cx="10972800" cy="457200"/>
          </a:xfrm>
          <a:prstGeom prst="rect">
            <a:avLst/>
          </a:prstGeom>
          <a:noFill/>
          <a:ln/>
        </p:spPr>
        <p:txBody>
          <a:bodyPr wrap="square" lIns="0" tIns="0" rIns="0" bIns="0" rtlCol="0" anchor="t"/>
          <a:lstStyle/>
          <a:p>
            <a:pPr indent="0" marL="0">
              <a:buNone/>
            </a:pPr>
            <a:r>
              <a:rPr lang="en-US" sz="1600" i="1" dirty="0">
                <a:solidFill>
                  <a:srgbClr val="FFFFFF"/>
                </a:solidFill>
                <a:latin typeface="Calibri" pitchFamily="34" charset="0"/>
                <a:ea typeface="Calibri" pitchFamily="34" charset="-122"/>
                <a:cs typeface="Calibri" pitchFamily="34" charset="-120"/>
              </a:rPr>
              <a:t>Phase B converts an agreed scope into a formal delivery commitment.</a:t>
            </a:r>
            <a:endParaRPr lang="en-US" sz="1600" dirty="0"/>
          </a:p>
        </p:txBody>
      </p:sp>
      <p:sp>
        <p:nvSpPr>
          <p:cNvPr id="5" name="Shape 3"/>
          <p:cNvSpPr/>
          <p:nvPr/>
        </p:nvSpPr>
        <p:spPr>
          <a:xfrm>
            <a:off x="548640" y="2468880"/>
            <a:ext cx="2286000" cy="3291840"/>
          </a:xfrm>
          <a:prstGeom prst="roundRect">
            <a:avLst>
              <a:gd name="adj" fmla="val 3200"/>
            </a:avLst>
          </a:prstGeom>
          <a:solidFill>
            <a:srgbClr val="FFFFFF"/>
          </a:solidFill>
          <a:ln w="9525">
            <a:solidFill>
              <a:srgbClr val="FFFFFF"/>
            </a:solidFill>
            <a:prstDash val="solid"/>
          </a:ln>
        </p:spPr>
      </p:sp>
      <p:sp>
        <p:nvSpPr>
          <p:cNvPr id="6" name="Text 4"/>
          <p:cNvSpPr txBox="1"/>
          <p:nvPr/>
        </p:nvSpPr>
        <p:spPr>
          <a:xfrm>
            <a:off x="731520" y="2651760"/>
            <a:ext cx="1920240" cy="320040"/>
          </a:xfrm>
          <a:prstGeom prst="rect">
            <a:avLst/>
          </a:prstGeom>
          <a:noFill/>
          <a:ln/>
        </p:spPr>
        <p:txBody>
          <a:bodyPr wrap="square" lIns="0" tIns="0" rIns="0" bIns="0" rtlCol="0" anchor="t"/>
          <a:lstStyle/>
          <a:p>
            <a:pPr indent="0" marL="0">
              <a:buNone/>
            </a:pPr>
            <a:r>
              <a:rPr lang="en-US" sz="1200" b="1" dirty="0">
                <a:solidFill>
                  <a:srgbClr val="B9771A"/>
                </a:solidFill>
                <a:latin typeface="Calibri" pitchFamily="34" charset="0"/>
                <a:ea typeface="Calibri" pitchFamily="34" charset="-122"/>
                <a:cs typeface="Calibri" pitchFamily="34" charset="-120"/>
              </a:rPr>
              <a:t>STAGE 5</a:t>
            </a:r>
            <a:endParaRPr lang="en-US" sz="1200" dirty="0"/>
          </a:p>
        </p:txBody>
      </p:sp>
      <p:sp>
        <p:nvSpPr>
          <p:cNvPr id="7" name="Text 5"/>
          <p:cNvSpPr txBox="1"/>
          <p:nvPr/>
        </p:nvSpPr>
        <p:spPr>
          <a:xfrm>
            <a:off x="731520" y="3017520"/>
            <a:ext cx="1920240" cy="6858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Product Epic Creation</a:t>
            </a:r>
            <a:endParaRPr lang="en-US" sz="1700" dirty="0"/>
          </a:p>
        </p:txBody>
      </p:sp>
      <p:sp>
        <p:nvSpPr>
          <p:cNvPr id="8" name="Text 6"/>
          <p:cNvSpPr txBox="1"/>
          <p:nvPr/>
        </p:nvSpPr>
        <p:spPr>
          <a:xfrm>
            <a:off x="731520" y="3794760"/>
            <a:ext cx="1920240" cy="182880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Makes demand visible in the planning system</a:t>
            </a:r>
            <a:endParaRPr lang="en-US" sz="1250" dirty="0"/>
          </a:p>
        </p:txBody>
      </p:sp>
      <p:sp>
        <p:nvSpPr>
          <p:cNvPr id="9" name="Shape 7"/>
          <p:cNvSpPr/>
          <p:nvPr/>
        </p:nvSpPr>
        <p:spPr>
          <a:xfrm>
            <a:off x="3017520" y="2468880"/>
            <a:ext cx="2286000" cy="3291840"/>
          </a:xfrm>
          <a:prstGeom prst="roundRect">
            <a:avLst>
              <a:gd name="adj" fmla="val 3200"/>
            </a:avLst>
          </a:prstGeom>
          <a:solidFill>
            <a:srgbClr val="FFFFFF"/>
          </a:solidFill>
          <a:ln w="9525">
            <a:solidFill>
              <a:srgbClr val="FFFFFF"/>
            </a:solidFill>
            <a:prstDash val="solid"/>
          </a:ln>
        </p:spPr>
      </p:sp>
      <p:sp>
        <p:nvSpPr>
          <p:cNvPr id="10" name="Text 8"/>
          <p:cNvSpPr txBox="1"/>
          <p:nvPr/>
        </p:nvSpPr>
        <p:spPr>
          <a:xfrm>
            <a:off x="3200400" y="2651760"/>
            <a:ext cx="1920240" cy="320040"/>
          </a:xfrm>
          <a:prstGeom prst="rect">
            <a:avLst/>
          </a:prstGeom>
          <a:noFill/>
          <a:ln/>
        </p:spPr>
        <p:txBody>
          <a:bodyPr wrap="square" lIns="0" tIns="0" rIns="0" bIns="0" rtlCol="0" anchor="t"/>
          <a:lstStyle/>
          <a:p>
            <a:pPr indent="0" marL="0">
              <a:buNone/>
            </a:pPr>
            <a:r>
              <a:rPr lang="en-US" sz="1200" b="1" dirty="0">
                <a:solidFill>
                  <a:srgbClr val="B9771A"/>
                </a:solidFill>
                <a:latin typeface="Calibri" pitchFamily="34" charset="0"/>
                <a:ea typeface="Calibri" pitchFamily="34" charset="-122"/>
                <a:cs typeface="Calibri" pitchFamily="34" charset="-120"/>
              </a:rPr>
              <a:t>STAGE 6</a:t>
            </a:r>
            <a:endParaRPr lang="en-US" sz="1200" dirty="0"/>
          </a:p>
        </p:txBody>
      </p:sp>
      <p:sp>
        <p:nvSpPr>
          <p:cNvPr id="11" name="Text 9"/>
          <p:cNvSpPr txBox="1"/>
          <p:nvPr/>
        </p:nvSpPr>
        <p:spPr>
          <a:xfrm>
            <a:off x="3200400" y="3017520"/>
            <a:ext cx="1920240" cy="6858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Big Room Planning</a:t>
            </a:r>
            <a:endParaRPr lang="en-US" sz="1700" dirty="0"/>
          </a:p>
        </p:txBody>
      </p:sp>
      <p:sp>
        <p:nvSpPr>
          <p:cNvPr id="12" name="Text 10"/>
          <p:cNvSpPr txBox="1"/>
          <p:nvPr/>
        </p:nvSpPr>
        <p:spPr>
          <a:xfrm>
            <a:off x="3200400" y="3794760"/>
            <a:ext cx="1920240" cy="182880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Puts it before the people who must resource it</a:t>
            </a:r>
            <a:endParaRPr lang="en-US" sz="1250" dirty="0"/>
          </a:p>
        </p:txBody>
      </p:sp>
      <p:sp>
        <p:nvSpPr>
          <p:cNvPr id="13" name="Shape 11"/>
          <p:cNvSpPr/>
          <p:nvPr/>
        </p:nvSpPr>
        <p:spPr>
          <a:xfrm>
            <a:off x="5486400" y="2468880"/>
            <a:ext cx="2286000" cy="3291840"/>
          </a:xfrm>
          <a:prstGeom prst="roundRect">
            <a:avLst>
              <a:gd name="adj" fmla="val 3200"/>
            </a:avLst>
          </a:prstGeom>
          <a:solidFill>
            <a:srgbClr val="FFFFFF"/>
          </a:solidFill>
          <a:ln w="9525">
            <a:solidFill>
              <a:srgbClr val="FFFFFF"/>
            </a:solidFill>
            <a:prstDash val="solid"/>
          </a:ln>
        </p:spPr>
      </p:sp>
      <p:sp>
        <p:nvSpPr>
          <p:cNvPr id="14" name="Text 12"/>
          <p:cNvSpPr txBox="1"/>
          <p:nvPr/>
        </p:nvSpPr>
        <p:spPr>
          <a:xfrm>
            <a:off x="5669280" y="2651760"/>
            <a:ext cx="1920240" cy="320040"/>
          </a:xfrm>
          <a:prstGeom prst="rect">
            <a:avLst/>
          </a:prstGeom>
          <a:noFill/>
          <a:ln/>
        </p:spPr>
        <p:txBody>
          <a:bodyPr wrap="square" lIns="0" tIns="0" rIns="0" bIns="0" rtlCol="0" anchor="t"/>
          <a:lstStyle/>
          <a:p>
            <a:pPr indent="0" marL="0">
              <a:buNone/>
            </a:pPr>
            <a:r>
              <a:rPr lang="en-US" sz="1200" b="1" dirty="0">
                <a:solidFill>
                  <a:srgbClr val="B9771A"/>
                </a:solidFill>
                <a:latin typeface="Calibri" pitchFamily="34" charset="0"/>
                <a:ea typeface="Calibri" pitchFamily="34" charset="-122"/>
                <a:cs typeface="Calibri" pitchFamily="34" charset="-120"/>
              </a:rPr>
              <a:t>STAGE 7</a:t>
            </a:r>
            <a:endParaRPr lang="en-US" sz="1200" dirty="0"/>
          </a:p>
        </p:txBody>
      </p:sp>
      <p:sp>
        <p:nvSpPr>
          <p:cNvPr id="15" name="Text 13"/>
          <p:cNvSpPr txBox="1"/>
          <p:nvPr/>
        </p:nvSpPr>
        <p:spPr>
          <a:xfrm>
            <a:off x="5669280" y="3017520"/>
            <a:ext cx="1920240" cy="6858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Capacity Assessment</a:t>
            </a:r>
            <a:endParaRPr lang="en-US" sz="1700" dirty="0"/>
          </a:p>
        </p:txBody>
      </p:sp>
      <p:sp>
        <p:nvSpPr>
          <p:cNvPr id="16" name="Text 14"/>
          <p:cNvSpPr txBox="1"/>
          <p:nvPr/>
        </p:nvSpPr>
        <p:spPr>
          <a:xfrm>
            <a:off x="5669280" y="3794760"/>
            <a:ext cx="1920240" cy="182880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Returns a commitment position</a:t>
            </a:r>
            <a:endParaRPr lang="en-US" sz="1250" dirty="0"/>
          </a:p>
        </p:txBody>
      </p:sp>
      <p:sp>
        <p:nvSpPr>
          <p:cNvPr id="17" name="Shape 15"/>
          <p:cNvSpPr/>
          <p:nvPr/>
        </p:nvSpPr>
        <p:spPr>
          <a:xfrm>
            <a:off x="8138160" y="2468880"/>
            <a:ext cx="3520440" cy="3291840"/>
          </a:xfrm>
          <a:prstGeom prst="roundRect">
            <a:avLst>
              <a:gd name="adj" fmla="val 2222"/>
            </a:avLst>
          </a:prstGeom>
          <a:solidFill>
            <a:srgbClr val="1B2238"/>
          </a:solidFill>
          <a:ln w="9525">
            <a:solidFill>
              <a:srgbClr val="1B2238"/>
            </a:solidFill>
            <a:prstDash val="solid"/>
          </a:ln>
        </p:spPr>
      </p:sp>
      <p:sp>
        <p:nvSpPr>
          <p:cNvPr id="18" name="Text 16"/>
          <p:cNvSpPr txBox="1"/>
          <p:nvPr/>
        </p:nvSpPr>
        <p:spPr>
          <a:xfrm>
            <a:off x="8321040" y="2651760"/>
            <a:ext cx="3200400" cy="36576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Commitment indicators</a:t>
            </a:r>
            <a:endParaRPr lang="en-US" sz="1300" dirty="0"/>
          </a:p>
        </p:txBody>
      </p:sp>
      <p:sp>
        <p:nvSpPr>
          <p:cNvPr id="19" name="Text 17"/>
          <p:cNvSpPr txBox="1"/>
          <p:nvPr/>
        </p:nvSpPr>
        <p:spPr>
          <a:xfrm>
            <a:off x="8321040" y="3108960"/>
            <a:ext cx="3200400" cy="256032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TBD — not yet determined</a:t>
            </a:r>
            <a:endParaRPr lang="en-US" sz="1250" dirty="0"/>
          </a:p>
          <a:p>
            <a:pPr marL="152400" indent="-1524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ATL — committed in the increment</a:t>
            </a:r>
            <a:endParaRPr lang="en-US" sz="1250" dirty="0"/>
          </a:p>
          <a:p>
            <a:pPr marL="152400" indent="-1524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ATL+ — committed with extra confidence or scope</a:t>
            </a:r>
            <a:endParaRPr lang="en-US" sz="1250" dirty="0"/>
          </a:p>
          <a:p>
            <a:pPr marL="152400" indent="-1524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BTL — understood, not committed</a:t>
            </a:r>
            <a:endParaRPr lang="en-US" sz="12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The epic is the spine every later commitment and report hangs from</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B9771A"/>
                </a:solidFill>
                <a:latin typeface="Calibri" pitchFamily="34" charset="0"/>
                <a:ea typeface="Calibri" pitchFamily="34" charset="-122"/>
                <a:cs typeface="Calibri" pitchFamily="34" charset="-120"/>
              </a:rPr>
              <a:t>Phase B · Planning &amp; Commitment · Stage 5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B9771A"/>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Make the onboarding visible and trackable inside the delivery organisation's planning system.</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Raise the Product Epic</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Create and link features, stories and work items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Assign ownership per feature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Give end-to-end visibility of activities and deliverables</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Product Epic with linked L2 features, stories and work items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Exit: hierarchy complete, ownership assigned</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L3 product manager</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Hierarchy built by hand from the triage outcome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POs and onboarding resource support</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Decomposing by use case instead of workstream stops teams committing independently</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Unowned features surface as gaps in planning</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Linkage checked manually</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Epic &amp; Feature Composition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SK-PL-04 Product Epic Draft Generation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SK-PL-05 Feature Decomposition by Workstream</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SK-PL-06 User Story Generation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SK-PL-07 Hierarchy Linkage Validation</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A badly decomposed epic fails two stages later; decompose by workstream, validate links and owners.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L3 PM and POs approve the hierarchy.</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B9771A"/>
          </a:solidFill>
          <a:ln w="12700">
            <a:solidFill>
              <a:srgbClr val="B9771A"/>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A commitment without understanding is a scheduling assumption that fails later</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B9771A"/>
                </a:solidFill>
                <a:latin typeface="Calibri" pitchFamily="34" charset="0"/>
                <a:ea typeface="Calibri" pitchFamily="34" charset="-122"/>
                <a:cs typeface="Calibri" pitchFamily="34" charset="-120"/>
              </a:rPr>
              <a:t>Phase B · Planning &amp; Commitment · Stage 6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B9771A"/>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Put the demand in front of the people who must resource it, and make trade-offs visibly in one room.</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Walk top-ranked epics with L1/L2 POs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Clarify queries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Get feature-level review from L1 POs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Seek commitment against capacity</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Reviewed feature set with PO commitment positions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Exit: features reviewed, positions understood</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L3 product manager</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Quarterly session with L1/L2 POs, engineering and enabling teams</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Planning packs assembled by hand</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Cross-team dependencies not visible to each PO</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Unresolved queries become Stage 7 blockers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Quarterly cadence adds waiting when a demand just misses the cycle</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Epic &amp; Feature Composition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SK-PL-08 Big Room Planning Pack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SK-PL-10 Cross-Team Dependency Map</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SK-PL-09 Commitment Indicator Explainer</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Each team must see its own dependency to commit honestly, so the pack shows it per feature.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L1/L2 POs give commitment positions.</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B9771A"/>
          </a:solidFill>
          <a:ln w="12700">
            <a:solidFill>
              <a:srgbClr val="B9771A"/>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Capacity assessment returns a stated position, including an honest no</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B9771A"/>
                </a:solidFill>
                <a:latin typeface="Calibri" pitchFamily="34" charset="0"/>
                <a:ea typeface="Calibri" pitchFamily="34" charset="-122"/>
                <a:cs typeface="Calibri" pitchFamily="34" charset="-120"/>
              </a:rPr>
              <a:t>Phase B · Planning &amp; Commitment · Stage 7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B9771A"/>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Convert a prioritised, understood demand into a dated commitment or an explicit refusal.</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Evaluate capacity and competing priorities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Check technical dependencies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Assess implementation readiness; identify blockers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Confirm delivery team allocation</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Commitment indicator per feature: TBD / ATL / ATL+ / BTL</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Identified blockers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Exit: position returned for each feature</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B9771A"/>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Enabling and engineering teams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ECM product management and onboarding resource support</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One unavailable team blocks the whole flow</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BTL not always communicated early</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Team allocation not carried forward, so later tickets land in the wrong project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No allocated team = first environment only</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Volume Assessment (with planning skills)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SK-CP-03 Capacity Planning Request Assembly</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SK-CP-04 Delivery Team Resolution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SK-CP-05 Capacity Planning Ticket Creation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SK-TE-11 Delivery Team Allocation 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SK-XC-04 Determination Carry-Forward</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Team allocation decides where tickets go and how far delivery can climb; resolve once, carry forward.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engineering teams own the commitment.</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B9771A"/>
          </a:solidFill>
          <a:ln w="12700">
            <a:solidFill>
              <a:srgbClr val="B9771A"/>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E7D4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200" kern="0" dirty="0">
                <a:solidFill>
                  <a:srgbClr val="FFFFFF"/>
                </a:solidFill>
                <a:latin typeface="Calibri" pitchFamily="34" charset="0"/>
                <a:ea typeface="Calibri" pitchFamily="34" charset="-122"/>
                <a:cs typeface="Calibri" pitchFamily="34" charset="-120"/>
              </a:rPr>
              <a:t>SECTION 5 · PHASE C</a:t>
            </a:r>
            <a:endParaRPr lang="en-US" sz="1200" dirty="0"/>
          </a:p>
        </p:txBody>
      </p:sp>
      <p:sp>
        <p:nvSpPr>
          <p:cNvPr id="3" name="Text 1"/>
          <p:cNvSpPr txBox="1"/>
          <p:nvPr/>
        </p:nvSpPr>
        <p:spPr>
          <a:xfrm>
            <a:off x="548640" y="685800"/>
            <a:ext cx="11155680" cy="8229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Ten workstreams run in parallel and must converge on one production configuration</a:t>
            </a:r>
            <a:endParaRPr lang="en-US" sz="2600" dirty="0"/>
          </a:p>
        </p:txBody>
      </p:sp>
      <p:sp>
        <p:nvSpPr>
          <p:cNvPr id="4" name="Shape 2"/>
          <p:cNvSpPr/>
          <p:nvPr/>
        </p:nvSpPr>
        <p:spPr>
          <a:xfrm>
            <a:off x="548640" y="1691640"/>
            <a:ext cx="3794760" cy="749808"/>
          </a:xfrm>
          <a:prstGeom prst="roundRect">
            <a:avLst>
              <a:gd name="adj" fmla="val 9756"/>
            </a:avLst>
          </a:prstGeom>
          <a:solidFill>
            <a:srgbClr val="FFFFFF"/>
          </a:solidFill>
          <a:ln w="9525">
            <a:solidFill>
              <a:srgbClr val="FFFFFF"/>
            </a:solidFill>
            <a:prstDash val="solid"/>
          </a:ln>
        </p:spPr>
      </p:sp>
      <p:sp>
        <p:nvSpPr>
          <p:cNvPr id="5" name="Text 3"/>
          <p:cNvSpPr txBox="1"/>
          <p:nvPr/>
        </p:nvSpPr>
        <p:spPr>
          <a:xfrm>
            <a:off x="685800" y="1691640"/>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8.1</a:t>
            </a:r>
            <a:endParaRPr lang="en-US" sz="1400" dirty="0"/>
          </a:p>
        </p:txBody>
      </p:sp>
      <p:sp>
        <p:nvSpPr>
          <p:cNvPr id="6" name="Text 4"/>
          <p:cNvSpPr txBox="1"/>
          <p:nvPr/>
        </p:nvSpPr>
        <p:spPr>
          <a:xfrm>
            <a:off x="1280160" y="1691640"/>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Connectivity, security, setup</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Application identity</a:t>
            </a:r>
            <a:endParaRPr lang="en-US" sz="1200" dirty="0"/>
          </a:p>
        </p:txBody>
      </p:sp>
      <p:sp>
        <p:nvSpPr>
          <p:cNvPr id="7" name="Shape 5"/>
          <p:cNvSpPr/>
          <p:nvPr/>
        </p:nvSpPr>
        <p:spPr>
          <a:xfrm>
            <a:off x="548640" y="2587752"/>
            <a:ext cx="3794760" cy="749808"/>
          </a:xfrm>
          <a:prstGeom prst="roundRect">
            <a:avLst>
              <a:gd name="adj" fmla="val 9756"/>
            </a:avLst>
          </a:prstGeom>
          <a:solidFill>
            <a:srgbClr val="FFFFFF"/>
          </a:solidFill>
          <a:ln w="9525">
            <a:solidFill>
              <a:srgbClr val="FFFFFF"/>
            </a:solidFill>
            <a:prstDash val="solid"/>
          </a:ln>
        </p:spPr>
      </p:sp>
      <p:sp>
        <p:nvSpPr>
          <p:cNvPr id="8" name="Text 6"/>
          <p:cNvSpPr txBox="1"/>
          <p:nvPr/>
        </p:nvSpPr>
        <p:spPr>
          <a:xfrm>
            <a:off x="685800" y="2587752"/>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8.2</a:t>
            </a:r>
            <a:endParaRPr lang="en-US" sz="1400" dirty="0"/>
          </a:p>
        </p:txBody>
      </p:sp>
      <p:sp>
        <p:nvSpPr>
          <p:cNvPr id="9" name="Text 7"/>
          <p:cNvSpPr txBox="1"/>
          <p:nvPr/>
        </p:nvSpPr>
        <p:spPr>
          <a:xfrm>
            <a:off x="1280160" y="2587752"/>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Apigee onboarding</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Capability requirements</a:t>
            </a:r>
            <a:endParaRPr lang="en-US" sz="1200" dirty="0"/>
          </a:p>
        </p:txBody>
      </p:sp>
      <p:sp>
        <p:nvSpPr>
          <p:cNvPr id="10" name="Shape 8"/>
          <p:cNvSpPr/>
          <p:nvPr/>
        </p:nvSpPr>
        <p:spPr>
          <a:xfrm>
            <a:off x="548640" y="3483864"/>
            <a:ext cx="3794760" cy="749808"/>
          </a:xfrm>
          <a:prstGeom prst="roundRect">
            <a:avLst>
              <a:gd name="adj" fmla="val 9756"/>
            </a:avLst>
          </a:prstGeom>
          <a:solidFill>
            <a:srgbClr val="FFFFFF"/>
          </a:solidFill>
          <a:ln w="9525">
            <a:solidFill>
              <a:srgbClr val="FFFFFF"/>
            </a:solidFill>
            <a:prstDash val="solid"/>
          </a:ln>
        </p:spPr>
      </p:sp>
      <p:sp>
        <p:nvSpPr>
          <p:cNvPr id="11" name="Text 9"/>
          <p:cNvSpPr txBox="1"/>
          <p:nvPr/>
        </p:nvSpPr>
        <p:spPr>
          <a:xfrm>
            <a:off x="685800" y="3483864"/>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8.3</a:t>
            </a:r>
            <a:endParaRPr lang="en-US" sz="1400" dirty="0"/>
          </a:p>
        </p:txBody>
      </p:sp>
      <p:sp>
        <p:nvSpPr>
          <p:cNvPr id="12" name="Text 10"/>
          <p:cNvSpPr txBox="1"/>
          <p:nvPr/>
        </p:nvSpPr>
        <p:spPr>
          <a:xfrm>
            <a:off x="1280160" y="3483864"/>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KEES Kafka enablement</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Volume profile</a:t>
            </a:r>
            <a:endParaRPr lang="en-US" sz="1200" dirty="0"/>
          </a:p>
        </p:txBody>
      </p:sp>
      <p:sp>
        <p:nvSpPr>
          <p:cNvPr id="13" name="Shape 11"/>
          <p:cNvSpPr/>
          <p:nvPr/>
        </p:nvSpPr>
        <p:spPr>
          <a:xfrm>
            <a:off x="548640" y="4379976"/>
            <a:ext cx="3794760" cy="749808"/>
          </a:xfrm>
          <a:prstGeom prst="roundRect">
            <a:avLst>
              <a:gd name="adj" fmla="val 9756"/>
            </a:avLst>
          </a:prstGeom>
          <a:solidFill>
            <a:srgbClr val="FFFFFF"/>
          </a:solidFill>
          <a:ln w="9525">
            <a:solidFill>
              <a:srgbClr val="FFFFFF"/>
            </a:solidFill>
            <a:prstDash val="solid"/>
          </a:ln>
        </p:spPr>
      </p:sp>
      <p:sp>
        <p:nvSpPr>
          <p:cNvPr id="14" name="Text 12"/>
          <p:cNvSpPr txBox="1"/>
          <p:nvPr/>
        </p:nvSpPr>
        <p:spPr>
          <a:xfrm>
            <a:off x="685800" y="4379976"/>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8.4</a:t>
            </a:r>
            <a:endParaRPr lang="en-US" sz="1400" dirty="0"/>
          </a:p>
        </p:txBody>
      </p:sp>
      <p:sp>
        <p:nvSpPr>
          <p:cNvPr id="15" name="Text 13"/>
          <p:cNvSpPr txBox="1"/>
          <p:nvPr/>
        </p:nvSpPr>
        <p:spPr>
          <a:xfrm>
            <a:off x="1280160" y="4379976"/>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Content processing</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Governance determination</a:t>
            </a:r>
            <a:endParaRPr lang="en-US" sz="1200" dirty="0"/>
          </a:p>
        </p:txBody>
      </p:sp>
      <p:sp>
        <p:nvSpPr>
          <p:cNvPr id="16" name="Shape 14"/>
          <p:cNvSpPr/>
          <p:nvPr/>
        </p:nvSpPr>
        <p:spPr>
          <a:xfrm>
            <a:off x="548640" y="5276088"/>
            <a:ext cx="3794760" cy="749808"/>
          </a:xfrm>
          <a:prstGeom prst="roundRect">
            <a:avLst>
              <a:gd name="adj" fmla="val 9756"/>
            </a:avLst>
          </a:prstGeom>
          <a:solidFill>
            <a:srgbClr val="FFFFFF"/>
          </a:solidFill>
          <a:ln w="9525">
            <a:solidFill>
              <a:srgbClr val="FFFFFF"/>
            </a:solidFill>
            <a:prstDash val="solid"/>
          </a:ln>
        </p:spPr>
      </p:sp>
      <p:sp>
        <p:nvSpPr>
          <p:cNvPr id="17" name="Text 15"/>
          <p:cNvSpPr txBox="1"/>
          <p:nvPr/>
        </p:nvSpPr>
        <p:spPr>
          <a:xfrm>
            <a:off x="685800" y="5276088"/>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8.5</a:t>
            </a:r>
            <a:endParaRPr lang="en-US" sz="1400" dirty="0"/>
          </a:p>
        </p:txBody>
      </p:sp>
      <p:sp>
        <p:nvSpPr>
          <p:cNvPr id="18" name="Text 16"/>
          <p:cNvSpPr txBox="1"/>
          <p:nvPr/>
        </p:nvSpPr>
        <p:spPr>
          <a:xfrm>
            <a:off x="1280160" y="5276088"/>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Metadata &amp; retrieval</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Governance classification</a:t>
            </a:r>
            <a:endParaRPr lang="en-US" sz="1200" dirty="0"/>
          </a:p>
        </p:txBody>
      </p:sp>
      <p:sp>
        <p:nvSpPr>
          <p:cNvPr id="19" name="Shape 17"/>
          <p:cNvSpPr/>
          <p:nvPr/>
        </p:nvSpPr>
        <p:spPr>
          <a:xfrm>
            <a:off x="4526280" y="1691640"/>
            <a:ext cx="3794760" cy="749808"/>
          </a:xfrm>
          <a:prstGeom prst="roundRect">
            <a:avLst>
              <a:gd name="adj" fmla="val 9756"/>
            </a:avLst>
          </a:prstGeom>
          <a:solidFill>
            <a:srgbClr val="FFFFFF"/>
          </a:solidFill>
          <a:ln w="9525">
            <a:solidFill>
              <a:srgbClr val="FFFFFF"/>
            </a:solidFill>
            <a:prstDash val="solid"/>
          </a:ln>
        </p:spPr>
      </p:sp>
      <p:sp>
        <p:nvSpPr>
          <p:cNvPr id="20" name="Text 18"/>
          <p:cNvSpPr txBox="1"/>
          <p:nvPr/>
        </p:nvSpPr>
        <p:spPr>
          <a:xfrm>
            <a:off x="4663440" y="1691640"/>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8.6</a:t>
            </a:r>
            <a:endParaRPr lang="en-US" sz="1400" dirty="0"/>
          </a:p>
        </p:txBody>
      </p:sp>
      <p:sp>
        <p:nvSpPr>
          <p:cNvPr id="21" name="Text 19"/>
          <p:cNvSpPr txBox="1"/>
          <p:nvPr/>
        </p:nvSpPr>
        <p:spPr>
          <a:xfrm>
            <a:off x="5257800" y="1691640"/>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Records &amp; retention</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Retention position</a:t>
            </a:r>
            <a:endParaRPr lang="en-US" sz="1200" dirty="0"/>
          </a:p>
        </p:txBody>
      </p:sp>
      <p:sp>
        <p:nvSpPr>
          <p:cNvPr id="22" name="Shape 20"/>
          <p:cNvSpPr/>
          <p:nvPr/>
        </p:nvSpPr>
        <p:spPr>
          <a:xfrm>
            <a:off x="4526280" y="2587752"/>
            <a:ext cx="3794760" cy="749808"/>
          </a:xfrm>
          <a:prstGeom prst="roundRect">
            <a:avLst>
              <a:gd name="adj" fmla="val 9756"/>
            </a:avLst>
          </a:prstGeom>
          <a:solidFill>
            <a:srgbClr val="FFFFFF"/>
          </a:solidFill>
          <a:ln w="9525">
            <a:solidFill>
              <a:srgbClr val="FFFFFF"/>
            </a:solidFill>
            <a:prstDash val="solid"/>
          </a:ln>
        </p:spPr>
      </p:sp>
      <p:sp>
        <p:nvSpPr>
          <p:cNvPr id="23" name="Text 21"/>
          <p:cNvSpPr txBox="1"/>
          <p:nvPr/>
        </p:nvSpPr>
        <p:spPr>
          <a:xfrm>
            <a:off x="4663440" y="2587752"/>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8.7</a:t>
            </a:r>
            <a:endParaRPr lang="en-US" sz="1400" dirty="0"/>
          </a:p>
        </p:txBody>
      </p:sp>
      <p:sp>
        <p:nvSpPr>
          <p:cNvPr id="24" name="Text 22"/>
          <p:cNvSpPr txBox="1"/>
          <p:nvPr/>
        </p:nvSpPr>
        <p:spPr>
          <a:xfrm>
            <a:off x="5257800" y="2587752"/>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Capacity &amp; SPLI</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Volume profile, team allocation</a:t>
            </a:r>
            <a:endParaRPr lang="en-US" sz="1200" dirty="0"/>
          </a:p>
        </p:txBody>
      </p:sp>
      <p:sp>
        <p:nvSpPr>
          <p:cNvPr id="25" name="Shape 23"/>
          <p:cNvSpPr/>
          <p:nvPr/>
        </p:nvSpPr>
        <p:spPr>
          <a:xfrm>
            <a:off x="4526280" y="3483864"/>
            <a:ext cx="3794760" cy="749808"/>
          </a:xfrm>
          <a:prstGeom prst="roundRect">
            <a:avLst>
              <a:gd name="adj" fmla="val 9756"/>
            </a:avLst>
          </a:prstGeom>
          <a:solidFill>
            <a:srgbClr val="FFFFFF"/>
          </a:solidFill>
          <a:ln w="9525">
            <a:solidFill>
              <a:srgbClr val="FFFFFF"/>
            </a:solidFill>
            <a:prstDash val="solid"/>
          </a:ln>
        </p:spPr>
      </p:sp>
      <p:sp>
        <p:nvSpPr>
          <p:cNvPr id="26" name="Text 24"/>
          <p:cNvSpPr txBox="1"/>
          <p:nvPr/>
        </p:nvSpPr>
        <p:spPr>
          <a:xfrm>
            <a:off x="4663440" y="3483864"/>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8.8</a:t>
            </a:r>
            <a:endParaRPr lang="en-US" sz="1400" dirty="0"/>
          </a:p>
        </p:txBody>
      </p:sp>
      <p:sp>
        <p:nvSpPr>
          <p:cNvPr id="27" name="Text 25"/>
          <p:cNvSpPr txBox="1"/>
          <p:nvPr/>
        </p:nvSpPr>
        <p:spPr>
          <a:xfrm>
            <a:off x="5257800" y="3483864"/>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Testing</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All of the above</a:t>
            </a:r>
            <a:endParaRPr lang="en-US" sz="1200" dirty="0"/>
          </a:p>
        </p:txBody>
      </p:sp>
      <p:sp>
        <p:nvSpPr>
          <p:cNvPr id="28" name="Shape 26"/>
          <p:cNvSpPr/>
          <p:nvPr/>
        </p:nvSpPr>
        <p:spPr>
          <a:xfrm>
            <a:off x="4526280" y="4379976"/>
            <a:ext cx="3794760" cy="749808"/>
          </a:xfrm>
          <a:prstGeom prst="roundRect">
            <a:avLst>
              <a:gd name="adj" fmla="val 9756"/>
            </a:avLst>
          </a:prstGeom>
          <a:solidFill>
            <a:srgbClr val="FFFFFF"/>
          </a:solidFill>
          <a:ln w="9525">
            <a:solidFill>
              <a:srgbClr val="FFFFFF"/>
            </a:solidFill>
            <a:prstDash val="solid"/>
          </a:ln>
        </p:spPr>
      </p:sp>
      <p:sp>
        <p:nvSpPr>
          <p:cNvPr id="29" name="Text 27"/>
          <p:cNvSpPr txBox="1"/>
          <p:nvPr/>
        </p:nvSpPr>
        <p:spPr>
          <a:xfrm>
            <a:off x="4663440" y="4379976"/>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8.9</a:t>
            </a:r>
            <a:endParaRPr lang="en-US" sz="1400" dirty="0"/>
          </a:p>
        </p:txBody>
      </p:sp>
      <p:sp>
        <p:nvSpPr>
          <p:cNvPr id="30" name="Text 28"/>
          <p:cNvSpPr txBox="1"/>
          <p:nvPr/>
        </p:nvSpPr>
        <p:spPr>
          <a:xfrm>
            <a:off x="5257800" y="4379976"/>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Environment progression</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Team allocation</a:t>
            </a:r>
            <a:endParaRPr lang="en-US" sz="1200" dirty="0"/>
          </a:p>
        </p:txBody>
      </p:sp>
      <p:sp>
        <p:nvSpPr>
          <p:cNvPr id="31" name="Shape 29"/>
          <p:cNvSpPr/>
          <p:nvPr/>
        </p:nvSpPr>
        <p:spPr>
          <a:xfrm>
            <a:off x="4526280" y="5276088"/>
            <a:ext cx="3794760" cy="749808"/>
          </a:xfrm>
          <a:prstGeom prst="roundRect">
            <a:avLst>
              <a:gd name="adj" fmla="val 9756"/>
            </a:avLst>
          </a:prstGeom>
          <a:solidFill>
            <a:srgbClr val="FFFFFF"/>
          </a:solidFill>
          <a:ln w="9525">
            <a:solidFill>
              <a:srgbClr val="FFFFFF"/>
            </a:solidFill>
            <a:prstDash val="solid"/>
          </a:ln>
        </p:spPr>
      </p:sp>
      <p:sp>
        <p:nvSpPr>
          <p:cNvPr id="32" name="Text 30"/>
          <p:cNvSpPr txBox="1"/>
          <p:nvPr/>
        </p:nvSpPr>
        <p:spPr>
          <a:xfrm>
            <a:off x="4663440" y="5276088"/>
            <a:ext cx="548640" cy="749808"/>
          </a:xfrm>
          <a:prstGeom prst="rect">
            <a:avLst/>
          </a:prstGeom>
          <a:noFill/>
          <a:ln/>
        </p:spPr>
        <p:txBody>
          <a:bodyPr wrap="square" lIns="0" tIns="0" rIns="0" bIns="0" rtlCol="0" anchor="ctr"/>
          <a:lstStyle/>
          <a:p>
            <a:pPr indent="0" marL="0">
              <a:buNone/>
            </a:pPr>
            <a:r>
              <a:rPr lang="en-US" sz="1400" b="1" dirty="0">
                <a:solidFill>
                  <a:srgbClr val="2E7D4F"/>
                </a:solidFill>
                <a:latin typeface="Calibri" pitchFamily="34" charset="0"/>
                <a:ea typeface="Calibri" pitchFamily="34" charset="-122"/>
                <a:cs typeface="Calibri" pitchFamily="34" charset="-120"/>
              </a:rPr>
              <a:t>8.10</a:t>
            </a:r>
            <a:endParaRPr lang="en-US" sz="1400" dirty="0"/>
          </a:p>
        </p:txBody>
      </p:sp>
      <p:sp>
        <p:nvSpPr>
          <p:cNvPr id="33" name="Text 31"/>
          <p:cNvSpPr txBox="1"/>
          <p:nvPr/>
        </p:nvSpPr>
        <p:spPr>
          <a:xfrm>
            <a:off x="5257800" y="5276088"/>
            <a:ext cx="2971800" cy="749808"/>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Documentation &amp; readiness</a:t>
            </a:r>
            <a:endParaRPr lang="en-US" sz="1200" dirty="0"/>
          </a:p>
          <a:p>
            <a:pPr indent="0" marL="0">
              <a:buNone/>
            </a:pPr>
            <a:r>
              <a:rPr lang="en-US" sz="1050" dirty="0">
                <a:solidFill>
                  <a:srgbClr val="5B3FA0"/>
                </a:solidFill>
                <a:latin typeface="Calibri" pitchFamily="34" charset="0"/>
                <a:ea typeface="Calibri" pitchFamily="34" charset="-122"/>
                <a:cs typeface="Calibri" pitchFamily="34" charset="-120"/>
              </a:rPr>
              <a:t>Depends on: All of the above</a:t>
            </a:r>
            <a:endParaRPr lang="en-US" sz="1200" dirty="0"/>
          </a:p>
        </p:txBody>
      </p:sp>
      <p:sp>
        <p:nvSpPr>
          <p:cNvPr id="34" name="Shape 32"/>
          <p:cNvSpPr/>
          <p:nvPr/>
        </p:nvSpPr>
        <p:spPr>
          <a:xfrm>
            <a:off x="8549640" y="3776472"/>
            <a:ext cx="502920" cy="0"/>
          </a:xfrm>
          <a:prstGeom prst="line">
            <a:avLst/>
          </a:prstGeom>
          <a:noFill/>
          <a:ln w="19050">
            <a:solidFill>
              <a:srgbClr val="FFFFFF"/>
            </a:solidFill>
            <a:prstDash val="solid"/>
            <a:tailEnd type="triangle"/>
          </a:ln>
        </p:spPr>
      </p:sp>
      <p:sp>
        <p:nvSpPr>
          <p:cNvPr id="35" name="Shape 33"/>
          <p:cNvSpPr/>
          <p:nvPr/>
        </p:nvSpPr>
        <p:spPr>
          <a:xfrm>
            <a:off x="9144000" y="2651760"/>
            <a:ext cx="2514600" cy="1188720"/>
          </a:xfrm>
          <a:prstGeom prst="roundRect">
            <a:avLst>
              <a:gd name="adj" fmla="val 6154"/>
            </a:avLst>
          </a:prstGeom>
          <a:solidFill>
            <a:srgbClr val="1B2238"/>
          </a:solidFill>
          <a:ln w="9525">
            <a:solidFill>
              <a:srgbClr val="1B2238"/>
            </a:solidFill>
            <a:prstDash val="solid"/>
          </a:ln>
        </p:spPr>
      </p:sp>
      <p:sp>
        <p:nvSpPr>
          <p:cNvPr id="36" name="Text 34"/>
          <p:cNvSpPr txBox="1"/>
          <p:nvPr/>
        </p:nvSpPr>
        <p:spPr>
          <a:xfrm>
            <a:off x="9144000" y="2651760"/>
            <a:ext cx="251460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Production-ready configuration</a:t>
            </a:r>
            <a:endParaRPr lang="en-US" sz="1400" dirty="0"/>
          </a:p>
        </p:txBody>
      </p:sp>
      <p:sp>
        <p:nvSpPr>
          <p:cNvPr id="37" name="Shape 35"/>
          <p:cNvSpPr/>
          <p:nvPr/>
        </p:nvSpPr>
        <p:spPr>
          <a:xfrm>
            <a:off x="10396728" y="3840480"/>
            <a:ext cx="0" cy="411480"/>
          </a:xfrm>
          <a:prstGeom prst="line">
            <a:avLst/>
          </a:prstGeom>
          <a:noFill/>
          <a:ln w="19050">
            <a:solidFill>
              <a:srgbClr val="FFFFFF"/>
            </a:solidFill>
            <a:prstDash val="solid"/>
            <a:tailEnd type="triangle"/>
          </a:ln>
        </p:spPr>
      </p:sp>
      <p:sp>
        <p:nvSpPr>
          <p:cNvPr id="38" name="Shape 36"/>
          <p:cNvSpPr/>
          <p:nvPr/>
        </p:nvSpPr>
        <p:spPr>
          <a:xfrm>
            <a:off x="9144000" y="4297680"/>
            <a:ext cx="2514600" cy="914400"/>
          </a:xfrm>
          <a:prstGeom prst="roundRect">
            <a:avLst>
              <a:gd name="adj" fmla="val 8000"/>
            </a:avLst>
          </a:prstGeom>
          <a:solidFill>
            <a:srgbClr val="FFFFFF"/>
          </a:solidFill>
          <a:ln w="9525">
            <a:solidFill>
              <a:srgbClr val="FFFFFF"/>
            </a:solidFill>
            <a:prstDash val="solid"/>
          </a:ln>
        </p:spPr>
      </p:sp>
      <p:sp>
        <p:nvSpPr>
          <p:cNvPr id="39" name="Text 37"/>
          <p:cNvSpPr txBox="1"/>
          <p:nvPr/>
        </p:nvSpPr>
        <p:spPr>
          <a:xfrm>
            <a:off x="9144000" y="4297680"/>
            <a:ext cx="2514600" cy="914400"/>
          </a:xfrm>
          <a:prstGeom prst="rect">
            <a:avLst/>
          </a:prstGeom>
          <a:noFill/>
          <a:ln/>
        </p:spPr>
        <p:txBody>
          <a:bodyPr wrap="square" lIns="0" tIns="0" rIns="0" bIns="0" rtlCol="0" anchor="ctr"/>
          <a:lstStyle/>
          <a:p>
            <a:pPr algn="ctr" indent="0" marL="0">
              <a:buNone/>
            </a:pPr>
            <a:r>
              <a:rPr lang="en-US" sz="1400" b="1" dirty="0">
                <a:solidFill>
                  <a:srgbClr val="2E7D4F"/>
                </a:solidFill>
                <a:latin typeface="Calibri" pitchFamily="34" charset="0"/>
                <a:ea typeface="Calibri" pitchFamily="34" charset="-122"/>
                <a:cs typeface="Calibri" pitchFamily="34" charset="-120"/>
              </a:rPr>
              <a:t>Stage 9 · Partner Live</a:t>
            </a:r>
            <a:endParaRPr lang="en-US" sz="14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Access routes by request type, and a wrong route fails silently, days later</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8.1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Give the partner a single, credentialled, connected application identity across the required environments.</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Register application identity; issue certificates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Open firewall from partner zone to ICMP APIs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Create service accounts, group membership and human access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Complete system and user security analysis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Sign the Partner System Agreement</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Registered identity, certificates, accounts, access grants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Security sign-offs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Signed Partner System Agreement</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Onboarding resource with security and network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Each request raised by hand into separate queues</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Firewall is long lead-time; late, it blocks integration testing</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Service accounts route via access tooling in both environments; human access routes by domain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 wrong queue is rejected only after the delay</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Requests not tied to one identity become orphaned</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Foundational Setup</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SK-FS-01 Application Identity Registration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SK-FS-07 Access Route Determination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SK-FS-04 / 05 Service Account and Group Requests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SK-FS-06 Human User Access Routing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SK-FS-09 Firewall Connectivity Request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SK-FS-12 Access Request Status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SK-FS-13 Partner System Agreement Assembly</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Routing is applied from memory today; encode it once and call it first for every access request.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security teams approve access through existing tooling.</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Gateway subscription is approval-gated and tracked by hand today</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8.2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Grant the partner the ability to call ICMP services through the Apigee gateway.</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Onboard to the Apigee marketplace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Identify the right ICMP API products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Register and subscribe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Obtain approvals and clearances</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Active API subscriptions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Approvals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Current Apigee Onboarding Tracker</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Onboarding resource with partner team</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Resource obtains approvals and maintains the tracker by hand</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Approvals gate the subscription and are chased manually</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Tracker currency depends on individual discipline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Partners hand-build API requests to start testing</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Apigee Subscription · Postman Collection Generation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SK-AK-01 Marketplace Onboarding Walkthrough</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SK-AK-02 API Product Discovery</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SK-AK-03 Registration &amp; Subscription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SK-AK-04 Subscription Approval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SK-AK-05 Gateway Tracker Maintenance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SK-AK-06 Postman Collection Generation</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Subscription is procedural, approvals are not: automate the procedure, make approvals visible and aged.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Apigee approvers.</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Reconciliation is a stated outcome, not an optional extra to descope</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8.3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Enable event notifications so the partner can reconcile every ingestion, success and failure.</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Initiate KEES; onboard to Kafka</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Create consumer groups on the ICMP topic</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Enable request- and document-level notifications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Define reconciliation, retry and exception handling; size ingestion to volume</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Consumer groups and notifications live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Reconciliation, retry and exception design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Current Kafka Onboarding Tracker</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KEES team, partner and architects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Resource initiates KEES; partner and architects design reconciliation</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Separate engagement with its own approvals and lead time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Reconciliation descoped under pressure when treated as detail</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Failure-path behaviour assumed, not designed</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KEES Enablement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SK-AK-07 KEES Engagement Initiation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SK-AK-08 Topic &amp; Consumer Group Design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SK-AK-09 Consumer Group Provisioning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SK-AK-10 Notification Configuration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SK-AK-11 Reconciliation Pattern Guidance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SK-AK-12 Retry &amp; Exception Design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SK-CP-09 Ingestion Sizing Guidance</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Reconciliation protects the business outcome, so keep it in scope and design the failure path explicitly.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KEES team provisions.</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Content configuration must follow the governance decision, never an assumption</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8.4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Configure the trusted and untrusted content paths exactly as Imaging Governance determined.</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Untrusted: virus scanning, AI classification, human-in-the-loop with pre/post-capture profiles, untrusted profile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Trusted: profile configured with governance-allocated category/type/subtype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Route new document types back for a fresh decision</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Untrusted and trusted ICMP profiles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Classification and HITL profiles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Registered classification</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Engineering with iDocs, IRM, scanning teams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Determination carried forward from the resource's memory</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Assumed classification builds unneeded work or misses needed work</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Allocated but unconfigured classification is a silent gap</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New document types silently inherit an existing classification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Samples needed but late</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Content Processing Configuration · Imaging Governance Liaison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SK-CN-01 / 02 Untrusted and Trusted Profile Design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SK-CN-03 Virus Scanning Onboarding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SK-CN-04 / 07 Classification and HITL Engagement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SK-CN-08 / 09 Pre- and Post-Capture Profiles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SK-CN-11 Profile Configuration Validation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SK-CN-14 Classification Registration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SK-CN-16 New Type Re-Review Trigger</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One registered determination is the single source of truth; every profile keys to it.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Imaging Governance determination and allocation.</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Metadata decides what can be found later and cannot be cheaply retrofitted</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8.5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Make content searchable, retrievable, viewable and correctly secured for every user group.</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Run metadata discovery workshops; define search filters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Map security keys, legal entity and RCC</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Onboard repository; enable search and view APIs; configure viewer</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Provision access; train users</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Metadata model and mappings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Configured repository, APIs and viewer</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Access grants and user manuals</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Architects, engineering, onboarding resource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Resource owns access, demos and training with the UI team</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Retrofitting metadata means reprocessing content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Mappings are a security control, not just data design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Adoption fails without training and manuals</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Metadata &amp; Retrieval Design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SK-MD-01 Metadata Discovery Facilitation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SK-MD-02 Search Filter Definition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SK-MD-03 Security Key &amp; Entity Mapping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SK-MD-05 / 06 Search and View API Enablement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SK-MD-08 Business &amp; Audit Access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SK-MD-09 UI Demonstration Pack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SK-MD-10 User Manual Generation</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Design-led work benefits most from guided structure (P2), not automation.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business users approve the metadata model.</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Retention is a business obligation enforced by configuration, not by documents</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8.6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Convert a business retention obligation into an approved, enforced retention configuration.</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Gather requirements from the business owner; draft RM questionnaire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Secure RM approval and hand off</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Configure retention code, period and destruction policy</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Enable WORM where applicable; confirm legal hold and audit</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Approved RM Onboarding Questionnaire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Configured retention schedules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Regulatory storage compliance</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Records Management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Resource gathers and drafts; RM reviews, approves, configures</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Requirement must come from the accountable business owner, not be inferred</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RM approval is a gate often chased by hand</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Regulated storage found late invalidates repository design</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Records &amp; Retention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SK-RM-01 Retention Requirement Gathering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SK-RM-02 RM Questionnaire Drafting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SK-RM-03 Review &amp; Approval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SK-RM-04 Retention Code Advisory</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SK-RM-05 Configuration Handoff</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SK-RM-06 Regulatory Storage 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SK-RM-07 / 08 Legal Hold and Destruction Policy</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Generate the questionnaire from what intake captured, so RM reviews instead of re-asking.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Records Management decides the retention position.</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Load testing is volume-driven, and its tickets must land in the right project</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8.7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Prove the design holds at migration, BAU and peak volumes, and scales for growth.</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Collect three volume classes; complete capacity planning</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Decide if SPLI applies; run it and obtain approvals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Raise tickets against the allocated team's project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Validate scalability for growth</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Capacity plan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SPLI applicability decision and approval</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Correctly routed tickets</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Engineering and SPLI team</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Resource collects volumes and raises tickets by hand</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Migration is a one-time peak often missed in sizing</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Testing skipped when needed, or run when not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Tickets raised in the intake project are invisible to the team that must act</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Volume Assessment · Load Testing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SK-CP-02 Volume Class Modelling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SK-CP-06 Load Testing Applicability</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SK-CP-07 Load Testing Engagement Request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SK-CP-08 Load Testing Approval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SK-CP-10 Scalability Validation Checklist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SK-XC-03 Ticket Routing Guard</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Apply volume thresholds as a rule; refuse to create a ticket whose project cannot be resolved.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SPLI team approval.</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Each test cycle catches a different failure class; skipping one moves it to production</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8.8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Prove the solution works, matches intake objectives, holds at volume and reconciles on failure.</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Unit: component defects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Integration: mismatches between separately configured systems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UAT: gap between build and intake objectives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SPLI: volume failures, where applicable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Reconciliation: success and failure paths</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Test evidence per cycle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UAT sign-off; resolved defects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Production-readiness validation</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Engineering, partner and business users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Resource brokers defect and conflict resolution across sides</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Config mismatches surface late, in integration testing</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Failure paths assumed rather than proven</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Defect routing depends on one person knowing both sides</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Test Orchestration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SK-TE-02 Integration Test Plan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SK-TE-03 Reconciliation Test Design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SK-TE-04 UAT Plan &amp; Sign-Off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SK-TE-05 Load Test Execution Support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SK-TE-06 Defect Triage &amp; Routing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SK-TE-07 Configuration Conflict Detection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SK-TE-08 Production Readiness Validation</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Detect configuration conflicts before integration testing does, and route defects with context.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business users give UAT sign-off.</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The environment ladder is fixed; gates must be enforced, not remembered</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8.9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Promote the partner through every environment, each validating what the previous one cannot.</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Progress through the fixed ladder, no skips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Use the correct service account per environment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Exclude the internal-only environment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Confirm team allocation before full progression</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Promotion record per environment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Gate evidence</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Engineering with onboarding resource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Account and gate rules applied from memory</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Wrong environment account fails late and confusingly</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Skip requests under schedule pressure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No allocated team limits the partner to the first environment</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Environment Progression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SK-TE-09 Environment Gate 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SK-TE-10 Promotion Ladder Enforcement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SK-TE-11 Delivery Team Allocation 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SK-TE-12 Environment Account Validation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SK-FS-08 Environment Account Mapping</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The ladder is a rule: refuse skips and explain what the skipped environment validates.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release and engineering approvals.</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Readiness documents become generation work once the onboarding record exists</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Workstream 8.10 of 10</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Produce the evidence and documentation that let others support and audit the solution.</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Keep Apigee and Kafka trackers current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Produce technical design docs and technology notes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Produce user guides and runbooks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Obtain technical and business sign-offs</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Current trackers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Design docs, runbooks, user guides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Technical and business sign-offs</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Onboarding resource and architects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Documents assembled by hand from facts scattered across the lifecycle</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Same facts re-typed into multiple documents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Trackers drift from reality</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Sign-offs chased individually</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Release Readiness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SK-RL-07 Technical Design Documentation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SK-RL-08 Operational Runbook Generation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SK-AK-05 / 13 Tracker Maintenance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SK-RL-04 Sign-Off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SK-XC-07 Artefact Index</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Write facts once into the onboarding record and generate every document from it.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sign-off holders.</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2E7D4F"/>
          </a:solidFill>
          <a:ln w="12700">
            <a:solidFill>
              <a:srgbClr val="2E7D4F"/>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E9EBF0"/>
          </a:solidFill>
          <a:ln w="12700">
            <a:solidFill>
              <a:srgbClr val="E9EBF0"/>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Go-live is a transfer of ownership, and gaps become support incidents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2E7D4F"/>
                </a:solidFill>
                <a:latin typeface="Calibri" pitchFamily="34" charset="0"/>
                <a:ea typeface="Calibri" pitchFamily="34" charset="-122"/>
                <a:cs typeface="Calibri" pitchFamily="34" charset="-120"/>
              </a:rPr>
              <a:t>Phase C · Build &amp; Go-Live · Stage 9 of 9</a:t>
            </a:r>
            <a:endParaRPr lang="en-US" sz="1000" dirty="0"/>
          </a:p>
        </p:txBody>
      </p:sp>
      <p:sp>
        <p:nvSpPr>
          <p:cNvPr id="4" name="Shape 2"/>
          <p:cNvSpPr/>
          <p:nvPr/>
        </p:nvSpPr>
        <p:spPr>
          <a:xfrm>
            <a:off x="411480" y="1078992"/>
            <a:ext cx="11365992" cy="475488"/>
          </a:xfrm>
          <a:prstGeom prst="roundRect">
            <a:avLst>
              <a:gd name="adj" fmla="val 11538"/>
            </a:avLst>
          </a:prstGeom>
          <a:solidFill>
            <a:srgbClr val="F3F4F7"/>
          </a:solidFill>
          <a:ln w="9525">
            <a:solidFill>
              <a:srgbClr val="F3F4F7"/>
            </a:solidFill>
            <a:prstDash val="solid"/>
          </a:ln>
        </p:spPr>
      </p:sp>
      <p:sp>
        <p:nvSpPr>
          <p:cNvPr id="5" name="Text 3"/>
          <p:cNvSpPr txBox="1"/>
          <p:nvPr/>
        </p:nvSpPr>
        <p:spPr>
          <a:xfrm>
            <a:off x="566928" y="1078992"/>
            <a:ext cx="11064240" cy="475488"/>
          </a:xfrm>
          <a:prstGeom prst="rect">
            <a:avLst/>
          </a:prstGeom>
          <a:noFill/>
          <a:ln/>
        </p:spPr>
        <p:txBody>
          <a:bodyPr wrap="square" lIns="0" tIns="0" rIns="0" bIns="0" rtlCol="0" anchor="ctr"/>
          <a:lstStyle/>
          <a:p>
            <a:pPr indent="0" marL="0">
              <a:buNone/>
            </a:pPr>
            <a:r>
              <a:rPr lang="en-US" sz="1000" b="1" spc="100" kern="0" dirty="0">
                <a:solidFill>
                  <a:srgbClr val="2E7D4F"/>
                </a:solidFill>
                <a:latin typeface="Calibri" pitchFamily="34" charset="0"/>
                <a:ea typeface="Calibri" pitchFamily="34" charset="-122"/>
                <a:cs typeface="Calibri" pitchFamily="34" charset="-120"/>
              </a:rPr>
              <a:t>AIM  </a:t>
            </a:r>
            <a:pPr indent="0" marL="0">
              <a:buNone/>
            </a:pPr>
            <a:r>
              <a:rPr lang="en-US" sz="1350" dirty="0">
                <a:solidFill>
                  <a:srgbClr val="1B2238"/>
                </a:solidFill>
                <a:latin typeface="Calibri" pitchFamily="34" charset="0"/>
                <a:ea typeface="Calibri" pitchFamily="34" charset="-122"/>
                <a:cs typeface="Calibri" pitchFamily="34" charset="-120"/>
              </a:rPr>
              <a:t>Move the solution from the project team that knows it to a support organisation that does not.</a:t>
            </a:r>
            <a:endParaRPr lang="en-US" sz="1200" dirty="0"/>
          </a:p>
        </p:txBody>
      </p:sp>
      <p:sp>
        <p:nvSpPr>
          <p:cNvPr id="6" name="Shape 4"/>
          <p:cNvSpPr/>
          <p:nvPr/>
        </p:nvSpPr>
        <p:spPr>
          <a:xfrm>
            <a:off x="411480" y="1664208"/>
            <a:ext cx="3611880" cy="2377440"/>
          </a:xfrm>
          <a:prstGeom prst="roundRect">
            <a:avLst>
              <a:gd name="adj" fmla="val 2308"/>
            </a:avLst>
          </a:prstGeom>
          <a:solidFill>
            <a:srgbClr val="FFFFFF"/>
          </a:solidFill>
          <a:ln w="9525">
            <a:solidFill>
              <a:srgbClr val="D5D9E2"/>
            </a:solidFill>
            <a:prstDash val="solid"/>
          </a:ln>
        </p:spPr>
      </p:sp>
      <p:sp>
        <p:nvSpPr>
          <p:cNvPr id="7" name="Text 5"/>
          <p:cNvSpPr txBox="1"/>
          <p:nvPr/>
        </p:nvSpPr>
        <p:spPr>
          <a:xfrm>
            <a:off x="548640" y="175564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GOALS</a:t>
            </a:r>
            <a:endParaRPr lang="en-US" sz="950" dirty="0"/>
          </a:p>
        </p:txBody>
      </p:sp>
      <p:sp>
        <p:nvSpPr>
          <p:cNvPr id="8" name="Text 6"/>
          <p:cNvSpPr txBox="1"/>
          <p:nvPr/>
        </p:nvSpPr>
        <p:spPr>
          <a:xfrm>
            <a:off x="548640" y="2029968"/>
            <a:ext cx="3337560" cy="192024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Create and finalise the Release Transition page</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Confirm UAT sign-off, support readiness and handoff contents</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Obtain go-live sign-offs; deploy; support release night</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Attend validation call; verify final production call; hand over</a:t>
            </a:r>
            <a:endParaRPr lang="en-US" sz="1200" dirty="0"/>
          </a:p>
        </p:txBody>
      </p:sp>
      <p:sp>
        <p:nvSpPr>
          <p:cNvPr id="9" name="Shape 7"/>
          <p:cNvSpPr/>
          <p:nvPr/>
        </p:nvSpPr>
        <p:spPr>
          <a:xfrm>
            <a:off x="411480" y="4133088"/>
            <a:ext cx="3611880" cy="1536192"/>
          </a:xfrm>
          <a:prstGeom prst="roundRect">
            <a:avLst>
              <a:gd name="adj" fmla="val 3571"/>
            </a:avLst>
          </a:prstGeom>
          <a:solidFill>
            <a:srgbClr val="FFFFFF"/>
          </a:solidFill>
          <a:ln w="9525">
            <a:solidFill>
              <a:srgbClr val="D5D9E2"/>
            </a:solidFill>
            <a:prstDash val="solid"/>
          </a:ln>
        </p:spPr>
      </p:sp>
      <p:sp>
        <p:nvSpPr>
          <p:cNvPr id="10" name="Text 8"/>
          <p:cNvSpPr txBox="1"/>
          <p:nvPr/>
        </p:nvSpPr>
        <p:spPr>
          <a:xfrm>
            <a:off x="548640" y="4224528"/>
            <a:ext cx="33375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ARTIFACTS AT EXIT</a:t>
            </a:r>
            <a:endParaRPr lang="en-US" sz="950" dirty="0"/>
          </a:p>
        </p:txBody>
      </p:sp>
      <p:sp>
        <p:nvSpPr>
          <p:cNvPr id="11" name="Text 9"/>
          <p:cNvSpPr txBox="1"/>
          <p:nvPr/>
        </p:nvSpPr>
        <p:spPr>
          <a:xfrm>
            <a:off x="548640" y="4498848"/>
            <a:ext cx="3337560" cy="1078992"/>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Release Transition page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Production deployment and validated operation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Completed support handover</a:t>
            </a:r>
            <a:endParaRPr lang="en-US" sz="1150" dirty="0"/>
          </a:p>
        </p:txBody>
      </p:sp>
      <p:sp>
        <p:nvSpPr>
          <p:cNvPr id="12" name="Shape 10"/>
          <p:cNvSpPr/>
          <p:nvPr/>
        </p:nvSpPr>
        <p:spPr>
          <a:xfrm>
            <a:off x="4160520" y="1664208"/>
            <a:ext cx="3840480" cy="1572768"/>
          </a:xfrm>
          <a:prstGeom prst="roundRect">
            <a:avLst>
              <a:gd name="adj" fmla="val 3488"/>
            </a:avLst>
          </a:prstGeom>
          <a:solidFill>
            <a:srgbClr val="FFFFFF"/>
          </a:solidFill>
          <a:ln w="9525">
            <a:solidFill>
              <a:srgbClr val="D5D9E2"/>
            </a:solidFill>
            <a:prstDash val="solid"/>
          </a:ln>
        </p:spPr>
      </p:sp>
      <p:sp>
        <p:nvSpPr>
          <p:cNvPr id="13" name="Text 11"/>
          <p:cNvSpPr txBox="1"/>
          <p:nvPr/>
        </p:nvSpPr>
        <p:spPr>
          <a:xfrm>
            <a:off x="4297680" y="1755648"/>
            <a:ext cx="356616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CURRENT BAU</a:t>
            </a:r>
            <a:endParaRPr lang="en-US" sz="950" dirty="0"/>
          </a:p>
        </p:txBody>
      </p:sp>
      <p:sp>
        <p:nvSpPr>
          <p:cNvPr id="14" name="Text 12"/>
          <p:cNvSpPr txBox="1"/>
          <p:nvPr/>
        </p:nvSpPr>
        <p:spPr>
          <a:xfrm>
            <a:off x="4297680" y="2029968"/>
            <a:ext cx="3566160" cy="1115568"/>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1B2238"/>
                </a:solidFill>
                <a:latin typeface="Calibri" pitchFamily="34" charset="0"/>
                <a:ea typeface="Calibri" pitchFamily="34" charset="-122"/>
                <a:cs typeface="Calibri" pitchFamily="34" charset="-120"/>
              </a:rPr>
              <a:t>Accountable: Partner Onboarding Resource</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Platform Support, Delivery Mgmt, Cloud/Hosting Eng. and partner support</a:t>
            </a:r>
            <a:endParaRPr lang="en-US" sz="1150" dirty="0"/>
          </a:p>
        </p:txBody>
      </p:sp>
      <p:sp>
        <p:nvSpPr>
          <p:cNvPr id="15" name="Shape 13"/>
          <p:cNvSpPr/>
          <p:nvPr/>
        </p:nvSpPr>
        <p:spPr>
          <a:xfrm>
            <a:off x="4160520" y="3328416"/>
            <a:ext cx="3840480" cy="2340864"/>
          </a:xfrm>
          <a:prstGeom prst="roundRect">
            <a:avLst>
              <a:gd name="adj" fmla="val 2344"/>
            </a:avLst>
          </a:prstGeom>
          <a:solidFill>
            <a:srgbClr val="FBEDEC"/>
          </a:solidFill>
          <a:ln w="9525">
            <a:solidFill>
              <a:srgbClr val="B3261E"/>
            </a:solidFill>
            <a:prstDash val="solid"/>
          </a:ln>
        </p:spPr>
      </p:sp>
      <p:sp>
        <p:nvSpPr>
          <p:cNvPr id="16" name="Text 14"/>
          <p:cNvSpPr txBox="1"/>
          <p:nvPr/>
        </p:nvSpPr>
        <p:spPr>
          <a:xfrm>
            <a:off x="4297680" y="3419856"/>
            <a:ext cx="356616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WHERE IT BREAKS — IMPEDIMENTS</a:t>
            </a:r>
            <a:endParaRPr lang="en-US" sz="950" dirty="0"/>
          </a:p>
        </p:txBody>
      </p:sp>
      <p:sp>
        <p:nvSpPr>
          <p:cNvPr id="17" name="Text 15"/>
          <p:cNvSpPr txBox="1"/>
          <p:nvPr/>
        </p:nvSpPr>
        <p:spPr>
          <a:xfrm>
            <a:off x="4297680" y="3694176"/>
            <a:ext cx="3566160" cy="188366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Transition page assembled by hand; completeness matters more than length</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Production-specific failures need the builders still engaged</a:t>
            </a:r>
            <a:endParaRPr lang="en-US" sz="1200" dirty="0"/>
          </a:p>
          <a:p>
            <a:pPr marL="152400" indent="-152400">
              <a:spcAft>
                <a:spcPts val="300"/>
              </a:spcAft>
              <a:buSzPct val="100000"/>
              <a:buChar char="•"/>
            </a:pPr>
            <a:r>
              <a:rPr lang="en-US" sz="1200" dirty="0">
                <a:solidFill>
                  <a:srgbClr val="1B2238"/>
                </a:solidFill>
                <a:latin typeface="Calibri" pitchFamily="34" charset="0"/>
                <a:ea typeface="Calibri" pitchFamily="34" charset="-122"/>
                <a:cs typeface="Calibri" pitchFamily="34" charset="-120"/>
              </a:rPr>
              <a:t>Anything deployed but unknown to support becomes an incident</a:t>
            </a:r>
            <a:endParaRPr lang="en-US" sz="1200" dirty="0"/>
          </a:p>
        </p:txBody>
      </p:sp>
      <p:sp>
        <p:nvSpPr>
          <p:cNvPr id="18" name="Shape 16"/>
          <p:cNvSpPr/>
          <p:nvPr/>
        </p:nvSpPr>
        <p:spPr>
          <a:xfrm>
            <a:off x="8138160" y="1664208"/>
            <a:ext cx="3639312" cy="4005072"/>
          </a:xfrm>
          <a:prstGeom prst="roundRect">
            <a:avLst>
              <a:gd name="adj" fmla="val 1508"/>
            </a:avLst>
          </a:prstGeom>
          <a:solidFill>
            <a:srgbClr val="F1EDF9"/>
          </a:solidFill>
          <a:ln w="9525">
            <a:solidFill>
              <a:srgbClr val="5B3FA0"/>
            </a:solidFill>
            <a:prstDash val="solid"/>
          </a:ln>
        </p:spPr>
      </p:sp>
      <p:sp>
        <p:nvSpPr>
          <p:cNvPr id="19" name="Text 17"/>
          <p:cNvSpPr txBox="1"/>
          <p:nvPr/>
        </p:nvSpPr>
        <p:spPr>
          <a:xfrm>
            <a:off x="8275320" y="1755648"/>
            <a:ext cx="33649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WITH ONBOARD360AI — TARGET STATE</a:t>
            </a:r>
            <a:endParaRPr lang="en-US" sz="950" dirty="0"/>
          </a:p>
        </p:txBody>
      </p:sp>
      <p:sp>
        <p:nvSpPr>
          <p:cNvPr id="20" name="Text 18"/>
          <p:cNvSpPr txBox="1"/>
          <p:nvPr/>
        </p:nvSpPr>
        <p:spPr>
          <a:xfrm>
            <a:off x="8275320" y="2029968"/>
            <a:ext cx="3364992" cy="3547872"/>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5B3FA0"/>
                </a:solidFill>
                <a:latin typeface="Calibri" pitchFamily="34" charset="0"/>
                <a:ea typeface="Calibri" pitchFamily="34" charset="-122"/>
                <a:cs typeface="Calibri" pitchFamily="34" charset="-120"/>
              </a:rPr>
              <a:t>Release Readiness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SK-RL-01 Transition Page Generation</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SK-RL-02 Completeness Check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SK-RL-03 Support Readiness Checklist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SK-RL-04 Sign-Off Tracking</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SK-RL-05 / 06 Validation Brief, Release-Night Runbook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SK-RL-09 Handover Pack</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SK-RL-10 Post-Go-Live Validation</a:t>
            </a:r>
            <a:endParaRPr lang="en-US" sz="1150" dirty="0"/>
          </a:p>
        </p:txBody>
      </p:sp>
      <p:sp>
        <p:nvSpPr>
          <p:cNvPr id="21" name="Shape 19"/>
          <p:cNvSpPr/>
          <p:nvPr/>
        </p:nvSpPr>
        <p:spPr>
          <a:xfrm>
            <a:off x="411480" y="5742432"/>
            <a:ext cx="11365992" cy="502920"/>
          </a:xfrm>
          <a:prstGeom prst="roundRect">
            <a:avLst>
              <a:gd name="adj" fmla="val 10909"/>
            </a:avLst>
          </a:prstGeom>
          <a:solidFill>
            <a:srgbClr val="FFFFFF"/>
          </a:solidFill>
          <a:ln w="9525">
            <a:solidFill>
              <a:srgbClr val="1B2238"/>
            </a:solidFill>
            <a:prstDash val="solid"/>
          </a:ln>
        </p:spPr>
      </p:sp>
      <p:sp>
        <p:nvSpPr>
          <p:cNvPr id="22" name="Text 20"/>
          <p:cNvSpPr txBox="1"/>
          <p:nvPr/>
        </p:nvSpPr>
        <p:spPr>
          <a:xfrm>
            <a:off x="548640" y="5742432"/>
            <a:ext cx="11109960" cy="502920"/>
          </a:xfrm>
          <a:prstGeom prst="rect">
            <a:avLst/>
          </a:prstGeom>
          <a:noFill/>
          <a:ln/>
        </p:spPr>
        <p:txBody>
          <a:bodyPr wrap="square" lIns="0" tIns="0" rIns="0" bIns="0" rtlCol="0" anchor="ctr"/>
          <a:lstStyle/>
          <a:p>
            <a:pPr indent="0" marL="0">
              <a:buNone/>
            </a:pPr>
            <a:r>
              <a:rPr lang="en-US" sz="950" b="1" spc="100" kern="0" dirty="0">
                <a:solidFill>
                  <a:srgbClr val="1B2238"/>
                </a:solidFill>
                <a:latin typeface="Calibri" pitchFamily="34" charset="0"/>
                <a:ea typeface="Calibri" pitchFamily="34" charset="-122"/>
                <a:cs typeface="Calibri" pitchFamily="34" charset="-120"/>
              </a:rPr>
              <a:t>THOUGHT PROCESS  </a:t>
            </a:r>
            <a:pPr indent="0" marL="0">
              <a:buNone/>
            </a:pPr>
            <a:r>
              <a:rPr lang="en-US" sz="1100" dirty="0">
                <a:solidFill>
                  <a:srgbClr val="1B2238"/>
                </a:solidFill>
                <a:latin typeface="Calibri" pitchFamily="34" charset="0"/>
                <a:ea typeface="Calibri" pitchFamily="34" charset="-122"/>
                <a:cs typeface="Calibri" pitchFamily="34" charset="-120"/>
              </a:rPr>
              <a:t>Generate the transition page from the record and check it against each support team's needs.  </a:t>
            </a:r>
            <a:pPr indent="0" marL="0">
              <a:buNone/>
            </a:pPr>
            <a:r>
              <a:rPr lang="en-US" sz="1100" b="1" dirty="0">
                <a:solidFill>
                  <a:srgbClr val="B3261E"/>
                </a:solidFill>
                <a:latin typeface="Calibri" pitchFamily="34" charset="0"/>
                <a:ea typeface="Calibri" pitchFamily="34" charset="-122"/>
                <a:cs typeface="Calibri" pitchFamily="34" charset="-120"/>
              </a:rPr>
              <a:t>Human decision: </a:t>
            </a:r>
            <a:pPr indent="0" marL="0">
              <a:buNone/>
            </a:pPr>
            <a:r>
              <a:rPr lang="en-US" sz="1100" dirty="0">
                <a:solidFill>
                  <a:srgbClr val="1B2238"/>
                </a:solidFill>
                <a:latin typeface="Calibri" pitchFamily="34" charset="0"/>
                <a:ea typeface="Calibri" pitchFamily="34" charset="-122"/>
                <a:cs typeface="Calibri" pitchFamily="34" charset="-120"/>
              </a:rPr>
              <a:t>named sign-off holders; agent blocks without them.</a:t>
            </a:r>
            <a:endParaRPr lang="en-US" sz="1200" dirty="0"/>
          </a:p>
        </p:txBody>
      </p:sp>
      <p:sp>
        <p:nvSpPr>
          <p:cNvPr id="23" name="Shape 21"/>
          <p:cNvSpPr/>
          <p:nvPr/>
        </p:nvSpPr>
        <p:spPr>
          <a:xfrm>
            <a:off x="411480" y="6355080"/>
            <a:ext cx="1249680" cy="310896"/>
          </a:xfrm>
          <a:prstGeom prst="chevron">
            <a:avLst/>
          </a:prstGeom>
          <a:solidFill>
            <a:srgbClr val="E9EBF0"/>
          </a:solidFill>
          <a:ln w="12700">
            <a:solidFill>
              <a:srgbClr val="E9EBF0"/>
            </a:solidFill>
            <a:prstDash val="solid"/>
          </a:ln>
        </p:spPr>
      </p:sp>
      <p:sp>
        <p:nvSpPr>
          <p:cNvPr id="24" name="Text 22"/>
          <p:cNvSpPr txBox="1"/>
          <p:nvPr/>
        </p:nvSpPr>
        <p:spPr>
          <a:xfrm>
            <a:off x="5669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1 Request</a:t>
            </a:r>
            <a:endParaRPr lang="en-US" sz="800" dirty="0"/>
          </a:p>
        </p:txBody>
      </p:sp>
      <p:sp>
        <p:nvSpPr>
          <p:cNvPr id="25" name="Shape 23"/>
          <p:cNvSpPr/>
          <p:nvPr/>
        </p:nvSpPr>
        <p:spPr>
          <a:xfrm>
            <a:off x="1615440" y="6355080"/>
            <a:ext cx="1249680" cy="310896"/>
          </a:xfrm>
          <a:prstGeom prst="chevron">
            <a:avLst/>
          </a:prstGeom>
          <a:solidFill>
            <a:srgbClr val="E9EBF0"/>
          </a:solidFill>
          <a:ln w="12700">
            <a:solidFill>
              <a:srgbClr val="E9EBF0"/>
            </a:solidFill>
            <a:prstDash val="solid"/>
          </a:ln>
        </p:spPr>
      </p:sp>
      <p:sp>
        <p:nvSpPr>
          <p:cNvPr id="26" name="Text 24"/>
          <p:cNvSpPr txBox="1"/>
          <p:nvPr/>
        </p:nvSpPr>
        <p:spPr>
          <a:xfrm>
            <a:off x="17708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2 Intake Review</a:t>
            </a:r>
            <a:endParaRPr lang="en-US" sz="800" dirty="0"/>
          </a:p>
        </p:txBody>
      </p:sp>
      <p:sp>
        <p:nvSpPr>
          <p:cNvPr id="27" name="Shape 25"/>
          <p:cNvSpPr/>
          <p:nvPr/>
        </p:nvSpPr>
        <p:spPr>
          <a:xfrm>
            <a:off x="2819400" y="6355080"/>
            <a:ext cx="1249680" cy="310896"/>
          </a:xfrm>
          <a:prstGeom prst="chevron">
            <a:avLst/>
          </a:prstGeom>
          <a:solidFill>
            <a:srgbClr val="E9EBF0"/>
          </a:solidFill>
          <a:ln w="12700">
            <a:solidFill>
              <a:srgbClr val="E9EBF0"/>
            </a:solidFill>
            <a:prstDash val="solid"/>
          </a:ln>
        </p:spPr>
      </p:sp>
      <p:sp>
        <p:nvSpPr>
          <p:cNvPr id="28" name="Text 26"/>
          <p:cNvSpPr txBox="1"/>
          <p:nvPr/>
        </p:nvSpPr>
        <p:spPr>
          <a:xfrm>
            <a:off x="29748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3 LOB Priority</a:t>
            </a:r>
            <a:endParaRPr lang="en-US" sz="800" dirty="0"/>
          </a:p>
        </p:txBody>
      </p:sp>
      <p:sp>
        <p:nvSpPr>
          <p:cNvPr id="29" name="Shape 27"/>
          <p:cNvSpPr/>
          <p:nvPr/>
        </p:nvSpPr>
        <p:spPr>
          <a:xfrm>
            <a:off x="4023360" y="6355080"/>
            <a:ext cx="1249680" cy="310896"/>
          </a:xfrm>
          <a:prstGeom prst="chevron">
            <a:avLst/>
          </a:prstGeom>
          <a:solidFill>
            <a:srgbClr val="E9EBF0"/>
          </a:solidFill>
          <a:ln w="12700">
            <a:solidFill>
              <a:srgbClr val="E9EBF0"/>
            </a:solidFill>
            <a:prstDash val="solid"/>
          </a:ln>
        </p:spPr>
      </p:sp>
      <p:sp>
        <p:nvSpPr>
          <p:cNvPr id="30" name="Text 28"/>
          <p:cNvSpPr txBox="1"/>
          <p:nvPr/>
        </p:nvSpPr>
        <p:spPr>
          <a:xfrm>
            <a:off x="417880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4 Discovery &amp; Triage</a:t>
            </a:r>
            <a:endParaRPr lang="en-US" sz="800" dirty="0"/>
          </a:p>
        </p:txBody>
      </p:sp>
      <p:sp>
        <p:nvSpPr>
          <p:cNvPr id="31" name="Shape 29"/>
          <p:cNvSpPr/>
          <p:nvPr/>
        </p:nvSpPr>
        <p:spPr>
          <a:xfrm>
            <a:off x="5227320" y="6355080"/>
            <a:ext cx="1249680" cy="310896"/>
          </a:xfrm>
          <a:prstGeom prst="chevron">
            <a:avLst/>
          </a:prstGeom>
          <a:solidFill>
            <a:srgbClr val="E9EBF0"/>
          </a:solidFill>
          <a:ln w="12700">
            <a:solidFill>
              <a:srgbClr val="E9EBF0"/>
            </a:solidFill>
            <a:prstDash val="solid"/>
          </a:ln>
        </p:spPr>
      </p:sp>
      <p:sp>
        <p:nvSpPr>
          <p:cNvPr id="32" name="Text 30"/>
          <p:cNvSpPr txBox="1"/>
          <p:nvPr/>
        </p:nvSpPr>
        <p:spPr>
          <a:xfrm>
            <a:off x="538276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5 Epic Creation</a:t>
            </a:r>
            <a:endParaRPr lang="en-US" sz="800" dirty="0"/>
          </a:p>
        </p:txBody>
      </p:sp>
      <p:sp>
        <p:nvSpPr>
          <p:cNvPr id="33" name="Shape 31"/>
          <p:cNvSpPr/>
          <p:nvPr/>
        </p:nvSpPr>
        <p:spPr>
          <a:xfrm>
            <a:off x="6431280" y="6355080"/>
            <a:ext cx="1249680" cy="310896"/>
          </a:xfrm>
          <a:prstGeom prst="chevron">
            <a:avLst/>
          </a:prstGeom>
          <a:solidFill>
            <a:srgbClr val="E9EBF0"/>
          </a:solidFill>
          <a:ln w="12700">
            <a:solidFill>
              <a:srgbClr val="E9EBF0"/>
            </a:solidFill>
            <a:prstDash val="solid"/>
          </a:ln>
        </p:spPr>
      </p:sp>
      <p:sp>
        <p:nvSpPr>
          <p:cNvPr id="34" name="Text 32"/>
          <p:cNvSpPr txBox="1"/>
          <p:nvPr/>
        </p:nvSpPr>
        <p:spPr>
          <a:xfrm>
            <a:off x="658672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6 Big Room Planning</a:t>
            </a:r>
            <a:endParaRPr lang="en-US" sz="800" dirty="0"/>
          </a:p>
        </p:txBody>
      </p:sp>
      <p:sp>
        <p:nvSpPr>
          <p:cNvPr id="35" name="Shape 33"/>
          <p:cNvSpPr/>
          <p:nvPr/>
        </p:nvSpPr>
        <p:spPr>
          <a:xfrm>
            <a:off x="7635240" y="6355080"/>
            <a:ext cx="1249680" cy="310896"/>
          </a:xfrm>
          <a:prstGeom prst="chevron">
            <a:avLst/>
          </a:prstGeom>
          <a:solidFill>
            <a:srgbClr val="E9EBF0"/>
          </a:solidFill>
          <a:ln w="12700">
            <a:solidFill>
              <a:srgbClr val="E9EBF0"/>
            </a:solidFill>
            <a:prstDash val="solid"/>
          </a:ln>
        </p:spPr>
      </p:sp>
      <p:sp>
        <p:nvSpPr>
          <p:cNvPr id="36" name="Text 34"/>
          <p:cNvSpPr txBox="1"/>
          <p:nvPr/>
        </p:nvSpPr>
        <p:spPr>
          <a:xfrm>
            <a:off x="779068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7 Capacity</a:t>
            </a:r>
            <a:endParaRPr lang="en-US" sz="800" dirty="0"/>
          </a:p>
        </p:txBody>
      </p:sp>
      <p:sp>
        <p:nvSpPr>
          <p:cNvPr id="37" name="Shape 35"/>
          <p:cNvSpPr/>
          <p:nvPr/>
        </p:nvSpPr>
        <p:spPr>
          <a:xfrm>
            <a:off x="8839200" y="6355080"/>
            <a:ext cx="1249680" cy="310896"/>
          </a:xfrm>
          <a:prstGeom prst="chevron">
            <a:avLst/>
          </a:prstGeom>
          <a:solidFill>
            <a:srgbClr val="E9EBF0"/>
          </a:solidFill>
          <a:ln w="12700">
            <a:solidFill>
              <a:srgbClr val="E9EBF0"/>
            </a:solidFill>
            <a:prstDash val="solid"/>
          </a:ln>
        </p:spPr>
      </p:sp>
      <p:sp>
        <p:nvSpPr>
          <p:cNvPr id="38" name="Text 36"/>
          <p:cNvSpPr txBox="1"/>
          <p:nvPr/>
        </p:nvSpPr>
        <p:spPr>
          <a:xfrm>
            <a:off x="8994648" y="6355080"/>
            <a:ext cx="975360" cy="310896"/>
          </a:xfrm>
          <a:prstGeom prst="rect">
            <a:avLst/>
          </a:prstGeom>
          <a:noFill/>
          <a:ln/>
        </p:spPr>
        <p:txBody>
          <a:bodyPr wrap="square" lIns="0" tIns="0" rIns="0" bIns="0" rtlCol="0" anchor="ctr"/>
          <a:lstStyle/>
          <a:p>
            <a:pPr algn="ctr" indent="0" marL="0">
              <a:buNone/>
            </a:pPr>
            <a:r>
              <a:rPr lang="en-US" sz="800" dirty="0">
                <a:solidFill>
                  <a:srgbClr val="5A6275"/>
                </a:solidFill>
                <a:latin typeface="Calibri" pitchFamily="34" charset="0"/>
                <a:ea typeface="Calibri" pitchFamily="34" charset="-122"/>
                <a:cs typeface="Calibri" pitchFamily="34" charset="-120"/>
              </a:rPr>
              <a:t>8 Dev &amp; Delivery</a:t>
            </a:r>
            <a:endParaRPr lang="en-US" sz="800" dirty="0"/>
          </a:p>
        </p:txBody>
      </p:sp>
      <p:sp>
        <p:nvSpPr>
          <p:cNvPr id="39" name="Shape 37"/>
          <p:cNvSpPr/>
          <p:nvPr/>
        </p:nvSpPr>
        <p:spPr>
          <a:xfrm>
            <a:off x="10043160" y="6355080"/>
            <a:ext cx="1249680" cy="310896"/>
          </a:xfrm>
          <a:prstGeom prst="chevron">
            <a:avLst/>
          </a:prstGeom>
          <a:solidFill>
            <a:srgbClr val="2E7D4F"/>
          </a:solidFill>
          <a:ln w="12700">
            <a:solidFill>
              <a:srgbClr val="2E7D4F"/>
            </a:solidFill>
            <a:prstDash val="solid"/>
          </a:ln>
        </p:spPr>
      </p:sp>
      <p:sp>
        <p:nvSpPr>
          <p:cNvPr id="40" name="Text 38"/>
          <p:cNvSpPr txBox="1"/>
          <p:nvPr/>
        </p:nvSpPr>
        <p:spPr>
          <a:xfrm>
            <a:off x="10198608" y="6355080"/>
            <a:ext cx="975360"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9 Partner Live</a:t>
            </a:r>
            <a:endParaRPr lang="en-US" sz="8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Five failure types repeat across the lifecycle, and all are addressable by design</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Current state · Synthesis</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11365992" cy="914400"/>
        </p:xfrm>
        <a:graphic>
          <a:graphicData uri="http://schemas.openxmlformats.org/drawingml/2006/table">
            <a:tbl>
              <a:tblPr/>
              <a:tblGrid>
                <a:gridCol w="2377440"/>
                <a:gridCol w="502920"/>
                <a:gridCol w="502920"/>
                <a:gridCol w="502920"/>
                <a:gridCol w="502920"/>
                <a:gridCol w="502920"/>
                <a:gridCol w="502920"/>
                <a:gridCol w="502920"/>
                <a:gridCol w="502920"/>
                <a:gridCol w="502920"/>
                <a:gridCol w="4462272"/>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Failure type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S1</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S2</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S3</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S4</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S5</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S6</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S7</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S8</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S9</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Design response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r>
              <a:tr h="6858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Context lost at handoff</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r>
                        <a:rPr lang="en-US" sz="1150" dirty="0">
                          <a:solidFill>
                            <a:srgbClr val="5B3FA0"/>
                          </a:solidFill>
                          <a:latin typeface="Calibri" pitchFamily="34" charset="0"/>
                          <a:ea typeface="Calibri" pitchFamily="34" charset="-122"/>
                          <a:cs typeface="Calibri" pitchFamily="34" charset="-120"/>
                        </a:rPr>
                        <a:t>Onboarding record and carry-forward (SK-XC-01, 04, 07)</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Rules that fail silently</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r>
                        <a:rPr lang="en-US" sz="1150" dirty="0">
                          <a:solidFill>
                            <a:srgbClr val="5B3FA0"/>
                          </a:solidFill>
                          <a:latin typeface="Calibri" pitchFamily="34" charset="0"/>
                          <a:ea typeface="Calibri" pitchFamily="34" charset="-122"/>
                          <a:cs typeface="Calibri" pitchFamily="34" charset="-120"/>
                        </a:rPr>
                        <a:t>Encoded rules and guards (SK-XC-03, SK-FS-07, SK-TE-10, SK-TR-06)</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Invisible waiting</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r>
                        <a:rPr lang="en-US" sz="1150" dirty="0">
                          <a:solidFill>
                            <a:srgbClr val="5B3FA0"/>
                          </a:solidFill>
                          <a:latin typeface="Calibri" pitchFamily="34" charset="0"/>
                          <a:ea typeface="Calibri" pitchFamily="34" charset="-122"/>
                          <a:cs typeface="Calibri" pitchFamily="34" charset="-120"/>
                        </a:rPr>
                        <a:t>Ageing, nudges, notifications (SK-TR-08, SK-FS-12, SK-XC-06, 11)</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Decisions not prepared for</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5B3FA0"/>
                          </a:solidFill>
                          <a:latin typeface="Calibri" pitchFamily="34" charset="0"/>
                          <a:ea typeface="Calibri" pitchFamily="34" charset="-122"/>
                          <a:cs typeface="Calibri" pitchFamily="34" charset="-120"/>
                        </a:rPr>
                        <a:t>Governance liaison (SK-IN-13, SK-CN-12 to 14)</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Manual re-assembly of known facts</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2B8B3"/>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r>
                        <a:rPr lang="en-US" sz="1150" dirty="0">
                          <a:solidFill>
                            <a:srgbClr val="5B3FA0"/>
                          </a:solidFill>
                          <a:latin typeface="Calibri" pitchFamily="34" charset="0"/>
                          <a:ea typeface="Calibri" pitchFamily="34" charset="-122"/>
                          <a:cs typeface="Calibri" pitchFamily="34" charset="-120"/>
                        </a:rPr>
                        <a:t>Generation from the record (SK-PL-04, SK-RM-02, SK-RL-01)</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5" name="Shape 2"/>
          <p:cNvSpPr/>
          <p:nvPr/>
        </p:nvSpPr>
        <p:spPr>
          <a:xfrm>
            <a:off x="411480" y="5440680"/>
            <a:ext cx="274320" cy="228600"/>
          </a:xfrm>
          <a:prstGeom prst="rect">
            <a:avLst/>
          </a:prstGeom>
          <a:solidFill>
            <a:srgbClr val="B3261E"/>
          </a:solidFill>
          <a:ln w="9525">
            <a:solidFill>
              <a:srgbClr val="B3261E"/>
            </a:solidFill>
            <a:prstDash val="solid"/>
          </a:ln>
        </p:spPr>
      </p:sp>
      <p:sp>
        <p:nvSpPr>
          <p:cNvPr id="6" name="Text 3"/>
          <p:cNvSpPr txBox="1"/>
          <p:nvPr/>
        </p:nvSpPr>
        <p:spPr>
          <a:xfrm>
            <a:off x="777240" y="5440680"/>
            <a:ext cx="1463040" cy="228600"/>
          </a:xfrm>
          <a:prstGeom prst="rect">
            <a:avLst/>
          </a:prstGeom>
          <a:noFill/>
          <a:ln/>
        </p:spPr>
        <p:txBody>
          <a:bodyPr wrap="square" lIns="0" tIns="0" rIns="0" bIns="0" rtlCol="0" anchor="ctr"/>
          <a:lstStyle/>
          <a:p>
            <a:pPr indent="0" marL="0">
              <a:buNone/>
            </a:pPr>
            <a:r>
              <a:rPr lang="en-US" sz="1100" dirty="0">
                <a:solidFill>
                  <a:srgbClr val="1B2238"/>
                </a:solidFill>
                <a:latin typeface="Calibri" pitchFamily="34" charset="0"/>
                <a:ea typeface="Calibri" pitchFamily="34" charset="-122"/>
                <a:cs typeface="Calibri" pitchFamily="34" charset="-120"/>
              </a:rPr>
              <a:t>Primary issue</a:t>
            </a:r>
            <a:endParaRPr lang="en-US" sz="1100" dirty="0"/>
          </a:p>
        </p:txBody>
      </p:sp>
      <p:sp>
        <p:nvSpPr>
          <p:cNvPr id="7" name="Shape 4"/>
          <p:cNvSpPr/>
          <p:nvPr/>
        </p:nvSpPr>
        <p:spPr>
          <a:xfrm>
            <a:off x="2286000" y="5440680"/>
            <a:ext cx="274320" cy="228600"/>
          </a:xfrm>
          <a:prstGeom prst="rect">
            <a:avLst/>
          </a:prstGeom>
          <a:solidFill>
            <a:srgbClr val="F2B8B3"/>
          </a:solidFill>
          <a:ln w="9525">
            <a:solidFill>
              <a:srgbClr val="F2B8B3"/>
            </a:solidFill>
            <a:prstDash val="solid"/>
          </a:ln>
        </p:spPr>
      </p:sp>
      <p:sp>
        <p:nvSpPr>
          <p:cNvPr id="8" name="Text 5"/>
          <p:cNvSpPr txBox="1"/>
          <p:nvPr/>
        </p:nvSpPr>
        <p:spPr>
          <a:xfrm>
            <a:off x="2651760" y="5440680"/>
            <a:ext cx="1645920" cy="228600"/>
          </a:xfrm>
          <a:prstGeom prst="rect">
            <a:avLst/>
          </a:prstGeom>
          <a:noFill/>
          <a:ln/>
        </p:spPr>
        <p:txBody>
          <a:bodyPr wrap="square" lIns="0" tIns="0" rIns="0" bIns="0" rtlCol="0" anchor="ctr"/>
          <a:lstStyle/>
          <a:p>
            <a:pPr indent="0" marL="0">
              <a:buNone/>
            </a:pPr>
            <a:r>
              <a:rPr lang="en-US" sz="1100" dirty="0">
                <a:solidFill>
                  <a:srgbClr val="1B2238"/>
                </a:solidFill>
                <a:latin typeface="Calibri" pitchFamily="34" charset="0"/>
                <a:ea typeface="Calibri" pitchFamily="34" charset="-122"/>
                <a:cs typeface="Calibri" pitchFamily="34" charset="-120"/>
              </a:rPr>
              <a:t>Secondary issue</a:t>
            </a:r>
            <a:endParaRPr lang="en-US" sz="1100" dirty="0"/>
          </a:p>
        </p:txBody>
      </p:sp>
      <p:sp>
        <p:nvSpPr>
          <p:cNvPr id="9" name="Text 6"/>
          <p:cNvSpPr txBox="1"/>
          <p:nvPr/>
        </p:nvSpPr>
        <p:spPr>
          <a:xfrm>
            <a:off x="411480" y="5806440"/>
            <a:ext cx="11338560" cy="320040"/>
          </a:xfrm>
          <a:prstGeom prst="rect">
            <a:avLst/>
          </a:prstGeom>
          <a:noFill/>
          <a:ln/>
        </p:spPr>
        <p:txBody>
          <a:bodyPr wrap="square" lIns="0" tIns="0" rIns="0" bIns="0" rtlCol="0" anchor="t"/>
          <a:lstStyle/>
          <a:p>
            <a:pPr indent="0" marL="0">
              <a:buNone/>
            </a:pPr>
            <a:r>
              <a:rPr lang="en-US" sz="1100" i="1" dirty="0">
                <a:solidFill>
                  <a:srgbClr val="5A6275"/>
                </a:solidFill>
                <a:latin typeface="Calibri" pitchFamily="34" charset="0"/>
                <a:ea typeface="Calibri" pitchFamily="34" charset="-122"/>
                <a:cs typeface="Calibri" pitchFamily="34" charset="-120"/>
              </a:rPr>
              <a:t>Qualitative assessment from the current-state process analysis; to be validated by the baseline measurement.</a:t>
            </a:r>
            <a:endParaRPr lang="en-US" sz="11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One partner, two document paths, almost the entire ICMP capability surface</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Proof · Worked use case: RIA Platform (AGRIA)</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6035040" cy="914400"/>
        </p:xfrm>
        <a:graphic>
          <a:graphicData uri="http://schemas.openxmlformats.org/drawingml/2006/table">
            <a:tbl>
              <a:tblPr/>
              <a:tblGrid>
                <a:gridCol w="2011680"/>
                <a:gridCol w="4023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Attribute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r>
              <a:tr h="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Partner application</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RIA Platform (AGRIA), wealth platform for RIAs</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Business Application ID</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APM0009695</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Zone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Publicly Accessible Application (PAA)</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Integration route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ICMP API services via the Apigee gateway</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Document paths</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Two: one untrusted, one trusted</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5" name="Shape 2"/>
          <p:cNvSpPr/>
          <p:nvPr/>
        </p:nvSpPr>
        <p:spPr>
          <a:xfrm>
            <a:off x="6675120" y="1234440"/>
            <a:ext cx="5102352" cy="1783080"/>
          </a:xfrm>
          <a:prstGeom prst="roundRect">
            <a:avLst>
              <a:gd name="adj" fmla="val 4103"/>
            </a:avLst>
          </a:prstGeom>
          <a:solidFill>
            <a:srgbClr val="FBF2E4"/>
          </a:solidFill>
          <a:ln w="9525">
            <a:solidFill>
              <a:srgbClr val="B9771A"/>
            </a:solidFill>
            <a:prstDash val="solid"/>
          </a:ln>
        </p:spPr>
      </p:sp>
      <p:sp>
        <p:nvSpPr>
          <p:cNvPr id="6" name="Text 3"/>
          <p:cNvSpPr txBox="1"/>
          <p:nvPr/>
        </p:nvSpPr>
        <p:spPr>
          <a:xfrm>
            <a:off x="6858000" y="1371600"/>
            <a:ext cx="4754880" cy="1554480"/>
          </a:xfrm>
          <a:prstGeom prst="rect">
            <a:avLst/>
          </a:prstGeom>
          <a:noFill/>
          <a:ln/>
        </p:spPr>
        <p:txBody>
          <a:bodyPr wrap="square" lIns="0" tIns="0" rIns="0" bIns="0" rtlCol="0" anchor="t"/>
          <a:lstStyle/>
          <a:p>
            <a:pPr indent="0" marL="0">
              <a:buNone/>
            </a:pPr>
            <a:r>
              <a:rPr lang="en-US" sz="1100" b="1" dirty="0">
                <a:solidFill>
                  <a:srgbClr val="B9771A"/>
                </a:solidFill>
                <a:latin typeface="Calibri" pitchFamily="34" charset="0"/>
                <a:ea typeface="Calibri" pitchFamily="34" charset="-122"/>
                <a:cs typeface="Calibri" pitchFamily="34" charset="-120"/>
              </a:rPr>
              <a:t>ONE ONBOARDING, NOT TWO</a:t>
            </a:r>
            <a:endParaRPr lang="en-US" sz="1200" dirty="0"/>
          </a:p>
          <a:p>
            <a:pPr indent="0" marL="0">
              <a:buNone/>
            </a:pPr>
            <a:r>
              <a:rPr lang="en-US" sz="1400" dirty="0">
                <a:solidFill>
                  <a:srgbClr val="1B2238"/>
                </a:solidFill>
                <a:latin typeface="Calibri" pitchFamily="34" charset="0"/>
                <a:ea typeface="Calibri" pitchFamily="34" charset="-122"/>
                <a:cs typeface="Calibri" pitchFamily="34" charset="-120"/>
              </a:rPr>
              <a:t>Billing sits inside AGRIA, so one application identity needs both a trusted and an untrusted profile. Splitting it duplicates intake, security analysis and capacity conversations.</a:t>
            </a:r>
            <a:endParaRPr lang="en-US" sz="1200" dirty="0"/>
          </a:p>
        </p:txBody>
      </p:sp>
      <p:sp>
        <p:nvSpPr>
          <p:cNvPr id="7" name="Text 4"/>
          <p:cNvSpPr txBox="1"/>
          <p:nvPr/>
        </p:nvSpPr>
        <p:spPr>
          <a:xfrm>
            <a:off x="411480" y="3566160"/>
            <a:ext cx="5486400" cy="274320"/>
          </a:xfrm>
          <a:prstGeom prst="rect">
            <a:avLst/>
          </a:prstGeom>
          <a:noFill/>
          <a:ln/>
        </p:spPr>
        <p:txBody>
          <a:bodyPr wrap="square" lIns="0" tIns="0" rIns="0" bIns="0" rtlCol="0" anchor="t"/>
          <a:lstStyle/>
          <a:p>
            <a:pPr indent="0" marL="0">
              <a:buNone/>
            </a:pPr>
            <a:r>
              <a:rPr lang="en-US" sz="1150" b="1" dirty="0">
                <a:solidFill>
                  <a:srgbClr val="B3261E"/>
                </a:solidFill>
                <a:latin typeface="Calibri" pitchFamily="34" charset="0"/>
                <a:ea typeface="Calibri" pitchFamily="34" charset="-122"/>
                <a:cs typeface="Calibri" pitchFamily="34" charset="-120"/>
              </a:rPr>
              <a:t>Untrusted: FinTech agreements</a:t>
            </a:r>
            <a:endParaRPr lang="en-US" sz="1150" dirty="0"/>
          </a:p>
        </p:txBody>
      </p:sp>
      <p:sp>
        <p:nvSpPr>
          <p:cNvPr id="8" name="Shape 5"/>
          <p:cNvSpPr/>
          <p:nvPr/>
        </p:nvSpPr>
        <p:spPr>
          <a:xfrm>
            <a:off x="411480" y="3867912"/>
            <a:ext cx="1664208" cy="685800"/>
          </a:xfrm>
          <a:prstGeom prst="roundRect">
            <a:avLst>
              <a:gd name="adj" fmla="val 10667"/>
            </a:avLst>
          </a:prstGeom>
          <a:solidFill>
            <a:srgbClr val="F3F4F7"/>
          </a:solidFill>
          <a:ln w="9525">
            <a:solidFill>
              <a:srgbClr val="B3261E"/>
            </a:solidFill>
            <a:prstDash val="solid"/>
          </a:ln>
        </p:spPr>
      </p:sp>
      <p:sp>
        <p:nvSpPr>
          <p:cNvPr id="9" name="Text 6"/>
          <p:cNvSpPr txBox="1"/>
          <p:nvPr/>
        </p:nvSpPr>
        <p:spPr>
          <a:xfrm>
            <a:off x="466344" y="3867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AGRIA portal</a:t>
            </a:r>
            <a:endParaRPr lang="en-US" sz="1050" dirty="0"/>
          </a:p>
        </p:txBody>
      </p:sp>
      <p:sp>
        <p:nvSpPr>
          <p:cNvPr id="10" name="Shape 7"/>
          <p:cNvSpPr/>
          <p:nvPr/>
        </p:nvSpPr>
        <p:spPr>
          <a:xfrm>
            <a:off x="2084832" y="4206240"/>
            <a:ext cx="210312" cy="0"/>
          </a:xfrm>
          <a:prstGeom prst="line">
            <a:avLst/>
          </a:prstGeom>
          <a:noFill/>
          <a:ln w="19050">
            <a:solidFill>
              <a:srgbClr val="B3261E"/>
            </a:solidFill>
            <a:prstDash val="solid"/>
            <a:tailEnd type="triangle"/>
          </a:ln>
        </p:spPr>
      </p:sp>
      <p:sp>
        <p:nvSpPr>
          <p:cNvPr id="11" name="Shape 8"/>
          <p:cNvSpPr/>
          <p:nvPr/>
        </p:nvSpPr>
        <p:spPr>
          <a:xfrm>
            <a:off x="2313432" y="3867912"/>
            <a:ext cx="1664208" cy="685800"/>
          </a:xfrm>
          <a:prstGeom prst="roundRect">
            <a:avLst>
              <a:gd name="adj" fmla="val 10667"/>
            </a:avLst>
          </a:prstGeom>
          <a:solidFill>
            <a:srgbClr val="F3F4F7"/>
          </a:solidFill>
          <a:ln w="9525">
            <a:solidFill>
              <a:srgbClr val="B3261E"/>
            </a:solidFill>
            <a:prstDash val="solid"/>
          </a:ln>
        </p:spPr>
      </p:sp>
      <p:sp>
        <p:nvSpPr>
          <p:cNvPr id="12" name="Text 9"/>
          <p:cNvSpPr txBox="1"/>
          <p:nvPr/>
        </p:nvSpPr>
        <p:spPr>
          <a:xfrm>
            <a:off x="2368296" y="3867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DCT virus scan</a:t>
            </a:r>
            <a:endParaRPr lang="en-US" sz="1050" dirty="0"/>
          </a:p>
        </p:txBody>
      </p:sp>
      <p:sp>
        <p:nvSpPr>
          <p:cNvPr id="13" name="Shape 10"/>
          <p:cNvSpPr/>
          <p:nvPr/>
        </p:nvSpPr>
        <p:spPr>
          <a:xfrm>
            <a:off x="3986784" y="4206240"/>
            <a:ext cx="210312" cy="0"/>
          </a:xfrm>
          <a:prstGeom prst="line">
            <a:avLst/>
          </a:prstGeom>
          <a:noFill/>
          <a:ln w="19050">
            <a:solidFill>
              <a:srgbClr val="B3261E"/>
            </a:solidFill>
            <a:prstDash val="solid"/>
            <a:tailEnd type="triangle"/>
          </a:ln>
        </p:spPr>
      </p:sp>
      <p:sp>
        <p:nvSpPr>
          <p:cNvPr id="14" name="Shape 11"/>
          <p:cNvSpPr/>
          <p:nvPr/>
        </p:nvSpPr>
        <p:spPr>
          <a:xfrm>
            <a:off x="4215384" y="3867912"/>
            <a:ext cx="1664208" cy="685800"/>
          </a:xfrm>
          <a:prstGeom prst="roundRect">
            <a:avLst>
              <a:gd name="adj" fmla="val 10667"/>
            </a:avLst>
          </a:prstGeom>
          <a:solidFill>
            <a:srgbClr val="F3F4F7"/>
          </a:solidFill>
          <a:ln w="9525">
            <a:solidFill>
              <a:srgbClr val="B3261E"/>
            </a:solidFill>
            <a:prstDash val="solid"/>
          </a:ln>
        </p:spPr>
      </p:sp>
      <p:sp>
        <p:nvSpPr>
          <p:cNvPr id="15" name="Text 12"/>
          <p:cNvSpPr txBox="1"/>
          <p:nvPr/>
        </p:nvSpPr>
        <p:spPr>
          <a:xfrm>
            <a:off x="4270248" y="3867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iDocs AI classification</a:t>
            </a:r>
            <a:endParaRPr lang="en-US" sz="1050" dirty="0"/>
          </a:p>
        </p:txBody>
      </p:sp>
      <p:sp>
        <p:nvSpPr>
          <p:cNvPr id="16" name="Shape 13"/>
          <p:cNvSpPr/>
          <p:nvPr/>
        </p:nvSpPr>
        <p:spPr>
          <a:xfrm>
            <a:off x="5888736" y="4206240"/>
            <a:ext cx="210312" cy="0"/>
          </a:xfrm>
          <a:prstGeom prst="line">
            <a:avLst/>
          </a:prstGeom>
          <a:noFill/>
          <a:ln w="19050">
            <a:solidFill>
              <a:srgbClr val="B3261E"/>
            </a:solidFill>
            <a:prstDash val="solid"/>
            <a:tailEnd type="triangle"/>
          </a:ln>
        </p:spPr>
      </p:sp>
      <p:sp>
        <p:nvSpPr>
          <p:cNvPr id="17" name="Shape 14"/>
          <p:cNvSpPr/>
          <p:nvPr/>
        </p:nvSpPr>
        <p:spPr>
          <a:xfrm>
            <a:off x="6117336" y="3867912"/>
            <a:ext cx="1664208" cy="685800"/>
          </a:xfrm>
          <a:prstGeom prst="roundRect">
            <a:avLst>
              <a:gd name="adj" fmla="val 10667"/>
            </a:avLst>
          </a:prstGeom>
          <a:solidFill>
            <a:srgbClr val="F3F4F7"/>
          </a:solidFill>
          <a:ln w="9525">
            <a:solidFill>
              <a:srgbClr val="B3261E"/>
            </a:solidFill>
            <a:prstDash val="solid"/>
          </a:ln>
        </p:spPr>
      </p:sp>
      <p:sp>
        <p:nvSpPr>
          <p:cNvPr id="18" name="Text 15"/>
          <p:cNvSpPr txBox="1"/>
          <p:nvPr/>
        </p:nvSpPr>
        <p:spPr>
          <a:xfrm>
            <a:off x="6172200" y="3867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IRM HITL (if needed)</a:t>
            </a:r>
            <a:endParaRPr lang="en-US" sz="1050" dirty="0"/>
          </a:p>
        </p:txBody>
      </p:sp>
      <p:sp>
        <p:nvSpPr>
          <p:cNvPr id="19" name="Shape 16"/>
          <p:cNvSpPr/>
          <p:nvPr/>
        </p:nvSpPr>
        <p:spPr>
          <a:xfrm>
            <a:off x="7790688" y="4206240"/>
            <a:ext cx="210312" cy="0"/>
          </a:xfrm>
          <a:prstGeom prst="line">
            <a:avLst/>
          </a:prstGeom>
          <a:noFill/>
          <a:ln w="19050">
            <a:solidFill>
              <a:srgbClr val="B3261E"/>
            </a:solidFill>
            <a:prstDash val="solid"/>
            <a:tailEnd type="triangle"/>
          </a:ln>
        </p:spPr>
      </p:sp>
      <p:sp>
        <p:nvSpPr>
          <p:cNvPr id="20" name="Shape 17"/>
          <p:cNvSpPr/>
          <p:nvPr/>
        </p:nvSpPr>
        <p:spPr>
          <a:xfrm>
            <a:off x="8019288" y="3867912"/>
            <a:ext cx="1664208" cy="685800"/>
          </a:xfrm>
          <a:prstGeom prst="roundRect">
            <a:avLst>
              <a:gd name="adj" fmla="val 10667"/>
            </a:avLst>
          </a:prstGeom>
          <a:solidFill>
            <a:srgbClr val="F3F4F7"/>
          </a:solidFill>
          <a:ln w="9525">
            <a:solidFill>
              <a:srgbClr val="B3261E"/>
            </a:solidFill>
            <a:prstDash val="solid"/>
          </a:ln>
        </p:spPr>
      </p:sp>
      <p:sp>
        <p:nvSpPr>
          <p:cNvPr id="21" name="Text 18"/>
          <p:cNvSpPr txBox="1"/>
          <p:nvPr/>
        </p:nvSpPr>
        <p:spPr>
          <a:xfrm>
            <a:off x="8074152" y="3867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Apigee → ICMP</a:t>
            </a:r>
            <a:endParaRPr lang="en-US" sz="1050" dirty="0"/>
          </a:p>
        </p:txBody>
      </p:sp>
      <p:sp>
        <p:nvSpPr>
          <p:cNvPr id="22" name="Shape 19"/>
          <p:cNvSpPr/>
          <p:nvPr/>
        </p:nvSpPr>
        <p:spPr>
          <a:xfrm>
            <a:off x="9692640" y="4206240"/>
            <a:ext cx="210312" cy="0"/>
          </a:xfrm>
          <a:prstGeom prst="line">
            <a:avLst/>
          </a:prstGeom>
          <a:noFill/>
          <a:ln w="19050">
            <a:solidFill>
              <a:srgbClr val="B3261E"/>
            </a:solidFill>
            <a:prstDash val="solid"/>
            <a:tailEnd type="triangle"/>
          </a:ln>
        </p:spPr>
      </p:sp>
      <p:sp>
        <p:nvSpPr>
          <p:cNvPr id="23" name="Shape 20"/>
          <p:cNvSpPr/>
          <p:nvPr/>
        </p:nvSpPr>
        <p:spPr>
          <a:xfrm>
            <a:off x="9921240" y="3867912"/>
            <a:ext cx="1664208" cy="685800"/>
          </a:xfrm>
          <a:prstGeom prst="roundRect">
            <a:avLst>
              <a:gd name="adj" fmla="val 10667"/>
            </a:avLst>
          </a:prstGeom>
          <a:solidFill>
            <a:srgbClr val="F3F4F7"/>
          </a:solidFill>
          <a:ln w="9525">
            <a:solidFill>
              <a:srgbClr val="B3261E"/>
            </a:solidFill>
            <a:prstDash val="solid"/>
          </a:ln>
        </p:spPr>
      </p:sp>
      <p:sp>
        <p:nvSpPr>
          <p:cNvPr id="24" name="Text 21"/>
          <p:cNvSpPr txBox="1"/>
          <p:nvPr/>
        </p:nvSpPr>
        <p:spPr>
          <a:xfrm>
            <a:off x="9976104" y="3867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Kafka → reconcile</a:t>
            </a:r>
            <a:endParaRPr lang="en-US" sz="1050" dirty="0"/>
          </a:p>
        </p:txBody>
      </p:sp>
      <p:sp>
        <p:nvSpPr>
          <p:cNvPr id="25" name="Text 22"/>
          <p:cNvSpPr txBox="1"/>
          <p:nvPr/>
        </p:nvSpPr>
        <p:spPr>
          <a:xfrm>
            <a:off x="411480" y="4709160"/>
            <a:ext cx="5486400" cy="274320"/>
          </a:xfrm>
          <a:prstGeom prst="rect">
            <a:avLst/>
          </a:prstGeom>
          <a:noFill/>
          <a:ln/>
        </p:spPr>
        <p:txBody>
          <a:bodyPr wrap="square" lIns="0" tIns="0" rIns="0" bIns="0" rtlCol="0" anchor="t"/>
          <a:lstStyle/>
          <a:p>
            <a:pPr indent="0" marL="0">
              <a:buNone/>
            </a:pPr>
            <a:r>
              <a:rPr lang="en-US" sz="1150" b="1" dirty="0">
                <a:solidFill>
                  <a:srgbClr val="2E7D4F"/>
                </a:solidFill>
                <a:latin typeface="Calibri" pitchFamily="34" charset="0"/>
                <a:ea typeface="Calibri" pitchFamily="34" charset="-122"/>
                <a:cs typeface="Calibri" pitchFamily="34" charset="-120"/>
              </a:rPr>
              <a:t>Trusted: billing records</a:t>
            </a:r>
            <a:endParaRPr lang="en-US" sz="1150" dirty="0"/>
          </a:p>
        </p:txBody>
      </p:sp>
      <p:sp>
        <p:nvSpPr>
          <p:cNvPr id="26" name="Shape 23"/>
          <p:cNvSpPr/>
          <p:nvPr/>
        </p:nvSpPr>
        <p:spPr>
          <a:xfrm>
            <a:off x="411480" y="5010912"/>
            <a:ext cx="1664208" cy="685800"/>
          </a:xfrm>
          <a:prstGeom prst="roundRect">
            <a:avLst>
              <a:gd name="adj" fmla="val 10667"/>
            </a:avLst>
          </a:prstGeom>
          <a:solidFill>
            <a:srgbClr val="F3F4F7"/>
          </a:solidFill>
          <a:ln w="9525">
            <a:solidFill>
              <a:srgbClr val="2E7D4F"/>
            </a:solidFill>
            <a:prstDash val="solid"/>
          </a:ln>
        </p:spPr>
      </p:sp>
      <p:sp>
        <p:nvSpPr>
          <p:cNvPr id="27" name="Text 24"/>
          <p:cNvSpPr txBox="1"/>
          <p:nvPr/>
        </p:nvSpPr>
        <p:spPr>
          <a:xfrm>
            <a:off x="466344" y="5010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Billing application</a:t>
            </a:r>
            <a:endParaRPr lang="en-US" sz="1050" dirty="0"/>
          </a:p>
        </p:txBody>
      </p:sp>
      <p:sp>
        <p:nvSpPr>
          <p:cNvPr id="28" name="Shape 25"/>
          <p:cNvSpPr/>
          <p:nvPr/>
        </p:nvSpPr>
        <p:spPr>
          <a:xfrm>
            <a:off x="2084832" y="5349240"/>
            <a:ext cx="210312" cy="0"/>
          </a:xfrm>
          <a:prstGeom prst="line">
            <a:avLst/>
          </a:prstGeom>
          <a:noFill/>
          <a:ln w="19050">
            <a:solidFill>
              <a:srgbClr val="2E7D4F"/>
            </a:solidFill>
            <a:prstDash val="solid"/>
            <a:tailEnd type="triangle"/>
          </a:ln>
        </p:spPr>
      </p:sp>
      <p:sp>
        <p:nvSpPr>
          <p:cNvPr id="29" name="Shape 26"/>
          <p:cNvSpPr/>
          <p:nvPr/>
        </p:nvSpPr>
        <p:spPr>
          <a:xfrm>
            <a:off x="2313432" y="5010912"/>
            <a:ext cx="1664208" cy="685800"/>
          </a:xfrm>
          <a:prstGeom prst="roundRect">
            <a:avLst>
              <a:gd name="adj" fmla="val 10667"/>
            </a:avLst>
          </a:prstGeom>
          <a:solidFill>
            <a:srgbClr val="F3F4F7"/>
          </a:solidFill>
          <a:ln w="9525">
            <a:solidFill>
              <a:srgbClr val="2E7D4F"/>
            </a:solidFill>
            <a:prstDash val="solid"/>
          </a:ln>
        </p:spPr>
      </p:sp>
      <p:sp>
        <p:nvSpPr>
          <p:cNvPr id="30" name="Text 27"/>
          <p:cNvSpPr txBox="1"/>
          <p:nvPr/>
        </p:nvSpPr>
        <p:spPr>
          <a:xfrm>
            <a:off x="2368296" y="5010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AGRIA</a:t>
            </a:r>
            <a:endParaRPr lang="en-US" sz="1050" dirty="0"/>
          </a:p>
        </p:txBody>
      </p:sp>
      <p:sp>
        <p:nvSpPr>
          <p:cNvPr id="31" name="Shape 28"/>
          <p:cNvSpPr/>
          <p:nvPr/>
        </p:nvSpPr>
        <p:spPr>
          <a:xfrm>
            <a:off x="3986784" y="5349240"/>
            <a:ext cx="210312" cy="0"/>
          </a:xfrm>
          <a:prstGeom prst="line">
            <a:avLst/>
          </a:prstGeom>
          <a:noFill/>
          <a:ln w="19050">
            <a:solidFill>
              <a:srgbClr val="2E7D4F"/>
            </a:solidFill>
            <a:prstDash val="solid"/>
            <a:tailEnd type="triangle"/>
          </a:ln>
        </p:spPr>
      </p:sp>
      <p:sp>
        <p:nvSpPr>
          <p:cNvPr id="32" name="Shape 29"/>
          <p:cNvSpPr/>
          <p:nvPr/>
        </p:nvSpPr>
        <p:spPr>
          <a:xfrm>
            <a:off x="4215384" y="5010912"/>
            <a:ext cx="1664208" cy="685800"/>
          </a:xfrm>
          <a:prstGeom prst="roundRect">
            <a:avLst>
              <a:gd name="adj" fmla="val 10667"/>
            </a:avLst>
          </a:prstGeom>
          <a:solidFill>
            <a:srgbClr val="F3F4F7"/>
          </a:solidFill>
          <a:ln w="9525">
            <a:solidFill>
              <a:srgbClr val="2E7D4F"/>
            </a:solidFill>
            <a:prstDash val="solid"/>
          </a:ln>
        </p:spPr>
      </p:sp>
      <p:sp>
        <p:nvSpPr>
          <p:cNvPr id="33" name="Text 30"/>
          <p:cNvSpPr txBox="1"/>
          <p:nvPr/>
        </p:nvSpPr>
        <p:spPr>
          <a:xfrm>
            <a:off x="4270248" y="5010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Event-based ingestion</a:t>
            </a:r>
            <a:endParaRPr lang="en-US" sz="1050" dirty="0"/>
          </a:p>
        </p:txBody>
      </p:sp>
      <p:sp>
        <p:nvSpPr>
          <p:cNvPr id="34" name="Shape 31"/>
          <p:cNvSpPr/>
          <p:nvPr/>
        </p:nvSpPr>
        <p:spPr>
          <a:xfrm>
            <a:off x="5888736" y="5349240"/>
            <a:ext cx="210312" cy="0"/>
          </a:xfrm>
          <a:prstGeom prst="line">
            <a:avLst/>
          </a:prstGeom>
          <a:noFill/>
          <a:ln w="19050">
            <a:solidFill>
              <a:srgbClr val="2E7D4F"/>
            </a:solidFill>
            <a:prstDash val="solid"/>
            <a:tailEnd type="triangle"/>
          </a:ln>
        </p:spPr>
      </p:sp>
      <p:sp>
        <p:nvSpPr>
          <p:cNvPr id="35" name="Shape 32"/>
          <p:cNvSpPr/>
          <p:nvPr/>
        </p:nvSpPr>
        <p:spPr>
          <a:xfrm>
            <a:off x="6117336" y="5010912"/>
            <a:ext cx="1664208" cy="685800"/>
          </a:xfrm>
          <a:prstGeom prst="roundRect">
            <a:avLst>
              <a:gd name="adj" fmla="val 10667"/>
            </a:avLst>
          </a:prstGeom>
          <a:solidFill>
            <a:srgbClr val="F3F4F7"/>
          </a:solidFill>
          <a:ln w="9525">
            <a:solidFill>
              <a:srgbClr val="2E7D4F"/>
            </a:solidFill>
            <a:prstDash val="solid"/>
          </a:ln>
        </p:spPr>
      </p:sp>
      <p:sp>
        <p:nvSpPr>
          <p:cNvPr id="36" name="Text 33"/>
          <p:cNvSpPr txBox="1"/>
          <p:nvPr/>
        </p:nvSpPr>
        <p:spPr>
          <a:xfrm>
            <a:off x="6172200" y="5010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Regulated ICMP (10-yr, WORM)</a:t>
            </a:r>
            <a:endParaRPr lang="en-US" sz="1050" dirty="0"/>
          </a:p>
        </p:txBody>
      </p:sp>
      <p:sp>
        <p:nvSpPr>
          <p:cNvPr id="37" name="Shape 34"/>
          <p:cNvSpPr/>
          <p:nvPr/>
        </p:nvSpPr>
        <p:spPr>
          <a:xfrm>
            <a:off x="7790688" y="5349240"/>
            <a:ext cx="210312" cy="0"/>
          </a:xfrm>
          <a:prstGeom prst="line">
            <a:avLst/>
          </a:prstGeom>
          <a:noFill/>
          <a:ln w="19050">
            <a:solidFill>
              <a:srgbClr val="2E7D4F"/>
            </a:solidFill>
            <a:prstDash val="solid"/>
            <a:tailEnd type="triangle"/>
          </a:ln>
        </p:spPr>
      </p:sp>
      <p:sp>
        <p:nvSpPr>
          <p:cNvPr id="38" name="Shape 35"/>
          <p:cNvSpPr/>
          <p:nvPr/>
        </p:nvSpPr>
        <p:spPr>
          <a:xfrm>
            <a:off x="8019288" y="5010912"/>
            <a:ext cx="1664208" cy="685800"/>
          </a:xfrm>
          <a:prstGeom prst="roundRect">
            <a:avLst>
              <a:gd name="adj" fmla="val 10667"/>
            </a:avLst>
          </a:prstGeom>
          <a:solidFill>
            <a:srgbClr val="F3F4F7"/>
          </a:solidFill>
          <a:ln w="9525">
            <a:solidFill>
              <a:srgbClr val="2E7D4F"/>
            </a:solidFill>
            <a:prstDash val="solid"/>
          </a:ln>
        </p:spPr>
      </p:sp>
      <p:sp>
        <p:nvSpPr>
          <p:cNvPr id="39" name="Text 36"/>
          <p:cNvSpPr txBox="1"/>
          <p:nvPr/>
        </p:nvSpPr>
        <p:spPr>
          <a:xfrm>
            <a:off x="8074152" y="5010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Search &amp; view APIs</a:t>
            </a:r>
            <a:endParaRPr lang="en-US" sz="1050" dirty="0"/>
          </a:p>
        </p:txBody>
      </p:sp>
      <p:sp>
        <p:nvSpPr>
          <p:cNvPr id="40" name="Shape 37"/>
          <p:cNvSpPr/>
          <p:nvPr/>
        </p:nvSpPr>
        <p:spPr>
          <a:xfrm>
            <a:off x="9692640" y="5349240"/>
            <a:ext cx="210312" cy="0"/>
          </a:xfrm>
          <a:prstGeom prst="line">
            <a:avLst/>
          </a:prstGeom>
          <a:noFill/>
          <a:ln w="19050">
            <a:solidFill>
              <a:srgbClr val="2E7D4F"/>
            </a:solidFill>
            <a:prstDash val="solid"/>
            <a:tailEnd type="triangle"/>
          </a:ln>
        </p:spPr>
      </p:sp>
      <p:sp>
        <p:nvSpPr>
          <p:cNvPr id="41" name="Shape 38"/>
          <p:cNvSpPr/>
          <p:nvPr/>
        </p:nvSpPr>
        <p:spPr>
          <a:xfrm>
            <a:off x="9921240" y="5010912"/>
            <a:ext cx="1664208" cy="685800"/>
          </a:xfrm>
          <a:prstGeom prst="roundRect">
            <a:avLst>
              <a:gd name="adj" fmla="val 10667"/>
            </a:avLst>
          </a:prstGeom>
          <a:solidFill>
            <a:srgbClr val="F3F4F7"/>
          </a:solidFill>
          <a:ln w="9525">
            <a:solidFill>
              <a:srgbClr val="2E7D4F"/>
            </a:solidFill>
            <a:prstDash val="solid"/>
          </a:ln>
        </p:spPr>
      </p:sp>
      <p:sp>
        <p:nvSpPr>
          <p:cNvPr id="42" name="Text 39"/>
          <p:cNvSpPr txBox="1"/>
          <p:nvPr/>
        </p:nvSpPr>
        <p:spPr>
          <a:xfrm>
            <a:off x="9976104" y="5010912"/>
            <a:ext cx="1554480" cy="685800"/>
          </a:xfrm>
          <a:prstGeom prst="rect">
            <a:avLst/>
          </a:prstGeom>
          <a:noFill/>
          <a:ln/>
        </p:spPr>
        <p:txBody>
          <a:bodyPr wrap="square" lIns="0" tIns="0" rIns="0" bIns="0" rtlCol="0" anchor="ctr"/>
          <a:lstStyle/>
          <a:p>
            <a:pPr algn="ctr" indent="0" marL="0">
              <a:buNone/>
            </a:pPr>
            <a:r>
              <a:rPr lang="en-US" sz="1050" b="1" dirty="0">
                <a:solidFill>
                  <a:srgbClr val="1B2238"/>
                </a:solidFill>
                <a:latin typeface="Calibri" pitchFamily="34" charset="0"/>
                <a:ea typeface="Calibri" pitchFamily="34" charset="-122"/>
                <a:cs typeface="Calibri" pitchFamily="34" charset="-120"/>
              </a:rPr>
              <a:t>AGRIA, internal, audit users</a:t>
            </a:r>
            <a:endParaRPr lang="en-US" sz="1050" dirty="0"/>
          </a:p>
        </p:txBody>
      </p:sp>
      <p:sp>
        <p:nvSpPr>
          <p:cNvPr id="43" name="Text 40"/>
          <p:cNvSpPr txBox="1"/>
          <p:nvPr/>
        </p:nvSpPr>
        <p:spPr>
          <a:xfrm>
            <a:off x="411480" y="5897880"/>
            <a:ext cx="11338560" cy="411480"/>
          </a:xfrm>
          <a:prstGeom prst="rect">
            <a:avLst/>
          </a:prstGeom>
          <a:noFill/>
          <a:ln/>
        </p:spPr>
        <p:txBody>
          <a:bodyPr wrap="square" lIns="0" tIns="0" rIns="0" bIns="0" rtlCol="0" anchor="t"/>
          <a:lstStyle/>
          <a:p>
            <a:pPr indent="0" marL="0">
              <a:buNone/>
            </a:pPr>
            <a:r>
              <a:rPr lang="en-US" sz="1150" i="1" dirty="0">
                <a:solidFill>
                  <a:srgbClr val="5A6275"/>
                </a:solidFill>
                <a:latin typeface="Calibri" pitchFamily="34" charset="0"/>
                <a:ea typeface="Calibri" pitchFamily="34" charset="-122"/>
                <a:cs typeface="Calibri" pitchFamily="34" charset="-120"/>
              </a:rPr>
              <a:t>Outcomes: end manual email-based archival · meet regulatory retention · automated reconciliation · audit, legal hold and RM support · a reusable pattern for future partners</a:t>
            </a:r>
            <a:endParaRPr lang="en-US" sz="11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The work is highly structured but not automated; genuine decisions are few</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Proof · What AGRIA demonstrates</a:t>
            </a:r>
            <a:endParaRPr lang="en-US" sz="1000" dirty="0"/>
          </a:p>
        </p:txBody>
      </p:sp>
      <p:sp>
        <p:nvSpPr>
          <p:cNvPr id="4" name="Shape 2"/>
          <p:cNvSpPr/>
          <p:nvPr/>
        </p:nvSpPr>
        <p:spPr>
          <a:xfrm>
            <a:off x="411480" y="1234440"/>
            <a:ext cx="3639312" cy="2606040"/>
          </a:xfrm>
          <a:prstGeom prst="roundRect">
            <a:avLst>
              <a:gd name="adj" fmla="val 2807"/>
            </a:avLst>
          </a:prstGeom>
          <a:solidFill>
            <a:srgbClr val="F3F4F7"/>
          </a:solidFill>
          <a:ln w="9525">
            <a:solidFill>
              <a:srgbClr val="F3F4F7"/>
            </a:solidFill>
            <a:prstDash val="solid"/>
          </a:ln>
        </p:spPr>
      </p:sp>
      <p:sp>
        <p:nvSpPr>
          <p:cNvPr id="5" name="Shape 3"/>
          <p:cNvSpPr/>
          <p:nvPr/>
        </p:nvSpPr>
        <p:spPr>
          <a:xfrm>
            <a:off x="640080" y="1417320"/>
            <a:ext cx="502920" cy="502920"/>
          </a:xfrm>
          <a:prstGeom prst="ellipse">
            <a:avLst/>
          </a:prstGeom>
          <a:solidFill>
            <a:srgbClr val="5B3FA0"/>
          </a:solidFill>
          <a:ln w="12700">
            <a:solidFill>
              <a:srgbClr val="5B3FA0"/>
            </a:solidFill>
            <a:prstDash val="solid"/>
          </a:ln>
        </p:spPr>
      </p:sp>
      <p:sp>
        <p:nvSpPr>
          <p:cNvPr id="6" name="Text 4"/>
          <p:cNvSpPr txBox="1"/>
          <p:nvPr/>
        </p:nvSpPr>
        <p:spPr>
          <a:xfrm>
            <a:off x="640080" y="141732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7" name="Text 5"/>
          <p:cNvSpPr txBox="1"/>
          <p:nvPr/>
        </p:nvSpPr>
        <p:spPr>
          <a:xfrm>
            <a:off x="640080" y="2011680"/>
            <a:ext cx="3200400" cy="4572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Structured, not automated</a:t>
            </a:r>
            <a:endParaRPr lang="en-US" sz="1700" dirty="0"/>
          </a:p>
        </p:txBody>
      </p:sp>
      <p:sp>
        <p:nvSpPr>
          <p:cNvPr id="8" name="Text 6"/>
          <p:cNvSpPr txBox="1"/>
          <p:nvPr/>
        </p:nvSpPr>
        <p:spPr>
          <a:xfrm>
            <a:off x="640080" y="2514600"/>
            <a:ext cx="3200400" cy="128016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Almost every activity follows a rule that is known and written down, applied by people from memory, one onboarding at a time.</a:t>
            </a:r>
            <a:endParaRPr lang="en-US" sz="1250" dirty="0"/>
          </a:p>
        </p:txBody>
      </p:sp>
      <p:sp>
        <p:nvSpPr>
          <p:cNvPr id="9" name="Shape 7"/>
          <p:cNvSpPr/>
          <p:nvPr/>
        </p:nvSpPr>
        <p:spPr>
          <a:xfrm>
            <a:off x="4233672" y="1234440"/>
            <a:ext cx="3639312" cy="2606040"/>
          </a:xfrm>
          <a:prstGeom prst="roundRect">
            <a:avLst>
              <a:gd name="adj" fmla="val 2807"/>
            </a:avLst>
          </a:prstGeom>
          <a:solidFill>
            <a:srgbClr val="F3F4F7"/>
          </a:solidFill>
          <a:ln w="9525">
            <a:solidFill>
              <a:srgbClr val="F3F4F7"/>
            </a:solidFill>
            <a:prstDash val="solid"/>
          </a:ln>
        </p:spPr>
      </p:sp>
      <p:sp>
        <p:nvSpPr>
          <p:cNvPr id="10" name="Shape 8"/>
          <p:cNvSpPr/>
          <p:nvPr/>
        </p:nvSpPr>
        <p:spPr>
          <a:xfrm>
            <a:off x="4462272" y="1417320"/>
            <a:ext cx="502920" cy="502920"/>
          </a:xfrm>
          <a:prstGeom prst="ellipse">
            <a:avLst/>
          </a:prstGeom>
          <a:solidFill>
            <a:srgbClr val="5B3FA0"/>
          </a:solidFill>
          <a:ln w="12700">
            <a:solidFill>
              <a:srgbClr val="5B3FA0"/>
            </a:solidFill>
            <a:prstDash val="solid"/>
          </a:ln>
        </p:spPr>
      </p:sp>
      <p:sp>
        <p:nvSpPr>
          <p:cNvPr id="11" name="Text 9"/>
          <p:cNvSpPr txBox="1"/>
          <p:nvPr/>
        </p:nvSpPr>
        <p:spPr>
          <a:xfrm>
            <a:off x="4462272" y="141732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12" name="Text 10"/>
          <p:cNvSpPr txBox="1"/>
          <p:nvPr/>
        </p:nvSpPr>
        <p:spPr>
          <a:xfrm>
            <a:off x="4462272" y="2011680"/>
            <a:ext cx="3200400" cy="4572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A few genuine decisions</a:t>
            </a:r>
            <a:endParaRPr lang="en-US" sz="1700" dirty="0"/>
          </a:p>
        </p:txBody>
      </p:sp>
      <p:sp>
        <p:nvSpPr>
          <p:cNvPr id="13" name="Text 11"/>
          <p:cNvSpPr txBox="1"/>
          <p:nvPr/>
        </p:nvSpPr>
        <p:spPr>
          <a:xfrm>
            <a:off x="4462272" y="2514600"/>
            <a:ext cx="3200400" cy="128016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The Imaging Governance determination needs a team to view documents and decide. The procedure around it can still be prepared, tracked and carried forward.</a:t>
            </a:r>
            <a:endParaRPr lang="en-US" sz="1250" dirty="0"/>
          </a:p>
        </p:txBody>
      </p:sp>
      <p:sp>
        <p:nvSpPr>
          <p:cNvPr id="14" name="Shape 12"/>
          <p:cNvSpPr/>
          <p:nvPr/>
        </p:nvSpPr>
        <p:spPr>
          <a:xfrm>
            <a:off x="8055864" y="1234440"/>
            <a:ext cx="3639312" cy="2606040"/>
          </a:xfrm>
          <a:prstGeom prst="roundRect">
            <a:avLst>
              <a:gd name="adj" fmla="val 2807"/>
            </a:avLst>
          </a:prstGeom>
          <a:solidFill>
            <a:srgbClr val="F3F4F7"/>
          </a:solidFill>
          <a:ln w="9525">
            <a:solidFill>
              <a:srgbClr val="F3F4F7"/>
            </a:solidFill>
            <a:prstDash val="solid"/>
          </a:ln>
        </p:spPr>
      </p:sp>
      <p:sp>
        <p:nvSpPr>
          <p:cNvPr id="15" name="Shape 13"/>
          <p:cNvSpPr/>
          <p:nvPr/>
        </p:nvSpPr>
        <p:spPr>
          <a:xfrm>
            <a:off x="8284464" y="1417320"/>
            <a:ext cx="502920" cy="502920"/>
          </a:xfrm>
          <a:prstGeom prst="ellipse">
            <a:avLst/>
          </a:prstGeom>
          <a:solidFill>
            <a:srgbClr val="5B3FA0"/>
          </a:solidFill>
          <a:ln w="12700">
            <a:solidFill>
              <a:srgbClr val="5B3FA0"/>
            </a:solidFill>
            <a:prstDash val="solid"/>
          </a:ln>
        </p:spPr>
      </p:sp>
      <p:sp>
        <p:nvSpPr>
          <p:cNvPr id="16" name="Text 14"/>
          <p:cNvSpPr txBox="1"/>
          <p:nvPr/>
        </p:nvSpPr>
        <p:spPr>
          <a:xfrm>
            <a:off x="8284464" y="141732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17" name="Text 15"/>
          <p:cNvSpPr txBox="1"/>
          <p:nvPr/>
        </p:nvSpPr>
        <p:spPr>
          <a:xfrm>
            <a:off x="8284464" y="2011680"/>
            <a:ext cx="3200400" cy="457200"/>
          </a:xfrm>
          <a:prstGeom prst="rect">
            <a:avLst/>
          </a:prstGeom>
          <a:noFill/>
          <a:ln/>
        </p:spPr>
        <p:txBody>
          <a:bodyPr wrap="square" lIns="0" tIns="0" rIns="0" bIns="0" rtlCol="0" anchor="t"/>
          <a:lstStyle/>
          <a:p>
            <a:pPr indent="0" marL="0">
              <a:buNone/>
            </a:pPr>
            <a:r>
              <a:rPr lang="en-US" sz="1700" b="1" dirty="0">
                <a:solidFill>
                  <a:srgbClr val="1B2238"/>
                </a:solidFill>
                <a:latin typeface="Cambria" pitchFamily="34" charset="0"/>
                <a:ea typeface="Cambria" pitchFamily="34" charset="-122"/>
                <a:cs typeface="Cambria" pitchFamily="34" charset="-120"/>
              </a:rPr>
              <a:t>Variable content, fixed shape</a:t>
            </a:r>
            <a:endParaRPr lang="en-US" sz="1700" dirty="0"/>
          </a:p>
        </p:txBody>
      </p:sp>
      <p:sp>
        <p:nvSpPr>
          <p:cNvPr id="18" name="Text 16"/>
          <p:cNvSpPr txBox="1"/>
          <p:nvPr/>
        </p:nvSpPr>
        <p:spPr>
          <a:xfrm>
            <a:off x="8284464" y="2514600"/>
            <a:ext cx="3200400" cy="1280160"/>
          </a:xfrm>
          <a:prstGeom prst="rect">
            <a:avLst/>
          </a:prstGeom>
          <a:noFill/>
          <a:ln/>
        </p:spPr>
        <p:txBody>
          <a:bodyPr wrap="square" lIns="0" tIns="0" rIns="0" bIns="0" rtlCol="0" anchor="t"/>
          <a:lstStyle/>
          <a:p>
            <a:pPr indent="0" marL="0">
              <a:buNone/>
            </a:pPr>
            <a:r>
              <a:rPr lang="en-US" sz="1250" dirty="0">
                <a:solidFill>
                  <a:srgbClr val="5A6275"/>
                </a:solidFill>
                <a:latin typeface="Calibri" pitchFamily="34" charset="0"/>
                <a:ea typeface="Calibri" pitchFamily="34" charset="-122"/>
                <a:cs typeface="Calibri" pitchFamily="34" charset="-120"/>
              </a:rPr>
              <a:t>The next partner differs in document types, volumes, retention codes and objectives, not in stages, workstreams, artifacts or routing.</a:t>
            </a:r>
            <a:endParaRPr lang="en-US" sz="1250" dirty="0"/>
          </a:p>
        </p:txBody>
      </p:sp>
      <p:sp>
        <p:nvSpPr>
          <p:cNvPr id="19" name="Shape 17"/>
          <p:cNvSpPr/>
          <p:nvPr/>
        </p:nvSpPr>
        <p:spPr>
          <a:xfrm>
            <a:off x="411480" y="4069080"/>
            <a:ext cx="5577840" cy="2148840"/>
          </a:xfrm>
          <a:prstGeom prst="roundRect">
            <a:avLst>
              <a:gd name="adj" fmla="val 2553"/>
            </a:avLst>
          </a:prstGeom>
          <a:solidFill>
            <a:srgbClr val="FFFFFF"/>
          </a:solidFill>
          <a:ln w="9525">
            <a:solidFill>
              <a:srgbClr val="D5D9E2"/>
            </a:solidFill>
            <a:prstDash val="solid"/>
          </a:ln>
        </p:spPr>
      </p:sp>
      <p:sp>
        <p:nvSpPr>
          <p:cNvPr id="20" name="Text 18"/>
          <p:cNvSpPr txBox="1"/>
          <p:nvPr/>
        </p:nvSpPr>
        <p:spPr>
          <a:xfrm>
            <a:off x="548640" y="4160520"/>
            <a:ext cx="5303520" cy="228600"/>
          </a:xfrm>
          <a:prstGeom prst="rect">
            <a:avLst/>
          </a:prstGeom>
          <a:noFill/>
          <a:ln/>
        </p:spPr>
        <p:txBody>
          <a:bodyPr wrap="square" lIns="0" tIns="0" rIns="0" bIns="0" rtlCol="0" anchor="t"/>
          <a:lstStyle/>
          <a:p>
            <a:pPr indent="0" marL="0">
              <a:buNone/>
            </a:pPr>
            <a:r>
              <a:rPr lang="en-US" sz="950" b="1" spc="100" kern="0" dirty="0">
                <a:solidFill>
                  <a:srgbClr val="2E7D4F"/>
                </a:solidFill>
                <a:latin typeface="Calibri" pitchFamily="34" charset="0"/>
                <a:ea typeface="Calibri" pitchFamily="34" charset="-122"/>
                <a:cs typeface="Calibri" pitchFamily="34" charset="-120"/>
              </a:rPr>
              <a:t>RULES THAT CAN BE WRITTEN DOWN</a:t>
            </a:r>
            <a:endParaRPr lang="en-US" sz="950" dirty="0"/>
          </a:p>
        </p:txBody>
      </p:sp>
      <p:sp>
        <p:nvSpPr>
          <p:cNvPr id="21" name="Text 19"/>
          <p:cNvSpPr txBox="1"/>
          <p:nvPr/>
        </p:nvSpPr>
        <p:spPr>
          <a:xfrm>
            <a:off x="548640" y="4434840"/>
            <a:ext cx="5303520" cy="1691640"/>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Which access route applies to which request type</a:t>
            </a:r>
            <a:endParaRPr lang="en-US" sz="1250" dirty="0"/>
          </a:p>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Which project a ticket belongs to</a:t>
            </a:r>
            <a:endParaRPr lang="en-US" sz="1250" dirty="0"/>
          </a:p>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Which profile a document path requires</a:t>
            </a:r>
            <a:endParaRPr lang="en-US" sz="1250" dirty="0"/>
          </a:p>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Whether load testing is warranted at a given volume</a:t>
            </a:r>
            <a:endParaRPr lang="en-US" sz="1250" dirty="0"/>
          </a:p>
        </p:txBody>
      </p:sp>
      <p:sp>
        <p:nvSpPr>
          <p:cNvPr id="22" name="Shape 20"/>
          <p:cNvSpPr/>
          <p:nvPr/>
        </p:nvSpPr>
        <p:spPr>
          <a:xfrm>
            <a:off x="6199632" y="4069080"/>
            <a:ext cx="5577840" cy="2148840"/>
          </a:xfrm>
          <a:prstGeom prst="roundRect">
            <a:avLst>
              <a:gd name="adj" fmla="val 2553"/>
            </a:avLst>
          </a:prstGeom>
          <a:solidFill>
            <a:srgbClr val="FBEDEC"/>
          </a:solidFill>
          <a:ln w="9525">
            <a:solidFill>
              <a:srgbClr val="B3261E"/>
            </a:solidFill>
            <a:prstDash val="solid"/>
          </a:ln>
        </p:spPr>
      </p:sp>
      <p:sp>
        <p:nvSpPr>
          <p:cNvPr id="23" name="Text 21"/>
          <p:cNvSpPr txBox="1"/>
          <p:nvPr/>
        </p:nvSpPr>
        <p:spPr>
          <a:xfrm>
            <a:off x="6336792" y="4160520"/>
            <a:ext cx="5303520" cy="228600"/>
          </a:xfrm>
          <a:prstGeom prst="rect">
            <a:avLst/>
          </a:prstGeom>
          <a:noFill/>
          <a:ln/>
        </p:spPr>
        <p:txBody>
          <a:bodyPr wrap="square" lIns="0" tIns="0" rIns="0" bIns="0" rtlCol="0" anchor="t"/>
          <a:lstStyle/>
          <a:p>
            <a:pPr indent="0" marL="0">
              <a:buNone/>
            </a:pPr>
            <a:r>
              <a:rPr lang="en-US" sz="950" b="1" spc="100" kern="0" dirty="0">
                <a:solidFill>
                  <a:srgbClr val="B3261E"/>
                </a:solidFill>
                <a:latin typeface="Calibri" pitchFamily="34" charset="0"/>
                <a:ea typeface="Calibri" pitchFamily="34" charset="-122"/>
                <a:cs typeface="Calibri" pitchFamily="34" charset="-120"/>
              </a:rPr>
              <a:t>GENUINE DECISIONS — STAY HUMAN</a:t>
            </a:r>
            <a:endParaRPr lang="en-US" sz="950" dirty="0"/>
          </a:p>
        </p:txBody>
      </p:sp>
      <p:sp>
        <p:nvSpPr>
          <p:cNvPr id="24" name="Text 22"/>
          <p:cNvSpPr txBox="1"/>
          <p:nvPr/>
        </p:nvSpPr>
        <p:spPr>
          <a:xfrm>
            <a:off x="6336792" y="4434840"/>
            <a:ext cx="5303520" cy="1691640"/>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Trusted vs untrusted; category, type and subtype</a:t>
            </a:r>
            <a:endParaRPr lang="en-US" sz="1250" dirty="0"/>
          </a:p>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Retention position</a:t>
            </a:r>
            <a:endParaRPr lang="en-US" sz="1250" dirty="0"/>
          </a:p>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Capacity commitment</a:t>
            </a:r>
            <a:endParaRPr lang="en-US" sz="1250" dirty="0"/>
          </a:p>
          <a:p>
            <a:pPr marL="152400" indent="-152400">
              <a:spcAft>
                <a:spcPts val="300"/>
              </a:spcAft>
              <a:buSzPct val="100000"/>
              <a:buChar char="•"/>
            </a:pPr>
            <a:r>
              <a:rPr lang="en-US" sz="1250" dirty="0">
                <a:solidFill>
                  <a:srgbClr val="1B2238"/>
                </a:solidFill>
                <a:latin typeface="Calibri" pitchFamily="34" charset="0"/>
                <a:ea typeface="Calibri" pitchFamily="34" charset="-122"/>
                <a:cs typeface="Calibri" pitchFamily="34" charset="-120"/>
              </a:rPr>
              <a:t>Go-live authorisation</a:t>
            </a:r>
            <a:endParaRPr lang="en-US" sz="12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Onboard360AI externalises the onboarding's memory and enforces its rules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Vision</a:t>
            </a:r>
            <a:endParaRPr lang="en-US" sz="1000" dirty="0"/>
          </a:p>
        </p:txBody>
      </p:sp>
      <p:sp>
        <p:nvSpPr>
          <p:cNvPr id="4" name="Shape 2"/>
          <p:cNvSpPr/>
          <p:nvPr/>
        </p:nvSpPr>
        <p:spPr>
          <a:xfrm>
            <a:off x="411480" y="1188720"/>
            <a:ext cx="5577840" cy="4023360"/>
          </a:xfrm>
          <a:prstGeom prst="roundRect">
            <a:avLst>
              <a:gd name="adj" fmla="val 1818"/>
            </a:avLst>
          </a:prstGeom>
          <a:solidFill>
            <a:srgbClr val="F3F4F7"/>
          </a:solidFill>
          <a:ln w="9525">
            <a:solidFill>
              <a:srgbClr val="F3F4F7"/>
            </a:solidFill>
            <a:prstDash val="solid"/>
          </a:ln>
        </p:spPr>
      </p:sp>
      <p:sp>
        <p:nvSpPr>
          <p:cNvPr id="5" name="Shape 3"/>
          <p:cNvSpPr/>
          <p:nvPr/>
        </p:nvSpPr>
        <p:spPr>
          <a:xfrm>
            <a:off x="6199632" y="1188720"/>
            <a:ext cx="5577840" cy="4023360"/>
          </a:xfrm>
          <a:prstGeom prst="roundRect">
            <a:avLst>
              <a:gd name="adj" fmla="val 1818"/>
            </a:avLst>
          </a:prstGeom>
          <a:solidFill>
            <a:srgbClr val="F1EDF9"/>
          </a:solidFill>
          <a:ln w="9525">
            <a:solidFill>
              <a:srgbClr val="F1EDF9"/>
            </a:solidFill>
            <a:prstDash val="solid"/>
          </a:ln>
        </p:spPr>
      </p:sp>
      <p:sp>
        <p:nvSpPr>
          <p:cNvPr id="6" name="Text 4"/>
          <p:cNvSpPr txBox="1"/>
          <p:nvPr/>
        </p:nvSpPr>
        <p:spPr>
          <a:xfrm>
            <a:off x="640080" y="1298448"/>
            <a:ext cx="2743200" cy="274320"/>
          </a:xfrm>
          <a:prstGeom prst="rect">
            <a:avLst/>
          </a:prstGeom>
          <a:noFill/>
          <a:ln/>
        </p:spPr>
        <p:txBody>
          <a:bodyPr wrap="square" lIns="0" tIns="0" rIns="0" bIns="0" rtlCol="0" anchor="t"/>
          <a:lstStyle/>
          <a:p>
            <a:pPr indent="0" marL="0">
              <a:buNone/>
            </a:pPr>
            <a:r>
              <a:rPr lang="en-US" sz="1100" b="1" dirty="0">
                <a:solidFill>
                  <a:srgbClr val="5A6275"/>
                </a:solidFill>
                <a:latin typeface="Calibri" pitchFamily="34" charset="0"/>
                <a:ea typeface="Calibri" pitchFamily="34" charset="-122"/>
                <a:cs typeface="Calibri" pitchFamily="34" charset="-120"/>
              </a:rPr>
              <a:t>TODAY</a:t>
            </a:r>
            <a:endParaRPr lang="en-US" sz="1100" dirty="0"/>
          </a:p>
        </p:txBody>
      </p:sp>
      <p:sp>
        <p:nvSpPr>
          <p:cNvPr id="7" name="Text 5"/>
          <p:cNvSpPr txBox="1"/>
          <p:nvPr/>
        </p:nvSpPr>
        <p:spPr>
          <a:xfrm>
            <a:off x="6400800" y="1298448"/>
            <a:ext cx="3657600" cy="274320"/>
          </a:xfrm>
          <a:prstGeom prst="rect">
            <a:avLst/>
          </a:prstGeom>
          <a:noFill/>
          <a:ln/>
        </p:spPr>
        <p:txBody>
          <a:bodyPr wrap="square" lIns="0" tIns="0" rIns="0" bIns="0" rtlCol="0" anchor="t"/>
          <a:lstStyle/>
          <a:p>
            <a:pPr indent="0" marL="0">
              <a:buNone/>
            </a:pPr>
            <a:r>
              <a:rPr lang="en-US" sz="1100" b="1" dirty="0">
                <a:solidFill>
                  <a:srgbClr val="5B3FA0"/>
                </a:solidFill>
                <a:latin typeface="Calibri" pitchFamily="34" charset="0"/>
                <a:ea typeface="Calibri" pitchFamily="34" charset="-122"/>
                <a:cs typeface="Calibri" pitchFamily="34" charset="-120"/>
              </a:rPr>
              <a:t>WITH ONBOARD360AI</a:t>
            </a:r>
            <a:endParaRPr lang="en-US" sz="1100" dirty="0"/>
          </a:p>
        </p:txBody>
      </p:sp>
      <p:sp>
        <p:nvSpPr>
          <p:cNvPr id="8" name="Shape 6"/>
          <p:cNvSpPr/>
          <p:nvPr/>
        </p:nvSpPr>
        <p:spPr>
          <a:xfrm>
            <a:off x="3200400" y="1691640"/>
            <a:ext cx="914" cy="1600200"/>
          </a:xfrm>
          <a:prstGeom prst="line">
            <a:avLst/>
          </a:prstGeom>
          <a:noFill/>
          <a:ln w="15875">
            <a:solidFill>
              <a:srgbClr val="D5D9E2"/>
            </a:solidFill>
            <a:prstDash val="solid"/>
          </a:ln>
        </p:spPr>
      </p:sp>
      <p:sp>
        <p:nvSpPr>
          <p:cNvPr id="9" name="Shape 7"/>
          <p:cNvSpPr/>
          <p:nvPr/>
        </p:nvSpPr>
        <p:spPr>
          <a:xfrm>
            <a:off x="2971800" y="1463040"/>
            <a:ext cx="457200" cy="457200"/>
          </a:xfrm>
          <a:prstGeom prst="ellipse">
            <a:avLst/>
          </a:prstGeom>
          <a:solidFill>
            <a:srgbClr val="2563A8"/>
          </a:solidFill>
          <a:ln w="12700">
            <a:solidFill>
              <a:srgbClr val="2563A8"/>
            </a:solidFill>
            <a:prstDash val="solid"/>
          </a:ln>
        </p:spPr>
      </p:sp>
      <p:sp>
        <p:nvSpPr>
          <p:cNvPr id="10" name="Text 8"/>
          <p:cNvSpPr txBox="1"/>
          <p:nvPr/>
        </p:nvSpPr>
        <p:spPr>
          <a:xfrm>
            <a:off x="297180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Shape 9"/>
          <p:cNvSpPr/>
          <p:nvPr/>
        </p:nvSpPr>
        <p:spPr>
          <a:xfrm>
            <a:off x="2171811" y="2066016"/>
            <a:ext cx="1028589" cy="1225824"/>
          </a:xfrm>
          <a:prstGeom prst="line">
            <a:avLst/>
          </a:prstGeom>
          <a:noFill/>
          <a:ln w="15875">
            <a:solidFill>
              <a:srgbClr val="D5D9E2"/>
            </a:solidFill>
            <a:prstDash val="solid"/>
          </a:ln>
        </p:spPr>
      </p:sp>
      <p:sp>
        <p:nvSpPr>
          <p:cNvPr id="12" name="Shape 10"/>
          <p:cNvSpPr/>
          <p:nvPr/>
        </p:nvSpPr>
        <p:spPr>
          <a:xfrm>
            <a:off x="1943211" y="1837416"/>
            <a:ext cx="457200" cy="457200"/>
          </a:xfrm>
          <a:prstGeom prst="ellipse">
            <a:avLst/>
          </a:prstGeom>
          <a:solidFill>
            <a:srgbClr val="2563A8"/>
          </a:solidFill>
          <a:ln w="12700">
            <a:solidFill>
              <a:srgbClr val="2563A8"/>
            </a:solidFill>
            <a:prstDash val="solid"/>
          </a:ln>
        </p:spPr>
      </p:sp>
      <p:sp>
        <p:nvSpPr>
          <p:cNvPr id="13" name="Text 11"/>
          <p:cNvSpPr txBox="1"/>
          <p:nvPr/>
        </p:nvSpPr>
        <p:spPr>
          <a:xfrm>
            <a:off x="1943211" y="18374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Shape 12"/>
          <p:cNvSpPr/>
          <p:nvPr/>
        </p:nvSpPr>
        <p:spPr>
          <a:xfrm>
            <a:off x="1624511" y="3013968"/>
            <a:ext cx="1575889" cy="277872"/>
          </a:xfrm>
          <a:prstGeom prst="line">
            <a:avLst/>
          </a:prstGeom>
          <a:noFill/>
          <a:ln w="15875">
            <a:solidFill>
              <a:srgbClr val="D5D9E2"/>
            </a:solidFill>
            <a:prstDash val="solid"/>
          </a:ln>
        </p:spPr>
      </p:sp>
      <p:sp>
        <p:nvSpPr>
          <p:cNvPr id="15" name="Shape 13"/>
          <p:cNvSpPr/>
          <p:nvPr/>
        </p:nvSpPr>
        <p:spPr>
          <a:xfrm>
            <a:off x="1395911" y="2785368"/>
            <a:ext cx="457200" cy="457200"/>
          </a:xfrm>
          <a:prstGeom prst="ellipse">
            <a:avLst/>
          </a:prstGeom>
          <a:solidFill>
            <a:srgbClr val="2563A8"/>
          </a:solidFill>
          <a:ln w="12700">
            <a:solidFill>
              <a:srgbClr val="2563A8"/>
            </a:solidFill>
            <a:prstDash val="solid"/>
          </a:ln>
        </p:spPr>
      </p:sp>
      <p:sp>
        <p:nvSpPr>
          <p:cNvPr id="16" name="Text 14"/>
          <p:cNvSpPr txBox="1"/>
          <p:nvPr/>
        </p:nvSpPr>
        <p:spPr>
          <a:xfrm>
            <a:off x="1395911" y="2785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flipH="1">
            <a:off x="1814586" y="3291840"/>
            <a:ext cx="1385814" cy="800100"/>
          </a:xfrm>
          <a:prstGeom prst="line">
            <a:avLst/>
          </a:prstGeom>
          <a:noFill/>
          <a:ln w="15875">
            <a:solidFill>
              <a:srgbClr val="D5D9E2"/>
            </a:solidFill>
            <a:prstDash val="solid"/>
          </a:ln>
        </p:spPr>
      </p:sp>
      <p:sp>
        <p:nvSpPr>
          <p:cNvPr id="18" name="Shape 16"/>
          <p:cNvSpPr/>
          <p:nvPr/>
        </p:nvSpPr>
        <p:spPr>
          <a:xfrm>
            <a:off x="1585986" y="3863340"/>
            <a:ext cx="457200" cy="457200"/>
          </a:xfrm>
          <a:prstGeom prst="ellipse">
            <a:avLst/>
          </a:prstGeom>
          <a:solidFill>
            <a:srgbClr val="2563A8"/>
          </a:solidFill>
          <a:ln w="12700">
            <a:solidFill>
              <a:srgbClr val="2563A8"/>
            </a:solidFill>
            <a:prstDash val="solid"/>
          </a:ln>
        </p:spPr>
      </p:sp>
      <p:sp>
        <p:nvSpPr>
          <p:cNvPr id="19" name="Text 17"/>
          <p:cNvSpPr txBox="1"/>
          <p:nvPr/>
        </p:nvSpPr>
        <p:spPr>
          <a:xfrm>
            <a:off x="1585986" y="38633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Shape 18"/>
          <p:cNvSpPr/>
          <p:nvPr/>
        </p:nvSpPr>
        <p:spPr>
          <a:xfrm flipH="1">
            <a:off x="2653099" y="3291840"/>
            <a:ext cx="547301" cy="1503696"/>
          </a:xfrm>
          <a:prstGeom prst="line">
            <a:avLst/>
          </a:prstGeom>
          <a:noFill/>
          <a:ln w="15875">
            <a:solidFill>
              <a:srgbClr val="D5D9E2"/>
            </a:solidFill>
            <a:prstDash val="solid"/>
          </a:ln>
        </p:spPr>
      </p:sp>
      <p:sp>
        <p:nvSpPr>
          <p:cNvPr id="21" name="Shape 19"/>
          <p:cNvSpPr/>
          <p:nvPr/>
        </p:nvSpPr>
        <p:spPr>
          <a:xfrm>
            <a:off x="2424499" y="4566936"/>
            <a:ext cx="457200" cy="457200"/>
          </a:xfrm>
          <a:prstGeom prst="ellipse">
            <a:avLst/>
          </a:prstGeom>
          <a:solidFill>
            <a:srgbClr val="B9771A"/>
          </a:solidFill>
          <a:ln w="12700">
            <a:solidFill>
              <a:srgbClr val="B9771A"/>
            </a:solidFill>
            <a:prstDash val="solid"/>
          </a:ln>
        </p:spPr>
      </p:sp>
      <p:sp>
        <p:nvSpPr>
          <p:cNvPr id="22" name="Text 20"/>
          <p:cNvSpPr txBox="1"/>
          <p:nvPr/>
        </p:nvSpPr>
        <p:spPr>
          <a:xfrm>
            <a:off x="2424499" y="45669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Shape 21"/>
          <p:cNvSpPr/>
          <p:nvPr/>
        </p:nvSpPr>
        <p:spPr>
          <a:xfrm>
            <a:off x="3200400" y="3291840"/>
            <a:ext cx="547301" cy="1503696"/>
          </a:xfrm>
          <a:prstGeom prst="line">
            <a:avLst/>
          </a:prstGeom>
          <a:noFill/>
          <a:ln w="15875">
            <a:solidFill>
              <a:srgbClr val="D5D9E2"/>
            </a:solidFill>
            <a:prstDash val="solid"/>
          </a:ln>
        </p:spPr>
      </p:sp>
      <p:sp>
        <p:nvSpPr>
          <p:cNvPr id="24" name="Shape 22"/>
          <p:cNvSpPr/>
          <p:nvPr/>
        </p:nvSpPr>
        <p:spPr>
          <a:xfrm>
            <a:off x="3519101" y="4566936"/>
            <a:ext cx="457200" cy="457200"/>
          </a:xfrm>
          <a:prstGeom prst="ellipse">
            <a:avLst/>
          </a:prstGeom>
          <a:solidFill>
            <a:srgbClr val="B9771A"/>
          </a:solidFill>
          <a:ln w="12700">
            <a:solidFill>
              <a:srgbClr val="B9771A"/>
            </a:solidFill>
            <a:prstDash val="solid"/>
          </a:ln>
        </p:spPr>
      </p:sp>
      <p:sp>
        <p:nvSpPr>
          <p:cNvPr id="25" name="Text 23"/>
          <p:cNvSpPr txBox="1"/>
          <p:nvPr/>
        </p:nvSpPr>
        <p:spPr>
          <a:xfrm>
            <a:off x="3519101" y="45669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Shape 24"/>
          <p:cNvSpPr/>
          <p:nvPr/>
        </p:nvSpPr>
        <p:spPr>
          <a:xfrm>
            <a:off x="3200400" y="3291840"/>
            <a:ext cx="1385814" cy="800100"/>
          </a:xfrm>
          <a:prstGeom prst="line">
            <a:avLst/>
          </a:prstGeom>
          <a:noFill/>
          <a:ln w="15875">
            <a:solidFill>
              <a:srgbClr val="D5D9E2"/>
            </a:solidFill>
            <a:prstDash val="solid"/>
          </a:ln>
        </p:spPr>
      </p:sp>
      <p:sp>
        <p:nvSpPr>
          <p:cNvPr id="27" name="Shape 25"/>
          <p:cNvSpPr/>
          <p:nvPr/>
        </p:nvSpPr>
        <p:spPr>
          <a:xfrm>
            <a:off x="4357614" y="3863340"/>
            <a:ext cx="457200" cy="457200"/>
          </a:xfrm>
          <a:prstGeom prst="ellipse">
            <a:avLst/>
          </a:prstGeom>
          <a:solidFill>
            <a:srgbClr val="B9771A"/>
          </a:solidFill>
          <a:ln w="12700">
            <a:solidFill>
              <a:srgbClr val="B9771A"/>
            </a:solidFill>
            <a:prstDash val="solid"/>
          </a:ln>
        </p:spPr>
      </p:sp>
      <p:sp>
        <p:nvSpPr>
          <p:cNvPr id="28" name="Text 26"/>
          <p:cNvSpPr txBox="1"/>
          <p:nvPr/>
        </p:nvSpPr>
        <p:spPr>
          <a:xfrm>
            <a:off x="4357614" y="38633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9" name="Shape 27"/>
          <p:cNvSpPr/>
          <p:nvPr/>
        </p:nvSpPr>
        <p:spPr>
          <a:xfrm flipH="1">
            <a:off x="3200400" y="3013968"/>
            <a:ext cx="1575889" cy="277872"/>
          </a:xfrm>
          <a:prstGeom prst="line">
            <a:avLst/>
          </a:prstGeom>
          <a:noFill/>
          <a:ln w="15875">
            <a:solidFill>
              <a:srgbClr val="D5D9E2"/>
            </a:solidFill>
            <a:prstDash val="solid"/>
          </a:ln>
        </p:spPr>
      </p:sp>
      <p:sp>
        <p:nvSpPr>
          <p:cNvPr id="30" name="Shape 28"/>
          <p:cNvSpPr/>
          <p:nvPr/>
        </p:nvSpPr>
        <p:spPr>
          <a:xfrm>
            <a:off x="4547689" y="2785368"/>
            <a:ext cx="457200" cy="457200"/>
          </a:xfrm>
          <a:prstGeom prst="ellipse">
            <a:avLst/>
          </a:prstGeom>
          <a:solidFill>
            <a:srgbClr val="2E7D4F"/>
          </a:solidFill>
          <a:ln w="12700">
            <a:solidFill>
              <a:srgbClr val="2E7D4F"/>
            </a:solidFill>
            <a:prstDash val="solid"/>
          </a:ln>
        </p:spPr>
      </p:sp>
      <p:sp>
        <p:nvSpPr>
          <p:cNvPr id="31" name="Text 29"/>
          <p:cNvSpPr txBox="1"/>
          <p:nvPr/>
        </p:nvSpPr>
        <p:spPr>
          <a:xfrm>
            <a:off x="4547689" y="2785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2" name="Shape 30"/>
          <p:cNvSpPr/>
          <p:nvPr/>
        </p:nvSpPr>
        <p:spPr>
          <a:xfrm flipH="1">
            <a:off x="3200400" y="2066016"/>
            <a:ext cx="1028589" cy="1225824"/>
          </a:xfrm>
          <a:prstGeom prst="line">
            <a:avLst/>
          </a:prstGeom>
          <a:noFill/>
          <a:ln w="15875">
            <a:solidFill>
              <a:srgbClr val="D5D9E2"/>
            </a:solidFill>
            <a:prstDash val="solid"/>
          </a:ln>
        </p:spPr>
      </p:sp>
      <p:sp>
        <p:nvSpPr>
          <p:cNvPr id="33" name="Shape 31"/>
          <p:cNvSpPr/>
          <p:nvPr/>
        </p:nvSpPr>
        <p:spPr>
          <a:xfrm>
            <a:off x="4000389" y="1837416"/>
            <a:ext cx="457200" cy="457200"/>
          </a:xfrm>
          <a:prstGeom prst="ellipse">
            <a:avLst/>
          </a:prstGeom>
          <a:solidFill>
            <a:srgbClr val="2E7D4F"/>
          </a:solidFill>
          <a:ln w="12700">
            <a:solidFill>
              <a:srgbClr val="2E7D4F"/>
            </a:solidFill>
            <a:prstDash val="solid"/>
          </a:ln>
        </p:spPr>
      </p:sp>
      <p:sp>
        <p:nvSpPr>
          <p:cNvPr id="34" name="Text 32"/>
          <p:cNvSpPr txBox="1"/>
          <p:nvPr/>
        </p:nvSpPr>
        <p:spPr>
          <a:xfrm>
            <a:off x="4000389" y="18374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5" name="Shape 33"/>
          <p:cNvSpPr/>
          <p:nvPr/>
        </p:nvSpPr>
        <p:spPr>
          <a:xfrm>
            <a:off x="2514600" y="2606040"/>
            <a:ext cx="1371600" cy="1371600"/>
          </a:xfrm>
          <a:prstGeom prst="ellipse">
            <a:avLst/>
          </a:prstGeom>
          <a:solidFill>
            <a:srgbClr val="D5D9E2"/>
          </a:solidFill>
          <a:ln w="25400">
            <a:solidFill>
              <a:srgbClr val="5A6275"/>
            </a:solidFill>
            <a:prstDash val="solid"/>
          </a:ln>
        </p:spPr>
      </p:sp>
      <p:sp>
        <p:nvSpPr>
          <p:cNvPr id="36" name="Text 34"/>
          <p:cNvSpPr txBox="1"/>
          <p:nvPr/>
        </p:nvSpPr>
        <p:spPr>
          <a:xfrm>
            <a:off x="2514600" y="2606040"/>
            <a:ext cx="1371600" cy="1371600"/>
          </a:xfrm>
          <a:prstGeom prst="rect">
            <a:avLst/>
          </a:prstGeom>
          <a:noFill/>
          <a:ln/>
        </p:spPr>
        <p:txBody>
          <a:bodyPr wrap="square" lIns="0" tIns="0" rIns="0" bIns="0" rtlCol="0" anchor="ctr"/>
          <a:lstStyle/>
          <a:p>
            <a:pPr algn="ctr" indent="0" marL="0">
              <a:buNone/>
            </a:pPr>
            <a:r>
              <a:rPr lang="en-US" sz="1150" b="1" dirty="0">
                <a:solidFill>
                  <a:srgbClr val="1B2238"/>
                </a:solidFill>
                <a:latin typeface="Calibri" pitchFamily="34" charset="0"/>
                <a:ea typeface="Calibri" pitchFamily="34" charset="-122"/>
                <a:cs typeface="Calibri" pitchFamily="34" charset="-120"/>
              </a:rPr>
              <a:t>One person's memory</a:t>
            </a:r>
            <a:endParaRPr lang="en-US" sz="1150" dirty="0"/>
          </a:p>
        </p:txBody>
      </p:sp>
      <p:sp>
        <p:nvSpPr>
          <p:cNvPr id="37" name="Shape 35"/>
          <p:cNvSpPr/>
          <p:nvPr/>
        </p:nvSpPr>
        <p:spPr>
          <a:xfrm>
            <a:off x="8988552" y="1691640"/>
            <a:ext cx="914" cy="1600200"/>
          </a:xfrm>
          <a:prstGeom prst="line">
            <a:avLst/>
          </a:prstGeom>
          <a:noFill/>
          <a:ln w="15875">
            <a:solidFill>
              <a:srgbClr val="D5D9E2"/>
            </a:solidFill>
            <a:prstDash val="solid"/>
          </a:ln>
        </p:spPr>
      </p:sp>
      <p:sp>
        <p:nvSpPr>
          <p:cNvPr id="38" name="Shape 36"/>
          <p:cNvSpPr/>
          <p:nvPr/>
        </p:nvSpPr>
        <p:spPr>
          <a:xfrm>
            <a:off x="8759952" y="1463040"/>
            <a:ext cx="457200" cy="457200"/>
          </a:xfrm>
          <a:prstGeom prst="ellipse">
            <a:avLst/>
          </a:prstGeom>
          <a:solidFill>
            <a:srgbClr val="2563A8"/>
          </a:solidFill>
          <a:ln w="12700">
            <a:solidFill>
              <a:srgbClr val="2563A8"/>
            </a:solidFill>
            <a:prstDash val="solid"/>
          </a:ln>
        </p:spPr>
      </p:sp>
      <p:sp>
        <p:nvSpPr>
          <p:cNvPr id="39" name="Text 37"/>
          <p:cNvSpPr txBox="1"/>
          <p:nvPr/>
        </p:nvSpPr>
        <p:spPr>
          <a:xfrm>
            <a:off x="8759952"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0" name="Shape 38"/>
          <p:cNvSpPr/>
          <p:nvPr/>
        </p:nvSpPr>
        <p:spPr>
          <a:xfrm>
            <a:off x="7959963" y="2066016"/>
            <a:ext cx="1028589" cy="1225824"/>
          </a:xfrm>
          <a:prstGeom prst="line">
            <a:avLst/>
          </a:prstGeom>
          <a:noFill/>
          <a:ln w="15875">
            <a:solidFill>
              <a:srgbClr val="D5D9E2"/>
            </a:solidFill>
            <a:prstDash val="solid"/>
          </a:ln>
        </p:spPr>
      </p:sp>
      <p:sp>
        <p:nvSpPr>
          <p:cNvPr id="41" name="Shape 39"/>
          <p:cNvSpPr/>
          <p:nvPr/>
        </p:nvSpPr>
        <p:spPr>
          <a:xfrm>
            <a:off x="7731363" y="1837416"/>
            <a:ext cx="457200" cy="457200"/>
          </a:xfrm>
          <a:prstGeom prst="ellipse">
            <a:avLst/>
          </a:prstGeom>
          <a:solidFill>
            <a:srgbClr val="2563A8"/>
          </a:solidFill>
          <a:ln w="12700">
            <a:solidFill>
              <a:srgbClr val="2563A8"/>
            </a:solidFill>
            <a:prstDash val="solid"/>
          </a:ln>
        </p:spPr>
      </p:sp>
      <p:sp>
        <p:nvSpPr>
          <p:cNvPr id="42" name="Text 40"/>
          <p:cNvSpPr txBox="1"/>
          <p:nvPr/>
        </p:nvSpPr>
        <p:spPr>
          <a:xfrm>
            <a:off x="7731363" y="18374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3" name="Shape 41"/>
          <p:cNvSpPr/>
          <p:nvPr/>
        </p:nvSpPr>
        <p:spPr>
          <a:xfrm>
            <a:off x="7412663" y="3013968"/>
            <a:ext cx="1575889" cy="277872"/>
          </a:xfrm>
          <a:prstGeom prst="line">
            <a:avLst/>
          </a:prstGeom>
          <a:noFill/>
          <a:ln w="15875">
            <a:solidFill>
              <a:srgbClr val="D5D9E2"/>
            </a:solidFill>
            <a:prstDash val="solid"/>
          </a:ln>
        </p:spPr>
      </p:sp>
      <p:sp>
        <p:nvSpPr>
          <p:cNvPr id="44" name="Shape 42"/>
          <p:cNvSpPr/>
          <p:nvPr/>
        </p:nvSpPr>
        <p:spPr>
          <a:xfrm>
            <a:off x="7184063" y="2785368"/>
            <a:ext cx="457200" cy="457200"/>
          </a:xfrm>
          <a:prstGeom prst="ellipse">
            <a:avLst/>
          </a:prstGeom>
          <a:solidFill>
            <a:srgbClr val="2563A8"/>
          </a:solidFill>
          <a:ln w="12700">
            <a:solidFill>
              <a:srgbClr val="2563A8"/>
            </a:solidFill>
            <a:prstDash val="solid"/>
          </a:ln>
        </p:spPr>
      </p:sp>
      <p:sp>
        <p:nvSpPr>
          <p:cNvPr id="45" name="Text 43"/>
          <p:cNvSpPr txBox="1"/>
          <p:nvPr/>
        </p:nvSpPr>
        <p:spPr>
          <a:xfrm>
            <a:off x="7184063" y="2785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6" name="Shape 44"/>
          <p:cNvSpPr/>
          <p:nvPr/>
        </p:nvSpPr>
        <p:spPr>
          <a:xfrm flipH="1">
            <a:off x="7602738" y="3291840"/>
            <a:ext cx="1385814" cy="800100"/>
          </a:xfrm>
          <a:prstGeom prst="line">
            <a:avLst/>
          </a:prstGeom>
          <a:noFill/>
          <a:ln w="15875">
            <a:solidFill>
              <a:srgbClr val="D5D9E2"/>
            </a:solidFill>
            <a:prstDash val="solid"/>
          </a:ln>
        </p:spPr>
      </p:sp>
      <p:sp>
        <p:nvSpPr>
          <p:cNvPr id="47" name="Shape 45"/>
          <p:cNvSpPr/>
          <p:nvPr/>
        </p:nvSpPr>
        <p:spPr>
          <a:xfrm>
            <a:off x="7374138" y="3863340"/>
            <a:ext cx="457200" cy="457200"/>
          </a:xfrm>
          <a:prstGeom prst="ellipse">
            <a:avLst/>
          </a:prstGeom>
          <a:solidFill>
            <a:srgbClr val="2563A8"/>
          </a:solidFill>
          <a:ln w="12700">
            <a:solidFill>
              <a:srgbClr val="2563A8"/>
            </a:solidFill>
            <a:prstDash val="solid"/>
          </a:ln>
        </p:spPr>
      </p:sp>
      <p:sp>
        <p:nvSpPr>
          <p:cNvPr id="48" name="Text 46"/>
          <p:cNvSpPr txBox="1"/>
          <p:nvPr/>
        </p:nvSpPr>
        <p:spPr>
          <a:xfrm>
            <a:off x="7374138" y="38633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9" name="Shape 47"/>
          <p:cNvSpPr/>
          <p:nvPr/>
        </p:nvSpPr>
        <p:spPr>
          <a:xfrm flipH="1">
            <a:off x="8441251" y="3291840"/>
            <a:ext cx="547301" cy="1503696"/>
          </a:xfrm>
          <a:prstGeom prst="line">
            <a:avLst/>
          </a:prstGeom>
          <a:noFill/>
          <a:ln w="15875">
            <a:solidFill>
              <a:srgbClr val="D5D9E2"/>
            </a:solidFill>
            <a:prstDash val="solid"/>
          </a:ln>
        </p:spPr>
      </p:sp>
      <p:sp>
        <p:nvSpPr>
          <p:cNvPr id="50" name="Shape 48"/>
          <p:cNvSpPr/>
          <p:nvPr/>
        </p:nvSpPr>
        <p:spPr>
          <a:xfrm>
            <a:off x="8212651" y="4566936"/>
            <a:ext cx="457200" cy="457200"/>
          </a:xfrm>
          <a:prstGeom prst="ellipse">
            <a:avLst/>
          </a:prstGeom>
          <a:solidFill>
            <a:srgbClr val="B9771A"/>
          </a:solidFill>
          <a:ln w="12700">
            <a:solidFill>
              <a:srgbClr val="B9771A"/>
            </a:solidFill>
            <a:prstDash val="solid"/>
          </a:ln>
        </p:spPr>
      </p:sp>
      <p:sp>
        <p:nvSpPr>
          <p:cNvPr id="51" name="Text 49"/>
          <p:cNvSpPr txBox="1"/>
          <p:nvPr/>
        </p:nvSpPr>
        <p:spPr>
          <a:xfrm>
            <a:off x="8212651" y="45669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2" name="Shape 50"/>
          <p:cNvSpPr/>
          <p:nvPr/>
        </p:nvSpPr>
        <p:spPr>
          <a:xfrm>
            <a:off x="8988552" y="3291840"/>
            <a:ext cx="547301" cy="1503696"/>
          </a:xfrm>
          <a:prstGeom prst="line">
            <a:avLst/>
          </a:prstGeom>
          <a:noFill/>
          <a:ln w="15875">
            <a:solidFill>
              <a:srgbClr val="D5D9E2"/>
            </a:solidFill>
            <a:prstDash val="solid"/>
          </a:ln>
        </p:spPr>
      </p:sp>
      <p:sp>
        <p:nvSpPr>
          <p:cNvPr id="53" name="Shape 51"/>
          <p:cNvSpPr/>
          <p:nvPr/>
        </p:nvSpPr>
        <p:spPr>
          <a:xfrm>
            <a:off x="9307253" y="4566936"/>
            <a:ext cx="457200" cy="457200"/>
          </a:xfrm>
          <a:prstGeom prst="ellipse">
            <a:avLst/>
          </a:prstGeom>
          <a:solidFill>
            <a:srgbClr val="B9771A"/>
          </a:solidFill>
          <a:ln w="12700">
            <a:solidFill>
              <a:srgbClr val="B9771A"/>
            </a:solidFill>
            <a:prstDash val="solid"/>
          </a:ln>
        </p:spPr>
      </p:sp>
      <p:sp>
        <p:nvSpPr>
          <p:cNvPr id="54" name="Text 52"/>
          <p:cNvSpPr txBox="1"/>
          <p:nvPr/>
        </p:nvSpPr>
        <p:spPr>
          <a:xfrm>
            <a:off x="9307253" y="45669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55" name="Shape 53"/>
          <p:cNvSpPr/>
          <p:nvPr/>
        </p:nvSpPr>
        <p:spPr>
          <a:xfrm>
            <a:off x="8988552" y="3291840"/>
            <a:ext cx="1385814" cy="800100"/>
          </a:xfrm>
          <a:prstGeom prst="line">
            <a:avLst/>
          </a:prstGeom>
          <a:noFill/>
          <a:ln w="15875">
            <a:solidFill>
              <a:srgbClr val="D5D9E2"/>
            </a:solidFill>
            <a:prstDash val="solid"/>
          </a:ln>
        </p:spPr>
      </p:sp>
      <p:sp>
        <p:nvSpPr>
          <p:cNvPr id="56" name="Shape 54"/>
          <p:cNvSpPr/>
          <p:nvPr/>
        </p:nvSpPr>
        <p:spPr>
          <a:xfrm>
            <a:off x="10145766" y="3863340"/>
            <a:ext cx="457200" cy="457200"/>
          </a:xfrm>
          <a:prstGeom prst="ellipse">
            <a:avLst/>
          </a:prstGeom>
          <a:solidFill>
            <a:srgbClr val="B9771A"/>
          </a:solidFill>
          <a:ln w="12700">
            <a:solidFill>
              <a:srgbClr val="B9771A"/>
            </a:solidFill>
            <a:prstDash val="solid"/>
          </a:ln>
        </p:spPr>
      </p:sp>
      <p:sp>
        <p:nvSpPr>
          <p:cNvPr id="57" name="Text 55"/>
          <p:cNvSpPr txBox="1"/>
          <p:nvPr/>
        </p:nvSpPr>
        <p:spPr>
          <a:xfrm>
            <a:off x="10145766" y="38633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58" name="Shape 56"/>
          <p:cNvSpPr/>
          <p:nvPr/>
        </p:nvSpPr>
        <p:spPr>
          <a:xfrm flipH="1">
            <a:off x="8988552" y="3013968"/>
            <a:ext cx="1575889" cy="277872"/>
          </a:xfrm>
          <a:prstGeom prst="line">
            <a:avLst/>
          </a:prstGeom>
          <a:noFill/>
          <a:ln w="15875">
            <a:solidFill>
              <a:srgbClr val="D5D9E2"/>
            </a:solidFill>
            <a:prstDash val="solid"/>
          </a:ln>
        </p:spPr>
      </p:sp>
      <p:sp>
        <p:nvSpPr>
          <p:cNvPr id="59" name="Shape 57"/>
          <p:cNvSpPr/>
          <p:nvPr/>
        </p:nvSpPr>
        <p:spPr>
          <a:xfrm>
            <a:off x="10335841" y="2785368"/>
            <a:ext cx="457200" cy="457200"/>
          </a:xfrm>
          <a:prstGeom prst="ellipse">
            <a:avLst/>
          </a:prstGeom>
          <a:solidFill>
            <a:srgbClr val="2E7D4F"/>
          </a:solidFill>
          <a:ln w="12700">
            <a:solidFill>
              <a:srgbClr val="2E7D4F"/>
            </a:solidFill>
            <a:prstDash val="solid"/>
          </a:ln>
        </p:spPr>
      </p:sp>
      <p:sp>
        <p:nvSpPr>
          <p:cNvPr id="60" name="Text 58"/>
          <p:cNvSpPr txBox="1"/>
          <p:nvPr/>
        </p:nvSpPr>
        <p:spPr>
          <a:xfrm>
            <a:off x="10335841" y="2785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61" name="Shape 59"/>
          <p:cNvSpPr/>
          <p:nvPr/>
        </p:nvSpPr>
        <p:spPr>
          <a:xfrm flipH="1">
            <a:off x="8988552" y="2066016"/>
            <a:ext cx="1028589" cy="1225824"/>
          </a:xfrm>
          <a:prstGeom prst="line">
            <a:avLst/>
          </a:prstGeom>
          <a:noFill/>
          <a:ln w="15875">
            <a:solidFill>
              <a:srgbClr val="D5D9E2"/>
            </a:solidFill>
            <a:prstDash val="solid"/>
          </a:ln>
        </p:spPr>
      </p:sp>
      <p:sp>
        <p:nvSpPr>
          <p:cNvPr id="62" name="Shape 60"/>
          <p:cNvSpPr/>
          <p:nvPr/>
        </p:nvSpPr>
        <p:spPr>
          <a:xfrm>
            <a:off x="9788541" y="1837416"/>
            <a:ext cx="457200" cy="457200"/>
          </a:xfrm>
          <a:prstGeom prst="ellipse">
            <a:avLst/>
          </a:prstGeom>
          <a:solidFill>
            <a:srgbClr val="2E7D4F"/>
          </a:solidFill>
          <a:ln w="12700">
            <a:solidFill>
              <a:srgbClr val="2E7D4F"/>
            </a:solidFill>
            <a:prstDash val="solid"/>
          </a:ln>
        </p:spPr>
      </p:sp>
      <p:sp>
        <p:nvSpPr>
          <p:cNvPr id="63" name="Text 61"/>
          <p:cNvSpPr txBox="1"/>
          <p:nvPr/>
        </p:nvSpPr>
        <p:spPr>
          <a:xfrm>
            <a:off x="9788541" y="18374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64" name="Shape 62"/>
          <p:cNvSpPr/>
          <p:nvPr/>
        </p:nvSpPr>
        <p:spPr>
          <a:xfrm>
            <a:off x="8302752" y="2606040"/>
            <a:ext cx="1371600" cy="1371600"/>
          </a:xfrm>
          <a:prstGeom prst="ellipse">
            <a:avLst/>
          </a:prstGeom>
          <a:solidFill>
            <a:srgbClr val="5B3FA0"/>
          </a:solidFill>
          <a:ln w="25400">
            <a:solidFill>
              <a:srgbClr val="5B3FA0"/>
            </a:solidFill>
            <a:prstDash val="solid"/>
          </a:ln>
        </p:spPr>
      </p:sp>
      <p:sp>
        <p:nvSpPr>
          <p:cNvPr id="65" name="Text 63"/>
          <p:cNvSpPr txBox="1"/>
          <p:nvPr/>
        </p:nvSpPr>
        <p:spPr>
          <a:xfrm>
            <a:off x="8302752" y="2606040"/>
            <a:ext cx="1371600" cy="13716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Onboarding record</a:t>
            </a:r>
            <a:endParaRPr lang="en-US" sz="1150" dirty="0"/>
          </a:p>
        </p:txBody>
      </p:sp>
      <p:sp>
        <p:nvSpPr>
          <p:cNvPr id="66" name="Shape 64"/>
          <p:cNvSpPr/>
          <p:nvPr/>
        </p:nvSpPr>
        <p:spPr>
          <a:xfrm>
            <a:off x="411480" y="5440680"/>
            <a:ext cx="3639312" cy="731520"/>
          </a:xfrm>
          <a:prstGeom prst="roundRect">
            <a:avLst>
              <a:gd name="adj" fmla="val 18750"/>
            </a:avLst>
          </a:prstGeom>
          <a:solidFill>
            <a:srgbClr val="5B3FA0"/>
          </a:solidFill>
          <a:ln w="9525">
            <a:solidFill>
              <a:srgbClr val="5B3FA0"/>
            </a:solidFill>
            <a:prstDash val="solid"/>
          </a:ln>
        </p:spPr>
      </p:sp>
      <p:sp>
        <p:nvSpPr>
          <p:cNvPr id="67" name="Text 65"/>
          <p:cNvSpPr txBox="1"/>
          <p:nvPr/>
        </p:nvSpPr>
        <p:spPr>
          <a:xfrm>
            <a:off x="411480" y="5440680"/>
            <a:ext cx="3639312"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Context externalised, not remembered</a:t>
            </a:r>
            <a:endParaRPr lang="en-US" sz="1350" dirty="0"/>
          </a:p>
        </p:txBody>
      </p:sp>
      <p:sp>
        <p:nvSpPr>
          <p:cNvPr id="68" name="Shape 66"/>
          <p:cNvSpPr/>
          <p:nvPr/>
        </p:nvSpPr>
        <p:spPr>
          <a:xfrm>
            <a:off x="4233672" y="5440680"/>
            <a:ext cx="3639312" cy="731520"/>
          </a:xfrm>
          <a:prstGeom prst="roundRect">
            <a:avLst>
              <a:gd name="adj" fmla="val 18750"/>
            </a:avLst>
          </a:prstGeom>
          <a:solidFill>
            <a:srgbClr val="5B3FA0"/>
          </a:solidFill>
          <a:ln w="9525">
            <a:solidFill>
              <a:srgbClr val="5B3FA0"/>
            </a:solidFill>
            <a:prstDash val="solid"/>
          </a:ln>
        </p:spPr>
      </p:sp>
      <p:sp>
        <p:nvSpPr>
          <p:cNvPr id="69" name="Text 67"/>
          <p:cNvSpPr txBox="1"/>
          <p:nvPr/>
        </p:nvSpPr>
        <p:spPr>
          <a:xfrm>
            <a:off x="4233672" y="5440680"/>
            <a:ext cx="3639312"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Rules enforced, not recalled</a:t>
            </a:r>
            <a:endParaRPr lang="en-US" sz="1350" dirty="0"/>
          </a:p>
        </p:txBody>
      </p:sp>
      <p:sp>
        <p:nvSpPr>
          <p:cNvPr id="70" name="Shape 68"/>
          <p:cNvSpPr/>
          <p:nvPr/>
        </p:nvSpPr>
        <p:spPr>
          <a:xfrm>
            <a:off x="8055864" y="5440680"/>
            <a:ext cx="3639312" cy="731520"/>
          </a:xfrm>
          <a:prstGeom prst="roundRect">
            <a:avLst>
              <a:gd name="adj" fmla="val 18750"/>
            </a:avLst>
          </a:prstGeom>
          <a:solidFill>
            <a:srgbClr val="5B3FA0"/>
          </a:solidFill>
          <a:ln w="9525">
            <a:solidFill>
              <a:srgbClr val="5B3FA0"/>
            </a:solidFill>
            <a:prstDash val="solid"/>
          </a:ln>
        </p:spPr>
      </p:sp>
      <p:sp>
        <p:nvSpPr>
          <p:cNvPr id="71" name="Text 69"/>
          <p:cNvSpPr txBox="1"/>
          <p:nvPr/>
        </p:nvSpPr>
        <p:spPr>
          <a:xfrm>
            <a:off x="8055864" y="5440680"/>
            <a:ext cx="3639312"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Decisions prepared for, not waited on</a:t>
            </a:r>
            <a:endParaRPr lang="en-US" sz="13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Onboard360AI sits under the existing Platform Specialist Agent on iDocs Canvas</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Platform architecture</a:t>
            </a:r>
            <a:endParaRPr lang="en-US" sz="1000" dirty="0"/>
          </a:p>
        </p:txBody>
      </p:sp>
      <p:sp>
        <p:nvSpPr>
          <p:cNvPr id="4" name="Shape 2"/>
          <p:cNvSpPr/>
          <p:nvPr/>
        </p:nvSpPr>
        <p:spPr>
          <a:xfrm>
            <a:off x="411480" y="1188720"/>
            <a:ext cx="6035040" cy="731520"/>
          </a:xfrm>
          <a:prstGeom prst="roundRect">
            <a:avLst>
              <a:gd name="adj" fmla="val 10000"/>
            </a:avLst>
          </a:prstGeom>
          <a:solidFill>
            <a:srgbClr val="1B2238"/>
          </a:solidFill>
          <a:ln w="9525">
            <a:solidFill>
              <a:srgbClr val="1B2238"/>
            </a:solidFill>
            <a:prstDash val="solid"/>
          </a:ln>
        </p:spPr>
      </p:sp>
      <p:sp>
        <p:nvSpPr>
          <p:cNvPr id="5" name="Text 3"/>
          <p:cNvSpPr txBox="1"/>
          <p:nvPr/>
        </p:nvSpPr>
        <p:spPr>
          <a:xfrm>
            <a:off x="594360" y="1188720"/>
            <a:ext cx="566928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iDocs Canvas</a:t>
            </a:r>
            <a:endParaRPr lang="en-US" sz="1400" dirty="0"/>
          </a:p>
        </p:txBody>
      </p:sp>
      <p:sp>
        <p:nvSpPr>
          <p:cNvPr id="6" name="Text 4"/>
          <p:cNvSpPr txBox="1"/>
          <p:nvPr/>
        </p:nvSpPr>
        <p:spPr>
          <a:xfrm>
            <a:off x="6720840" y="1188720"/>
            <a:ext cx="5029200" cy="731520"/>
          </a:xfrm>
          <a:prstGeom prst="rect">
            <a:avLst/>
          </a:prstGeom>
          <a:noFill/>
          <a:ln/>
        </p:spPr>
        <p:txBody>
          <a:bodyPr wrap="square" lIns="0" tIns="0" rIns="0" bIns="0" rtlCol="0" anchor="ctr"/>
          <a:lstStyle/>
          <a:p>
            <a:pPr indent="0" marL="0">
              <a:buNone/>
            </a:pPr>
            <a:r>
              <a:rPr lang="en-US" sz="1250" dirty="0">
                <a:solidFill>
                  <a:srgbClr val="1B2238"/>
                </a:solidFill>
                <a:latin typeface="Calibri" pitchFamily="34" charset="0"/>
                <a:ea typeface="Calibri" pitchFamily="34" charset="-122"/>
                <a:cs typeface="Calibri" pitchFamily="34" charset="-120"/>
              </a:rPr>
              <a:t>Enterprise document intelligence platform: runtime, tool surface, conversational interface, governance controls</a:t>
            </a:r>
            <a:endParaRPr lang="en-US" sz="1250" dirty="0"/>
          </a:p>
        </p:txBody>
      </p:sp>
      <p:sp>
        <p:nvSpPr>
          <p:cNvPr id="7" name="Shape 5"/>
          <p:cNvSpPr/>
          <p:nvPr/>
        </p:nvSpPr>
        <p:spPr>
          <a:xfrm>
            <a:off x="640080" y="2029968"/>
            <a:ext cx="5806440" cy="731520"/>
          </a:xfrm>
          <a:prstGeom prst="roundRect">
            <a:avLst>
              <a:gd name="adj" fmla="val 10000"/>
            </a:avLst>
          </a:prstGeom>
          <a:solidFill>
            <a:srgbClr val="3A4562"/>
          </a:solidFill>
          <a:ln w="9525">
            <a:solidFill>
              <a:srgbClr val="3A4562"/>
            </a:solidFill>
            <a:prstDash val="solid"/>
          </a:ln>
        </p:spPr>
      </p:sp>
      <p:sp>
        <p:nvSpPr>
          <p:cNvPr id="8" name="Text 6"/>
          <p:cNvSpPr txBox="1"/>
          <p:nvPr/>
        </p:nvSpPr>
        <p:spPr>
          <a:xfrm>
            <a:off x="822960" y="2029968"/>
            <a:ext cx="544068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Tachyon SDK</a:t>
            </a:r>
            <a:endParaRPr lang="en-US" sz="1400" dirty="0"/>
          </a:p>
        </p:txBody>
      </p:sp>
      <p:sp>
        <p:nvSpPr>
          <p:cNvPr id="9" name="Text 7"/>
          <p:cNvSpPr txBox="1"/>
          <p:nvPr/>
        </p:nvSpPr>
        <p:spPr>
          <a:xfrm>
            <a:off x="6720840" y="2029968"/>
            <a:ext cx="5029200" cy="731520"/>
          </a:xfrm>
          <a:prstGeom prst="rect">
            <a:avLst/>
          </a:prstGeom>
          <a:noFill/>
          <a:ln/>
        </p:spPr>
        <p:txBody>
          <a:bodyPr wrap="square" lIns="0" tIns="0" rIns="0" bIns="0" rtlCol="0" anchor="ctr"/>
          <a:lstStyle/>
          <a:p>
            <a:pPr indent="0" marL="0">
              <a:buNone/>
            </a:pPr>
            <a:r>
              <a:rPr lang="en-US" sz="1250" dirty="0">
                <a:solidFill>
                  <a:srgbClr val="1B2238"/>
                </a:solidFill>
                <a:latin typeface="Calibri" pitchFamily="34" charset="0"/>
                <a:ea typeface="Calibri" pitchFamily="34" charset="-122"/>
                <a:cs typeface="Calibri" pitchFamily="34" charset="-120"/>
              </a:rPr>
              <a:t>Config-driven runtime composition; local and MCP tools; pre- and post-condition contracts on every invocation</a:t>
            </a:r>
            <a:endParaRPr lang="en-US" sz="1250" dirty="0"/>
          </a:p>
        </p:txBody>
      </p:sp>
      <p:sp>
        <p:nvSpPr>
          <p:cNvPr id="10" name="Shape 8"/>
          <p:cNvSpPr/>
          <p:nvPr/>
        </p:nvSpPr>
        <p:spPr>
          <a:xfrm>
            <a:off x="868680" y="2871216"/>
            <a:ext cx="5577840" cy="731520"/>
          </a:xfrm>
          <a:prstGeom prst="roundRect">
            <a:avLst>
              <a:gd name="adj" fmla="val 10000"/>
            </a:avLst>
          </a:prstGeom>
          <a:solidFill>
            <a:srgbClr val="56607E"/>
          </a:solidFill>
          <a:ln w="9525">
            <a:solidFill>
              <a:srgbClr val="56607E"/>
            </a:solidFill>
            <a:prstDash val="solid"/>
          </a:ln>
        </p:spPr>
      </p:sp>
      <p:sp>
        <p:nvSpPr>
          <p:cNvPr id="11" name="Text 9"/>
          <p:cNvSpPr txBox="1"/>
          <p:nvPr/>
        </p:nvSpPr>
        <p:spPr>
          <a:xfrm>
            <a:off x="1051560" y="2871216"/>
            <a:ext cx="521208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Platform Specialist Agent</a:t>
            </a:r>
            <a:endParaRPr lang="en-US" sz="1400" dirty="0"/>
          </a:p>
        </p:txBody>
      </p:sp>
      <p:sp>
        <p:nvSpPr>
          <p:cNvPr id="12" name="Text 10"/>
          <p:cNvSpPr txBox="1"/>
          <p:nvPr/>
        </p:nvSpPr>
        <p:spPr>
          <a:xfrm>
            <a:off x="6720840" y="2871216"/>
            <a:ext cx="5029200" cy="731520"/>
          </a:xfrm>
          <a:prstGeom prst="rect">
            <a:avLst/>
          </a:prstGeom>
          <a:noFill/>
          <a:ln/>
        </p:spPr>
        <p:txBody>
          <a:bodyPr wrap="square" lIns="0" tIns="0" rIns="0" bIns="0" rtlCol="0" anchor="ctr"/>
          <a:lstStyle/>
          <a:p>
            <a:pPr indent="0" marL="0">
              <a:buNone/>
            </a:pPr>
            <a:r>
              <a:rPr lang="en-US" sz="1250" dirty="0">
                <a:solidFill>
                  <a:srgbClr val="1B2238"/>
                </a:solidFill>
                <a:latin typeface="Calibri" pitchFamily="34" charset="0"/>
                <a:ea typeface="Calibri" pitchFamily="34" charset="-122"/>
                <a:cs typeface="Calibri" pitchFamily="34" charset="-120"/>
              </a:rPr>
              <a:t>Existing agent for platform-level assistance</a:t>
            </a:r>
            <a:endParaRPr lang="en-US" sz="1250" dirty="0"/>
          </a:p>
        </p:txBody>
      </p:sp>
      <p:sp>
        <p:nvSpPr>
          <p:cNvPr id="13" name="Shape 11"/>
          <p:cNvSpPr/>
          <p:nvPr/>
        </p:nvSpPr>
        <p:spPr>
          <a:xfrm>
            <a:off x="1097280" y="3712464"/>
            <a:ext cx="5349240" cy="731520"/>
          </a:xfrm>
          <a:prstGeom prst="roundRect">
            <a:avLst>
              <a:gd name="adj" fmla="val 10000"/>
            </a:avLst>
          </a:prstGeom>
          <a:solidFill>
            <a:srgbClr val="5B3FA0"/>
          </a:solidFill>
          <a:ln w="9525">
            <a:solidFill>
              <a:srgbClr val="5B3FA0"/>
            </a:solidFill>
            <a:prstDash val="solid"/>
          </a:ln>
        </p:spPr>
      </p:sp>
      <p:sp>
        <p:nvSpPr>
          <p:cNvPr id="14" name="Text 12"/>
          <p:cNvSpPr txBox="1"/>
          <p:nvPr/>
        </p:nvSpPr>
        <p:spPr>
          <a:xfrm>
            <a:off x="1280160" y="3712464"/>
            <a:ext cx="49834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Onboard360AI — Master Onboarding Agent   NEW</a:t>
            </a:r>
            <a:endParaRPr lang="en-US" sz="1500" dirty="0"/>
          </a:p>
        </p:txBody>
      </p:sp>
      <p:sp>
        <p:nvSpPr>
          <p:cNvPr id="15" name="Text 13"/>
          <p:cNvSpPr txBox="1"/>
          <p:nvPr/>
        </p:nvSpPr>
        <p:spPr>
          <a:xfrm>
            <a:off x="6720840" y="3712464"/>
            <a:ext cx="5029200" cy="731520"/>
          </a:xfrm>
          <a:prstGeom prst="rect">
            <a:avLst/>
          </a:prstGeom>
          <a:noFill/>
          <a:ln/>
        </p:spPr>
        <p:txBody>
          <a:bodyPr wrap="square" lIns="0" tIns="0" rIns="0" bIns="0" rtlCol="0" anchor="ctr"/>
          <a:lstStyle/>
          <a:p>
            <a:pPr indent="0" marL="0">
              <a:buNone/>
            </a:pPr>
            <a:r>
              <a:rPr lang="en-US" sz="1250" b="1" dirty="0">
                <a:solidFill>
                  <a:srgbClr val="5B3FA0"/>
                </a:solidFill>
                <a:latin typeface="Calibri" pitchFamily="34" charset="0"/>
                <a:ea typeface="Calibri" pitchFamily="34" charset="-122"/>
                <a:cs typeface="Calibri" pitchFamily="34" charset="-120"/>
              </a:rPr>
              <a:t>Owns the onboarding journey end to end, routes to sub-agents, holds onboarding state</a:t>
            </a:r>
            <a:endParaRPr lang="en-US" sz="1250" dirty="0"/>
          </a:p>
        </p:txBody>
      </p:sp>
      <p:sp>
        <p:nvSpPr>
          <p:cNvPr id="16" name="Shape 14"/>
          <p:cNvSpPr/>
          <p:nvPr/>
        </p:nvSpPr>
        <p:spPr>
          <a:xfrm>
            <a:off x="1325880" y="4553712"/>
            <a:ext cx="5120640" cy="731520"/>
          </a:xfrm>
          <a:prstGeom prst="roundRect">
            <a:avLst>
              <a:gd name="adj" fmla="val 10000"/>
            </a:avLst>
          </a:prstGeom>
          <a:solidFill>
            <a:srgbClr val="8A73C4"/>
          </a:solidFill>
          <a:ln w="9525">
            <a:solidFill>
              <a:srgbClr val="8A73C4"/>
            </a:solidFill>
            <a:prstDash val="solid"/>
          </a:ln>
        </p:spPr>
      </p:sp>
      <p:sp>
        <p:nvSpPr>
          <p:cNvPr id="17" name="Text 15"/>
          <p:cNvSpPr txBox="1"/>
          <p:nvPr/>
        </p:nvSpPr>
        <p:spPr>
          <a:xfrm>
            <a:off x="1508760" y="4553712"/>
            <a:ext cx="475488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Sub-agents (19)</a:t>
            </a:r>
            <a:endParaRPr lang="en-US" sz="1400" dirty="0"/>
          </a:p>
        </p:txBody>
      </p:sp>
      <p:sp>
        <p:nvSpPr>
          <p:cNvPr id="18" name="Text 16"/>
          <p:cNvSpPr txBox="1"/>
          <p:nvPr/>
        </p:nvSpPr>
        <p:spPr>
          <a:xfrm>
            <a:off x="6720840" y="4553712"/>
            <a:ext cx="5029200" cy="731520"/>
          </a:xfrm>
          <a:prstGeom prst="rect">
            <a:avLst/>
          </a:prstGeom>
          <a:noFill/>
          <a:ln/>
        </p:spPr>
        <p:txBody>
          <a:bodyPr wrap="square" lIns="0" tIns="0" rIns="0" bIns="0" rtlCol="0" anchor="ctr"/>
          <a:lstStyle/>
          <a:p>
            <a:pPr indent="0" marL="0">
              <a:buNone/>
            </a:pPr>
            <a:r>
              <a:rPr lang="en-US" sz="1250" dirty="0">
                <a:solidFill>
                  <a:srgbClr val="1B2238"/>
                </a:solidFill>
                <a:latin typeface="Calibri" pitchFamily="34" charset="0"/>
                <a:ea typeface="Calibri" pitchFamily="34" charset="-122"/>
                <a:cs typeface="Calibri" pitchFamily="34" charset="-120"/>
              </a:rPr>
              <a:t>Goal-bearing components, each owning an outcome</a:t>
            </a:r>
            <a:endParaRPr lang="en-US" sz="1250" dirty="0"/>
          </a:p>
        </p:txBody>
      </p:sp>
      <p:sp>
        <p:nvSpPr>
          <p:cNvPr id="19" name="Shape 17"/>
          <p:cNvSpPr/>
          <p:nvPr/>
        </p:nvSpPr>
        <p:spPr>
          <a:xfrm>
            <a:off x="1554480" y="5394960"/>
            <a:ext cx="4892040" cy="731520"/>
          </a:xfrm>
          <a:prstGeom prst="roundRect">
            <a:avLst>
              <a:gd name="adj" fmla="val 10000"/>
            </a:avLst>
          </a:prstGeom>
          <a:solidFill>
            <a:srgbClr val="B3A4DD"/>
          </a:solidFill>
          <a:ln w="9525">
            <a:solidFill>
              <a:srgbClr val="B3A4DD"/>
            </a:solidFill>
            <a:prstDash val="solid"/>
          </a:ln>
        </p:spPr>
      </p:sp>
      <p:sp>
        <p:nvSpPr>
          <p:cNvPr id="20" name="Text 18"/>
          <p:cNvSpPr txBox="1"/>
          <p:nvPr/>
        </p:nvSpPr>
        <p:spPr>
          <a:xfrm>
            <a:off x="1737360" y="5394960"/>
            <a:ext cx="452628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Skills (138)</a:t>
            </a:r>
            <a:endParaRPr lang="en-US" sz="1400" dirty="0"/>
          </a:p>
        </p:txBody>
      </p:sp>
      <p:sp>
        <p:nvSpPr>
          <p:cNvPr id="21" name="Text 19"/>
          <p:cNvSpPr txBox="1"/>
          <p:nvPr/>
        </p:nvSpPr>
        <p:spPr>
          <a:xfrm>
            <a:off x="6720840" y="5394960"/>
            <a:ext cx="5029200" cy="731520"/>
          </a:xfrm>
          <a:prstGeom prst="rect">
            <a:avLst/>
          </a:prstGeom>
          <a:noFill/>
          <a:ln/>
        </p:spPr>
        <p:txBody>
          <a:bodyPr wrap="square" lIns="0" tIns="0" rIns="0" bIns="0" rtlCol="0" anchor="ctr"/>
          <a:lstStyle/>
          <a:p>
            <a:pPr indent="0" marL="0">
              <a:buNone/>
            </a:pPr>
            <a:r>
              <a:rPr lang="en-US" sz="1250" dirty="0">
                <a:solidFill>
                  <a:srgbClr val="1B2238"/>
                </a:solidFill>
                <a:latin typeface="Calibri" pitchFamily="34" charset="0"/>
                <a:ea typeface="Calibri" pitchFamily="34" charset="-122"/>
                <a:cs typeface="Calibri" pitchFamily="34" charset="-120"/>
              </a:rPr>
              <a:t>Single procedures, rule sets or knowledge domains that return a result</a:t>
            </a:r>
            <a:endParaRPr lang="en-US" sz="12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Goals become sub-agents; rules and knowledge become reusable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Governing design rule</a:t>
            </a:r>
            <a:endParaRPr lang="en-US" sz="1000" dirty="0"/>
          </a:p>
        </p:txBody>
      </p:sp>
      <p:sp>
        <p:nvSpPr>
          <p:cNvPr id="4" name="Shape 2"/>
          <p:cNvSpPr/>
          <p:nvPr/>
        </p:nvSpPr>
        <p:spPr>
          <a:xfrm>
            <a:off x="3108960" y="1234440"/>
            <a:ext cx="5943600" cy="1005840"/>
          </a:xfrm>
          <a:prstGeom prst="roundRect">
            <a:avLst>
              <a:gd name="adj" fmla="val 9091"/>
            </a:avLst>
          </a:prstGeom>
          <a:solidFill>
            <a:srgbClr val="1B2238"/>
          </a:solidFill>
          <a:ln w="9525">
            <a:solidFill>
              <a:srgbClr val="1B2238"/>
            </a:solidFill>
            <a:prstDash val="solid"/>
          </a:ln>
        </p:spPr>
      </p:sp>
      <p:sp>
        <p:nvSpPr>
          <p:cNvPr id="5" name="Text 3"/>
          <p:cNvSpPr txBox="1"/>
          <p:nvPr/>
        </p:nvSpPr>
        <p:spPr>
          <a:xfrm>
            <a:off x="3291840" y="1234440"/>
            <a:ext cx="557784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Does the component own an outcome and choose between courses of action?</a:t>
            </a:r>
            <a:endParaRPr lang="en-US" sz="1500" dirty="0"/>
          </a:p>
        </p:txBody>
      </p:sp>
      <p:sp>
        <p:nvSpPr>
          <p:cNvPr id="6" name="Shape 4"/>
          <p:cNvSpPr/>
          <p:nvPr/>
        </p:nvSpPr>
        <p:spPr>
          <a:xfrm>
            <a:off x="6080760" y="2240280"/>
            <a:ext cx="914" cy="274320"/>
          </a:xfrm>
          <a:prstGeom prst="line">
            <a:avLst/>
          </a:prstGeom>
          <a:noFill/>
          <a:ln w="19050">
            <a:solidFill>
              <a:srgbClr val="5A6275"/>
            </a:solidFill>
            <a:prstDash val="solid"/>
          </a:ln>
        </p:spPr>
      </p:sp>
      <p:sp>
        <p:nvSpPr>
          <p:cNvPr id="7" name="Shape 5"/>
          <p:cNvSpPr/>
          <p:nvPr/>
        </p:nvSpPr>
        <p:spPr>
          <a:xfrm>
            <a:off x="3108960" y="2514600"/>
            <a:ext cx="5943600" cy="914"/>
          </a:xfrm>
          <a:prstGeom prst="line">
            <a:avLst/>
          </a:prstGeom>
          <a:noFill/>
          <a:ln w="19050">
            <a:solidFill>
              <a:srgbClr val="5A6275"/>
            </a:solidFill>
            <a:prstDash val="solid"/>
          </a:ln>
        </p:spPr>
      </p:sp>
      <p:sp>
        <p:nvSpPr>
          <p:cNvPr id="8" name="Shape 6"/>
          <p:cNvSpPr/>
          <p:nvPr/>
        </p:nvSpPr>
        <p:spPr>
          <a:xfrm>
            <a:off x="3108960" y="2514600"/>
            <a:ext cx="0" cy="320040"/>
          </a:xfrm>
          <a:prstGeom prst="line">
            <a:avLst/>
          </a:prstGeom>
          <a:noFill/>
          <a:ln w="19050">
            <a:solidFill>
              <a:srgbClr val="5A6275"/>
            </a:solidFill>
            <a:prstDash val="solid"/>
            <a:tailEnd type="triangle"/>
          </a:ln>
        </p:spPr>
      </p:sp>
      <p:sp>
        <p:nvSpPr>
          <p:cNvPr id="9" name="Text 7"/>
          <p:cNvSpPr txBox="1"/>
          <p:nvPr/>
        </p:nvSpPr>
        <p:spPr>
          <a:xfrm>
            <a:off x="1737360" y="2560320"/>
            <a:ext cx="1280160" cy="274320"/>
          </a:xfrm>
          <a:prstGeom prst="rect">
            <a:avLst/>
          </a:prstGeom>
          <a:noFill/>
          <a:ln/>
        </p:spPr>
        <p:txBody>
          <a:bodyPr wrap="square" lIns="0" tIns="0" rIns="0" bIns="0" rtlCol="0" anchor="t"/>
          <a:lstStyle/>
          <a:p>
            <a:pPr algn="r" indent="0" marL="0">
              <a:buNone/>
            </a:pPr>
            <a:r>
              <a:rPr lang="en-US" sz="1100" b="1" dirty="0">
                <a:solidFill>
                  <a:srgbClr val="5A6275"/>
                </a:solidFill>
                <a:latin typeface="Calibri" pitchFamily="34" charset="0"/>
                <a:ea typeface="Calibri" pitchFamily="34" charset="-122"/>
                <a:cs typeface="Calibri" pitchFamily="34" charset="-120"/>
              </a:rPr>
              <a:t>YES</a:t>
            </a:r>
            <a:endParaRPr lang="en-US" sz="1100" dirty="0"/>
          </a:p>
        </p:txBody>
      </p:sp>
      <p:sp>
        <p:nvSpPr>
          <p:cNvPr id="10" name="Shape 8"/>
          <p:cNvSpPr/>
          <p:nvPr/>
        </p:nvSpPr>
        <p:spPr>
          <a:xfrm>
            <a:off x="731520" y="2880360"/>
            <a:ext cx="4754880" cy="1737360"/>
          </a:xfrm>
          <a:prstGeom prst="roundRect">
            <a:avLst>
              <a:gd name="adj" fmla="val 4211"/>
            </a:avLst>
          </a:prstGeom>
          <a:solidFill>
            <a:srgbClr val="F1EDF9"/>
          </a:solidFill>
          <a:ln w="9525">
            <a:solidFill>
              <a:srgbClr val="5B3FA0"/>
            </a:solidFill>
            <a:prstDash val="solid"/>
          </a:ln>
        </p:spPr>
      </p:sp>
      <p:sp>
        <p:nvSpPr>
          <p:cNvPr id="11" name="Text 9"/>
          <p:cNvSpPr txBox="1"/>
          <p:nvPr/>
        </p:nvSpPr>
        <p:spPr>
          <a:xfrm>
            <a:off x="960120" y="3017520"/>
            <a:ext cx="4297680" cy="1508760"/>
          </a:xfrm>
          <a:prstGeom prst="rect">
            <a:avLst/>
          </a:prstGeom>
          <a:noFill/>
          <a:ln/>
        </p:spPr>
        <p:txBody>
          <a:bodyPr wrap="square" lIns="0" tIns="0" rIns="0" bIns="0" rtlCol="0" anchor="t"/>
          <a:lstStyle/>
          <a:p>
            <a:pPr indent="0" marL="0">
              <a:buNone/>
            </a:pPr>
            <a:r>
              <a:rPr lang="en-US" sz="2400" b="1" dirty="0">
                <a:solidFill>
                  <a:srgbClr val="5B3FA0"/>
                </a:solidFill>
                <a:latin typeface="Cambria" pitchFamily="34" charset="0"/>
                <a:ea typeface="Cambria" pitchFamily="34" charset="-122"/>
                <a:cs typeface="Cambria" pitchFamily="34" charset="-120"/>
              </a:rPr>
              <a:t>Sub-agent</a:t>
            </a:r>
            <a:endParaRPr lang="en-US" sz="1200" dirty="0"/>
          </a:p>
          <a:p>
            <a:pPr indent="0" marL="0">
              <a:buNone/>
            </a:pPr>
            <a:r>
              <a:rPr lang="en-US" sz="1600" i="1" dirty="0">
                <a:solidFill>
                  <a:srgbClr val="1B2238"/>
                </a:solidFill>
                <a:latin typeface="Calibri" pitchFamily="34" charset="0"/>
                <a:ea typeface="Calibri" pitchFamily="34" charset="-122"/>
                <a:cs typeface="Calibri" pitchFamily="34" charset="-120"/>
              </a:rPr>
              <a:t>Example: "Get this partner through foundational setup."</a:t>
            </a:r>
            <a:endParaRPr lang="en-US" sz="1200" dirty="0"/>
          </a:p>
        </p:txBody>
      </p:sp>
      <p:sp>
        <p:nvSpPr>
          <p:cNvPr id="12" name="Shape 10"/>
          <p:cNvSpPr/>
          <p:nvPr/>
        </p:nvSpPr>
        <p:spPr>
          <a:xfrm>
            <a:off x="9052560" y="2514600"/>
            <a:ext cx="0" cy="320040"/>
          </a:xfrm>
          <a:prstGeom prst="line">
            <a:avLst/>
          </a:prstGeom>
          <a:noFill/>
          <a:ln w="19050">
            <a:solidFill>
              <a:srgbClr val="5A6275"/>
            </a:solidFill>
            <a:prstDash val="solid"/>
            <a:tailEnd type="triangle"/>
          </a:ln>
        </p:spPr>
      </p:sp>
      <p:sp>
        <p:nvSpPr>
          <p:cNvPr id="13" name="Text 11"/>
          <p:cNvSpPr txBox="1"/>
          <p:nvPr/>
        </p:nvSpPr>
        <p:spPr>
          <a:xfrm>
            <a:off x="7680960" y="2560320"/>
            <a:ext cx="1280160" cy="274320"/>
          </a:xfrm>
          <a:prstGeom prst="rect">
            <a:avLst/>
          </a:prstGeom>
          <a:noFill/>
          <a:ln/>
        </p:spPr>
        <p:txBody>
          <a:bodyPr wrap="square" lIns="0" tIns="0" rIns="0" bIns="0" rtlCol="0" anchor="t"/>
          <a:lstStyle/>
          <a:p>
            <a:pPr algn="r" indent="0" marL="0">
              <a:buNone/>
            </a:pPr>
            <a:r>
              <a:rPr lang="en-US" sz="1100" b="1" dirty="0">
                <a:solidFill>
                  <a:srgbClr val="5A6275"/>
                </a:solidFill>
                <a:latin typeface="Calibri" pitchFamily="34" charset="0"/>
                <a:ea typeface="Calibri" pitchFamily="34" charset="-122"/>
                <a:cs typeface="Calibri" pitchFamily="34" charset="-120"/>
              </a:rPr>
              <a:t>NO</a:t>
            </a:r>
            <a:endParaRPr lang="en-US" sz="1100" dirty="0"/>
          </a:p>
        </p:txBody>
      </p:sp>
      <p:sp>
        <p:nvSpPr>
          <p:cNvPr id="14" name="Shape 12"/>
          <p:cNvSpPr/>
          <p:nvPr/>
        </p:nvSpPr>
        <p:spPr>
          <a:xfrm>
            <a:off x="6675120" y="2880360"/>
            <a:ext cx="4754880" cy="1737360"/>
          </a:xfrm>
          <a:prstGeom prst="roundRect">
            <a:avLst>
              <a:gd name="adj" fmla="val 4211"/>
            </a:avLst>
          </a:prstGeom>
          <a:solidFill>
            <a:srgbClr val="F1EDF9"/>
          </a:solidFill>
          <a:ln w="9525">
            <a:solidFill>
              <a:srgbClr val="8A73C4"/>
            </a:solidFill>
            <a:prstDash val="solid"/>
          </a:ln>
        </p:spPr>
      </p:sp>
      <p:sp>
        <p:nvSpPr>
          <p:cNvPr id="15" name="Text 13"/>
          <p:cNvSpPr txBox="1"/>
          <p:nvPr/>
        </p:nvSpPr>
        <p:spPr>
          <a:xfrm>
            <a:off x="6903720" y="3017520"/>
            <a:ext cx="4297680" cy="1508760"/>
          </a:xfrm>
          <a:prstGeom prst="rect">
            <a:avLst/>
          </a:prstGeom>
          <a:noFill/>
          <a:ln/>
        </p:spPr>
        <p:txBody>
          <a:bodyPr wrap="square" lIns="0" tIns="0" rIns="0" bIns="0" rtlCol="0" anchor="t"/>
          <a:lstStyle/>
          <a:p>
            <a:pPr indent="0" marL="0">
              <a:buNone/>
            </a:pPr>
            <a:r>
              <a:rPr lang="en-US" sz="2400" b="1" dirty="0">
                <a:solidFill>
                  <a:srgbClr val="8A73C4"/>
                </a:solidFill>
                <a:latin typeface="Cambria" pitchFamily="34" charset="0"/>
                <a:ea typeface="Cambria" pitchFamily="34" charset="-122"/>
                <a:cs typeface="Cambria" pitchFamily="34" charset="-120"/>
              </a:rPr>
              <a:t>Skill</a:t>
            </a:r>
            <a:endParaRPr lang="en-US" sz="1200" dirty="0"/>
          </a:p>
          <a:p>
            <a:pPr indent="0" marL="0">
              <a:buNone/>
            </a:pPr>
            <a:r>
              <a:rPr lang="en-US" sz="1600" i="1" dirty="0">
                <a:solidFill>
                  <a:srgbClr val="1B2238"/>
                </a:solidFill>
                <a:latin typeface="Calibri" pitchFamily="34" charset="0"/>
                <a:ea typeface="Calibri" pitchFamily="34" charset="-122"/>
                <a:cs typeface="Calibri" pitchFamily="34" charset="-120"/>
              </a:rPr>
              <a:t>Example: "Determine which access route applies to this request type."</a:t>
            </a:r>
            <a:endParaRPr lang="en-US" sz="1200" dirty="0"/>
          </a:p>
        </p:txBody>
      </p:sp>
      <p:sp>
        <p:nvSpPr>
          <p:cNvPr id="16" name="Shape 14"/>
          <p:cNvSpPr/>
          <p:nvPr/>
        </p:nvSpPr>
        <p:spPr>
          <a:xfrm>
            <a:off x="411480" y="4983480"/>
            <a:ext cx="3639312" cy="914400"/>
          </a:xfrm>
          <a:prstGeom prst="roundRect">
            <a:avLst>
              <a:gd name="adj" fmla="val 8000"/>
            </a:avLst>
          </a:prstGeom>
          <a:solidFill>
            <a:srgbClr val="F3F4F7"/>
          </a:solidFill>
          <a:ln w="9525">
            <a:solidFill>
              <a:srgbClr val="F3F4F7"/>
            </a:solidFill>
            <a:prstDash val="solid"/>
          </a:ln>
        </p:spPr>
      </p:sp>
      <p:sp>
        <p:nvSpPr>
          <p:cNvPr id="17" name="Text 15"/>
          <p:cNvSpPr txBox="1"/>
          <p:nvPr/>
        </p:nvSpPr>
        <p:spPr>
          <a:xfrm>
            <a:off x="594360" y="4983480"/>
            <a:ext cx="3291840" cy="914400"/>
          </a:xfrm>
          <a:prstGeom prst="rect">
            <a:avLst/>
          </a:prstGeom>
          <a:noFill/>
          <a:ln/>
        </p:spPr>
        <p:txBody>
          <a:bodyPr wrap="square" lIns="0" tIns="0" rIns="0" bIns="0" rtlCol="0" anchor="ctr"/>
          <a:lstStyle/>
          <a:p>
            <a:pPr indent="0" marL="0">
              <a:buNone/>
            </a:pPr>
            <a:r>
              <a:rPr lang="en-US" sz="1500" b="1" dirty="0">
                <a:solidFill>
                  <a:srgbClr val="1B2238"/>
                </a:solidFill>
                <a:latin typeface="Calibri" pitchFamily="34" charset="0"/>
                <a:ea typeface="Calibri" pitchFamily="34" charset="-122"/>
                <a:cs typeface="Calibri" pitchFamily="34" charset="-120"/>
              </a:rPr>
              <a:t>Small and testable</a:t>
            </a:r>
            <a:endParaRPr lang="en-US" sz="1500" dirty="0"/>
          </a:p>
        </p:txBody>
      </p:sp>
      <p:sp>
        <p:nvSpPr>
          <p:cNvPr id="18" name="Shape 16"/>
          <p:cNvSpPr/>
          <p:nvPr/>
        </p:nvSpPr>
        <p:spPr>
          <a:xfrm>
            <a:off x="4233672" y="4983480"/>
            <a:ext cx="3639312" cy="914400"/>
          </a:xfrm>
          <a:prstGeom prst="roundRect">
            <a:avLst>
              <a:gd name="adj" fmla="val 8000"/>
            </a:avLst>
          </a:prstGeom>
          <a:solidFill>
            <a:srgbClr val="F3F4F7"/>
          </a:solidFill>
          <a:ln w="9525">
            <a:solidFill>
              <a:srgbClr val="F3F4F7"/>
            </a:solidFill>
            <a:prstDash val="solid"/>
          </a:ln>
        </p:spPr>
      </p:sp>
      <p:sp>
        <p:nvSpPr>
          <p:cNvPr id="19" name="Text 17"/>
          <p:cNvSpPr txBox="1"/>
          <p:nvPr/>
        </p:nvSpPr>
        <p:spPr>
          <a:xfrm>
            <a:off x="4416552" y="4983480"/>
            <a:ext cx="3291840" cy="914400"/>
          </a:xfrm>
          <a:prstGeom prst="rect">
            <a:avLst/>
          </a:prstGeom>
          <a:noFill/>
          <a:ln/>
        </p:spPr>
        <p:txBody>
          <a:bodyPr wrap="square" lIns="0" tIns="0" rIns="0" bIns="0" rtlCol="0" anchor="ctr"/>
          <a:lstStyle/>
          <a:p>
            <a:pPr indent="0" marL="0">
              <a:buNone/>
            </a:pPr>
            <a:r>
              <a:rPr lang="en-US" sz="1500" b="1" dirty="0">
                <a:solidFill>
                  <a:srgbClr val="1B2238"/>
                </a:solidFill>
                <a:latin typeface="Calibri" pitchFamily="34" charset="0"/>
                <a:ea typeface="Calibri" pitchFamily="34" charset="-122"/>
                <a:cs typeface="Calibri" pitchFamily="34" charset="-120"/>
              </a:rPr>
              <a:t>Reused across sub-agents</a:t>
            </a:r>
            <a:endParaRPr lang="en-US" sz="1500" dirty="0"/>
          </a:p>
        </p:txBody>
      </p:sp>
      <p:sp>
        <p:nvSpPr>
          <p:cNvPr id="20" name="Shape 18"/>
          <p:cNvSpPr/>
          <p:nvPr/>
        </p:nvSpPr>
        <p:spPr>
          <a:xfrm>
            <a:off x="8055864" y="4983480"/>
            <a:ext cx="3639312" cy="914400"/>
          </a:xfrm>
          <a:prstGeom prst="roundRect">
            <a:avLst>
              <a:gd name="adj" fmla="val 8000"/>
            </a:avLst>
          </a:prstGeom>
          <a:solidFill>
            <a:srgbClr val="F3F4F7"/>
          </a:solidFill>
          <a:ln w="9525">
            <a:solidFill>
              <a:srgbClr val="F3F4F7"/>
            </a:solidFill>
            <a:prstDash val="solid"/>
          </a:ln>
        </p:spPr>
      </p:sp>
      <p:sp>
        <p:nvSpPr>
          <p:cNvPr id="21" name="Text 19"/>
          <p:cNvSpPr txBox="1"/>
          <p:nvPr/>
        </p:nvSpPr>
        <p:spPr>
          <a:xfrm>
            <a:off x="8238744" y="4983480"/>
            <a:ext cx="3291840" cy="914400"/>
          </a:xfrm>
          <a:prstGeom prst="rect">
            <a:avLst/>
          </a:prstGeom>
          <a:noFill/>
          <a:ln/>
        </p:spPr>
        <p:txBody>
          <a:bodyPr wrap="square" lIns="0" tIns="0" rIns="0" bIns="0" rtlCol="0" anchor="ctr"/>
          <a:lstStyle/>
          <a:p>
            <a:pPr indent="0" marL="0">
              <a:buNone/>
            </a:pPr>
            <a:r>
              <a:rPr lang="en-US" sz="1500" b="1" dirty="0">
                <a:solidFill>
                  <a:srgbClr val="1B2238"/>
                </a:solidFill>
                <a:latin typeface="Calibri" pitchFamily="34" charset="0"/>
                <a:ea typeface="Calibri" pitchFamily="34" charset="-122"/>
                <a:cs typeface="Calibri" pitchFamily="34" charset="-120"/>
              </a:rPr>
              <a:t>Independently versionable — written once, called everywhere</a:t>
            </a:r>
            <a:endParaRPr lang="en-US" sz="15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Every skill declares its integration level and says so before it acts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Integration maturity</a:t>
            </a:r>
            <a:endParaRPr lang="en-US" sz="1000" dirty="0"/>
          </a:p>
        </p:txBody>
      </p:sp>
      <p:sp>
        <p:nvSpPr>
          <p:cNvPr id="4" name="Shape 2"/>
          <p:cNvSpPr/>
          <p:nvPr/>
        </p:nvSpPr>
        <p:spPr>
          <a:xfrm>
            <a:off x="411480" y="4206240"/>
            <a:ext cx="3639312" cy="1554480"/>
          </a:xfrm>
          <a:prstGeom prst="roundRect">
            <a:avLst>
              <a:gd name="adj" fmla="val 3529"/>
            </a:avLst>
          </a:prstGeom>
          <a:solidFill>
            <a:srgbClr val="B3A4DD"/>
          </a:solidFill>
          <a:ln w="9525">
            <a:solidFill>
              <a:srgbClr val="B3A4DD"/>
            </a:solidFill>
            <a:prstDash val="solid"/>
          </a:ln>
        </p:spPr>
      </p:sp>
      <p:sp>
        <p:nvSpPr>
          <p:cNvPr id="5" name="Text 3"/>
          <p:cNvSpPr txBox="1"/>
          <p:nvPr/>
        </p:nvSpPr>
        <p:spPr>
          <a:xfrm>
            <a:off x="594360" y="4343400"/>
            <a:ext cx="3291840" cy="12801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P1  </a:t>
            </a:r>
            <a:pPr indent="0" marL="0">
              <a:buNone/>
            </a:pPr>
            <a:r>
              <a:rPr lang="en-US" sz="1600" b="1" dirty="0">
                <a:solidFill>
                  <a:srgbClr val="FFFFFF"/>
                </a:solidFill>
                <a:latin typeface="Calibri" pitchFamily="34" charset="0"/>
                <a:ea typeface="Calibri" pitchFamily="34" charset="-122"/>
                <a:cs typeface="Calibri" pitchFamily="34" charset="-120"/>
              </a:rPr>
              <a:t>Link</a:t>
            </a:r>
            <a:endParaRPr lang="en-US" sz="1200" dirty="0"/>
          </a:p>
          <a:p>
            <a:pPr indent="0" marL="0">
              <a:buNone/>
            </a:pPr>
            <a:r>
              <a:rPr lang="en-US" sz="1250" dirty="0">
                <a:solidFill>
                  <a:srgbClr val="FFFFFF"/>
                </a:solidFill>
                <a:latin typeface="Calibri" pitchFamily="34" charset="0"/>
                <a:ea typeface="Calibri" pitchFamily="34" charset="-122"/>
                <a:cs typeface="Calibri" pitchFamily="34" charset="-120"/>
              </a:rPr>
              <a:t>Points the user to the authoritative Confluence or knowledge base page</a:t>
            </a:r>
            <a:endParaRPr lang="en-US" sz="1200" dirty="0"/>
          </a:p>
        </p:txBody>
      </p:sp>
      <p:sp>
        <p:nvSpPr>
          <p:cNvPr id="6" name="Shape 4"/>
          <p:cNvSpPr/>
          <p:nvPr/>
        </p:nvSpPr>
        <p:spPr>
          <a:xfrm>
            <a:off x="4233672" y="3383280"/>
            <a:ext cx="3639312" cy="2377440"/>
          </a:xfrm>
          <a:prstGeom prst="roundRect">
            <a:avLst>
              <a:gd name="adj" fmla="val 2308"/>
            </a:avLst>
          </a:prstGeom>
          <a:solidFill>
            <a:srgbClr val="8A73C4"/>
          </a:solidFill>
          <a:ln w="9525">
            <a:solidFill>
              <a:srgbClr val="8A73C4"/>
            </a:solidFill>
            <a:prstDash val="solid"/>
          </a:ln>
        </p:spPr>
      </p:sp>
      <p:sp>
        <p:nvSpPr>
          <p:cNvPr id="7" name="Text 5"/>
          <p:cNvSpPr txBox="1"/>
          <p:nvPr/>
        </p:nvSpPr>
        <p:spPr>
          <a:xfrm>
            <a:off x="4416552" y="3520440"/>
            <a:ext cx="3291840" cy="21031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P2  </a:t>
            </a:r>
            <a:pPr indent="0" marL="0">
              <a:buNone/>
            </a:pPr>
            <a:r>
              <a:rPr lang="en-US" sz="1600" b="1" dirty="0">
                <a:solidFill>
                  <a:srgbClr val="FFFFFF"/>
                </a:solidFill>
                <a:latin typeface="Calibri" pitchFamily="34" charset="0"/>
                <a:ea typeface="Calibri" pitchFamily="34" charset="-122"/>
                <a:cs typeface="Calibri" pitchFamily="34" charset="-120"/>
              </a:rPr>
              <a:t>Read and guide</a:t>
            </a:r>
            <a:endParaRPr lang="en-US" sz="1200" dirty="0"/>
          </a:p>
          <a:p>
            <a:pPr indent="0" marL="0">
              <a:buNone/>
            </a:pPr>
            <a:r>
              <a:rPr lang="en-US" sz="1250" dirty="0">
                <a:solidFill>
                  <a:srgbClr val="FFFFFF"/>
                </a:solidFill>
                <a:latin typeface="Calibri" pitchFamily="34" charset="0"/>
                <a:ea typeface="Calibri" pitchFamily="34" charset="-122"/>
                <a:cs typeface="Calibri" pitchFamily="34" charset="-120"/>
              </a:rPr>
              <a:t>Reads the source and guides the user step by step; writes to no system</a:t>
            </a:r>
            <a:endParaRPr lang="en-US" sz="1200" dirty="0"/>
          </a:p>
        </p:txBody>
      </p:sp>
      <p:sp>
        <p:nvSpPr>
          <p:cNvPr id="8" name="Shape 6"/>
          <p:cNvSpPr/>
          <p:nvPr/>
        </p:nvSpPr>
        <p:spPr>
          <a:xfrm>
            <a:off x="8055864" y="2560320"/>
            <a:ext cx="3639312" cy="3200400"/>
          </a:xfrm>
          <a:prstGeom prst="roundRect">
            <a:avLst>
              <a:gd name="adj" fmla="val 1714"/>
            </a:avLst>
          </a:prstGeom>
          <a:solidFill>
            <a:srgbClr val="5B3FA0"/>
          </a:solidFill>
          <a:ln w="9525">
            <a:solidFill>
              <a:srgbClr val="5B3FA0"/>
            </a:solidFill>
            <a:prstDash val="solid"/>
          </a:ln>
        </p:spPr>
      </p:sp>
      <p:sp>
        <p:nvSpPr>
          <p:cNvPr id="9" name="Text 7"/>
          <p:cNvSpPr txBox="1"/>
          <p:nvPr/>
        </p:nvSpPr>
        <p:spPr>
          <a:xfrm>
            <a:off x="8238744" y="2697480"/>
            <a:ext cx="3291840" cy="2926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P3  </a:t>
            </a:r>
            <a:pPr indent="0" marL="0">
              <a:buNone/>
            </a:pPr>
            <a:r>
              <a:rPr lang="en-US" sz="1600" b="1" dirty="0">
                <a:solidFill>
                  <a:srgbClr val="FFFFFF"/>
                </a:solidFill>
                <a:latin typeface="Calibri" pitchFamily="34" charset="0"/>
                <a:ea typeface="Calibri" pitchFamily="34" charset="-122"/>
                <a:cs typeface="Calibri" pitchFamily="34" charset="-120"/>
              </a:rPr>
              <a:t>Direct integration</a:t>
            </a:r>
            <a:endParaRPr lang="en-US" sz="1200" dirty="0"/>
          </a:p>
          <a:p>
            <a:pPr indent="0" marL="0">
              <a:buNone/>
            </a:pPr>
            <a:r>
              <a:rPr lang="en-US" sz="1250" dirty="0">
                <a:solidFill>
                  <a:srgbClr val="FFFFFF"/>
                </a:solidFill>
                <a:latin typeface="Calibri" pitchFamily="34" charset="0"/>
                <a:ea typeface="Calibri" pitchFamily="34" charset="-122"/>
                <a:cs typeface="Calibri" pitchFamily="34" charset="-120"/>
              </a:rPr>
              <a:t>Calls the target system via MCP or API; reads live state and acts where authorised</a:t>
            </a:r>
            <a:endParaRPr lang="en-US" sz="1200" dirty="0"/>
          </a:p>
        </p:txBody>
      </p:sp>
      <p:sp>
        <p:nvSpPr>
          <p:cNvPr id="10" name="Shape 8"/>
          <p:cNvSpPr/>
          <p:nvPr/>
        </p:nvSpPr>
        <p:spPr>
          <a:xfrm>
            <a:off x="411480" y="1188720"/>
            <a:ext cx="7223760" cy="1280160"/>
          </a:xfrm>
          <a:prstGeom prst="roundRect">
            <a:avLst>
              <a:gd name="adj" fmla="val 5714"/>
            </a:avLst>
          </a:prstGeom>
          <a:solidFill>
            <a:srgbClr val="F1EDF9"/>
          </a:solidFill>
          <a:ln w="9525">
            <a:solidFill>
              <a:srgbClr val="5B3FA0"/>
            </a:solidFill>
            <a:prstDash val="solid"/>
          </a:ln>
        </p:spPr>
      </p:sp>
      <p:sp>
        <p:nvSpPr>
          <p:cNvPr id="11" name="Text 9"/>
          <p:cNvSpPr txBox="1"/>
          <p:nvPr/>
        </p:nvSpPr>
        <p:spPr>
          <a:xfrm>
            <a:off x="594360" y="1280160"/>
            <a:ext cx="6858000" cy="1097280"/>
          </a:xfrm>
          <a:prstGeom prst="rect">
            <a:avLst/>
          </a:prstGeom>
          <a:noFill/>
          <a:ln/>
        </p:spPr>
        <p:txBody>
          <a:bodyPr wrap="square" lIns="0" tIns="0" rIns="0" bIns="0" rtlCol="0" anchor="t"/>
          <a:lstStyle/>
          <a:p>
            <a:pPr indent="0" marL="0">
              <a:buNone/>
            </a:pPr>
            <a:r>
              <a:rPr lang="en-US" sz="1100" b="1" dirty="0">
                <a:solidFill>
                  <a:srgbClr val="5B3FA0"/>
                </a:solidFill>
                <a:latin typeface="Calibri" pitchFamily="34" charset="0"/>
                <a:ea typeface="Calibri" pitchFamily="34" charset="-122"/>
                <a:cs typeface="Calibri" pitchFamily="34" charset="-120"/>
              </a:rPr>
              <a:t>RUNTIME DISCLOSURE RULE</a:t>
            </a:r>
            <a:endParaRPr lang="en-US" sz="1200" dirty="0"/>
          </a:p>
          <a:p>
            <a:pPr indent="0" marL="0">
              <a:buNone/>
            </a:pPr>
            <a:r>
              <a:rPr lang="en-US" sz="1300" dirty="0">
                <a:solidFill>
                  <a:srgbClr val="1B2238"/>
                </a:solidFill>
                <a:latin typeface="Calibri" pitchFamily="34" charset="0"/>
                <a:ea typeface="Calibri" pitchFamily="34" charset="-122"/>
                <a:cs typeface="Calibri" pitchFamily="34" charset="-120"/>
              </a:rPr>
              <a:t>Every agent and skill states at the start what is integrated today and what the next phase adds, so no user assumes an action was performed when it was only described.</a:t>
            </a:r>
            <a:endParaRPr lang="en-US" sz="12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Nineteen sub-agents cover every stage; eight form the MVP1 baseline</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Sub-agent roster</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412480" cy="914400"/>
        </p:xfrm>
        <a:graphic>
          <a:graphicData uri="http://schemas.openxmlformats.org/drawingml/2006/table">
            <a:tbl>
              <a:tblPr/>
              <a:tblGrid>
                <a:gridCol w="2926080"/>
                <a:gridCol w="1005840"/>
                <a:gridCol w="497434"/>
                <a:gridCol w="497434"/>
                <a:gridCol w="497434"/>
                <a:gridCol w="497434"/>
                <a:gridCol w="497434"/>
                <a:gridCol w="497434"/>
                <a:gridCol w="497434"/>
                <a:gridCol w="497434"/>
                <a:gridCol w="497434"/>
              </a:tblGrid>
              <a:tr h="23774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Sub-agent</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2563A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2563A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2563A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2563A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9771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9771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9771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2E7D4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2E7D4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POC Assistance</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Intake Verification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Foundational Setup</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Volume Assessment</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Load Testing</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Apigee Subscription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Postman Collection Generation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Environment Progression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indent="0" marL="0">
                        <a:buNone/>
                      </a:pPr>
                      <a:r>
                        <a:rPr lang="en-US" sz="950" dirty="0">
                          <a:solidFill>
                            <a:srgbClr val="5B3FA0"/>
                          </a:solidFill>
                          <a:latin typeface="Calibri" pitchFamily="34" charset="0"/>
                          <a:ea typeface="Calibri" pitchFamily="34" charset="-122"/>
                          <a:cs typeface="Calibri" pitchFamily="34" charset="-120"/>
                        </a:rPr>
                        <a:t>MVP1</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Intake Authoring Assistance</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Triage Classification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Prioritisation Support</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Epic &amp; Feature Composition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KEES Enablement</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Imaging Governance Liaison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Content Processing Configuration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Records &amp; Retention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Metadata &amp; Retrieval Design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Test Orchestration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B2238"/>
                          </a:solidFill>
                          <a:latin typeface="Calibri" pitchFamily="34" charset="0"/>
                          <a:ea typeface="Calibri" pitchFamily="34" charset="-122"/>
                          <a:cs typeface="Calibri" pitchFamily="34" charset="-120"/>
                        </a:rPr>
                        <a:t>Release Readiness</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5A6275"/>
                          </a:solidFill>
                          <a:latin typeface="Calibri" pitchFamily="34" charset="0"/>
                          <a:ea typeface="Calibri" pitchFamily="34" charset="-122"/>
                          <a:cs typeface="Calibri" pitchFamily="34" charset="-120"/>
                        </a:rPr>
                        <a:t>Extension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5" name="Shape 2"/>
          <p:cNvSpPr/>
          <p:nvPr/>
        </p:nvSpPr>
        <p:spPr>
          <a:xfrm>
            <a:off x="9052560" y="1188720"/>
            <a:ext cx="2724912" cy="5029200"/>
          </a:xfrm>
          <a:prstGeom prst="roundRect">
            <a:avLst>
              <a:gd name="adj" fmla="val 2013"/>
            </a:avLst>
          </a:prstGeom>
          <a:solidFill>
            <a:srgbClr val="FFFFFF"/>
          </a:solidFill>
          <a:ln w="9525">
            <a:solidFill>
              <a:srgbClr val="D5D9E2"/>
            </a:solidFill>
            <a:prstDash val="solid"/>
          </a:ln>
        </p:spPr>
      </p:sp>
      <p:sp>
        <p:nvSpPr>
          <p:cNvPr id="6" name="Text 3"/>
          <p:cNvSpPr txBox="1"/>
          <p:nvPr/>
        </p:nvSpPr>
        <p:spPr>
          <a:xfrm>
            <a:off x="9189720" y="1280160"/>
            <a:ext cx="245059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READING THE ROSTER</a:t>
            </a:r>
            <a:endParaRPr lang="en-US" sz="950" dirty="0"/>
          </a:p>
        </p:txBody>
      </p:sp>
      <p:sp>
        <p:nvSpPr>
          <p:cNvPr id="7" name="Text 4"/>
          <p:cNvSpPr txBox="1"/>
          <p:nvPr/>
        </p:nvSpPr>
        <p:spPr>
          <a:xfrm>
            <a:off x="9189720" y="1554480"/>
            <a:ext cx="2450592" cy="457200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8 MVP1 sub-agents (shaded) concentrate on Stage 8, where lead times and routing errors cost most</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11 extension sub-agents close the front of the flow and the specialist workstreams</a:t>
            </a:r>
            <a:endParaRPr lang="en-US" sz="1150" dirty="0"/>
          </a:p>
          <a:p>
            <a:pPr marL="152400" indent="-152400">
              <a:spcAft>
                <a:spcPts val="300"/>
              </a:spcAft>
              <a:buSzPct val="100000"/>
              <a:buChar char="•"/>
            </a:pPr>
            <a:r>
              <a:rPr lang="en-US" sz="1150" dirty="0">
                <a:solidFill>
                  <a:srgbClr val="1B2238"/>
                </a:solidFill>
                <a:latin typeface="Calibri" pitchFamily="34" charset="0"/>
                <a:ea typeface="Calibri" pitchFamily="34" charset="-122"/>
                <a:cs typeface="Calibri" pitchFamily="34" charset="-120"/>
              </a:rPr>
              <a:t>Onboard360AI orchestrates all 19 and holds the onboarding record</a:t>
            </a:r>
            <a:endParaRPr lang="en-US" sz="11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One hundred thirty-eight skills in twelve domains, each reusable and phase-tagged</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Skills catalogue</a:t>
            </a:r>
            <a:endParaRPr lang="en-US" sz="1000" dirty="0"/>
          </a:p>
        </p:txBody>
      </p:sp>
      <p:sp>
        <p:nvSpPr>
          <p:cNvPr id="4" name="Shape 2"/>
          <p:cNvSpPr/>
          <p:nvPr/>
        </p:nvSpPr>
        <p:spPr>
          <a:xfrm>
            <a:off x="411480" y="1188720"/>
            <a:ext cx="2724912" cy="1353312"/>
          </a:xfrm>
          <a:prstGeom prst="roundRect">
            <a:avLst>
              <a:gd name="adj" fmla="val 5405"/>
            </a:avLst>
          </a:prstGeom>
          <a:solidFill>
            <a:srgbClr val="F1EDF9"/>
          </a:solidFill>
          <a:ln w="9525">
            <a:solidFill>
              <a:srgbClr val="F1EDF9"/>
            </a:solidFill>
            <a:prstDash val="solid"/>
          </a:ln>
        </p:spPr>
      </p:sp>
      <p:sp>
        <p:nvSpPr>
          <p:cNvPr id="5" name="Text 3"/>
          <p:cNvSpPr txBox="1"/>
          <p:nvPr/>
        </p:nvSpPr>
        <p:spPr>
          <a:xfrm>
            <a:off x="2194560" y="1280160"/>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13</a:t>
            </a:r>
            <a:endParaRPr lang="en-US" sz="2800" dirty="0"/>
          </a:p>
        </p:txBody>
      </p:sp>
      <p:sp>
        <p:nvSpPr>
          <p:cNvPr id="6" name="Text 4"/>
          <p:cNvSpPr txBox="1"/>
          <p:nvPr/>
        </p:nvSpPr>
        <p:spPr>
          <a:xfrm>
            <a:off x="548640" y="1298448"/>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A · SK-IN</a:t>
            </a:r>
            <a:endParaRPr lang="en-US" sz="1050" dirty="0"/>
          </a:p>
        </p:txBody>
      </p:sp>
      <p:sp>
        <p:nvSpPr>
          <p:cNvPr id="7" name="Text 5"/>
          <p:cNvSpPr txBox="1"/>
          <p:nvPr/>
        </p:nvSpPr>
        <p:spPr>
          <a:xfrm>
            <a:off x="548640" y="1691640"/>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Intake and DOR</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Intake Authoring; POC Assistance</a:t>
            </a:r>
            <a:endParaRPr lang="en-US" sz="1200" dirty="0"/>
          </a:p>
        </p:txBody>
      </p:sp>
      <p:sp>
        <p:nvSpPr>
          <p:cNvPr id="8" name="Shape 6"/>
          <p:cNvSpPr/>
          <p:nvPr/>
        </p:nvSpPr>
        <p:spPr>
          <a:xfrm>
            <a:off x="3273552" y="1188720"/>
            <a:ext cx="2724912" cy="1353312"/>
          </a:xfrm>
          <a:prstGeom prst="roundRect">
            <a:avLst>
              <a:gd name="adj" fmla="val 5405"/>
            </a:avLst>
          </a:prstGeom>
          <a:solidFill>
            <a:srgbClr val="F1EDF9"/>
          </a:solidFill>
          <a:ln w="9525">
            <a:solidFill>
              <a:srgbClr val="F1EDF9"/>
            </a:solidFill>
            <a:prstDash val="solid"/>
          </a:ln>
        </p:spPr>
      </p:sp>
      <p:sp>
        <p:nvSpPr>
          <p:cNvPr id="9" name="Text 7"/>
          <p:cNvSpPr txBox="1"/>
          <p:nvPr/>
        </p:nvSpPr>
        <p:spPr>
          <a:xfrm>
            <a:off x="5056632" y="1280160"/>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11</a:t>
            </a:r>
            <a:endParaRPr lang="en-US" sz="2800" dirty="0"/>
          </a:p>
        </p:txBody>
      </p:sp>
      <p:sp>
        <p:nvSpPr>
          <p:cNvPr id="10" name="Text 8"/>
          <p:cNvSpPr txBox="1"/>
          <p:nvPr/>
        </p:nvSpPr>
        <p:spPr>
          <a:xfrm>
            <a:off x="3410712" y="1298448"/>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B · SK-TR</a:t>
            </a:r>
            <a:endParaRPr lang="en-US" sz="1050" dirty="0"/>
          </a:p>
        </p:txBody>
      </p:sp>
      <p:sp>
        <p:nvSpPr>
          <p:cNvPr id="11" name="Text 9"/>
          <p:cNvSpPr txBox="1"/>
          <p:nvPr/>
        </p:nvSpPr>
        <p:spPr>
          <a:xfrm>
            <a:off x="3410712" y="1691640"/>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Intake Verification and Triage</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Intake Verification; Triage Classification</a:t>
            </a:r>
            <a:endParaRPr lang="en-US" sz="1200" dirty="0"/>
          </a:p>
        </p:txBody>
      </p:sp>
      <p:sp>
        <p:nvSpPr>
          <p:cNvPr id="12" name="Shape 10"/>
          <p:cNvSpPr/>
          <p:nvPr/>
        </p:nvSpPr>
        <p:spPr>
          <a:xfrm>
            <a:off x="6135624" y="1188720"/>
            <a:ext cx="2724912" cy="1353312"/>
          </a:xfrm>
          <a:prstGeom prst="roundRect">
            <a:avLst>
              <a:gd name="adj" fmla="val 5405"/>
            </a:avLst>
          </a:prstGeom>
          <a:solidFill>
            <a:srgbClr val="F1EDF9"/>
          </a:solidFill>
          <a:ln w="9525">
            <a:solidFill>
              <a:srgbClr val="F1EDF9"/>
            </a:solidFill>
            <a:prstDash val="solid"/>
          </a:ln>
        </p:spPr>
      </p:sp>
      <p:sp>
        <p:nvSpPr>
          <p:cNvPr id="13" name="Text 11"/>
          <p:cNvSpPr txBox="1"/>
          <p:nvPr/>
        </p:nvSpPr>
        <p:spPr>
          <a:xfrm>
            <a:off x="7918704" y="1280160"/>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10</a:t>
            </a:r>
            <a:endParaRPr lang="en-US" sz="2800" dirty="0"/>
          </a:p>
        </p:txBody>
      </p:sp>
      <p:sp>
        <p:nvSpPr>
          <p:cNvPr id="14" name="Text 12"/>
          <p:cNvSpPr txBox="1"/>
          <p:nvPr/>
        </p:nvSpPr>
        <p:spPr>
          <a:xfrm>
            <a:off x="6272784" y="1298448"/>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C · SK-PL</a:t>
            </a:r>
            <a:endParaRPr lang="en-US" sz="1050" dirty="0"/>
          </a:p>
        </p:txBody>
      </p:sp>
      <p:sp>
        <p:nvSpPr>
          <p:cNvPr id="15" name="Text 13"/>
          <p:cNvSpPr txBox="1"/>
          <p:nvPr/>
        </p:nvSpPr>
        <p:spPr>
          <a:xfrm>
            <a:off x="6272784" y="1691640"/>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Prioritisation and Planning</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Prioritisation; Epic &amp; Feature</a:t>
            </a:r>
            <a:endParaRPr lang="en-US" sz="1200" dirty="0"/>
          </a:p>
        </p:txBody>
      </p:sp>
      <p:sp>
        <p:nvSpPr>
          <p:cNvPr id="16" name="Shape 14"/>
          <p:cNvSpPr/>
          <p:nvPr/>
        </p:nvSpPr>
        <p:spPr>
          <a:xfrm>
            <a:off x="8997696" y="1188720"/>
            <a:ext cx="2724912" cy="1353312"/>
          </a:xfrm>
          <a:prstGeom prst="roundRect">
            <a:avLst>
              <a:gd name="adj" fmla="val 5405"/>
            </a:avLst>
          </a:prstGeom>
          <a:solidFill>
            <a:srgbClr val="F1EDF9"/>
          </a:solidFill>
          <a:ln w="9525">
            <a:solidFill>
              <a:srgbClr val="F1EDF9"/>
            </a:solidFill>
            <a:prstDash val="solid"/>
          </a:ln>
        </p:spPr>
      </p:sp>
      <p:sp>
        <p:nvSpPr>
          <p:cNvPr id="17" name="Text 15"/>
          <p:cNvSpPr txBox="1"/>
          <p:nvPr/>
        </p:nvSpPr>
        <p:spPr>
          <a:xfrm>
            <a:off x="10780776" y="1280160"/>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10</a:t>
            </a:r>
            <a:endParaRPr lang="en-US" sz="2800" dirty="0"/>
          </a:p>
        </p:txBody>
      </p:sp>
      <p:sp>
        <p:nvSpPr>
          <p:cNvPr id="18" name="Text 16"/>
          <p:cNvSpPr txBox="1"/>
          <p:nvPr/>
        </p:nvSpPr>
        <p:spPr>
          <a:xfrm>
            <a:off x="9134856" y="1298448"/>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D · SK-CP</a:t>
            </a:r>
            <a:endParaRPr lang="en-US" sz="1050" dirty="0"/>
          </a:p>
        </p:txBody>
      </p:sp>
      <p:sp>
        <p:nvSpPr>
          <p:cNvPr id="19" name="Text 17"/>
          <p:cNvSpPr txBox="1"/>
          <p:nvPr/>
        </p:nvSpPr>
        <p:spPr>
          <a:xfrm>
            <a:off x="9134856" y="1691640"/>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Volume, Capacity, Load Testing</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Volume Assessment; Load Testing</a:t>
            </a:r>
            <a:endParaRPr lang="en-US" sz="1200" dirty="0"/>
          </a:p>
        </p:txBody>
      </p:sp>
      <p:sp>
        <p:nvSpPr>
          <p:cNvPr id="20" name="Shape 18"/>
          <p:cNvSpPr/>
          <p:nvPr/>
        </p:nvSpPr>
        <p:spPr>
          <a:xfrm>
            <a:off x="411480" y="2670048"/>
            <a:ext cx="2724912" cy="1353312"/>
          </a:xfrm>
          <a:prstGeom prst="roundRect">
            <a:avLst>
              <a:gd name="adj" fmla="val 5405"/>
            </a:avLst>
          </a:prstGeom>
          <a:solidFill>
            <a:srgbClr val="F1EDF9"/>
          </a:solidFill>
          <a:ln w="9525">
            <a:solidFill>
              <a:srgbClr val="F1EDF9"/>
            </a:solidFill>
            <a:prstDash val="solid"/>
          </a:ln>
        </p:spPr>
      </p:sp>
      <p:sp>
        <p:nvSpPr>
          <p:cNvPr id="21" name="Text 19"/>
          <p:cNvSpPr txBox="1"/>
          <p:nvPr/>
        </p:nvSpPr>
        <p:spPr>
          <a:xfrm>
            <a:off x="2194560" y="2761488"/>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13</a:t>
            </a:r>
            <a:endParaRPr lang="en-US" sz="2800" dirty="0"/>
          </a:p>
        </p:txBody>
      </p:sp>
      <p:sp>
        <p:nvSpPr>
          <p:cNvPr id="22" name="Text 20"/>
          <p:cNvSpPr txBox="1"/>
          <p:nvPr/>
        </p:nvSpPr>
        <p:spPr>
          <a:xfrm>
            <a:off x="548640" y="2779776"/>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E · SK-FS</a:t>
            </a:r>
            <a:endParaRPr lang="en-US" sz="1050" dirty="0"/>
          </a:p>
        </p:txBody>
      </p:sp>
      <p:sp>
        <p:nvSpPr>
          <p:cNvPr id="23" name="Text 21"/>
          <p:cNvSpPr txBox="1"/>
          <p:nvPr/>
        </p:nvSpPr>
        <p:spPr>
          <a:xfrm>
            <a:off x="548640" y="3172968"/>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Foundational Setup, Access, Security</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Foundational Setup; POC Assistance</a:t>
            </a:r>
            <a:endParaRPr lang="en-US" sz="1200" dirty="0"/>
          </a:p>
        </p:txBody>
      </p:sp>
      <p:sp>
        <p:nvSpPr>
          <p:cNvPr id="24" name="Shape 22"/>
          <p:cNvSpPr/>
          <p:nvPr/>
        </p:nvSpPr>
        <p:spPr>
          <a:xfrm>
            <a:off x="3273552" y="2670048"/>
            <a:ext cx="2724912" cy="1353312"/>
          </a:xfrm>
          <a:prstGeom prst="roundRect">
            <a:avLst>
              <a:gd name="adj" fmla="val 5405"/>
            </a:avLst>
          </a:prstGeom>
          <a:solidFill>
            <a:srgbClr val="F1EDF9"/>
          </a:solidFill>
          <a:ln w="9525">
            <a:solidFill>
              <a:srgbClr val="F1EDF9"/>
            </a:solidFill>
            <a:prstDash val="solid"/>
          </a:ln>
        </p:spPr>
      </p:sp>
      <p:sp>
        <p:nvSpPr>
          <p:cNvPr id="25" name="Text 23"/>
          <p:cNvSpPr txBox="1"/>
          <p:nvPr/>
        </p:nvSpPr>
        <p:spPr>
          <a:xfrm>
            <a:off x="5056632" y="2761488"/>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13</a:t>
            </a:r>
            <a:endParaRPr lang="en-US" sz="2800" dirty="0"/>
          </a:p>
        </p:txBody>
      </p:sp>
      <p:sp>
        <p:nvSpPr>
          <p:cNvPr id="26" name="Text 24"/>
          <p:cNvSpPr txBox="1"/>
          <p:nvPr/>
        </p:nvSpPr>
        <p:spPr>
          <a:xfrm>
            <a:off x="3410712" y="2779776"/>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F · SK-AK</a:t>
            </a:r>
            <a:endParaRPr lang="en-US" sz="1050" dirty="0"/>
          </a:p>
        </p:txBody>
      </p:sp>
      <p:sp>
        <p:nvSpPr>
          <p:cNvPr id="27" name="Text 25"/>
          <p:cNvSpPr txBox="1"/>
          <p:nvPr/>
        </p:nvSpPr>
        <p:spPr>
          <a:xfrm>
            <a:off x="3410712" y="3172968"/>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Gateway and Event Enablement</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Apigee; Postman; KEES</a:t>
            </a:r>
            <a:endParaRPr lang="en-US" sz="1200" dirty="0"/>
          </a:p>
        </p:txBody>
      </p:sp>
      <p:sp>
        <p:nvSpPr>
          <p:cNvPr id="28" name="Shape 26"/>
          <p:cNvSpPr/>
          <p:nvPr/>
        </p:nvSpPr>
        <p:spPr>
          <a:xfrm>
            <a:off x="6135624" y="2670048"/>
            <a:ext cx="2724912" cy="1353312"/>
          </a:xfrm>
          <a:prstGeom prst="roundRect">
            <a:avLst>
              <a:gd name="adj" fmla="val 5405"/>
            </a:avLst>
          </a:prstGeom>
          <a:solidFill>
            <a:srgbClr val="F1EDF9"/>
          </a:solidFill>
          <a:ln w="9525">
            <a:solidFill>
              <a:srgbClr val="F1EDF9"/>
            </a:solidFill>
            <a:prstDash val="solid"/>
          </a:ln>
        </p:spPr>
      </p:sp>
      <p:sp>
        <p:nvSpPr>
          <p:cNvPr id="29" name="Text 27"/>
          <p:cNvSpPr txBox="1"/>
          <p:nvPr/>
        </p:nvSpPr>
        <p:spPr>
          <a:xfrm>
            <a:off x="7918704" y="2761488"/>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16</a:t>
            </a:r>
            <a:endParaRPr lang="en-US" sz="2800" dirty="0"/>
          </a:p>
        </p:txBody>
      </p:sp>
      <p:sp>
        <p:nvSpPr>
          <p:cNvPr id="30" name="Text 28"/>
          <p:cNvSpPr txBox="1"/>
          <p:nvPr/>
        </p:nvSpPr>
        <p:spPr>
          <a:xfrm>
            <a:off x="6272784" y="2779776"/>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G · SK-CN</a:t>
            </a:r>
            <a:endParaRPr lang="en-US" sz="1050" dirty="0"/>
          </a:p>
        </p:txBody>
      </p:sp>
      <p:sp>
        <p:nvSpPr>
          <p:cNvPr id="31" name="Text 29"/>
          <p:cNvSpPr txBox="1"/>
          <p:nvPr/>
        </p:nvSpPr>
        <p:spPr>
          <a:xfrm>
            <a:off x="6272784" y="3172968"/>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Content Processing and Classification</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Content Processing; Governance Liaison</a:t>
            </a:r>
            <a:endParaRPr lang="en-US" sz="1200" dirty="0"/>
          </a:p>
        </p:txBody>
      </p:sp>
      <p:sp>
        <p:nvSpPr>
          <p:cNvPr id="32" name="Shape 30"/>
          <p:cNvSpPr/>
          <p:nvPr/>
        </p:nvSpPr>
        <p:spPr>
          <a:xfrm>
            <a:off x="8997696" y="2670048"/>
            <a:ext cx="2724912" cy="1353312"/>
          </a:xfrm>
          <a:prstGeom prst="roundRect">
            <a:avLst>
              <a:gd name="adj" fmla="val 5405"/>
            </a:avLst>
          </a:prstGeom>
          <a:solidFill>
            <a:srgbClr val="F1EDF9"/>
          </a:solidFill>
          <a:ln w="9525">
            <a:solidFill>
              <a:srgbClr val="F1EDF9"/>
            </a:solidFill>
            <a:prstDash val="solid"/>
          </a:ln>
        </p:spPr>
      </p:sp>
      <p:sp>
        <p:nvSpPr>
          <p:cNvPr id="33" name="Text 31"/>
          <p:cNvSpPr txBox="1"/>
          <p:nvPr/>
        </p:nvSpPr>
        <p:spPr>
          <a:xfrm>
            <a:off x="10780776" y="2761488"/>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8</a:t>
            </a:r>
            <a:endParaRPr lang="en-US" sz="2800" dirty="0"/>
          </a:p>
        </p:txBody>
      </p:sp>
      <p:sp>
        <p:nvSpPr>
          <p:cNvPr id="34" name="Text 32"/>
          <p:cNvSpPr txBox="1"/>
          <p:nvPr/>
        </p:nvSpPr>
        <p:spPr>
          <a:xfrm>
            <a:off x="9134856" y="2779776"/>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H · SK-RM</a:t>
            </a:r>
            <a:endParaRPr lang="en-US" sz="1050" dirty="0"/>
          </a:p>
        </p:txBody>
      </p:sp>
      <p:sp>
        <p:nvSpPr>
          <p:cNvPr id="35" name="Text 33"/>
          <p:cNvSpPr txBox="1"/>
          <p:nvPr/>
        </p:nvSpPr>
        <p:spPr>
          <a:xfrm>
            <a:off x="9134856" y="3172968"/>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Records Management and Retention</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Records &amp; Retention</a:t>
            </a:r>
            <a:endParaRPr lang="en-US" sz="1200" dirty="0"/>
          </a:p>
        </p:txBody>
      </p:sp>
      <p:sp>
        <p:nvSpPr>
          <p:cNvPr id="36" name="Shape 34"/>
          <p:cNvSpPr/>
          <p:nvPr/>
        </p:nvSpPr>
        <p:spPr>
          <a:xfrm>
            <a:off x="411480" y="4151376"/>
            <a:ext cx="2724912" cy="1353312"/>
          </a:xfrm>
          <a:prstGeom prst="roundRect">
            <a:avLst>
              <a:gd name="adj" fmla="val 5405"/>
            </a:avLst>
          </a:prstGeom>
          <a:solidFill>
            <a:srgbClr val="F1EDF9"/>
          </a:solidFill>
          <a:ln w="9525">
            <a:solidFill>
              <a:srgbClr val="F1EDF9"/>
            </a:solidFill>
            <a:prstDash val="solid"/>
          </a:ln>
        </p:spPr>
      </p:sp>
      <p:sp>
        <p:nvSpPr>
          <p:cNvPr id="37" name="Text 35"/>
          <p:cNvSpPr txBox="1"/>
          <p:nvPr/>
        </p:nvSpPr>
        <p:spPr>
          <a:xfrm>
            <a:off x="2194560" y="4242816"/>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10</a:t>
            </a:r>
            <a:endParaRPr lang="en-US" sz="2800" dirty="0"/>
          </a:p>
        </p:txBody>
      </p:sp>
      <p:sp>
        <p:nvSpPr>
          <p:cNvPr id="38" name="Text 36"/>
          <p:cNvSpPr txBox="1"/>
          <p:nvPr/>
        </p:nvSpPr>
        <p:spPr>
          <a:xfrm>
            <a:off x="548640" y="4261104"/>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I · SK-MD</a:t>
            </a:r>
            <a:endParaRPr lang="en-US" sz="1050" dirty="0"/>
          </a:p>
        </p:txBody>
      </p:sp>
      <p:sp>
        <p:nvSpPr>
          <p:cNvPr id="39" name="Text 37"/>
          <p:cNvSpPr txBox="1"/>
          <p:nvPr/>
        </p:nvSpPr>
        <p:spPr>
          <a:xfrm>
            <a:off x="548640" y="4654296"/>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Metadata, Repository, Retrieval</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Metadata &amp; Retrieval Design</a:t>
            </a:r>
            <a:endParaRPr lang="en-US" sz="1200" dirty="0"/>
          </a:p>
        </p:txBody>
      </p:sp>
      <p:sp>
        <p:nvSpPr>
          <p:cNvPr id="40" name="Shape 38"/>
          <p:cNvSpPr/>
          <p:nvPr/>
        </p:nvSpPr>
        <p:spPr>
          <a:xfrm>
            <a:off x="3273552" y="4151376"/>
            <a:ext cx="2724912" cy="1353312"/>
          </a:xfrm>
          <a:prstGeom prst="roundRect">
            <a:avLst>
              <a:gd name="adj" fmla="val 5405"/>
            </a:avLst>
          </a:prstGeom>
          <a:solidFill>
            <a:srgbClr val="F1EDF9"/>
          </a:solidFill>
          <a:ln w="9525">
            <a:solidFill>
              <a:srgbClr val="F1EDF9"/>
            </a:solidFill>
            <a:prstDash val="solid"/>
          </a:ln>
        </p:spPr>
      </p:sp>
      <p:sp>
        <p:nvSpPr>
          <p:cNvPr id="41" name="Text 39"/>
          <p:cNvSpPr txBox="1"/>
          <p:nvPr/>
        </p:nvSpPr>
        <p:spPr>
          <a:xfrm>
            <a:off x="5056632" y="4242816"/>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12</a:t>
            </a:r>
            <a:endParaRPr lang="en-US" sz="2800" dirty="0"/>
          </a:p>
        </p:txBody>
      </p:sp>
      <p:sp>
        <p:nvSpPr>
          <p:cNvPr id="42" name="Text 40"/>
          <p:cNvSpPr txBox="1"/>
          <p:nvPr/>
        </p:nvSpPr>
        <p:spPr>
          <a:xfrm>
            <a:off x="3410712" y="4261104"/>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J · SK-TE</a:t>
            </a:r>
            <a:endParaRPr lang="en-US" sz="1050" dirty="0"/>
          </a:p>
        </p:txBody>
      </p:sp>
      <p:sp>
        <p:nvSpPr>
          <p:cNvPr id="43" name="Text 41"/>
          <p:cNvSpPr txBox="1"/>
          <p:nvPr/>
        </p:nvSpPr>
        <p:spPr>
          <a:xfrm>
            <a:off x="3410712" y="4654296"/>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Testing, Defects, Environments</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Test Orchestration; Env. Progression</a:t>
            </a:r>
            <a:endParaRPr lang="en-US" sz="1200" dirty="0"/>
          </a:p>
        </p:txBody>
      </p:sp>
      <p:sp>
        <p:nvSpPr>
          <p:cNvPr id="44" name="Shape 42"/>
          <p:cNvSpPr/>
          <p:nvPr/>
        </p:nvSpPr>
        <p:spPr>
          <a:xfrm>
            <a:off x="6135624" y="4151376"/>
            <a:ext cx="2724912" cy="1353312"/>
          </a:xfrm>
          <a:prstGeom prst="roundRect">
            <a:avLst>
              <a:gd name="adj" fmla="val 5405"/>
            </a:avLst>
          </a:prstGeom>
          <a:solidFill>
            <a:srgbClr val="F1EDF9"/>
          </a:solidFill>
          <a:ln w="9525">
            <a:solidFill>
              <a:srgbClr val="F1EDF9"/>
            </a:solidFill>
            <a:prstDash val="solid"/>
          </a:ln>
        </p:spPr>
      </p:sp>
      <p:sp>
        <p:nvSpPr>
          <p:cNvPr id="45" name="Text 43"/>
          <p:cNvSpPr txBox="1"/>
          <p:nvPr/>
        </p:nvSpPr>
        <p:spPr>
          <a:xfrm>
            <a:off x="7918704" y="4242816"/>
            <a:ext cx="822960" cy="548640"/>
          </a:xfrm>
          <a:prstGeom prst="rect">
            <a:avLst/>
          </a:prstGeom>
          <a:noFill/>
          <a:ln/>
        </p:spPr>
        <p:txBody>
          <a:bodyPr wrap="square" lIns="0" tIns="0" rIns="0" bIns="0" rtlCol="0" anchor="t"/>
          <a:lstStyle/>
          <a:p>
            <a:pPr algn="r" indent="0" marL="0">
              <a:buNone/>
            </a:pPr>
            <a:r>
              <a:rPr lang="en-US" sz="2800" b="1" dirty="0">
                <a:solidFill>
                  <a:srgbClr val="5B3FA0"/>
                </a:solidFill>
                <a:latin typeface="Cambria" pitchFamily="34" charset="0"/>
                <a:ea typeface="Cambria" pitchFamily="34" charset="-122"/>
                <a:cs typeface="Cambria" pitchFamily="34" charset="-120"/>
              </a:rPr>
              <a:t>10</a:t>
            </a:r>
            <a:endParaRPr lang="en-US" sz="2800" dirty="0"/>
          </a:p>
        </p:txBody>
      </p:sp>
      <p:sp>
        <p:nvSpPr>
          <p:cNvPr id="46" name="Text 44"/>
          <p:cNvSpPr txBox="1"/>
          <p:nvPr/>
        </p:nvSpPr>
        <p:spPr>
          <a:xfrm>
            <a:off x="6272784" y="4261104"/>
            <a:ext cx="1645920" cy="274320"/>
          </a:xfrm>
          <a:prstGeom prst="rect">
            <a:avLst/>
          </a:prstGeom>
          <a:noFill/>
          <a:ln/>
        </p:spPr>
        <p:txBody>
          <a:bodyPr wrap="square" lIns="0" tIns="0" rIns="0" bIns="0" rtlCol="0" anchor="t"/>
          <a:lstStyle/>
          <a:p>
            <a:pPr indent="0" marL="0">
              <a:buNone/>
            </a:pPr>
            <a:r>
              <a:rPr lang="en-US" sz="1050" b="1" dirty="0">
                <a:solidFill>
                  <a:srgbClr val="5B3FA0"/>
                </a:solidFill>
                <a:latin typeface="Calibri" pitchFamily="34" charset="0"/>
                <a:ea typeface="Calibri" pitchFamily="34" charset="-122"/>
                <a:cs typeface="Calibri" pitchFamily="34" charset="-120"/>
              </a:rPr>
              <a:t>K · SK-RL</a:t>
            </a:r>
            <a:endParaRPr lang="en-US" sz="1050" dirty="0"/>
          </a:p>
        </p:txBody>
      </p:sp>
      <p:sp>
        <p:nvSpPr>
          <p:cNvPr id="47" name="Text 45"/>
          <p:cNvSpPr txBox="1"/>
          <p:nvPr/>
        </p:nvSpPr>
        <p:spPr>
          <a:xfrm>
            <a:off x="6272784" y="4654296"/>
            <a:ext cx="2468880" cy="804672"/>
          </a:xfrm>
          <a:prstGeom prst="rect">
            <a:avLst/>
          </a:prstGeom>
          <a:noFill/>
          <a:ln/>
        </p:spPr>
        <p:txBody>
          <a:bodyPr wrap="square" lIns="0" tIns="0" rIns="0" bIns="0" rtlCol="0" anchor="t"/>
          <a:lstStyle/>
          <a:p>
            <a:pPr indent="0" marL="0">
              <a:buNone/>
            </a:pPr>
            <a:r>
              <a:rPr lang="en-US" sz="1150" b="1" dirty="0">
                <a:solidFill>
                  <a:srgbClr val="1B2238"/>
                </a:solidFill>
                <a:latin typeface="Calibri" pitchFamily="34" charset="0"/>
                <a:ea typeface="Calibri" pitchFamily="34" charset="-122"/>
                <a:cs typeface="Calibri" pitchFamily="34" charset="-120"/>
              </a:rPr>
              <a:t>Release Readiness and Handover</a:t>
            </a:r>
            <a:endParaRPr lang="en-US" sz="1200" dirty="0"/>
          </a:p>
          <a:p>
            <a:pPr indent="0" marL="0">
              <a:buNone/>
            </a:pPr>
            <a:r>
              <a:rPr lang="en-US" sz="950" dirty="0">
                <a:solidFill>
                  <a:srgbClr val="5A6275"/>
                </a:solidFill>
                <a:latin typeface="Calibri" pitchFamily="34" charset="0"/>
                <a:ea typeface="Calibri" pitchFamily="34" charset="-122"/>
                <a:cs typeface="Calibri" pitchFamily="34" charset="-120"/>
              </a:rPr>
              <a:t>Release Readiness</a:t>
            </a:r>
            <a:endParaRPr lang="en-US" sz="1200" dirty="0"/>
          </a:p>
        </p:txBody>
      </p:sp>
      <p:sp>
        <p:nvSpPr>
          <p:cNvPr id="48" name="Shape 46"/>
          <p:cNvSpPr/>
          <p:nvPr/>
        </p:nvSpPr>
        <p:spPr>
          <a:xfrm>
            <a:off x="8997696" y="4151376"/>
            <a:ext cx="2724912" cy="1353312"/>
          </a:xfrm>
          <a:prstGeom prst="roundRect">
            <a:avLst>
              <a:gd name="adj" fmla="val 5405"/>
            </a:avLst>
          </a:prstGeom>
          <a:solidFill>
            <a:srgbClr val="5B3FA0"/>
          </a:solidFill>
          <a:ln w="9525">
            <a:solidFill>
              <a:srgbClr val="5B3FA0"/>
            </a:solidFill>
            <a:prstDash val="solid"/>
          </a:ln>
        </p:spPr>
      </p:sp>
      <p:sp>
        <p:nvSpPr>
          <p:cNvPr id="49" name="Text 47"/>
          <p:cNvSpPr txBox="1"/>
          <p:nvPr/>
        </p:nvSpPr>
        <p:spPr>
          <a:xfrm>
            <a:off x="10780776" y="4242816"/>
            <a:ext cx="822960" cy="548640"/>
          </a:xfrm>
          <a:prstGeom prst="rect">
            <a:avLst/>
          </a:prstGeom>
          <a:noFill/>
          <a:ln/>
        </p:spPr>
        <p:txBody>
          <a:bodyPr wrap="square" lIns="0" tIns="0" rIns="0" bIns="0" rtlCol="0" anchor="t"/>
          <a:lstStyle/>
          <a:p>
            <a:pPr algn="r" indent="0" marL="0">
              <a:buNone/>
            </a:pPr>
            <a:r>
              <a:rPr lang="en-US" sz="2800" b="1" dirty="0">
                <a:solidFill>
                  <a:srgbClr val="FFFFFF"/>
                </a:solidFill>
                <a:latin typeface="Cambria" pitchFamily="34" charset="0"/>
                <a:ea typeface="Cambria" pitchFamily="34" charset="-122"/>
                <a:cs typeface="Cambria" pitchFamily="34" charset="-120"/>
              </a:rPr>
              <a:t>12</a:t>
            </a:r>
            <a:endParaRPr lang="en-US" sz="2800" dirty="0"/>
          </a:p>
        </p:txBody>
      </p:sp>
      <p:sp>
        <p:nvSpPr>
          <p:cNvPr id="50" name="Text 48"/>
          <p:cNvSpPr txBox="1"/>
          <p:nvPr/>
        </p:nvSpPr>
        <p:spPr>
          <a:xfrm>
            <a:off x="9134856" y="4261104"/>
            <a:ext cx="1645920" cy="274320"/>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L · SK-XC</a:t>
            </a:r>
            <a:endParaRPr lang="en-US" sz="1050" dirty="0"/>
          </a:p>
        </p:txBody>
      </p:sp>
      <p:sp>
        <p:nvSpPr>
          <p:cNvPr id="51" name="Text 49"/>
          <p:cNvSpPr txBox="1"/>
          <p:nvPr/>
        </p:nvSpPr>
        <p:spPr>
          <a:xfrm>
            <a:off x="9134856" y="4654296"/>
            <a:ext cx="2468880" cy="80467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Cross-Cutting  ·  FOUNDATION</a:t>
            </a:r>
            <a:endParaRPr lang="en-US" sz="1200" dirty="0"/>
          </a:p>
          <a:p>
            <a:pPr indent="0" marL="0">
              <a:buNone/>
            </a:pPr>
            <a:r>
              <a:rPr lang="en-US" sz="950" dirty="0">
                <a:solidFill>
                  <a:srgbClr val="E5DEF5"/>
                </a:solidFill>
                <a:latin typeface="Calibri" pitchFamily="34" charset="0"/>
                <a:ea typeface="Calibri" pitchFamily="34" charset="-122"/>
                <a:cs typeface="Calibri" pitchFamily="34" charset="-120"/>
              </a:rPr>
              <a:t>All sub-agents and the orchestrator</a:t>
            </a:r>
            <a:endParaRPr lang="en-US" sz="1200" dirty="0"/>
          </a:p>
        </p:txBody>
      </p:sp>
      <p:sp>
        <p:nvSpPr>
          <p:cNvPr id="52" name="Text 50"/>
          <p:cNvSpPr txBox="1"/>
          <p:nvPr/>
        </p:nvSpPr>
        <p:spPr>
          <a:xfrm>
            <a:off x="411480" y="5715000"/>
            <a:ext cx="11338560" cy="365760"/>
          </a:xfrm>
          <a:prstGeom prst="rect">
            <a:avLst/>
          </a:prstGeom>
          <a:noFill/>
          <a:ln/>
        </p:spPr>
        <p:txBody>
          <a:bodyPr wrap="square" lIns="0" tIns="0" rIns="0" bIns="0" rtlCol="0" anchor="t"/>
          <a:lstStyle/>
          <a:p>
            <a:pPr algn="r" indent="0" marL="0">
              <a:buNone/>
            </a:pPr>
            <a:r>
              <a:rPr lang="en-US" sz="1300" b="1" dirty="0">
                <a:solidFill>
                  <a:srgbClr val="5B3FA0"/>
                </a:solidFill>
                <a:latin typeface="Calibri" pitchFamily="34" charset="0"/>
                <a:ea typeface="Calibri" pitchFamily="34" charset="-122"/>
                <a:cs typeface="Calibri" pitchFamily="34" charset="-120"/>
              </a:rPr>
              <a:t>Total: 138 skills · full list in Appendix A2</a:t>
            </a:r>
            <a:endParaRPr lang="en-US" sz="13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Each user sees only the skills that match their role and authority</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Skills by user type</a:t>
            </a:r>
            <a:endParaRPr lang="en-US" sz="1000" dirty="0"/>
          </a:p>
        </p:txBody>
      </p:sp>
      <p:sp>
        <p:nvSpPr>
          <p:cNvPr id="4" name="Shape 2"/>
          <p:cNvSpPr/>
          <p:nvPr/>
        </p:nvSpPr>
        <p:spPr>
          <a:xfrm>
            <a:off x="411480" y="1188720"/>
            <a:ext cx="3639312" cy="1536192"/>
          </a:xfrm>
          <a:prstGeom prst="roundRect">
            <a:avLst>
              <a:gd name="adj" fmla="val 4762"/>
            </a:avLst>
          </a:prstGeom>
          <a:solidFill>
            <a:srgbClr val="FFFFFF"/>
          </a:solidFill>
          <a:ln w="9525">
            <a:solidFill>
              <a:srgbClr val="5B3FA0"/>
            </a:solidFill>
            <a:prstDash val="solid"/>
          </a:ln>
        </p:spPr>
      </p:sp>
      <p:sp>
        <p:nvSpPr>
          <p:cNvPr id="5" name="Text 3"/>
          <p:cNvSpPr txBox="1"/>
          <p:nvPr/>
        </p:nvSpPr>
        <p:spPr>
          <a:xfrm>
            <a:off x="594360" y="1298448"/>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Partner / requestor</a:t>
            </a:r>
            <a:endParaRPr lang="en-US" sz="1200" dirty="0"/>
          </a:p>
          <a:p>
            <a:pPr indent="0" marL="0">
              <a:buNone/>
            </a:pPr>
            <a:r>
              <a:rPr lang="en-US" sz="1300" i="1" dirty="0">
                <a:solidFill>
                  <a:srgbClr val="5A6275"/>
                </a:solidFill>
                <a:latin typeface="Calibri" pitchFamily="34" charset="0"/>
                <a:ea typeface="Calibri" pitchFamily="34" charset="-122"/>
                <a:cs typeface="Calibri" pitchFamily="34" charset="-120"/>
              </a:rPr>
              <a:t>Understand onboarding, build a complete intake</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Journey Explainer · DOR Walkthrough · Completeness Pre-Check · Status View</a:t>
            </a:r>
            <a:endParaRPr lang="en-US" sz="1200" dirty="0"/>
          </a:p>
        </p:txBody>
      </p:sp>
      <p:sp>
        <p:nvSpPr>
          <p:cNvPr id="6" name="Shape 4"/>
          <p:cNvSpPr/>
          <p:nvPr/>
        </p:nvSpPr>
        <p:spPr>
          <a:xfrm>
            <a:off x="4233672" y="1188720"/>
            <a:ext cx="3639312" cy="1536192"/>
          </a:xfrm>
          <a:prstGeom prst="roundRect">
            <a:avLst>
              <a:gd name="adj" fmla="val 4762"/>
            </a:avLst>
          </a:prstGeom>
          <a:solidFill>
            <a:srgbClr val="FFFFFF"/>
          </a:solidFill>
          <a:ln w="9525">
            <a:solidFill>
              <a:srgbClr val="5B3FA0"/>
            </a:solidFill>
            <a:prstDash val="solid"/>
          </a:ln>
        </p:spPr>
      </p:sp>
      <p:sp>
        <p:nvSpPr>
          <p:cNvPr id="7" name="Text 5"/>
          <p:cNvSpPr txBox="1"/>
          <p:nvPr/>
        </p:nvSpPr>
        <p:spPr>
          <a:xfrm>
            <a:off x="4416552" y="1298448"/>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ECM intake team (L4/L3 PMs)</a:t>
            </a:r>
            <a:endParaRPr lang="en-US" sz="1200" dirty="0"/>
          </a:p>
          <a:p>
            <a:pPr indent="0" marL="0">
              <a:buNone/>
            </a:pPr>
            <a:r>
              <a:rPr lang="en-US" sz="1300" i="1" dirty="0">
                <a:solidFill>
                  <a:srgbClr val="5A6275"/>
                </a:solidFill>
                <a:latin typeface="Calibri" pitchFamily="34" charset="0"/>
                <a:ea typeface="Calibri" pitchFamily="34" charset="-122"/>
                <a:cs typeface="Calibri" pitchFamily="34" charset="-120"/>
              </a:rPr>
              <a:t>Validate, open triage, compose the epic</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Completeness Validation · Participant Identification · Epic Draft</a:t>
            </a:r>
            <a:endParaRPr lang="en-US" sz="1200" dirty="0"/>
          </a:p>
        </p:txBody>
      </p:sp>
      <p:sp>
        <p:nvSpPr>
          <p:cNvPr id="8" name="Shape 6"/>
          <p:cNvSpPr/>
          <p:nvPr/>
        </p:nvSpPr>
        <p:spPr>
          <a:xfrm>
            <a:off x="8055864" y="1188720"/>
            <a:ext cx="3639312" cy="1536192"/>
          </a:xfrm>
          <a:prstGeom prst="roundRect">
            <a:avLst>
              <a:gd name="adj" fmla="val 4762"/>
            </a:avLst>
          </a:prstGeom>
          <a:solidFill>
            <a:srgbClr val="FFFFFF"/>
          </a:solidFill>
          <a:ln w="9525">
            <a:solidFill>
              <a:srgbClr val="5B3FA0"/>
            </a:solidFill>
            <a:prstDash val="solid"/>
          </a:ln>
        </p:spPr>
      </p:sp>
      <p:sp>
        <p:nvSpPr>
          <p:cNvPr id="9" name="Text 7"/>
          <p:cNvSpPr txBox="1"/>
          <p:nvPr/>
        </p:nvSpPr>
        <p:spPr>
          <a:xfrm>
            <a:off x="8238744" y="1298448"/>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Triage leads</a:t>
            </a:r>
            <a:endParaRPr lang="en-US" sz="1200" dirty="0"/>
          </a:p>
          <a:p>
            <a:pPr indent="0" marL="0">
              <a:buNone/>
            </a:pPr>
            <a:r>
              <a:rPr lang="en-US" sz="1300" i="1" dirty="0">
                <a:solidFill>
                  <a:srgbClr val="5A6275"/>
                </a:solidFill>
                <a:latin typeface="Calibri" pitchFamily="34" charset="0"/>
                <a:ea typeface="Calibri" pitchFamily="34" charset="-122"/>
                <a:cs typeface="Calibri" pitchFamily="34" charset="-120"/>
              </a:rPr>
              <a:t>Derive routing, complete triage</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Area/Impact Derivation · Triage Completion Field Set</a:t>
            </a:r>
            <a:endParaRPr lang="en-US" sz="1200" dirty="0"/>
          </a:p>
        </p:txBody>
      </p:sp>
      <p:sp>
        <p:nvSpPr>
          <p:cNvPr id="10" name="Shape 8"/>
          <p:cNvSpPr/>
          <p:nvPr/>
        </p:nvSpPr>
        <p:spPr>
          <a:xfrm>
            <a:off x="411480" y="2862072"/>
            <a:ext cx="3639312" cy="1536192"/>
          </a:xfrm>
          <a:prstGeom prst="roundRect">
            <a:avLst>
              <a:gd name="adj" fmla="val 4762"/>
            </a:avLst>
          </a:prstGeom>
          <a:solidFill>
            <a:srgbClr val="FFFFFF"/>
          </a:solidFill>
          <a:ln w="9525">
            <a:solidFill>
              <a:srgbClr val="5B3FA0"/>
            </a:solidFill>
            <a:prstDash val="solid"/>
          </a:ln>
        </p:spPr>
      </p:sp>
      <p:sp>
        <p:nvSpPr>
          <p:cNvPr id="11" name="Text 9"/>
          <p:cNvSpPr txBox="1"/>
          <p:nvPr/>
        </p:nvSpPr>
        <p:spPr>
          <a:xfrm>
            <a:off x="594360" y="2971800"/>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LOB sponsors</a:t>
            </a:r>
            <a:endParaRPr lang="en-US" sz="1200" dirty="0"/>
          </a:p>
          <a:p>
            <a:pPr indent="0" marL="0">
              <a:buNone/>
            </a:pPr>
            <a:r>
              <a:rPr lang="en-US" sz="1300" i="1" dirty="0">
                <a:solidFill>
                  <a:srgbClr val="5A6275"/>
                </a:solidFill>
                <a:latin typeface="Calibri" pitchFamily="34" charset="0"/>
                <a:ea typeface="Calibri" pitchFamily="34" charset="-122"/>
                <a:cs typeface="Calibri" pitchFamily="34" charset="-120"/>
              </a:rPr>
              <a:t>Rank demand on evidence</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Priority Evidence Pack · Regulatory Driver Summary</a:t>
            </a:r>
            <a:endParaRPr lang="en-US" sz="1200" dirty="0"/>
          </a:p>
        </p:txBody>
      </p:sp>
      <p:sp>
        <p:nvSpPr>
          <p:cNvPr id="12" name="Shape 10"/>
          <p:cNvSpPr/>
          <p:nvPr/>
        </p:nvSpPr>
        <p:spPr>
          <a:xfrm>
            <a:off x="4233672" y="2862072"/>
            <a:ext cx="3639312" cy="1536192"/>
          </a:xfrm>
          <a:prstGeom prst="roundRect">
            <a:avLst>
              <a:gd name="adj" fmla="val 4762"/>
            </a:avLst>
          </a:prstGeom>
          <a:solidFill>
            <a:srgbClr val="5B3FA0"/>
          </a:solidFill>
          <a:ln w="9525">
            <a:solidFill>
              <a:srgbClr val="5B3FA0"/>
            </a:solidFill>
            <a:prstDash val="solid"/>
          </a:ln>
        </p:spPr>
      </p:sp>
      <p:sp>
        <p:nvSpPr>
          <p:cNvPr id="13" name="Text 11"/>
          <p:cNvSpPr txBox="1"/>
          <p:nvPr/>
        </p:nvSpPr>
        <p:spPr>
          <a:xfrm>
            <a:off x="4416552" y="2971800"/>
            <a:ext cx="3291840" cy="1325880"/>
          </a:xfrm>
          <a:prstGeom prst="rect">
            <a:avLst/>
          </a:prstGeom>
          <a:noFill/>
          <a:ln/>
        </p:spPr>
        <p:txBody>
          <a:bodyPr wrap="square" lIns="0" tIns="0" rIns="0" bIns="0" rtlCol="0" anchor="t"/>
          <a:lstStyle/>
          <a:p>
            <a:pPr indent="0" marL="0">
              <a:buNone/>
            </a:pPr>
            <a:r>
              <a:rPr lang="en-US" sz="1650" b="1" dirty="0">
                <a:solidFill>
                  <a:srgbClr val="FFFFFF"/>
                </a:solidFill>
                <a:latin typeface="Cambria" pitchFamily="34" charset="0"/>
                <a:ea typeface="Cambria" pitchFamily="34" charset="-122"/>
                <a:cs typeface="Cambria" pitchFamily="34" charset="-120"/>
              </a:rPr>
              <a:t>Partner Onboarding Resource</a:t>
            </a:r>
            <a:endParaRPr lang="en-US" sz="1200" dirty="0"/>
          </a:p>
          <a:p>
            <a:pPr indent="0" marL="0">
              <a:buNone/>
            </a:pPr>
            <a:r>
              <a:rPr lang="en-US" sz="1300" i="1" dirty="0">
                <a:solidFill>
                  <a:srgbClr val="E5DEF5"/>
                </a:solidFill>
                <a:latin typeface="Calibri" pitchFamily="34" charset="0"/>
                <a:ea typeface="Calibri" pitchFamily="34" charset="-122"/>
                <a:cs typeface="Calibri" pitchFamily="34" charset="-120"/>
              </a:rPr>
              <a:t>Run the whole journey — primary persona</a:t>
            </a:r>
            <a:endParaRPr lang="en-US" sz="1200" dirty="0"/>
          </a:p>
          <a:p>
            <a:pPr indent="0" marL="0">
              <a:buNone/>
            </a:pPr>
            <a:r>
              <a:rPr lang="en-US" sz="500" dirty="0">
                <a:solidFill>
                  <a:srgbClr val="FFFFFF"/>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FFFFFF"/>
                </a:solidFill>
                <a:latin typeface="Calibri" pitchFamily="34" charset="0"/>
                <a:ea typeface="Calibri" pitchFamily="34" charset="-122"/>
                <a:cs typeface="Calibri" pitchFamily="34" charset="-120"/>
              </a:rPr>
              <a:t>Every domain</a:t>
            </a:r>
            <a:endParaRPr lang="en-US" sz="1200" dirty="0"/>
          </a:p>
        </p:txBody>
      </p:sp>
      <p:sp>
        <p:nvSpPr>
          <p:cNvPr id="14" name="Shape 12"/>
          <p:cNvSpPr/>
          <p:nvPr/>
        </p:nvSpPr>
        <p:spPr>
          <a:xfrm>
            <a:off x="8055864" y="2862072"/>
            <a:ext cx="3639312" cy="1536192"/>
          </a:xfrm>
          <a:prstGeom prst="roundRect">
            <a:avLst>
              <a:gd name="adj" fmla="val 4762"/>
            </a:avLst>
          </a:prstGeom>
          <a:solidFill>
            <a:srgbClr val="FFFFFF"/>
          </a:solidFill>
          <a:ln w="9525">
            <a:solidFill>
              <a:srgbClr val="5B3FA0"/>
            </a:solidFill>
            <a:prstDash val="solid"/>
          </a:ln>
        </p:spPr>
      </p:sp>
      <p:sp>
        <p:nvSpPr>
          <p:cNvPr id="15" name="Text 13"/>
          <p:cNvSpPr txBox="1"/>
          <p:nvPr/>
        </p:nvSpPr>
        <p:spPr>
          <a:xfrm>
            <a:off x="8238744" y="2971800"/>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Engineering &amp; enabling</a:t>
            </a:r>
            <a:endParaRPr lang="en-US" sz="1200" dirty="0"/>
          </a:p>
          <a:p>
            <a:pPr indent="0" marL="0">
              <a:buNone/>
            </a:pPr>
            <a:r>
              <a:rPr lang="en-US" sz="1300" i="1" dirty="0">
                <a:solidFill>
                  <a:srgbClr val="5A6275"/>
                </a:solidFill>
                <a:latin typeface="Calibri" pitchFamily="34" charset="0"/>
                <a:ea typeface="Calibri" pitchFamily="34" charset="-122"/>
                <a:cs typeface="Calibri" pitchFamily="34" charset="-120"/>
              </a:rPr>
              <a:t>Build on confirmed determinations</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Determination Carry-Forward · Conflict Detection · Gate Check</a:t>
            </a:r>
            <a:endParaRPr lang="en-US" sz="1200" dirty="0"/>
          </a:p>
        </p:txBody>
      </p:sp>
      <p:sp>
        <p:nvSpPr>
          <p:cNvPr id="16" name="Shape 14"/>
          <p:cNvSpPr/>
          <p:nvPr/>
        </p:nvSpPr>
        <p:spPr>
          <a:xfrm>
            <a:off x="411480" y="4535424"/>
            <a:ext cx="3639312" cy="1536192"/>
          </a:xfrm>
          <a:prstGeom prst="roundRect">
            <a:avLst>
              <a:gd name="adj" fmla="val 4762"/>
            </a:avLst>
          </a:prstGeom>
          <a:solidFill>
            <a:srgbClr val="FFFFFF"/>
          </a:solidFill>
          <a:ln w="19050">
            <a:solidFill>
              <a:srgbClr val="B3261E"/>
            </a:solidFill>
            <a:prstDash val="solid"/>
          </a:ln>
        </p:spPr>
      </p:sp>
      <p:sp>
        <p:nvSpPr>
          <p:cNvPr id="17" name="Text 15"/>
          <p:cNvSpPr txBox="1"/>
          <p:nvPr/>
        </p:nvSpPr>
        <p:spPr>
          <a:xfrm>
            <a:off x="594360" y="4645152"/>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Imaging Governance</a:t>
            </a:r>
            <a:endParaRPr lang="en-US" sz="1200" dirty="0"/>
          </a:p>
          <a:p>
            <a:pPr indent="0" marL="0">
              <a:buNone/>
            </a:pPr>
            <a:r>
              <a:rPr lang="en-US" sz="1300" i="1" dirty="0">
                <a:solidFill>
                  <a:srgbClr val="B3261E"/>
                </a:solidFill>
                <a:latin typeface="Calibri" pitchFamily="34" charset="0"/>
                <a:ea typeface="Calibri" pitchFamily="34" charset="-122"/>
                <a:cs typeface="Calibri" pitchFamily="34" charset="-120"/>
              </a:rPr>
              <a:t>Make the determination — human decision</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Submission Pack · Taxonomy Lookup · Classification Registration</a:t>
            </a:r>
            <a:endParaRPr lang="en-US" sz="1200" dirty="0"/>
          </a:p>
        </p:txBody>
      </p:sp>
      <p:sp>
        <p:nvSpPr>
          <p:cNvPr id="18" name="Shape 16"/>
          <p:cNvSpPr/>
          <p:nvPr/>
        </p:nvSpPr>
        <p:spPr>
          <a:xfrm>
            <a:off x="4233672" y="4535424"/>
            <a:ext cx="3639312" cy="1536192"/>
          </a:xfrm>
          <a:prstGeom prst="roundRect">
            <a:avLst>
              <a:gd name="adj" fmla="val 4762"/>
            </a:avLst>
          </a:prstGeom>
          <a:solidFill>
            <a:srgbClr val="FFFFFF"/>
          </a:solidFill>
          <a:ln w="9525">
            <a:solidFill>
              <a:srgbClr val="5B3FA0"/>
            </a:solidFill>
            <a:prstDash val="solid"/>
          </a:ln>
        </p:spPr>
      </p:sp>
      <p:sp>
        <p:nvSpPr>
          <p:cNvPr id="19" name="Text 17"/>
          <p:cNvSpPr txBox="1"/>
          <p:nvPr/>
        </p:nvSpPr>
        <p:spPr>
          <a:xfrm>
            <a:off x="4416552" y="4645152"/>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Specialist teams</a:t>
            </a:r>
            <a:endParaRPr lang="en-US" sz="1200" dirty="0"/>
          </a:p>
          <a:p>
            <a:pPr indent="0" marL="0">
              <a:buNone/>
            </a:pPr>
            <a:r>
              <a:rPr lang="en-US" sz="1300" i="1" dirty="0">
                <a:solidFill>
                  <a:srgbClr val="5A6275"/>
                </a:solidFill>
                <a:latin typeface="Calibri" pitchFamily="34" charset="0"/>
                <a:ea typeface="Calibri" pitchFamily="34" charset="-122"/>
                <a:cs typeface="Calibri" pitchFamily="34" charset="-120"/>
              </a:rPr>
              <a:t>Their own workstream only</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RM · classification · HITL · Kafka · gateway · load testing · security</a:t>
            </a:r>
            <a:endParaRPr lang="en-US" sz="1200" dirty="0"/>
          </a:p>
        </p:txBody>
      </p:sp>
      <p:sp>
        <p:nvSpPr>
          <p:cNvPr id="20" name="Shape 18"/>
          <p:cNvSpPr/>
          <p:nvPr/>
        </p:nvSpPr>
        <p:spPr>
          <a:xfrm>
            <a:off x="8055864" y="4535424"/>
            <a:ext cx="3639312" cy="1536192"/>
          </a:xfrm>
          <a:prstGeom prst="roundRect">
            <a:avLst>
              <a:gd name="adj" fmla="val 4762"/>
            </a:avLst>
          </a:prstGeom>
          <a:solidFill>
            <a:srgbClr val="FFFFFF"/>
          </a:solidFill>
          <a:ln w="9525">
            <a:solidFill>
              <a:srgbClr val="5B3FA0"/>
            </a:solidFill>
            <a:prstDash val="solid"/>
          </a:ln>
        </p:spPr>
      </p:sp>
      <p:sp>
        <p:nvSpPr>
          <p:cNvPr id="21" name="Text 19"/>
          <p:cNvSpPr txBox="1"/>
          <p:nvPr/>
        </p:nvSpPr>
        <p:spPr>
          <a:xfrm>
            <a:off x="8238744" y="4645152"/>
            <a:ext cx="3291840" cy="1325880"/>
          </a:xfrm>
          <a:prstGeom prst="rect">
            <a:avLst/>
          </a:prstGeom>
          <a:noFill/>
          <a:ln/>
        </p:spPr>
        <p:txBody>
          <a:bodyPr wrap="square" lIns="0" tIns="0" rIns="0" bIns="0" rtlCol="0" anchor="t"/>
          <a:lstStyle/>
          <a:p>
            <a:pPr indent="0" marL="0">
              <a:buNone/>
            </a:pPr>
            <a:r>
              <a:rPr lang="en-US" sz="1650" b="1" dirty="0">
                <a:solidFill>
                  <a:srgbClr val="1B2238"/>
                </a:solidFill>
                <a:latin typeface="Cambria" pitchFamily="34" charset="0"/>
                <a:ea typeface="Cambria" pitchFamily="34" charset="-122"/>
                <a:cs typeface="Cambria" pitchFamily="34" charset="-120"/>
              </a:rPr>
              <a:t>Platform Support</a:t>
            </a:r>
            <a:endParaRPr lang="en-US" sz="1200" dirty="0"/>
          </a:p>
          <a:p>
            <a:pPr indent="0" marL="0">
              <a:buNone/>
            </a:pPr>
            <a:r>
              <a:rPr lang="en-US" sz="1300" i="1" dirty="0">
                <a:solidFill>
                  <a:srgbClr val="5A6275"/>
                </a:solidFill>
                <a:latin typeface="Calibri" pitchFamily="34" charset="0"/>
                <a:ea typeface="Calibri" pitchFamily="34" charset="-122"/>
                <a:cs typeface="Calibri" pitchFamily="34" charset="-120"/>
              </a:rPr>
              <a:t>Accept and operate</a:t>
            </a:r>
            <a:endParaRPr lang="en-US" sz="1200" dirty="0"/>
          </a:p>
          <a:p>
            <a:pPr indent="0" marL="0">
              <a:buNone/>
            </a:pPr>
            <a:r>
              <a:rPr lang="en-US" sz="5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250" dirty="0">
                <a:solidFill>
                  <a:srgbClr val="5B3FA0"/>
                </a:solidFill>
                <a:latin typeface="Calibri" pitchFamily="34" charset="0"/>
                <a:ea typeface="Calibri" pitchFamily="34" charset="-122"/>
                <a:cs typeface="Calibri" pitchFamily="34" charset="-120"/>
              </a:rPr>
              <a:t>Completeness Check · Handover Pack · Runbooks</a:t>
            </a:r>
            <a:endParaRPr lang="en-US" sz="12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Determinations made early drive work stages later; one component must hold them</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Target state · Why the orchestrator carries state</a:t>
            </a:r>
            <a:endParaRPr lang="en-US" sz="1000" dirty="0"/>
          </a:p>
        </p:txBody>
      </p:sp>
      <p:sp>
        <p:nvSpPr>
          <p:cNvPr id="4" name="Shape 2"/>
          <p:cNvSpPr/>
          <p:nvPr/>
        </p:nvSpPr>
        <p:spPr>
          <a:xfrm>
            <a:off x="4572000" y="1188720"/>
            <a:ext cx="3017520" cy="4251960"/>
          </a:xfrm>
          <a:prstGeom prst="roundRect">
            <a:avLst>
              <a:gd name="adj" fmla="val 3030"/>
            </a:avLst>
          </a:prstGeom>
          <a:solidFill>
            <a:srgbClr val="5B3FA0"/>
          </a:solidFill>
          <a:ln w="9525">
            <a:solidFill>
              <a:srgbClr val="5B3FA0"/>
            </a:solidFill>
            <a:prstDash val="solid"/>
          </a:ln>
        </p:spPr>
      </p:sp>
      <p:sp>
        <p:nvSpPr>
          <p:cNvPr id="5" name="Text 3"/>
          <p:cNvSpPr txBox="1"/>
          <p:nvPr/>
        </p:nvSpPr>
        <p:spPr>
          <a:xfrm>
            <a:off x="4663440" y="1188720"/>
            <a:ext cx="2834640" cy="42519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Onboard360AI onboarding record</a:t>
            </a:r>
            <a:endParaRPr lang="en-US" sz="1900" dirty="0"/>
          </a:p>
        </p:txBody>
      </p:sp>
      <p:sp>
        <p:nvSpPr>
          <p:cNvPr id="6" name="Shape 4"/>
          <p:cNvSpPr/>
          <p:nvPr/>
        </p:nvSpPr>
        <p:spPr>
          <a:xfrm>
            <a:off x="411480" y="1280160"/>
            <a:ext cx="3840480" cy="868680"/>
          </a:xfrm>
          <a:prstGeom prst="roundRect">
            <a:avLst>
              <a:gd name="adj" fmla="val 8421"/>
            </a:avLst>
          </a:prstGeom>
          <a:solidFill>
            <a:srgbClr val="F3F4F7"/>
          </a:solidFill>
          <a:ln w="9525">
            <a:solidFill>
              <a:srgbClr val="F3F4F7"/>
            </a:solidFill>
            <a:prstDash val="solid"/>
          </a:ln>
        </p:spPr>
      </p:sp>
      <p:sp>
        <p:nvSpPr>
          <p:cNvPr id="7" name="Text 5"/>
          <p:cNvSpPr txBox="1"/>
          <p:nvPr/>
        </p:nvSpPr>
        <p:spPr>
          <a:xfrm>
            <a:off x="548640" y="1280160"/>
            <a:ext cx="3566160" cy="868680"/>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Volume profile</a:t>
            </a:r>
            <a:endParaRPr lang="en-US" sz="1200" dirty="0"/>
          </a:p>
          <a:p>
            <a:pPr indent="0" marL="0">
              <a:buNone/>
            </a:pPr>
            <a:r>
              <a:rPr lang="en-US" sz="1100" dirty="0">
                <a:solidFill>
                  <a:srgbClr val="5A6275"/>
                </a:solidFill>
                <a:latin typeface="Calibri" pitchFamily="34" charset="0"/>
                <a:ea typeface="Calibri" pitchFamily="34" charset="-122"/>
                <a:cs typeface="Calibri" pitchFamily="34" charset="-120"/>
              </a:rPr>
              <a:t>Made at Stage 1, refined at 4</a:t>
            </a:r>
            <a:endParaRPr lang="en-US" sz="1200" dirty="0"/>
          </a:p>
        </p:txBody>
      </p:sp>
      <p:sp>
        <p:nvSpPr>
          <p:cNvPr id="8" name="Shape 6"/>
          <p:cNvSpPr/>
          <p:nvPr/>
        </p:nvSpPr>
        <p:spPr>
          <a:xfrm>
            <a:off x="4279392" y="1709928"/>
            <a:ext cx="274320" cy="0"/>
          </a:xfrm>
          <a:prstGeom prst="line">
            <a:avLst/>
          </a:prstGeom>
          <a:noFill/>
          <a:ln w="19050">
            <a:solidFill>
              <a:srgbClr val="5B3FA0"/>
            </a:solidFill>
            <a:prstDash val="solid"/>
            <a:tailEnd type="triangle"/>
          </a:ln>
        </p:spPr>
      </p:sp>
      <p:sp>
        <p:nvSpPr>
          <p:cNvPr id="9" name="Shape 7"/>
          <p:cNvSpPr/>
          <p:nvPr/>
        </p:nvSpPr>
        <p:spPr>
          <a:xfrm>
            <a:off x="7607808" y="1709928"/>
            <a:ext cx="274320" cy="0"/>
          </a:xfrm>
          <a:prstGeom prst="line">
            <a:avLst/>
          </a:prstGeom>
          <a:noFill/>
          <a:ln w="19050">
            <a:solidFill>
              <a:srgbClr val="5B3FA0"/>
            </a:solidFill>
            <a:prstDash val="solid"/>
            <a:tailEnd type="triangle"/>
          </a:ln>
        </p:spPr>
      </p:sp>
      <p:sp>
        <p:nvSpPr>
          <p:cNvPr id="10" name="Shape 8"/>
          <p:cNvSpPr/>
          <p:nvPr/>
        </p:nvSpPr>
        <p:spPr>
          <a:xfrm>
            <a:off x="7936992" y="1280160"/>
            <a:ext cx="3840480" cy="868680"/>
          </a:xfrm>
          <a:prstGeom prst="roundRect">
            <a:avLst>
              <a:gd name="adj" fmla="val 8421"/>
            </a:avLst>
          </a:prstGeom>
          <a:solidFill>
            <a:srgbClr val="F1EDF9"/>
          </a:solidFill>
          <a:ln w="9525">
            <a:solidFill>
              <a:srgbClr val="F1EDF9"/>
            </a:solidFill>
            <a:prstDash val="solid"/>
          </a:ln>
        </p:spPr>
      </p:sp>
      <p:sp>
        <p:nvSpPr>
          <p:cNvPr id="11" name="Text 9"/>
          <p:cNvSpPr txBox="1"/>
          <p:nvPr/>
        </p:nvSpPr>
        <p:spPr>
          <a:xfrm>
            <a:off x="8074152" y="1280160"/>
            <a:ext cx="3566160" cy="86868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Capacity plan and SPLI (8.7); ingestion design (8.3)</a:t>
            </a:r>
            <a:endParaRPr lang="en-US" sz="1200" dirty="0"/>
          </a:p>
        </p:txBody>
      </p:sp>
      <p:sp>
        <p:nvSpPr>
          <p:cNvPr id="12" name="Shape 10"/>
          <p:cNvSpPr/>
          <p:nvPr/>
        </p:nvSpPr>
        <p:spPr>
          <a:xfrm>
            <a:off x="411480" y="2331720"/>
            <a:ext cx="3840480" cy="868680"/>
          </a:xfrm>
          <a:prstGeom prst="roundRect">
            <a:avLst>
              <a:gd name="adj" fmla="val 8421"/>
            </a:avLst>
          </a:prstGeom>
          <a:solidFill>
            <a:srgbClr val="F3F4F7"/>
          </a:solidFill>
          <a:ln w="9525">
            <a:solidFill>
              <a:srgbClr val="F3F4F7"/>
            </a:solidFill>
            <a:prstDash val="solid"/>
          </a:ln>
        </p:spPr>
      </p:sp>
      <p:sp>
        <p:nvSpPr>
          <p:cNvPr id="13" name="Text 11"/>
          <p:cNvSpPr txBox="1"/>
          <p:nvPr/>
        </p:nvSpPr>
        <p:spPr>
          <a:xfrm>
            <a:off x="548640" y="2331720"/>
            <a:ext cx="3566160" cy="868680"/>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Governance determination and classification</a:t>
            </a:r>
            <a:endParaRPr lang="en-US" sz="1200" dirty="0"/>
          </a:p>
          <a:p>
            <a:pPr indent="0" marL="0">
              <a:buNone/>
            </a:pPr>
            <a:r>
              <a:rPr lang="en-US" sz="1100" dirty="0">
                <a:solidFill>
                  <a:srgbClr val="5A6275"/>
                </a:solidFill>
                <a:latin typeface="Calibri" pitchFamily="34" charset="0"/>
                <a:ea typeface="Calibri" pitchFamily="34" charset="-122"/>
                <a:cs typeface="Calibri" pitchFamily="34" charset="-120"/>
              </a:rPr>
              <a:t>Made at Stage 4</a:t>
            </a:r>
            <a:endParaRPr lang="en-US" sz="1200" dirty="0"/>
          </a:p>
        </p:txBody>
      </p:sp>
      <p:sp>
        <p:nvSpPr>
          <p:cNvPr id="14" name="Shape 12"/>
          <p:cNvSpPr/>
          <p:nvPr/>
        </p:nvSpPr>
        <p:spPr>
          <a:xfrm>
            <a:off x="4279392" y="2761488"/>
            <a:ext cx="274320" cy="0"/>
          </a:xfrm>
          <a:prstGeom prst="line">
            <a:avLst/>
          </a:prstGeom>
          <a:noFill/>
          <a:ln w="19050">
            <a:solidFill>
              <a:srgbClr val="5B3FA0"/>
            </a:solidFill>
            <a:prstDash val="solid"/>
            <a:tailEnd type="triangle"/>
          </a:ln>
        </p:spPr>
      </p:sp>
      <p:sp>
        <p:nvSpPr>
          <p:cNvPr id="15" name="Shape 13"/>
          <p:cNvSpPr/>
          <p:nvPr/>
        </p:nvSpPr>
        <p:spPr>
          <a:xfrm>
            <a:off x="7607808" y="2761488"/>
            <a:ext cx="274320" cy="0"/>
          </a:xfrm>
          <a:prstGeom prst="line">
            <a:avLst/>
          </a:prstGeom>
          <a:noFill/>
          <a:ln w="19050">
            <a:solidFill>
              <a:srgbClr val="5B3FA0"/>
            </a:solidFill>
            <a:prstDash val="solid"/>
            <a:tailEnd type="triangle"/>
          </a:ln>
        </p:spPr>
      </p:sp>
      <p:sp>
        <p:nvSpPr>
          <p:cNvPr id="16" name="Shape 14"/>
          <p:cNvSpPr/>
          <p:nvPr/>
        </p:nvSpPr>
        <p:spPr>
          <a:xfrm>
            <a:off x="7936992" y="2331720"/>
            <a:ext cx="3840480" cy="868680"/>
          </a:xfrm>
          <a:prstGeom prst="roundRect">
            <a:avLst>
              <a:gd name="adj" fmla="val 8421"/>
            </a:avLst>
          </a:prstGeom>
          <a:solidFill>
            <a:srgbClr val="F1EDF9"/>
          </a:solidFill>
          <a:ln w="9525">
            <a:solidFill>
              <a:srgbClr val="F1EDF9"/>
            </a:solidFill>
            <a:prstDash val="solid"/>
          </a:ln>
        </p:spPr>
      </p:sp>
      <p:sp>
        <p:nvSpPr>
          <p:cNvPr id="17" name="Text 15"/>
          <p:cNvSpPr txBox="1"/>
          <p:nvPr/>
        </p:nvSpPr>
        <p:spPr>
          <a:xfrm>
            <a:off x="8074152" y="2331720"/>
            <a:ext cx="3566160" cy="86868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Content profiles (8.4); retention keying (8.6); search filters (8.5)</a:t>
            </a:r>
            <a:endParaRPr lang="en-US" sz="1200" dirty="0"/>
          </a:p>
        </p:txBody>
      </p:sp>
      <p:sp>
        <p:nvSpPr>
          <p:cNvPr id="18" name="Shape 16"/>
          <p:cNvSpPr/>
          <p:nvPr/>
        </p:nvSpPr>
        <p:spPr>
          <a:xfrm>
            <a:off x="411480" y="3383280"/>
            <a:ext cx="3840480" cy="868680"/>
          </a:xfrm>
          <a:prstGeom prst="roundRect">
            <a:avLst>
              <a:gd name="adj" fmla="val 8421"/>
            </a:avLst>
          </a:prstGeom>
          <a:solidFill>
            <a:srgbClr val="F3F4F7"/>
          </a:solidFill>
          <a:ln w="9525">
            <a:solidFill>
              <a:srgbClr val="F3F4F7"/>
            </a:solidFill>
            <a:prstDash val="solid"/>
          </a:ln>
        </p:spPr>
      </p:sp>
      <p:sp>
        <p:nvSpPr>
          <p:cNvPr id="19" name="Text 17"/>
          <p:cNvSpPr txBox="1"/>
          <p:nvPr/>
        </p:nvSpPr>
        <p:spPr>
          <a:xfrm>
            <a:off x="548640" y="3383280"/>
            <a:ext cx="3566160" cy="868680"/>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Retention and regulatory position</a:t>
            </a:r>
            <a:endParaRPr lang="en-US" sz="1200" dirty="0"/>
          </a:p>
          <a:p>
            <a:pPr indent="0" marL="0">
              <a:buNone/>
            </a:pPr>
            <a:r>
              <a:rPr lang="en-US" sz="1100" dirty="0">
                <a:solidFill>
                  <a:srgbClr val="5A6275"/>
                </a:solidFill>
                <a:latin typeface="Calibri" pitchFamily="34" charset="0"/>
                <a:ea typeface="Calibri" pitchFamily="34" charset="-122"/>
                <a:cs typeface="Calibri" pitchFamily="34" charset="-120"/>
              </a:rPr>
              <a:t>Made at Stage 4</a:t>
            </a:r>
            <a:endParaRPr lang="en-US" sz="1200" dirty="0"/>
          </a:p>
        </p:txBody>
      </p:sp>
      <p:sp>
        <p:nvSpPr>
          <p:cNvPr id="20" name="Shape 18"/>
          <p:cNvSpPr/>
          <p:nvPr/>
        </p:nvSpPr>
        <p:spPr>
          <a:xfrm>
            <a:off x="4279392" y="3813048"/>
            <a:ext cx="274320" cy="0"/>
          </a:xfrm>
          <a:prstGeom prst="line">
            <a:avLst/>
          </a:prstGeom>
          <a:noFill/>
          <a:ln w="19050">
            <a:solidFill>
              <a:srgbClr val="5B3FA0"/>
            </a:solidFill>
            <a:prstDash val="solid"/>
            <a:tailEnd type="triangle"/>
          </a:ln>
        </p:spPr>
      </p:sp>
      <p:sp>
        <p:nvSpPr>
          <p:cNvPr id="21" name="Shape 19"/>
          <p:cNvSpPr/>
          <p:nvPr/>
        </p:nvSpPr>
        <p:spPr>
          <a:xfrm>
            <a:off x="7607808" y="3813048"/>
            <a:ext cx="274320" cy="0"/>
          </a:xfrm>
          <a:prstGeom prst="line">
            <a:avLst/>
          </a:prstGeom>
          <a:noFill/>
          <a:ln w="19050">
            <a:solidFill>
              <a:srgbClr val="5B3FA0"/>
            </a:solidFill>
            <a:prstDash val="solid"/>
            <a:tailEnd type="triangle"/>
          </a:ln>
        </p:spPr>
      </p:sp>
      <p:sp>
        <p:nvSpPr>
          <p:cNvPr id="22" name="Shape 20"/>
          <p:cNvSpPr/>
          <p:nvPr/>
        </p:nvSpPr>
        <p:spPr>
          <a:xfrm>
            <a:off x="7936992" y="3383280"/>
            <a:ext cx="3840480" cy="868680"/>
          </a:xfrm>
          <a:prstGeom prst="roundRect">
            <a:avLst>
              <a:gd name="adj" fmla="val 8421"/>
            </a:avLst>
          </a:prstGeom>
          <a:solidFill>
            <a:srgbClr val="F1EDF9"/>
          </a:solidFill>
          <a:ln w="9525">
            <a:solidFill>
              <a:srgbClr val="F1EDF9"/>
            </a:solidFill>
            <a:prstDash val="solid"/>
          </a:ln>
        </p:spPr>
      </p:sp>
      <p:sp>
        <p:nvSpPr>
          <p:cNvPr id="23" name="Text 21"/>
          <p:cNvSpPr txBox="1"/>
          <p:nvPr/>
        </p:nvSpPr>
        <p:spPr>
          <a:xfrm>
            <a:off x="8074152" y="3383280"/>
            <a:ext cx="3566160" cy="86868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Repository choice and WORM (8.5, 8.6)</a:t>
            </a:r>
            <a:endParaRPr lang="en-US" sz="1200" dirty="0"/>
          </a:p>
        </p:txBody>
      </p:sp>
      <p:sp>
        <p:nvSpPr>
          <p:cNvPr id="24" name="Shape 22"/>
          <p:cNvSpPr/>
          <p:nvPr/>
        </p:nvSpPr>
        <p:spPr>
          <a:xfrm>
            <a:off x="411480" y="4434840"/>
            <a:ext cx="3840480" cy="868680"/>
          </a:xfrm>
          <a:prstGeom prst="roundRect">
            <a:avLst>
              <a:gd name="adj" fmla="val 8421"/>
            </a:avLst>
          </a:prstGeom>
          <a:solidFill>
            <a:srgbClr val="F3F4F7"/>
          </a:solidFill>
          <a:ln w="9525">
            <a:solidFill>
              <a:srgbClr val="F3F4F7"/>
            </a:solidFill>
            <a:prstDash val="solid"/>
          </a:ln>
        </p:spPr>
      </p:sp>
      <p:sp>
        <p:nvSpPr>
          <p:cNvPr id="25" name="Text 23"/>
          <p:cNvSpPr txBox="1"/>
          <p:nvPr/>
        </p:nvSpPr>
        <p:spPr>
          <a:xfrm>
            <a:off x="548640" y="4434840"/>
            <a:ext cx="3566160" cy="868680"/>
          </a:xfrm>
          <a:prstGeom prst="rect">
            <a:avLst/>
          </a:prstGeom>
          <a:noFill/>
          <a:ln/>
        </p:spPr>
        <p:txBody>
          <a:bodyPr wrap="square" lIns="0" tIns="0" rIns="0" bIns="0" rtlCol="0" anchor="ctr"/>
          <a:lstStyle/>
          <a:p>
            <a:pPr indent="0" marL="0">
              <a:buNone/>
            </a:pPr>
            <a:r>
              <a:rPr lang="en-US" sz="1250" b="1" dirty="0">
                <a:solidFill>
                  <a:srgbClr val="1B2238"/>
                </a:solidFill>
                <a:latin typeface="Calibri" pitchFamily="34" charset="0"/>
                <a:ea typeface="Calibri" pitchFamily="34" charset="-122"/>
                <a:cs typeface="Calibri" pitchFamily="34" charset="-120"/>
              </a:rPr>
              <a:t>Delivery team allocation</a:t>
            </a:r>
            <a:endParaRPr lang="en-US" sz="1200" dirty="0"/>
          </a:p>
          <a:p>
            <a:pPr indent="0" marL="0">
              <a:buNone/>
            </a:pPr>
            <a:r>
              <a:rPr lang="en-US" sz="1100" dirty="0">
                <a:solidFill>
                  <a:srgbClr val="5A6275"/>
                </a:solidFill>
                <a:latin typeface="Calibri" pitchFamily="34" charset="0"/>
                <a:ea typeface="Calibri" pitchFamily="34" charset="-122"/>
                <a:cs typeface="Calibri" pitchFamily="34" charset="-120"/>
              </a:rPr>
              <a:t>Made at Stage 7</a:t>
            </a:r>
            <a:endParaRPr lang="en-US" sz="1200" dirty="0"/>
          </a:p>
        </p:txBody>
      </p:sp>
      <p:sp>
        <p:nvSpPr>
          <p:cNvPr id="26" name="Shape 24"/>
          <p:cNvSpPr/>
          <p:nvPr/>
        </p:nvSpPr>
        <p:spPr>
          <a:xfrm>
            <a:off x="4279392" y="4864608"/>
            <a:ext cx="274320" cy="0"/>
          </a:xfrm>
          <a:prstGeom prst="line">
            <a:avLst/>
          </a:prstGeom>
          <a:noFill/>
          <a:ln w="19050">
            <a:solidFill>
              <a:srgbClr val="5B3FA0"/>
            </a:solidFill>
            <a:prstDash val="solid"/>
            <a:tailEnd type="triangle"/>
          </a:ln>
        </p:spPr>
      </p:sp>
      <p:sp>
        <p:nvSpPr>
          <p:cNvPr id="27" name="Shape 25"/>
          <p:cNvSpPr/>
          <p:nvPr/>
        </p:nvSpPr>
        <p:spPr>
          <a:xfrm>
            <a:off x="7607808" y="4864608"/>
            <a:ext cx="274320" cy="0"/>
          </a:xfrm>
          <a:prstGeom prst="line">
            <a:avLst/>
          </a:prstGeom>
          <a:noFill/>
          <a:ln w="19050">
            <a:solidFill>
              <a:srgbClr val="5B3FA0"/>
            </a:solidFill>
            <a:prstDash val="solid"/>
            <a:tailEnd type="triangle"/>
          </a:ln>
        </p:spPr>
      </p:sp>
      <p:sp>
        <p:nvSpPr>
          <p:cNvPr id="28" name="Shape 26"/>
          <p:cNvSpPr/>
          <p:nvPr/>
        </p:nvSpPr>
        <p:spPr>
          <a:xfrm>
            <a:off x="7936992" y="4434840"/>
            <a:ext cx="3840480" cy="868680"/>
          </a:xfrm>
          <a:prstGeom prst="roundRect">
            <a:avLst>
              <a:gd name="adj" fmla="val 8421"/>
            </a:avLst>
          </a:prstGeom>
          <a:solidFill>
            <a:srgbClr val="F1EDF9"/>
          </a:solidFill>
          <a:ln w="9525">
            <a:solidFill>
              <a:srgbClr val="F1EDF9"/>
            </a:solidFill>
            <a:prstDash val="solid"/>
          </a:ln>
        </p:spPr>
      </p:sp>
      <p:sp>
        <p:nvSpPr>
          <p:cNvPr id="29" name="Text 27"/>
          <p:cNvSpPr txBox="1"/>
          <p:nvPr/>
        </p:nvSpPr>
        <p:spPr>
          <a:xfrm>
            <a:off x="8074152" y="4434840"/>
            <a:ext cx="3566160" cy="86868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Ticket routing (8.7); how far the environment ladder goes (8.9)</a:t>
            </a:r>
            <a:endParaRPr lang="en-US" sz="1200" dirty="0"/>
          </a:p>
        </p:txBody>
      </p:sp>
      <p:sp>
        <p:nvSpPr>
          <p:cNvPr id="30" name="Shape 28"/>
          <p:cNvSpPr/>
          <p:nvPr/>
        </p:nvSpPr>
        <p:spPr>
          <a:xfrm>
            <a:off x="411480" y="5623560"/>
            <a:ext cx="11365992" cy="594360"/>
          </a:xfrm>
          <a:prstGeom prst="roundRect">
            <a:avLst>
              <a:gd name="adj" fmla="val 12308"/>
            </a:avLst>
          </a:prstGeom>
          <a:solidFill>
            <a:srgbClr val="FBEDEC"/>
          </a:solidFill>
          <a:ln w="9525">
            <a:solidFill>
              <a:srgbClr val="B3261E"/>
            </a:solidFill>
            <a:prstDash val="solid"/>
          </a:ln>
        </p:spPr>
      </p:sp>
      <p:sp>
        <p:nvSpPr>
          <p:cNvPr id="31" name="Text 29"/>
          <p:cNvSpPr txBox="1"/>
          <p:nvPr/>
        </p:nvSpPr>
        <p:spPr>
          <a:xfrm>
            <a:off x="640080" y="5623560"/>
            <a:ext cx="10972800" cy="594360"/>
          </a:xfrm>
          <a:prstGeom prst="rect">
            <a:avLst/>
          </a:prstGeom>
          <a:noFill/>
          <a:ln/>
        </p:spPr>
        <p:txBody>
          <a:bodyPr wrap="square" lIns="0" tIns="0" rIns="0" bIns="0" rtlCol="0" anchor="ctr"/>
          <a:lstStyle/>
          <a:p>
            <a:pPr indent="0" marL="0">
              <a:buNone/>
            </a:pPr>
            <a:r>
              <a:rPr lang="en-US" sz="1350" b="1" dirty="0">
                <a:solidFill>
                  <a:srgbClr val="B3261E"/>
                </a:solidFill>
                <a:latin typeface="Calibri" pitchFamily="34" charset="0"/>
                <a:ea typeface="Calibri" pitchFamily="34" charset="-122"/>
                <a:cs typeface="Calibri" pitchFamily="34" charset="-120"/>
              </a:rPr>
              <a:t>Without it, a downstream step acts on an assumption the upstream stage never confirmed.</a:t>
            </a:r>
            <a:endParaRPr lang="en-US" sz="135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Ten rules that fail silently today become rules the platform enforces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Governance · Rules encoded as skills</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2743200"/>
                <a:gridCol w="862279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it is enforced</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Ticket routing</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SK-XC-03 resolves the project per ticket type; refuses rather than guesses</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Access routing</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SK-FS-07 routes by request type; called first by every access skill</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Environment accounts</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SK-FS-08 / SK-TE-12 ensure the right account; internal-only environment excluded</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Promotion ladder</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SK-TE-10 refuses skips; SK-TE-11 applies first-environment-only without a team</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Triage completion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SK-TR-06 completes all edits atomically</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Determination integrity</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SK-XC-04 carries confirmed upstream facts forward</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Governance precedence</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SK-CN-14 is the only source of the determination; SK-IN-05 is labelled provisional</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New type re-review</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SK-CN-16 routes new document types back to Imaging Governance</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Disclosure</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SK-XC-05 states the integration phase before any interaction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Auditability</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SK-XC-08 records every action, the authorising rule and the approving human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bl>
          </a:graphicData>
        </a:graphic>
      </p:graphicFrame>
      <p:sp>
        <p:nvSpPr>
          <p:cNvPr id="5" name="Shape 2"/>
          <p:cNvSpPr/>
          <p:nvPr/>
        </p:nvSpPr>
        <p:spPr>
          <a:xfrm>
            <a:off x="411480" y="5532120"/>
            <a:ext cx="11365992" cy="685800"/>
          </a:xfrm>
          <a:prstGeom prst="roundRect">
            <a:avLst>
              <a:gd name="adj" fmla="val 10667"/>
            </a:avLst>
          </a:prstGeom>
          <a:solidFill>
            <a:srgbClr val="5B3FA0"/>
          </a:solidFill>
          <a:ln w="9525">
            <a:solidFill>
              <a:srgbClr val="5B3FA0"/>
            </a:solidFill>
            <a:prstDash val="solid"/>
          </a:ln>
        </p:spPr>
      </p:sp>
      <p:sp>
        <p:nvSpPr>
          <p:cNvPr id="6" name="Text 3"/>
          <p:cNvSpPr txBox="1"/>
          <p:nvPr/>
        </p:nvSpPr>
        <p:spPr>
          <a:xfrm>
            <a:off x="640080" y="5532120"/>
            <a:ext cx="109728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Converting a rule that must be remembered into a rule that is enforced is the single highest-value part of this design.</a:t>
            </a:r>
            <a:endParaRPr lang="en-US" sz="14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Onboard360AI assists and enforces; named humans keep every consequential decision</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Governance · Human authority and approval</a:t>
            </a:r>
            <a:endParaRPr lang="en-US" sz="1000" dirty="0"/>
          </a:p>
        </p:txBody>
      </p:sp>
      <p:sp>
        <p:nvSpPr>
          <p:cNvPr id="4" name="Shape 2"/>
          <p:cNvSpPr/>
          <p:nvPr/>
        </p:nvSpPr>
        <p:spPr>
          <a:xfrm>
            <a:off x="411480" y="1143000"/>
            <a:ext cx="11365992" cy="457200"/>
          </a:xfrm>
          <a:prstGeom prst="roundRect">
            <a:avLst>
              <a:gd name="adj" fmla="val 16000"/>
            </a:avLst>
          </a:prstGeom>
          <a:solidFill>
            <a:srgbClr val="B3261E"/>
          </a:solidFill>
          <a:ln w="9525">
            <a:solidFill>
              <a:srgbClr val="B3261E"/>
            </a:solidFill>
            <a:prstDash val="solid"/>
          </a:ln>
        </p:spPr>
      </p:sp>
      <p:sp>
        <p:nvSpPr>
          <p:cNvPr id="5" name="Text 3"/>
          <p:cNvSpPr txBox="1"/>
          <p:nvPr/>
        </p:nvSpPr>
        <p:spPr>
          <a:xfrm>
            <a:off x="411480" y="1143000"/>
            <a:ext cx="11365992"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 agent does not approve.</a:t>
            </a:r>
            <a:endParaRPr lang="en-US" sz="15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11480" y="1783080"/>
          <a:ext cx="11365992" cy="914400"/>
        </p:xfrm>
        <a:graphic>
          <a:graphicData uri="http://schemas.openxmlformats.org/drawingml/2006/table">
            <a:tbl>
              <a:tblPr/>
              <a:tblGrid>
                <a:gridCol w="2926080"/>
                <a:gridCol w="4023360"/>
                <a:gridCol w="4416552"/>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decides (human decision)</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agent does</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Is the demand worth doing</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LOB sponsor</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Assembles evidence; does not rank</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Is the intake complete enough</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ECM intake team</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Validates and reports; marginal calls stay human</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Trusted vs untrusted</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Imaging Governance, viewing documents on the flow</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Prepares submission, confirms samples, tracks, registers outcome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Category, type, subtype (trusted)</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Imaging Governance</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Supplies taxonomy, records allocation, keys configuration to it</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Retention position</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Records Management, on the business owner's requirement</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Drafts questionnaire, tracks approval</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Capacity commitment</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Enabling and engineering teams</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Assembles request, resolves routing</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Security and access approval</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Security teams via existing tooling</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Routes correctly, tracks; does not grant</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2238"/>
                          </a:solidFill>
                          <a:latin typeface="Calibri" pitchFamily="34" charset="0"/>
                          <a:ea typeface="Calibri" pitchFamily="34" charset="-122"/>
                          <a:cs typeface="Calibri" pitchFamily="34" charset="-120"/>
                        </a:rPr>
                        <a:t>Go-live authorisation</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Named sign-off holders</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150" dirty="0">
                          <a:solidFill>
                            <a:srgbClr val="1B2238"/>
                          </a:solidFill>
                          <a:latin typeface="Calibri" pitchFamily="34" charset="0"/>
                          <a:ea typeface="Calibri" pitchFamily="34" charset="-122"/>
                          <a:cs typeface="Calibri" pitchFamily="34" charset="-120"/>
                        </a:rPr>
                        <a:t>Tracks sign-offs; blocks progression without them</a:t>
                      </a:r>
                      <a:endParaRPr lang="en-US" sz="11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bl>
          </a:graphicData>
        </a:graphic>
      </p:graphicFrame>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The benefit comes from removing rework and waiting, not replacing judgement</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Governance · Where the benefit comes from</a:t>
            </a:r>
            <a:endParaRPr lang="en-US" sz="1000" dirty="0"/>
          </a:p>
        </p:txBody>
      </p:sp>
      <p:sp>
        <p:nvSpPr>
          <p:cNvPr id="4" name="Shape 2"/>
          <p:cNvSpPr/>
          <p:nvPr/>
        </p:nvSpPr>
        <p:spPr>
          <a:xfrm>
            <a:off x="411480" y="1188720"/>
            <a:ext cx="7863840" cy="777240"/>
          </a:xfrm>
          <a:prstGeom prst="roundRect">
            <a:avLst>
              <a:gd name="adj" fmla="val 9412"/>
            </a:avLst>
          </a:prstGeom>
          <a:solidFill>
            <a:srgbClr val="F1EDF9"/>
          </a:solidFill>
          <a:ln w="9525">
            <a:solidFill>
              <a:srgbClr val="F1EDF9"/>
            </a:solidFill>
            <a:prstDash val="solid"/>
          </a:ln>
        </p:spPr>
      </p:sp>
      <p:sp>
        <p:nvSpPr>
          <p:cNvPr id="5" name="Shape 3"/>
          <p:cNvSpPr/>
          <p:nvPr/>
        </p:nvSpPr>
        <p:spPr>
          <a:xfrm>
            <a:off x="548640" y="1344168"/>
            <a:ext cx="457200" cy="457200"/>
          </a:xfrm>
          <a:prstGeom prst="ellipse">
            <a:avLst/>
          </a:prstGeom>
          <a:solidFill>
            <a:srgbClr val="5B3FA0"/>
          </a:solidFill>
          <a:ln w="12700">
            <a:solidFill>
              <a:srgbClr val="5B3FA0"/>
            </a:solidFill>
            <a:prstDash val="solid"/>
          </a:ln>
        </p:spPr>
      </p:sp>
      <p:sp>
        <p:nvSpPr>
          <p:cNvPr id="6" name="Text 4"/>
          <p:cNvSpPr txBox="1"/>
          <p:nvPr/>
        </p:nvSpPr>
        <p:spPr>
          <a:xfrm>
            <a:off x="548640" y="13441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88720" y="1188720"/>
            <a:ext cx="4754880" cy="777240"/>
          </a:xfrm>
          <a:prstGeom prst="rect">
            <a:avLst/>
          </a:prstGeom>
          <a:noFill/>
          <a:ln/>
        </p:spPr>
        <p:txBody>
          <a:bodyPr wrap="square" lIns="0" tIns="0" rIns="0" bIns="0" rtlCol="0" anchor="ctr"/>
          <a:lstStyle/>
          <a:p>
            <a:pPr indent="0" marL="0">
              <a:buNone/>
            </a:pPr>
            <a:r>
              <a:rPr lang="en-US" sz="1350" b="1" dirty="0">
                <a:solidFill>
                  <a:srgbClr val="1B2238"/>
                </a:solidFill>
                <a:latin typeface="Calibri" pitchFamily="34" charset="0"/>
                <a:ea typeface="Calibri" pitchFamily="34" charset="-122"/>
                <a:cs typeface="Calibri" pitchFamily="34" charset="-120"/>
              </a:rPr>
              <a:t>Context externalised, not remembered</a:t>
            </a:r>
            <a:endParaRPr lang="en-US" sz="1200" dirty="0"/>
          </a:p>
          <a:p>
            <a:pPr indent="0" marL="0">
              <a:buNone/>
            </a:pPr>
            <a:r>
              <a:rPr lang="en-US" sz="1150" dirty="0">
                <a:solidFill>
                  <a:srgbClr val="1B2238"/>
                </a:solidFill>
                <a:latin typeface="Calibri" pitchFamily="34" charset="0"/>
                <a:ea typeface="Calibri" pitchFamily="34" charset="-122"/>
                <a:cs typeface="Calibri" pitchFamily="34" charset="-120"/>
              </a:rPr>
              <a:t>Onboarding record survives handover, absence, reassignment</a:t>
            </a:r>
            <a:endParaRPr lang="en-US" sz="1200" dirty="0"/>
          </a:p>
        </p:txBody>
      </p:sp>
      <p:sp>
        <p:nvSpPr>
          <p:cNvPr id="8" name="Text 6"/>
          <p:cNvSpPr txBox="1"/>
          <p:nvPr/>
        </p:nvSpPr>
        <p:spPr>
          <a:xfrm>
            <a:off x="5943600" y="1188720"/>
            <a:ext cx="2240280" cy="777240"/>
          </a:xfrm>
          <a:prstGeom prst="rect">
            <a:avLst/>
          </a:prstGeom>
          <a:noFill/>
          <a:ln/>
        </p:spPr>
        <p:txBody>
          <a:bodyPr wrap="square" lIns="0" tIns="0" rIns="0" bIns="0" rtlCol="0" anchor="ctr"/>
          <a:lstStyle/>
          <a:p>
            <a:pPr indent="0" marL="0">
              <a:buNone/>
            </a:pPr>
            <a:r>
              <a:rPr lang="en-US" sz="1000" dirty="0">
                <a:solidFill>
                  <a:srgbClr val="5A6275"/>
                </a:solidFill>
                <a:latin typeface="Calibri" pitchFamily="34" charset="0"/>
                <a:ea typeface="Calibri" pitchFamily="34" charset="-122"/>
                <a:cs typeface="Calibri" pitchFamily="34" charset="-120"/>
              </a:rPr>
              <a:t>SK-XC-01, 04, 07</a:t>
            </a:r>
            <a:endParaRPr lang="en-US" sz="1000" dirty="0"/>
          </a:p>
        </p:txBody>
      </p:sp>
      <p:sp>
        <p:nvSpPr>
          <p:cNvPr id="9" name="Shape 7"/>
          <p:cNvSpPr/>
          <p:nvPr/>
        </p:nvSpPr>
        <p:spPr>
          <a:xfrm>
            <a:off x="411480" y="2084832"/>
            <a:ext cx="7863840" cy="777240"/>
          </a:xfrm>
          <a:prstGeom prst="roundRect">
            <a:avLst>
              <a:gd name="adj" fmla="val 9412"/>
            </a:avLst>
          </a:prstGeom>
          <a:solidFill>
            <a:srgbClr val="F1EDF9"/>
          </a:solidFill>
          <a:ln w="9525">
            <a:solidFill>
              <a:srgbClr val="F1EDF9"/>
            </a:solidFill>
            <a:prstDash val="solid"/>
          </a:ln>
        </p:spPr>
      </p:sp>
      <p:sp>
        <p:nvSpPr>
          <p:cNvPr id="10" name="Shape 8"/>
          <p:cNvSpPr/>
          <p:nvPr/>
        </p:nvSpPr>
        <p:spPr>
          <a:xfrm>
            <a:off x="548640" y="2240280"/>
            <a:ext cx="457200" cy="457200"/>
          </a:xfrm>
          <a:prstGeom prst="ellipse">
            <a:avLst/>
          </a:prstGeom>
          <a:solidFill>
            <a:srgbClr val="5B3FA0"/>
          </a:solidFill>
          <a:ln w="12700">
            <a:solidFill>
              <a:srgbClr val="5B3FA0"/>
            </a:solidFill>
            <a:prstDash val="solid"/>
          </a:ln>
        </p:spPr>
      </p:sp>
      <p:sp>
        <p:nvSpPr>
          <p:cNvPr id="11" name="Text 9"/>
          <p:cNvSpPr txBox="1"/>
          <p:nvPr/>
        </p:nvSpPr>
        <p:spPr>
          <a:xfrm>
            <a:off x="548640" y="2240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88720" y="2084832"/>
            <a:ext cx="4754880" cy="777240"/>
          </a:xfrm>
          <a:prstGeom prst="rect">
            <a:avLst/>
          </a:prstGeom>
          <a:noFill/>
          <a:ln/>
        </p:spPr>
        <p:txBody>
          <a:bodyPr wrap="square" lIns="0" tIns="0" rIns="0" bIns="0" rtlCol="0" anchor="ctr"/>
          <a:lstStyle/>
          <a:p>
            <a:pPr indent="0" marL="0">
              <a:buNone/>
            </a:pPr>
            <a:r>
              <a:rPr lang="en-US" sz="1350" b="1" dirty="0">
                <a:solidFill>
                  <a:srgbClr val="1B2238"/>
                </a:solidFill>
                <a:latin typeface="Calibri" pitchFamily="34" charset="0"/>
                <a:ea typeface="Calibri" pitchFamily="34" charset="-122"/>
                <a:cs typeface="Calibri" pitchFamily="34" charset="-120"/>
              </a:rPr>
              <a:t>Rules enforced, not recalled</a:t>
            </a:r>
            <a:endParaRPr lang="en-US" sz="1200" dirty="0"/>
          </a:p>
          <a:p>
            <a:pPr indent="0" marL="0">
              <a:buNone/>
            </a:pPr>
            <a:r>
              <a:rPr lang="en-US" sz="1150" dirty="0">
                <a:solidFill>
                  <a:srgbClr val="1B2238"/>
                </a:solidFill>
                <a:latin typeface="Calibri" pitchFamily="34" charset="0"/>
                <a:ea typeface="Calibri" pitchFamily="34" charset="-122"/>
                <a:cs typeface="Calibri" pitchFamily="34" charset="-120"/>
              </a:rPr>
              <a:t>Removes a whole class of misrouting rework</a:t>
            </a:r>
            <a:endParaRPr lang="en-US" sz="1200" dirty="0"/>
          </a:p>
        </p:txBody>
      </p:sp>
      <p:sp>
        <p:nvSpPr>
          <p:cNvPr id="13" name="Text 11"/>
          <p:cNvSpPr txBox="1"/>
          <p:nvPr/>
        </p:nvSpPr>
        <p:spPr>
          <a:xfrm>
            <a:off x="5943600" y="2084832"/>
            <a:ext cx="2240280" cy="777240"/>
          </a:xfrm>
          <a:prstGeom prst="rect">
            <a:avLst/>
          </a:prstGeom>
          <a:noFill/>
          <a:ln/>
        </p:spPr>
        <p:txBody>
          <a:bodyPr wrap="square" lIns="0" tIns="0" rIns="0" bIns="0" rtlCol="0" anchor="ctr"/>
          <a:lstStyle/>
          <a:p>
            <a:pPr indent="0" marL="0">
              <a:buNone/>
            </a:pPr>
            <a:r>
              <a:rPr lang="en-US" sz="1000" dirty="0">
                <a:solidFill>
                  <a:srgbClr val="5A6275"/>
                </a:solidFill>
                <a:latin typeface="Calibri" pitchFamily="34" charset="0"/>
                <a:ea typeface="Calibri" pitchFamily="34" charset="-122"/>
                <a:cs typeface="Calibri" pitchFamily="34" charset="-120"/>
              </a:rPr>
              <a:t>SK-XC-03, SK-FS-07, SK-TE-10, SK-TR-06</a:t>
            </a:r>
            <a:endParaRPr lang="en-US" sz="1000" dirty="0"/>
          </a:p>
        </p:txBody>
      </p:sp>
      <p:sp>
        <p:nvSpPr>
          <p:cNvPr id="14" name="Shape 12"/>
          <p:cNvSpPr/>
          <p:nvPr/>
        </p:nvSpPr>
        <p:spPr>
          <a:xfrm>
            <a:off x="411480" y="2980944"/>
            <a:ext cx="7863840" cy="777240"/>
          </a:xfrm>
          <a:prstGeom prst="roundRect">
            <a:avLst>
              <a:gd name="adj" fmla="val 9412"/>
            </a:avLst>
          </a:prstGeom>
          <a:solidFill>
            <a:srgbClr val="F1EDF9"/>
          </a:solidFill>
          <a:ln w="9525">
            <a:solidFill>
              <a:srgbClr val="F1EDF9"/>
            </a:solidFill>
            <a:prstDash val="solid"/>
          </a:ln>
        </p:spPr>
      </p:sp>
      <p:sp>
        <p:nvSpPr>
          <p:cNvPr id="15" name="Shape 13"/>
          <p:cNvSpPr/>
          <p:nvPr/>
        </p:nvSpPr>
        <p:spPr>
          <a:xfrm>
            <a:off x="548640" y="3136392"/>
            <a:ext cx="457200" cy="457200"/>
          </a:xfrm>
          <a:prstGeom prst="ellipse">
            <a:avLst/>
          </a:prstGeom>
          <a:solidFill>
            <a:srgbClr val="5B3FA0"/>
          </a:solidFill>
          <a:ln w="12700">
            <a:solidFill>
              <a:srgbClr val="5B3FA0"/>
            </a:solidFill>
            <a:prstDash val="solid"/>
          </a:ln>
        </p:spPr>
      </p:sp>
      <p:sp>
        <p:nvSpPr>
          <p:cNvPr id="16" name="Text 14"/>
          <p:cNvSpPr txBox="1"/>
          <p:nvPr/>
        </p:nvSpPr>
        <p:spPr>
          <a:xfrm>
            <a:off x="548640" y="31363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188720" y="2980944"/>
            <a:ext cx="4754880" cy="777240"/>
          </a:xfrm>
          <a:prstGeom prst="rect">
            <a:avLst/>
          </a:prstGeom>
          <a:noFill/>
          <a:ln/>
        </p:spPr>
        <p:txBody>
          <a:bodyPr wrap="square" lIns="0" tIns="0" rIns="0" bIns="0" rtlCol="0" anchor="ctr"/>
          <a:lstStyle/>
          <a:p>
            <a:pPr indent="0" marL="0">
              <a:buNone/>
            </a:pPr>
            <a:r>
              <a:rPr lang="en-US" sz="1350" b="1" dirty="0">
                <a:solidFill>
                  <a:srgbClr val="1B2238"/>
                </a:solidFill>
                <a:latin typeface="Calibri" pitchFamily="34" charset="0"/>
                <a:ea typeface="Calibri" pitchFamily="34" charset="-122"/>
                <a:cs typeface="Calibri" pitchFamily="34" charset="-120"/>
              </a:rPr>
              <a:t>Waiting made visible</a:t>
            </a:r>
            <a:endParaRPr lang="en-US" sz="1200" dirty="0"/>
          </a:p>
          <a:p>
            <a:pPr indent="0" marL="0">
              <a:buNone/>
            </a:pPr>
            <a:r>
              <a:rPr lang="en-US" sz="1150" dirty="0">
                <a:solidFill>
                  <a:srgbClr val="1B2238"/>
                </a:solidFill>
                <a:latin typeface="Calibri" pitchFamily="34" charset="0"/>
                <a:ea typeface="Calibri" pitchFamily="34" charset="-122"/>
                <a:cs typeface="Calibri" pitchFamily="34" charset="-120"/>
              </a:rPr>
              <a:t>Every wait is aged and owned: the precondition for reducing it</a:t>
            </a:r>
            <a:endParaRPr lang="en-US" sz="1200" dirty="0"/>
          </a:p>
        </p:txBody>
      </p:sp>
      <p:sp>
        <p:nvSpPr>
          <p:cNvPr id="18" name="Text 16"/>
          <p:cNvSpPr txBox="1"/>
          <p:nvPr/>
        </p:nvSpPr>
        <p:spPr>
          <a:xfrm>
            <a:off x="5943600" y="2980944"/>
            <a:ext cx="2240280" cy="777240"/>
          </a:xfrm>
          <a:prstGeom prst="rect">
            <a:avLst/>
          </a:prstGeom>
          <a:noFill/>
          <a:ln/>
        </p:spPr>
        <p:txBody>
          <a:bodyPr wrap="square" lIns="0" tIns="0" rIns="0" bIns="0" rtlCol="0" anchor="ctr"/>
          <a:lstStyle/>
          <a:p>
            <a:pPr indent="0" marL="0">
              <a:buNone/>
            </a:pPr>
            <a:r>
              <a:rPr lang="en-US" sz="1000" dirty="0">
                <a:solidFill>
                  <a:srgbClr val="5A6275"/>
                </a:solidFill>
                <a:latin typeface="Calibri" pitchFamily="34" charset="0"/>
                <a:ea typeface="Calibri" pitchFamily="34" charset="-122"/>
                <a:cs typeface="Calibri" pitchFamily="34" charset="-120"/>
              </a:rPr>
              <a:t>SK-TR-08, SK-FS-12, SK-XC-06, 11</a:t>
            </a:r>
            <a:endParaRPr lang="en-US" sz="1000" dirty="0"/>
          </a:p>
        </p:txBody>
      </p:sp>
      <p:sp>
        <p:nvSpPr>
          <p:cNvPr id="19" name="Shape 17"/>
          <p:cNvSpPr/>
          <p:nvPr/>
        </p:nvSpPr>
        <p:spPr>
          <a:xfrm>
            <a:off x="411480" y="3877056"/>
            <a:ext cx="7863840" cy="777240"/>
          </a:xfrm>
          <a:prstGeom prst="roundRect">
            <a:avLst>
              <a:gd name="adj" fmla="val 9412"/>
            </a:avLst>
          </a:prstGeom>
          <a:solidFill>
            <a:srgbClr val="F1EDF9"/>
          </a:solidFill>
          <a:ln w="9525">
            <a:solidFill>
              <a:srgbClr val="F1EDF9"/>
            </a:solidFill>
            <a:prstDash val="solid"/>
          </a:ln>
        </p:spPr>
      </p:sp>
      <p:sp>
        <p:nvSpPr>
          <p:cNvPr id="20" name="Shape 18"/>
          <p:cNvSpPr/>
          <p:nvPr/>
        </p:nvSpPr>
        <p:spPr>
          <a:xfrm>
            <a:off x="548640" y="4032504"/>
            <a:ext cx="457200" cy="457200"/>
          </a:xfrm>
          <a:prstGeom prst="ellipse">
            <a:avLst/>
          </a:prstGeom>
          <a:solidFill>
            <a:srgbClr val="5B3FA0"/>
          </a:solidFill>
          <a:ln w="12700">
            <a:solidFill>
              <a:srgbClr val="5B3FA0"/>
            </a:solidFill>
            <a:prstDash val="solid"/>
          </a:ln>
        </p:spPr>
      </p:sp>
      <p:sp>
        <p:nvSpPr>
          <p:cNvPr id="21" name="Text 19"/>
          <p:cNvSpPr txBox="1"/>
          <p:nvPr/>
        </p:nvSpPr>
        <p:spPr>
          <a:xfrm>
            <a:off x="548640" y="4032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188720" y="3877056"/>
            <a:ext cx="4754880" cy="777240"/>
          </a:xfrm>
          <a:prstGeom prst="rect">
            <a:avLst/>
          </a:prstGeom>
          <a:noFill/>
          <a:ln/>
        </p:spPr>
        <p:txBody>
          <a:bodyPr wrap="square" lIns="0" tIns="0" rIns="0" bIns="0" rtlCol="0" anchor="ctr"/>
          <a:lstStyle/>
          <a:p>
            <a:pPr indent="0" marL="0">
              <a:buNone/>
            </a:pPr>
            <a:r>
              <a:rPr lang="en-US" sz="1350" b="1" dirty="0">
                <a:solidFill>
                  <a:srgbClr val="1B2238"/>
                </a:solidFill>
                <a:latin typeface="Calibri" pitchFamily="34" charset="0"/>
                <a:ea typeface="Calibri" pitchFamily="34" charset="-122"/>
                <a:cs typeface="Calibri" pitchFamily="34" charset="-120"/>
              </a:rPr>
              <a:t>Decisions prepared for, not waited on</a:t>
            </a:r>
            <a:endParaRPr lang="en-US" sz="1200" dirty="0"/>
          </a:p>
          <a:p>
            <a:pPr indent="0" marL="0">
              <a:buNone/>
            </a:pPr>
            <a:r>
              <a:rPr lang="en-US" sz="1150" dirty="0">
                <a:solidFill>
                  <a:srgbClr val="1B2238"/>
                </a:solidFill>
                <a:latin typeface="Calibri" pitchFamily="34" charset="0"/>
                <a:ea typeface="Calibri" pitchFamily="34" charset="-122"/>
                <a:cs typeface="Calibri" pitchFamily="34" charset="-120"/>
              </a:rPr>
              <a:t>Samples ready, submission complete, decision tracked and registered</a:t>
            </a:r>
            <a:endParaRPr lang="en-US" sz="1200" dirty="0"/>
          </a:p>
        </p:txBody>
      </p:sp>
      <p:sp>
        <p:nvSpPr>
          <p:cNvPr id="23" name="Text 21"/>
          <p:cNvSpPr txBox="1"/>
          <p:nvPr/>
        </p:nvSpPr>
        <p:spPr>
          <a:xfrm>
            <a:off x="5943600" y="3877056"/>
            <a:ext cx="2240280" cy="777240"/>
          </a:xfrm>
          <a:prstGeom prst="rect">
            <a:avLst/>
          </a:prstGeom>
          <a:noFill/>
          <a:ln/>
        </p:spPr>
        <p:txBody>
          <a:bodyPr wrap="square" lIns="0" tIns="0" rIns="0" bIns="0" rtlCol="0" anchor="ctr"/>
          <a:lstStyle/>
          <a:p>
            <a:pPr indent="0" marL="0">
              <a:buNone/>
            </a:pPr>
            <a:r>
              <a:rPr lang="en-US" sz="1000" dirty="0">
                <a:solidFill>
                  <a:srgbClr val="5A6275"/>
                </a:solidFill>
                <a:latin typeface="Calibri" pitchFamily="34" charset="0"/>
                <a:ea typeface="Calibri" pitchFamily="34" charset="-122"/>
                <a:cs typeface="Calibri" pitchFamily="34" charset="-120"/>
              </a:rPr>
              <a:t>SK-IN-13, SK-CN-12, 13, 14</a:t>
            </a:r>
            <a:endParaRPr lang="en-US" sz="1000" dirty="0"/>
          </a:p>
        </p:txBody>
      </p:sp>
      <p:sp>
        <p:nvSpPr>
          <p:cNvPr id="24" name="Shape 22"/>
          <p:cNvSpPr/>
          <p:nvPr/>
        </p:nvSpPr>
        <p:spPr>
          <a:xfrm>
            <a:off x="411480" y="4773168"/>
            <a:ext cx="7863840" cy="777240"/>
          </a:xfrm>
          <a:prstGeom prst="roundRect">
            <a:avLst>
              <a:gd name="adj" fmla="val 9412"/>
            </a:avLst>
          </a:prstGeom>
          <a:solidFill>
            <a:srgbClr val="F1EDF9"/>
          </a:solidFill>
          <a:ln w="9525">
            <a:solidFill>
              <a:srgbClr val="F1EDF9"/>
            </a:solidFill>
            <a:prstDash val="solid"/>
          </a:ln>
        </p:spPr>
      </p:sp>
      <p:sp>
        <p:nvSpPr>
          <p:cNvPr id="25" name="Shape 23"/>
          <p:cNvSpPr/>
          <p:nvPr/>
        </p:nvSpPr>
        <p:spPr>
          <a:xfrm>
            <a:off x="548640" y="4928616"/>
            <a:ext cx="457200" cy="457200"/>
          </a:xfrm>
          <a:prstGeom prst="ellipse">
            <a:avLst/>
          </a:prstGeom>
          <a:solidFill>
            <a:srgbClr val="5B3FA0"/>
          </a:solidFill>
          <a:ln w="12700">
            <a:solidFill>
              <a:srgbClr val="5B3FA0"/>
            </a:solidFill>
            <a:prstDash val="solid"/>
          </a:ln>
        </p:spPr>
      </p:sp>
      <p:sp>
        <p:nvSpPr>
          <p:cNvPr id="26" name="Text 24"/>
          <p:cNvSpPr txBox="1"/>
          <p:nvPr/>
        </p:nvSpPr>
        <p:spPr>
          <a:xfrm>
            <a:off x="548640" y="49286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188720" y="4773168"/>
            <a:ext cx="4754880" cy="777240"/>
          </a:xfrm>
          <a:prstGeom prst="rect">
            <a:avLst/>
          </a:prstGeom>
          <a:noFill/>
          <a:ln/>
        </p:spPr>
        <p:txBody>
          <a:bodyPr wrap="square" lIns="0" tIns="0" rIns="0" bIns="0" rtlCol="0" anchor="ctr"/>
          <a:lstStyle/>
          <a:p>
            <a:pPr indent="0" marL="0">
              <a:buNone/>
            </a:pPr>
            <a:r>
              <a:rPr lang="en-US" sz="1350" b="1" dirty="0">
                <a:solidFill>
                  <a:srgbClr val="1B2238"/>
                </a:solidFill>
                <a:latin typeface="Calibri" pitchFamily="34" charset="0"/>
                <a:ea typeface="Calibri" pitchFamily="34" charset="-122"/>
                <a:cs typeface="Calibri" pitchFamily="34" charset="-120"/>
              </a:rPr>
              <a:t>Precedent reused</a:t>
            </a:r>
            <a:endParaRPr lang="en-US" sz="1200" dirty="0"/>
          </a:p>
          <a:p>
            <a:pPr indent="0" marL="0">
              <a:buNone/>
            </a:pPr>
            <a:r>
              <a:rPr lang="en-US" sz="1150" dirty="0">
                <a:solidFill>
                  <a:srgbClr val="1B2238"/>
                </a:solidFill>
                <a:latin typeface="Calibri" pitchFamily="34" charset="0"/>
                <a:ea typeface="Calibri" pitchFamily="34" charset="-122"/>
                <a:cs typeface="Calibri" pitchFamily="34" charset="-120"/>
              </a:rPr>
              <a:t>Comparable onboardings shorten discovery, reduce variance</a:t>
            </a:r>
            <a:endParaRPr lang="en-US" sz="1200" dirty="0"/>
          </a:p>
        </p:txBody>
      </p:sp>
      <p:sp>
        <p:nvSpPr>
          <p:cNvPr id="28" name="Text 26"/>
          <p:cNvSpPr txBox="1"/>
          <p:nvPr/>
        </p:nvSpPr>
        <p:spPr>
          <a:xfrm>
            <a:off x="5943600" y="4773168"/>
            <a:ext cx="2240280" cy="777240"/>
          </a:xfrm>
          <a:prstGeom prst="rect">
            <a:avLst/>
          </a:prstGeom>
          <a:noFill/>
          <a:ln/>
        </p:spPr>
        <p:txBody>
          <a:bodyPr wrap="square" lIns="0" tIns="0" rIns="0" bIns="0" rtlCol="0" anchor="ctr"/>
          <a:lstStyle/>
          <a:p>
            <a:pPr indent="0" marL="0">
              <a:buNone/>
            </a:pPr>
            <a:r>
              <a:rPr lang="en-US" sz="1000" dirty="0">
                <a:solidFill>
                  <a:srgbClr val="5A6275"/>
                </a:solidFill>
                <a:latin typeface="Calibri" pitchFamily="34" charset="0"/>
                <a:ea typeface="Calibri" pitchFamily="34" charset="-122"/>
                <a:cs typeface="Calibri" pitchFamily="34" charset="-120"/>
              </a:rPr>
              <a:t>SK-XC-12</a:t>
            </a:r>
            <a:endParaRPr lang="en-US" sz="1000" dirty="0"/>
          </a:p>
        </p:txBody>
      </p:sp>
      <p:sp>
        <p:nvSpPr>
          <p:cNvPr id="29" name="Shape 27"/>
          <p:cNvSpPr/>
          <p:nvPr/>
        </p:nvSpPr>
        <p:spPr>
          <a:xfrm>
            <a:off x="8503920" y="1188720"/>
            <a:ext cx="3273552" cy="4343400"/>
          </a:xfrm>
          <a:prstGeom prst="roundRect">
            <a:avLst>
              <a:gd name="adj" fmla="val 2235"/>
            </a:avLst>
          </a:prstGeom>
          <a:solidFill>
            <a:srgbClr val="1B2238"/>
          </a:solidFill>
          <a:ln w="9525">
            <a:solidFill>
              <a:srgbClr val="1B2238"/>
            </a:solidFill>
            <a:prstDash val="solid"/>
          </a:ln>
        </p:spPr>
      </p:sp>
      <p:sp>
        <p:nvSpPr>
          <p:cNvPr id="30" name="Text 28"/>
          <p:cNvSpPr txBox="1"/>
          <p:nvPr/>
        </p:nvSpPr>
        <p:spPr>
          <a:xfrm>
            <a:off x="8686800" y="1371600"/>
            <a:ext cx="2926080" cy="4023360"/>
          </a:xfrm>
          <a:prstGeom prst="rect">
            <a:avLst/>
          </a:prstGeom>
          <a:noFill/>
          <a:ln/>
        </p:spPr>
        <p:txBody>
          <a:bodyPr wrap="square" lIns="0" tIns="0" rIns="0" bIns="0" rtlCol="0" anchor="t"/>
          <a:lstStyle/>
          <a:p>
            <a:pPr indent="0" marL="0">
              <a:buNone/>
            </a:pPr>
            <a:r>
              <a:rPr lang="en-US" sz="1100" b="1" dirty="0">
                <a:solidFill>
                  <a:srgbClr val="AFC3E8"/>
                </a:solidFill>
                <a:latin typeface="Calibri" pitchFamily="34" charset="0"/>
                <a:ea typeface="Calibri" pitchFamily="34" charset="-122"/>
                <a:cs typeface="Calibri" pitchFamily="34" charset="-120"/>
              </a:rPr>
              <a:t>HOW WE WILL PROVE IT</a:t>
            </a:r>
            <a:endParaRPr lang="en-US" sz="12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200" dirty="0"/>
          </a:p>
          <a:p>
            <a:pPr indent="0" marL="0">
              <a:buNone/>
            </a:pPr>
            <a:r>
              <a:rPr lang="en-US" sz="1300" dirty="0">
                <a:solidFill>
                  <a:srgbClr val="FFFFFF"/>
                </a:solidFill>
                <a:latin typeface="Calibri" pitchFamily="34" charset="0"/>
                <a:ea typeface="Calibri" pitchFamily="34" charset="-122"/>
                <a:cs typeface="Calibri" pitchFamily="34" charset="-120"/>
              </a:rPr>
              <a:t>Effort: person-days per team per stage</a:t>
            </a:r>
            <a:endParaRPr lang="en-US" sz="12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200" dirty="0"/>
          </a:p>
          <a:p>
            <a:pPr indent="0" marL="0">
              <a:buNone/>
            </a:pPr>
            <a:r>
              <a:rPr lang="en-US" sz="1300" dirty="0">
                <a:solidFill>
                  <a:srgbClr val="FFFFFF"/>
                </a:solidFill>
                <a:latin typeface="Calibri" pitchFamily="34" charset="0"/>
                <a:ea typeface="Calibri" pitchFamily="34" charset="-122"/>
                <a:cs typeface="Calibri" pitchFamily="34" charset="-120"/>
              </a:rPr>
              <a:t>Elapsed: calendar days per stage</a:t>
            </a:r>
            <a:endParaRPr lang="en-US" sz="12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200" dirty="0"/>
          </a:p>
          <a:p>
            <a:pPr indent="0" marL="0">
              <a:buNone/>
            </a:pPr>
            <a:r>
              <a:rPr lang="en-US" sz="1300" b="1" dirty="0">
                <a:solidFill>
                  <a:srgbClr val="FFFFFF"/>
                </a:solidFill>
                <a:latin typeface="Calibri" pitchFamily="34" charset="0"/>
                <a:ea typeface="Calibri" pitchFamily="34" charset="-122"/>
                <a:cs typeface="Calibri" pitchFamily="34" charset="-120"/>
              </a:rPr>
              <a:t>Baseline vs post-deployment: [baseline]</a:t>
            </a:r>
            <a:endParaRPr lang="en-US" sz="12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Build the foundation first, then the highest-volume and longest-lead work</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Roadmap · Build sequencing</a:t>
            </a:r>
            <a:endParaRPr lang="en-US" sz="1000" dirty="0"/>
          </a:p>
        </p:txBody>
      </p:sp>
      <p:sp>
        <p:nvSpPr>
          <p:cNvPr id="4" name="Shape 2"/>
          <p:cNvSpPr/>
          <p:nvPr/>
        </p:nvSpPr>
        <p:spPr>
          <a:xfrm>
            <a:off x="411480" y="1280160"/>
            <a:ext cx="2364638" cy="822960"/>
          </a:xfrm>
          <a:prstGeom prst="homePlate">
            <a:avLst/>
          </a:prstGeom>
          <a:solidFill>
            <a:srgbClr val="5B3FA0"/>
          </a:solidFill>
          <a:ln w="12700">
            <a:solidFill>
              <a:srgbClr val="FFFFFF"/>
            </a:solidFill>
            <a:prstDash val="solid"/>
          </a:ln>
        </p:spPr>
      </p:sp>
      <p:sp>
        <p:nvSpPr>
          <p:cNvPr id="5" name="Text 3"/>
          <p:cNvSpPr txBox="1"/>
          <p:nvPr/>
        </p:nvSpPr>
        <p:spPr>
          <a:xfrm>
            <a:off x="685800" y="1280160"/>
            <a:ext cx="1907438"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Wave 1</a:t>
            </a:r>
            <a:endParaRPr lang="en-US" sz="1600" dirty="0"/>
          </a:p>
        </p:txBody>
      </p:sp>
      <p:sp>
        <p:nvSpPr>
          <p:cNvPr id="6" name="Shape 4"/>
          <p:cNvSpPr/>
          <p:nvPr/>
        </p:nvSpPr>
        <p:spPr>
          <a:xfrm>
            <a:off x="457200" y="2286000"/>
            <a:ext cx="2136038" cy="3017520"/>
          </a:xfrm>
          <a:prstGeom prst="roundRect">
            <a:avLst>
              <a:gd name="adj" fmla="val 3425"/>
            </a:avLst>
          </a:prstGeom>
          <a:solidFill>
            <a:srgbClr val="F1EDF9"/>
          </a:solidFill>
          <a:ln w="9525">
            <a:solidFill>
              <a:srgbClr val="5B3FA0"/>
            </a:solidFill>
            <a:prstDash val="solid"/>
          </a:ln>
        </p:spPr>
      </p:sp>
      <p:sp>
        <p:nvSpPr>
          <p:cNvPr id="7" name="Text 5"/>
          <p:cNvSpPr txBox="1"/>
          <p:nvPr/>
        </p:nvSpPr>
        <p:spPr>
          <a:xfrm>
            <a:off x="594360" y="2423160"/>
            <a:ext cx="1861718" cy="2194560"/>
          </a:xfrm>
          <a:prstGeom prst="rect">
            <a:avLst/>
          </a:prstGeom>
          <a:noFill/>
          <a:ln/>
        </p:spPr>
        <p:txBody>
          <a:bodyPr wrap="square" lIns="0" tIns="0" rIns="0" bIns="0" rtlCol="0" anchor="t"/>
          <a:lstStyle/>
          <a:p>
            <a:pPr indent="0" marL="0">
              <a:buNone/>
            </a:pPr>
            <a:r>
              <a:rPr lang="en-US" sz="1450" b="1" dirty="0">
                <a:solidFill>
                  <a:srgbClr val="1B2238"/>
                </a:solidFill>
                <a:latin typeface="Calibri" pitchFamily="34" charset="0"/>
                <a:ea typeface="Calibri" pitchFamily="34" charset="-122"/>
                <a:cs typeface="Calibri" pitchFamily="34" charset="-120"/>
              </a:rPr>
              <a:t>Cross-cutting SK-XC-01 to 05 + 8 MVP1 sub-agents</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300" dirty="0">
                <a:solidFill>
                  <a:srgbClr val="5A6275"/>
                </a:solidFill>
                <a:latin typeface="Calibri" pitchFamily="34" charset="0"/>
                <a:ea typeface="Calibri" pitchFamily="34" charset="-122"/>
                <a:cs typeface="Calibri" pitchFamily="34" charset="-120"/>
              </a:rPr>
              <a:t>Onboarding state, carry-forward, routing guards and disclosure underpin everything</a:t>
            </a:r>
            <a:endParaRPr lang="en-US" sz="1200" dirty="0"/>
          </a:p>
        </p:txBody>
      </p:sp>
      <p:sp>
        <p:nvSpPr>
          <p:cNvPr id="8" name="Shape 6"/>
          <p:cNvSpPr/>
          <p:nvPr/>
        </p:nvSpPr>
        <p:spPr>
          <a:xfrm>
            <a:off x="2684678" y="1280160"/>
            <a:ext cx="2364638" cy="822960"/>
          </a:xfrm>
          <a:prstGeom prst="chevron">
            <a:avLst/>
          </a:prstGeom>
          <a:solidFill>
            <a:srgbClr val="8A73C4"/>
          </a:solidFill>
          <a:ln w="12700">
            <a:solidFill>
              <a:srgbClr val="FFFFFF"/>
            </a:solidFill>
            <a:prstDash val="solid"/>
          </a:ln>
        </p:spPr>
      </p:sp>
      <p:sp>
        <p:nvSpPr>
          <p:cNvPr id="9" name="Text 7"/>
          <p:cNvSpPr txBox="1"/>
          <p:nvPr/>
        </p:nvSpPr>
        <p:spPr>
          <a:xfrm>
            <a:off x="2958998" y="1280160"/>
            <a:ext cx="1907438"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Wave 2</a:t>
            </a:r>
            <a:endParaRPr lang="en-US" sz="1600" dirty="0"/>
          </a:p>
        </p:txBody>
      </p:sp>
      <p:sp>
        <p:nvSpPr>
          <p:cNvPr id="10" name="Shape 8"/>
          <p:cNvSpPr/>
          <p:nvPr/>
        </p:nvSpPr>
        <p:spPr>
          <a:xfrm>
            <a:off x="2730398" y="2286000"/>
            <a:ext cx="2136038" cy="3017520"/>
          </a:xfrm>
          <a:prstGeom prst="roundRect">
            <a:avLst>
              <a:gd name="adj" fmla="val 3425"/>
            </a:avLst>
          </a:prstGeom>
          <a:solidFill>
            <a:srgbClr val="F3F4F7"/>
          </a:solidFill>
          <a:ln w="9525">
            <a:solidFill>
              <a:srgbClr val="F3F4F7"/>
            </a:solidFill>
            <a:prstDash val="solid"/>
          </a:ln>
        </p:spPr>
      </p:sp>
      <p:sp>
        <p:nvSpPr>
          <p:cNvPr id="11" name="Text 9"/>
          <p:cNvSpPr txBox="1"/>
          <p:nvPr/>
        </p:nvSpPr>
        <p:spPr>
          <a:xfrm>
            <a:off x="2867558" y="2423160"/>
            <a:ext cx="1861718" cy="2194560"/>
          </a:xfrm>
          <a:prstGeom prst="rect">
            <a:avLst/>
          </a:prstGeom>
          <a:noFill/>
          <a:ln/>
        </p:spPr>
        <p:txBody>
          <a:bodyPr wrap="square" lIns="0" tIns="0" rIns="0" bIns="0" rtlCol="0" anchor="t"/>
          <a:lstStyle/>
          <a:p>
            <a:pPr indent="0" marL="0">
              <a:buNone/>
            </a:pPr>
            <a:r>
              <a:rPr lang="en-US" sz="1450" b="1" dirty="0">
                <a:solidFill>
                  <a:srgbClr val="1B2238"/>
                </a:solidFill>
                <a:latin typeface="Calibri" pitchFamily="34" charset="0"/>
                <a:ea typeface="Calibri" pitchFamily="34" charset="-122"/>
                <a:cs typeface="Calibri" pitchFamily="34" charset="-120"/>
              </a:rPr>
              <a:t>Intake and triage: SK-IN, SK-TR</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300" dirty="0">
                <a:solidFill>
                  <a:srgbClr val="5A6275"/>
                </a:solidFill>
                <a:latin typeface="Calibri" pitchFamily="34" charset="0"/>
                <a:ea typeface="Calibri" pitchFamily="34" charset="-122"/>
                <a:cs typeface="Calibri" pitchFamily="34" charset="-120"/>
              </a:rPr>
              <a:t>Highest volume, clearest rules, biggest downstream cost of gaps</a:t>
            </a:r>
            <a:endParaRPr lang="en-US" sz="1200" dirty="0"/>
          </a:p>
        </p:txBody>
      </p:sp>
      <p:sp>
        <p:nvSpPr>
          <p:cNvPr id="12" name="Shape 10"/>
          <p:cNvSpPr/>
          <p:nvPr/>
        </p:nvSpPr>
        <p:spPr>
          <a:xfrm>
            <a:off x="4957877" y="1280160"/>
            <a:ext cx="2364638" cy="822960"/>
          </a:xfrm>
          <a:prstGeom prst="chevron">
            <a:avLst/>
          </a:prstGeom>
          <a:solidFill>
            <a:srgbClr val="8A73C4"/>
          </a:solidFill>
          <a:ln w="12700">
            <a:solidFill>
              <a:srgbClr val="FFFFFF"/>
            </a:solidFill>
            <a:prstDash val="solid"/>
          </a:ln>
        </p:spPr>
      </p:sp>
      <p:sp>
        <p:nvSpPr>
          <p:cNvPr id="13" name="Text 11"/>
          <p:cNvSpPr txBox="1"/>
          <p:nvPr/>
        </p:nvSpPr>
        <p:spPr>
          <a:xfrm>
            <a:off x="5232197" y="1280160"/>
            <a:ext cx="1907438"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Wave 3</a:t>
            </a:r>
            <a:endParaRPr lang="en-US" sz="1600" dirty="0"/>
          </a:p>
        </p:txBody>
      </p:sp>
      <p:sp>
        <p:nvSpPr>
          <p:cNvPr id="14" name="Shape 12"/>
          <p:cNvSpPr/>
          <p:nvPr/>
        </p:nvSpPr>
        <p:spPr>
          <a:xfrm>
            <a:off x="5003597" y="2286000"/>
            <a:ext cx="2136038" cy="3017520"/>
          </a:xfrm>
          <a:prstGeom prst="roundRect">
            <a:avLst>
              <a:gd name="adj" fmla="val 3425"/>
            </a:avLst>
          </a:prstGeom>
          <a:solidFill>
            <a:srgbClr val="F3F4F7"/>
          </a:solidFill>
          <a:ln w="9525">
            <a:solidFill>
              <a:srgbClr val="F3F4F7"/>
            </a:solidFill>
            <a:prstDash val="solid"/>
          </a:ln>
        </p:spPr>
      </p:sp>
      <p:sp>
        <p:nvSpPr>
          <p:cNvPr id="15" name="Text 13"/>
          <p:cNvSpPr txBox="1"/>
          <p:nvPr/>
        </p:nvSpPr>
        <p:spPr>
          <a:xfrm>
            <a:off x="5140757" y="2423160"/>
            <a:ext cx="1861718" cy="2194560"/>
          </a:xfrm>
          <a:prstGeom prst="rect">
            <a:avLst/>
          </a:prstGeom>
          <a:noFill/>
          <a:ln/>
        </p:spPr>
        <p:txBody>
          <a:bodyPr wrap="square" lIns="0" tIns="0" rIns="0" bIns="0" rtlCol="0" anchor="t"/>
          <a:lstStyle/>
          <a:p>
            <a:pPr indent="0" marL="0">
              <a:buNone/>
            </a:pPr>
            <a:r>
              <a:rPr lang="en-US" sz="1450" b="1" dirty="0">
                <a:solidFill>
                  <a:srgbClr val="1B2238"/>
                </a:solidFill>
                <a:latin typeface="Calibri" pitchFamily="34" charset="0"/>
                <a:ea typeface="Calibri" pitchFamily="34" charset="-122"/>
                <a:cs typeface="Calibri" pitchFamily="34" charset="-120"/>
              </a:rPr>
              <a:t>Setup, gateway, events: SK-FS, SK-AK</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300" dirty="0">
                <a:solidFill>
                  <a:srgbClr val="5A6275"/>
                </a:solidFill>
                <a:latin typeface="Calibri" pitchFamily="34" charset="0"/>
                <a:ea typeface="Calibri" pitchFamily="34" charset="-122"/>
                <a:cs typeface="Calibri" pitchFamily="34" charset="-120"/>
              </a:rPr>
              <a:t>Longest lead times; routing errors most expensive; early P3 candidates</a:t>
            </a:r>
            <a:endParaRPr lang="en-US" sz="1200" dirty="0"/>
          </a:p>
        </p:txBody>
      </p:sp>
      <p:sp>
        <p:nvSpPr>
          <p:cNvPr id="16" name="Shape 14"/>
          <p:cNvSpPr/>
          <p:nvPr/>
        </p:nvSpPr>
        <p:spPr>
          <a:xfrm>
            <a:off x="7231075" y="1280160"/>
            <a:ext cx="2364638" cy="822960"/>
          </a:xfrm>
          <a:prstGeom prst="chevron">
            <a:avLst/>
          </a:prstGeom>
          <a:solidFill>
            <a:srgbClr val="8A73C4"/>
          </a:solidFill>
          <a:ln w="12700">
            <a:solidFill>
              <a:srgbClr val="FFFFFF"/>
            </a:solidFill>
            <a:prstDash val="solid"/>
          </a:ln>
        </p:spPr>
      </p:sp>
      <p:sp>
        <p:nvSpPr>
          <p:cNvPr id="17" name="Text 15"/>
          <p:cNvSpPr txBox="1"/>
          <p:nvPr/>
        </p:nvSpPr>
        <p:spPr>
          <a:xfrm>
            <a:off x="7505395" y="1280160"/>
            <a:ext cx="1907438"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Wave 4</a:t>
            </a:r>
            <a:endParaRPr lang="en-US" sz="1600" dirty="0"/>
          </a:p>
        </p:txBody>
      </p:sp>
      <p:sp>
        <p:nvSpPr>
          <p:cNvPr id="18" name="Shape 16"/>
          <p:cNvSpPr/>
          <p:nvPr/>
        </p:nvSpPr>
        <p:spPr>
          <a:xfrm>
            <a:off x="7276795" y="2286000"/>
            <a:ext cx="2136038" cy="3017520"/>
          </a:xfrm>
          <a:prstGeom prst="roundRect">
            <a:avLst>
              <a:gd name="adj" fmla="val 3425"/>
            </a:avLst>
          </a:prstGeom>
          <a:solidFill>
            <a:srgbClr val="F3F4F7"/>
          </a:solidFill>
          <a:ln w="9525">
            <a:solidFill>
              <a:srgbClr val="F3F4F7"/>
            </a:solidFill>
            <a:prstDash val="solid"/>
          </a:ln>
        </p:spPr>
      </p:sp>
      <p:sp>
        <p:nvSpPr>
          <p:cNvPr id="19" name="Text 17"/>
          <p:cNvSpPr txBox="1"/>
          <p:nvPr/>
        </p:nvSpPr>
        <p:spPr>
          <a:xfrm>
            <a:off x="7413955" y="2423160"/>
            <a:ext cx="1861718" cy="2194560"/>
          </a:xfrm>
          <a:prstGeom prst="rect">
            <a:avLst/>
          </a:prstGeom>
          <a:noFill/>
          <a:ln/>
        </p:spPr>
        <p:txBody>
          <a:bodyPr wrap="square" lIns="0" tIns="0" rIns="0" bIns="0" rtlCol="0" anchor="t"/>
          <a:lstStyle/>
          <a:p>
            <a:pPr indent="0" marL="0">
              <a:buNone/>
            </a:pPr>
            <a:r>
              <a:rPr lang="en-US" sz="1450" b="1" dirty="0">
                <a:solidFill>
                  <a:srgbClr val="1B2238"/>
                </a:solidFill>
                <a:latin typeface="Calibri" pitchFamily="34" charset="0"/>
                <a:ea typeface="Calibri" pitchFamily="34" charset="-122"/>
                <a:cs typeface="Calibri" pitchFamily="34" charset="-120"/>
              </a:rPr>
              <a:t>Content, records, metadata: SK-CN, SK-RM, SK-MD</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300" dirty="0">
                <a:solidFill>
                  <a:srgbClr val="5A6275"/>
                </a:solidFill>
                <a:latin typeface="Calibri" pitchFamily="34" charset="0"/>
                <a:ea typeface="Calibri" pitchFamily="34" charset="-122"/>
                <a:cs typeface="Calibri" pitchFamily="34" charset="-120"/>
              </a:rPr>
              <a:t>Design-led; benefits most from P2 guidance</a:t>
            </a:r>
            <a:endParaRPr lang="en-US" sz="1200" dirty="0"/>
          </a:p>
        </p:txBody>
      </p:sp>
      <p:sp>
        <p:nvSpPr>
          <p:cNvPr id="20" name="Shape 18"/>
          <p:cNvSpPr/>
          <p:nvPr/>
        </p:nvSpPr>
        <p:spPr>
          <a:xfrm>
            <a:off x="9504274" y="1280160"/>
            <a:ext cx="2364638" cy="822960"/>
          </a:xfrm>
          <a:prstGeom prst="chevron">
            <a:avLst/>
          </a:prstGeom>
          <a:solidFill>
            <a:srgbClr val="8A73C4"/>
          </a:solidFill>
          <a:ln w="12700">
            <a:solidFill>
              <a:srgbClr val="FFFFFF"/>
            </a:solidFill>
            <a:prstDash val="solid"/>
          </a:ln>
        </p:spPr>
      </p:sp>
      <p:sp>
        <p:nvSpPr>
          <p:cNvPr id="21" name="Text 19"/>
          <p:cNvSpPr txBox="1"/>
          <p:nvPr/>
        </p:nvSpPr>
        <p:spPr>
          <a:xfrm>
            <a:off x="9778594" y="1280160"/>
            <a:ext cx="1907438"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Wave 5</a:t>
            </a:r>
            <a:endParaRPr lang="en-US" sz="1600" dirty="0"/>
          </a:p>
        </p:txBody>
      </p:sp>
      <p:sp>
        <p:nvSpPr>
          <p:cNvPr id="22" name="Shape 20"/>
          <p:cNvSpPr/>
          <p:nvPr/>
        </p:nvSpPr>
        <p:spPr>
          <a:xfrm>
            <a:off x="9549994" y="2286000"/>
            <a:ext cx="2136038" cy="3017520"/>
          </a:xfrm>
          <a:prstGeom prst="roundRect">
            <a:avLst>
              <a:gd name="adj" fmla="val 3425"/>
            </a:avLst>
          </a:prstGeom>
          <a:solidFill>
            <a:srgbClr val="F3F4F7"/>
          </a:solidFill>
          <a:ln w="9525">
            <a:solidFill>
              <a:srgbClr val="F3F4F7"/>
            </a:solidFill>
            <a:prstDash val="solid"/>
          </a:ln>
        </p:spPr>
      </p:sp>
      <p:sp>
        <p:nvSpPr>
          <p:cNvPr id="23" name="Text 21"/>
          <p:cNvSpPr txBox="1"/>
          <p:nvPr/>
        </p:nvSpPr>
        <p:spPr>
          <a:xfrm>
            <a:off x="9687154" y="2423160"/>
            <a:ext cx="1861718" cy="2194560"/>
          </a:xfrm>
          <a:prstGeom prst="rect">
            <a:avLst/>
          </a:prstGeom>
          <a:noFill/>
          <a:ln/>
        </p:spPr>
        <p:txBody>
          <a:bodyPr wrap="square" lIns="0" tIns="0" rIns="0" bIns="0" rtlCol="0" anchor="t"/>
          <a:lstStyle/>
          <a:p>
            <a:pPr indent="0" marL="0">
              <a:buNone/>
            </a:pPr>
            <a:r>
              <a:rPr lang="en-US" sz="1450" b="1" dirty="0">
                <a:solidFill>
                  <a:srgbClr val="1B2238"/>
                </a:solidFill>
                <a:latin typeface="Calibri" pitchFamily="34" charset="0"/>
                <a:ea typeface="Calibri" pitchFamily="34" charset="-122"/>
                <a:cs typeface="Calibri" pitchFamily="34" charset="-120"/>
              </a:rPr>
              <a:t>Testing, progression, release: SK-TE, SK-RL</a:t>
            </a:r>
            <a:endParaRPr lang="en-US" sz="1200" dirty="0"/>
          </a:p>
          <a:p>
            <a:pPr indent="0" marL="0">
              <a:buNone/>
            </a:pPr>
            <a:r>
              <a:rPr lang="en-US" sz="600" dirty="0">
                <a:solidFill>
                  <a:srgbClr val="1B2238"/>
                </a:solidFill>
                <a:latin typeface="Calibri" pitchFamily="34" charset="0"/>
                <a:ea typeface="Calibri" pitchFamily="34" charset="-122"/>
                <a:cs typeface="Calibri" pitchFamily="34" charset="-120"/>
              </a:rPr>
              <a:t> </a:t>
            </a:r>
            <a:endParaRPr lang="en-US" sz="1200" dirty="0"/>
          </a:p>
          <a:p>
            <a:pPr indent="0" marL="0">
              <a:buNone/>
            </a:pPr>
            <a:r>
              <a:rPr lang="en-US" sz="1300" dirty="0">
                <a:solidFill>
                  <a:srgbClr val="5A6275"/>
                </a:solidFill>
                <a:latin typeface="Calibri" pitchFamily="34" charset="0"/>
                <a:ea typeface="Calibri" pitchFamily="34" charset="-122"/>
                <a:cs typeface="Calibri" pitchFamily="34" charset="-120"/>
              </a:rPr>
              <a:t>Depends on everything upstream; release readiness becomes generation</a:t>
            </a:r>
            <a:endParaRPr lang="en-US" sz="1200" dirty="0"/>
          </a:p>
        </p:txBody>
      </p:sp>
      <p:sp>
        <p:nvSpPr>
          <p:cNvPr id="24" name="Shape 22"/>
          <p:cNvSpPr/>
          <p:nvPr/>
        </p:nvSpPr>
        <p:spPr>
          <a:xfrm>
            <a:off x="457200" y="4754880"/>
            <a:ext cx="2103120" cy="411480"/>
          </a:xfrm>
          <a:prstGeom prst="roundRect">
            <a:avLst>
              <a:gd name="adj" fmla="val 33333"/>
            </a:avLst>
          </a:prstGeom>
          <a:solidFill>
            <a:srgbClr val="B3261E"/>
          </a:solidFill>
          <a:ln w="9525">
            <a:solidFill>
              <a:srgbClr val="B3261E"/>
            </a:solidFill>
            <a:prstDash val="solid"/>
          </a:ln>
        </p:spPr>
      </p:sp>
      <p:sp>
        <p:nvSpPr>
          <p:cNvPr id="25" name="Text 23"/>
          <p:cNvSpPr txBox="1"/>
          <p:nvPr/>
        </p:nvSpPr>
        <p:spPr>
          <a:xfrm>
            <a:off x="457200" y="4754880"/>
            <a:ext cx="21031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 TODAY</a:t>
            </a:r>
            <a:endParaRPr lang="en-US" sz="1100" dirty="0"/>
          </a:p>
        </p:txBody>
      </p:sp>
      <p:sp>
        <p:nvSpPr>
          <p:cNvPr id="26" name="Shape 24"/>
          <p:cNvSpPr/>
          <p:nvPr/>
        </p:nvSpPr>
        <p:spPr>
          <a:xfrm>
            <a:off x="7368235" y="4617720"/>
            <a:ext cx="1953158" cy="548640"/>
          </a:xfrm>
          <a:prstGeom prst="roundRect">
            <a:avLst>
              <a:gd name="adj" fmla="val 16667"/>
            </a:avLst>
          </a:prstGeom>
          <a:solidFill>
            <a:srgbClr val="5B3FA0"/>
          </a:solidFill>
          <a:ln w="9525">
            <a:solidFill>
              <a:srgbClr val="5B3FA0"/>
            </a:solidFill>
            <a:prstDash val="solid"/>
          </a:ln>
        </p:spPr>
      </p:sp>
      <p:sp>
        <p:nvSpPr>
          <p:cNvPr id="27" name="Text 25"/>
          <p:cNvSpPr txBox="1"/>
          <p:nvPr/>
        </p:nvSpPr>
        <p:spPr>
          <a:xfrm>
            <a:off x="7413955" y="4617720"/>
            <a:ext cx="186171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Pull forward governance liaison SK-CN-12 to 16</a:t>
            </a:r>
            <a:endParaRPr lang="en-US" sz="1000" dirty="0"/>
          </a:p>
        </p:txBody>
      </p:sp>
      <p:sp>
        <p:nvSpPr>
          <p:cNvPr id="28" name="Text 26"/>
          <p:cNvSpPr txBox="1"/>
          <p:nvPr/>
        </p:nvSpPr>
        <p:spPr>
          <a:xfrm>
            <a:off x="411480" y="5577840"/>
            <a:ext cx="11338560" cy="365760"/>
          </a:xfrm>
          <a:prstGeom prst="rect">
            <a:avLst/>
          </a:prstGeom>
          <a:noFill/>
          <a:ln/>
        </p:spPr>
        <p:txBody>
          <a:bodyPr wrap="square" lIns="0" tIns="0" rIns="0" bIns="0" rtlCol="0" anchor="t"/>
          <a:lstStyle/>
          <a:p>
            <a:pPr indent="0" marL="0">
              <a:buNone/>
            </a:pPr>
            <a:r>
              <a:rPr lang="en-US" sz="1200" i="1" dirty="0">
                <a:solidFill>
                  <a:srgbClr val="5A6275"/>
                </a:solidFill>
                <a:latin typeface="Calibri" pitchFamily="34" charset="0"/>
                <a:ea typeface="Calibri" pitchFamily="34" charset="-122"/>
                <a:cs typeface="Calibri" pitchFamily="34" charset="-120"/>
              </a:rPr>
              <a:t>No dates shown: each wave is sequenced by dependency and returns for approval with evidence.</a:t>
            </a:r>
            <a:endParaRPr lang="en-US" sz="12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Without a current-state baseline, no benefit claim can be defended</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Roadmap · What must be measured first</a:t>
            </a:r>
            <a:endParaRPr lang="en-US" sz="1000" dirty="0"/>
          </a:p>
        </p:txBody>
      </p:sp>
      <p:sp>
        <p:nvSpPr>
          <p:cNvPr id="4" name="Shape 2"/>
          <p:cNvSpPr/>
          <p:nvPr/>
        </p:nvSpPr>
        <p:spPr>
          <a:xfrm>
            <a:off x="411480" y="1188720"/>
            <a:ext cx="6766560" cy="4572000"/>
          </a:xfrm>
          <a:prstGeom prst="roundRect">
            <a:avLst>
              <a:gd name="adj" fmla="val 1600"/>
            </a:avLst>
          </a:prstGeom>
          <a:solidFill>
            <a:srgbClr val="F3F4F7"/>
          </a:solidFill>
          <a:ln w="9525">
            <a:solidFill>
              <a:srgbClr val="F3F4F7"/>
            </a:solidFill>
            <a:prstDash val="solid"/>
          </a:ln>
        </p:spPr>
      </p:sp>
      <p:sp>
        <p:nvSpPr>
          <p:cNvPr id="5" name="Text 3"/>
          <p:cNvSpPr txBox="1"/>
          <p:nvPr/>
        </p:nvSpPr>
        <p:spPr>
          <a:xfrm>
            <a:off x="640080" y="1298448"/>
            <a:ext cx="6400800" cy="274320"/>
          </a:xfrm>
          <a:prstGeom prst="rect">
            <a:avLst/>
          </a:prstGeom>
          <a:noFill/>
          <a:ln/>
        </p:spPr>
        <p:txBody>
          <a:bodyPr wrap="square" lIns="0" tIns="0" rIns="0" bIns="0" rtlCol="0" anchor="t"/>
          <a:lstStyle/>
          <a:p>
            <a:pPr indent="0" marL="0">
              <a:buNone/>
            </a:pPr>
            <a:r>
              <a:rPr lang="en-US" sz="1000" b="1" spc="100" kern="0" dirty="0">
                <a:solidFill>
                  <a:srgbClr val="B3261E"/>
                </a:solidFill>
                <a:latin typeface="Calibri" pitchFamily="34" charset="0"/>
                <a:ea typeface="Calibri" pitchFamily="34" charset="-122"/>
                <a:cs typeface="Calibri" pitchFamily="34" charset="-120"/>
              </a:rPr>
              <a:t>ILLUSTRATIVE ONLY — NOT MEASURED DATA</a:t>
            </a:r>
            <a:endParaRPr lang="en-US" sz="1000" dirty="0"/>
          </a:p>
        </p:txBody>
      </p:sp>
      <p:sp>
        <p:nvSpPr>
          <p:cNvPr id="6" name="Text 4"/>
          <p:cNvSpPr txBox="1"/>
          <p:nvPr/>
        </p:nvSpPr>
        <p:spPr>
          <a:xfrm>
            <a:off x="640080" y="1783080"/>
            <a:ext cx="1005840" cy="548640"/>
          </a:xfrm>
          <a:prstGeom prst="rect">
            <a:avLst/>
          </a:prstGeom>
          <a:noFill/>
          <a:ln/>
        </p:spPr>
        <p:txBody>
          <a:bodyPr wrap="square" lIns="0" tIns="0" rIns="0" bIns="0" rtlCol="0" anchor="ctr"/>
          <a:lstStyle/>
          <a:p>
            <a:pPr indent="0" marL="0">
              <a:buNone/>
            </a:pPr>
            <a:r>
              <a:rPr lang="en-US" sz="1200" b="1" dirty="0">
                <a:solidFill>
                  <a:srgbClr val="1B2238"/>
                </a:solidFill>
                <a:latin typeface="Calibri" pitchFamily="34" charset="0"/>
                <a:ea typeface="Calibri" pitchFamily="34" charset="-122"/>
                <a:cs typeface="Calibri" pitchFamily="34" charset="-120"/>
              </a:rPr>
              <a:t>Stage A</a:t>
            </a:r>
            <a:endParaRPr lang="en-US" sz="1200" dirty="0"/>
          </a:p>
        </p:txBody>
      </p:sp>
      <p:sp>
        <p:nvSpPr>
          <p:cNvPr id="7" name="Shape 5"/>
          <p:cNvSpPr/>
          <p:nvPr/>
        </p:nvSpPr>
        <p:spPr>
          <a:xfrm>
            <a:off x="1737360" y="1783080"/>
            <a:ext cx="3877056" cy="548640"/>
          </a:xfrm>
          <a:prstGeom prst="rect">
            <a:avLst/>
          </a:prstGeom>
          <a:solidFill>
            <a:srgbClr val="D5D9E2"/>
          </a:solidFill>
          <a:ln w="9525">
            <a:solidFill>
              <a:srgbClr val="D5D9E2"/>
            </a:solidFill>
            <a:prstDash val="solid"/>
          </a:ln>
        </p:spPr>
      </p:sp>
      <p:sp>
        <p:nvSpPr>
          <p:cNvPr id="8" name="Shape 6"/>
          <p:cNvSpPr/>
          <p:nvPr/>
        </p:nvSpPr>
        <p:spPr>
          <a:xfrm>
            <a:off x="1737360" y="1783080"/>
            <a:ext cx="1696212" cy="548640"/>
          </a:xfrm>
          <a:prstGeom prst="rect">
            <a:avLst/>
          </a:prstGeom>
          <a:solidFill>
            <a:srgbClr val="5B3FA0"/>
          </a:solidFill>
          <a:ln w="9525">
            <a:solidFill>
              <a:srgbClr val="5B3FA0"/>
            </a:solidFill>
            <a:prstDash val="solid"/>
          </a:ln>
        </p:spPr>
      </p:sp>
      <p:sp>
        <p:nvSpPr>
          <p:cNvPr id="9" name="Text 7"/>
          <p:cNvSpPr txBox="1"/>
          <p:nvPr/>
        </p:nvSpPr>
        <p:spPr>
          <a:xfrm>
            <a:off x="1783080" y="1783080"/>
            <a:ext cx="1371600" cy="5486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Effort</a:t>
            </a:r>
            <a:endParaRPr lang="en-US" sz="1050" dirty="0"/>
          </a:p>
        </p:txBody>
      </p:sp>
      <p:sp>
        <p:nvSpPr>
          <p:cNvPr id="10" name="Text 8"/>
          <p:cNvSpPr txBox="1"/>
          <p:nvPr/>
        </p:nvSpPr>
        <p:spPr>
          <a:xfrm>
            <a:off x="3525012" y="1783080"/>
            <a:ext cx="1371600" cy="548640"/>
          </a:xfrm>
          <a:prstGeom prst="rect">
            <a:avLst/>
          </a:prstGeom>
          <a:noFill/>
          <a:ln/>
        </p:spPr>
        <p:txBody>
          <a:bodyPr wrap="square" lIns="0" tIns="0" rIns="0" bIns="0" rtlCol="0" anchor="ctr"/>
          <a:lstStyle/>
          <a:p>
            <a:pPr indent="0" marL="0">
              <a:buNone/>
            </a:pPr>
            <a:r>
              <a:rPr lang="en-US" sz="1050" b="1" dirty="0">
                <a:solidFill>
                  <a:srgbClr val="1B2238"/>
                </a:solidFill>
                <a:latin typeface="Calibri" pitchFamily="34" charset="0"/>
                <a:ea typeface="Calibri" pitchFamily="34" charset="-122"/>
                <a:cs typeface="Calibri" pitchFamily="34" charset="-120"/>
              </a:rPr>
              <a:t>Waiting</a:t>
            </a:r>
            <a:endParaRPr lang="en-US" sz="1050" dirty="0"/>
          </a:p>
        </p:txBody>
      </p:sp>
      <p:sp>
        <p:nvSpPr>
          <p:cNvPr id="11" name="Text 9"/>
          <p:cNvSpPr txBox="1"/>
          <p:nvPr/>
        </p:nvSpPr>
        <p:spPr>
          <a:xfrm>
            <a:off x="640080" y="2651760"/>
            <a:ext cx="1005840" cy="548640"/>
          </a:xfrm>
          <a:prstGeom prst="rect">
            <a:avLst/>
          </a:prstGeom>
          <a:noFill/>
          <a:ln/>
        </p:spPr>
        <p:txBody>
          <a:bodyPr wrap="square" lIns="0" tIns="0" rIns="0" bIns="0" rtlCol="0" anchor="ctr"/>
          <a:lstStyle/>
          <a:p>
            <a:pPr indent="0" marL="0">
              <a:buNone/>
            </a:pPr>
            <a:r>
              <a:rPr lang="en-US" sz="1200" b="1" dirty="0">
                <a:solidFill>
                  <a:srgbClr val="1B2238"/>
                </a:solidFill>
                <a:latin typeface="Calibri" pitchFamily="34" charset="0"/>
                <a:ea typeface="Calibri" pitchFamily="34" charset="-122"/>
                <a:cs typeface="Calibri" pitchFamily="34" charset="-120"/>
              </a:rPr>
              <a:t>Stage B</a:t>
            </a:r>
            <a:endParaRPr lang="en-US" sz="1200" dirty="0"/>
          </a:p>
        </p:txBody>
      </p:sp>
      <p:sp>
        <p:nvSpPr>
          <p:cNvPr id="12" name="Shape 10"/>
          <p:cNvSpPr/>
          <p:nvPr/>
        </p:nvSpPr>
        <p:spPr>
          <a:xfrm>
            <a:off x="1737360" y="2651760"/>
            <a:ext cx="4604004" cy="548640"/>
          </a:xfrm>
          <a:prstGeom prst="rect">
            <a:avLst/>
          </a:prstGeom>
          <a:solidFill>
            <a:srgbClr val="D5D9E2"/>
          </a:solidFill>
          <a:ln w="9525">
            <a:solidFill>
              <a:srgbClr val="D5D9E2"/>
            </a:solidFill>
            <a:prstDash val="solid"/>
          </a:ln>
        </p:spPr>
      </p:sp>
      <p:sp>
        <p:nvSpPr>
          <p:cNvPr id="13" name="Shape 11"/>
          <p:cNvSpPr/>
          <p:nvPr/>
        </p:nvSpPr>
        <p:spPr>
          <a:xfrm>
            <a:off x="1737360" y="2651760"/>
            <a:ext cx="1211580" cy="548640"/>
          </a:xfrm>
          <a:prstGeom prst="rect">
            <a:avLst/>
          </a:prstGeom>
          <a:solidFill>
            <a:srgbClr val="5B3FA0"/>
          </a:solidFill>
          <a:ln w="9525">
            <a:solidFill>
              <a:srgbClr val="5B3FA0"/>
            </a:solidFill>
            <a:prstDash val="solid"/>
          </a:ln>
        </p:spPr>
      </p:sp>
      <p:sp>
        <p:nvSpPr>
          <p:cNvPr id="14" name="Text 12"/>
          <p:cNvSpPr txBox="1"/>
          <p:nvPr/>
        </p:nvSpPr>
        <p:spPr>
          <a:xfrm>
            <a:off x="640080" y="3520440"/>
            <a:ext cx="1005840" cy="548640"/>
          </a:xfrm>
          <a:prstGeom prst="rect">
            <a:avLst/>
          </a:prstGeom>
          <a:noFill/>
          <a:ln/>
        </p:spPr>
        <p:txBody>
          <a:bodyPr wrap="square" lIns="0" tIns="0" rIns="0" bIns="0" rtlCol="0" anchor="ctr"/>
          <a:lstStyle/>
          <a:p>
            <a:pPr indent="0" marL="0">
              <a:buNone/>
            </a:pPr>
            <a:r>
              <a:rPr lang="en-US" sz="1200" b="1" dirty="0">
                <a:solidFill>
                  <a:srgbClr val="1B2238"/>
                </a:solidFill>
                <a:latin typeface="Calibri" pitchFamily="34" charset="0"/>
                <a:ea typeface="Calibri" pitchFamily="34" charset="-122"/>
                <a:cs typeface="Calibri" pitchFamily="34" charset="-120"/>
              </a:rPr>
              <a:t>Stage C</a:t>
            </a:r>
            <a:endParaRPr lang="en-US" sz="1200" dirty="0"/>
          </a:p>
        </p:txBody>
      </p:sp>
      <p:sp>
        <p:nvSpPr>
          <p:cNvPr id="15" name="Shape 13"/>
          <p:cNvSpPr/>
          <p:nvPr/>
        </p:nvSpPr>
        <p:spPr>
          <a:xfrm>
            <a:off x="1737360" y="3520440"/>
            <a:ext cx="3392424" cy="548640"/>
          </a:xfrm>
          <a:prstGeom prst="rect">
            <a:avLst/>
          </a:prstGeom>
          <a:solidFill>
            <a:srgbClr val="D5D9E2"/>
          </a:solidFill>
          <a:ln w="9525">
            <a:solidFill>
              <a:srgbClr val="D5D9E2"/>
            </a:solidFill>
            <a:prstDash val="solid"/>
          </a:ln>
        </p:spPr>
      </p:sp>
      <p:sp>
        <p:nvSpPr>
          <p:cNvPr id="16" name="Shape 14"/>
          <p:cNvSpPr/>
          <p:nvPr/>
        </p:nvSpPr>
        <p:spPr>
          <a:xfrm>
            <a:off x="1737360" y="3520440"/>
            <a:ext cx="2423160" cy="548640"/>
          </a:xfrm>
          <a:prstGeom prst="rect">
            <a:avLst/>
          </a:prstGeom>
          <a:solidFill>
            <a:srgbClr val="5B3FA0"/>
          </a:solidFill>
          <a:ln w="9525">
            <a:solidFill>
              <a:srgbClr val="5B3FA0"/>
            </a:solidFill>
            <a:prstDash val="solid"/>
          </a:ln>
        </p:spPr>
      </p:sp>
      <p:sp>
        <p:nvSpPr>
          <p:cNvPr id="17" name="Text 15"/>
          <p:cNvSpPr txBox="1"/>
          <p:nvPr/>
        </p:nvSpPr>
        <p:spPr>
          <a:xfrm>
            <a:off x="640080" y="4389120"/>
            <a:ext cx="1005840" cy="548640"/>
          </a:xfrm>
          <a:prstGeom prst="rect">
            <a:avLst/>
          </a:prstGeom>
          <a:noFill/>
          <a:ln/>
        </p:spPr>
        <p:txBody>
          <a:bodyPr wrap="square" lIns="0" tIns="0" rIns="0" bIns="0" rtlCol="0" anchor="ctr"/>
          <a:lstStyle/>
          <a:p>
            <a:pPr indent="0" marL="0">
              <a:buNone/>
            </a:pPr>
            <a:r>
              <a:rPr lang="en-US" sz="1200" b="1" dirty="0">
                <a:solidFill>
                  <a:srgbClr val="1B2238"/>
                </a:solidFill>
                <a:latin typeface="Calibri" pitchFamily="34" charset="0"/>
                <a:ea typeface="Calibri" pitchFamily="34" charset="-122"/>
                <a:cs typeface="Calibri" pitchFamily="34" charset="-120"/>
              </a:rPr>
              <a:t>Stage D</a:t>
            </a:r>
            <a:endParaRPr lang="en-US" sz="1200" dirty="0"/>
          </a:p>
        </p:txBody>
      </p:sp>
      <p:sp>
        <p:nvSpPr>
          <p:cNvPr id="18" name="Shape 16"/>
          <p:cNvSpPr/>
          <p:nvPr/>
        </p:nvSpPr>
        <p:spPr>
          <a:xfrm>
            <a:off x="1737360" y="4389120"/>
            <a:ext cx="4361688" cy="548640"/>
          </a:xfrm>
          <a:prstGeom prst="rect">
            <a:avLst/>
          </a:prstGeom>
          <a:solidFill>
            <a:srgbClr val="D5D9E2"/>
          </a:solidFill>
          <a:ln w="9525">
            <a:solidFill>
              <a:srgbClr val="D5D9E2"/>
            </a:solidFill>
            <a:prstDash val="solid"/>
          </a:ln>
        </p:spPr>
      </p:sp>
      <p:sp>
        <p:nvSpPr>
          <p:cNvPr id="19" name="Shape 17"/>
          <p:cNvSpPr/>
          <p:nvPr/>
        </p:nvSpPr>
        <p:spPr>
          <a:xfrm>
            <a:off x="1737360" y="4389120"/>
            <a:ext cx="1453896" cy="548640"/>
          </a:xfrm>
          <a:prstGeom prst="rect">
            <a:avLst/>
          </a:prstGeom>
          <a:solidFill>
            <a:srgbClr val="5B3FA0"/>
          </a:solidFill>
          <a:ln w="9525">
            <a:solidFill>
              <a:srgbClr val="5B3FA0"/>
            </a:solidFill>
            <a:prstDash val="solid"/>
          </a:ln>
        </p:spPr>
      </p:sp>
      <p:sp>
        <p:nvSpPr>
          <p:cNvPr id="20" name="Text 18"/>
          <p:cNvSpPr txBox="1"/>
          <p:nvPr/>
        </p:nvSpPr>
        <p:spPr>
          <a:xfrm>
            <a:off x="640080" y="5257800"/>
            <a:ext cx="6400800" cy="365760"/>
          </a:xfrm>
          <a:prstGeom prst="rect">
            <a:avLst/>
          </a:prstGeom>
          <a:noFill/>
          <a:ln/>
        </p:spPr>
        <p:txBody>
          <a:bodyPr wrap="square" lIns="0" tIns="0" rIns="0" bIns="0" rtlCol="0" anchor="t"/>
          <a:lstStyle/>
          <a:p>
            <a:pPr indent="0" marL="0">
              <a:buNone/>
            </a:pPr>
            <a:r>
              <a:rPr lang="en-US" sz="1050" dirty="0">
                <a:solidFill>
                  <a:srgbClr val="5A6275"/>
                </a:solidFill>
                <a:latin typeface="Calibri" pitchFamily="34" charset="0"/>
                <a:ea typeface="Calibri" pitchFamily="34" charset="-122"/>
                <a:cs typeface="Calibri" pitchFamily="34" charset="-120"/>
              </a:rPr>
              <a:t>Full bar = elapsed calendar days · purple = effort (person-days) · grey = waiting</a:t>
            </a:r>
            <a:endParaRPr lang="en-US" sz="1050" dirty="0"/>
          </a:p>
        </p:txBody>
      </p:sp>
      <p:sp>
        <p:nvSpPr>
          <p:cNvPr id="21" name="Shape 19"/>
          <p:cNvSpPr/>
          <p:nvPr/>
        </p:nvSpPr>
        <p:spPr>
          <a:xfrm>
            <a:off x="7406640" y="1188720"/>
            <a:ext cx="4370832" cy="4572000"/>
          </a:xfrm>
          <a:prstGeom prst="roundRect">
            <a:avLst>
              <a:gd name="adj" fmla="val 1255"/>
            </a:avLst>
          </a:prstGeom>
          <a:solidFill>
            <a:srgbClr val="FFFFFF"/>
          </a:solidFill>
          <a:ln w="9525">
            <a:solidFill>
              <a:srgbClr val="D5D9E2"/>
            </a:solidFill>
            <a:prstDash val="solid"/>
          </a:ln>
        </p:spPr>
      </p:sp>
      <p:sp>
        <p:nvSpPr>
          <p:cNvPr id="22" name="Text 20"/>
          <p:cNvSpPr txBox="1"/>
          <p:nvPr/>
        </p:nvSpPr>
        <p:spPr>
          <a:xfrm>
            <a:off x="7543800" y="1280160"/>
            <a:ext cx="4096512" cy="228600"/>
          </a:xfrm>
          <a:prstGeom prst="rect">
            <a:avLst/>
          </a:prstGeom>
          <a:noFill/>
          <a:ln/>
        </p:spPr>
        <p:txBody>
          <a:bodyPr wrap="square" lIns="0" tIns="0" rIns="0" bIns="0" rtlCol="0" anchor="t"/>
          <a:lstStyle/>
          <a:p>
            <a:pPr indent="0" marL="0">
              <a:buNone/>
            </a:pPr>
            <a:r>
              <a:rPr lang="en-US" sz="950" b="1" spc="100" kern="0" dirty="0">
                <a:solidFill>
                  <a:srgbClr val="5B3FA0"/>
                </a:solidFill>
                <a:latin typeface="Calibri" pitchFamily="34" charset="0"/>
                <a:ea typeface="Calibri" pitchFamily="34" charset="-122"/>
                <a:cs typeface="Calibri" pitchFamily="34" charset="-120"/>
              </a:rPr>
              <a:t>WHAT TO MEASURE</a:t>
            </a:r>
            <a:endParaRPr lang="en-US" sz="950" dirty="0"/>
          </a:p>
        </p:txBody>
      </p:sp>
      <p:sp>
        <p:nvSpPr>
          <p:cNvPr id="23" name="Text 21"/>
          <p:cNvSpPr txBox="1"/>
          <p:nvPr/>
        </p:nvSpPr>
        <p:spPr>
          <a:xfrm>
            <a:off x="7543800" y="1554480"/>
            <a:ext cx="4096512" cy="4114800"/>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Person-days per team per stage</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Elapsed calendar days, stage entry to exit</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Source: completed intakes, not estimates</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Values: [baseline] for all stages until the study completes</a:t>
            </a:r>
            <a:endParaRPr lang="en-US" sz="1300" dirty="0"/>
          </a:p>
          <a:p>
            <a:pPr marL="152400" indent="-152400">
              <a:spcAft>
                <a:spcPts val="300"/>
              </a:spcAft>
              <a:buSzPct val="100000"/>
              <a:buChar char="•"/>
            </a:pPr>
            <a:r>
              <a:rPr lang="en-US" sz="1300" dirty="0">
                <a:solidFill>
                  <a:srgbClr val="1B2238"/>
                </a:solidFill>
                <a:latin typeface="Calibri" pitchFamily="34" charset="0"/>
                <a:ea typeface="Calibri" pitchFamily="34" charset="-122"/>
                <a:cs typeface="Calibri" pitchFamily="34" charset="-120"/>
              </a:rPr>
              <a:t>Why: the gap between effort and elapsed is where waiting sits, and waiting is what this design targets</a:t>
            </a:r>
            <a:endParaRPr lang="en-US" sz="13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The main risks are integration access, over-trust and adoption, each mitigated</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Roadmap · Delivery risks and mitigations</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3657600"/>
                <a:gridCol w="2926080"/>
                <a:gridCol w="4782312"/>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B3261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Mitigation built into the design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566928">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P3 integrations delayed by system owners</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Agent guides but cannot act</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Phased P1/P2/P3 with runtime disclosure; value ships at P2</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Provisional view treated as the determination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Rework on assumed classification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SK-IN-05 labelled provisional; SK-CN-14 is the only source of truth</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566928">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Agent action without accountable approval</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Audit and control concern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Human authority model; SK-XC-08 audit trail on every action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Rules change and skills drift</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Wrong routing enforced at scale</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One skill per rule, independently versioned and tested</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566928">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Low adoption by specialist teams</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Record incomplete; benefit lost</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Persona-scoped skills; each team sees only its workstream</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B2238"/>
                          </a:solidFill>
                          <a:latin typeface="Calibri" pitchFamily="34" charset="0"/>
                          <a:ea typeface="Calibri" pitchFamily="34" charset="-122"/>
                          <a:cs typeface="Calibri" pitchFamily="34" charset="-120"/>
                        </a:rPr>
                        <a:t>No baseline</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Benefit cannot be proven</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200" dirty="0">
                          <a:solidFill>
                            <a:srgbClr val="1B2238"/>
                          </a:solidFill>
                          <a:latin typeface="Calibri" pitchFamily="34" charset="0"/>
                          <a:ea typeface="Calibri" pitchFamily="34" charset="-122"/>
                          <a:cs typeface="Calibri" pitchFamily="34" charset="-120"/>
                        </a:rPr>
                        <a:t>Baseline study funded in the same decision as Wave 1</a:t>
                      </a:r>
                      <a:endParaRPr lang="en-US" sz="12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bl>
          </a:graphicData>
        </a:graphic>
      </p:graphicFrame>
      <p:sp>
        <p:nvSpPr>
          <p:cNvPr id="5" name="Text 2"/>
          <p:cNvSpPr txBox="1"/>
          <p:nvPr/>
        </p:nvSpPr>
        <p:spPr>
          <a:xfrm>
            <a:off x="411480" y="5669280"/>
            <a:ext cx="11338560" cy="320040"/>
          </a:xfrm>
          <a:prstGeom prst="rect">
            <a:avLst/>
          </a:prstGeom>
          <a:noFill/>
          <a:ln/>
        </p:spPr>
        <p:txBody>
          <a:bodyPr wrap="square" lIns="0" tIns="0" rIns="0" bIns="0" rtlCol="0" anchor="t"/>
          <a:lstStyle/>
          <a:p>
            <a:pPr indent="0" marL="0">
              <a:buNone/>
            </a:pPr>
            <a:r>
              <a:rPr lang="en-US" sz="1100" i="1" dirty="0">
                <a:solidFill>
                  <a:srgbClr val="5A6275"/>
                </a:solidFill>
                <a:latin typeface="Calibri" pitchFamily="34" charset="0"/>
                <a:ea typeface="Calibri" pitchFamily="34" charset="-122"/>
                <a:cs typeface="Calibri" pitchFamily="34" charset="-120"/>
              </a:rPr>
              <a:t>Proposed framing; confirm owners before presenting.</a:t>
            </a:r>
            <a:endParaRPr lang="en-US" sz="11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We ask for four decisions to start Wave 1 with measurable outcomes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B3261E"/>
                </a:solidFill>
                <a:latin typeface="Calibri" pitchFamily="34" charset="0"/>
                <a:ea typeface="Calibri" pitchFamily="34" charset="-122"/>
                <a:cs typeface="Calibri" pitchFamily="34" charset="-120"/>
              </a:rPr>
              <a:t>The leadership ask</a:t>
            </a:r>
            <a:endParaRPr lang="en-US" sz="1000" dirty="0"/>
          </a:p>
        </p:txBody>
      </p:sp>
      <p:sp>
        <p:nvSpPr>
          <p:cNvPr id="4" name="Shape 2"/>
          <p:cNvSpPr/>
          <p:nvPr/>
        </p:nvSpPr>
        <p:spPr>
          <a:xfrm>
            <a:off x="411480" y="1234440"/>
            <a:ext cx="5605272" cy="1920240"/>
          </a:xfrm>
          <a:prstGeom prst="roundRect">
            <a:avLst>
              <a:gd name="adj" fmla="val 3810"/>
            </a:avLst>
          </a:prstGeom>
          <a:solidFill>
            <a:srgbClr val="FFFFFF"/>
          </a:solidFill>
          <a:ln w="15875">
            <a:solidFill>
              <a:srgbClr val="1B2238"/>
            </a:solidFill>
            <a:prstDash val="solid"/>
          </a:ln>
        </p:spPr>
      </p:sp>
      <p:sp>
        <p:nvSpPr>
          <p:cNvPr id="5" name="Shape 3"/>
          <p:cNvSpPr/>
          <p:nvPr/>
        </p:nvSpPr>
        <p:spPr>
          <a:xfrm>
            <a:off x="640080" y="1463040"/>
            <a:ext cx="548640" cy="548640"/>
          </a:xfrm>
          <a:prstGeom prst="ellipse">
            <a:avLst/>
          </a:prstGeom>
          <a:solidFill>
            <a:srgbClr val="B3261E"/>
          </a:solidFill>
          <a:ln w="12700">
            <a:solidFill>
              <a:srgbClr val="B3261E"/>
            </a:solidFill>
            <a:prstDash val="solid"/>
          </a:ln>
        </p:spPr>
      </p:sp>
      <p:sp>
        <p:nvSpPr>
          <p:cNvPr id="6" name="Text 4"/>
          <p:cNvSpPr txBox="1"/>
          <p:nvPr/>
        </p:nvSpPr>
        <p:spPr>
          <a:xfrm>
            <a:off x="640080" y="146304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1</a:t>
            </a:r>
            <a:endParaRPr lang="en-US" sz="1680" dirty="0"/>
          </a:p>
        </p:txBody>
      </p:sp>
      <p:sp>
        <p:nvSpPr>
          <p:cNvPr id="7" name="Text 5"/>
          <p:cNvSpPr txBox="1"/>
          <p:nvPr/>
        </p:nvSpPr>
        <p:spPr>
          <a:xfrm>
            <a:off x="1371600" y="1463040"/>
            <a:ext cx="4480560" cy="548640"/>
          </a:xfrm>
          <a:prstGeom prst="rect">
            <a:avLst/>
          </a:prstGeom>
          <a:noFill/>
          <a:ln/>
        </p:spPr>
        <p:txBody>
          <a:bodyPr wrap="square" lIns="0" tIns="0" rIns="0" bIns="0" rtlCol="0" anchor="ctr"/>
          <a:lstStyle/>
          <a:p>
            <a:pPr indent="0" marL="0">
              <a:buNone/>
            </a:pPr>
            <a:r>
              <a:rPr lang="en-US" sz="1900" b="1" dirty="0">
                <a:solidFill>
                  <a:srgbClr val="1B2238"/>
                </a:solidFill>
                <a:latin typeface="Cambria" pitchFamily="34" charset="0"/>
                <a:ea typeface="Cambria" pitchFamily="34" charset="-122"/>
                <a:cs typeface="Cambria" pitchFamily="34" charset="-120"/>
              </a:rPr>
              <a:t>Approve Wave 1</a:t>
            </a:r>
            <a:endParaRPr lang="en-US" sz="1900" dirty="0"/>
          </a:p>
        </p:txBody>
      </p:sp>
      <p:sp>
        <p:nvSpPr>
          <p:cNvPr id="8" name="Text 6"/>
          <p:cNvSpPr txBox="1"/>
          <p:nvPr/>
        </p:nvSpPr>
        <p:spPr>
          <a:xfrm>
            <a:off x="1371600" y="2103120"/>
            <a:ext cx="4434840" cy="960120"/>
          </a:xfrm>
          <a:prstGeom prst="rect">
            <a:avLst/>
          </a:prstGeom>
          <a:noFill/>
          <a:ln/>
        </p:spPr>
        <p:txBody>
          <a:bodyPr wrap="square" lIns="0" tIns="0" rIns="0" bIns="0" rtlCol="0" anchor="t"/>
          <a:lstStyle/>
          <a:p>
            <a:pPr indent="0" marL="0">
              <a:buNone/>
            </a:pPr>
            <a:r>
              <a:rPr lang="en-US" sz="1300" dirty="0">
                <a:solidFill>
                  <a:srgbClr val="5A6275"/>
                </a:solidFill>
                <a:latin typeface="Calibri" pitchFamily="34" charset="0"/>
                <a:ea typeface="Calibri" pitchFamily="34" charset="-122"/>
                <a:cs typeface="Calibri" pitchFamily="34" charset="-120"/>
              </a:rPr>
              <a:t>Cross-cutting skills SK-XC-01 to 05 and the 8 MVP1 sub-agents: the foundation everything else depends on.</a:t>
            </a:r>
            <a:endParaRPr lang="en-US" sz="1300" dirty="0"/>
          </a:p>
        </p:txBody>
      </p:sp>
      <p:sp>
        <p:nvSpPr>
          <p:cNvPr id="9" name="Shape 7"/>
          <p:cNvSpPr/>
          <p:nvPr/>
        </p:nvSpPr>
        <p:spPr>
          <a:xfrm>
            <a:off x="6172200" y="1234440"/>
            <a:ext cx="5605272" cy="1920240"/>
          </a:xfrm>
          <a:prstGeom prst="roundRect">
            <a:avLst>
              <a:gd name="adj" fmla="val 3810"/>
            </a:avLst>
          </a:prstGeom>
          <a:solidFill>
            <a:srgbClr val="FFFFFF"/>
          </a:solidFill>
          <a:ln w="15875">
            <a:solidFill>
              <a:srgbClr val="1B2238"/>
            </a:solidFill>
            <a:prstDash val="solid"/>
          </a:ln>
        </p:spPr>
      </p:sp>
      <p:sp>
        <p:nvSpPr>
          <p:cNvPr id="10" name="Shape 8"/>
          <p:cNvSpPr/>
          <p:nvPr/>
        </p:nvSpPr>
        <p:spPr>
          <a:xfrm>
            <a:off x="6400800" y="1463040"/>
            <a:ext cx="548640" cy="548640"/>
          </a:xfrm>
          <a:prstGeom prst="ellipse">
            <a:avLst/>
          </a:prstGeom>
          <a:solidFill>
            <a:srgbClr val="B3261E"/>
          </a:solidFill>
          <a:ln w="12700">
            <a:solidFill>
              <a:srgbClr val="B3261E"/>
            </a:solidFill>
            <a:prstDash val="solid"/>
          </a:ln>
        </p:spPr>
      </p:sp>
      <p:sp>
        <p:nvSpPr>
          <p:cNvPr id="11" name="Text 9"/>
          <p:cNvSpPr txBox="1"/>
          <p:nvPr/>
        </p:nvSpPr>
        <p:spPr>
          <a:xfrm>
            <a:off x="6400800" y="146304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2</a:t>
            </a:r>
            <a:endParaRPr lang="en-US" sz="1680" dirty="0"/>
          </a:p>
        </p:txBody>
      </p:sp>
      <p:sp>
        <p:nvSpPr>
          <p:cNvPr id="12" name="Text 10"/>
          <p:cNvSpPr txBox="1"/>
          <p:nvPr/>
        </p:nvSpPr>
        <p:spPr>
          <a:xfrm>
            <a:off x="7132320" y="1463040"/>
            <a:ext cx="4480560" cy="548640"/>
          </a:xfrm>
          <a:prstGeom prst="rect">
            <a:avLst/>
          </a:prstGeom>
          <a:noFill/>
          <a:ln/>
        </p:spPr>
        <p:txBody>
          <a:bodyPr wrap="square" lIns="0" tIns="0" rIns="0" bIns="0" rtlCol="0" anchor="ctr"/>
          <a:lstStyle/>
          <a:p>
            <a:pPr indent="0" marL="0">
              <a:buNone/>
            </a:pPr>
            <a:r>
              <a:rPr lang="en-US" sz="1900" b="1" dirty="0">
                <a:solidFill>
                  <a:srgbClr val="1B2238"/>
                </a:solidFill>
                <a:latin typeface="Cambria" pitchFamily="34" charset="0"/>
                <a:ea typeface="Cambria" pitchFamily="34" charset="-122"/>
                <a:cs typeface="Cambria" pitchFamily="34" charset="-120"/>
              </a:rPr>
              <a:t>Fund the baseline study</a:t>
            </a:r>
            <a:endParaRPr lang="en-US" sz="1900" dirty="0"/>
          </a:p>
        </p:txBody>
      </p:sp>
      <p:sp>
        <p:nvSpPr>
          <p:cNvPr id="13" name="Text 11"/>
          <p:cNvSpPr txBox="1"/>
          <p:nvPr/>
        </p:nvSpPr>
        <p:spPr>
          <a:xfrm>
            <a:off x="7132320" y="2103120"/>
            <a:ext cx="4434840" cy="960120"/>
          </a:xfrm>
          <a:prstGeom prst="rect">
            <a:avLst/>
          </a:prstGeom>
          <a:noFill/>
          <a:ln/>
        </p:spPr>
        <p:txBody>
          <a:bodyPr wrap="square" lIns="0" tIns="0" rIns="0" bIns="0" rtlCol="0" anchor="t"/>
          <a:lstStyle/>
          <a:p>
            <a:pPr indent="0" marL="0">
              <a:buNone/>
            </a:pPr>
            <a:r>
              <a:rPr lang="en-US" sz="1300" dirty="0">
                <a:solidFill>
                  <a:srgbClr val="5A6275"/>
                </a:solidFill>
                <a:latin typeface="Calibri" pitchFamily="34" charset="0"/>
                <a:ea typeface="Calibri" pitchFamily="34" charset="-122"/>
                <a:cs typeface="Calibri" pitchFamily="34" charset="-120"/>
              </a:rPr>
              <a:t>Person-days and elapsed days per stage from completed intakes.</a:t>
            </a:r>
            <a:endParaRPr lang="en-US" sz="1300" dirty="0"/>
          </a:p>
        </p:txBody>
      </p:sp>
      <p:sp>
        <p:nvSpPr>
          <p:cNvPr id="14" name="Shape 12"/>
          <p:cNvSpPr/>
          <p:nvPr/>
        </p:nvSpPr>
        <p:spPr>
          <a:xfrm>
            <a:off x="411480" y="3337560"/>
            <a:ext cx="5605272" cy="1920240"/>
          </a:xfrm>
          <a:prstGeom prst="roundRect">
            <a:avLst>
              <a:gd name="adj" fmla="val 3810"/>
            </a:avLst>
          </a:prstGeom>
          <a:solidFill>
            <a:srgbClr val="FFFFFF"/>
          </a:solidFill>
          <a:ln w="15875">
            <a:solidFill>
              <a:srgbClr val="1B2238"/>
            </a:solidFill>
            <a:prstDash val="solid"/>
          </a:ln>
        </p:spPr>
      </p:sp>
      <p:sp>
        <p:nvSpPr>
          <p:cNvPr id="15" name="Shape 13"/>
          <p:cNvSpPr/>
          <p:nvPr/>
        </p:nvSpPr>
        <p:spPr>
          <a:xfrm>
            <a:off x="640080" y="3566160"/>
            <a:ext cx="548640" cy="548640"/>
          </a:xfrm>
          <a:prstGeom prst="ellipse">
            <a:avLst/>
          </a:prstGeom>
          <a:solidFill>
            <a:srgbClr val="B3261E"/>
          </a:solidFill>
          <a:ln w="12700">
            <a:solidFill>
              <a:srgbClr val="B3261E"/>
            </a:solidFill>
            <a:prstDash val="solid"/>
          </a:ln>
        </p:spPr>
      </p:sp>
      <p:sp>
        <p:nvSpPr>
          <p:cNvPr id="16" name="Text 14"/>
          <p:cNvSpPr txBox="1"/>
          <p:nvPr/>
        </p:nvSpPr>
        <p:spPr>
          <a:xfrm>
            <a:off x="640080" y="356616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3</a:t>
            </a:r>
            <a:endParaRPr lang="en-US" sz="1680" dirty="0"/>
          </a:p>
        </p:txBody>
      </p:sp>
      <p:sp>
        <p:nvSpPr>
          <p:cNvPr id="17" name="Text 15"/>
          <p:cNvSpPr txBox="1"/>
          <p:nvPr/>
        </p:nvSpPr>
        <p:spPr>
          <a:xfrm>
            <a:off x="1371600" y="3566160"/>
            <a:ext cx="4480560" cy="548640"/>
          </a:xfrm>
          <a:prstGeom prst="rect">
            <a:avLst/>
          </a:prstGeom>
          <a:noFill/>
          <a:ln/>
        </p:spPr>
        <p:txBody>
          <a:bodyPr wrap="square" lIns="0" tIns="0" rIns="0" bIns="0" rtlCol="0" anchor="ctr"/>
          <a:lstStyle/>
          <a:p>
            <a:pPr indent="0" marL="0">
              <a:buNone/>
            </a:pPr>
            <a:r>
              <a:rPr lang="en-US" sz="1900" b="1" dirty="0">
                <a:solidFill>
                  <a:srgbClr val="1B2238"/>
                </a:solidFill>
                <a:latin typeface="Cambria" pitchFamily="34" charset="0"/>
                <a:ea typeface="Cambria" pitchFamily="34" charset="-122"/>
                <a:cs typeface="Cambria" pitchFamily="34" charset="-120"/>
              </a:rPr>
              <a:t>Sponsor P3 integration access</a:t>
            </a:r>
            <a:endParaRPr lang="en-US" sz="1900" dirty="0"/>
          </a:p>
        </p:txBody>
      </p:sp>
      <p:sp>
        <p:nvSpPr>
          <p:cNvPr id="18" name="Text 16"/>
          <p:cNvSpPr txBox="1"/>
          <p:nvPr/>
        </p:nvSpPr>
        <p:spPr>
          <a:xfrm>
            <a:off x="1371600" y="4206240"/>
            <a:ext cx="4434840" cy="960120"/>
          </a:xfrm>
          <a:prstGeom prst="rect">
            <a:avLst/>
          </a:prstGeom>
          <a:noFill/>
          <a:ln/>
        </p:spPr>
        <p:txBody>
          <a:bodyPr wrap="square" lIns="0" tIns="0" rIns="0" bIns="0" rtlCol="0" anchor="t"/>
          <a:lstStyle/>
          <a:p>
            <a:pPr indent="0" marL="0">
              <a:buNone/>
            </a:pPr>
            <a:r>
              <a:rPr lang="en-US" sz="1300" dirty="0">
                <a:solidFill>
                  <a:srgbClr val="5A6275"/>
                </a:solidFill>
                <a:latin typeface="Calibri" pitchFamily="34" charset="0"/>
                <a:ea typeface="Calibri" pitchFamily="34" charset="-122"/>
                <a:cs typeface="Calibri" pitchFamily="34" charset="-120"/>
              </a:rPr>
              <a:t>Named owners for access tooling, identity management, Apigee, Kafka and the intake project.</a:t>
            </a:r>
            <a:endParaRPr lang="en-US" sz="1300" dirty="0"/>
          </a:p>
        </p:txBody>
      </p:sp>
      <p:sp>
        <p:nvSpPr>
          <p:cNvPr id="19" name="Shape 17"/>
          <p:cNvSpPr/>
          <p:nvPr/>
        </p:nvSpPr>
        <p:spPr>
          <a:xfrm>
            <a:off x="6172200" y="3337560"/>
            <a:ext cx="5605272" cy="1920240"/>
          </a:xfrm>
          <a:prstGeom prst="roundRect">
            <a:avLst>
              <a:gd name="adj" fmla="val 3810"/>
            </a:avLst>
          </a:prstGeom>
          <a:solidFill>
            <a:srgbClr val="FFFFFF"/>
          </a:solidFill>
          <a:ln w="15875">
            <a:solidFill>
              <a:srgbClr val="1B2238"/>
            </a:solidFill>
            <a:prstDash val="solid"/>
          </a:ln>
        </p:spPr>
      </p:sp>
      <p:sp>
        <p:nvSpPr>
          <p:cNvPr id="20" name="Shape 18"/>
          <p:cNvSpPr/>
          <p:nvPr/>
        </p:nvSpPr>
        <p:spPr>
          <a:xfrm>
            <a:off x="6400800" y="3566160"/>
            <a:ext cx="548640" cy="548640"/>
          </a:xfrm>
          <a:prstGeom prst="ellipse">
            <a:avLst/>
          </a:prstGeom>
          <a:solidFill>
            <a:srgbClr val="B3261E"/>
          </a:solidFill>
          <a:ln w="12700">
            <a:solidFill>
              <a:srgbClr val="B3261E"/>
            </a:solidFill>
            <a:prstDash val="solid"/>
          </a:ln>
        </p:spPr>
      </p:sp>
      <p:sp>
        <p:nvSpPr>
          <p:cNvPr id="21" name="Text 19"/>
          <p:cNvSpPr txBox="1"/>
          <p:nvPr/>
        </p:nvSpPr>
        <p:spPr>
          <a:xfrm>
            <a:off x="6400800" y="3566160"/>
            <a:ext cx="548640" cy="548640"/>
          </a:xfrm>
          <a:prstGeom prst="rect">
            <a:avLst/>
          </a:prstGeom>
          <a:noFill/>
          <a:ln/>
        </p:spPr>
        <p:txBody>
          <a:bodyPr wrap="square" lIns="0" tIns="0" rIns="0" bIns="0" rtlCol="0" anchor="ctr"/>
          <a:lstStyle/>
          <a:p>
            <a:pPr algn="ctr" indent="0" marL="0">
              <a:buNone/>
            </a:pPr>
            <a:r>
              <a:rPr lang="en-US" sz="1680" b="1" dirty="0">
                <a:solidFill>
                  <a:srgbClr val="FFFFFF"/>
                </a:solidFill>
                <a:latin typeface="Calibri" pitchFamily="34" charset="0"/>
                <a:ea typeface="Calibri" pitchFamily="34" charset="-122"/>
                <a:cs typeface="Calibri" pitchFamily="34" charset="-120"/>
              </a:rPr>
              <a:t>4</a:t>
            </a:r>
            <a:endParaRPr lang="en-US" sz="1680" dirty="0"/>
          </a:p>
        </p:txBody>
      </p:sp>
      <p:sp>
        <p:nvSpPr>
          <p:cNvPr id="22" name="Text 20"/>
          <p:cNvSpPr txBox="1"/>
          <p:nvPr/>
        </p:nvSpPr>
        <p:spPr>
          <a:xfrm>
            <a:off x="7132320" y="3566160"/>
            <a:ext cx="4480560" cy="548640"/>
          </a:xfrm>
          <a:prstGeom prst="rect">
            <a:avLst/>
          </a:prstGeom>
          <a:noFill/>
          <a:ln/>
        </p:spPr>
        <p:txBody>
          <a:bodyPr wrap="square" lIns="0" tIns="0" rIns="0" bIns="0" rtlCol="0" anchor="ctr"/>
          <a:lstStyle/>
          <a:p>
            <a:pPr indent="0" marL="0">
              <a:buNone/>
            </a:pPr>
            <a:r>
              <a:rPr lang="en-US" sz="1900" b="1" dirty="0">
                <a:solidFill>
                  <a:srgbClr val="1B2238"/>
                </a:solidFill>
                <a:latin typeface="Cambria" pitchFamily="34" charset="0"/>
                <a:ea typeface="Cambria" pitchFamily="34" charset="-122"/>
                <a:cs typeface="Cambria" pitchFamily="34" charset="-120"/>
              </a:rPr>
              <a:t>Confirm governance participation</a:t>
            </a:r>
            <a:endParaRPr lang="en-US" sz="1900" dirty="0"/>
          </a:p>
        </p:txBody>
      </p:sp>
      <p:sp>
        <p:nvSpPr>
          <p:cNvPr id="23" name="Text 21"/>
          <p:cNvSpPr txBox="1"/>
          <p:nvPr/>
        </p:nvSpPr>
        <p:spPr>
          <a:xfrm>
            <a:off x="7132320" y="4206240"/>
            <a:ext cx="4434840" cy="960120"/>
          </a:xfrm>
          <a:prstGeom prst="rect">
            <a:avLst/>
          </a:prstGeom>
          <a:noFill/>
          <a:ln/>
        </p:spPr>
        <p:txBody>
          <a:bodyPr wrap="square" lIns="0" tIns="0" rIns="0" bIns="0" rtlCol="0" anchor="t"/>
          <a:lstStyle/>
          <a:p>
            <a:pPr indent="0" marL="0">
              <a:buNone/>
            </a:pPr>
            <a:r>
              <a:rPr lang="en-US" sz="1300" dirty="0">
                <a:solidFill>
                  <a:srgbClr val="5A6275"/>
                </a:solidFill>
                <a:latin typeface="Calibri" pitchFamily="34" charset="0"/>
                <a:ea typeface="Calibri" pitchFamily="34" charset="-122"/>
                <a:cs typeface="Calibri" pitchFamily="34" charset="-120"/>
              </a:rPr>
              <a:t>Imaging Governance and Records Management agree how determinations and approvals are registered.</a:t>
            </a:r>
            <a:endParaRPr lang="en-US" sz="1300" dirty="0"/>
          </a:p>
        </p:txBody>
      </p:sp>
      <p:sp>
        <p:nvSpPr>
          <p:cNvPr id="24" name="Shape 22"/>
          <p:cNvSpPr/>
          <p:nvPr/>
        </p:nvSpPr>
        <p:spPr>
          <a:xfrm>
            <a:off x="411480" y="5532120"/>
            <a:ext cx="11365992" cy="685800"/>
          </a:xfrm>
          <a:prstGeom prst="roundRect">
            <a:avLst>
              <a:gd name="adj" fmla="val 10667"/>
            </a:avLst>
          </a:prstGeom>
          <a:solidFill>
            <a:srgbClr val="1B2238"/>
          </a:solidFill>
          <a:ln w="9525">
            <a:solidFill>
              <a:srgbClr val="1B2238"/>
            </a:solidFill>
            <a:prstDash val="solid"/>
          </a:ln>
        </p:spPr>
      </p:sp>
      <p:sp>
        <p:nvSpPr>
          <p:cNvPr id="25" name="Text 23"/>
          <p:cNvSpPr txBox="1"/>
          <p:nvPr/>
        </p:nvSpPr>
        <p:spPr>
          <a:xfrm>
            <a:off x="411480" y="5532120"/>
            <a:ext cx="11365992"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Everything beyond Wave 1 returns for approval with baseline evidence.</a:t>
            </a:r>
            <a:endParaRPr lang="en-US" sz="15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100" b="1" dirty="0">
                <a:solidFill>
                  <a:srgbClr val="1B2238"/>
                </a:solidFill>
                <a:latin typeface="Cambria" pitchFamily="34" charset="0"/>
                <a:ea typeface="Cambria" pitchFamily="34" charset="-122"/>
                <a:cs typeface="Cambria" pitchFamily="34" charset="-120"/>
              </a:rPr>
              <a:t>In 90 days we will have a baseline, a working foundation and a pilot onboarding</a:t>
            </a:r>
            <a:endParaRPr lang="en-US" sz="21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Next 90 days</a:t>
            </a:r>
            <a:endParaRPr lang="en-US" sz="1000" dirty="0"/>
          </a:p>
        </p:txBody>
      </p:sp>
      <p:sp>
        <p:nvSpPr>
          <p:cNvPr id="4" name="Shape 2"/>
          <p:cNvSpPr/>
          <p:nvPr/>
        </p:nvSpPr>
        <p:spPr>
          <a:xfrm>
            <a:off x="2011680" y="1188720"/>
            <a:ext cx="3108960" cy="457200"/>
          </a:xfrm>
          <a:prstGeom prst="roundRect">
            <a:avLst>
              <a:gd name="adj" fmla="val 16000"/>
            </a:avLst>
          </a:prstGeom>
          <a:solidFill>
            <a:srgbClr val="1B2238"/>
          </a:solidFill>
          <a:ln w="9525">
            <a:solidFill>
              <a:srgbClr val="1B2238"/>
            </a:solidFill>
            <a:prstDash val="solid"/>
          </a:ln>
        </p:spPr>
      </p:sp>
      <p:sp>
        <p:nvSpPr>
          <p:cNvPr id="5" name="Text 3"/>
          <p:cNvSpPr txBox="1"/>
          <p:nvPr/>
        </p:nvSpPr>
        <p:spPr>
          <a:xfrm>
            <a:off x="2011680" y="1188720"/>
            <a:ext cx="3108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Days 0–30</a:t>
            </a:r>
            <a:endParaRPr lang="en-US" sz="1300" dirty="0"/>
          </a:p>
        </p:txBody>
      </p:sp>
      <p:sp>
        <p:nvSpPr>
          <p:cNvPr id="6" name="Shape 4"/>
          <p:cNvSpPr/>
          <p:nvPr/>
        </p:nvSpPr>
        <p:spPr>
          <a:xfrm>
            <a:off x="5266944" y="1188720"/>
            <a:ext cx="3108960" cy="457200"/>
          </a:xfrm>
          <a:prstGeom prst="roundRect">
            <a:avLst>
              <a:gd name="adj" fmla="val 16000"/>
            </a:avLst>
          </a:prstGeom>
          <a:solidFill>
            <a:srgbClr val="1B2238"/>
          </a:solidFill>
          <a:ln w="9525">
            <a:solidFill>
              <a:srgbClr val="1B2238"/>
            </a:solidFill>
            <a:prstDash val="solid"/>
          </a:ln>
        </p:spPr>
      </p:sp>
      <p:sp>
        <p:nvSpPr>
          <p:cNvPr id="7" name="Text 5"/>
          <p:cNvSpPr txBox="1"/>
          <p:nvPr/>
        </p:nvSpPr>
        <p:spPr>
          <a:xfrm>
            <a:off x="5266944" y="1188720"/>
            <a:ext cx="3108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Days 31–60</a:t>
            </a:r>
            <a:endParaRPr lang="en-US" sz="1300" dirty="0"/>
          </a:p>
        </p:txBody>
      </p:sp>
      <p:sp>
        <p:nvSpPr>
          <p:cNvPr id="8" name="Shape 6"/>
          <p:cNvSpPr/>
          <p:nvPr/>
        </p:nvSpPr>
        <p:spPr>
          <a:xfrm>
            <a:off x="8522208" y="1188720"/>
            <a:ext cx="3108960" cy="457200"/>
          </a:xfrm>
          <a:prstGeom prst="roundRect">
            <a:avLst>
              <a:gd name="adj" fmla="val 16000"/>
            </a:avLst>
          </a:prstGeom>
          <a:solidFill>
            <a:srgbClr val="1B2238"/>
          </a:solidFill>
          <a:ln w="9525">
            <a:solidFill>
              <a:srgbClr val="1B2238"/>
            </a:solidFill>
            <a:prstDash val="solid"/>
          </a:ln>
        </p:spPr>
      </p:sp>
      <p:sp>
        <p:nvSpPr>
          <p:cNvPr id="9" name="Text 7"/>
          <p:cNvSpPr txBox="1"/>
          <p:nvPr/>
        </p:nvSpPr>
        <p:spPr>
          <a:xfrm>
            <a:off x="8522208" y="1188720"/>
            <a:ext cx="3108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Days 61–90</a:t>
            </a:r>
            <a:endParaRPr lang="en-US" sz="1300" dirty="0"/>
          </a:p>
        </p:txBody>
      </p:sp>
      <p:sp>
        <p:nvSpPr>
          <p:cNvPr id="10" name="Shape 8"/>
          <p:cNvSpPr/>
          <p:nvPr/>
        </p:nvSpPr>
        <p:spPr>
          <a:xfrm>
            <a:off x="411480" y="1828800"/>
            <a:ext cx="1463040" cy="1188720"/>
          </a:xfrm>
          <a:prstGeom prst="roundRect">
            <a:avLst>
              <a:gd name="adj" fmla="val 6154"/>
            </a:avLst>
          </a:prstGeom>
          <a:solidFill>
            <a:srgbClr val="2563A8"/>
          </a:solidFill>
          <a:ln w="9525">
            <a:solidFill>
              <a:srgbClr val="2563A8"/>
            </a:solidFill>
            <a:prstDash val="solid"/>
          </a:ln>
        </p:spPr>
      </p:sp>
      <p:sp>
        <p:nvSpPr>
          <p:cNvPr id="11" name="Text 9"/>
          <p:cNvSpPr txBox="1"/>
          <p:nvPr/>
        </p:nvSpPr>
        <p:spPr>
          <a:xfrm>
            <a:off x="411480" y="182880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Measure</a:t>
            </a:r>
            <a:endParaRPr lang="en-US" sz="1500" dirty="0"/>
          </a:p>
        </p:txBody>
      </p:sp>
      <p:sp>
        <p:nvSpPr>
          <p:cNvPr id="12" name="Shape 10"/>
          <p:cNvSpPr/>
          <p:nvPr/>
        </p:nvSpPr>
        <p:spPr>
          <a:xfrm>
            <a:off x="2011680" y="2423160"/>
            <a:ext cx="9765792" cy="914"/>
          </a:xfrm>
          <a:prstGeom prst="line">
            <a:avLst/>
          </a:prstGeom>
          <a:noFill/>
          <a:ln w="12700">
            <a:solidFill>
              <a:srgbClr val="D5D9E2"/>
            </a:solidFill>
            <a:prstDash val="solid"/>
          </a:ln>
        </p:spPr>
      </p:sp>
      <p:sp>
        <p:nvSpPr>
          <p:cNvPr id="13" name="Shape 11"/>
          <p:cNvSpPr/>
          <p:nvPr/>
        </p:nvSpPr>
        <p:spPr>
          <a:xfrm>
            <a:off x="2103120" y="2258568"/>
            <a:ext cx="329184" cy="329184"/>
          </a:xfrm>
          <a:prstGeom prst="diamond">
            <a:avLst/>
          </a:prstGeom>
          <a:solidFill>
            <a:srgbClr val="2563A8"/>
          </a:solidFill>
          <a:ln w="12700">
            <a:solidFill>
              <a:srgbClr val="FFFFFF"/>
            </a:solidFill>
            <a:prstDash val="solid"/>
          </a:ln>
        </p:spPr>
      </p:sp>
      <p:sp>
        <p:nvSpPr>
          <p:cNvPr id="14" name="Shape 12"/>
          <p:cNvSpPr/>
          <p:nvPr/>
        </p:nvSpPr>
        <p:spPr>
          <a:xfrm>
            <a:off x="2560320" y="1920240"/>
            <a:ext cx="2514600" cy="1005840"/>
          </a:xfrm>
          <a:prstGeom prst="roundRect">
            <a:avLst>
              <a:gd name="adj" fmla="val 7273"/>
            </a:avLst>
          </a:prstGeom>
          <a:solidFill>
            <a:srgbClr val="F3F4F7"/>
          </a:solidFill>
          <a:ln w="9525">
            <a:solidFill>
              <a:srgbClr val="F3F4F7"/>
            </a:solidFill>
            <a:prstDash val="solid"/>
          </a:ln>
        </p:spPr>
      </p:sp>
      <p:sp>
        <p:nvSpPr>
          <p:cNvPr id="15" name="Text 13"/>
          <p:cNvSpPr txBox="1"/>
          <p:nvPr/>
        </p:nvSpPr>
        <p:spPr>
          <a:xfrm>
            <a:off x="2670048" y="19202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Select completed intakes; define data capture</a:t>
            </a:r>
            <a:endParaRPr lang="en-US" sz="1200" dirty="0"/>
          </a:p>
        </p:txBody>
      </p:sp>
      <p:sp>
        <p:nvSpPr>
          <p:cNvPr id="16" name="Shape 14"/>
          <p:cNvSpPr/>
          <p:nvPr/>
        </p:nvSpPr>
        <p:spPr>
          <a:xfrm>
            <a:off x="5358384" y="2258568"/>
            <a:ext cx="329184" cy="329184"/>
          </a:xfrm>
          <a:prstGeom prst="diamond">
            <a:avLst/>
          </a:prstGeom>
          <a:solidFill>
            <a:srgbClr val="2563A8"/>
          </a:solidFill>
          <a:ln w="12700">
            <a:solidFill>
              <a:srgbClr val="FFFFFF"/>
            </a:solidFill>
            <a:prstDash val="solid"/>
          </a:ln>
        </p:spPr>
      </p:sp>
      <p:sp>
        <p:nvSpPr>
          <p:cNvPr id="17" name="Shape 15"/>
          <p:cNvSpPr/>
          <p:nvPr/>
        </p:nvSpPr>
        <p:spPr>
          <a:xfrm>
            <a:off x="5815584" y="1920240"/>
            <a:ext cx="2514600" cy="1005840"/>
          </a:xfrm>
          <a:prstGeom prst="roundRect">
            <a:avLst>
              <a:gd name="adj" fmla="val 7273"/>
            </a:avLst>
          </a:prstGeom>
          <a:solidFill>
            <a:srgbClr val="F3F4F7"/>
          </a:solidFill>
          <a:ln w="9525">
            <a:solidFill>
              <a:srgbClr val="F3F4F7"/>
            </a:solidFill>
            <a:prstDash val="solid"/>
          </a:ln>
        </p:spPr>
      </p:sp>
      <p:sp>
        <p:nvSpPr>
          <p:cNvPr id="18" name="Text 16"/>
          <p:cNvSpPr txBox="1"/>
          <p:nvPr/>
        </p:nvSpPr>
        <p:spPr>
          <a:xfrm>
            <a:off x="5925312" y="19202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Baseline effort and elapsed per stage</a:t>
            </a:r>
            <a:endParaRPr lang="en-US" sz="1200" dirty="0"/>
          </a:p>
        </p:txBody>
      </p:sp>
      <p:sp>
        <p:nvSpPr>
          <p:cNvPr id="19" name="Shape 17"/>
          <p:cNvSpPr/>
          <p:nvPr/>
        </p:nvSpPr>
        <p:spPr>
          <a:xfrm>
            <a:off x="8613648" y="2258568"/>
            <a:ext cx="329184" cy="329184"/>
          </a:xfrm>
          <a:prstGeom prst="diamond">
            <a:avLst/>
          </a:prstGeom>
          <a:solidFill>
            <a:srgbClr val="2563A8"/>
          </a:solidFill>
          <a:ln w="12700">
            <a:solidFill>
              <a:srgbClr val="FFFFFF"/>
            </a:solidFill>
            <a:prstDash val="solid"/>
          </a:ln>
        </p:spPr>
      </p:sp>
      <p:sp>
        <p:nvSpPr>
          <p:cNvPr id="20" name="Shape 18"/>
          <p:cNvSpPr/>
          <p:nvPr/>
        </p:nvSpPr>
        <p:spPr>
          <a:xfrm>
            <a:off x="9070848" y="1920240"/>
            <a:ext cx="2514600" cy="1005840"/>
          </a:xfrm>
          <a:prstGeom prst="roundRect">
            <a:avLst>
              <a:gd name="adj" fmla="val 7273"/>
            </a:avLst>
          </a:prstGeom>
          <a:solidFill>
            <a:srgbClr val="F3F4F7"/>
          </a:solidFill>
          <a:ln w="9525">
            <a:solidFill>
              <a:srgbClr val="F3F4F7"/>
            </a:solidFill>
            <a:prstDash val="solid"/>
          </a:ln>
        </p:spPr>
      </p:sp>
      <p:sp>
        <p:nvSpPr>
          <p:cNvPr id="21" name="Text 19"/>
          <p:cNvSpPr txBox="1"/>
          <p:nvPr/>
        </p:nvSpPr>
        <p:spPr>
          <a:xfrm>
            <a:off x="9180576" y="19202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Publish baseline to sponsors</a:t>
            </a:r>
            <a:endParaRPr lang="en-US" sz="1200" dirty="0"/>
          </a:p>
        </p:txBody>
      </p:sp>
      <p:sp>
        <p:nvSpPr>
          <p:cNvPr id="22" name="Shape 20"/>
          <p:cNvSpPr/>
          <p:nvPr/>
        </p:nvSpPr>
        <p:spPr>
          <a:xfrm>
            <a:off x="411480" y="3200400"/>
            <a:ext cx="1463040" cy="1188720"/>
          </a:xfrm>
          <a:prstGeom prst="roundRect">
            <a:avLst>
              <a:gd name="adj" fmla="val 6154"/>
            </a:avLst>
          </a:prstGeom>
          <a:solidFill>
            <a:srgbClr val="5B3FA0"/>
          </a:solidFill>
          <a:ln w="9525">
            <a:solidFill>
              <a:srgbClr val="5B3FA0"/>
            </a:solidFill>
            <a:prstDash val="solid"/>
          </a:ln>
        </p:spPr>
      </p:sp>
      <p:sp>
        <p:nvSpPr>
          <p:cNvPr id="23" name="Text 21"/>
          <p:cNvSpPr txBox="1"/>
          <p:nvPr/>
        </p:nvSpPr>
        <p:spPr>
          <a:xfrm>
            <a:off x="411480" y="320040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p:txBody>
      </p:sp>
      <p:sp>
        <p:nvSpPr>
          <p:cNvPr id="24" name="Shape 22"/>
          <p:cNvSpPr/>
          <p:nvPr/>
        </p:nvSpPr>
        <p:spPr>
          <a:xfrm>
            <a:off x="2011680" y="3794760"/>
            <a:ext cx="9765792" cy="914"/>
          </a:xfrm>
          <a:prstGeom prst="line">
            <a:avLst/>
          </a:prstGeom>
          <a:noFill/>
          <a:ln w="12700">
            <a:solidFill>
              <a:srgbClr val="D5D9E2"/>
            </a:solidFill>
            <a:prstDash val="solid"/>
          </a:ln>
        </p:spPr>
      </p:sp>
      <p:sp>
        <p:nvSpPr>
          <p:cNvPr id="25" name="Shape 23"/>
          <p:cNvSpPr/>
          <p:nvPr/>
        </p:nvSpPr>
        <p:spPr>
          <a:xfrm>
            <a:off x="2103120" y="3630168"/>
            <a:ext cx="329184" cy="329184"/>
          </a:xfrm>
          <a:prstGeom prst="diamond">
            <a:avLst/>
          </a:prstGeom>
          <a:solidFill>
            <a:srgbClr val="5B3FA0"/>
          </a:solidFill>
          <a:ln w="12700">
            <a:solidFill>
              <a:srgbClr val="FFFFFF"/>
            </a:solidFill>
            <a:prstDash val="solid"/>
          </a:ln>
        </p:spPr>
      </p:sp>
      <p:sp>
        <p:nvSpPr>
          <p:cNvPr id="26" name="Shape 24"/>
          <p:cNvSpPr/>
          <p:nvPr/>
        </p:nvSpPr>
        <p:spPr>
          <a:xfrm>
            <a:off x="2560320" y="3291840"/>
            <a:ext cx="2514600" cy="1005840"/>
          </a:xfrm>
          <a:prstGeom prst="roundRect">
            <a:avLst>
              <a:gd name="adj" fmla="val 7273"/>
            </a:avLst>
          </a:prstGeom>
          <a:solidFill>
            <a:srgbClr val="F3F4F7"/>
          </a:solidFill>
          <a:ln w="9525">
            <a:solidFill>
              <a:srgbClr val="F3F4F7"/>
            </a:solidFill>
            <a:prstDash val="solid"/>
          </a:ln>
        </p:spPr>
      </p:sp>
      <p:sp>
        <p:nvSpPr>
          <p:cNvPr id="27" name="Text 25"/>
          <p:cNvSpPr txBox="1"/>
          <p:nvPr/>
        </p:nvSpPr>
        <p:spPr>
          <a:xfrm>
            <a:off x="2670048" y="32918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Stand up onboarding record and cross-cutting skills</a:t>
            </a:r>
            <a:endParaRPr lang="en-US" sz="1200" dirty="0"/>
          </a:p>
        </p:txBody>
      </p:sp>
      <p:sp>
        <p:nvSpPr>
          <p:cNvPr id="28" name="Shape 26"/>
          <p:cNvSpPr/>
          <p:nvPr/>
        </p:nvSpPr>
        <p:spPr>
          <a:xfrm>
            <a:off x="5358384" y="3630168"/>
            <a:ext cx="329184" cy="329184"/>
          </a:xfrm>
          <a:prstGeom prst="diamond">
            <a:avLst/>
          </a:prstGeom>
          <a:solidFill>
            <a:srgbClr val="5B3FA0"/>
          </a:solidFill>
          <a:ln w="12700">
            <a:solidFill>
              <a:srgbClr val="FFFFFF"/>
            </a:solidFill>
            <a:prstDash val="solid"/>
          </a:ln>
        </p:spPr>
      </p:sp>
      <p:sp>
        <p:nvSpPr>
          <p:cNvPr id="29" name="Shape 27"/>
          <p:cNvSpPr/>
          <p:nvPr/>
        </p:nvSpPr>
        <p:spPr>
          <a:xfrm>
            <a:off x="5815584" y="3291840"/>
            <a:ext cx="2514600" cy="1005840"/>
          </a:xfrm>
          <a:prstGeom prst="roundRect">
            <a:avLst>
              <a:gd name="adj" fmla="val 7273"/>
            </a:avLst>
          </a:prstGeom>
          <a:solidFill>
            <a:srgbClr val="F3F4F7"/>
          </a:solidFill>
          <a:ln w="9525">
            <a:solidFill>
              <a:srgbClr val="F3F4F7"/>
            </a:solidFill>
            <a:prstDash val="solid"/>
          </a:ln>
        </p:spPr>
      </p:sp>
      <p:sp>
        <p:nvSpPr>
          <p:cNvPr id="30" name="Text 28"/>
          <p:cNvSpPr txBox="1"/>
          <p:nvPr/>
        </p:nvSpPr>
        <p:spPr>
          <a:xfrm>
            <a:off x="5925312" y="32918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MVP1 sub-agents at P1/P2</a:t>
            </a:r>
            <a:endParaRPr lang="en-US" sz="1200" dirty="0"/>
          </a:p>
        </p:txBody>
      </p:sp>
      <p:sp>
        <p:nvSpPr>
          <p:cNvPr id="31" name="Shape 29"/>
          <p:cNvSpPr/>
          <p:nvPr/>
        </p:nvSpPr>
        <p:spPr>
          <a:xfrm>
            <a:off x="8613648" y="3630168"/>
            <a:ext cx="329184" cy="329184"/>
          </a:xfrm>
          <a:prstGeom prst="diamond">
            <a:avLst/>
          </a:prstGeom>
          <a:solidFill>
            <a:srgbClr val="5B3FA0"/>
          </a:solidFill>
          <a:ln w="12700">
            <a:solidFill>
              <a:srgbClr val="FFFFFF"/>
            </a:solidFill>
            <a:prstDash val="solid"/>
          </a:ln>
        </p:spPr>
      </p:sp>
      <p:sp>
        <p:nvSpPr>
          <p:cNvPr id="32" name="Shape 30"/>
          <p:cNvSpPr/>
          <p:nvPr/>
        </p:nvSpPr>
        <p:spPr>
          <a:xfrm>
            <a:off x="9070848" y="3291840"/>
            <a:ext cx="2514600" cy="1005840"/>
          </a:xfrm>
          <a:prstGeom prst="roundRect">
            <a:avLst>
              <a:gd name="adj" fmla="val 7273"/>
            </a:avLst>
          </a:prstGeom>
          <a:solidFill>
            <a:srgbClr val="F3F4F7"/>
          </a:solidFill>
          <a:ln w="9525">
            <a:solidFill>
              <a:srgbClr val="F3F4F7"/>
            </a:solidFill>
            <a:prstDash val="solid"/>
          </a:ln>
        </p:spPr>
      </p:sp>
      <p:sp>
        <p:nvSpPr>
          <p:cNvPr id="33" name="Text 31"/>
          <p:cNvSpPr txBox="1"/>
          <p:nvPr/>
        </p:nvSpPr>
        <p:spPr>
          <a:xfrm>
            <a:off x="9180576" y="32918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First P3 integrations where access is granted</a:t>
            </a:r>
            <a:endParaRPr lang="en-US" sz="1200" dirty="0"/>
          </a:p>
        </p:txBody>
      </p:sp>
      <p:sp>
        <p:nvSpPr>
          <p:cNvPr id="34" name="Shape 32"/>
          <p:cNvSpPr/>
          <p:nvPr/>
        </p:nvSpPr>
        <p:spPr>
          <a:xfrm>
            <a:off x="411480" y="4572000"/>
            <a:ext cx="1463040" cy="1188720"/>
          </a:xfrm>
          <a:prstGeom prst="roundRect">
            <a:avLst>
              <a:gd name="adj" fmla="val 6154"/>
            </a:avLst>
          </a:prstGeom>
          <a:solidFill>
            <a:srgbClr val="2E7D4F"/>
          </a:solidFill>
          <a:ln w="9525">
            <a:solidFill>
              <a:srgbClr val="2E7D4F"/>
            </a:solidFill>
            <a:prstDash val="solid"/>
          </a:ln>
        </p:spPr>
      </p:sp>
      <p:sp>
        <p:nvSpPr>
          <p:cNvPr id="35" name="Text 33"/>
          <p:cNvSpPr txBox="1"/>
          <p:nvPr/>
        </p:nvSpPr>
        <p:spPr>
          <a:xfrm>
            <a:off x="411480" y="457200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Prove</a:t>
            </a:r>
            <a:endParaRPr lang="en-US" sz="1500" dirty="0"/>
          </a:p>
        </p:txBody>
      </p:sp>
      <p:sp>
        <p:nvSpPr>
          <p:cNvPr id="36" name="Shape 34"/>
          <p:cNvSpPr/>
          <p:nvPr/>
        </p:nvSpPr>
        <p:spPr>
          <a:xfrm>
            <a:off x="2011680" y="5166360"/>
            <a:ext cx="9765792" cy="914"/>
          </a:xfrm>
          <a:prstGeom prst="line">
            <a:avLst/>
          </a:prstGeom>
          <a:noFill/>
          <a:ln w="12700">
            <a:solidFill>
              <a:srgbClr val="D5D9E2"/>
            </a:solidFill>
            <a:prstDash val="solid"/>
          </a:ln>
        </p:spPr>
      </p:sp>
      <p:sp>
        <p:nvSpPr>
          <p:cNvPr id="37" name="Shape 35"/>
          <p:cNvSpPr/>
          <p:nvPr/>
        </p:nvSpPr>
        <p:spPr>
          <a:xfrm>
            <a:off x="2103120" y="5001768"/>
            <a:ext cx="329184" cy="329184"/>
          </a:xfrm>
          <a:prstGeom prst="diamond">
            <a:avLst/>
          </a:prstGeom>
          <a:solidFill>
            <a:srgbClr val="2E7D4F"/>
          </a:solidFill>
          <a:ln w="12700">
            <a:solidFill>
              <a:srgbClr val="FFFFFF"/>
            </a:solidFill>
            <a:prstDash val="solid"/>
          </a:ln>
        </p:spPr>
      </p:sp>
      <p:sp>
        <p:nvSpPr>
          <p:cNvPr id="38" name="Shape 36"/>
          <p:cNvSpPr/>
          <p:nvPr/>
        </p:nvSpPr>
        <p:spPr>
          <a:xfrm>
            <a:off x="2560320" y="4663440"/>
            <a:ext cx="2514600" cy="1005840"/>
          </a:xfrm>
          <a:prstGeom prst="roundRect">
            <a:avLst>
              <a:gd name="adj" fmla="val 7273"/>
            </a:avLst>
          </a:prstGeom>
          <a:solidFill>
            <a:srgbClr val="F3F4F7"/>
          </a:solidFill>
          <a:ln w="9525">
            <a:solidFill>
              <a:srgbClr val="F3F4F7"/>
            </a:solidFill>
            <a:prstDash val="solid"/>
          </a:ln>
        </p:spPr>
      </p:sp>
      <p:sp>
        <p:nvSpPr>
          <p:cNvPr id="39" name="Text 37"/>
          <p:cNvSpPr txBox="1"/>
          <p:nvPr/>
        </p:nvSpPr>
        <p:spPr>
          <a:xfrm>
            <a:off x="2670048" y="46634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Pick a pilot onboarding</a:t>
            </a:r>
            <a:endParaRPr lang="en-US" sz="1200" dirty="0"/>
          </a:p>
        </p:txBody>
      </p:sp>
      <p:sp>
        <p:nvSpPr>
          <p:cNvPr id="40" name="Shape 38"/>
          <p:cNvSpPr/>
          <p:nvPr/>
        </p:nvSpPr>
        <p:spPr>
          <a:xfrm>
            <a:off x="5358384" y="5001768"/>
            <a:ext cx="329184" cy="329184"/>
          </a:xfrm>
          <a:prstGeom prst="diamond">
            <a:avLst/>
          </a:prstGeom>
          <a:solidFill>
            <a:srgbClr val="2E7D4F"/>
          </a:solidFill>
          <a:ln w="12700">
            <a:solidFill>
              <a:srgbClr val="FFFFFF"/>
            </a:solidFill>
            <a:prstDash val="solid"/>
          </a:ln>
        </p:spPr>
      </p:sp>
      <p:sp>
        <p:nvSpPr>
          <p:cNvPr id="41" name="Shape 39"/>
          <p:cNvSpPr/>
          <p:nvPr/>
        </p:nvSpPr>
        <p:spPr>
          <a:xfrm>
            <a:off x="5815584" y="4663440"/>
            <a:ext cx="2514600" cy="1005840"/>
          </a:xfrm>
          <a:prstGeom prst="roundRect">
            <a:avLst>
              <a:gd name="adj" fmla="val 7273"/>
            </a:avLst>
          </a:prstGeom>
          <a:solidFill>
            <a:srgbClr val="F3F4F7"/>
          </a:solidFill>
          <a:ln w="9525">
            <a:solidFill>
              <a:srgbClr val="F3F4F7"/>
            </a:solidFill>
            <a:prstDash val="solid"/>
          </a:ln>
        </p:spPr>
      </p:sp>
      <p:sp>
        <p:nvSpPr>
          <p:cNvPr id="42" name="Text 40"/>
          <p:cNvSpPr txBox="1"/>
          <p:nvPr/>
        </p:nvSpPr>
        <p:spPr>
          <a:xfrm>
            <a:off x="5925312" y="46634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Run pilot through Stage 8 workstreams</a:t>
            </a:r>
            <a:endParaRPr lang="en-US" sz="1200" dirty="0"/>
          </a:p>
        </p:txBody>
      </p:sp>
      <p:sp>
        <p:nvSpPr>
          <p:cNvPr id="43" name="Shape 41"/>
          <p:cNvSpPr/>
          <p:nvPr/>
        </p:nvSpPr>
        <p:spPr>
          <a:xfrm>
            <a:off x="8613648" y="5001768"/>
            <a:ext cx="329184" cy="329184"/>
          </a:xfrm>
          <a:prstGeom prst="diamond">
            <a:avLst/>
          </a:prstGeom>
          <a:solidFill>
            <a:srgbClr val="2E7D4F"/>
          </a:solidFill>
          <a:ln w="12700">
            <a:solidFill>
              <a:srgbClr val="FFFFFF"/>
            </a:solidFill>
            <a:prstDash val="solid"/>
          </a:ln>
        </p:spPr>
      </p:sp>
      <p:sp>
        <p:nvSpPr>
          <p:cNvPr id="44" name="Shape 42"/>
          <p:cNvSpPr/>
          <p:nvPr/>
        </p:nvSpPr>
        <p:spPr>
          <a:xfrm>
            <a:off x="9070848" y="4663440"/>
            <a:ext cx="2514600" cy="1005840"/>
          </a:xfrm>
          <a:prstGeom prst="roundRect">
            <a:avLst>
              <a:gd name="adj" fmla="val 7273"/>
            </a:avLst>
          </a:prstGeom>
          <a:solidFill>
            <a:srgbClr val="F3F4F7"/>
          </a:solidFill>
          <a:ln w="9525">
            <a:solidFill>
              <a:srgbClr val="F3F4F7"/>
            </a:solidFill>
            <a:prstDash val="solid"/>
          </a:ln>
        </p:spPr>
      </p:sp>
      <p:sp>
        <p:nvSpPr>
          <p:cNvPr id="45" name="Text 43"/>
          <p:cNvSpPr txBox="1"/>
          <p:nvPr/>
        </p:nvSpPr>
        <p:spPr>
          <a:xfrm>
            <a:off x="9180576" y="4663440"/>
            <a:ext cx="2331720" cy="1005840"/>
          </a:xfrm>
          <a:prstGeom prst="rect">
            <a:avLst/>
          </a:prstGeom>
          <a:noFill/>
          <a:ln/>
        </p:spPr>
        <p:txBody>
          <a:bodyPr wrap="square" lIns="0" tIns="0" rIns="0" bIns="0" rtlCol="0" anchor="ctr"/>
          <a:lstStyle/>
          <a:p>
            <a:pPr indent="0" marL="0">
              <a:buNone/>
            </a:pPr>
            <a:r>
              <a:rPr lang="en-US" sz="1200" dirty="0">
                <a:solidFill>
                  <a:srgbClr val="1B2238"/>
                </a:solidFill>
                <a:latin typeface="Calibri" pitchFamily="34" charset="0"/>
                <a:ea typeface="Calibri" pitchFamily="34" charset="-122"/>
                <a:cs typeface="Calibri" pitchFamily="34" charset="-120"/>
              </a:rPr>
              <a:t>Report against baseline; Wave 2 proposal</a:t>
            </a:r>
            <a:endParaRPr lang="en-US" sz="1200" dirty="0"/>
          </a:p>
        </p:txBody>
      </p:sp>
      <p:sp>
        <p:nvSpPr>
          <p:cNvPr id="46" name="Text 44"/>
          <p:cNvSpPr txBox="1"/>
          <p:nvPr/>
        </p:nvSpPr>
        <p:spPr>
          <a:xfrm>
            <a:off x="411480" y="6035040"/>
            <a:ext cx="11338560" cy="320040"/>
          </a:xfrm>
          <a:prstGeom prst="rect">
            <a:avLst/>
          </a:prstGeom>
          <a:noFill/>
          <a:ln/>
        </p:spPr>
        <p:txBody>
          <a:bodyPr wrap="square" lIns="0" tIns="0" rIns="0" bIns="0" rtlCol="0" anchor="t"/>
          <a:lstStyle/>
          <a:p>
            <a:pPr indent="0" marL="0">
              <a:buNone/>
            </a:pPr>
            <a:r>
              <a:rPr lang="en-US" sz="1100" i="1" dirty="0">
                <a:solidFill>
                  <a:srgbClr val="5A6275"/>
                </a:solidFill>
                <a:latin typeface="Calibri" pitchFamily="34" charset="0"/>
                <a:ea typeface="Calibri" pitchFamily="34" charset="-122"/>
                <a:cs typeface="Calibri" pitchFamily="34" charset="-120"/>
              </a:rPr>
              <a:t>Proposed plan; owners and exact scope confirmed once the slide 49 decisions are taken.</a:t>
            </a:r>
            <a:endParaRPr lang="en-US" sz="11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B2238"/>
        </a:solidFill>
      </p:bgPr>
    </p:bg>
    <p:spTree>
      <p:nvGrpSpPr>
        <p:cNvPr id="1" name=""/>
        <p:cNvGrpSpPr/>
        <p:nvPr/>
      </p:nvGrpSpPr>
      <p:grpSpPr>
        <a:xfrm>
          <a:off x="0" y="0"/>
          <a:ext cx="0" cy="0"/>
          <a:chOff x="0" y="0"/>
          <a:chExt cx="0" cy="0"/>
        </a:xfrm>
      </p:grpSpPr>
      <p:sp>
        <p:nvSpPr>
          <p:cNvPr id="2" name="Text 0"/>
          <p:cNvSpPr txBox="1"/>
          <p:nvPr/>
        </p:nvSpPr>
        <p:spPr>
          <a:xfrm>
            <a:off x="640080" y="2377440"/>
            <a:ext cx="7315200" cy="365760"/>
          </a:xfrm>
          <a:prstGeom prst="rect">
            <a:avLst/>
          </a:prstGeom>
          <a:noFill/>
          <a:ln/>
        </p:spPr>
        <p:txBody>
          <a:bodyPr wrap="square" lIns="0" tIns="0" rIns="0" bIns="0" rtlCol="0" anchor="t"/>
          <a:lstStyle/>
          <a:p>
            <a:pPr indent="0" marL="0">
              <a:buNone/>
            </a:pPr>
            <a:r>
              <a:rPr lang="en-US" sz="1400" b="1" spc="300" kern="0" dirty="0">
                <a:solidFill>
                  <a:srgbClr val="AFC3E8"/>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640080" y="2743200"/>
            <a:ext cx="914400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Reference material</a:t>
            </a:r>
            <a:endParaRPr lang="en-US" sz="3600" dirty="0"/>
          </a:p>
        </p:txBody>
      </p:sp>
      <p:sp>
        <p:nvSpPr>
          <p:cNvPr id="4" name="Text 2"/>
          <p:cNvSpPr txBox="1"/>
          <p:nvPr/>
        </p:nvSpPr>
        <p:spPr>
          <a:xfrm>
            <a:off x="640080" y="3611880"/>
            <a:ext cx="10058400" cy="457200"/>
          </a:xfrm>
          <a:prstGeom prst="rect">
            <a:avLst/>
          </a:prstGeom>
          <a:noFill/>
          <a:ln/>
        </p:spPr>
        <p:txBody>
          <a:bodyPr wrap="square" lIns="0" tIns="0" rIns="0" bIns="0" rtlCol="0" anchor="t"/>
          <a:lstStyle/>
          <a:p>
            <a:pPr indent="0" marL="0">
              <a:buNone/>
            </a:pPr>
            <a:r>
              <a:rPr lang="en-US" sz="1600" dirty="0">
                <a:solidFill>
                  <a:srgbClr val="D7DCEA"/>
                </a:solidFill>
                <a:latin typeface="Calibri" pitchFamily="34" charset="0"/>
                <a:ea typeface="Calibri" pitchFamily="34" charset="-122"/>
                <a:cs typeface="Calibri" pitchFamily="34" charset="-120"/>
              </a:rPr>
              <a:t>A1 Glossary  ·  A2 Skills catalogue by domain  ·  A3 Enabler user journey</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Glossary</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A6275"/>
                </a:solidFill>
                <a:latin typeface="Calibri" pitchFamily="34" charset="0"/>
                <a:ea typeface="Calibri" pitchFamily="34" charset="-122"/>
                <a:cs typeface="Calibri" pitchFamily="34" charset="-120"/>
              </a:rPr>
              <a:t>Appendix A1</a:t>
            </a:r>
            <a:endParaRPr lang="en-US" sz="1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5577840" cy="914400"/>
        </p:xfrm>
        <a:graphic>
          <a:graphicData uri="http://schemas.openxmlformats.org/drawingml/2006/table">
            <a:tbl>
              <a:tblPr/>
              <a:tblGrid>
                <a:gridCol w="1554480"/>
                <a:gridCol w="402336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ATL / ATL+ / BTL / TBD</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Commitment indicators: above the line, above with extra confidence or scope, below the line, to be determined</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BAU</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Business as usual; also steady-state volume vs migration and peak</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DOR</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Definition of Ready workbook completed at Stage 1</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ECM / CMP</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Enterprise content management / content management platform services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HITL</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Human in the loop, invoked where AI classification cannot confirm</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iDocs / iDocs Canvas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AI classification engine / document intelligence platform on Tachyon SDK</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ICMP</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Enterprise repository for archival, retention, search and retrieval</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Imaging Governance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Decides trusted vs untrusted by viewing documents on the flow; allocates category, type, subtype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IRM</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Iron Mountain human-in-the-loop validation and classification service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graphicFrame>
        <p:nvGraphicFramePr>
          <p:cNvPr id="105" name="Table 1"/>
          <p:cNvGraphicFramePr>
            <a:graphicFrameLocks noGrp="1"/>
          </p:cNvGraphicFramePr>
          <p:nvPr>
            <p:extLst>
              <p:ext uri="{D42A27DB-BD31-4B8C-83A1-F6EECF244321}">
                <p14:modId xmlns:p14="http://schemas.microsoft.com/office/powerpoint/2010/main" val="1579011935"/>
              </p:ext>
            </p:extLst>
          </p:nvPr>
        </p:nvGraphicFramePr>
        <p:xfrm>
          <a:off x="6199632" y="1188720"/>
          <a:ext cx="5577840" cy="914400"/>
        </p:xfrm>
        <a:graphic>
          <a:graphicData uri="http://schemas.openxmlformats.org/drawingml/2006/table">
            <a:tbl>
              <a:tblPr/>
              <a:tblGrid>
                <a:gridCol w="1554480"/>
                <a:gridCol w="402336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1B2238"/>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KEES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Kafka Enablement Engagement Services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MCP</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Model Context Protocol, used for P3 direct integration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P1 / P2 / P3</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Integration phases: link, read and guide, direct integration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PAA</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Publicly Accessible Application zone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RCC</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Organisational mapping applied with legal entity and security keys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RM</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Records Management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SPLI</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System Performance Load Ingestion Testing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TS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Technical specification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3F4F7"/>
                    </a:solidFill>
                  </a:tcPr>
                </a:tc>
              </a:tr>
              <a:tr h="0">
                <a:tc>
                  <a:txBody>
                    <a:bodyPr/>
                    <a:lstStyle/>
                    <a:p>
                      <a:pPr indent="0" marL="0">
                        <a:buNone/>
                      </a:pPr>
                      <a:r>
                        <a:rPr lang="en-US" sz="1050" b="1" dirty="0">
                          <a:solidFill>
                            <a:srgbClr val="1B2238"/>
                          </a:solidFill>
                          <a:latin typeface="Calibri" pitchFamily="34" charset="0"/>
                          <a:ea typeface="Calibri" pitchFamily="34" charset="-122"/>
                          <a:cs typeface="Calibri" pitchFamily="34" charset="-120"/>
                        </a:rPr>
                        <a:t>WORM</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Write once, read many regulated storage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A — Intake and Definition of Ready (13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ID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name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DOR Workbook Walkthrough</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Guides a requestor section by section through the Definition of Ready workbook, explaining what each field is used for downstream.</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Business Objective Elicitation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Draws out and structures the business objective in terms a product team can evaluate, rather than a feature request.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Document Profile Capture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Captures document types, sizes and traits, and explains how each affects later profile and classification design.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SK-IN-13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Sample Availability Check</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Establishes whether representative document samples exist for each document path, and flags that Imaging Governance requires documents viewed on the flow rather than described.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SK-IN-04</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Volume Profile Capture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Captures migration, business-as-usual and peak volumes separately, and flags where estimates are missing.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SK-IN-05</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Trusted vs Untrusted Pre-Assessment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Returns an indicative trusted or untrusted position from the described document sources, explicitly flagged as provisional pending the Imaging Governance determination. Never presented as the determination itself.</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SK-IN-06</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Retention Requirement Capture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Captures retention obligations, regulatory drivers, retention period and legal hold requirements.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SK-IN-07</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Dependency &amp; Downstream Impact Capture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Identifies dependent systems, programmes, regulatory deadlines and downstream consumers.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SK-IN-08</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Capability Requirement Mapping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Maps stated business needs to the specific platform capabilities required — archival, retention, search, retrieval, viewing, notification.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SK-IN-09</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Intake Completeness Pre-Check</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Runs the intake against the minimum criteria before submission and returns a gap list, so incomplete packages never enter the queue.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SK-IN-10</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Intake Ticket Creation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Creates the intake record against the fixed intake project, in the required format.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SK-IN-11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Partner System Agreement Primer</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Explains the agreement, what the partner is committing to, and what evidence of sign-off is required.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SK-IN-12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Onboarding Journey Explainer</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Explains the nine stages, what happens at each, and what the partner will be asked to do and when.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B — Intake Verification and Triage (11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Intake Completeness Validation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Validates a submitted intake against the minimum criteria and returns a pass or a structured gap list.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Missing-Detail Gap Report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Produces the clarification request to send to the requestor, itemised and prioritised.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Triage Label State Transition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Applies the correct label transition for the requested state change, removing superseded labels rather than adding alongside them.</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Area Label Derivation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Derives the applicable area labels from the intake content and returns them with the reasoning for each.</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Impact Tag Derivation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Derives impact tags — image capture, document generation, print-and-mail data flow, downstream reporting, AI classification, impacted components — from the requirements.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Triage Completion Field Set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Performs the full completion sequence — label removal, label addition, area labels, completion date — as one atomic action rather than four manual edits.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Follow-Up Loop Registration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Registers the awaiting-details state with the follow-up tags, the responsible party and the note explaining what is needed and by when.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Follow-Up Nudge &amp; Ageing Report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Tracks intakes in the awaiting-details state, ages them, and prompts before the follow-up date passes.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SK-TR-09</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SME &amp; Participant Identification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Derives from the intake content which product owners, architects and specialist SMEs must attend discovery.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SK-TR-10</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Triage Readiness Brief</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a pre-read brief for the discovery session from the intake, so participants arrive informed.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SK-TR-11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Triage Audit Trail</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Records who changed which label, when, and why, producing a defensible history of the triage decision.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C — Prioritisation and Planning (10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LOB Priority Evidence Pack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value, regulatory, risk and alignment evidence a sponsor needs to rank the demand.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Regulatory Driver Summary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Summarises the compliance obligations the onboarding satisfies and the consequence of not doing it.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Operational Risk Framing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Frames the risk of the current state alongside the risk of the change.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Product Epic Draft Generation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Drafts the product epic from the triage outcome, in the required structure.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Feature Decomposition by Workstream</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Decomposes the epic into features aligned to the delivery workstreams, so each specialist team can commit independently.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User Story Generation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Generates stories and work items beneath each feature, sized for estimation.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Hierarchy Linkage Validation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Validates that every feature is linked to the epic, every story to a feature, and every feature has an owner.</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Big Room Planning Pack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scope walkthrough, dependency map and open queries for the planning session.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SK-PL-09</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Commitment Indicator Explainer</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Explains the commitment indicators, what each implies for the partner, and what would move a position.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SK-PL-10</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Cross-Team Dependency Map</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Identifies which specialist teams must commit in the same increment for the onboarding to proceed.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D — Volume, Capacity and Load Testing (10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Volume Assessment Execution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Runs the volume assessment through the volume assessment service and returns the profile.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Volume Class Modelling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Models migration, business-as-usual and peak separately, and highlights where migration creates a one-time peak that sizing must absorb.</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Capacity Planning Request Assembly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capacity planning request from the volume profile and the design.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Delivery Team Resolution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Resolves the allocated delivery team and its project key from the intake record. Never guesses, and fails explicitly if unresolvable.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Capacity Planning Ticket Creation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Creates the capacity planning ticket against the resolved delivery team's own project, not the intake project.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Load Testing Applicability Determination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Applies the volume thresholds to determine whether load testing is required, and returns the determination with its basis.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Load Testing Engagement Request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Raises the load-testing engagement and its ticket against the resolved delivery team's project.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Load Testing Approval Tracking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Tracks the load-testing approval status and surfaces it as a gate on environment progression.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SK-CP-09</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Ingestion Sizing Guidance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Advises on the event ingestion approach given the volume profile.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SK-CP-10</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Scalability Validation Checklist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Checks the design against stated future growth expectations.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E — Foundational Setup, Access and Security (13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ID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name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Application Identity Lookup &amp; Registration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Looks up or registers the application identity, and links every downstream request to it.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Certificate Request Guidance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Guides the certificate request through the certificate management system, with the correct attributes for the environment.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Certificate Lifecycle Advisory</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Advises on renewal windows and the consequence of expiry in each environment.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SK-FS-04</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Service Account Creation Request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Raises service account creation through the access request tooling. Applies in both environments regardless of environment.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SK-FS-05</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Service Account Group Membership Request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Raises group membership for service accounts through the access request tooling, in both environments.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SK-FS-06</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Human User Access Routing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Applies the routing rule for human user access — access request tooling for one domain, identity management for the other — and raises the request on the correct path.</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SK-FS-07</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Access Route Determination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Given a request type and target, returns the correct routing path with the rule that produced it. Invoked by every access-related skill.</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SK-FS-08</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Environment Account Mapping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Returns which service account applies to which environment, and flags the internal-only environment as out of scope for partners.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SK-FS-09</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Firewall Connectivity Request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Assembles and raises the connectivity request from the partner zone to platform services.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SK-FS-10</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System Security Analysis Checklist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Walks the system security analysis and tracks its completion.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SK-FS-11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User Security Analysis Checklist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Walks the user security analysis and tracks its completion.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SK-FS-12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Access Request Status Tracking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Tracks all outstanding access, certificate and connectivity requests in one view with ageing.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SK-FS-13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Partner System Agreement Assembly</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Assembles the agreement, captures sign-off evidence and files it against the onboarding record.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F — Gateway and Event Enablement (13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ID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name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Marketplace Onboarding Walkthrough</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Guides the partner application through gateway marketplace onboarding.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API Product Discovery</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Identifies which platform API products the partner needs given their capability requirements.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Application Registration &amp; Subscription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Registers the partner application and subscribes it to the identified API products.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SK-AK-04</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Subscription Approval Tracking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Tracks subscription approval status and surfaces blockers.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SK-AK-05</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Gateway Onboarding Tracker Maintenance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Keeps the gateway onboarding tracker current as subscriptions and approvals progress.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SK-AK-06</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Postman Collection Generation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Generates a partner-specific API collection with the correct endpoints, authentication and sample payloads.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SK-AK-07</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KEES Engagement Initiation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Initiates the Kafka enablement engagement and explains its approval path and lead time.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SK-AK-08</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Topic &amp; Consumer Group Design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Designs the consumer group configuration against the partner's reconciliation requirements.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SK-AK-09</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Consumer Group Provisioning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Raises the consumer group creation request on the relevant topic.</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SK-AK-10</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Ingestion Notification Configuration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Configures request-level and document-level notification delivery.</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SK-AK-11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Reconciliation Pattern Guidance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Advises on the reconciliation design covering both successful and failed archival scenarios.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SK-AK-12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Retry &amp; Exception Handling Design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Advises on retry policy, dead-letter handling and exception routing.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SK-AK-13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Event Onboarding Tracker Maintenance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Keeps the event onboarding tracker current.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G — Content Processing and Classification (16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ID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Skill name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Untrusted Profile Design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Designs the platform profile applied to documents arriving on the untrusted path.</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Trusted Profile Design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Designs the platform profile applied to system-generated content.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Virus Scanning Onboarding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Onboards untrusted content to the scanning service and confirms coverage.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SK-CN-04</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Classification Engagement Initiation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Initiates the AI classification engagement and sets out what the classification team needs from the partner.</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SK-CN-05</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Document Sample Collection Guidance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Specifies how many samples of which types are needed, and validates what the partner supplies.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SK-CN-06</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Classification Profile Development Support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Supports development of the classification profile against the collected samples.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SK-CN-07</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Human-in-the-Loop Engagement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Initiates the human validation engagement and explains when it is invoked.</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SK-CN-08</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Pre-Capture Profile Design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Designs the pre-capture profile governing what happens before human review.</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SK-CN-09</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Post-Capture Profile Design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Designs the post-capture profile governing what happens after human review.</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SK-CN-10</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Classification Path Explainer</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Explains which documents take which path and why trusted content bypasses classification.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SK-CN-11</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Profile Configuration Validation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Validates that the trusted and untrusted profile configurations are complete and mutually consistent.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SK-CN-12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Imaging Governance Submission Pack</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Assembles what the governance team needs to make the determination — the document paths, representative samples, how the documents appear on the flow, and the source and generation method for each type.</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SK-CN-13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Governance Determination Tracking</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Tracks the determination request through to decision, ages it, and surfaces it as a gate on content-processing design and on stage advancement.</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SK-CN-14</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Document Classification Registration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Records the document category, type and subtype allocated by Imaging Governance against the onboarding record, so downstream profile, retention and search configuration key to the allocated values rather than to assumptions.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SK-CN-15</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Classification Taxonomy Lookup</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Returns the existing category, type and subtype taxonomy so the partner and the onboarding resource can describe their content in the terms governance uses.</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000" b="1" dirty="0">
                          <a:solidFill>
                            <a:srgbClr val="1B2238"/>
                          </a:solidFill>
                          <a:latin typeface="Calibri" pitchFamily="34" charset="0"/>
                          <a:ea typeface="Calibri" pitchFamily="34" charset="-122"/>
                          <a:cs typeface="Calibri" pitchFamily="34" charset="-120"/>
                        </a:rPr>
                        <a:t>SK-CN-16</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New Document Type Re-Review Trigger</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000" dirty="0">
                          <a:solidFill>
                            <a:srgbClr val="1B2238"/>
                          </a:solidFill>
                          <a:latin typeface="Calibri" pitchFamily="34" charset="0"/>
                          <a:ea typeface="Calibri" pitchFamily="34" charset="-122"/>
                          <a:cs typeface="Calibri" pitchFamily="34" charset="-120"/>
                        </a:rPr>
                        <a:t>Detects a document type introduced after the original determination and routes it back to Imaging Governance rather than allowing it to inherit an existing classification.</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000" dirty="0">
                          <a:solidFill>
                            <a:srgbClr val="5B3FA0"/>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H — Records Management and Retention (8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Retention Requirement Gathering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Structures the retention conversation with the accountable business owner.</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RM Questionnaire Drafting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Drafts the records management onboarding questionnaire from the captured requirements.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RM Review &amp; Approval Tracking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Tracks the questionnaire through review and approval, surfacing it as a gate.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Retention Code Advisory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Advises on the applicable retention code and period for the document classes in scope.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Retention Schedule Configuration Handoff</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Prepares the implementation handoff to the records management team.</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Regulatory Storage Compliance Check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Checks whether regulated write-once storage applies and what it requires.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Legal Hold &amp; Governance Support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Confirms legal hold, audit and governance requirements are addressed in the configuration.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SK-RM-08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Destruction Policy Advisory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Advises on destruction policy configuration alongside retention.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I — Metadata, Repository and Retrieval (10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Metadata Discovery Facilitation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Structures and facilitates the metadata discovery workshop with business users.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Search Filter Definition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Defines search filters against the stated retrieval and audit requirements.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Security Key &amp; Entity Mapping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Identifies security keys, legal entity mappings and organisational mappings.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Repository Onboarding Support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Supports repository onboarding and metadata mapping.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Search API Enablement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Enables and validates search API access for the partner.</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View API Enablement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Enables and validates view API access.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Viewer Integration Advisory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Advises on viewer integration options and configuration.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Business &amp; Audit Access Provisioning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Provisions access for business users, auditors and operational teams.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SK-MD-09</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UI Demonstration Pack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demonstration content for the partner and business users.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SK-MD-10</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User Manual Generation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Generates the partner-specific user manual from the configured capabilities.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J — Testing, Defects and Environment Progression (12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Unit Test Scope Advisory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Advises on unit test coverage for the configured components.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Integration Test Plan Assembly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integration test plan across partner system, gateway, platform, event framework, scanning and classification.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Reconciliation Test Design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Designs end-to-end reconciliation tests covering both success and failure paths.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UAT Plan &amp; Sign-Off Tracking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UAT plan against the objectives stated at intake and tracks sign-off.</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Load Test Execution Support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Supports load test execution and interprets the results against the volume profile.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Defect Triage &amp; Routing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Classifies a raised defect and routes it to the correct team with the context needed to act.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Configuration Conflict Detection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Detects incompatible assumptions between independently configured systems before integration testing surfaces them.</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Production Readiness Validation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Runs the production readiness checklist and reports gaps.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SK-TE-09</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Environment Gate Check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Checks all gates for the requested environment promotion and blocks where a gate is unmet.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SK-TE-10</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Promotion Ladder Enforcement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Enforces the fixed ladder and refuses skip requests, explaining what the skipped environment validates.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SK-TE-11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Delivery Team Allocation Check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Checks whether a delivery team is allocated and applies the first-environment-only constraint where it is not.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SK-TE-12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Environment Account Validation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Validates that the correct environment service account is in use before promotion.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K — Release Readiness and Handover (10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Release Transition Page Generation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Generates the transition page from the onboarding record, populating the group-specific application information for each support team.</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Release Transition Completeness Check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Checks the transition page against what each support team needs and reports gaps.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Production Support Readiness Checklist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Walks the readiness checklist with the support organisation.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Sign-Off Tracking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Tracks technical, business and go-live sign-offs and surfaces outstanding approvals.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Deployment Validation Call Brief</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brief for the validation call — what was deployed, what to check, what failure looks like.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Release-Night Runbook Assembly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runbook for release night from the configuration record.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Technical Design Documentation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Generates technical design documentation and technology notes from the onboarding record.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Operational Runbook Generation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Generates the operational runbook for business-as-usual support.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SK-RL-09</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Platform Support Handover Pack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Assembles the complete handover pack and confirms acceptance.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SK-RL-10</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Post-Go-Live Validation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Runs post-deployment validation and confirms the solution operates as expected.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Domain L — Cross-Cutting (12 skills)</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A2 · Skills catalogue</a:t>
            </a:r>
            <a:endParaRPr lang="en-US" sz="1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097280"/>
                <a:gridCol w="2651760"/>
                <a:gridCol w="6885432"/>
                <a:gridCol w="7315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ID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Skill name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Onboarding Status View</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Returns the current state of an onboarding across all nine stages, with outstanding items and their owners.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Stage Gate Readiness Check</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Checks whether the exit criteria for the current stage are met before allowing advancement.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Ticket Routing Guard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Resolves the correct project for any ticket type and refuses to create one where the project cannot be resolved from the intake.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SK-XC-04</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Determination Carry-Forward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Retrieves upstream determinations — trusted/untrusted, volume profile, retention position, team allocation — so downstream skills act on confirmed facts rather than assumptions.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SK-XC-05</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Runtime Integration Disclosure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Emits the current integration phase and what the next phase adds, at the start of every agent and skill interaction.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SK-XC-06</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Stakeholder Notification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Notifies the accountable party when an item is raised, blocked, approved or overdue.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SK-XC-07</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Artefact Index</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Maintains the index of onboarding artefacts — agreement, questionnaire, trackers, transition page, sign-offs — with status and location.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SK-XC-08</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Audit Trail Capture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Records every action taken by an agent, the rule that authorised it and the human who approved it.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SK-XC-09</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Knowledge Base Citation</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Resolves and cites the authoritative source page for any procedure the agent describes.</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7F5FC"/>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SK-XC-10</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Escalation Path Advisory</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Returns the escalation path for a blocked item, by item type and by ageing.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SK-XC-11</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Ageing &amp; Bottleneck Report</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Reports stage dwell time across active onboardings and identifies where they are accumulating.</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r h="0">
                <a:tc>
                  <a:txBody>
                    <a:bodyPr/>
                    <a:lstStyle/>
                    <a:p>
                      <a:pPr algn="l" indent="0" marL="0">
                        <a:buNone/>
                      </a:pPr>
                      <a:r>
                        <a:rPr lang="en-US" sz="1100" b="1" dirty="0">
                          <a:solidFill>
                            <a:srgbClr val="1B2238"/>
                          </a:solidFill>
                          <a:latin typeface="Calibri" pitchFamily="34" charset="0"/>
                          <a:ea typeface="Calibri" pitchFamily="34" charset="-122"/>
                          <a:cs typeface="Calibri" pitchFamily="34" charset="-120"/>
                        </a:rPr>
                        <a:t>SK-XC-12</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Onboarding Pattern Reuse</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l" indent="0" marL="0">
                        <a:buNone/>
                      </a:pPr>
                      <a:r>
                        <a:rPr lang="en-US" sz="1100" dirty="0">
                          <a:solidFill>
                            <a:srgbClr val="1B2238"/>
                          </a:solidFill>
                          <a:latin typeface="Calibri" pitchFamily="34" charset="0"/>
                          <a:ea typeface="Calibri" pitchFamily="34" charset="-122"/>
                          <a:cs typeface="Calibri" pitchFamily="34" charset="-120"/>
                        </a:rPr>
                        <a:t>Surfaces prior onboardings with a comparable profile and what was decided, so precedent is reused rather than re-derived.</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c>
                  <a:txBody>
                    <a:bodyPr/>
                    <a:lstStyle/>
                    <a:p>
                      <a:pPr algn="ctr" indent="0" marL="0">
                        <a:buNone/>
                      </a:pPr>
                      <a:r>
                        <a:rPr lang="en-US" sz="1100" dirty="0">
                          <a:solidFill>
                            <a:srgbClr val="5B3FA0"/>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1EDF9"/>
                    </a:solidFill>
                  </a:tcPr>
                </a:tc>
              </a:tr>
            </a:tbl>
          </a:graphicData>
        </a:graphic>
      </p:graphicFrame>
      <p:sp>
        <p:nvSpPr>
          <p:cNvPr id="5" name="Text 2"/>
          <p:cNvSpPr txBox="1"/>
          <p:nvPr/>
        </p:nvSpPr>
        <p:spPr>
          <a:xfrm>
            <a:off x="411480" y="6172200"/>
            <a:ext cx="7315200" cy="274320"/>
          </a:xfrm>
          <a:prstGeom prst="rect">
            <a:avLst/>
          </a:prstGeom>
          <a:noFill/>
          <a:ln/>
        </p:spPr>
        <p:txBody>
          <a:bodyPr wrap="square" lIns="0" tIns="0" rIns="0" bIns="0" rtlCol="0" anchor="t"/>
          <a:lstStyle/>
          <a:p>
            <a:pPr indent="0" marL="0">
              <a:buNone/>
            </a:pPr>
            <a:r>
              <a:rPr lang="en-US" sz="1000" dirty="0">
                <a:solidFill>
                  <a:srgbClr val="5A6275"/>
                </a:solidFill>
                <a:latin typeface="Calibri" pitchFamily="34" charset="0"/>
                <a:ea typeface="Calibri" pitchFamily="34" charset="-122"/>
                <a:cs typeface="Calibri" pitchFamily="34" charset="-120"/>
              </a:rPr>
              <a:t>P1 Link · P2 Read and guide · P3 Direct integration (shaded)</a:t>
            </a:r>
            <a:endParaRPr lang="en-US" sz="1000" dirty="0"/>
          </a:p>
        </p:txBody>
      </p:sp>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Enabler user journey: skills by lifecycle point · 1/4</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A3 · Partner Onboarding Resource</a:t>
            </a:r>
            <a:endParaRPr lang="en-US" sz="10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2377440"/>
                <a:gridCol w="3108960"/>
                <a:gridCol w="58795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Lifecycle point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Journey step</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Skills invoked</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indent="0" marL="0">
                        <a:buNone/>
                      </a:pPr>
                      <a:r>
                        <a:rPr lang="en-US" sz="1050" b="1" dirty="0">
                          <a:solidFill>
                            <a:srgbClr val="5B3FA0"/>
                          </a:solidFill>
                          <a:latin typeface="Calibri" pitchFamily="34" charset="0"/>
                          <a:ea typeface="Calibri" pitchFamily="34" charset="-122"/>
                          <a:cs typeface="Calibri" pitchFamily="34" charset="-120"/>
                        </a:rPr>
                        <a:t>Entry — establishing context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Resume an onboarding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SK-XC-01 Onboarding Status View; SK-XC-04 Determination Carry-Forward</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Understand what is integrated</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SK-XC-05 Runtime Integration Disclosure</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See what is blocked or ageing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SK-XC-11 Ageing &amp; Bottleneck Report; SK-XC-10 Escalation Path Advisory</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Find precedent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SK-XC-12 Onboarding Pattern Reuse</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5B3FA0"/>
                          </a:solidFill>
                          <a:latin typeface="Calibri" pitchFamily="34" charset="0"/>
                          <a:ea typeface="Calibri" pitchFamily="34" charset="-122"/>
                          <a:cs typeface="Calibri" pitchFamily="34" charset="-120"/>
                        </a:rPr>
                        <a:t>Front of the flow — stages 1 to 4</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Set partner expectations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SK-IN-12 Onboarding Journey Explainer; SK-IN-11 Partner System Agreement Primer</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Help the partner produce a complete package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SK-IN-01 through SK-IN-09</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Support triage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SK-TR-04 Area Label Derivation; SK-TR-05 Impact Tag Derivation; SK-TR-10 Triage Readiness Brief</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Refine the volume picture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SK-CP-01 Volume Assessment Execution; SK-CP-02 Volume Class Modelling</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Prepare the governance determination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SK-IN-13 Sample Availability Check; SK-CN-15 Classification Taxonomy Lookup; SK-CN-12 Imaging Governance Submission Pack</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Track the determination to a decision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SK-CN-13 Governance Determination Tracking; SK-CN-14 Document Classification Registration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Confirm content and retention position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SK-IN-05 Trusted vs Untrusted Pre-Assessment; SK-RM-01 Retention Requirement Gathering; SK-RM-06 Regulatory Storage Compliance Check</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Enabler user journey: skills by lifecycle point · 2/4</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A3 · Partner Onboarding Resource</a:t>
            </a:r>
            <a:endParaRPr lang="en-US" sz="1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2377440"/>
                <a:gridCol w="3108960"/>
                <a:gridCol w="58795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Lifecycle point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Journey step</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Skills invoked</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indent="0" marL="0">
                        <a:buNone/>
                      </a:pPr>
                      <a:r>
                        <a:rPr lang="en-US" sz="1050" b="1" dirty="0">
                          <a:solidFill>
                            <a:srgbClr val="5B3FA0"/>
                          </a:solidFill>
                          <a:latin typeface="Calibri" pitchFamily="34" charset="0"/>
                          <a:ea typeface="Calibri" pitchFamily="34" charset="-122"/>
                          <a:cs typeface="Calibri" pitchFamily="34" charset="-120"/>
                        </a:rPr>
                        <a:t>Middle — stages 5 to 7</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Support epic and feature composition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SK-PL-05 Feature Decomposition; SK-PL-10 Cross-Team Dependency Map</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Prepare for planning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SK-PL-08 Big Room Planning Pack</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Drive capacity</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SK-CP-03 Capacity Planning Request Assembly; SK-CP-04 Delivery Team Resolution; SK-CP-05 Capacity Planning Ticket Creation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Determine load testing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SK-CP-06 Load Testing Applicability Determination; SK-CP-07 Load Testing Engagement Request</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5B3FA0"/>
                          </a:solidFill>
                          <a:latin typeface="Calibri" pitchFamily="34" charset="0"/>
                          <a:ea typeface="Calibri" pitchFamily="34" charset="-122"/>
                          <a:cs typeface="Calibri" pitchFamily="34" charset="-120"/>
                        </a:rPr>
                        <a:t>Delivery — stage 8, foundational and access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Establish application identity</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SK-FS-01 Application Identity Lookup &amp; Registration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Obtain certificates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SK-FS-02 Certificate Request Guidance; SK-FS-03 Certificate Lifecycle Advisory</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Provision service accounts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SK-FS-07 Access Route Determination; SK-FS-04 Service Account Creation; SK-FS-05 Group Membership Request</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Provision human access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SK-FS-07 Access Route Determination; SK-FS-06 Human User Access Routing</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Open connectivity</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SK-FS-09 Firewall Connectivity Request</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Complete security analysis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SK-FS-10 System Security Analysis; SK-FS-11 User Security Analysis</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Track everything outstanding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SK-FS-12 Access Request Status Tracking</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Complete the agreement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SK-FS-13 Partner System Agreement Assembly</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Enabler user journey: skills by lifecycle point · 3/4</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A3 · Partner Onboarding Resource</a:t>
            </a:r>
            <a:endParaRPr lang="en-US" sz="10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2377440"/>
                <a:gridCol w="3108960"/>
                <a:gridCol w="58795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Lifecycle point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Journey step</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Skills invoked</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indent="0" marL="0">
                        <a:buNone/>
                      </a:pPr>
                      <a:r>
                        <a:rPr lang="en-US" sz="1050" b="1" dirty="0">
                          <a:solidFill>
                            <a:srgbClr val="5B3FA0"/>
                          </a:solidFill>
                          <a:latin typeface="Calibri" pitchFamily="34" charset="0"/>
                          <a:ea typeface="Calibri" pitchFamily="34" charset="-122"/>
                          <a:cs typeface="Calibri" pitchFamily="34" charset="-120"/>
                        </a:rPr>
                        <a:t>Delivery — stage 8, gateway, events, content and records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Gateway onboarding and subscription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SK-AK-01 through SK-AK-05</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Enable partner testing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SK-AK-06 Postman Collection Generation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Kafka enablement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SK-AK-07 through SK-AK-13</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Configure content processing against the registered determination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SK-CN-01 through SK-CN-11; SK-XC-04 Determination Carry-Forward</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Handle new document types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SK-CN-16 New Document Type Re-Review Trigger</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Drive records management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SK-RM-01 through SK-RM-08</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Metadata and retrieval</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SK-MD-01 through SK-MD-10</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5B3FA0"/>
                          </a:solidFill>
                          <a:latin typeface="Calibri" pitchFamily="34" charset="0"/>
                          <a:ea typeface="Calibri" pitchFamily="34" charset="-122"/>
                          <a:cs typeface="Calibri" pitchFamily="34" charset="-120"/>
                        </a:rPr>
                        <a:t>Delivery — stage 8, testing and progression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Plan and sequence testing</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SK-TE-02 Integration Test Plan; SK-TE-03 Reconciliation Test Design; SK-TE-04 UAT Plan &amp; Sign-Off Tracking</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Pre-empt conflicts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SK-TE-07 Configuration Conflict Detection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Route defects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SK-TE-06 Defect Triage &amp; Routing</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Promote environments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SK-TE-09 Environment Gate Check; SK-TE-10 Promotion Ladder Enforcement; SK-TE-11 Delivery Team Allocation Check; SK-TE-12 Environment Account Validation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47472"/>
            <a:ext cx="11338560" cy="685800"/>
          </a:xfrm>
          <a:prstGeom prst="rect">
            <a:avLst/>
          </a:prstGeom>
          <a:noFill/>
          <a:ln/>
        </p:spPr>
        <p:txBody>
          <a:bodyPr wrap="square" lIns="0" tIns="0" rIns="0" bIns="0" rtlCol="0" anchor="ctr"/>
          <a:lstStyle/>
          <a:p>
            <a:pPr indent="0" marL="0">
              <a:buNone/>
            </a:pPr>
            <a:r>
              <a:rPr lang="en-US" sz="2400" b="1" dirty="0">
                <a:solidFill>
                  <a:srgbClr val="1B2238"/>
                </a:solidFill>
                <a:latin typeface="Cambria" pitchFamily="34" charset="0"/>
                <a:ea typeface="Cambria" pitchFamily="34" charset="-122"/>
                <a:cs typeface="Cambria" pitchFamily="34" charset="-120"/>
              </a:rPr>
              <a:t>Enabler user journey: skills by lifecycle point · 4/4</a:t>
            </a:r>
            <a:endParaRPr lang="en-US" sz="2400" dirty="0"/>
          </a:p>
        </p:txBody>
      </p:sp>
      <p:sp>
        <p:nvSpPr>
          <p:cNvPr id="3" name="Text 1"/>
          <p:cNvSpPr txBox="1"/>
          <p:nvPr/>
        </p:nvSpPr>
        <p:spPr>
          <a:xfrm>
            <a:off x="7223760" y="91440"/>
            <a:ext cx="4572000" cy="256032"/>
          </a:xfrm>
          <a:prstGeom prst="rect">
            <a:avLst/>
          </a:prstGeom>
          <a:noFill/>
          <a:ln/>
        </p:spPr>
        <p:txBody>
          <a:bodyPr wrap="square" lIns="0" tIns="0" rIns="0" bIns="0" rtlCol="0" anchor="ctr"/>
          <a:lstStyle/>
          <a:p>
            <a:pPr algn="r" indent="0" marL="0">
              <a:buNone/>
            </a:pPr>
            <a:r>
              <a:rPr lang="en-US" sz="1000" b="1" dirty="0">
                <a:solidFill>
                  <a:srgbClr val="5B3FA0"/>
                </a:solidFill>
                <a:latin typeface="Calibri" pitchFamily="34" charset="0"/>
                <a:ea typeface="Calibri" pitchFamily="34" charset="-122"/>
                <a:cs typeface="Calibri" pitchFamily="34" charset="-120"/>
              </a:rPr>
              <a:t>Appendix A3 · Partner Onboarding Resource</a:t>
            </a:r>
            <a:endParaRPr lang="en-US" sz="1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2377440"/>
                <a:gridCol w="3108960"/>
                <a:gridCol w="58795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Lifecycle point</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Journey step</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Skills invoked</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5B3FA0"/>
                    </a:solidFill>
                  </a:tcPr>
                </a:tc>
              </a:tr>
              <a:tr h="0">
                <a:tc>
                  <a:txBody>
                    <a:bodyPr/>
                    <a:lstStyle/>
                    <a:p>
                      <a:pPr indent="0" marL="0">
                        <a:buNone/>
                      </a:pPr>
                      <a:r>
                        <a:rPr lang="en-US" sz="1050" b="1" dirty="0">
                          <a:solidFill>
                            <a:srgbClr val="5B3FA0"/>
                          </a:solidFill>
                          <a:latin typeface="Calibri" pitchFamily="34" charset="0"/>
                          <a:ea typeface="Calibri" pitchFamily="34" charset="-122"/>
                          <a:cs typeface="Calibri" pitchFamily="34" charset="-120"/>
                        </a:rPr>
                        <a:t>Go-live — stage 9</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Produce the transition page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SK-RL-01 Release Transition Page Generation; SK-RL-02 Completeness Check</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Confirm readiness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SK-RL-03 Production Support Readiness Checklist; SK-TE-08 Production Readiness Validation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Track approvals</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SK-RL-04 Sign-Off Tracking</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Support the release</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SK-RL-05 Deployment Validation Call Brief; SK-RL-06 Release-Night Runbook Assembly</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Produce documentation</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SK-RL-07 Technical Design Documentation; SK-RL-08 Operational Runbook Generation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r h="0">
                <a:tc>
                  <a:txBody>
                    <a:bodyPr/>
                    <a:lstStyle/>
                    <a:p>
                      <a:pP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1050" dirty="0">
                          <a:solidFill>
                            <a:srgbClr val="1B2238"/>
                          </a:solidFill>
                          <a:latin typeface="Calibri" pitchFamily="34" charset="0"/>
                          <a:ea typeface="Calibri" pitchFamily="34" charset="-122"/>
                          <a:cs typeface="Calibri" pitchFamily="34" charset="-120"/>
                        </a:rPr>
                        <a:t>Hand over</a:t>
                      </a:r>
                      <a:endParaRPr lang="en-US" sz="10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c>
                  <a:txBody>
                    <a:bodyPr/>
                    <a:lstStyle/>
                    <a:p>
                      <a:pPr indent="0" marL="0">
                        <a:buNone/>
                      </a:pPr>
                      <a:r>
                        <a:rPr lang="en-US" sz="950" dirty="0">
                          <a:solidFill>
                            <a:srgbClr val="1B2238"/>
                          </a:solidFill>
                          <a:latin typeface="Calibri" pitchFamily="34" charset="0"/>
                          <a:ea typeface="Calibri" pitchFamily="34" charset="-122"/>
                          <a:cs typeface="Calibri" pitchFamily="34" charset="-120"/>
                        </a:rPr>
                        <a:t>SK-RL-09 Platform Support Handover Pack; SK-RL-10 Post-Go-Live Validation</a:t>
                      </a:r>
                      <a:endParaRPr lang="en-US" sz="950" dirty="0">
                        <a:latin typeface="Calibri" charset="0"/>
                        <a:ea typeface="Calibri" charset="0"/>
                        <a:cs typeface="Calibri" charset="0"/>
                      </a:endParaRPr>
                    </a:p>
                  </a:txBody>
                  <a:tcPr marL="63500" marR="63500" marT="38100" marB="38100" anchor="ctr">
                    <a:lnL w="6350" cap="flat" cmpd="sng" algn="ctr">
                      <a:solidFill>
                        <a:srgbClr val="D5D9E2"/>
                      </a:solidFill>
                      <a:prstDash val="solid"/>
                      <a:round/>
                      <a:headEnd type="none" w="med" len="med"/>
                      <a:tailEnd type="none" w="med" len="med"/>
                    </a:lnL>
                    <a:lnR w="6350" cap="flat" cmpd="sng" algn="ctr">
                      <a:solidFill>
                        <a:srgbClr val="D5D9E2"/>
                      </a:solidFill>
                      <a:prstDash val="solid"/>
                      <a:round/>
                      <a:headEnd type="none" w="med" len="med"/>
                      <a:tailEnd type="none" w="med" len="med"/>
                    </a:lnR>
                    <a:lnT w="6350" cap="flat" cmpd="sng" algn="ctr">
                      <a:solidFill>
                        <a:srgbClr val="D5D9E2"/>
                      </a:solidFill>
                      <a:prstDash val="solid"/>
                      <a:round/>
                      <a:headEnd type="none" w="med" len="med"/>
                      <a:tailEnd type="none" w="med" len="med"/>
                    </a:lnT>
                    <a:lnB w="6350" cap="flat" cmpd="sng" algn="ctr">
                      <a:solidFill>
                        <a:srgbClr val="D5D9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A6275"/>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Partner Onboarding Transformation</dc:title>
  <dc:subject>PptxGenJS Presentation</dc:subject>
  <dc:creator>PptxGenJS</dc:creator>
  <cp:lastModifiedBy>PptxGenJS</cp:lastModifiedBy>
  <cp:revision>1</cp:revision>
  <dcterms:created xsi:type="dcterms:W3CDTF">2026-10-01T09:19:41Z</dcterms:created>
  <dcterms:modified xsi:type="dcterms:W3CDTF">2026-10-01T09:19:41Z</dcterms:modified>
</cp:coreProperties>
</file>