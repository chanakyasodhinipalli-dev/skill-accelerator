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Establish that this is a structural problem with two distinct causes, and that neither is solved by hiring.
THE EQUATION — lead with this
Capacity required equals intake count times a fixed engineering depth. Partner demand sets the intake count and we do not control it. The depth is fixed by our own delivery model — every intake gets a dedicated team from inception to release regardless of how much of it is genuinely new. With both terms outside our control, headcount is the only lever. That is why this problem recurs every time demand grows.
CAUSE 1 — THE DATA DEFICIT
The squads' working estimate is that 30 to 40 per cent of elapsed time goes on chasing information that was never captured at intake. The six-step cycle on the left repeats many times per onboarding. Measured in effort each cycle is small — an hour here, a call there. Measured in elapsed time each one costs days. Measured in human cost it is the most draining work the squads do, because it is repetitive, explanatory rather than technical, and repeated from scratch for every partner.
Important: this is an estimate from practitioners, not a measurement. Converting it into a measurement is a sprint-one deliverable and costs almost nothing.
CAUSE 2 — UNIFORM ALLOCATION
We assessed all 38 onboarding scenarios we support against what each actually requires. Eight need no design at all. Fourteen need a judgement or two. Fourteen genuinely need a dedicated team. Two are not onboardings at all — they are migration campaigns.
All 38 currently receive the same dedicated team. That is the second bar.
THE DIAGNOSIS
Say this plainly: this is not a throughput problem. Nobody is slow. It is an allocation problem. We spend scarce design capacity on work that requires no design.
WHY THAT MATTERS FOR WHAT FOLLOWS
The two causes are independent. The data deficit costs the same in any operating model, so fixing it helps today's model as much as any future one — and it needs no re-organisation, no headcount movement and no systems integration. That is why it goes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Set out the two interventions and the three models. Keep them separate in the audience's mind — they have different timescales and different approval needs.
MOVE 1 — COMPLETE THE INTAKE
This needs no decision beyond building it. No re-organisation, no headcount movement, no systems integration, and it improves the model we run today as much as any future one.
The design goal is precise and worth reading out: capture everything knowable now, and convert everything else from an unknown-unknown into a scheduled-known. We are not pretending every answer exists on day one — a cutover window six months out genuinely does not. But a blank field and a field marked "not yet known, owner named, due 14 November, blocks the design gate" are completely different things. The first is a future surprise. The second is a managed dependency.
The asset is not the chatbot. It is the catalogue of 54 data points and, for each, why it matters and what breaks without it. That is roughly two weeks of two experienced engineers and a governance analyst — and it is the highest-leverage fortnight in the programme, because it turns one person's expertise into the organisation's.
MOVE 2 — TIER THE ENGAGEMENT
The unit of tiering is the intake, not the partner. The same partner can have a routine subscription extension in Lean, a new content flow in Lean+, and a classification migration in Dedicated, all at the same time. That is a feature, not an edge case — it keeps scarce capacity attached to work that needs it rather than to the relationship that asked.
Tier is assigned by ECM against a published rubric. This is the single most important governance decision in the design. If partners self-select, every partner selects Dedicated — not out of bad faith, but because from any individual partner's view more attention is always better. The aggregate result is exactly what we have today.
THE THREE MODELS — read the bottom row
Flat, sub-linear, linear. That is the whole commercial argument in three words. Lean converts a linear cost into a flat one: every intake routed there after the platform exists is effectively free at the margin.
THE REFRAMING — do not skip this
Dedicated is the slowest tier. It queues for capacity that is scarce by definition. A Lean intake starts the day it is tiered because nothing has to become free first. Partners whose work fits a proven pattern go live sooner in Lean than they would have in Dedicated — not despite the lighter engagement but because of it.
If this lands early, tiering stops being a negotiation. If it does not land, every conversation becomes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what changes and what it is worth, without overclaiming.
THE THREE BARS — the most important visual in the deck
Top bar: today. All 38 scenarios get a dedicated team.
Middle bar: what we could do on day one with no pattern investment. Eight scenarios qualify for Lean, fourteen for Lean+.
Bottom bar: realistic steady state after roughly two years of deliberate pattern investment.
Be explicit that only about a fifth qualifies for Lean at entry. Someone will test that number, and a flattering one would not survive. The trajectory is the case, not the entry figure.
THE COMPOUNDING MECHANISM — this is the part people miss
Nothing migrates leftward on its own. A scenario moves to a lighter tier because a dedicated pod delivered it once and we harvested and hardened the pattern. That is why pattern harvesting has to be a closure condition on every dedicated intake, not an aspiration — if it is invisible in how people are measured, it will not happen, and the model quietly becomes a one-off efficiency exercise instead of a compounding one.
WHAT LEADERSHIP IS BUYING
Do not lead with an efficiency percentage. It undersells it and invites the wrong challenge.
What is on offer is a change in how capacity behaves as demand grows. Today capacity requirement is a direct function of partner demand and the only lever is headcount. The tiered model breaks that relationship for the majority of intakes, so growth in demand no longer translates directly into growth in labour — and the work that still requires people is the work that genuinely needs them.
The row to point at is "cost of the tenth identical onboarding". Same as the first today. Near zero afterwards.
GAINS BY AUDIENCE
Worth naming the squads explicitly. The most draining work they do — explaining and chasing missing data — gets done once by the catalogue instead of repeatedly by a person. That is a retention argument as much as an efficiency one.
IF ASKED FOR A NUMBER
Say the distribution and trajectory are structurally derived and sound. Say the capacity figures depend on a baseline that does not exist yet — effort and elapsed time per stage — and that sprint one produces it. Resist being pushed into a figure you cannot defend in month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Make the ask small, concrete and evidence-first. The structural decisions are deliberately deferred.
THE SHAPE OF THE ASK
Four sprints. Five to six people — a tiger team, not the organisation. No structural change, no headcount commitment, and no partner forced to do anything differently until they choose to. The existing teams keep delivering throughout.
WHY SPRINT 1 IS INTAKE, NOT TIERING
Three reasons. It is the largest single time saving. It benefits the model we run today as much as the target one, so there is no waiting for a re-organisation to see value. And every capability built in sprints two to four consumes intake content — a tiering assistant scoring a vague intake produces a vague tier, a pattern matcher given a thin description matches badly. Intake completeness sets the ceiling on everything built after it.
THE TWO-DAY ITEM WORTH CALLING OUT
Running alongside sprint one, at two days of analyst effort, is a retrospective scoring of the last twelve months of intakes against the tiering rubric. That answers the only question that really matters: how much of our actual demand could have run in a lighter tier. If the answer approximates what slide 3 showed, the structural design is worth building. If it does not, far better to learn that now than after nine engineers have been moved.
If leadership approves only one thing today, approve that.
THE RIGHT-HAND COLUMN MATTERS AS MUCH AS THE LEFT
Be deliberate about reading out the "will not see" list. A programme that over-promises at week eight loses the credibility it needs at month six — and the structural change we will come back and ask for depends entirely on credibility accumulated in the first two quarters.
THE THREE QUESTIONS TO ASK AT EVERY CHECKPOINT
Worth stating even though they are not on the slide:
One — is the tier distribution moving, and is it moving because patterns matured rather than because tiering got lenient?
Two — are dedicated intakes producing pattern candidates? If not, the compounding has stopped.
Three — has the platform team been pulled into delivery work? That is the single failure mode that ends the programme, and it is always justified at the time.
CLOSING LINE
We are not asking for the re-organisation today. We are asking for eight weeks to produce the evidence on which that decision should be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04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B6E6E"/>
          </a:solidFill>
          <a:ln w="12700">
            <a:solidFill>
              <a:srgbClr val="333333"/>
            </a:solidFill>
            <a:prstDash val="solid"/>
          </a:ln>
        </p:spPr>
      </p:sp>
      <p:sp>
        <p:nvSpPr>
          <p:cNvPr id="3" name="Text 1"/>
          <p:cNvSpPr txBox="1"/>
          <p:nvPr/>
        </p:nvSpPr>
        <p:spPr>
          <a:xfrm>
            <a:off x="868680" y="1600200"/>
            <a:ext cx="10058400" cy="274320"/>
          </a:xfrm>
          <a:prstGeom prst="rect">
            <a:avLst/>
          </a:prstGeom>
          <a:noFill/>
          <a:ln/>
        </p:spPr>
        <p:txBody>
          <a:bodyPr wrap="square" lIns="0" tIns="0" rIns="0" bIns="0" rtlCol="0" anchor="ctr"/>
          <a:lstStyle/>
          <a:p>
            <a:pPr indent="0" marL="0">
              <a:buNone/>
            </a:pPr>
            <a:r>
              <a:rPr lang="en-US" sz="1200" b="1" spc="400" kern="0" dirty="0">
                <a:solidFill>
                  <a:srgbClr val="8FB8B8"/>
                </a:solidFill>
                <a:latin typeface="Calibri" pitchFamily="34" charset="0"/>
                <a:ea typeface="Calibri" pitchFamily="34" charset="-122"/>
                <a:cs typeface="Calibri" pitchFamily="34" charset="-120"/>
              </a:rPr>
              <a:t>ECM PARTNER ENABLEMENT</a:t>
            </a:r>
            <a:endParaRPr lang="en-US" sz="1200" dirty="0"/>
          </a:p>
        </p:txBody>
      </p:sp>
      <p:sp>
        <p:nvSpPr>
          <p:cNvPr id="4" name="Text 2"/>
          <p:cNvSpPr txBox="1"/>
          <p:nvPr/>
        </p:nvSpPr>
        <p:spPr>
          <a:xfrm>
            <a:off x="868680" y="1965960"/>
            <a:ext cx="106070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 Tiered Enablement Model</a:t>
            </a:r>
            <a:endParaRPr lang="en-US" sz="4400" dirty="0"/>
          </a:p>
        </p:txBody>
      </p:sp>
      <p:sp>
        <p:nvSpPr>
          <p:cNvPr id="5" name="Text 3"/>
          <p:cNvSpPr txBox="1"/>
          <p:nvPr/>
        </p:nvSpPr>
        <p:spPr>
          <a:xfrm>
            <a:off x="868680" y="3017520"/>
            <a:ext cx="10058400" cy="685800"/>
          </a:xfrm>
          <a:prstGeom prst="rect">
            <a:avLst/>
          </a:prstGeom>
          <a:noFill/>
          <a:ln/>
        </p:spPr>
        <p:txBody>
          <a:bodyPr wrap="square" lIns="0" tIns="0" rIns="0" bIns="0" rtlCol="0" anchor="ctr"/>
          <a:lstStyle/>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Breaking the link between partner demand and headcount — and closing the</a:t>
            </a:r>
            <a:endParaRPr lang="en-US" sz="1800" dirty="0"/>
          </a:p>
          <a:p>
            <a:pPr indent="0" marL="0">
              <a:lnSpc>
                <a:spcPts val="2400"/>
              </a:lnSpc>
              <a:buNone/>
            </a:pPr>
            <a:r>
              <a:rPr lang="en-US" sz="1800" dirty="0">
                <a:solidFill>
                  <a:srgbClr val="BFD0DF"/>
                </a:solidFill>
                <a:latin typeface="Cambria" pitchFamily="34" charset="0"/>
                <a:ea typeface="Cambria" pitchFamily="34" charset="-122"/>
                <a:cs typeface="Cambria" pitchFamily="34" charset="-120"/>
              </a:rPr>
              <a:t>largest source of delay first</a:t>
            </a:r>
            <a:endParaRPr lang="en-US" sz="1800" dirty="0"/>
          </a:p>
        </p:txBody>
      </p:sp>
      <p:sp>
        <p:nvSpPr>
          <p:cNvPr id="6" name="Shape 4"/>
          <p:cNvSpPr/>
          <p:nvPr/>
        </p:nvSpPr>
        <p:spPr>
          <a:xfrm>
            <a:off x="868680" y="3931920"/>
            <a:ext cx="3840480" cy="0"/>
          </a:xfrm>
          <a:prstGeom prst="line">
            <a:avLst/>
          </a:prstGeom>
          <a:noFill/>
          <a:ln w="28575">
            <a:solidFill>
              <a:srgbClr val="0B6E6E"/>
            </a:solidFill>
            <a:prstDash val="solid"/>
          </a:ln>
        </p:spPr>
      </p:sp>
      <p:sp>
        <p:nvSpPr>
          <p:cNvPr id="7" name="Text 5"/>
          <p:cNvSpPr txBox="1"/>
          <p:nvPr/>
        </p:nvSpPr>
        <p:spPr>
          <a:xfrm>
            <a:off x="86868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MODELS</a:t>
            </a:r>
            <a:endParaRPr lang="en-US" sz="800" dirty="0"/>
          </a:p>
        </p:txBody>
      </p:sp>
      <p:sp>
        <p:nvSpPr>
          <p:cNvPr id="8" name="Text 6"/>
          <p:cNvSpPr txBox="1"/>
          <p:nvPr/>
        </p:nvSpPr>
        <p:spPr>
          <a:xfrm>
            <a:off x="86868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Lean · Lean+ · Dedicated</a:t>
            </a:r>
            <a:endParaRPr lang="en-US" sz="1150" dirty="0"/>
          </a:p>
        </p:txBody>
      </p:sp>
      <p:sp>
        <p:nvSpPr>
          <p:cNvPr id="9" name="Text 7"/>
          <p:cNvSpPr txBox="1"/>
          <p:nvPr/>
        </p:nvSpPr>
        <p:spPr>
          <a:xfrm>
            <a:off x="336042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SCENARIOS ASSESSED</a:t>
            </a:r>
            <a:endParaRPr lang="en-US" sz="800" dirty="0"/>
          </a:p>
        </p:txBody>
      </p:sp>
      <p:sp>
        <p:nvSpPr>
          <p:cNvPr id="10" name="Text 8"/>
          <p:cNvSpPr txBox="1"/>
          <p:nvPr/>
        </p:nvSpPr>
        <p:spPr>
          <a:xfrm>
            <a:off x="336042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38, fully tiered</a:t>
            </a:r>
            <a:endParaRPr lang="en-US" sz="1150" dirty="0"/>
          </a:p>
        </p:txBody>
      </p:sp>
      <p:sp>
        <p:nvSpPr>
          <p:cNvPr id="11" name="Text 9"/>
          <p:cNvSpPr txBox="1"/>
          <p:nvPr/>
        </p:nvSpPr>
        <p:spPr>
          <a:xfrm>
            <a:off x="585216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FIRST INTERVENTION</a:t>
            </a:r>
            <a:endParaRPr lang="en-US" sz="800" dirty="0"/>
          </a:p>
        </p:txBody>
      </p:sp>
      <p:sp>
        <p:nvSpPr>
          <p:cNvPr id="12" name="Text 10"/>
          <p:cNvSpPr txBox="1"/>
          <p:nvPr/>
        </p:nvSpPr>
        <p:spPr>
          <a:xfrm>
            <a:off x="585216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Complete the intake</a:t>
            </a:r>
            <a:endParaRPr lang="en-US" sz="1150" dirty="0"/>
          </a:p>
        </p:txBody>
      </p:sp>
      <p:sp>
        <p:nvSpPr>
          <p:cNvPr id="13" name="Text 11"/>
          <p:cNvSpPr txBox="1"/>
          <p:nvPr/>
        </p:nvSpPr>
        <p:spPr>
          <a:xfrm>
            <a:off x="8343900" y="4224528"/>
            <a:ext cx="2217420" cy="201168"/>
          </a:xfrm>
          <a:prstGeom prst="rect">
            <a:avLst/>
          </a:prstGeom>
          <a:noFill/>
          <a:ln/>
        </p:spPr>
        <p:txBody>
          <a:bodyPr wrap="square" lIns="0" tIns="0" rIns="0" bIns="0" rtlCol="0" anchor="ctr"/>
          <a:lstStyle/>
          <a:p>
            <a:pPr indent="0" marL="0">
              <a:buNone/>
            </a:pPr>
            <a:r>
              <a:rPr lang="en-US" sz="800" b="1" spc="120" kern="0" dirty="0">
                <a:solidFill>
                  <a:srgbClr val="7F97AE"/>
                </a:solidFill>
                <a:latin typeface="Calibri" pitchFamily="34" charset="0"/>
                <a:ea typeface="Calibri" pitchFamily="34" charset="-122"/>
                <a:cs typeface="Calibri" pitchFamily="34" charset="-120"/>
              </a:rPr>
              <a:t>ASK</a:t>
            </a:r>
            <a:endParaRPr lang="en-US" sz="800" dirty="0"/>
          </a:p>
        </p:txBody>
      </p:sp>
      <p:sp>
        <p:nvSpPr>
          <p:cNvPr id="14" name="Text 12"/>
          <p:cNvSpPr txBox="1"/>
          <p:nvPr/>
        </p:nvSpPr>
        <p:spPr>
          <a:xfrm>
            <a:off x="8343900" y="4425696"/>
            <a:ext cx="2217420" cy="457200"/>
          </a:xfrm>
          <a:prstGeom prst="rect">
            <a:avLst/>
          </a:prstGeom>
          <a:noFill/>
          <a:ln/>
        </p:spPr>
        <p:txBody>
          <a:bodyPr wrap="square" lIns="0" tIns="0" rIns="0" bIns="0" rtlCol="0" anchor="ctr"/>
          <a:lstStyle/>
          <a:p>
            <a:pPr indent="0" marL="0">
              <a:lnSpc>
                <a:spcPts val="1350"/>
              </a:lnSpc>
              <a:buNone/>
            </a:pPr>
            <a:r>
              <a:rPr lang="en-US" sz="1150" dirty="0">
                <a:solidFill>
                  <a:srgbClr val="FFFFFF"/>
                </a:solidFill>
                <a:latin typeface="Calibri" pitchFamily="34" charset="0"/>
                <a:ea typeface="Calibri" pitchFamily="34" charset="-122"/>
                <a:cs typeface="Calibri" pitchFamily="34" charset="-120"/>
              </a:rPr>
              <a:t>4 sprints · 5–6 people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Why capacity keeps running out</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Two causes, both structural — neither solved by adding engineers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problem</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78992"/>
            <a:ext cx="11338560" cy="676656"/>
          </a:xfrm>
          <a:prstGeom prst="roundRect">
            <a:avLst>
              <a:gd name="adj" fmla="val 6757"/>
            </a:avLst>
          </a:prstGeom>
          <a:solidFill>
            <a:srgbClr val="15304F"/>
          </a:solidFill>
          <a:ln w="12700">
            <a:solidFill>
              <a:srgbClr val="333333"/>
            </a:solidFill>
            <a:prstDash val="solid"/>
          </a:ln>
        </p:spPr>
      </p:sp>
      <p:sp>
        <p:nvSpPr>
          <p:cNvPr id="9" name="Text 7"/>
          <p:cNvSpPr txBox="1"/>
          <p:nvPr/>
        </p:nvSpPr>
        <p:spPr>
          <a:xfrm>
            <a:off x="612648" y="1152144"/>
            <a:ext cx="2926080" cy="182880"/>
          </a:xfrm>
          <a:prstGeom prst="rect">
            <a:avLst/>
          </a:prstGeom>
          <a:noFill/>
          <a:ln/>
        </p:spPr>
        <p:txBody>
          <a:bodyPr wrap="square" lIns="0" tIns="0" rIns="0" bIns="0" rtlCol="0" anchor="ctr"/>
          <a:lstStyle/>
          <a:p>
            <a:pPr indent="0" marL="0">
              <a:buNone/>
            </a:pPr>
            <a:r>
              <a:rPr lang="en-US" sz="760" b="1" spc="110" kern="0" dirty="0">
                <a:solidFill>
                  <a:srgbClr val="8FB8B8"/>
                </a:solidFill>
                <a:latin typeface="Calibri" pitchFamily="34" charset="0"/>
                <a:ea typeface="Calibri" pitchFamily="34" charset="-122"/>
                <a:cs typeface="Calibri" pitchFamily="34" charset="-120"/>
              </a:rPr>
              <a:t>TODAY'S CAPACITY EQUATION</a:t>
            </a:r>
            <a:endParaRPr lang="en-US" sz="760" dirty="0"/>
          </a:p>
        </p:txBody>
      </p:sp>
      <p:sp>
        <p:nvSpPr>
          <p:cNvPr id="10" name="Text 8"/>
          <p:cNvSpPr txBox="1"/>
          <p:nvPr/>
        </p:nvSpPr>
        <p:spPr>
          <a:xfrm>
            <a:off x="612648" y="1335024"/>
            <a:ext cx="10936224" cy="347472"/>
          </a:xfrm>
          <a:prstGeom prst="rect">
            <a:avLst/>
          </a:prstGeom>
          <a:noFill/>
          <a:ln/>
        </p:spPr>
        <p:txBody>
          <a:bodyPr wrap="square" lIns="0" tIns="0" rIns="0" bIns="0" rtlCol="0" anchor="ctr"/>
          <a:lstStyle/>
          <a:p>
            <a:pPr indent="0" marL="0">
              <a:buNone/>
            </a:pPr>
            <a:r>
              <a:rPr lang="en-US" sz="1350" dirty="0">
                <a:solidFill>
                  <a:srgbClr val="C6D4E2"/>
                </a:solidFill>
                <a:latin typeface="Calibri" pitchFamily="34" charset="0"/>
                <a:ea typeface="Calibri" pitchFamily="34" charset="-122"/>
                <a:cs typeface="Calibri" pitchFamily="34" charset="-120"/>
              </a:rPr>
              <a:t>Capacity required  =  </a:t>
            </a:r>
            <a:pPr indent="0" marL="0">
              <a:buNone/>
            </a:pPr>
            <a:r>
              <a:rPr lang="en-US" sz="1350" b="1" dirty="0">
                <a:solidFill>
                  <a:srgbClr val="FFFFFF"/>
                </a:solidFill>
                <a:latin typeface="Calibri" pitchFamily="34" charset="0"/>
                <a:ea typeface="Calibri" pitchFamily="34" charset="-122"/>
                <a:cs typeface="Calibri" pitchFamily="34" charset="-120"/>
              </a:rPr>
              <a:t>Number of concurrent intakes</a:t>
            </a:r>
            <a:pPr indent="0" marL="0">
              <a:buNone/>
            </a:pPr>
            <a:r>
              <a:rPr lang="en-US" sz="1350" dirty="0">
                <a:solidFill>
                  <a:srgbClr val="C6D4E2"/>
                </a:solidFill>
                <a:latin typeface="Calibri" pitchFamily="34" charset="0"/>
                <a:ea typeface="Calibri" pitchFamily="34" charset="-122"/>
                <a:cs typeface="Calibri" pitchFamily="34" charset="-120"/>
              </a:rPr>
              <a:t>   ×   </a:t>
            </a:r>
            <a:pPr indent="0" marL="0">
              <a:buNone/>
            </a:pPr>
            <a:r>
              <a:rPr lang="en-US" sz="1350" b="1" dirty="0">
                <a:solidFill>
                  <a:srgbClr val="F0B48A"/>
                </a:solidFill>
                <a:latin typeface="Calibri" pitchFamily="34" charset="0"/>
                <a:ea typeface="Calibri" pitchFamily="34" charset="-122"/>
                <a:cs typeface="Calibri" pitchFamily="34" charset="-120"/>
              </a:rPr>
              <a:t>A fixed engineering depth, applied to every intake</a:t>
            </a:r>
            <a:endParaRPr lang="en-US" sz="1350" dirty="0"/>
          </a:p>
        </p:txBody>
      </p:sp>
      <p:sp>
        <p:nvSpPr>
          <p:cNvPr id="11" name="Text 9"/>
          <p:cNvSpPr txBox="1"/>
          <p:nvPr/>
        </p:nvSpPr>
        <p:spPr>
          <a:xfrm>
            <a:off x="411480" y="1828800"/>
            <a:ext cx="11338560" cy="237744"/>
          </a:xfrm>
          <a:prstGeom prst="rect">
            <a:avLst/>
          </a:prstGeom>
          <a:noFill/>
          <a:ln/>
        </p:spPr>
        <p:txBody>
          <a:bodyPr wrap="square" lIns="0" tIns="0" rIns="0" bIns="0" rtlCol="0" anchor="ctr"/>
          <a:lstStyle/>
          <a:p>
            <a:pPr indent="0" marL="0">
              <a:buNone/>
            </a:pPr>
            <a:r>
              <a:rPr lang="en-US" sz="920" i="1" dirty="0">
                <a:solidFill>
                  <a:srgbClr val="55606E"/>
                </a:solidFill>
                <a:latin typeface="Calibri" pitchFamily="34" charset="0"/>
                <a:ea typeface="Calibri" pitchFamily="34" charset="-122"/>
                <a:cs typeface="Calibri" pitchFamily="34" charset="-120"/>
              </a:rPr>
              <a:t>Partner demand sets the first term and ECM does not control it. The second is fixed by the delivery model. With both outside ECM's control, the only lever left is headcount.</a:t>
            </a:r>
            <a:endParaRPr lang="en-US" sz="920" dirty="0"/>
          </a:p>
        </p:txBody>
      </p:sp>
      <p:sp>
        <p:nvSpPr>
          <p:cNvPr id="12" name="Text 10"/>
          <p:cNvSpPr txBox="1"/>
          <p:nvPr/>
        </p:nvSpPr>
        <p:spPr>
          <a:xfrm>
            <a:off x="411480" y="2212848"/>
            <a:ext cx="5120640" cy="182880"/>
          </a:xfrm>
          <a:prstGeom prst="rect">
            <a:avLst/>
          </a:prstGeom>
          <a:noFill/>
          <a:ln/>
        </p:spPr>
        <p:txBody>
          <a:bodyPr wrap="square" lIns="0" tIns="0" rIns="0" bIns="0" rtlCol="0" anchor="ctr"/>
          <a:lstStyle/>
          <a:p>
            <a:pPr indent="0" marL="0">
              <a:buNone/>
            </a:pPr>
            <a:r>
              <a:rPr lang="en-US" sz="760" b="1" spc="110" kern="0" dirty="0">
                <a:solidFill>
                  <a:srgbClr val="A44A2A"/>
                </a:solidFill>
                <a:latin typeface="Calibri" pitchFamily="34" charset="0"/>
                <a:ea typeface="Calibri" pitchFamily="34" charset="-122"/>
                <a:cs typeface="Calibri" pitchFamily="34" charset="-120"/>
              </a:rPr>
              <a:t>CAUSE 1 — TIME LOST TO MISSING DATA</a:t>
            </a:r>
            <a:endParaRPr lang="en-US" sz="760" dirty="0"/>
          </a:p>
        </p:txBody>
      </p:sp>
      <p:sp>
        <p:nvSpPr>
          <p:cNvPr id="13" name="Shape 11"/>
          <p:cNvSpPr/>
          <p:nvPr/>
        </p:nvSpPr>
        <p:spPr>
          <a:xfrm>
            <a:off x="411480" y="2414016"/>
            <a:ext cx="5577840" cy="2249424"/>
          </a:xfrm>
          <a:prstGeom prst="roundRect">
            <a:avLst>
              <a:gd name="adj" fmla="val 2033"/>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14" name="Text 12"/>
          <p:cNvSpPr txBox="1"/>
          <p:nvPr/>
        </p:nvSpPr>
        <p:spPr>
          <a:xfrm>
            <a:off x="594360" y="2523744"/>
            <a:ext cx="1737360" cy="566928"/>
          </a:xfrm>
          <a:prstGeom prst="rect">
            <a:avLst/>
          </a:prstGeom>
          <a:noFill/>
          <a:ln/>
        </p:spPr>
        <p:txBody>
          <a:bodyPr wrap="square" lIns="0" tIns="0" rIns="0" bIns="0" rtlCol="0" anchor="ctr"/>
          <a:lstStyle/>
          <a:p>
            <a:pPr indent="0" marL="0">
              <a:buNone/>
            </a:pPr>
            <a:r>
              <a:rPr lang="en-US" sz="3400" b="1" dirty="0">
                <a:solidFill>
                  <a:srgbClr val="A44A2A"/>
                </a:solidFill>
                <a:latin typeface="Cambria" pitchFamily="34" charset="0"/>
                <a:ea typeface="Cambria" pitchFamily="34" charset="-122"/>
                <a:cs typeface="Cambria" pitchFamily="34" charset="-120"/>
              </a:rPr>
              <a:t>30–40%</a:t>
            </a:r>
            <a:endParaRPr lang="en-US" sz="3400" dirty="0"/>
          </a:p>
        </p:txBody>
      </p:sp>
      <p:sp>
        <p:nvSpPr>
          <p:cNvPr id="15" name="Text 13"/>
          <p:cNvSpPr txBox="1"/>
          <p:nvPr/>
        </p:nvSpPr>
        <p:spPr>
          <a:xfrm>
            <a:off x="2350008" y="2523744"/>
            <a:ext cx="3474720" cy="585216"/>
          </a:xfrm>
          <a:prstGeom prst="rect">
            <a:avLst/>
          </a:prstGeom>
          <a:noFill/>
          <a:ln/>
        </p:spPr>
        <p:txBody>
          <a:bodyPr wrap="square" lIns="0" tIns="0" rIns="0" bIns="0" rtlCol="0" anchor="ctr"/>
          <a:lstStyle/>
          <a:p>
            <a:pPr indent="0" marL="0">
              <a:lnSpc>
                <a:spcPts val="1100"/>
              </a:lnSpc>
              <a:buNone/>
            </a:pPr>
            <a:r>
              <a:rPr lang="en-US" sz="920" b="1" dirty="0">
                <a:solidFill>
                  <a:srgbClr val="1B2432"/>
                </a:solidFill>
                <a:latin typeface="Calibri" pitchFamily="34" charset="0"/>
                <a:ea typeface="Calibri" pitchFamily="34" charset="-122"/>
                <a:cs typeface="Calibri" pitchFamily="34" charset="-120"/>
              </a:rPr>
              <a:t>of total elapsed time is consumed by cycles of chasing information that was never captured at intake</a:t>
            </a:r>
            <a:endParaRPr lang="en-US" sz="920" dirty="0"/>
          </a:p>
        </p:txBody>
      </p:sp>
      <p:sp>
        <p:nvSpPr>
          <p:cNvPr id="16" name="Shape 14"/>
          <p:cNvSpPr/>
          <p:nvPr/>
        </p:nvSpPr>
        <p:spPr>
          <a:xfrm>
            <a:off x="594360" y="3337560"/>
            <a:ext cx="173736" cy="173736"/>
          </a:xfrm>
          <a:prstGeom prst="ellipse">
            <a:avLst/>
          </a:prstGeom>
          <a:solidFill>
            <a:srgbClr val="FBF0EB"/>
          </a:solidFill>
          <a:ln w="9525">
            <a:solidFill>
              <a:srgbClr val="A44A2A"/>
            </a:solidFill>
            <a:prstDash val="solid"/>
          </a:ln>
        </p:spPr>
      </p:sp>
      <p:sp>
        <p:nvSpPr>
          <p:cNvPr id="17" name="Text 15"/>
          <p:cNvSpPr txBox="1"/>
          <p:nvPr/>
        </p:nvSpPr>
        <p:spPr>
          <a:xfrm>
            <a:off x="594360" y="3337560"/>
            <a:ext cx="173736" cy="173736"/>
          </a:xfrm>
          <a:prstGeom prst="rect">
            <a:avLst/>
          </a:prstGeom>
          <a:noFill/>
          <a:ln/>
        </p:spPr>
        <p:txBody>
          <a:bodyPr wrap="square" lIns="0" tIns="0" rIns="0" bIns="0" rtlCol="0" anchor="ctr"/>
          <a:lstStyle/>
          <a:p>
            <a:pPr algn="ctr" indent="0" marL="0">
              <a:buNone/>
            </a:pPr>
            <a:r>
              <a:rPr lang="en-US" sz="700" b="1" dirty="0">
                <a:solidFill>
                  <a:srgbClr val="A44A2A"/>
                </a:solidFill>
                <a:latin typeface="Calibri" pitchFamily="34" charset="0"/>
                <a:ea typeface="Calibri" pitchFamily="34" charset="-122"/>
                <a:cs typeface="Calibri" pitchFamily="34" charset="-120"/>
              </a:rPr>
              <a:t>1</a:t>
            </a:r>
            <a:endParaRPr lang="en-US" sz="700" dirty="0"/>
          </a:p>
        </p:txBody>
      </p:sp>
      <p:sp>
        <p:nvSpPr>
          <p:cNvPr id="18" name="Text 16"/>
          <p:cNvSpPr txBox="1"/>
          <p:nvPr/>
        </p:nvSpPr>
        <p:spPr>
          <a:xfrm>
            <a:off x="832104" y="3310128"/>
            <a:ext cx="2340864" cy="384048"/>
          </a:xfrm>
          <a:prstGeom prst="rect">
            <a:avLst/>
          </a:prstGeom>
          <a:noFill/>
          <a:ln/>
        </p:spPr>
        <p:txBody>
          <a:bodyPr wrap="square" lIns="0" tIns="0" rIns="0" bIns="0" rtlCol="0" anchor="t"/>
          <a:lstStyle/>
          <a:p>
            <a:pPr indent="0" marL="0">
              <a:lnSpc>
                <a:spcPts val="900"/>
              </a:lnSpc>
              <a:buNone/>
            </a:pPr>
            <a:r>
              <a:rPr lang="en-US" sz="780" dirty="0">
                <a:solidFill>
                  <a:srgbClr val="1B2432"/>
                </a:solidFill>
                <a:latin typeface="Calibri" pitchFamily="34" charset="0"/>
                <a:ea typeface="Calibri" pitchFamily="34" charset="-122"/>
                <a:cs typeface="Calibri" pitchFamily="34" charset="-120"/>
              </a:rPr>
              <a:t>Engineer reaches a step and finds data missing</a:t>
            </a:r>
            <a:endParaRPr lang="en-US" sz="780" dirty="0"/>
          </a:p>
        </p:txBody>
      </p:sp>
      <p:sp>
        <p:nvSpPr>
          <p:cNvPr id="19" name="Shape 17"/>
          <p:cNvSpPr/>
          <p:nvPr/>
        </p:nvSpPr>
        <p:spPr>
          <a:xfrm>
            <a:off x="3300984" y="3337560"/>
            <a:ext cx="173736" cy="173736"/>
          </a:xfrm>
          <a:prstGeom prst="ellipse">
            <a:avLst/>
          </a:prstGeom>
          <a:solidFill>
            <a:srgbClr val="FBF0EB"/>
          </a:solidFill>
          <a:ln w="9525">
            <a:solidFill>
              <a:srgbClr val="A44A2A"/>
            </a:solidFill>
            <a:prstDash val="solid"/>
          </a:ln>
        </p:spPr>
      </p:sp>
      <p:sp>
        <p:nvSpPr>
          <p:cNvPr id="20" name="Text 18"/>
          <p:cNvSpPr txBox="1"/>
          <p:nvPr/>
        </p:nvSpPr>
        <p:spPr>
          <a:xfrm>
            <a:off x="3300984" y="3337560"/>
            <a:ext cx="173736" cy="173736"/>
          </a:xfrm>
          <a:prstGeom prst="rect">
            <a:avLst/>
          </a:prstGeom>
          <a:noFill/>
          <a:ln/>
        </p:spPr>
        <p:txBody>
          <a:bodyPr wrap="square" lIns="0" tIns="0" rIns="0" bIns="0" rtlCol="0" anchor="ctr"/>
          <a:lstStyle/>
          <a:p>
            <a:pPr algn="ctr" indent="0" marL="0">
              <a:buNone/>
            </a:pPr>
            <a:r>
              <a:rPr lang="en-US" sz="700" b="1" dirty="0">
                <a:solidFill>
                  <a:srgbClr val="A44A2A"/>
                </a:solidFill>
                <a:latin typeface="Calibri" pitchFamily="34" charset="0"/>
                <a:ea typeface="Calibri" pitchFamily="34" charset="-122"/>
                <a:cs typeface="Calibri" pitchFamily="34" charset="-120"/>
              </a:rPr>
              <a:t>2</a:t>
            </a:r>
            <a:endParaRPr lang="en-US" sz="700" dirty="0"/>
          </a:p>
        </p:txBody>
      </p:sp>
      <p:sp>
        <p:nvSpPr>
          <p:cNvPr id="21" name="Text 19"/>
          <p:cNvSpPr txBox="1"/>
          <p:nvPr/>
        </p:nvSpPr>
        <p:spPr>
          <a:xfrm>
            <a:off x="3538728" y="3310128"/>
            <a:ext cx="2340864" cy="384048"/>
          </a:xfrm>
          <a:prstGeom prst="rect">
            <a:avLst/>
          </a:prstGeom>
          <a:noFill/>
          <a:ln/>
        </p:spPr>
        <p:txBody>
          <a:bodyPr wrap="square" lIns="0" tIns="0" rIns="0" bIns="0" rtlCol="0" anchor="t"/>
          <a:lstStyle/>
          <a:p>
            <a:pPr indent="0" marL="0">
              <a:lnSpc>
                <a:spcPts val="900"/>
              </a:lnSpc>
              <a:buNone/>
            </a:pPr>
            <a:r>
              <a:rPr lang="en-US" sz="780" dirty="0">
                <a:solidFill>
                  <a:srgbClr val="1B2432"/>
                </a:solidFill>
                <a:latin typeface="Calibri" pitchFamily="34" charset="0"/>
                <a:ea typeface="Calibri" pitchFamily="34" charset="-122"/>
                <a:cs typeface="Calibri" pitchFamily="34" charset="-120"/>
              </a:rPr>
              <a:t>Works out who on the partner side knows it</a:t>
            </a:r>
            <a:endParaRPr lang="en-US" sz="780" dirty="0"/>
          </a:p>
        </p:txBody>
      </p:sp>
      <p:sp>
        <p:nvSpPr>
          <p:cNvPr id="22" name="Shape 20"/>
          <p:cNvSpPr/>
          <p:nvPr/>
        </p:nvSpPr>
        <p:spPr>
          <a:xfrm>
            <a:off x="594360" y="3767328"/>
            <a:ext cx="173736" cy="173736"/>
          </a:xfrm>
          <a:prstGeom prst="ellipse">
            <a:avLst/>
          </a:prstGeom>
          <a:solidFill>
            <a:srgbClr val="FBF0EB"/>
          </a:solidFill>
          <a:ln w="9525">
            <a:solidFill>
              <a:srgbClr val="A44A2A"/>
            </a:solidFill>
            <a:prstDash val="solid"/>
          </a:ln>
        </p:spPr>
      </p:sp>
      <p:sp>
        <p:nvSpPr>
          <p:cNvPr id="23" name="Text 21"/>
          <p:cNvSpPr txBox="1"/>
          <p:nvPr/>
        </p:nvSpPr>
        <p:spPr>
          <a:xfrm>
            <a:off x="594360" y="3767328"/>
            <a:ext cx="173736" cy="173736"/>
          </a:xfrm>
          <a:prstGeom prst="rect">
            <a:avLst/>
          </a:prstGeom>
          <a:noFill/>
          <a:ln/>
        </p:spPr>
        <p:txBody>
          <a:bodyPr wrap="square" lIns="0" tIns="0" rIns="0" bIns="0" rtlCol="0" anchor="ctr"/>
          <a:lstStyle/>
          <a:p>
            <a:pPr algn="ctr" indent="0" marL="0">
              <a:buNone/>
            </a:pPr>
            <a:r>
              <a:rPr lang="en-US" sz="700" b="1" dirty="0">
                <a:solidFill>
                  <a:srgbClr val="A44A2A"/>
                </a:solidFill>
                <a:latin typeface="Calibri" pitchFamily="34" charset="0"/>
                <a:ea typeface="Calibri" pitchFamily="34" charset="-122"/>
                <a:cs typeface="Calibri" pitchFamily="34" charset="-120"/>
              </a:rPr>
              <a:t>3</a:t>
            </a:r>
            <a:endParaRPr lang="en-US" sz="700" dirty="0"/>
          </a:p>
        </p:txBody>
      </p:sp>
      <p:sp>
        <p:nvSpPr>
          <p:cNvPr id="24" name="Text 22"/>
          <p:cNvSpPr txBox="1"/>
          <p:nvPr/>
        </p:nvSpPr>
        <p:spPr>
          <a:xfrm>
            <a:off x="832104" y="3739896"/>
            <a:ext cx="2340864" cy="384048"/>
          </a:xfrm>
          <a:prstGeom prst="rect">
            <a:avLst/>
          </a:prstGeom>
          <a:noFill/>
          <a:ln/>
        </p:spPr>
        <p:txBody>
          <a:bodyPr wrap="square" lIns="0" tIns="0" rIns="0" bIns="0" rtlCol="0" anchor="t"/>
          <a:lstStyle/>
          <a:p>
            <a:pPr indent="0" marL="0">
              <a:lnSpc>
                <a:spcPts val="900"/>
              </a:lnSpc>
              <a:buNone/>
            </a:pPr>
            <a:r>
              <a:rPr lang="en-US" sz="780" dirty="0">
                <a:solidFill>
                  <a:srgbClr val="1B2432"/>
                </a:solidFill>
                <a:latin typeface="Calibri" pitchFamily="34" charset="0"/>
                <a:ea typeface="Calibri" pitchFamily="34" charset="-122"/>
                <a:cs typeface="Calibri" pitchFamily="34" charset="-120"/>
              </a:rPr>
              <a:t>Explains why it is needed — the expensive part</a:t>
            </a:r>
            <a:endParaRPr lang="en-US" sz="780" dirty="0"/>
          </a:p>
        </p:txBody>
      </p:sp>
      <p:sp>
        <p:nvSpPr>
          <p:cNvPr id="25" name="Shape 23"/>
          <p:cNvSpPr/>
          <p:nvPr/>
        </p:nvSpPr>
        <p:spPr>
          <a:xfrm>
            <a:off x="3300984" y="3767328"/>
            <a:ext cx="173736" cy="173736"/>
          </a:xfrm>
          <a:prstGeom prst="ellipse">
            <a:avLst/>
          </a:prstGeom>
          <a:solidFill>
            <a:srgbClr val="FBF0EB"/>
          </a:solidFill>
          <a:ln w="9525">
            <a:solidFill>
              <a:srgbClr val="A44A2A"/>
            </a:solidFill>
            <a:prstDash val="solid"/>
          </a:ln>
        </p:spPr>
      </p:sp>
      <p:sp>
        <p:nvSpPr>
          <p:cNvPr id="26" name="Text 24"/>
          <p:cNvSpPr txBox="1"/>
          <p:nvPr/>
        </p:nvSpPr>
        <p:spPr>
          <a:xfrm>
            <a:off x="3300984" y="3767328"/>
            <a:ext cx="173736" cy="173736"/>
          </a:xfrm>
          <a:prstGeom prst="rect">
            <a:avLst/>
          </a:prstGeom>
          <a:noFill/>
          <a:ln/>
        </p:spPr>
        <p:txBody>
          <a:bodyPr wrap="square" lIns="0" tIns="0" rIns="0" bIns="0" rtlCol="0" anchor="ctr"/>
          <a:lstStyle/>
          <a:p>
            <a:pPr algn="ctr" indent="0" marL="0">
              <a:buNone/>
            </a:pPr>
            <a:r>
              <a:rPr lang="en-US" sz="700" b="1" dirty="0">
                <a:solidFill>
                  <a:srgbClr val="A44A2A"/>
                </a:solidFill>
                <a:latin typeface="Calibri" pitchFamily="34" charset="0"/>
                <a:ea typeface="Calibri" pitchFamily="34" charset="-122"/>
                <a:cs typeface="Calibri" pitchFamily="34" charset="-120"/>
              </a:rPr>
              <a:t>4</a:t>
            </a:r>
            <a:endParaRPr lang="en-US" sz="700" dirty="0"/>
          </a:p>
        </p:txBody>
      </p:sp>
      <p:sp>
        <p:nvSpPr>
          <p:cNvPr id="27" name="Text 25"/>
          <p:cNvSpPr txBox="1"/>
          <p:nvPr/>
        </p:nvSpPr>
        <p:spPr>
          <a:xfrm>
            <a:off x="3538728" y="3739896"/>
            <a:ext cx="2340864" cy="384048"/>
          </a:xfrm>
          <a:prstGeom prst="rect">
            <a:avLst/>
          </a:prstGeom>
          <a:noFill/>
          <a:ln/>
        </p:spPr>
        <p:txBody>
          <a:bodyPr wrap="square" lIns="0" tIns="0" rIns="0" bIns="0" rtlCol="0" anchor="t"/>
          <a:lstStyle/>
          <a:p>
            <a:pPr indent="0" marL="0">
              <a:lnSpc>
                <a:spcPts val="900"/>
              </a:lnSpc>
              <a:buNone/>
            </a:pPr>
            <a:r>
              <a:rPr lang="en-US" sz="780" dirty="0">
                <a:solidFill>
                  <a:srgbClr val="1B2432"/>
                </a:solidFill>
                <a:latin typeface="Calibri" pitchFamily="34" charset="0"/>
                <a:ea typeface="Calibri" pitchFamily="34" charset="-122"/>
                <a:cs typeface="Calibri" pitchFamily="34" charset="-120"/>
              </a:rPr>
              <a:t>Waits days for a response</a:t>
            </a:r>
            <a:endParaRPr lang="en-US" sz="780" dirty="0"/>
          </a:p>
        </p:txBody>
      </p:sp>
      <p:sp>
        <p:nvSpPr>
          <p:cNvPr id="28" name="Shape 26"/>
          <p:cNvSpPr/>
          <p:nvPr/>
        </p:nvSpPr>
        <p:spPr>
          <a:xfrm>
            <a:off x="594360" y="4197096"/>
            <a:ext cx="173736" cy="173736"/>
          </a:xfrm>
          <a:prstGeom prst="ellipse">
            <a:avLst/>
          </a:prstGeom>
          <a:solidFill>
            <a:srgbClr val="FBF0EB"/>
          </a:solidFill>
          <a:ln w="9525">
            <a:solidFill>
              <a:srgbClr val="A44A2A"/>
            </a:solidFill>
            <a:prstDash val="solid"/>
          </a:ln>
        </p:spPr>
      </p:sp>
      <p:sp>
        <p:nvSpPr>
          <p:cNvPr id="29" name="Text 27"/>
          <p:cNvSpPr txBox="1"/>
          <p:nvPr/>
        </p:nvSpPr>
        <p:spPr>
          <a:xfrm>
            <a:off x="594360" y="4197096"/>
            <a:ext cx="173736" cy="173736"/>
          </a:xfrm>
          <a:prstGeom prst="rect">
            <a:avLst/>
          </a:prstGeom>
          <a:noFill/>
          <a:ln/>
        </p:spPr>
        <p:txBody>
          <a:bodyPr wrap="square" lIns="0" tIns="0" rIns="0" bIns="0" rtlCol="0" anchor="ctr"/>
          <a:lstStyle/>
          <a:p>
            <a:pPr algn="ctr" indent="0" marL="0">
              <a:buNone/>
            </a:pPr>
            <a:r>
              <a:rPr lang="en-US" sz="700" b="1" dirty="0">
                <a:solidFill>
                  <a:srgbClr val="A44A2A"/>
                </a:solidFill>
                <a:latin typeface="Calibri" pitchFamily="34" charset="0"/>
                <a:ea typeface="Calibri" pitchFamily="34" charset="-122"/>
                <a:cs typeface="Calibri" pitchFamily="34" charset="-120"/>
              </a:rPr>
              <a:t>5</a:t>
            </a:r>
            <a:endParaRPr lang="en-US" sz="700" dirty="0"/>
          </a:p>
        </p:txBody>
      </p:sp>
      <p:sp>
        <p:nvSpPr>
          <p:cNvPr id="30" name="Text 28"/>
          <p:cNvSpPr txBox="1"/>
          <p:nvPr/>
        </p:nvSpPr>
        <p:spPr>
          <a:xfrm>
            <a:off x="832104" y="4169664"/>
            <a:ext cx="2340864" cy="384048"/>
          </a:xfrm>
          <a:prstGeom prst="rect">
            <a:avLst/>
          </a:prstGeom>
          <a:noFill/>
          <a:ln/>
        </p:spPr>
        <p:txBody>
          <a:bodyPr wrap="square" lIns="0" tIns="0" rIns="0" bIns="0" rtlCol="0" anchor="t"/>
          <a:lstStyle/>
          <a:p>
            <a:pPr indent="0" marL="0">
              <a:lnSpc>
                <a:spcPts val="900"/>
              </a:lnSpc>
              <a:buNone/>
            </a:pPr>
            <a:r>
              <a:rPr lang="en-US" sz="780" dirty="0">
                <a:solidFill>
                  <a:srgbClr val="1B2432"/>
                </a:solidFill>
                <a:latin typeface="Calibri" pitchFamily="34" charset="0"/>
                <a:ea typeface="Calibri" pitchFamily="34" charset="-122"/>
                <a:cs typeface="Calibri" pitchFamily="34" charset="-120"/>
              </a:rPr>
              <a:t>Clarifies an imprecise answer</a:t>
            </a:r>
            <a:endParaRPr lang="en-US" sz="780" dirty="0"/>
          </a:p>
        </p:txBody>
      </p:sp>
      <p:sp>
        <p:nvSpPr>
          <p:cNvPr id="31" name="Shape 29"/>
          <p:cNvSpPr/>
          <p:nvPr/>
        </p:nvSpPr>
        <p:spPr>
          <a:xfrm>
            <a:off x="3300984" y="4197096"/>
            <a:ext cx="173736" cy="173736"/>
          </a:xfrm>
          <a:prstGeom prst="ellipse">
            <a:avLst/>
          </a:prstGeom>
          <a:solidFill>
            <a:srgbClr val="FBF0EB"/>
          </a:solidFill>
          <a:ln w="9525">
            <a:solidFill>
              <a:srgbClr val="A44A2A"/>
            </a:solidFill>
            <a:prstDash val="solid"/>
          </a:ln>
        </p:spPr>
      </p:sp>
      <p:sp>
        <p:nvSpPr>
          <p:cNvPr id="32" name="Text 30"/>
          <p:cNvSpPr txBox="1"/>
          <p:nvPr/>
        </p:nvSpPr>
        <p:spPr>
          <a:xfrm>
            <a:off x="3300984" y="4197096"/>
            <a:ext cx="173736" cy="173736"/>
          </a:xfrm>
          <a:prstGeom prst="rect">
            <a:avLst/>
          </a:prstGeom>
          <a:noFill/>
          <a:ln/>
        </p:spPr>
        <p:txBody>
          <a:bodyPr wrap="square" lIns="0" tIns="0" rIns="0" bIns="0" rtlCol="0" anchor="ctr"/>
          <a:lstStyle/>
          <a:p>
            <a:pPr algn="ctr" indent="0" marL="0">
              <a:buNone/>
            </a:pPr>
            <a:r>
              <a:rPr lang="en-US" sz="700" b="1" dirty="0">
                <a:solidFill>
                  <a:srgbClr val="A44A2A"/>
                </a:solidFill>
                <a:latin typeface="Calibri" pitchFamily="34" charset="0"/>
                <a:ea typeface="Calibri" pitchFamily="34" charset="-122"/>
                <a:cs typeface="Calibri" pitchFamily="34" charset="-120"/>
              </a:rPr>
              <a:t>6</a:t>
            </a:r>
            <a:endParaRPr lang="en-US" sz="700" dirty="0"/>
          </a:p>
        </p:txBody>
      </p:sp>
      <p:sp>
        <p:nvSpPr>
          <p:cNvPr id="33" name="Text 31"/>
          <p:cNvSpPr txBox="1"/>
          <p:nvPr/>
        </p:nvSpPr>
        <p:spPr>
          <a:xfrm>
            <a:off x="3538728" y="4169664"/>
            <a:ext cx="2340864" cy="384048"/>
          </a:xfrm>
          <a:prstGeom prst="rect">
            <a:avLst/>
          </a:prstGeom>
          <a:noFill/>
          <a:ln/>
        </p:spPr>
        <p:txBody>
          <a:bodyPr wrap="square" lIns="0" tIns="0" rIns="0" bIns="0" rtlCol="0" anchor="t"/>
          <a:lstStyle/>
          <a:p>
            <a:pPr indent="0" marL="0">
              <a:lnSpc>
                <a:spcPts val="900"/>
              </a:lnSpc>
              <a:buNone/>
            </a:pPr>
            <a:r>
              <a:rPr lang="en-US" sz="780" dirty="0">
                <a:solidFill>
                  <a:srgbClr val="1B2432"/>
                </a:solidFill>
                <a:latin typeface="Calibri" pitchFamily="34" charset="0"/>
                <a:ea typeface="Calibri" pitchFamily="34" charset="-122"/>
                <a:cs typeface="Calibri" pitchFamily="34" charset="-120"/>
              </a:rPr>
              <a:t>Resumes — until the next missing item</a:t>
            </a:r>
            <a:endParaRPr lang="en-US" sz="780" dirty="0"/>
          </a:p>
        </p:txBody>
      </p:sp>
      <p:sp>
        <p:nvSpPr>
          <p:cNvPr id="34" name="Text 32"/>
          <p:cNvSpPr txBox="1"/>
          <p:nvPr/>
        </p:nvSpPr>
        <p:spPr>
          <a:xfrm>
            <a:off x="6217920" y="2212848"/>
            <a:ext cx="5486400" cy="182880"/>
          </a:xfrm>
          <a:prstGeom prst="rect">
            <a:avLst/>
          </a:prstGeom>
          <a:noFill/>
          <a:ln/>
        </p:spPr>
        <p:txBody>
          <a:bodyPr wrap="square" lIns="0" tIns="0" rIns="0" bIns="0" rtlCol="0" anchor="ctr"/>
          <a:lstStyle/>
          <a:p>
            <a:pPr indent="0" marL="0">
              <a:buNone/>
            </a:pPr>
            <a:r>
              <a:rPr lang="en-US" sz="760" b="1" spc="110" kern="0" dirty="0">
                <a:solidFill>
                  <a:srgbClr val="15304F"/>
                </a:solidFill>
                <a:latin typeface="Calibri" pitchFamily="34" charset="0"/>
                <a:ea typeface="Calibri" pitchFamily="34" charset="-122"/>
                <a:cs typeface="Calibri" pitchFamily="34" charset="-120"/>
              </a:rPr>
              <a:t>CAUSE 2 — EVERY INTAKE GETS THE SAME DEPTH</a:t>
            </a:r>
            <a:endParaRPr lang="en-US" sz="760" dirty="0"/>
          </a:p>
        </p:txBody>
      </p:sp>
      <p:sp>
        <p:nvSpPr>
          <p:cNvPr id="35" name="Shape 33"/>
          <p:cNvSpPr/>
          <p:nvPr/>
        </p:nvSpPr>
        <p:spPr>
          <a:xfrm>
            <a:off x="6217920" y="2414016"/>
            <a:ext cx="5532120" cy="2249424"/>
          </a:xfrm>
          <a:prstGeom prst="roundRect">
            <a:avLst>
              <a:gd name="adj" fmla="val 2033"/>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36" name="Text 34"/>
          <p:cNvSpPr txBox="1"/>
          <p:nvPr/>
        </p:nvSpPr>
        <p:spPr>
          <a:xfrm>
            <a:off x="6400800" y="2505456"/>
            <a:ext cx="5166360" cy="219456"/>
          </a:xfrm>
          <a:prstGeom prst="rect">
            <a:avLst/>
          </a:prstGeom>
          <a:noFill/>
          <a:ln/>
        </p:spPr>
        <p:txBody>
          <a:bodyPr wrap="square" lIns="0" tIns="0" rIns="0" bIns="0" rtlCol="0" anchor="ctr"/>
          <a:lstStyle/>
          <a:p>
            <a:pPr indent="0" marL="0">
              <a:buNone/>
            </a:pPr>
            <a:r>
              <a:rPr lang="en-US" sz="880" b="1" dirty="0">
                <a:solidFill>
                  <a:srgbClr val="1B2432"/>
                </a:solidFill>
                <a:latin typeface="Calibri" pitchFamily="34" charset="0"/>
                <a:ea typeface="Calibri" pitchFamily="34" charset="-122"/>
                <a:cs typeface="Calibri" pitchFamily="34" charset="-120"/>
              </a:rPr>
              <a:t>38 onboarding scenarios assessed against what each actually requires</a:t>
            </a:r>
            <a:endParaRPr lang="en-US" sz="880" dirty="0"/>
          </a:p>
        </p:txBody>
      </p:sp>
      <p:sp>
        <p:nvSpPr>
          <p:cNvPr id="37" name="Text 35"/>
          <p:cNvSpPr txBox="1"/>
          <p:nvPr/>
        </p:nvSpPr>
        <p:spPr>
          <a:xfrm>
            <a:off x="6400800" y="2816352"/>
            <a:ext cx="516636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WHAT THEY ACTUALLY NEED</a:t>
            </a:r>
            <a:endParaRPr lang="en-US" sz="900" dirty="0"/>
          </a:p>
        </p:txBody>
      </p:sp>
      <p:sp>
        <p:nvSpPr>
          <p:cNvPr id="38" name="Shape 36"/>
          <p:cNvSpPr/>
          <p:nvPr/>
        </p:nvSpPr>
        <p:spPr>
          <a:xfrm>
            <a:off x="6400800" y="3054096"/>
            <a:ext cx="1067442" cy="384048"/>
          </a:xfrm>
          <a:prstGeom prst="roundRect">
            <a:avLst>
              <a:gd name="adj" fmla="val 7143"/>
            </a:avLst>
          </a:prstGeom>
          <a:solidFill>
            <a:srgbClr val="0B6E6E"/>
          </a:solidFill>
          <a:ln w="12700">
            <a:solidFill>
              <a:srgbClr val="333333"/>
            </a:solidFill>
            <a:prstDash val="solid"/>
          </a:ln>
        </p:spPr>
      </p:sp>
      <p:sp>
        <p:nvSpPr>
          <p:cNvPr id="39" name="Text 37"/>
          <p:cNvSpPr txBox="1"/>
          <p:nvPr/>
        </p:nvSpPr>
        <p:spPr>
          <a:xfrm>
            <a:off x="6400800" y="3054096"/>
            <a:ext cx="1067442"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40" name="Shape 38"/>
          <p:cNvSpPr/>
          <p:nvPr/>
        </p:nvSpPr>
        <p:spPr>
          <a:xfrm>
            <a:off x="7500246" y="3054096"/>
            <a:ext cx="1868023" cy="384048"/>
          </a:xfrm>
          <a:prstGeom prst="roundRect">
            <a:avLst>
              <a:gd name="adj" fmla="val 7143"/>
            </a:avLst>
          </a:prstGeom>
          <a:solidFill>
            <a:srgbClr val="9A6410"/>
          </a:solidFill>
          <a:ln w="12700">
            <a:solidFill>
              <a:srgbClr val="333333"/>
            </a:solidFill>
            <a:prstDash val="solid"/>
          </a:ln>
        </p:spPr>
      </p:sp>
      <p:sp>
        <p:nvSpPr>
          <p:cNvPr id="41" name="Text 39"/>
          <p:cNvSpPr txBox="1"/>
          <p:nvPr/>
        </p:nvSpPr>
        <p:spPr>
          <a:xfrm>
            <a:off x="7500246" y="3054096"/>
            <a:ext cx="1868023"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42" name="Shape 40"/>
          <p:cNvSpPr/>
          <p:nvPr/>
        </p:nvSpPr>
        <p:spPr>
          <a:xfrm>
            <a:off x="9400273" y="3054096"/>
            <a:ext cx="1868023" cy="384048"/>
          </a:xfrm>
          <a:prstGeom prst="roundRect">
            <a:avLst>
              <a:gd name="adj" fmla="val 7143"/>
            </a:avLst>
          </a:prstGeom>
          <a:solidFill>
            <a:srgbClr val="15304F"/>
          </a:solidFill>
          <a:ln w="12700">
            <a:solidFill>
              <a:srgbClr val="333333"/>
            </a:solidFill>
            <a:prstDash val="solid"/>
          </a:ln>
        </p:spPr>
      </p:sp>
      <p:sp>
        <p:nvSpPr>
          <p:cNvPr id="43" name="Text 41"/>
          <p:cNvSpPr txBox="1"/>
          <p:nvPr/>
        </p:nvSpPr>
        <p:spPr>
          <a:xfrm>
            <a:off x="9400273" y="3054096"/>
            <a:ext cx="1868023"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44" name="Shape 42"/>
          <p:cNvSpPr/>
          <p:nvPr/>
        </p:nvSpPr>
        <p:spPr>
          <a:xfrm>
            <a:off x="11300300" y="3054096"/>
            <a:ext cx="266860" cy="384048"/>
          </a:xfrm>
          <a:prstGeom prst="roundRect">
            <a:avLst>
              <a:gd name="adj" fmla="val 10280"/>
            </a:avLst>
          </a:prstGeom>
          <a:solidFill>
            <a:srgbClr val="5B4A72"/>
          </a:solidFill>
          <a:ln w="12700">
            <a:solidFill>
              <a:srgbClr val="333333"/>
            </a:solidFill>
            <a:prstDash val="solid"/>
          </a:ln>
        </p:spPr>
      </p:sp>
      <p:sp>
        <p:nvSpPr>
          <p:cNvPr id="45" name="Text 43"/>
          <p:cNvSpPr txBox="1"/>
          <p:nvPr/>
        </p:nvSpPr>
        <p:spPr>
          <a:xfrm>
            <a:off x="6400800" y="3621024"/>
            <a:ext cx="5166360" cy="201168"/>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WHAT THEY GET TODAY</a:t>
            </a:r>
            <a:endParaRPr lang="en-US" sz="900" dirty="0"/>
          </a:p>
        </p:txBody>
      </p:sp>
      <p:sp>
        <p:nvSpPr>
          <p:cNvPr id="46" name="Shape 44"/>
          <p:cNvSpPr/>
          <p:nvPr/>
        </p:nvSpPr>
        <p:spPr>
          <a:xfrm>
            <a:off x="6400800" y="3858768"/>
            <a:ext cx="5166360" cy="384048"/>
          </a:xfrm>
          <a:prstGeom prst="roundRect">
            <a:avLst>
              <a:gd name="adj" fmla="val 7143"/>
            </a:avLst>
          </a:prstGeom>
          <a:solidFill>
            <a:srgbClr val="15304F"/>
          </a:solidFill>
          <a:ln w="12700">
            <a:solidFill>
              <a:srgbClr val="333333"/>
            </a:solidFill>
            <a:prstDash val="solid"/>
          </a:ln>
        </p:spPr>
      </p:sp>
      <p:sp>
        <p:nvSpPr>
          <p:cNvPr id="47" name="Text 45"/>
          <p:cNvSpPr txBox="1"/>
          <p:nvPr/>
        </p:nvSpPr>
        <p:spPr>
          <a:xfrm>
            <a:off x="6400800" y="3858768"/>
            <a:ext cx="516636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All 38 receive a dedicated team, inception to release</a:t>
            </a:r>
            <a:endParaRPr lang="en-US" sz="900" dirty="0"/>
          </a:p>
        </p:txBody>
      </p:sp>
      <p:sp>
        <p:nvSpPr>
          <p:cNvPr id="48" name="Shape 46"/>
          <p:cNvSpPr/>
          <p:nvPr/>
        </p:nvSpPr>
        <p:spPr>
          <a:xfrm>
            <a:off x="6400800" y="4375404"/>
            <a:ext cx="109728" cy="109728"/>
          </a:xfrm>
          <a:prstGeom prst="ellipse">
            <a:avLst/>
          </a:prstGeom>
          <a:solidFill>
            <a:srgbClr val="0B6E6E"/>
          </a:solidFill>
          <a:ln w="12700">
            <a:solidFill>
              <a:srgbClr val="333333"/>
            </a:solidFill>
            <a:prstDash val="solid"/>
          </a:ln>
        </p:spPr>
      </p:sp>
      <p:sp>
        <p:nvSpPr>
          <p:cNvPr id="49" name="Text 47"/>
          <p:cNvSpPr txBox="1"/>
          <p:nvPr/>
        </p:nvSpPr>
        <p:spPr>
          <a:xfrm>
            <a:off x="6556248" y="4352544"/>
            <a:ext cx="566928"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Lean</a:t>
            </a:r>
            <a:endParaRPr lang="en-US" sz="760" dirty="0"/>
          </a:p>
        </p:txBody>
      </p:sp>
      <p:sp>
        <p:nvSpPr>
          <p:cNvPr id="50" name="Shape 48"/>
          <p:cNvSpPr/>
          <p:nvPr/>
        </p:nvSpPr>
        <p:spPr>
          <a:xfrm>
            <a:off x="7214616" y="4375404"/>
            <a:ext cx="109728" cy="109728"/>
          </a:xfrm>
          <a:prstGeom prst="ellipse">
            <a:avLst/>
          </a:prstGeom>
          <a:solidFill>
            <a:srgbClr val="9A6410"/>
          </a:solidFill>
          <a:ln w="12700">
            <a:solidFill>
              <a:srgbClr val="333333"/>
            </a:solidFill>
            <a:prstDash val="solid"/>
          </a:ln>
        </p:spPr>
      </p:sp>
      <p:sp>
        <p:nvSpPr>
          <p:cNvPr id="51" name="Text 49"/>
          <p:cNvSpPr txBox="1"/>
          <p:nvPr/>
        </p:nvSpPr>
        <p:spPr>
          <a:xfrm>
            <a:off x="7370064" y="4352544"/>
            <a:ext cx="640080"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Lean+</a:t>
            </a:r>
            <a:endParaRPr lang="en-US" sz="760" dirty="0"/>
          </a:p>
        </p:txBody>
      </p:sp>
      <p:sp>
        <p:nvSpPr>
          <p:cNvPr id="52" name="Shape 50"/>
          <p:cNvSpPr/>
          <p:nvPr/>
        </p:nvSpPr>
        <p:spPr>
          <a:xfrm>
            <a:off x="8101584" y="4375404"/>
            <a:ext cx="109728" cy="109728"/>
          </a:xfrm>
          <a:prstGeom prst="ellipse">
            <a:avLst/>
          </a:prstGeom>
          <a:solidFill>
            <a:srgbClr val="15304F"/>
          </a:solidFill>
          <a:ln w="12700">
            <a:solidFill>
              <a:srgbClr val="333333"/>
            </a:solidFill>
            <a:prstDash val="solid"/>
          </a:ln>
        </p:spPr>
      </p:sp>
      <p:sp>
        <p:nvSpPr>
          <p:cNvPr id="53" name="Text 51"/>
          <p:cNvSpPr txBox="1"/>
          <p:nvPr/>
        </p:nvSpPr>
        <p:spPr>
          <a:xfrm>
            <a:off x="8257032" y="4352544"/>
            <a:ext cx="987552"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Dedicated</a:t>
            </a:r>
            <a:endParaRPr lang="en-US" sz="760" dirty="0"/>
          </a:p>
        </p:txBody>
      </p:sp>
      <p:sp>
        <p:nvSpPr>
          <p:cNvPr id="54" name="Shape 52"/>
          <p:cNvSpPr/>
          <p:nvPr/>
        </p:nvSpPr>
        <p:spPr>
          <a:xfrm>
            <a:off x="9336024" y="4375404"/>
            <a:ext cx="109728" cy="109728"/>
          </a:xfrm>
          <a:prstGeom prst="ellipse">
            <a:avLst/>
          </a:prstGeom>
          <a:solidFill>
            <a:srgbClr val="5B4A72"/>
          </a:solidFill>
          <a:ln w="12700">
            <a:solidFill>
              <a:srgbClr val="333333"/>
            </a:solidFill>
            <a:prstDash val="solid"/>
          </a:ln>
        </p:spPr>
      </p:sp>
      <p:sp>
        <p:nvSpPr>
          <p:cNvPr id="55" name="Text 53"/>
          <p:cNvSpPr txBox="1"/>
          <p:nvPr/>
        </p:nvSpPr>
        <p:spPr>
          <a:xfrm>
            <a:off x="9491472" y="4352544"/>
            <a:ext cx="1463040"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Migration factory</a:t>
            </a:r>
            <a:endParaRPr lang="en-US" sz="760" dirty="0"/>
          </a:p>
        </p:txBody>
      </p:sp>
      <p:sp>
        <p:nvSpPr>
          <p:cNvPr id="56" name="Shape 54"/>
          <p:cNvSpPr/>
          <p:nvPr/>
        </p:nvSpPr>
        <p:spPr>
          <a:xfrm>
            <a:off x="411480" y="4846320"/>
            <a:ext cx="11338560" cy="768096"/>
          </a:xfrm>
          <a:prstGeom prst="roundRect">
            <a:avLst>
              <a:gd name="adj" fmla="val 5952"/>
            </a:avLst>
          </a:prstGeom>
          <a:solidFill>
            <a:srgbClr val="E9EEF4"/>
          </a:solidFill>
          <a:ln w="12700">
            <a:solidFill>
              <a:srgbClr val="15304F"/>
            </a:solidFill>
            <a:prstDash val="solid"/>
          </a:ln>
        </p:spPr>
      </p:sp>
      <p:sp>
        <p:nvSpPr>
          <p:cNvPr id="57" name="Text 55"/>
          <p:cNvSpPr txBox="1"/>
          <p:nvPr/>
        </p:nvSpPr>
        <p:spPr>
          <a:xfrm>
            <a:off x="557784" y="4928616"/>
            <a:ext cx="11045952" cy="182880"/>
          </a:xfrm>
          <a:prstGeom prst="rect">
            <a:avLst/>
          </a:prstGeom>
          <a:noFill/>
          <a:ln/>
        </p:spPr>
        <p:txBody>
          <a:bodyPr wrap="square" lIns="0" tIns="0" rIns="0" bIns="0" rtlCol="0" anchor="ctr"/>
          <a:lstStyle/>
          <a:p>
            <a:pPr indent="0" marL="0">
              <a:buNone/>
            </a:pPr>
            <a:r>
              <a:rPr lang="en-US" sz="760" b="1" spc="100" kern="0" dirty="0">
                <a:solidFill>
                  <a:srgbClr val="15304F"/>
                </a:solidFill>
                <a:latin typeface="Calibri" pitchFamily="34" charset="0"/>
                <a:ea typeface="Calibri" pitchFamily="34" charset="-122"/>
                <a:cs typeface="Calibri" pitchFamily="34" charset="-120"/>
              </a:rPr>
              <a:t>THE DIAGNOSIS THAT MATTERS</a:t>
            </a:r>
            <a:endParaRPr lang="en-US" sz="760" dirty="0"/>
          </a:p>
        </p:txBody>
      </p:sp>
      <p:sp>
        <p:nvSpPr>
          <p:cNvPr id="58" name="Text 56"/>
          <p:cNvSpPr txBox="1"/>
          <p:nvPr/>
        </p:nvSpPr>
        <p:spPr>
          <a:xfrm>
            <a:off x="557784" y="5120640"/>
            <a:ext cx="11045952" cy="402336"/>
          </a:xfrm>
          <a:prstGeom prst="rect">
            <a:avLst/>
          </a:prstGeom>
          <a:noFill/>
          <a:ln/>
        </p:spPr>
        <p:txBody>
          <a:bodyPr wrap="square" lIns="0" tIns="0" rIns="0" bIns="0" rtlCol="0" anchor="t"/>
          <a:lstStyle/>
          <a:p>
            <a:pPr indent="0" marL="0">
              <a:lnSpc>
                <a:spcPts val="1100"/>
              </a:lnSpc>
              <a:buNone/>
            </a:pPr>
            <a:r>
              <a:rPr lang="en-US" sz="900" dirty="0">
                <a:solidFill>
                  <a:srgbClr val="1B2432"/>
                </a:solidFill>
                <a:latin typeface="Calibri" pitchFamily="34" charset="0"/>
                <a:ea typeface="Calibri" pitchFamily="34" charset="-122"/>
                <a:cs typeface="Calibri" pitchFamily="34" charset="-120"/>
              </a:rPr>
              <a:t>This is not a throughput problem — the teams are not slow and the process is not badly run. It is an allocation problem: the model spends the same engineering depth on an intake that repeats a pattern already built ten times as on one that requires genuinely new design. Adding engineers restores throughput temporarily without changing the equation that produced the shortfall.</a:t>
            </a:r>
            <a:endParaRPr lang="en-US" sz="900" dirty="0"/>
          </a:p>
        </p:txBody>
      </p:sp>
      <p:sp>
        <p:nvSpPr>
          <p:cNvPr id="59" name="Shape 57"/>
          <p:cNvSpPr/>
          <p:nvPr/>
        </p:nvSpPr>
        <p:spPr>
          <a:xfrm>
            <a:off x="411480" y="5852160"/>
            <a:ext cx="11338560" cy="438912"/>
          </a:xfrm>
          <a:prstGeom prst="roundRect">
            <a:avLst>
              <a:gd name="adj" fmla="val 10417"/>
            </a:avLst>
          </a:prstGeom>
          <a:solidFill>
            <a:srgbClr val="F4F7FA"/>
          </a:solidFill>
          <a:ln w="9525">
            <a:solidFill>
              <a:srgbClr val="D4DAE2"/>
            </a:solidFill>
            <a:prstDash val="solid"/>
          </a:ln>
        </p:spPr>
      </p:sp>
      <p:sp>
        <p:nvSpPr>
          <p:cNvPr id="60" name="Text 58"/>
          <p:cNvSpPr txBox="1"/>
          <p:nvPr/>
        </p:nvSpPr>
        <p:spPr>
          <a:xfrm>
            <a:off x="557784" y="5852160"/>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Two consequences follow. Fixing the data deficit improves every model including today's — it is tier-independent and needs no re-organisation. Fixing the allocation needs a structural change. The two are independent, and the first can start immediately.</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Two moves</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One pays immediately and needs no decision beyond building it. One changes how capacity behaves.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proposal</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60704"/>
            <a:ext cx="5440680" cy="2304288"/>
          </a:xfrm>
          <a:prstGeom prst="roundRect">
            <a:avLst>
              <a:gd name="adj" fmla="val 2381"/>
            </a:avLst>
          </a:prstGeom>
          <a:solidFill>
            <a:srgbClr val="FFFFFF"/>
          </a:solidFill>
          <a:ln w="17780">
            <a:solidFill>
              <a:srgbClr val="A44A2A"/>
            </a:solidFill>
            <a:prstDash val="solid"/>
          </a:ln>
          <a:effectLst>
            <a:outerShdw sx="100000" sy="100000" kx="0" ky="0" algn="bl" rotWithShape="0" blurRad="88900" dist="12700" dir="5400000">
              <a:srgbClr val="97A3B4">
                <a:alpha val="16000"/>
              </a:srgbClr>
            </a:outerShdw>
          </a:effectLst>
        </p:spPr>
      </p:sp>
      <p:sp>
        <p:nvSpPr>
          <p:cNvPr id="9" name="Text 7"/>
          <p:cNvSpPr txBox="1"/>
          <p:nvPr/>
        </p:nvSpPr>
        <p:spPr>
          <a:xfrm>
            <a:off x="612648" y="1152144"/>
            <a:ext cx="5029200" cy="182880"/>
          </a:xfrm>
          <a:prstGeom prst="rect">
            <a:avLst/>
          </a:prstGeom>
          <a:noFill/>
          <a:ln/>
        </p:spPr>
        <p:txBody>
          <a:bodyPr wrap="square" lIns="0" tIns="0" rIns="0" bIns="0" rtlCol="0" anchor="ctr"/>
          <a:lstStyle/>
          <a:p>
            <a:pPr indent="0" marL="0">
              <a:buNone/>
            </a:pPr>
            <a:r>
              <a:rPr lang="en-US" sz="740" b="1" spc="110" kern="0" dirty="0">
                <a:solidFill>
                  <a:srgbClr val="A44A2A"/>
                </a:solidFill>
                <a:latin typeface="Calibri" pitchFamily="34" charset="0"/>
                <a:ea typeface="Calibri" pitchFamily="34" charset="-122"/>
                <a:cs typeface="Calibri" pitchFamily="34" charset="-120"/>
              </a:rPr>
              <a:t>MOVE 1 · IMMEDIATE · ALL MODELS</a:t>
            </a:r>
            <a:endParaRPr lang="en-US" sz="740" dirty="0"/>
          </a:p>
        </p:txBody>
      </p:sp>
      <p:sp>
        <p:nvSpPr>
          <p:cNvPr id="10" name="Text 8"/>
          <p:cNvSpPr txBox="1"/>
          <p:nvPr/>
        </p:nvSpPr>
        <p:spPr>
          <a:xfrm>
            <a:off x="612648" y="1344168"/>
            <a:ext cx="5029200" cy="310896"/>
          </a:xfrm>
          <a:prstGeom prst="rect">
            <a:avLst/>
          </a:prstGeom>
          <a:noFill/>
          <a:ln/>
        </p:spPr>
        <p:txBody>
          <a:bodyPr wrap="square" lIns="0" tIns="0" rIns="0" bIns="0" rtlCol="0" anchor="ctr"/>
          <a:lstStyle/>
          <a:p>
            <a:pPr indent="0" marL="0">
              <a:buNone/>
            </a:pPr>
            <a:r>
              <a:rPr lang="en-US" sz="1900" b="1" dirty="0">
                <a:solidFill>
                  <a:srgbClr val="1B2432"/>
                </a:solidFill>
                <a:latin typeface="Cambria" pitchFamily="34" charset="0"/>
                <a:ea typeface="Cambria" pitchFamily="34" charset="-122"/>
                <a:cs typeface="Cambria" pitchFamily="34" charset="-120"/>
              </a:rPr>
              <a:t>Complete the intake</a:t>
            </a:r>
            <a:endParaRPr lang="en-US" sz="1900" dirty="0"/>
          </a:p>
        </p:txBody>
      </p:sp>
      <p:sp>
        <p:nvSpPr>
          <p:cNvPr id="11" name="Text 9"/>
          <p:cNvSpPr txBox="1"/>
          <p:nvPr/>
        </p:nvSpPr>
        <p:spPr>
          <a:xfrm>
            <a:off x="612648" y="1700784"/>
            <a:ext cx="5029200" cy="512064"/>
          </a:xfrm>
          <a:prstGeom prst="rect">
            <a:avLst/>
          </a:prstGeom>
          <a:noFill/>
          <a:ln/>
        </p:spPr>
        <p:txBody>
          <a:bodyPr wrap="square" lIns="0" tIns="0" rIns="0" bIns="0" rtlCol="0" anchor="ctr"/>
          <a:lstStyle/>
          <a:p>
            <a:pPr indent="0" marL="0">
              <a:lnSpc>
                <a:spcPts val="1100"/>
              </a:lnSpc>
              <a:buNone/>
            </a:pPr>
            <a:r>
              <a:rPr lang="en-US" sz="900" dirty="0">
                <a:solidFill>
                  <a:srgbClr val="55606E"/>
                </a:solidFill>
                <a:latin typeface="Calibri" pitchFamily="34" charset="0"/>
                <a:ea typeface="Calibri" pitchFamily="34" charset="-122"/>
                <a:cs typeface="Calibri" pitchFamily="34" charset="-120"/>
              </a:rPr>
              <a:t>Capture every required data point at intake — with the reason explained at the point of asking — and register every remaining unknown as a dated, owned gap tied to the gate it blocks.</a:t>
            </a:r>
            <a:endParaRPr lang="en-US" sz="900" dirty="0"/>
          </a:p>
        </p:txBody>
      </p:sp>
      <p:sp>
        <p:nvSpPr>
          <p:cNvPr id="12" name="Shape 10"/>
          <p:cNvSpPr/>
          <p:nvPr/>
        </p:nvSpPr>
        <p:spPr>
          <a:xfrm>
            <a:off x="612648" y="2249424"/>
            <a:ext cx="5029200" cy="402336"/>
          </a:xfrm>
          <a:prstGeom prst="roundRect">
            <a:avLst>
              <a:gd name="adj" fmla="val 9091"/>
            </a:avLst>
          </a:prstGeom>
          <a:solidFill>
            <a:srgbClr val="FBF0EB"/>
          </a:solidFill>
          <a:ln w="12700">
            <a:solidFill>
              <a:srgbClr val="333333"/>
            </a:solidFill>
            <a:prstDash val="solid"/>
          </a:ln>
        </p:spPr>
      </p:sp>
      <p:sp>
        <p:nvSpPr>
          <p:cNvPr id="13" name="Text 11"/>
          <p:cNvSpPr txBox="1"/>
          <p:nvPr/>
        </p:nvSpPr>
        <p:spPr>
          <a:xfrm>
            <a:off x="722376" y="2249424"/>
            <a:ext cx="4809744" cy="402336"/>
          </a:xfrm>
          <a:prstGeom prst="rect">
            <a:avLst/>
          </a:prstGeom>
          <a:noFill/>
          <a:ln/>
        </p:spPr>
        <p:txBody>
          <a:bodyPr wrap="square" lIns="0" tIns="0" rIns="0" bIns="0" rtlCol="0" anchor="ctr"/>
          <a:lstStyle/>
          <a:p>
            <a:pPr indent="0" marL="0">
              <a:lnSpc>
                <a:spcPts val="1000"/>
              </a:lnSpc>
              <a:buNone/>
            </a:pPr>
            <a:r>
              <a:rPr lang="en-US" sz="860" b="1" dirty="0">
                <a:solidFill>
                  <a:srgbClr val="A44A2A"/>
                </a:solidFill>
                <a:latin typeface="Calibri" pitchFamily="34" charset="0"/>
                <a:ea typeface="Calibri" pitchFamily="34" charset="-122"/>
                <a:cs typeface="Calibri" pitchFamily="34" charset="-120"/>
              </a:rPr>
              <a:t>Capture everything knowable now — convert the rest from an unknown-unknown into a scheduled-known</a:t>
            </a:r>
            <a:endParaRPr lang="en-US" sz="860" dirty="0"/>
          </a:p>
        </p:txBody>
      </p:sp>
      <p:sp>
        <p:nvSpPr>
          <p:cNvPr id="14" name="Text 12"/>
          <p:cNvSpPr txBox="1"/>
          <p:nvPr/>
        </p:nvSpPr>
        <p:spPr>
          <a:xfrm>
            <a:off x="612648" y="2724912"/>
            <a:ext cx="1572768" cy="310896"/>
          </a:xfrm>
          <a:prstGeom prst="rect">
            <a:avLst/>
          </a:prstGeom>
          <a:noFill/>
          <a:ln/>
        </p:spPr>
        <p:txBody>
          <a:bodyPr wrap="square" lIns="0" tIns="0" rIns="0" bIns="0" rtlCol="0" anchor="ctr"/>
          <a:lstStyle/>
          <a:p>
            <a:pPr indent="0" marL="0">
              <a:buNone/>
            </a:pPr>
            <a:r>
              <a:rPr lang="en-US" sz="2000" b="1" dirty="0">
                <a:solidFill>
                  <a:srgbClr val="A44A2A"/>
                </a:solidFill>
                <a:latin typeface="Cambria" pitchFamily="34" charset="0"/>
                <a:ea typeface="Cambria" pitchFamily="34" charset="-122"/>
                <a:cs typeface="Cambria" pitchFamily="34" charset="-120"/>
              </a:rPr>
              <a:t>54</a:t>
            </a:r>
            <a:endParaRPr lang="en-US" sz="2000" dirty="0"/>
          </a:p>
        </p:txBody>
      </p:sp>
      <p:sp>
        <p:nvSpPr>
          <p:cNvPr id="15" name="Text 13"/>
          <p:cNvSpPr txBox="1"/>
          <p:nvPr/>
        </p:nvSpPr>
        <p:spPr>
          <a:xfrm>
            <a:off x="612648" y="3017520"/>
            <a:ext cx="1572768" cy="310896"/>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data points, each with why it is required</a:t>
            </a:r>
            <a:endParaRPr lang="en-US" sz="760" dirty="0"/>
          </a:p>
        </p:txBody>
      </p:sp>
      <p:sp>
        <p:nvSpPr>
          <p:cNvPr id="16" name="Text 14"/>
          <p:cNvSpPr txBox="1"/>
          <p:nvPr/>
        </p:nvSpPr>
        <p:spPr>
          <a:xfrm>
            <a:off x="2313432" y="2724912"/>
            <a:ext cx="1572768" cy="310896"/>
          </a:xfrm>
          <a:prstGeom prst="rect">
            <a:avLst/>
          </a:prstGeom>
          <a:noFill/>
          <a:ln/>
        </p:spPr>
        <p:txBody>
          <a:bodyPr wrap="square" lIns="0" tIns="0" rIns="0" bIns="0" rtlCol="0" anchor="ctr"/>
          <a:lstStyle/>
          <a:p>
            <a:pPr indent="0" marL="0">
              <a:buNone/>
            </a:pPr>
            <a:r>
              <a:rPr lang="en-US" sz="2000" b="1" dirty="0">
                <a:solidFill>
                  <a:srgbClr val="A44A2A"/>
                </a:solidFill>
                <a:latin typeface="Cambria" pitchFamily="34" charset="0"/>
                <a:ea typeface="Cambria" pitchFamily="34" charset="-122"/>
                <a:cs typeface="Cambria" pitchFamily="34" charset="-120"/>
              </a:rPr>
              <a:t>0</a:t>
            </a:r>
            <a:endParaRPr lang="en-US" sz="2000" dirty="0"/>
          </a:p>
        </p:txBody>
      </p:sp>
      <p:sp>
        <p:nvSpPr>
          <p:cNvPr id="17" name="Text 15"/>
          <p:cNvSpPr txBox="1"/>
          <p:nvPr/>
        </p:nvSpPr>
        <p:spPr>
          <a:xfrm>
            <a:off x="2313432" y="3017520"/>
            <a:ext cx="1572768" cy="310896"/>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re-organisation or headcount needed</a:t>
            </a:r>
            <a:endParaRPr lang="en-US" sz="760" dirty="0"/>
          </a:p>
        </p:txBody>
      </p:sp>
      <p:sp>
        <p:nvSpPr>
          <p:cNvPr id="18" name="Text 16"/>
          <p:cNvSpPr txBox="1"/>
          <p:nvPr/>
        </p:nvSpPr>
        <p:spPr>
          <a:xfrm>
            <a:off x="4014216" y="2724912"/>
            <a:ext cx="1572768" cy="310896"/>
          </a:xfrm>
          <a:prstGeom prst="rect">
            <a:avLst/>
          </a:prstGeom>
          <a:noFill/>
          <a:ln/>
        </p:spPr>
        <p:txBody>
          <a:bodyPr wrap="square" lIns="0" tIns="0" rIns="0" bIns="0" rtlCol="0" anchor="ctr"/>
          <a:lstStyle/>
          <a:p>
            <a:pPr indent="0" marL="0">
              <a:buNone/>
            </a:pPr>
            <a:r>
              <a:rPr lang="en-US" sz="2000" b="1" dirty="0">
                <a:solidFill>
                  <a:srgbClr val="A44A2A"/>
                </a:solidFill>
                <a:latin typeface="Cambria" pitchFamily="34" charset="0"/>
                <a:ea typeface="Cambria" pitchFamily="34" charset="-122"/>
                <a:cs typeface="Cambria" pitchFamily="34" charset="-120"/>
              </a:rPr>
              <a:t>2 wks</a:t>
            </a:r>
            <a:endParaRPr lang="en-US" sz="2000" dirty="0"/>
          </a:p>
        </p:txBody>
      </p:sp>
      <p:sp>
        <p:nvSpPr>
          <p:cNvPr id="19" name="Text 17"/>
          <p:cNvSpPr txBox="1"/>
          <p:nvPr/>
        </p:nvSpPr>
        <p:spPr>
          <a:xfrm>
            <a:off x="4014216" y="3017520"/>
            <a:ext cx="1572768" cy="310896"/>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to author the catalogue of reasons</a:t>
            </a:r>
            <a:endParaRPr lang="en-US" sz="760" dirty="0"/>
          </a:p>
        </p:txBody>
      </p:sp>
      <p:sp>
        <p:nvSpPr>
          <p:cNvPr id="20" name="Shape 18"/>
          <p:cNvSpPr/>
          <p:nvPr/>
        </p:nvSpPr>
        <p:spPr>
          <a:xfrm>
            <a:off x="6309360" y="1060704"/>
            <a:ext cx="5440680" cy="2304288"/>
          </a:xfrm>
          <a:prstGeom prst="roundRect">
            <a:avLst>
              <a:gd name="adj" fmla="val 2381"/>
            </a:avLst>
          </a:prstGeom>
          <a:solidFill>
            <a:srgbClr val="FFFFFF"/>
          </a:solidFill>
          <a:ln w="17780">
            <a:solidFill>
              <a:srgbClr val="15304F"/>
            </a:solidFill>
            <a:prstDash val="solid"/>
          </a:ln>
          <a:effectLst>
            <a:outerShdw sx="100000" sy="100000" kx="0" ky="0" algn="bl" rotWithShape="0" blurRad="88900" dist="12700" dir="5400000">
              <a:srgbClr val="97A3B4">
                <a:alpha val="16000"/>
              </a:srgbClr>
            </a:outerShdw>
          </a:effectLst>
        </p:spPr>
      </p:sp>
      <p:sp>
        <p:nvSpPr>
          <p:cNvPr id="21" name="Text 19"/>
          <p:cNvSpPr txBox="1"/>
          <p:nvPr/>
        </p:nvSpPr>
        <p:spPr>
          <a:xfrm>
            <a:off x="6510528" y="1152144"/>
            <a:ext cx="5029200" cy="182880"/>
          </a:xfrm>
          <a:prstGeom prst="rect">
            <a:avLst/>
          </a:prstGeom>
          <a:noFill/>
          <a:ln/>
        </p:spPr>
        <p:txBody>
          <a:bodyPr wrap="square" lIns="0" tIns="0" rIns="0" bIns="0" rtlCol="0" anchor="ctr"/>
          <a:lstStyle/>
          <a:p>
            <a:pPr indent="0" marL="0">
              <a:buNone/>
            </a:pPr>
            <a:r>
              <a:rPr lang="en-US" sz="740" b="1" spc="110" kern="0" dirty="0">
                <a:solidFill>
                  <a:srgbClr val="15304F"/>
                </a:solidFill>
                <a:latin typeface="Calibri" pitchFamily="34" charset="0"/>
                <a:ea typeface="Calibri" pitchFamily="34" charset="-122"/>
                <a:cs typeface="Calibri" pitchFamily="34" charset="-120"/>
              </a:rPr>
              <a:t>MOVE 2 · STRUCTURAL · COMPOUNDS</a:t>
            </a:r>
            <a:endParaRPr lang="en-US" sz="740" dirty="0"/>
          </a:p>
        </p:txBody>
      </p:sp>
      <p:sp>
        <p:nvSpPr>
          <p:cNvPr id="22" name="Text 20"/>
          <p:cNvSpPr txBox="1"/>
          <p:nvPr/>
        </p:nvSpPr>
        <p:spPr>
          <a:xfrm>
            <a:off x="6510528" y="1344168"/>
            <a:ext cx="5029200" cy="310896"/>
          </a:xfrm>
          <a:prstGeom prst="rect">
            <a:avLst/>
          </a:prstGeom>
          <a:noFill/>
          <a:ln/>
        </p:spPr>
        <p:txBody>
          <a:bodyPr wrap="square" lIns="0" tIns="0" rIns="0" bIns="0" rtlCol="0" anchor="ctr"/>
          <a:lstStyle/>
          <a:p>
            <a:pPr indent="0" marL="0">
              <a:buNone/>
            </a:pPr>
            <a:r>
              <a:rPr lang="en-US" sz="1900" b="1" dirty="0">
                <a:solidFill>
                  <a:srgbClr val="1B2432"/>
                </a:solidFill>
                <a:latin typeface="Cambria" pitchFamily="34" charset="0"/>
                <a:ea typeface="Cambria" pitchFamily="34" charset="-122"/>
                <a:cs typeface="Cambria" pitchFamily="34" charset="-120"/>
              </a:rPr>
              <a:t>Tier the engagement, not the partner</a:t>
            </a:r>
            <a:endParaRPr lang="en-US" sz="1900" dirty="0"/>
          </a:p>
        </p:txBody>
      </p:sp>
      <p:sp>
        <p:nvSpPr>
          <p:cNvPr id="23" name="Text 21"/>
          <p:cNvSpPr txBox="1"/>
          <p:nvPr/>
        </p:nvSpPr>
        <p:spPr>
          <a:xfrm>
            <a:off x="6510528" y="1700784"/>
            <a:ext cx="5029200" cy="512064"/>
          </a:xfrm>
          <a:prstGeom prst="rect">
            <a:avLst/>
          </a:prstGeom>
          <a:noFill/>
          <a:ln/>
        </p:spPr>
        <p:txBody>
          <a:bodyPr wrap="square" lIns="0" tIns="0" rIns="0" bIns="0" rtlCol="0" anchor="ctr"/>
          <a:lstStyle/>
          <a:p>
            <a:pPr indent="0" marL="0">
              <a:lnSpc>
                <a:spcPts val="1100"/>
              </a:lnSpc>
              <a:buNone/>
            </a:pPr>
            <a:r>
              <a:rPr lang="en-US" sz="900" dirty="0">
                <a:solidFill>
                  <a:srgbClr val="55606E"/>
                </a:solidFill>
                <a:latin typeface="Calibri" pitchFamily="34" charset="0"/>
                <a:ea typeface="Calibri" pitchFamily="34" charset="-122"/>
                <a:cs typeface="Calibri" pitchFamily="34" charset="-120"/>
              </a:rPr>
              <a:t>Each intake — not each partner — is assigned a model based on what that specific work requires. The same partner may run three intakes in three different tiers at once.</a:t>
            </a:r>
            <a:endParaRPr lang="en-US" sz="900" dirty="0"/>
          </a:p>
        </p:txBody>
      </p:sp>
      <p:sp>
        <p:nvSpPr>
          <p:cNvPr id="24" name="Shape 22"/>
          <p:cNvSpPr/>
          <p:nvPr/>
        </p:nvSpPr>
        <p:spPr>
          <a:xfrm>
            <a:off x="6510528" y="2249424"/>
            <a:ext cx="5029200" cy="402336"/>
          </a:xfrm>
          <a:prstGeom prst="roundRect">
            <a:avLst>
              <a:gd name="adj" fmla="val 9091"/>
            </a:avLst>
          </a:prstGeom>
          <a:solidFill>
            <a:srgbClr val="E9EEF4"/>
          </a:solidFill>
          <a:ln w="12700">
            <a:solidFill>
              <a:srgbClr val="333333"/>
            </a:solidFill>
            <a:prstDash val="solid"/>
          </a:ln>
        </p:spPr>
      </p:sp>
      <p:sp>
        <p:nvSpPr>
          <p:cNvPr id="25" name="Text 23"/>
          <p:cNvSpPr txBox="1"/>
          <p:nvPr/>
        </p:nvSpPr>
        <p:spPr>
          <a:xfrm>
            <a:off x="6620256" y="2249424"/>
            <a:ext cx="4809744" cy="402336"/>
          </a:xfrm>
          <a:prstGeom prst="rect">
            <a:avLst/>
          </a:prstGeom>
          <a:noFill/>
          <a:ln/>
        </p:spPr>
        <p:txBody>
          <a:bodyPr wrap="square" lIns="0" tIns="0" rIns="0" bIns="0" rtlCol="0" anchor="ctr"/>
          <a:lstStyle/>
          <a:p>
            <a:pPr indent="0" marL="0">
              <a:lnSpc>
                <a:spcPts val="1000"/>
              </a:lnSpc>
              <a:buNone/>
            </a:pPr>
            <a:r>
              <a:rPr lang="en-US" sz="860" b="1" dirty="0">
                <a:solidFill>
                  <a:srgbClr val="15304F"/>
                </a:solidFill>
                <a:latin typeface="Calibri" pitchFamily="34" charset="0"/>
                <a:ea typeface="Calibri" pitchFamily="34" charset="-122"/>
                <a:cs typeface="Calibri" pitchFamily="34" charset="-120"/>
              </a:rPr>
              <a:t>Tier is assigned by ECM against a published rubric — never chosen by the partner</a:t>
            </a:r>
            <a:endParaRPr lang="en-US" sz="860" dirty="0"/>
          </a:p>
        </p:txBody>
      </p:sp>
      <p:sp>
        <p:nvSpPr>
          <p:cNvPr id="26" name="Text 24"/>
          <p:cNvSpPr txBox="1"/>
          <p:nvPr/>
        </p:nvSpPr>
        <p:spPr>
          <a:xfrm>
            <a:off x="6510528" y="2724912"/>
            <a:ext cx="1572768" cy="310896"/>
          </a:xfrm>
          <a:prstGeom prst="rect">
            <a:avLst/>
          </a:prstGeom>
          <a:noFill/>
          <a:ln/>
        </p:spPr>
        <p:txBody>
          <a:bodyPr wrap="square" lIns="0" tIns="0" rIns="0" bIns="0" rtlCol="0" anchor="ctr"/>
          <a:lstStyle/>
          <a:p>
            <a:pPr indent="0" marL="0">
              <a:buNone/>
            </a:pPr>
            <a:r>
              <a:rPr lang="en-US" sz="2000" b="1" dirty="0">
                <a:solidFill>
                  <a:srgbClr val="15304F"/>
                </a:solidFill>
                <a:latin typeface="Cambria" pitchFamily="34" charset="0"/>
                <a:ea typeface="Cambria" pitchFamily="34" charset="-122"/>
                <a:cs typeface="Cambria" pitchFamily="34" charset="-120"/>
              </a:rPr>
              <a:t>7</a:t>
            </a:r>
            <a:endParaRPr lang="en-US" sz="2000" dirty="0"/>
          </a:p>
        </p:txBody>
      </p:sp>
      <p:sp>
        <p:nvSpPr>
          <p:cNvPr id="27" name="Text 25"/>
          <p:cNvSpPr txBox="1"/>
          <p:nvPr/>
        </p:nvSpPr>
        <p:spPr>
          <a:xfrm>
            <a:off x="6510528" y="3017520"/>
            <a:ext cx="1572768" cy="310896"/>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scored determinants per intake</a:t>
            </a:r>
            <a:endParaRPr lang="en-US" sz="760" dirty="0"/>
          </a:p>
        </p:txBody>
      </p:sp>
      <p:sp>
        <p:nvSpPr>
          <p:cNvPr id="28" name="Text 26"/>
          <p:cNvSpPr txBox="1"/>
          <p:nvPr/>
        </p:nvSpPr>
        <p:spPr>
          <a:xfrm>
            <a:off x="8211312" y="2724912"/>
            <a:ext cx="1572768" cy="310896"/>
          </a:xfrm>
          <a:prstGeom prst="rect">
            <a:avLst/>
          </a:prstGeom>
          <a:noFill/>
          <a:ln/>
        </p:spPr>
        <p:txBody>
          <a:bodyPr wrap="square" lIns="0" tIns="0" rIns="0" bIns="0" rtlCol="0" anchor="ctr"/>
          <a:lstStyle/>
          <a:p>
            <a:pPr indent="0" marL="0">
              <a:buNone/>
            </a:pPr>
            <a:r>
              <a:rPr lang="en-US" sz="2000" b="1" dirty="0">
                <a:solidFill>
                  <a:srgbClr val="15304F"/>
                </a:solidFill>
                <a:latin typeface="Cambria" pitchFamily="34" charset="0"/>
                <a:ea typeface="Cambria" pitchFamily="34" charset="-122"/>
                <a:cs typeface="Cambria" pitchFamily="34" charset="-120"/>
              </a:rPr>
              <a:t>38</a:t>
            </a:r>
            <a:endParaRPr lang="en-US" sz="2000" dirty="0"/>
          </a:p>
        </p:txBody>
      </p:sp>
      <p:sp>
        <p:nvSpPr>
          <p:cNvPr id="29" name="Text 27"/>
          <p:cNvSpPr txBox="1"/>
          <p:nvPr/>
        </p:nvSpPr>
        <p:spPr>
          <a:xfrm>
            <a:off x="8211312" y="3017520"/>
            <a:ext cx="1572768" cy="310896"/>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scenarios already assessed</a:t>
            </a:r>
            <a:endParaRPr lang="en-US" sz="760" dirty="0"/>
          </a:p>
        </p:txBody>
      </p:sp>
      <p:sp>
        <p:nvSpPr>
          <p:cNvPr id="30" name="Text 28"/>
          <p:cNvSpPr txBox="1"/>
          <p:nvPr/>
        </p:nvSpPr>
        <p:spPr>
          <a:xfrm>
            <a:off x="9912096" y="2724912"/>
            <a:ext cx="1572768" cy="310896"/>
          </a:xfrm>
          <a:prstGeom prst="rect">
            <a:avLst/>
          </a:prstGeom>
          <a:noFill/>
          <a:ln/>
        </p:spPr>
        <p:txBody>
          <a:bodyPr wrap="square" lIns="0" tIns="0" rIns="0" bIns="0" rtlCol="0" anchor="ctr"/>
          <a:lstStyle/>
          <a:p>
            <a:pPr indent="0" marL="0">
              <a:buNone/>
            </a:pPr>
            <a:r>
              <a:rPr lang="en-US" sz="2000" b="1" dirty="0">
                <a:solidFill>
                  <a:srgbClr val="15304F"/>
                </a:solidFill>
                <a:latin typeface="Cambria" pitchFamily="34" charset="0"/>
                <a:ea typeface="Cambria" pitchFamily="34" charset="-122"/>
                <a:cs typeface="Cambria" pitchFamily="34" charset="-120"/>
              </a:rPr>
              <a:t>4</a:t>
            </a:r>
            <a:endParaRPr lang="en-US" sz="2000" dirty="0"/>
          </a:p>
        </p:txBody>
      </p:sp>
      <p:sp>
        <p:nvSpPr>
          <p:cNvPr id="31" name="Text 29"/>
          <p:cNvSpPr txBox="1"/>
          <p:nvPr/>
        </p:nvSpPr>
        <p:spPr>
          <a:xfrm>
            <a:off x="9912096" y="3017520"/>
            <a:ext cx="1572768" cy="310896"/>
          </a:xfrm>
          <a:prstGeom prst="rect">
            <a:avLst/>
          </a:prstGeom>
          <a:noFill/>
          <a:ln/>
        </p:spPr>
        <p:txBody>
          <a:bodyPr wrap="square" lIns="0" tIns="0" rIns="0" bIns="0" rtlCol="0" anchor="ctr"/>
          <a:lstStyle/>
          <a:p>
            <a:pPr indent="0" marL="0">
              <a:lnSpc>
                <a:spcPts val="900"/>
              </a:lnSpc>
              <a:buNone/>
            </a:pPr>
            <a:r>
              <a:rPr lang="en-US" sz="760" dirty="0">
                <a:solidFill>
                  <a:srgbClr val="55606E"/>
                </a:solidFill>
                <a:latin typeface="Calibri" pitchFamily="34" charset="0"/>
                <a:ea typeface="Calibri" pitchFamily="34" charset="-122"/>
                <a:cs typeface="Calibri" pitchFamily="34" charset="-120"/>
              </a:rPr>
              <a:t>hard overrides on risk and breadth</a:t>
            </a:r>
            <a:endParaRPr lang="en-US" sz="760" dirty="0"/>
          </a:p>
        </p:txBody>
      </p:sp>
      <p:sp>
        <p:nvSpPr>
          <p:cNvPr id="32" name="Text 30"/>
          <p:cNvSpPr txBox="1"/>
          <p:nvPr/>
        </p:nvSpPr>
        <p:spPr>
          <a:xfrm>
            <a:off x="411480" y="3529584"/>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THE THREE ENABLEMENT MODELS</a:t>
            </a:r>
            <a:endParaRPr lang="en-US" sz="760" dirty="0"/>
          </a:p>
        </p:txBody>
      </p:sp>
      <p:sp>
        <p:nvSpPr>
          <p:cNvPr id="33" name="Shape 31"/>
          <p:cNvSpPr/>
          <p:nvPr/>
        </p:nvSpPr>
        <p:spPr>
          <a:xfrm>
            <a:off x="411480" y="3730752"/>
            <a:ext cx="3621024" cy="1901952"/>
          </a:xfrm>
          <a:prstGeom prst="roundRect">
            <a:avLst>
              <a:gd name="adj" fmla="val 2404"/>
            </a:avLst>
          </a:prstGeom>
          <a:solidFill>
            <a:srgbClr val="FFFFFF"/>
          </a:solidFill>
          <a:ln w="15240">
            <a:solidFill>
              <a:srgbClr val="0B6E6E"/>
            </a:solidFill>
            <a:prstDash val="solid"/>
          </a:ln>
          <a:effectLst>
            <a:outerShdw sx="100000" sy="100000" kx="0" ky="0" algn="bl" rotWithShape="0" blurRad="88900" dist="12700" dir="5400000">
              <a:srgbClr val="97A3B4">
                <a:alpha val="16000"/>
              </a:srgbClr>
            </a:outerShdw>
          </a:effectLst>
        </p:spPr>
      </p:sp>
      <p:sp>
        <p:nvSpPr>
          <p:cNvPr id="34" name="Shape 32"/>
          <p:cNvSpPr/>
          <p:nvPr/>
        </p:nvSpPr>
        <p:spPr>
          <a:xfrm>
            <a:off x="411480" y="3730752"/>
            <a:ext cx="3621024" cy="365760"/>
          </a:xfrm>
          <a:prstGeom prst="rect">
            <a:avLst/>
          </a:prstGeom>
          <a:solidFill>
            <a:srgbClr val="0B6E6E"/>
          </a:solidFill>
          <a:ln w="12700">
            <a:solidFill>
              <a:srgbClr val="333333"/>
            </a:solidFill>
            <a:prstDash val="solid"/>
          </a:ln>
        </p:spPr>
      </p:sp>
      <p:sp>
        <p:nvSpPr>
          <p:cNvPr id="35" name="Text 33"/>
          <p:cNvSpPr txBox="1"/>
          <p:nvPr/>
        </p:nvSpPr>
        <p:spPr>
          <a:xfrm>
            <a:off x="539496" y="3730752"/>
            <a:ext cx="1463040" cy="365760"/>
          </a:xfrm>
          <a:prstGeom prst="rect">
            <a:avLst/>
          </a:prstGeom>
          <a:noFill/>
          <a:ln/>
        </p:spPr>
        <p:txBody>
          <a:bodyPr wrap="square" lIns="0" tIns="0" rIns="0" bIns="0" rtlCol="0" anchor="ctr"/>
          <a:lstStyle/>
          <a:p>
            <a:pPr indent="0" marL="0">
              <a:buNone/>
            </a:pPr>
            <a:r>
              <a:rPr lang="en-US" sz="1100" b="1" spc="80" kern="0" dirty="0">
                <a:solidFill>
                  <a:srgbClr val="FFFFFF"/>
                </a:solidFill>
                <a:latin typeface="Calibri" pitchFamily="34" charset="0"/>
                <a:ea typeface="Calibri" pitchFamily="34" charset="-122"/>
                <a:cs typeface="Calibri" pitchFamily="34" charset="-120"/>
              </a:rPr>
              <a:t>LEAN</a:t>
            </a:r>
            <a:endParaRPr lang="en-US" sz="1100" dirty="0"/>
          </a:p>
        </p:txBody>
      </p:sp>
      <p:sp>
        <p:nvSpPr>
          <p:cNvPr id="36" name="Text 34"/>
          <p:cNvSpPr txBox="1"/>
          <p:nvPr/>
        </p:nvSpPr>
        <p:spPr>
          <a:xfrm>
            <a:off x="1709928" y="3730752"/>
            <a:ext cx="2194560" cy="365760"/>
          </a:xfrm>
          <a:prstGeom prst="rect">
            <a:avLst/>
          </a:prstGeom>
          <a:noFill/>
          <a:ln/>
        </p:spPr>
        <p:txBody>
          <a:bodyPr wrap="square" lIns="0" tIns="0" rIns="0" bIns="0" rtlCol="0" anchor="ctr"/>
          <a:lstStyle/>
          <a:p>
            <a:pPr algn="r" indent="0" marL="0">
              <a:buNone/>
            </a:pPr>
            <a:r>
              <a:rPr lang="en-US" sz="780" dirty="0">
                <a:solidFill>
                  <a:srgbClr val="DCE6EE"/>
                </a:solidFill>
                <a:latin typeface="Calibri" pitchFamily="34" charset="0"/>
                <a:ea typeface="Calibri" pitchFamily="34" charset="-122"/>
                <a:cs typeface="Calibri" pitchFamily="34" charset="-120"/>
              </a:rPr>
              <a:t>Self-service on a proven pattern</a:t>
            </a:r>
            <a:endParaRPr lang="en-US" sz="780" dirty="0"/>
          </a:p>
        </p:txBody>
      </p:sp>
      <p:sp>
        <p:nvSpPr>
          <p:cNvPr id="37" name="Shape 35"/>
          <p:cNvSpPr/>
          <p:nvPr/>
        </p:nvSpPr>
        <p:spPr>
          <a:xfrm>
            <a:off x="438912" y="4169664"/>
            <a:ext cx="3566160" cy="278892"/>
          </a:xfrm>
          <a:prstGeom prst="rect">
            <a:avLst/>
          </a:prstGeom>
          <a:solidFill>
            <a:srgbClr val="F4F7FA"/>
          </a:solidFill>
          <a:ln w="12700">
            <a:solidFill>
              <a:srgbClr val="333333"/>
            </a:solidFill>
            <a:prstDash val="solid"/>
          </a:ln>
        </p:spPr>
      </p:sp>
      <p:sp>
        <p:nvSpPr>
          <p:cNvPr id="38" name="Text 36"/>
          <p:cNvSpPr txBox="1"/>
          <p:nvPr/>
        </p:nvSpPr>
        <p:spPr>
          <a:xfrm>
            <a:off x="539496" y="4169664"/>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Allocated capacity</a:t>
            </a:r>
            <a:endParaRPr lang="en-US" sz="760" dirty="0"/>
          </a:p>
        </p:txBody>
      </p:sp>
      <p:sp>
        <p:nvSpPr>
          <p:cNvPr id="39" name="Text 37"/>
          <p:cNvSpPr txBox="1"/>
          <p:nvPr/>
        </p:nvSpPr>
        <p:spPr>
          <a:xfrm>
            <a:off x="2203704" y="4169664"/>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None</a:t>
            </a:r>
            <a:endParaRPr lang="en-US" sz="760" dirty="0"/>
          </a:p>
        </p:txBody>
      </p:sp>
      <p:sp>
        <p:nvSpPr>
          <p:cNvPr id="40" name="Text 38"/>
          <p:cNvSpPr txBox="1"/>
          <p:nvPr/>
        </p:nvSpPr>
        <p:spPr>
          <a:xfrm>
            <a:off x="539496" y="4448556"/>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ECM involvement</a:t>
            </a:r>
            <a:endParaRPr lang="en-US" sz="760" dirty="0"/>
          </a:p>
        </p:txBody>
      </p:sp>
      <p:sp>
        <p:nvSpPr>
          <p:cNvPr id="41" name="Text 39"/>
          <p:cNvSpPr txBox="1"/>
          <p:nvPr/>
        </p:nvSpPr>
        <p:spPr>
          <a:xfrm>
            <a:off x="2203704" y="4448556"/>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Platform only; humans on gate failure</a:t>
            </a:r>
            <a:endParaRPr lang="en-US" sz="760" dirty="0"/>
          </a:p>
        </p:txBody>
      </p:sp>
      <p:sp>
        <p:nvSpPr>
          <p:cNvPr id="42" name="Shape 40"/>
          <p:cNvSpPr/>
          <p:nvPr/>
        </p:nvSpPr>
        <p:spPr>
          <a:xfrm>
            <a:off x="438912" y="4727448"/>
            <a:ext cx="3566160" cy="278892"/>
          </a:xfrm>
          <a:prstGeom prst="rect">
            <a:avLst/>
          </a:prstGeom>
          <a:solidFill>
            <a:srgbClr val="F4F7FA"/>
          </a:solidFill>
          <a:ln w="12700">
            <a:solidFill>
              <a:srgbClr val="333333"/>
            </a:solidFill>
            <a:prstDash val="solid"/>
          </a:ln>
        </p:spPr>
      </p:sp>
      <p:sp>
        <p:nvSpPr>
          <p:cNvPr id="43" name="Text 41"/>
          <p:cNvSpPr txBox="1"/>
          <p:nvPr/>
        </p:nvSpPr>
        <p:spPr>
          <a:xfrm>
            <a:off x="539496" y="4727448"/>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Start latency</a:t>
            </a:r>
            <a:endParaRPr lang="en-US" sz="760" dirty="0"/>
          </a:p>
        </p:txBody>
      </p:sp>
      <p:sp>
        <p:nvSpPr>
          <p:cNvPr id="44" name="Text 42"/>
          <p:cNvSpPr txBox="1"/>
          <p:nvPr/>
        </p:nvSpPr>
        <p:spPr>
          <a:xfrm>
            <a:off x="2203704" y="4727448"/>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Days</a:t>
            </a:r>
            <a:endParaRPr lang="en-US" sz="760" dirty="0"/>
          </a:p>
        </p:txBody>
      </p:sp>
      <p:sp>
        <p:nvSpPr>
          <p:cNvPr id="45" name="Text 43"/>
          <p:cNvSpPr txBox="1"/>
          <p:nvPr/>
        </p:nvSpPr>
        <p:spPr>
          <a:xfrm>
            <a:off x="539496" y="5006340"/>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Cost of next identical intake</a:t>
            </a:r>
            <a:endParaRPr lang="en-US" sz="760" dirty="0"/>
          </a:p>
        </p:txBody>
      </p:sp>
      <p:sp>
        <p:nvSpPr>
          <p:cNvPr id="46" name="Text 44"/>
          <p:cNvSpPr txBox="1"/>
          <p:nvPr/>
        </p:nvSpPr>
        <p:spPr>
          <a:xfrm>
            <a:off x="2203704" y="5006340"/>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Near zero</a:t>
            </a:r>
            <a:endParaRPr lang="en-US" sz="760" dirty="0"/>
          </a:p>
        </p:txBody>
      </p:sp>
      <p:sp>
        <p:nvSpPr>
          <p:cNvPr id="47" name="Shape 45"/>
          <p:cNvSpPr/>
          <p:nvPr/>
        </p:nvSpPr>
        <p:spPr>
          <a:xfrm>
            <a:off x="438912" y="5285232"/>
            <a:ext cx="3566160" cy="278892"/>
          </a:xfrm>
          <a:prstGeom prst="rect">
            <a:avLst/>
          </a:prstGeom>
          <a:solidFill>
            <a:srgbClr val="F4F7FA"/>
          </a:solidFill>
          <a:ln w="12700">
            <a:solidFill>
              <a:srgbClr val="333333"/>
            </a:solidFill>
            <a:prstDash val="solid"/>
          </a:ln>
        </p:spPr>
      </p:sp>
      <p:sp>
        <p:nvSpPr>
          <p:cNvPr id="48" name="Text 46"/>
          <p:cNvSpPr txBox="1"/>
          <p:nvPr/>
        </p:nvSpPr>
        <p:spPr>
          <a:xfrm>
            <a:off x="539496" y="5285232"/>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Scaling</a:t>
            </a:r>
            <a:endParaRPr lang="en-US" sz="760" dirty="0"/>
          </a:p>
        </p:txBody>
      </p:sp>
      <p:sp>
        <p:nvSpPr>
          <p:cNvPr id="49" name="Text 47"/>
          <p:cNvSpPr txBox="1"/>
          <p:nvPr/>
        </p:nvSpPr>
        <p:spPr>
          <a:xfrm>
            <a:off x="2203704" y="5285232"/>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Flat</a:t>
            </a:r>
            <a:endParaRPr lang="en-US" sz="760" dirty="0"/>
          </a:p>
        </p:txBody>
      </p:sp>
      <p:sp>
        <p:nvSpPr>
          <p:cNvPr id="50" name="Shape 48"/>
          <p:cNvSpPr/>
          <p:nvPr/>
        </p:nvSpPr>
        <p:spPr>
          <a:xfrm>
            <a:off x="4233672" y="3730752"/>
            <a:ext cx="3621024" cy="1901952"/>
          </a:xfrm>
          <a:prstGeom prst="roundRect">
            <a:avLst>
              <a:gd name="adj" fmla="val 2404"/>
            </a:avLst>
          </a:prstGeom>
          <a:solidFill>
            <a:srgbClr val="FFFFFF"/>
          </a:solidFill>
          <a:ln w="15240">
            <a:solidFill>
              <a:srgbClr val="9A6410"/>
            </a:solidFill>
            <a:prstDash val="solid"/>
          </a:ln>
          <a:effectLst>
            <a:outerShdw sx="100000" sy="100000" kx="0" ky="0" algn="bl" rotWithShape="0" blurRad="88900" dist="12700" dir="5400000">
              <a:srgbClr val="97A3B4">
                <a:alpha val="16000"/>
              </a:srgbClr>
            </a:outerShdw>
          </a:effectLst>
        </p:spPr>
      </p:sp>
      <p:sp>
        <p:nvSpPr>
          <p:cNvPr id="51" name="Shape 49"/>
          <p:cNvSpPr/>
          <p:nvPr/>
        </p:nvSpPr>
        <p:spPr>
          <a:xfrm>
            <a:off x="4233672" y="3730752"/>
            <a:ext cx="3621024" cy="365760"/>
          </a:xfrm>
          <a:prstGeom prst="rect">
            <a:avLst/>
          </a:prstGeom>
          <a:solidFill>
            <a:srgbClr val="9A6410"/>
          </a:solidFill>
          <a:ln w="12700">
            <a:solidFill>
              <a:srgbClr val="333333"/>
            </a:solidFill>
            <a:prstDash val="solid"/>
          </a:ln>
        </p:spPr>
      </p:sp>
      <p:sp>
        <p:nvSpPr>
          <p:cNvPr id="52" name="Text 50"/>
          <p:cNvSpPr txBox="1"/>
          <p:nvPr/>
        </p:nvSpPr>
        <p:spPr>
          <a:xfrm>
            <a:off x="4361688" y="3730752"/>
            <a:ext cx="1463040" cy="365760"/>
          </a:xfrm>
          <a:prstGeom prst="rect">
            <a:avLst/>
          </a:prstGeom>
          <a:noFill/>
          <a:ln/>
        </p:spPr>
        <p:txBody>
          <a:bodyPr wrap="square" lIns="0" tIns="0" rIns="0" bIns="0" rtlCol="0" anchor="ctr"/>
          <a:lstStyle/>
          <a:p>
            <a:pPr indent="0" marL="0">
              <a:buNone/>
            </a:pPr>
            <a:r>
              <a:rPr lang="en-US" sz="1100" b="1" spc="80" kern="0" dirty="0">
                <a:solidFill>
                  <a:srgbClr val="FFFFFF"/>
                </a:solidFill>
                <a:latin typeface="Calibri" pitchFamily="34" charset="0"/>
                <a:ea typeface="Calibri" pitchFamily="34" charset="-122"/>
                <a:cs typeface="Calibri" pitchFamily="34" charset="-120"/>
              </a:rPr>
              <a:t>LEAN+</a:t>
            </a:r>
            <a:endParaRPr lang="en-US" sz="1100" dirty="0"/>
          </a:p>
        </p:txBody>
      </p:sp>
      <p:sp>
        <p:nvSpPr>
          <p:cNvPr id="53" name="Text 51"/>
          <p:cNvSpPr txBox="1"/>
          <p:nvPr/>
        </p:nvSpPr>
        <p:spPr>
          <a:xfrm>
            <a:off x="5532120" y="3730752"/>
            <a:ext cx="2194560" cy="365760"/>
          </a:xfrm>
          <a:prstGeom prst="rect">
            <a:avLst/>
          </a:prstGeom>
          <a:noFill/>
          <a:ln/>
        </p:spPr>
        <p:txBody>
          <a:bodyPr wrap="square" lIns="0" tIns="0" rIns="0" bIns="0" rtlCol="0" anchor="ctr"/>
          <a:lstStyle/>
          <a:p>
            <a:pPr algn="r" indent="0" marL="0">
              <a:buNone/>
            </a:pPr>
            <a:r>
              <a:rPr lang="en-US" sz="780" dirty="0">
                <a:solidFill>
                  <a:srgbClr val="DCE6EE"/>
                </a:solidFill>
                <a:latin typeface="Calibri" pitchFamily="34" charset="0"/>
                <a:ea typeface="Calibri" pitchFamily="34" charset="-122"/>
                <a:cs typeface="Calibri" pitchFamily="34" charset="-120"/>
              </a:rPr>
              <a:t>Shared pool with design assurance</a:t>
            </a:r>
            <a:endParaRPr lang="en-US" sz="780" dirty="0"/>
          </a:p>
        </p:txBody>
      </p:sp>
      <p:sp>
        <p:nvSpPr>
          <p:cNvPr id="54" name="Shape 52"/>
          <p:cNvSpPr/>
          <p:nvPr/>
        </p:nvSpPr>
        <p:spPr>
          <a:xfrm>
            <a:off x="4261104" y="4169664"/>
            <a:ext cx="3566160" cy="278892"/>
          </a:xfrm>
          <a:prstGeom prst="rect">
            <a:avLst/>
          </a:prstGeom>
          <a:solidFill>
            <a:srgbClr val="F4F7FA"/>
          </a:solidFill>
          <a:ln w="12700">
            <a:solidFill>
              <a:srgbClr val="333333"/>
            </a:solidFill>
            <a:prstDash val="solid"/>
          </a:ln>
        </p:spPr>
      </p:sp>
      <p:sp>
        <p:nvSpPr>
          <p:cNvPr id="55" name="Text 53"/>
          <p:cNvSpPr txBox="1"/>
          <p:nvPr/>
        </p:nvSpPr>
        <p:spPr>
          <a:xfrm>
            <a:off x="4361688" y="4169664"/>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Allocated capacity</a:t>
            </a:r>
            <a:endParaRPr lang="en-US" sz="760" dirty="0"/>
          </a:p>
        </p:txBody>
      </p:sp>
      <p:sp>
        <p:nvSpPr>
          <p:cNvPr id="56" name="Text 54"/>
          <p:cNvSpPr txBox="1"/>
          <p:nvPr/>
        </p:nvSpPr>
        <p:spPr>
          <a:xfrm>
            <a:off x="6025896" y="4169664"/>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None — shared pool</a:t>
            </a:r>
            <a:endParaRPr lang="en-US" sz="760" dirty="0"/>
          </a:p>
        </p:txBody>
      </p:sp>
      <p:sp>
        <p:nvSpPr>
          <p:cNvPr id="57" name="Text 55"/>
          <p:cNvSpPr txBox="1"/>
          <p:nvPr/>
        </p:nvSpPr>
        <p:spPr>
          <a:xfrm>
            <a:off x="4361688" y="4448556"/>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ECM involvement</a:t>
            </a:r>
            <a:endParaRPr lang="en-US" sz="760" dirty="0"/>
          </a:p>
        </p:txBody>
      </p:sp>
      <p:sp>
        <p:nvSpPr>
          <p:cNvPr id="58" name="Text 56"/>
          <p:cNvSpPr txBox="1"/>
          <p:nvPr/>
        </p:nvSpPr>
        <p:spPr>
          <a:xfrm>
            <a:off x="6025896" y="4448556"/>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Two design checkpoints, named guide</a:t>
            </a:r>
            <a:endParaRPr lang="en-US" sz="760" dirty="0"/>
          </a:p>
        </p:txBody>
      </p:sp>
      <p:sp>
        <p:nvSpPr>
          <p:cNvPr id="59" name="Shape 57"/>
          <p:cNvSpPr/>
          <p:nvPr/>
        </p:nvSpPr>
        <p:spPr>
          <a:xfrm>
            <a:off x="4261104" y="4727448"/>
            <a:ext cx="3566160" cy="278892"/>
          </a:xfrm>
          <a:prstGeom prst="rect">
            <a:avLst/>
          </a:prstGeom>
          <a:solidFill>
            <a:srgbClr val="F4F7FA"/>
          </a:solidFill>
          <a:ln w="12700">
            <a:solidFill>
              <a:srgbClr val="333333"/>
            </a:solidFill>
            <a:prstDash val="solid"/>
          </a:ln>
        </p:spPr>
      </p:sp>
      <p:sp>
        <p:nvSpPr>
          <p:cNvPr id="60" name="Text 58"/>
          <p:cNvSpPr txBox="1"/>
          <p:nvPr/>
        </p:nvSpPr>
        <p:spPr>
          <a:xfrm>
            <a:off x="4361688" y="4727448"/>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Start latency</a:t>
            </a:r>
            <a:endParaRPr lang="en-US" sz="760" dirty="0"/>
          </a:p>
        </p:txBody>
      </p:sp>
      <p:sp>
        <p:nvSpPr>
          <p:cNvPr id="61" name="Text 59"/>
          <p:cNvSpPr txBox="1"/>
          <p:nvPr/>
        </p:nvSpPr>
        <p:spPr>
          <a:xfrm>
            <a:off x="6025896" y="4727448"/>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Weeks</a:t>
            </a:r>
            <a:endParaRPr lang="en-US" sz="760" dirty="0"/>
          </a:p>
        </p:txBody>
      </p:sp>
      <p:sp>
        <p:nvSpPr>
          <p:cNvPr id="62" name="Text 60"/>
          <p:cNvSpPr txBox="1"/>
          <p:nvPr/>
        </p:nvSpPr>
        <p:spPr>
          <a:xfrm>
            <a:off x="4361688" y="5006340"/>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Cost of next identical intake</a:t>
            </a:r>
            <a:endParaRPr lang="en-US" sz="760" dirty="0"/>
          </a:p>
        </p:txBody>
      </p:sp>
      <p:sp>
        <p:nvSpPr>
          <p:cNvPr id="63" name="Text 61"/>
          <p:cNvSpPr txBox="1"/>
          <p:nvPr/>
        </p:nvSpPr>
        <p:spPr>
          <a:xfrm>
            <a:off x="6025896" y="5006340"/>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Checkpoint hours</a:t>
            </a:r>
            <a:endParaRPr lang="en-US" sz="760" dirty="0"/>
          </a:p>
        </p:txBody>
      </p:sp>
      <p:sp>
        <p:nvSpPr>
          <p:cNvPr id="64" name="Shape 62"/>
          <p:cNvSpPr/>
          <p:nvPr/>
        </p:nvSpPr>
        <p:spPr>
          <a:xfrm>
            <a:off x="4261104" y="5285232"/>
            <a:ext cx="3566160" cy="278892"/>
          </a:xfrm>
          <a:prstGeom prst="rect">
            <a:avLst/>
          </a:prstGeom>
          <a:solidFill>
            <a:srgbClr val="F4F7FA"/>
          </a:solidFill>
          <a:ln w="12700">
            <a:solidFill>
              <a:srgbClr val="333333"/>
            </a:solidFill>
            <a:prstDash val="solid"/>
          </a:ln>
        </p:spPr>
      </p:sp>
      <p:sp>
        <p:nvSpPr>
          <p:cNvPr id="65" name="Text 63"/>
          <p:cNvSpPr txBox="1"/>
          <p:nvPr/>
        </p:nvSpPr>
        <p:spPr>
          <a:xfrm>
            <a:off x="4361688" y="5285232"/>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Scaling</a:t>
            </a:r>
            <a:endParaRPr lang="en-US" sz="760" dirty="0"/>
          </a:p>
        </p:txBody>
      </p:sp>
      <p:sp>
        <p:nvSpPr>
          <p:cNvPr id="66" name="Text 64"/>
          <p:cNvSpPr txBox="1"/>
          <p:nvPr/>
        </p:nvSpPr>
        <p:spPr>
          <a:xfrm>
            <a:off x="6025896" y="5285232"/>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Sub-linear</a:t>
            </a:r>
            <a:endParaRPr lang="en-US" sz="760" dirty="0"/>
          </a:p>
        </p:txBody>
      </p:sp>
      <p:sp>
        <p:nvSpPr>
          <p:cNvPr id="67" name="Shape 65"/>
          <p:cNvSpPr/>
          <p:nvPr/>
        </p:nvSpPr>
        <p:spPr>
          <a:xfrm>
            <a:off x="8055864" y="3730752"/>
            <a:ext cx="3621024" cy="1901952"/>
          </a:xfrm>
          <a:prstGeom prst="roundRect">
            <a:avLst>
              <a:gd name="adj" fmla="val 2404"/>
            </a:avLst>
          </a:prstGeom>
          <a:solidFill>
            <a:srgbClr val="FFFFFF"/>
          </a:solidFill>
          <a:ln w="15240">
            <a:solidFill>
              <a:srgbClr val="15304F"/>
            </a:solidFill>
            <a:prstDash val="solid"/>
          </a:ln>
          <a:effectLst>
            <a:outerShdw sx="100000" sy="100000" kx="0" ky="0" algn="bl" rotWithShape="0" blurRad="88900" dist="12700" dir="5400000">
              <a:srgbClr val="97A3B4">
                <a:alpha val="16000"/>
              </a:srgbClr>
            </a:outerShdw>
          </a:effectLst>
        </p:spPr>
      </p:sp>
      <p:sp>
        <p:nvSpPr>
          <p:cNvPr id="68" name="Shape 66"/>
          <p:cNvSpPr/>
          <p:nvPr/>
        </p:nvSpPr>
        <p:spPr>
          <a:xfrm>
            <a:off x="8055864" y="3730752"/>
            <a:ext cx="3621024" cy="365760"/>
          </a:xfrm>
          <a:prstGeom prst="rect">
            <a:avLst/>
          </a:prstGeom>
          <a:solidFill>
            <a:srgbClr val="15304F"/>
          </a:solidFill>
          <a:ln w="12700">
            <a:solidFill>
              <a:srgbClr val="333333"/>
            </a:solidFill>
            <a:prstDash val="solid"/>
          </a:ln>
        </p:spPr>
      </p:sp>
      <p:sp>
        <p:nvSpPr>
          <p:cNvPr id="69" name="Text 67"/>
          <p:cNvSpPr txBox="1"/>
          <p:nvPr/>
        </p:nvSpPr>
        <p:spPr>
          <a:xfrm>
            <a:off x="8183880" y="3730752"/>
            <a:ext cx="1463040" cy="365760"/>
          </a:xfrm>
          <a:prstGeom prst="rect">
            <a:avLst/>
          </a:prstGeom>
          <a:noFill/>
          <a:ln/>
        </p:spPr>
        <p:txBody>
          <a:bodyPr wrap="square" lIns="0" tIns="0" rIns="0" bIns="0" rtlCol="0" anchor="ctr"/>
          <a:lstStyle/>
          <a:p>
            <a:pPr indent="0" marL="0">
              <a:buNone/>
            </a:pPr>
            <a:r>
              <a:rPr lang="en-US" sz="1100" b="1" spc="80" kern="0" dirty="0">
                <a:solidFill>
                  <a:srgbClr val="FFFFFF"/>
                </a:solidFill>
                <a:latin typeface="Calibri" pitchFamily="34" charset="0"/>
                <a:ea typeface="Calibri" pitchFamily="34" charset="-122"/>
                <a:cs typeface="Calibri" pitchFamily="34" charset="-120"/>
              </a:rPr>
              <a:t>DEDICATED</a:t>
            </a:r>
            <a:endParaRPr lang="en-US" sz="1100" dirty="0"/>
          </a:p>
        </p:txBody>
      </p:sp>
      <p:sp>
        <p:nvSpPr>
          <p:cNvPr id="70" name="Text 68"/>
          <p:cNvSpPr txBox="1"/>
          <p:nvPr/>
        </p:nvSpPr>
        <p:spPr>
          <a:xfrm>
            <a:off x="9354312" y="3730752"/>
            <a:ext cx="2194560" cy="365760"/>
          </a:xfrm>
          <a:prstGeom prst="rect">
            <a:avLst/>
          </a:prstGeom>
          <a:noFill/>
          <a:ln/>
        </p:spPr>
        <p:txBody>
          <a:bodyPr wrap="square" lIns="0" tIns="0" rIns="0" bIns="0" rtlCol="0" anchor="ctr"/>
          <a:lstStyle/>
          <a:p>
            <a:pPr algn="r" indent="0" marL="0">
              <a:buNone/>
            </a:pPr>
            <a:r>
              <a:rPr lang="en-US" sz="780" dirty="0">
                <a:solidFill>
                  <a:srgbClr val="DCE6EE"/>
                </a:solidFill>
                <a:latin typeface="Calibri" pitchFamily="34" charset="0"/>
                <a:ea typeface="Calibri" pitchFamily="34" charset="-122"/>
                <a:cs typeface="Calibri" pitchFamily="34" charset="-120"/>
              </a:rPr>
              <a:t>Allocated pod, inception to release</a:t>
            </a:r>
            <a:endParaRPr lang="en-US" sz="780" dirty="0"/>
          </a:p>
        </p:txBody>
      </p:sp>
      <p:sp>
        <p:nvSpPr>
          <p:cNvPr id="71" name="Shape 69"/>
          <p:cNvSpPr/>
          <p:nvPr/>
        </p:nvSpPr>
        <p:spPr>
          <a:xfrm>
            <a:off x="8083296" y="4169664"/>
            <a:ext cx="3566160" cy="278892"/>
          </a:xfrm>
          <a:prstGeom prst="rect">
            <a:avLst/>
          </a:prstGeom>
          <a:solidFill>
            <a:srgbClr val="F4F7FA"/>
          </a:solidFill>
          <a:ln w="12700">
            <a:solidFill>
              <a:srgbClr val="333333"/>
            </a:solidFill>
            <a:prstDash val="solid"/>
          </a:ln>
        </p:spPr>
      </p:sp>
      <p:sp>
        <p:nvSpPr>
          <p:cNvPr id="72" name="Text 70"/>
          <p:cNvSpPr txBox="1"/>
          <p:nvPr/>
        </p:nvSpPr>
        <p:spPr>
          <a:xfrm>
            <a:off x="8183880" y="4169664"/>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Allocated capacity</a:t>
            </a:r>
            <a:endParaRPr lang="en-US" sz="760" dirty="0"/>
          </a:p>
        </p:txBody>
      </p:sp>
      <p:sp>
        <p:nvSpPr>
          <p:cNvPr id="73" name="Text 71"/>
          <p:cNvSpPr txBox="1"/>
          <p:nvPr/>
        </p:nvSpPr>
        <p:spPr>
          <a:xfrm>
            <a:off x="9848088" y="4169664"/>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Dedicated pod</a:t>
            </a:r>
            <a:endParaRPr lang="en-US" sz="760" dirty="0"/>
          </a:p>
        </p:txBody>
      </p:sp>
      <p:sp>
        <p:nvSpPr>
          <p:cNvPr id="74" name="Text 72"/>
          <p:cNvSpPr txBox="1"/>
          <p:nvPr/>
        </p:nvSpPr>
        <p:spPr>
          <a:xfrm>
            <a:off x="8183880" y="4448556"/>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ECM involvement</a:t>
            </a:r>
            <a:endParaRPr lang="en-US" sz="760" dirty="0"/>
          </a:p>
        </p:txBody>
      </p:sp>
      <p:sp>
        <p:nvSpPr>
          <p:cNvPr id="75" name="Text 73"/>
          <p:cNvSpPr txBox="1"/>
          <p:nvPr/>
        </p:nvSpPr>
        <p:spPr>
          <a:xfrm>
            <a:off x="9848088" y="4448556"/>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End-to-end delivery</a:t>
            </a:r>
            <a:endParaRPr lang="en-US" sz="760" dirty="0"/>
          </a:p>
        </p:txBody>
      </p:sp>
      <p:sp>
        <p:nvSpPr>
          <p:cNvPr id="76" name="Shape 74"/>
          <p:cNvSpPr/>
          <p:nvPr/>
        </p:nvSpPr>
        <p:spPr>
          <a:xfrm>
            <a:off x="8083296" y="4727448"/>
            <a:ext cx="3566160" cy="278892"/>
          </a:xfrm>
          <a:prstGeom prst="rect">
            <a:avLst/>
          </a:prstGeom>
          <a:solidFill>
            <a:srgbClr val="F4F7FA"/>
          </a:solidFill>
          <a:ln w="12700">
            <a:solidFill>
              <a:srgbClr val="333333"/>
            </a:solidFill>
            <a:prstDash val="solid"/>
          </a:ln>
        </p:spPr>
      </p:sp>
      <p:sp>
        <p:nvSpPr>
          <p:cNvPr id="77" name="Text 75"/>
          <p:cNvSpPr txBox="1"/>
          <p:nvPr/>
        </p:nvSpPr>
        <p:spPr>
          <a:xfrm>
            <a:off x="8183880" y="4727448"/>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Start latency</a:t>
            </a:r>
            <a:endParaRPr lang="en-US" sz="760" dirty="0"/>
          </a:p>
        </p:txBody>
      </p:sp>
      <p:sp>
        <p:nvSpPr>
          <p:cNvPr id="78" name="Text 76"/>
          <p:cNvSpPr txBox="1"/>
          <p:nvPr/>
        </p:nvSpPr>
        <p:spPr>
          <a:xfrm>
            <a:off x="9848088" y="4727448"/>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Planning increment</a:t>
            </a:r>
            <a:endParaRPr lang="en-US" sz="760" dirty="0"/>
          </a:p>
        </p:txBody>
      </p:sp>
      <p:sp>
        <p:nvSpPr>
          <p:cNvPr id="79" name="Text 77"/>
          <p:cNvSpPr txBox="1"/>
          <p:nvPr/>
        </p:nvSpPr>
        <p:spPr>
          <a:xfrm>
            <a:off x="8183880" y="5006340"/>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Cost of next identical intake</a:t>
            </a:r>
            <a:endParaRPr lang="en-US" sz="760" dirty="0"/>
          </a:p>
        </p:txBody>
      </p:sp>
      <p:sp>
        <p:nvSpPr>
          <p:cNvPr id="80" name="Text 78"/>
          <p:cNvSpPr txBox="1"/>
          <p:nvPr/>
        </p:nvSpPr>
        <p:spPr>
          <a:xfrm>
            <a:off x="9848088" y="5006340"/>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Full allocation</a:t>
            </a:r>
            <a:endParaRPr lang="en-US" sz="760" dirty="0"/>
          </a:p>
        </p:txBody>
      </p:sp>
      <p:sp>
        <p:nvSpPr>
          <p:cNvPr id="81" name="Shape 79"/>
          <p:cNvSpPr/>
          <p:nvPr/>
        </p:nvSpPr>
        <p:spPr>
          <a:xfrm>
            <a:off x="8083296" y="5285232"/>
            <a:ext cx="3566160" cy="278892"/>
          </a:xfrm>
          <a:prstGeom prst="rect">
            <a:avLst/>
          </a:prstGeom>
          <a:solidFill>
            <a:srgbClr val="F4F7FA"/>
          </a:solidFill>
          <a:ln w="12700">
            <a:solidFill>
              <a:srgbClr val="333333"/>
            </a:solidFill>
            <a:prstDash val="solid"/>
          </a:ln>
        </p:spPr>
      </p:sp>
      <p:sp>
        <p:nvSpPr>
          <p:cNvPr id="82" name="Text 80"/>
          <p:cNvSpPr txBox="1"/>
          <p:nvPr/>
        </p:nvSpPr>
        <p:spPr>
          <a:xfrm>
            <a:off x="8183880" y="5285232"/>
            <a:ext cx="1645920" cy="278892"/>
          </a:xfrm>
          <a:prstGeom prst="rect">
            <a:avLst/>
          </a:prstGeom>
          <a:noFill/>
          <a:ln/>
        </p:spPr>
        <p:txBody>
          <a:bodyPr wrap="square" lIns="0" tIns="0" rIns="0" bIns="0" rtlCol="0" anchor="ctr"/>
          <a:lstStyle/>
          <a:p>
            <a:pPr indent="0" marL="0">
              <a:buNone/>
            </a:pPr>
            <a:r>
              <a:rPr lang="en-US" sz="760" dirty="0">
                <a:solidFill>
                  <a:srgbClr val="55606E"/>
                </a:solidFill>
                <a:latin typeface="Calibri" pitchFamily="34" charset="0"/>
                <a:ea typeface="Calibri" pitchFamily="34" charset="-122"/>
                <a:cs typeface="Calibri" pitchFamily="34" charset="-120"/>
              </a:rPr>
              <a:t>Scaling</a:t>
            </a:r>
            <a:endParaRPr lang="en-US" sz="760" dirty="0"/>
          </a:p>
        </p:txBody>
      </p:sp>
      <p:sp>
        <p:nvSpPr>
          <p:cNvPr id="83" name="Text 81"/>
          <p:cNvSpPr txBox="1"/>
          <p:nvPr/>
        </p:nvSpPr>
        <p:spPr>
          <a:xfrm>
            <a:off x="9848088" y="5285232"/>
            <a:ext cx="1700784" cy="278892"/>
          </a:xfrm>
          <a:prstGeom prst="rect">
            <a:avLst/>
          </a:prstGeom>
          <a:noFill/>
          <a:ln/>
        </p:spPr>
        <p:txBody>
          <a:bodyPr wrap="square" lIns="0" tIns="0" rIns="0" bIns="0" rtlCol="0" anchor="ctr"/>
          <a:lstStyle/>
          <a:p>
            <a:pPr algn="r" indent="0" marL="0">
              <a:buNone/>
            </a:pPr>
            <a:r>
              <a:rPr lang="en-US" sz="760" b="1" dirty="0">
                <a:solidFill>
                  <a:srgbClr val="1B2432"/>
                </a:solidFill>
                <a:latin typeface="Calibri" pitchFamily="34" charset="0"/>
                <a:ea typeface="Calibri" pitchFamily="34" charset="-122"/>
                <a:cs typeface="Calibri" pitchFamily="34" charset="-120"/>
              </a:rPr>
              <a:t>Linear</a:t>
            </a:r>
            <a:endParaRPr lang="en-US" sz="760" dirty="0"/>
          </a:p>
        </p:txBody>
      </p:sp>
      <p:sp>
        <p:nvSpPr>
          <p:cNvPr id="84" name="Shape 82"/>
          <p:cNvSpPr/>
          <p:nvPr/>
        </p:nvSpPr>
        <p:spPr>
          <a:xfrm>
            <a:off x="411480" y="5779008"/>
            <a:ext cx="11338560" cy="438912"/>
          </a:xfrm>
          <a:prstGeom prst="roundRect">
            <a:avLst>
              <a:gd name="adj" fmla="val 10417"/>
            </a:avLst>
          </a:prstGeom>
          <a:solidFill>
            <a:srgbClr val="FBF0EB"/>
          </a:solidFill>
          <a:ln w="12700">
            <a:solidFill>
              <a:srgbClr val="A44A2A"/>
            </a:solidFill>
            <a:prstDash val="solid"/>
          </a:ln>
        </p:spPr>
      </p:sp>
      <p:sp>
        <p:nvSpPr>
          <p:cNvPr id="85" name="Text 83"/>
          <p:cNvSpPr txBox="1"/>
          <p:nvPr/>
        </p:nvSpPr>
        <p:spPr>
          <a:xfrm>
            <a:off x="557784" y="5779008"/>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The counterintuitive point partners must hear first: Dedicated is not the premium service, it is the slowest one — it queues for scarce capacity. Lean partners go live sooner precisely because nothing has to become free first. Without this reframing, every partner negotiates for Dedicated and the model fails on day one.</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What changes, and what it is worth</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The distribution is not static — it is a function of pattern investment, which ECM controls</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gain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Text 6"/>
          <p:cNvSpPr txBox="1"/>
          <p:nvPr/>
        </p:nvSpPr>
        <p:spPr>
          <a:xfrm>
            <a:off x="411480" y="1060704"/>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SCENARIO DISTRIBUTION — ENTRY STATE TO STEADY STATE</a:t>
            </a:r>
            <a:endParaRPr lang="en-US" sz="760" dirty="0"/>
          </a:p>
        </p:txBody>
      </p:sp>
      <p:sp>
        <p:nvSpPr>
          <p:cNvPr id="9" name="Shape 7"/>
          <p:cNvSpPr/>
          <p:nvPr/>
        </p:nvSpPr>
        <p:spPr>
          <a:xfrm>
            <a:off x="411480" y="1261872"/>
            <a:ext cx="6720840" cy="2066544"/>
          </a:xfrm>
          <a:prstGeom prst="roundRect">
            <a:avLst>
              <a:gd name="adj" fmla="val 2212"/>
            </a:avLst>
          </a:prstGeom>
          <a:solidFill>
            <a:srgbClr val="FFFFFF"/>
          </a:solidFill>
          <a:ln w="12700">
            <a:solidFill>
              <a:srgbClr val="D4DAE2"/>
            </a:solidFill>
            <a:prstDash val="solid"/>
          </a:ln>
          <a:effectLst>
            <a:outerShdw sx="100000" sy="100000" kx="0" ky="0" algn="bl" rotWithShape="0" blurRad="88900" dist="12700" dir="5400000">
              <a:srgbClr val="97A3B4">
                <a:alpha val="16000"/>
              </a:srgbClr>
            </a:outerShdw>
          </a:effectLst>
        </p:spPr>
      </p:sp>
      <p:sp>
        <p:nvSpPr>
          <p:cNvPr id="10" name="Text 8"/>
          <p:cNvSpPr txBox="1"/>
          <p:nvPr/>
        </p:nvSpPr>
        <p:spPr>
          <a:xfrm>
            <a:off x="576072" y="1463040"/>
            <a:ext cx="1097280" cy="365760"/>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Today</a:t>
            </a:r>
            <a:endParaRPr lang="en-US" sz="900" dirty="0"/>
          </a:p>
        </p:txBody>
      </p:sp>
      <p:sp>
        <p:nvSpPr>
          <p:cNvPr id="11" name="Shape 9"/>
          <p:cNvSpPr/>
          <p:nvPr/>
        </p:nvSpPr>
        <p:spPr>
          <a:xfrm>
            <a:off x="1728216" y="1463040"/>
            <a:ext cx="5230368" cy="365760"/>
          </a:xfrm>
          <a:prstGeom prst="roundRect">
            <a:avLst>
              <a:gd name="adj" fmla="val 7500"/>
            </a:avLst>
          </a:prstGeom>
          <a:solidFill>
            <a:srgbClr val="15304F"/>
          </a:solidFill>
          <a:ln w="12700">
            <a:solidFill>
              <a:srgbClr val="333333"/>
            </a:solidFill>
            <a:prstDash val="solid"/>
          </a:ln>
        </p:spPr>
      </p:sp>
      <p:sp>
        <p:nvSpPr>
          <p:cNvPr id="12" name="Text 10"/>
          <p:cNvSpPr txBox="1"/>
          <p:nvPr/>
        </p:nvSpPr>
        <p:spPr>
          <a:xfrm>
            <a:off x="1728216" y="1463040"/>
            <a:ext cx="5230368"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All 38 Dedicated</a:t>
            </a:r>
            <a:endParaRPr lang="en-US" sz="950" dirty="0"/>
          </a:p>
        </p:txBody>
      </p:sp>
      <p:sp>
        <p:nvSpPr>
          <p:cNvPr id="13" name="Text 11"/>
          <p:cNvSpPr txBox="1"/>
          <p:nvPr/>
        </p:nvSpPr>
        <p:spPr>
          <a:xfrm>
            <a:off x="576072" y="2011680"/>
            <a:ext cx="1097280" cy="365760"/>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At entry</a:t>
            </a:r>
            <a:endParaRPr lang="en-US" sz="900" dirty="0"/>
          </a:p>
        </p:txBody>
      </p:sp>
      <p:sp>
        <p:nvSpPr>
          <p:cNvPr id="14" name="Shape 12"/>
          <p:cNvSpPr/>
          <p:nvPr/>
        </p:nvSpPr>
        <p:spPr>
          <a:xfrm>
            <a:off x="1728216" y="2011680"/>
            <a:ext cx="1080917" cy="365760"/>
          </a:xfrm>
          <a:prstGeom prst="roundRect">
            <a:avLst>
              <a:gd name="adj" fmla="val 7500"/>
            </a:avLst>
          </a:prstGeom>
          <a:solidFill>
            <a:srgbClr val="0B6E6E"/>
          </a:solidFill>
          <a:ln w="12700">
            <a:solidFill>
              <a:srgbClr val="333333"/>
            </a:solidFill>
            <a:prstDash val="solid"/>
          </a:ln>
        </p:spPr>
      </p:sp>
      <p:sp>
        <p:nvSpPr>
          <p:cNvPr id="15" name="Text 13"/>
          <p:cNvSpPr txBox="1"/>
          <p:nvPr/>
        </p:nvSpPr>
        <p:spPr>
          <a:xfrm>
            <a:off x="1728216" y="2011680"/>
            <a:ext cx="1080917"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8</a:t>
            </a:r>
            <a:endParaRPr lang="en-US" sz="950" dirty="0"/>
          </a:p>
        </p:txBody>
      </p:sp>
      <p:sp>
        <p:nvSpPr>
          <p:cNvPr id="16" name="Shape 14"/>
          <p:cNvSpPr/>
          <p:nvPr/>
        </p:nvSpPr>
        <p:spPr>
          <a:xfrm>
            <a:off x="2841137" y="2011680"/>
            <a:ext cx="1891605" cy="365760"/>
          </a:xfrm>
          <a:prstGeom prst="roundRect">
            <a:avLst>
              <a:gd name="adj" fmla="val 7500"/>
            </a:avLst>
          </a:prstGeom>
          <a:solidFill>
            <a:srgbClr val="9A6410"/>
          </a:solidFill>
          <a:ln w="12700">
            <a:solidFill>
              <a:srgbClr val="333333"/>
            </a:solidFill>
            <a:prstDash val="solid"/>
          </a:ln>
        </p:spPr>
      </p:sp>
      <p:sp>
        <p:nvSpPr>
          <p:cNvPr id="17" name="Text 15"/>
          <p:cNvSpPr txBox="1"/>
          <p:nvPr/>
        </p:nvSpPr>
        <p:spPr>
          <a:xfrm>
            <a:off x="2841137" y="2011680"/>
            <a:ext cx="1891605"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14</a:t>
            </a:r>
            <a:endParaRPr lang="en-US" sz="950" dirty="0"/>
          </a:p>
        </p:txBody>
      </p:sp>
      <p:sp>
        <p:nvSpPr>
          <p:cNvPr id="18" name="Shape 16"/>
          <p:cNvSpPr/>
          <p:nvPr/>
        </p:nvSpPr>
        <p:spPr>
          <a:xfrm>
            <a:off x="4764746" y="2011680"/>
            <a:ext cx="1891605" cy="365760"/>
          </a:xfrm>
          <a:prstGeom prst="roundRect">
            <a:avLst>
              <a:gd name="adj" fmla="val 7500"/>
            </a:avLst>
          </a:prstGeom>
          <a:solidFill>
            <a:srgbClr val="15304F"/>
          </a:solidFill>
          <a:ln w="12700">
            <a:solidFill>
              <a:srgbClr val="333333"/>
            </a:solidFill>
            <a:prstDash val="solid"/>
          </a:ln>
        </p:spPr>
      </p:sp>
      <p:sp>
        <p:nvSpPr>
          <p:cNvPr id="19" name="Text 17"/>
          <p:cNvSpPr txBox="1"/>
          <p:nvPr/>
        </p:nvSpPr>
        <p:spPr>
          <a:xfrm>
            <a:off x="4764746" y="2011680"/>
            <a:ext cx="1891605"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14</a:t>
            </a:r>
            <a:endParaRPr lang="en-US" sz="950" dirty="0"/>
          </a:p>
        </p:txBody>
      </p:sp>
      <p:sp>
        <p:nvSpPr>
          <p:cNvPr id="20" name="Shape 18"/>
          <p:cNvSpPr/>
          <p:nvPr/>
        </p:nvSpPr>
        <p:spPr>
          <a:xfrm>
            <a:off x="6688355" y="2011680"/>
            <a:ext cx="270229" cy="365760"/>
          </a:xfrm>
          <a:prstGeom prst="roundRect">
            <a:avLst>
              <a:gd name="adj" fmla="val 10151"/>
            </a:avLst>
          </a:prstGeom>
          <a:solidFill>
            <a:srgbClr val="5B4A72"/>
          </a:solidFill>
          <a:ln w="12700">
            <a:solidFill>
              <a:srgbClr val="333333"/>
            </a:solidFill>
            <a:prstDash val="solid"/>
          </a:ln>
        </p:spPr>
      </p:sp>
      <p:sp>
        <p:nvSpPr>
          <p:cNvPr id="21" name="Text 19"/>
          <p:cNvSpPr txBox="1"/>
          <p:nvPr/>
        </p:nvSpPr>
        <p:spPr>
          <a:xfrm>
            <a:off x="576072" y="2560320"/>
            <a:ext cx="1097280" cy="365760"/>
          </a:xfrm>
          <a:prstGeom prst="rect">
            <a:avLst/>
          </a:prstGeom>
          <a:noFill/>
          <a:ln/>
        </p:spPr>
        <p:txBody>
          <a:bodyPr wrap="square" lIns="0" tIns="0" rIns="0" bIns="0" rtlCol="0" anchor="ctr"/>
          <a:lstStyle/>
          <a:p>
            <a:pPr indent="0" marL="0">
              <a:buNone/>
            </a:pPr>
            <a:r>
              <a:rPr lang="en-US" sz="900" b="1" dirty="0">
                <a:solidFill>
                  <a:srgbClr val="1B2432"/>
                </a:solidFill>
                <a:latin typeface="Calibri" pitchFamily="34" charset="0"/>
                <a:ea typeface="Calibri" pitchFamily="34" charset="-122"/>
                <a:cs typeface="Calibri" pitchFamily="34" charset="-120"/>
              </a:rPr>
              <a:t>Steady state</a:t>
            </a:r>
            <a:endParaRPr lang="en-US" sz="900" dirty="0"/>
          </a:p>
        </p:txBody>
      </p:sp>
      <p:sp>
        <p:nvSpPr>
          <p:cNvPr id="22" name="Shape 20"/>
          <p:cNvSpPr/>
          <p:nvPr/>
        </p:nvSpPr>
        <p:spPr>
          <a:xfrm>
            <a:off x="1728216" y="2560320"/>
            <a:ext cx="2161834" cy="365760"/>
          </a:xfrm>
          <a:prstGeom prst="roundRect">
            <a:avLst>
              <a:gd name="adj" fmla="val 7500"/>
            </a:avLst>
          </a:prstGeom>
          <a:solidFill>
            <a:srgbClr val="0B6E6E"/>
          </a:solidFill>
          <a:ln w="12700">
            <a:solidFill>
              <a:srgbClr val="333333"/>
            </a:solidFill>
            <a:prstDash val="solid"/>
          </a:ln>
        </p:spPr>
      </p:sp>
      <p:sp>
        <p:nvSpPr>
          <p:cNvPr id="23" name="Text 21"/>
          <p:cNvSpPr txBox="1"/>
          <p:nvPr/>
        </p:nvSpPr>
        <p:spPr>
          <a:xfrm>
            <a:off x="1728216" y="2560320"/>
            <a:ext cx="2161834"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16</a:t>
            </a:r>
            <a:endParaRPr lang="en-US" sz="950" dirty="0"/>
          </a:p>
        </p:txBody>
      </p:sp>
      <p:sp>
        <p:nvSpPr>
          <p:cNvPr id="24" name="Shape 22"/>
          <p:cNvSpPr/>
          <p:nvPr/>
        </p:nvSpPr>
        <p:spPr>
          <a:xfrm>
            <a:off x="3922054" y="2560320"/>
            <a:ext cx="1756490" cy="365760"/>
          </a:xfrm>
          <a:prstGeom prst="roundRect">
            <a:avLst>
              <a:gd name="adj" fmla="val 7500"/>
            </a:avLst>
          </a:prstGeom>
          <a:solidFill>
            <a:srgbClr val="9A6410"/>
          </a:solidFill>
          <a:ln w="12700">
            <a:solidFill>
              <a:srgbClr val="333333"/>
            </a:solidFill>
            <a:prstDash val="solid"/>
          </a:ln>
        </p:spPr>
      </p:sp>
      <p:sp>
        <p:nvSpPr>
          <p:cNvPr id="25" name="Text 23"/>
          <p:cNvSpPr txBox="1"/>
          <p:nvPr/>
        </p:nvSpPr>
        <p:spPr>
          <a:xfrm>
            <a:off x="3922054" y="2560320"/>
            <a:ext cx="1756490"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13</a:t>
            </a:r>
            <a:endParaRPr lang="en-US" sz="950" dirty="0"/>
          </a:p>
        </p:txBody>
      </p:sp>
      <p:sp>
        <p:nvSpPr>
          <p:cNvPr id="26" name="Shape 24"/>
          <p:cNvSpPr/>
          <p:nvPr/>
        </p:nvSpPr>
        <p:spPr>
          <a:xfrm>
            <a:off x="5710548" y="2560320"/>
            <a:ext cx="945802" cy="365760"/>
          </a:xfrm>
          <a:prstGeom prst="roundRect">
            <a:avLst>
              <a:gd name="adj" fmla="val 7500"/>
            </a:avLst>
          </a:prstGeom>
          <a:solidFill>
            <a:srgbClr val="15304F"/>
          </a:solidFill>
          <a:ln w="12700">
            <a:solidFill>
              <a:srgbClr val="333333"/>
            </a:solidFill>
            <a:prstDash val="solid"/>
          </a:ln>
        </p:spPr>
      </p:sp>
      <p:sp>
        <p:nvSpPr>
          <p:cNvPr id="27" name="Text 25"/>
          <p:cNvSpPr txBox="1"/>
          <p:nvPr/>
        </p:nvSpPr>
        <p:spPr>
          <a:xfrm>
            <a:off x="5710548" y="2560320"/>
            <a:ext cx="945802"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7</a:t>
            </a:r>
            <a:endParaRPr lang="en-US" sz="950" dirty="0"/>
          </a:p>
        </p:txBody>
      </p:sp>
      <p:sp>
        <p:nvSpPr>
          <p:cNvPr id="28" name="Shape 26"/>
          <p:cNvSpPr/>
          <p:nvPr/>
        </p:nvSpPr>
        <p:spPr>
          <a:xfrm>
            <a:off x="6688355" y="2560320"/>
            <a:ext cx="270229" cy="365760"/>
          </a:xfrm>
          <a:prstGeom prst="roundRect">
            <a:avLst>
              <a:gd name="adj" fmla="val 10151"/>
            </a:avLst>
          </a:prstGeom>
          <a:solidFill>
            <a:srgbClr val="5B4A72"/>
          </a:solidFill>
          <a:ln w="12700">
            <a:solidFill>
              <a:srgbClr val="333333"/>
            </a:solidFill>
            <a:prstDash val="solid"/>
          </a:ln>
        </p:spPr>
      </p:sp>
      <p:sp>
        <p:nvSpPr>
          <p:cNvPr id="29" name="Shape 27"/>
          <p:cNvSpPr/>
          <p:nvPr/>
        </p:nvSpPr>
        <p:spPr>
          <a:xfrm>
            <a:off x="1728216" y="3131820"/>
            <a:ext cx="109728" cy="109728"/>
          </a:xfrm>
          <a:prstGeom prst="ellipse">
            <a:avLst/>
          </a:prstGeom>
          <a:solidFill>
            <a:srgbClr val="0B6E6E"/>
          </a:solidFill>
          <a:ln w="12700">
            <a:solidFill>
              <a:srgbClr val="333333"/>
            </a:solidFill>
            <a:prstDash val="solid"/>
          </a:ln>
        </p:spPr>
      </p:sp>
      <p:sp>
        <p:nvSpPr>
          <p:cNvPr id="30" name="Text 28"/>
          <p:cNvSpPr txBox="1"/>
          <p:nvPr/>
        </p:nvSpPr>
        <p:spPr>
          <a:xfrm>
            <a:off x="1883664" y="3108960"/>
            <a:ext cx="548640"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Lean</a:t>
            </a:r>
            <a:endParaRPr lang="en-US" sz="760" dirty="0"/>
          </a:p>
        </p:txBody>
      </p:sp>
      <p:sp>
        <p:nvSpPr>
          <p:cNvPr id="31" name="Shape 29"/>
          <p:cNvSpPr/>
          <p:nvPr/>
        </p:nvSpPr>
        <p:spPr>
          <a:xfrm>
            <a:off x="2523744" y="3131820"/>
            <a:ext cx="109728" cy="109728"/>
          </a:xfrm>
          <a:prstGeom prst="ellipse">
            <a:avLst/>
          </a:prstGeom>
          <a:solidFill>
            <a:srgbClr val="9A6410"/>
          </a:solidFill>
          <a:ln w="12700">
            <a:solidFill>
              <a:srgbClr val="333333"/>
            </a:solidFill>
            <a:prstDash val="solid"/>
          </a:ln>
        </p:spPr>
      </p:sp>
      <p:sp>
        <p:nvSpPr>
          <p:cNvPr id="32" name="Text 30"/>
          <p:cNvSpPr txBox="1"/>
          <p:nvPr/>
        </p:nvSpPr>
        <p:spPr>
          <a:xfrm>
            <a:off x="2679192" y="3108960"/>
            <a:ext cx="621792"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Lean+</a:t>
            </a:r>
            <a:endParaRPr lang="en-US" sz="760" dirty="0"/>
          </a:p>
        </p:txBody>
      </p:sp>
      <p:sp>
        <p:nvSpPr>
          <p:cNvPr id="33" name="Shape 31"/>
          <p:cNvSpPr/>
          <p:nvPr/>
        </p:nvSpPr>
        <p:spPr>
          <a:xfrm>
            <a:off x="3392424" y="3131820"/>
            <a:ext cx="109728" cy="109728"/>
          </a:xfrm>
          <a:prstGeom prst="ellipse">
            <a:avLst/>
          </a:prstGeom>
          <a:solidFill>
            <a:srgbClr val="15304F"/>
          </a:solidFill>
          <a:ln w="12700">
            <a:solidFill>
              <a:srgbClr val="333333"/>
            </a:solidFill>
            <a:prstDash val="solid"/>
          </a:ln>
        </p:spPr>
      </p:sp>
      <p:sp>
        <p:nvSpPr>
          <p:cNvPr id="34" name="Text 32"/>
          <p:cNvSpPr txBox="1"/>
          <p:nvPr/>
        </p:nvSpPr>
        <p:spPr>
          <a:xfrm>
            <a:off x="3547872" y="3108960"/>
            <a:ext cx="932688"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Dedicated</a:t>
            </a:r>
            <a:endParaRPr lang="en-US" sz="760" dirty="0"/>
          </a:p>
        </p:txBody>
      </p:sp>
      <p:sp>
        <p:nvSpPr>
          <p:cNvPr id="35" name="Shape 33"/>
          <p:cNvSpPr/>
          <p:nvPr/>
        </p:nvSpPr>
        <p:spPr>
          <a:xfrm>
            <a:off x="4572000" y="3131820"/>
            <a:ext cx="109728" cy="109728"/>
          </a:xfrm>
          <a:prstGeom prst="ellipse">
            <a:avLst/>
          </a:prstGeom>
          <a:solidFill>
            <a:srgbClr val="5B4A72"/>
          </a:solidFill>
          <a:ln w="12700">
            <a:solidFill>
              <a:srgbClr val="333333"/>
            </a:solidFill>
            <a:prstDash val="solid"/>
          </a:ln>
        </p:spPr>
      </p:sp>
      <p:sp>
        <p:nvSpPr>
          <p:cNvPr id="36" name="Text 34"/>
          <p:cNvSpPr txBox="1"/>
          <p:nvPr/>
        </p:nvSpPr>
        <p:spPr>
          <a:xfrm>
            <a:off x="4727448" y="3108960"/>
            <a:ext cx="822960" cy="182880"/>
          </a:xfrm>
          <a:prstGeom prst="rect">
            <a:avLst/>
          </a:prstGeom>
          <a:noFill/>
          <a:ln/>
        </p:spPr>
        <p:txBody>
          <a:bodyPr wrap="square" lIns="0" tIns="0" rIns="0" bIns="0" rtlCol="0" anchor="ctr"/>
          <a:lstStyle/>
          <a:p>
            <a:pPr indent="0" marL="0">
              <a:buNone/>
            </a:pPr>
            <a:r>
              <a:rPr lang="en-US" sz="760" b="1" dirty="0">
                <a:solidFill>
                  <a:srgbClr val="1B2432"/>
                </a:solidFill>
                <a:latin typeface="Calibri" pitchFamily="34" charset="0"/>
                <a:ea typeface="Calibri" pitchFamily="34" charset="-122"/>
                <a:cs typeface="Calibri" pitchFamily="34" charset="-120"/>
              </a:rPr>
              <a:t>Factory</a:t>
            </a:r>
            <a:endParaRPr lang="en-US" sz="760" dirty="0"/>
          </a:p>
        </p:txBody>
      </p:sp>
      <p:sp>
        <p:nvSpPr>
          <p:cNvPr id="37" name="Shape 35"/>
          <p:cNvSpPr/>
          <p:nvPr/>
        </p:nvSpPr>
        <p:spPr>
          <a:xfrm>
            <a:off x="7360920" y="1261872"/>
            <a:ext cx="4389120" cy="2066544"/>
          </a:xfrm>
          <a:prstGeom prst="roundRect">
            <a:avLst>
              <a:gd name="adj" fmla="val 2212"/>
            </a:avLst>
          </a:prstGeom>
          <a:solidFill>
            <a:srgbClr val="FFFFFF"/>
          </a:solidFill>
          <a:ln w="15875">
            <a:solidFill>
              <a:srgbClr val="0B6E6E"/>
            </a:solidFill>
            <a:prstDash val="solid"/>
          </a:ln>
          <a:effectLst>
            <a:outerShdw sx="100000" sy="100000" kx="0" ky="0" algn="bl" rotWithShape="0" blurRad="88900" dist="12700" dir="5400000">
              <a:srgbClr val="97A3B4">
                <a:alpha val="16000"/>
              </a:srgbClr>
            </a:outerShdw>
          </a:effectLst>
        </p:spPr>
      </p:sp>
      <p:sp>
        <p:nvSpPr>
          <p:cNvPr id="38" name="Text 36"/>
          <p:cNvSpPr txBox="1"/>
          <p:nvPr/>
        </p:nvSpPr>
        <p:spPr>
          <a:xfrm>
            <a:off x="7507224" y="1389888"/>
            <a:ext cx="4096512" cy="164592"/>
          </a:xfrm>
          <a:prstGeom prst="rect">
            <a:avLst/>
          </a:prstGeom>
          <a:noFill/>
          <a:ln/>
        </p:spPr>
        <p:txBody>
          <a:bodyPr wrap="square" lIns="0" tIns="0" rIns="0" bIns="0" rtlCol="0" anchor="ctr"/>
          <a:lstStyle/>
          <a:p>
            <a:pPr indent="0" marL="0">
              <a:buNone/>
            </a:pPr>
            <a:r>
              <a:rPr lang="en-US" sz="720" b="1" spc="100" kern="0" dirty="0">
                <a:solidFill>
                  <a:srgbClr val="0B6E6E"/>
                </a:solidFill>
                <a:latin typeface="Calibri" pitchFamily="34" charset="0"/>
                <a:ea typeface="Calibri" pitchFamily="34" charset="-122"/>
                <a:cs typeface="Calibri" pitchFamily="34" charset="-120"/>
              </a:rPr>
              <a:t>THE COMPOUNDING MECHANISM</a:t>
            </a:r>
            <a:endParaRPr lang="en-US" sz="720" dirty="0"/>
          </a:p>
        </p:txBody>
      </p:sp>
      <p:sp>
        <p:nvSpPr>
          <p:cNvPr id="39" name="Text 37"/>
          <p:cNvSpPr txBox="1"/>
          <p:nvPr/>
        </p:nvSpPr>
        <p:spPr>
          <a:xfrm>
            <a:off x="7507224" y="1572768"/>
            <a:ext cx="4096512" cy="310896"/>
          </a:xfrm>
          <a:prstGeom prst="rect">
            <a:avLst/>
          </a:prstGeom>
          <a:noFill/>
          <a:ln/>
        </p:spPr>
        <p:txBody>
          <a:bodyPr wrap="square" lIns="0" tIns="0" rIns="0" bIns="0" rtlCol="0" anchor="t"/>
          <a:lstStyle/>
          <a:p>
            <a:pPr indent="0" marL="0">
              <a:lnSpc>
                <a:spcPts val="1450"/>
              </a:lnSpc>
              <a:buNone/>
            </a:pPr>
            <a:r>
              <a:rPr lang="en-US" sz="1200" b="1" dirty="0">
                <a:solidFill>
                  <a:srgbClr val="1B2432"/>
                </a:solidFill>
                <a:latin typeface="Calibri" pitchFamily="34" charset="0"/>
                <a:ea typeface="Calibri" pitchFamily="34" charset="-122"/>
                <a:cs typeface="Calibri" pitchFamily="34" charset="-120"/>
              </a:rPr>
              <a:t>Every leftward move is earned</a:t>
            </a:r>
            <a:endParaRPr lang="en-US" sz="1200" dirty="0"/>
          </a:p>
        </p:txBody>
      </p:sp>
      <p:sp>
        <p:nvSpPr>
          <p:cNvPr id="40" name="Text 38"/>
          <p:cNvSpPr txBox="1"/>
          <p:nvPr/>
        </p:nvSpPr>
        <p:spPr>
          <a:xfrm>
            <a:off x="7507224" y="1883664"/>
            <a:ext cx="4096512" cy="1298448"/>
          </a:xfrm>
          <a:prstGeom prst="rect">
            <a:avLst/>
          </a:prstGeom>
          <a:noFill/>
          <a:ln/>
        </p:spPr>
        <p:txBody>
          <a:bodyPr wrap="square" lIns="0" tIns="0" rIns="0" bIns="0" rtlCol="0" anchor="t"/>
          <a:lstStyle/>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A scenario moves to a lighter tier only because a dedicated pod delivered it once and the pattern was harvested and hardened. Nothing migrates on its own.</a:t>
            </a:r>
            <a:endParaRPr lang="en-US" sz="860" dirty="0"/>
          </a:p>
          <a:p>
            <a:pPr indent="0" marL="0">
              <a:lnSpc>
                <a:spcPts val="1120"/>
              </a:lnSpc>
              <a:spcAft>
                <a:spcPts val="250"/>
              </a:spcAft>
              <a:buNone/>
            </a:pP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That makes pattern harvesting a closure condition on every dedicated intake — not an aspiration. A pod that delivers a partner successfully but leaves no reusable pattern has done half its job.</a:t>
            </a:r>
            <a:endParaRPr lang="en-US" sz="860" dirty="0"/>
          </a:p>
          <a:p>
            <a:pPr indent="0" marL="0">
              <a:lnSpc>
                <a:spcPts val="1120"/>
              </a:lnSpc>
              <a:spcAft>
                <a:spcPts val="250"/>
              </a:spcAft>
              <a:buNone/>
            </a:pPr>
            <a:endParaRPr lang="en-US" sz="860" dirty="0"/>
          </a:p>
          <a:p>
            <a:pPr indent="0" marL="0">
              <a:lnSpc>
                <a:spcPts val="1120"/>
              </a:lnSpc>
              <a:spcAft>
                <a:spcPts val="250"/>
              </a:spcAft>
              <a:buNone/>
            </a:pPr>
            <a:r>
              <a:rPr lang="en-US" sz="860" dirty="0">
                <a:solidFill>
                  <a:srgbClr val="55606E"/>
                </a:solidFill>
                <a:latin typeface="Calibri" pitchFamily="34" charset="0"/>
                <a:ea typeface="Calibri" pitchFamily="34" charset="-122"/>
                <a:cs typeface="Calibri" pitchFamily="34" charset="-120"/>
              </a:rPr>
              <a:t>Today's dedicated delivery is tomorrow's Lean eligibility.</a:t>
            </a:r>
            <a:endParaRPr lang="en-US" sz="860" dirty="0"/>
          </a:p>
        </p:txBody>
      </p:sp>
      <p:sp>
        <p:nvSpPr>
          <p:cNvPr id="41" name="Text 39"/>
          <p:cNvSpPr txBox="1"/>
          <p:nvPr/>
        </p:nvSpPr>
        <p:spPr>
          <a:xfrm>
            <a:off x="411480" y="3493008"/>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WHAT LEADERSHIP IS ACTUALLY BUYING</a:t>
            </a:r>
            <a:endParaRPr lang="en-US" sz="760" dirty="0"/>
          </a:p>
        </p:txBody>
      </p:sp>
      <p:sp>
        <p:nvSpPr>
          <p:cNvPr id="42" name="Shape 40"/>
          <p:cNvSpPr/>
          <p:nvPr/>
        </p:nvSpPr>
        <p:spPr>
          <a:xfrm>
            <a:off x="411480" y="3694176"/>
            <a:ext cx="8366760" cy="256032"/>
          </a:xfrm>
          <a:prstGeom prst="rect">
            <a:avLst/>
          </a:prstGeom>
          <a:solidFill>
            <a:srgbClr val="15304F"/>
          </a:solidFill>
          <a:ln w="6350">
            <a:solidFill>
              <a:srgbClr val="15304F"/>
            </a:solidFill>
            <a:prstDash val="solid"/>
          </a:ln>
        </p:spPr>
      </p:sp>
      <p:sp>
        <p:nvSpPr>
          <p:cNvPr id="43" name="Text 41"/>
          <p:cNvSpPr txBox="1"/>
          <p:nvPr/>
        </p:nvSpPr>
        <p:spPr>
          <a:xfrm>
            <a:off x="484632" y="3694176"/>
            <a:ext cx="2642616" cy="256032"/>
          </a:xfrm>
          <a:prstGeom prst="rect">
            <a:avLst/>
          </a:prstGeom>
          <a:noFill/>
          <a:ln/>
        </p:spPr>
        <p:txBody>
          <a:bodyPr wrap="square" lIns="0" tIns="0" rIns="0" bIns="0" rtlCol="0" anchor="ctr"/>
          <a:lstStyle/>
          <a:p>
            <a:pPr algn="l" indent="0" marL="0">
              <a:buNone/>
            </a:pPr>
            <a:endParaRPr lang="en-US" sz="800" dirty="0"/>
          </a:p>
        </p:txBody>
      </p:sp>
      <p:sp>
        <p:nvSpPr>
          <p:cNvPr id="44" name="Text 42"/>
          <p:cNvSpPr txBox="1"/>
          <p:nvPr/>
        </p:nvSpPr>
        <p:spPr>
          <a:xfrm>
            <a:off x="3273552" y="3694176"/>
            <a:ext cx="26426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Today</a:t>
            </a:r>
            <a:endParaRPr lang="en-US" sz="800" dirty="0"/>
          </a:p>
        </p:txBody>
      </p:sp>
      <p:sp>
        <p:nvSpPr>
          <p:cNvPr id="45" name="Text 43"/>
          <p:cNvSpPr txBox="1"/>
          <p:nvPr/>
        </p:nvSpPr>
        <p:spPr>
          <a:xfrm>
            <a:off x="6062472" y="3694176"/>
            <a:ext cx="2642616" cy="256032"/>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With the tiered model</a:t>
            </a:r>
            <a:endParaRPr lang="en-US" sz="800" dirty="0"/>
          </a:p>
        </p:txBody>
      </p:sp>
      <p:sp>
        <p:nvSpPr>
          <p:cNvPr id="46" name="Shape 44"/>
          <p:cNvSpPr/>
          <p:nvPr/>
        </p:nvSpPr>
        <p:spPr>
          <a:xfrm>
            <a:off x="411480" y="3950208"/>
            <a:ext cx="8366760" cy="274320"/>
          </a:xfrm>
          <a:prstGeom prst="rect">
            <a:avLst/>
          </a:prstGeom>
          <a:solidFill>
            <a:srgbClr val="FFFFFF"/>
          </a:solidFill>
          <a:ln w="6350">
            <a:solidFill>
              <a:srgbClr val="D4DAE2"/>
            </a:solidFill>
            <a:prstDash val="solid"/>
          </a:ln>
        </p:spPr>
      </p:sp>
      <p:sp>
        <p:nvSpPr>
          <p:cNvPr id="47" name="Text 45"/>
          <p:cNvSpPr txBox="1"/>
          <p:nvPr/>
        </p:nvSpPr>
        <p:spPr>
          <a:xfrm>
            <a:off x="484632" y="3950208"/>
            <a:ext cx="2642616" cy="27432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Dominant source of delay</a:t>
            </a:r>
            <a:endParaRPr lang="en-US" sz="780" dirty="0"/>
          </a:p>
        </p:txBody>
      </p:sp>
      <p:sp>
        <p:nvSpPr>
          <p:cNvPr id="48" name="Text 46"/>
          <p:cNvSpPr txBox="1"/>
          <p:nvPr/>
        </p:nvSpPr>
        <p:spPr>
          <a:xfrm>
            <a:off x="3273552" y="395020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Missing data found late, cycle after cycle</a:t>
            </a:r>
            <a:endParaRPr lang="en-US" sz="780" dirty="0"/>
          </a:p>
        </p:txBody>
      </p:sp>
      <p:sp>
        <p:nvSpPr>
          <p:cNvPr id="49" name="Text 47"/>
          <p:cNvSpPr txBox="1"/>
          <p:nvPr/>
        </p:nvSpPr>
        <p:spPr>
          <a:xfrm>
            <a:off x="6062472" y="395020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Requirement known at intake; unknowns dated and owned</a:t>
            </a:r>
            <a:endParaRPr lang="en-US" sz="780" dirty="0"/>
          </a:p>
        </p:txBody>
      </p:sp>
      <p:sp>
        <p:nvSpPr>
          <p:cNvPr id="50" name="Shape 48"/>
          <p:cNvSpPr/>
          <p:nvPr/>
        </p:nvSpPr>
        <p:spPr>
          <a:xfrm>
            <a:off x="411480" y="4224528"/>
            <a:ext cx="8366760" cy="274320"/>
          </a:xfrm>
          <a:prstGeom prst="rect">
            <a:avLst/>
          </a:prstGeom>
          <a:solidFill>
            <a:srgbClr val="F4F7FA"/>
          </a:solidFill>
          <a:ln w="6350">
            <a:solidFill>
              <a:srgbClr val="D4DAE2"/>
            </a:solidFill>
            <a:prstDash val="solid"/>
          </a:ln>
        </p:spPr>
      </p:sp>
      <p:sp>
        <p:nvSpPr>
          <p:cNvPr id="51" name="Text 49"/>
          <p:cNvSpPr txBox="1"/>
          <p:nvPr/>
        </p:nvSpPr>
        <p:spPr>
          <a:xfrm>
            <a:off x="484632" y="4224528"/>
            <a:ext cx="2642616" cy="27432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Capacity behaviour</a:t>
            </a:r>
            <a:endParaRPr lang="en-US" sz="780" dirty="0"/>
          </a:p>
        </p:txBody>
      </p:sp>
      <p:sp>
        <p:nvSpPr>
          <p:cNvPr id="52" name="Text 50"/>
          <p:cNvSpPr txBox="1"/>
          <p:nvPr/>
        </p:nvSpPr>
        <p:spPr>
          <a:xfrm>
            <a:off x="3273552" y="422452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Linear with intake volume</a:t>
            </a:r>
            <a:endParaRPr lang="en-US" sz="780" dirty="0"/>
          </a:p>
        </p:txBody>
      </p:sp>
      <p:sp>
        <p:nvSpPr>
          <p:cNvPr id="53" name="Text 51"/>
          <p:cNvSpPr txBox="1"/>
          <p:nvPr/>
        </p:nvSpPr>
        <p:spPr>
          <a:xfrm>
            <a:off x="6062472" y="422452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Flat for Lean, sub-linear for Lean+</a:t>
            </a:r>
            <a:endParaRPr lang="en-US" sz="780" dirty="0"/>
          </a:p>
        </p:txBody>
      </p:sp>
      <p:sp>
        <p:nvSpPr>
          <p:cNvPr id="54" name="Shape 52"/>
          <p:cNvSpPr/>
          <p:nvPr/>
        </p:nvSpPr>
        <p:spPr>
          <a:xfrm>
            <a:off x="411480" y="4498848"/>
            <a:ext cx="8366760" cy="274320"/>
          </a:xfrm>
          <a:prstGeom prst="rect">
            <a:avLst/>
          </a:prstGeom>
          <a:solidFill>
            <a:srgbClr val="FFFFFF"/>
          </a:solidFill>
          <a:ln w="6350">
            <a:solidFill>
              <a:srgbClr val="D4DAE2"/>
            </a:solidFill>
            <a:prstDash val="solid"/>
          </a:ln>
        </p:spPr>
      </p:sp>
      <p:sp>
        <p:nvSpPr>
          <p:cNvPr id="55" name="Text 53"/>
          <p:cNvSpPr txBox="1"/>
          <p:nvPr/>
        </p:nvSpPr>
        <p:spPr>
          <a:xfrm>
            <a:off x="484632" y="4498848"/>
            <a:ext cx="2642616" cy="27432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Response to a demand spike</a:t>
            </a:r>
            <a:endParaRPr lang="en-US" sz="780" dirty="0"/>
          </a:p>
        </p:txBody>
      </p:sp>
      <p:sp>
        <p:nvSpPr>
          <p:cNvPr id="56" name="Text 54"/>
          <p:cNvSpPr txBox="1"/>
          <p:nvPr/>
        </p:nvSpPr>
        <p:spPr>
          <a:xfrm>
            <a:off x="3273552" y="449884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Queue lengthens or headcount grows</a:t>
            </a:r>
            <a:endParaRPr lang="en-US" sz="780" dirty="0"/>
          </a:p>
        </p:txBody>
      </p:sp>
      <p:sp>
        <p:nvSpPr>
          <p:cNvPr id="57" name="Text 55"/>
          <p:cNvSpPr txBox="1"/>
          <p:nvPr/>
        </p:nvSpPr>
        <p:spPr>
          <a:xfrm>
            <a:off x="6062472" y="449884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Lighter tiers absorb it</a:t>
            </a:r>
            <a:endParaRPr lang="en-US" sz="780" dirty="0"/>
          </a:p>
        </p:txBody>
      </p:sp>
      <p:sp>
        <p:nvSpPr>
          <p:cNvPr id="58" name="Shape 56"/>
          <p:cNvSpPr/>
          <p:nvPr/>
        </p:nvSpPr>
        <p:spPr>
          <a:xfrm>
            <a:off x="411480" y="4773168"/>
            <a:ext cx="8366760" cy="274320"/>
          </a:xfrm>
          <a:prstGeom prst="rect">
            <a:avLst/>
          </a:prstGeom>
          <a:solidFill>
            <a:srgbClr val="F4F7FA"/>
          </a:solidFill>
          <a:ln w="6350">
            <a:solidFill>
              <a:srgbClr val="D4DAE2"/>
            </a:solidFill>
            <a:prstDash val="solid"/>
          </a:ln>
        </p:spPr>
      </p:sp>
      <p:sp>
        <p:nvSpPr>
          <p:cNvPr id="59" name="Text 57"/>
          <p:cNvSpPr txBox="1"/>
          <p:nvPr/>
        </p:nvSpPr>
        <p:spPr>
          <a:xfrm>
            <a:off x="484632" y="4773168"/>
            <a:ext cx="2642616" cy="27432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Cost of the tenth identical onboarding</a:t>
            </a:r>
            <a:endParaRPr lang="en-US" sz="780" dirty="0"/>
          </a:p>
        </p:txBody>
      </p:sp>
      <p:sp>
        <p:nvSpPr>
          <p:cNvPr id="60" name="Text 58"/>
          <p:cNvSpPr txBox="1"/>
          <p:nvPr/>
        </p:nvSpPr>
        <p:spPr>
          <a:xfrm>
            <a:off x="3273552" y="477316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Same as the first</a:t>
            </a:r>
            <a:endParaRPr lang="en-US" sz="780" dirty="0"/>
          </a:p>
        </p:txBody>
      </p:sp>
      <p:sp>
        <p:nvSpPr>
          <p:cNvPr id="61" name="Text 59"/>
          <p:cNvSpPr txBox="1"/>
          <p:nvPr/>
        </p:nvSpPr>
        <p:spPr>
          <a:xfrm>
            <a:off x="6062472" y="477316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Near zero</a:t>
            </a:r>
            <a:endParaRPr lang="en-US" sz="780" dirty="0"/>
          </a:p>
        </p:txBody>
      </p:sp>
      <p:sp>
        <p:nvSpPr>
          <p:cNvPr id="62" name="Shape 60"/>
          <p:cNvSpPr/>
          <p:nvPr/>
        </p:nvSpPr>
        <p:spPr>
          <a:xfrm>
            <a:off x="411480" y="5047488"/>
            <a:ext cx="8366760" cy="274320"/>
          </a:xfrm>
          <a:prstGeom prst="rect">
            <a:avLst/>
          </a:prstGeom>
          <a:solidFill>
            <a:srgbClr val="FFFFFF"/>
          </a:solidFill>
          <a:ln w="6350">
            <a:solidFill>
              <a:srgbClr val="D4DAE2"/>
            </a:solidFill>
            <a:prstDash val="solid"/>
          </a:ln>
        </p:spPr>
      </p:sp>
      <p:sp>
        <p:nvSpPr>
          <p:cNvPr id="63" name="Text 61"/>
          <p:cNvSpPr txBox="1"/>
          <p:nvPr/>
        </p:nvSpPr>
        <p:spPr>
          <a:xfrm>
            <a:off x="484632" y="5047488"/>
            <a:ext cx="2642616" cy="27432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Senior engineer time</a:t>
            </a:r>
            <a:endParaRPr lang="en-US" sz="780" dirty="0"/>
          </a:p>
        </p:txBody>
      </p:sp>
      <p:sp>
        <p:nvSpPr>
          <p:cNvPr id="64" name="Text 62"/>
          <p:cNvSpPr txBox="1"/>
          <p:nvPr/>
        </p:nvSpPr>
        <p:spPr>
          <a:xfrm>
            <a:off x="3273552" y="504748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Spread across all intakes</a:t>
            </a:r>
            <a:endParaRPr lang="en-US" sz="780" dirty="0"/>
          </a:p>
        </p:txBody>
      </p:sp>
      <p:sp>
        <p:nvSpPr>
          <p:cNvPr id="65" name="Text 63"/>
          <p:cNvSpPr txBox="1"/>
          <p:nvPr/>
        </p:nvSpPr>
        <p:spPr>
          <a:xfrm>
            <a:off x="6062472" y="504748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Concentrated on genuine design</a:t>
            </a:r>
            <a:endParaRPr lang="en-US" sz="780" dirty="0"/>
          </a:p>
        </p:txBody>
      </p:sp>
      <p:sp>
        <p:nvSpPr>
          <p:cNvPr id="66" name="Shape 64"/>
          <p:cNvSpPr/>
          <p:nvPr/>
        </p:nvSpPr>
        <p:spPr>
          <a:xfrm>
            <a:off x="411480" y="5321808"/>
            <a:ext cx="8366760" cy="274320"/>
          </a:xfrm>
          <a:prstGeom prst="rect">
            <a:avLst/>
          </a:prstGeom>
          <a:solidFill>
            <a:srgbClr val="F4F7FA"/>
          </a:solidFill>
          <a:ln w="6350">
            <a:solidFill>
              <a:srgbClr val="D4DAE2"/>
            </a:solidFill>
            <a:prstDash val="solid"/>
          </a:ln>
        </p:spPr>
      </p:sp>
      <p:sp>
        <p:nvSpPr>
          <p:cNvPr id="67" name="Text 65"/>
          <p:cNvSpPr txBox="1"/>
          <p:nvPr/>
        </p:nvSpPr>
        <p:spPr>
          <a:xfrm>
            <a:off x="484632" y="5321808"/>
            <a:ext cx="2642616" cy="27432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What an onboarding leaves behind</a:t>
            </a:r>
            <a:endParaRPr lang="en-US" sz="780" dirty="0"/>
          </a:p>
        </p:txBody>
      </p:sp>
      <p:sp>
        <p:nvSpPr>
          <p:cNvPr id="68" name="Text 66"/>
          <p:cNvSpPr txBox="1"/>
          <p:nvPr/>
        </p:nvSpPr>
        <p:spPr>
          <a:xfrm>
            <a:off x="3273552" y="532180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 live partner</a:t>
            </a:r>
            <a:endParaRPr lang="en-US" sz="780" dirty="0"/>
          </a:p>
        </p:txBody>
      </p:sp>
      <p:sp>
        <p:nvSpPr>
          <p:cNvPr id="69" name="Text 67"/>
          <p:cNvSpPr txBox="1"/>
          <p:nvPr/>
        </p:nvSpPr>
        <p:spPr>
          <a:xfrm>
            <a:off x="6062472" y="532180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A live partner and a reusable pattern</a:t>
            </a:r>
            <a:endParaRPr lang="en-US" sz="780" dirty="0"/>
          </a:p>
        </p:txBody>
      </p:sp>
      <p:sp>
        <p:nvSpPr>
          <p:cNvPr id="70" name="Shape 68"/>
          <p:cNvSpPr/>
          <p:nvPr/>
        </p:nvSpPr>
        <p:spPr>
          <a:xfrm>
            <a:off x="411480" y="5596128"/>
            <a:ext cx="8366760" cy="274320"/>
          </a:xfrm>
          <a:prstGeom prst="rect">
            <a:avLst/>
          </a:prstGeom>
          <a:solidFill>
            <a:srgbClr val="FFFFFF"/>
          </a:solidFill>
          <a:ln w="6350">
            <a:solidFill>
              <a:srgbClr val="D4DAE2"/>
            </a:solidFill>
            <a:prstDash val="solid"/>
          </a:ln>
        </p:spPr>
      </p:sp>
      <p:sp>
        <p:nvSpPr>
          <p:cNvPr id="71" name="Text 69"/>
          <p:cNvSpPr txBox="1"/>
          <p:nvPr/>
        </p:nvSpPr>
        <p:spPr>
          <a:xfrm>
            <a:off x="484632" y="5596128"/>
            <a:ext cx="2642616" cy="274320"/>
          </a:xfrm>
          <a:prstGeom prst="rect">
            <a:avLst/>
          </a:prstGeom>
          <a:noFill/>
          <a:ln/>
        </p:spPr>
        <p:txBody>
          <a:bodyPr wrap="square" lIns="0" tIns="0" rIns="0" bIns="0" rtlCol="0" anchor="ctr"/>
          <a:lstStyle/>
          <a:p>
            <a:pPr algn="l" indent="0" marL="0">
              <a:buNone/>
            </a:pPr>
            <a:r>
              <a:rPr lang="en-US" sz="780" b="1" dirty="0">
                <a:solidFill>
                  <a:srgbClr val="1B2432"/>
                </a:solidFill>
                <a:latin typeface="Calibri" pitchFamily="34" charset="0"/>
                <a:ea typeface="Calibri" pitchFamily="34" charset="-122"/>
                <a:cs typeface="Calibri" pitchFamily="34" charset="-120"/>
              </a:rPr>
              <a:t>Risk posture</a:t>
            </a:r>
            <a:endParaRPr lang="en-US" sz="780" dirty="0"/>
          </a:p>
        </p:txBody>
      </p:sp>
      <p:sp>
        <p:nvSpPr>
          <p:cNvPr id="72" name="Text 70"/>
          <p:cNvSpPr txBox="1"/>
          <p:nvPr/>
        </p:nvSpPr>
        <p:spPr>
          <a:xfrm>
            <a:off x="3273552" y="559612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Depends on engineer attention</a:t>
            </a:r>
            <a:endParaRPr lang="en-US" sz="780" dirty="0"/>
          </a:p>
        </p:txBody>
      </p:sp>
      <p:sp>
        <p:nvSpPr>
          <p:cNvPr id="73" name="Text 71"/>
          <p:cNvSpPr txBox="1"/>
          <p:nvPr/>
        </p:nvSpPr>
        <p:spPr>
          <a:xfrm>
            <a:off x="6062472" y="5596128"/>
            <a:ext cx="2642616" cy="274320"/>
          </a:xfrm>
          <a:prstGeom prst="rect">
            <a:avLst/>
          </a:prstGeom>
          <a:noFill/>
          <a:ln/>
        </p:spPr>
        <p:txBody>
          <a:bodyPr wrap="square" lIns="0" tIns="0" rIns="0" bIns="0" rtlCol="0" anchor="ctr"/>
          <a:lstStyle/>
          <a:p>
            <a:pPr algn="l" indent="0" marL="0">
              <a:buNone/>
            </a:pPr>
            <a:r>
              <a:rPr lang="en-US" sz="780" dirty="0">
                <a:solidFill>
                  <a:srgbClr val="1B2432"/>
                </a:solidFill>
                <a:latin typeface="Calibri" pitchFamily="34" charset="0"/>
                <a:ea typeface="Calibri" pitchFamily="34" charset="-122"/>
                <a:cs typeface="Calibri" pitchFamily="34" charset="-120"/>
              </a:rPr>
              <a:t>Enforced identically in every tier</a:t>
            </a:r>
            <a:endParaRPr lang="en-US" sz="780" dirty="0"/>
          </a:p>
        </p:txBody>
      </p:sp>
      <p:sp>
        <p:nvSpPr>
          <p:cNvPr id="74" name="Text 72"/>
          <p:cNvSpPr txBox="1"/>
          <p:nvPr/>
        </p:nvSpPr>
        <p:spPr>
          <a:xfrm>
            <a:off x="9144000" y="3493008"/>
            <a:ext cx="27432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GAINS BY AUDIENCE</a:t>
            </a:r>
            <a:endParaRPr lang="en-US" sz="760" dirty="0"/>
          </a:p>
        </p:txBody>
      </p:sp>
      <p:sp>
        <p:nvSpPr>
          <p:cNvPr id="75" name="Shape 73"/>
          <p:cNvSpPr/>
          <p:nvPr/>
        </p:nvSpPr>
        <p:spPr>
          <a:xfrm>
            <a:off x="9144000" y="3712464"/>
            <a:ext cx="45720" cy="384048"/>
          </a:xfrm>
          <a:prstGeom prst="rect">
            <a:avLst/>
          </a:prstGeom>
          <a:solidFill>
            <a:srgbClr val="15304F"/>
          </a:solidFill>
          <a:ln w="12700">
            <a:solidFill>
              <a:srgbClr val="333333"/>
            </a:solidFill>
            <a:prstDash val="solid"/>
          </a:ln>
        </p:spPr>
      </p:sp>
      <p:sp>
        <p:nvSpPr>
          <p:cNvPr id="76" name="Text 74"/>
          <p:cNvSpPr txBox="1"/>
          <p:nvPr/>
        </p:nvSpPr>
        <p:spPr>
          <a:xfrm>
            <a:off x="9281160" y="3712464"/>
            <a:ext cx="2468880" cy="182880"/>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Leadership</a:t>
            </a:r>
            <a:endParaRPr lang="en-US" sz="840" dirty="0"/>
          </a:p>
        </p:txBody>
      </p:sp>
      <p:sp>
        <p:nvSpPr>
          <p:cNvPr id="77" name="Text 75"/>
          <p:cNvSpPr txBox="1"/>
          <p:nvPr/>
        </p:nvSpPr>
        <p:spPr>
          <a:xfrm>
            <a:off x="9281160" y="3886200"/>
            <a:ext cx="246888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Capacity decoupled from demand</a:t>
            </a:r>
            <a:endParaRPr lang="en-US" sz="760" dirty="0"/>
          </a:p>
        </p:txBody>
      </p:sp>
      <p:sp>
        <p:nvSpPr>
          <p:cNvPr id="78" name="Shape 76"/>
          <p:cNvSpPr/>
          <p:nvPr/>
        </p:nvSpPr>
        <p:spPr>
          <a:xfrm>
            <a:off x="9144000" y="4142232"/>
            <a:ext cx="45720" cy="384048"/>
          </a:xfrm>
          <a:prstGeom prst="rect">
            <a:avLst/>
          </a:prstGeom>
          <a:solidFill>
            <a:srgbClr val="0B6E6E"/>
          </a:solidFill>
          <a:ln w="12700">
            <a:solidFill>
              <a:srgbClr val="333333"/>
            </a:solidFill>
            <a:prstDash val="solid"/>
          </a:ln>
        </p:spPr>
      </p:sp>
      <p:sp>
        <p:nvSpPr>
          <p:cNvPr id="79" name="Text 77"/>
          <p:cNvSpPr txBox="1"/>
          <p:nvPr/>
        </p:nvSpPr>
        <p:spPr>
          <a:xfrm>
            <a:off x="9281160" y="4142232"/>
            <a:ext cx="2468880" cy="182880"/>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Partners</a:t>
            </a:r>
            <a:endParaRPr lang="en-US" sz="840" dirty="0"/>
          </a:p>
        </p:txBody>
      </p:sp>
      <p:sp>
        <p:nvSpPr>
          <p:cNvPr id="80" name="Text 78"/>
          <p:cNvSpPr txBox="1"/>
          <p:nvPr/>
        </p:nvSpPr>
        <p:spPr>
          <a:xfrm>
            <a:off x="9281160" y="4315968"/>
            <a:ext cx="246888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Full obligation known on day one</a:t>
            </a:r>
            <a:endParaRPr lang="en-US" sz="760" dirty="0"/>
          </a:p>
        </p:txBody>
      </p:sp>
      <p:sp>
        <p:nvSpPr>
          <p:cNvPr id="81" name="Shape 79"/>
          <p:cNvSpPr/>
          <p:nvPr/>
        </p:nvSpPr>
        <p:spPr>
          <a:xfrm>
            <a:off x="9144000" y="4572000"/>
            <a:ext cx="45720" cy="384048"/>
          </a:xfrm>
          <a:prstGeom prst="rect">
            <a:avLst/>
          </a:prstGeom>
          <a:solidFill>
            <a:srgbClr val="A44A2A"/>
          </a:solidFill>
          <a:ln w="12700">
            <a:solidFill>
              <a:srgbClr val="333333"/>
            </a:solidFill>
            <a:prstDash val="solid"/>
          </a:ln>
        </p:spPr>
      </p:sp>
      <p:sp>
        <p:nvSpPr>
          <p:cNvPr id="82" name="Text 80"/>
          <p:cNvSpPr txBox="1"/>
          <p:nvPr/>
        </p:nvSpPr>
        <p:spPr>
          <a:xfrm>
            <a:off x="9281160" y="4572000"/>
            <a:ext cx="2468880" cy="182880"/>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Enabling squads</a:t>
            </a:r>
            <a:endParaRPr lang="en-US" sz="840" dirty="0"/>
          </a:p>
        </p:txBody>
      </p:sp>
      <p:sp>
        <p:nvSpPr>
          <p:cNvPr id="83" name="Text 81"/>
          <p:cNvSpPr txBox="1"/>
          <p:nvPr/>
        </p:nvSpPr>
        <p:spPr>
          <a:xfrm>
            <a:off x="9281160" y="4745736"/>
            <a:ext cx="246888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The most draining work done once, by the catalogue</a:t>
            </a:r>
            <a:endParaRPr lang="en-US" sz="760" dirty="0"/>
          </a:p>
        </p:txBody>
      </p:sp>
      <p:sp>
        <p:nvSpPr>
          <p:cNvPr id="84" name="Shape 82"/>
          <p:cNvSpPr/>
          <p:nvPr/>
        </p:nvSpPr>
        <p:spPr>
          <a:xfrm>
            <a:off x="9144000" y="5001768"/>
            <a:ext cx="45720" cy="384048"/>
          </a:xfrm>
          <a:prstGeom prst="rect">
            <a:avLst/>
          </a:prstGeom>
          <a:solidFill>
            <a:srgbClr val="9A6410"/>
          </a:solidFill>
          <a:ln w="12700">
            <a:solidFill>
              <a:srgbClr val="333333"/>
            </a:solidFill>
            <a:prstDash val="solid"/>
          </a:ln>
        </p:spPr>
      </p:sp>
      <p:sp>
        <p:nvSpPr>
          <p:cNvPr id="85" name="Text 83"/>
          <p:cNvSpPr txBox="1"/>
          <p:nvPr/>
        </p:nvSpPr>
        <p:spPr>
          <a:xfrm>
            <a:off x="9281160" y="5001768"/>
            <a:ext cx="2468880" cy="182880"/>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Governance</a:t>
            </a:r>
            <a:endParaRPr lang="en-US" sz="840" dirty="0"/>
          </a:p>
        </p:txBody>
      </p:sp>
      <p:sp>
        <p:nvSpPr>
          <p:cNvPr id="86" name="Text 84"/>
          <p:cNvSpPr txBox="1"/>
          <p:nvPr/>
        </p:nvSpPr>
        <p:spPr>
          <a:xfrm>
            <a:off x="9281160" y="5175504"/>
            <a:ext cx="246888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Controls enforced consistently, not variably</a:t>
            </a:r>
            <a:endParaRPr lang="en-US" sz="760" dirty="0"/>
          </a:p>
        </p:txBody>
      </p:sp>
      <p:sp>
        <p:nvSpPr>
          <p:cNvPr id="87" name="Shape 85"/>
          <p:cNvSpPr/>
          <p:nvPr/>
        </p:nvSpPr>
        <p:spPr>
          <a:xfrm>
            <a:off x="9144000" y="5431536"/>
            <a:ext cx="45720" cy="384048"/>
          </a:xfrm>
          <a:prstGeom prst="rect">
            <a:avLst/>
          </a:prstGeom>
          <a:solidFill>
            <a:srgbClr val="5B4A72"/>
          </a:solidFill>
          <a:ln w="12700">
            <a:solidFill>
              <a:srgbClr val="333333"/>
            </a:solidFill>
            <a:prstDash val="solid"/>
          </a:ln>
        </p:spPr>
      </p:sp>
      <p:sp>
        <p:nvSpPr>
          <p:cNvPr id="88" name="Text 86"/>
          <p:cNvSpPr txBox="1"/>
          <p:nvPr/>
        </p:nvSpPr>
        <p:spPr>
          <a:xfrm>
            <a:off x="9281160" y="5431536"/>
            <a:ext cx="2468880" cy="182880"/>
          </a:xfrm>
          <a:prstGeom prst="rect">
            <a:avLst/>
          </a:prstGeom>
          <a:noFill/>
          <a:ln/>
        </p:spPr>
        <p:txBody>
          <a:bodyPr wrap="square" lIns="0" tIns="0" rIns="0" bIns="0" rtlCol="0" anchor="ctr"/>
          <a:lstStyle/>
          <a:p>
            <a:pPr indent="0" marL="0">
              <a:buNone/>
            </a:pPr>
            <a:r>
              <a:rPr lang="en-US" sz="840" b="1" dirty="0">
                <a:solidFill>
                  <a:srgbClr val="1B2432"/>
                </a:solidFill>
                <a:latin typeface="Calibri" pitchFamily="34" charset="0"/>
                <a:ea typeface="Calibri" pitchFamily="34" charset="-122"/>
                <a:cs typeface="Calibri" pitchFamily="34" charset="-120"/>
              </a:rPr>
              <a:t>Enterprise</a:t>
            </a:r>
            <a:endParaRPr lang="en-US" sz="840" dirty="0"/>
          </a:p>
        </p:txBody>
      </p:sp>
      <p:sp>
        <p:nvSpPr>
          <p:cNvPr id="89" name="Text 87"/>
          <p:cNvSpPr txBox="1"/>
          <p:nvPr/>
        </p:nvSpPr>
        <p:spPr>
          <a:xfrm>
            <a:off x="9281160" y="5605272"/>
            <a:ext cx="2468880" cy="256032"/>
          </a:xfrm>
          <a:prstGeom prst="rect">
            <a:avLst/>
          </a:prstGeom>
          <a:noFill/>
          <a:ln/>
        </p:spPr>
        <p:txBody>
          <a:bodyPr wrap="square" lIns="0" tIns="0" rIns="0" bIns="0" rtlCol="0" anchor="ctr"/>
          <a:lstStyle/>
          <a:p>
            <a:pPr indent="0" marL="0">
              <a:lnSpc>
                <a:spcPts val="880"/>
              </a:lnSpc>
              <a:buNone/>
            </a:pPr>
            <a:r>
              <a:rPr lang="en-US" sz="760" dirty="0">
                <a:solidFill>
                  <a:srgbClr val="55606E"/>
                </a:solidFill>
                <a:latin typeface="Calibri" pitchFamily="34" charset="0"/>
                <a:ea typeface="Calibri" pitchFamily="34" charset="-122"/>
                <a:cs typeface="Calibri" pitchFamily="34" charset="-120"/>
              </a:rPr>
              <a:t>Faster reduction of non-compliant content</a:t>
            </a:r>
            <a:endParaRPr lang="en-US" sz="760" dirty="0"/>
          </a:p>
        </p:txBody>
      </p:sp>
      <p:sp>
        <p:nvSpPr>
          <p:cNvPr id="90" name="Shape 88"/>
          <p:cNvSpPr/>
          <p:nvPr/>
        </p:nvSpPr>
        <p:spPr>
          <a:xfrm>
            <a:off x="411480" y="6089904"/>
            <a:ext cx="11338560" cy="438912"/>
          </a:xfrm>
          <a:prstGeom prst="roundRect">
            <a:avLst>
              <a:gd name="adj" fmla="val 10417"/>
            </a:avLst>
          </a:prstGeom>
          <a:solidFill>
            <a:srgbClr val="F4F7FA"/>
          </a:solidFill>
          <a:ln w="9525">
            <a:solidFill>
              <a:srgbClr val="D4DAE2"/>
            </a:solidFill>
            <a:prstDash val="solid"/>
          </a:ln>
        </p:spPr>
      </p:sp>
      <p:sp>
        <p:nvSpPr>
          <p:cNvPr id="91" name="Text 89"/>
          <p:cNvSpPr txBox="1"/>
          <p:nvPr/>
        </p:nvSpPr>
        <p:spPr>
          <a:xfrm>
            <a:off x="557784" y="6089904"/>
            <a:ext cx="11045952" cy="438912"/>
          </a:xfrm>
          <a:prstGeom prst="rect">
            <a:avLst/>
          </a:prstGeom>
          <a:noFill/>
          <a:ln/>
        </p:spPr>
        <p:txBody>
          <a:bodyPr wrap="square" lIns="0" tIns="0" rIns="0" bIns="0" rtlCol="0" anchor="ctr"/>
          <a:lstStyle/>
          <a:p>
            <a:pPr indent="0" marL="0">
              <a:lnSpc>
                <a:spcPts val="1040"/>
              </a:lnSpc>
              <a:buNone/>
            </a:pPr>
            <a:r>
              <a:rPr lang="en-US" sz="860" dirty="0">
                <a:solidFill>
                  <a:srgbClr val="1B2432"/>
                </a:solidFill>
                <a:latin typeface="Calibri" pitchFamily="34" charset="0"/>
                <a:ea typeface="Calibri" pitchFamily="34" charset="-122"/>
                <a:cs typeface="Calibri" pitchFamily="34" charset="-120"/>
              </a:rPr>
              <a:t>Read the distribution honestly: only a fifth of scenarios qualify for Lean on day one, and a more flattering number would not survive scrutiny. The trajectory — not the entry figure — is the case being made, and it is a function of pattern investment ECM controls rather than of partner behaviour it does not.</a:t>
            </a:r>
            <a:endParaRPr lang="en-US" sz="8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274320"/>
            <a:ext cx="274320" cy="274320"/>
          </a:xfrm>
          <a:prstGeom prst="rect">
            <a:avLst/>
          </a:prstGeom>
          <a:solidFill>
            <a:srgbClr val="15304F"/>
          </a:solidFill>
          <a:ln w="12700">
            <a:solidFill>
              <a:srgbClr val="333333"/>
            </a:solidFill>
            <a:prstDash val="solid"/>
          </a:ln>
        </p:spPr>
      </p:sp>
      <p:sp>
        <p:nvSpPr>
          <p:cNvPr id="3" name="Text 1"/>
          <p:cNvSpPr txBox="1"/>
          <p:nvPr/>
        </p:nvSpPr>
        <p:spPr>
          <a:xfrm>
            <a:off x="411480" y="2743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795528" y="219456"/>
            <a:ext cx="8778240" cy="384048"/>
          </a:xfrm>
          <a:prstGeom prst="rect">
            <a:avLst/>
          </a:prstGeom>
          <a:noFill/>
          <a:ln/>
        </p:spPr>
        <p:txBody>
          <a:bodyPr wrap="square" lIns="0" tIns="0" rIns="0" bIns="0" rtlCol="0" anchor="ctr"/>
          <a:lstStyle/>
          <a:p>
            <a:pPr indent="0" marL="0">
              <a:buNone/>
            </a:pPr>
            <a:r>
              <a:rPr lang="en-US" sz="2400" b="1" dirty="0">
                <a:solidFill>
                  <a:srgbClr val="1B2432"/>
                </a:solidFill>
                <a:latin typeface="Cambria" pitchFamily="34" charset="0"/>
                <a:ea typeface="Cambria" pitchFamily="34" charset="-122"/>
                <a:cs typeface="Cambria" pitchFamily="34" charset="-120"/>
              </a:rPr>
              <a:t>The ask: four sprints, five to six people</a:t>
            </a:r>
            <a:endParaRPr lang="en-US" sz="2400" dirty="0"/>
          </a:p>
        </p:txBody>
      </p:sp>
      <p:sp>
        <p:nvSpPr>
          <p:cNvPr id="5" name="Text 3"/>
          <p:cNvSpPr txBox="1"/>
          <p:nvPr/>
        </p:nvSpPr>
        <p:spPr>
          <a:xfrm>
            <a:off x="795528" y="621792"/>
            <a:ext cx="9326880" cy="237744"/>
          </a:xfrm>
          <a:prstGeom prst="rect">
            <a:avLst/>
          </a:prstGeom>
          <a:noFill/>
          <a:ln/>
        </p:spPr>
        <p:txBody>
          <a:bodyPr wrap="square" lIns="0" tIns="0" rIns="0" bIns="0" rtlCol="0" anchor="ctr"/>
          <a:lstStyle/>
          <a:p>
            <a:pPr indent="0" marL="0">
              <a:buNone/>
            </a:pPr>
            <a:r>
              <a:rPr lang="en-US" sz="1050" dirty="0">
                <a:solidFill>
                  <a:srgbClr val="55606E"/>
                </a:solidFill>
                <a:latin typeface="Calibri" pitchFamily="34" charset="0"/>
                <a:ea typeface="Calibri" pitchFamily="34" charset="-122"/>
                <a:cs typeface="Calibri" pitchFamily="34" charset="-120"/>
              </a:rPr>
              <a:t>No structural change, no headcount commitment, and no partner forced to do anything differently</a:t>
            </a:r>
            <a:endParaRPr lang="en-US" sz="1050" dirty="0"/>
          </a:p>
        </p:txBody>
      </p:sp>
      <p:sp>
        <p:nvSpPr>
          <p:cNvPr id="6" name="Text 4"/>
          <p:cNvSpPr txBox="1"/>
          <p:nvPr/>
        </p:nvSpPr>
        <p:spPr>
          <a:xfrm>
            <a:off x="9052560" y="274320"/>
            <a:ext cx="2697480" cy="256032"/>
          </a:xfrm>
          <a:prstGeom prst="rect">
            <a:avLst/>
          </a:prstGeom>
          <a:noFill/>
          <a:ln/>
        </p:spPr>
        <p:txBody>
          <a:bodyPr wrap="square" lIns="0" tIns="0" rIns="0" bIns="0" rtlCol="0" anchor="ctr"/>
          <a:lstStyle/>
          <a:p>
            <a:pPr algn="r" indent="0" marL="0">
              <a:buNone/>
            </a:pPr>
            <a:r>
              <a:rPr lang="en-US" sz="950" b="1" spc="60" kern="0" dirty="0">
                <a:solidFill>
                  <a:srgbClr val="7C8798"/>
                </a:solidFill>
                <a:latin typeface="Calibri" pitchFamily="34" charset="0"/>
                <a:ea typeface="Calibri" pitchFamily="34" charset="-122"/>
                <a:cs typeface="Calibri" pitchFamily="34" charset="-120"/>
              </a:rPr>
              <a:t>The plan</a:t>
            </a:r>
            <a:endParaRPr lang="en-US" sz="950" dirty="0"/>
          </a:p>
        </p:txBody>
      </p:sp>
      <p:sp>
        <p:nvSpPr>
          <p:cNvPr id="7" name="Shape 5"/>
          <p:cNvSpPr/>
          <p:nvPr/>
        </p:nvSpPr>
        <p:spPr>
          <a:xfrm>
            <a:off x="411480" y="932688"/>
            <a:ext cx="11338560" cy="0"/>
          </a:xfrm>
          <a:prstGeom prst="line">
            <a:avLst/>
          </a:prstGeom>
          <a:noFill/>
          <a:ln w="12700">
            <a:solidFill>
              <a:srgbClr val="D4DAE2"/>
            </a:solidFill>
            <a:prstDash val="solid"/>
          </a:ln>
        </p:spPr>
      </p:sp>
      <p:sp>
        <p:nvSpPr>
          <p:cNvPr id="8" name="Shape 6"/>
          <p:cNvSpPr/>
          <p:nvPr/>
        </p:nvSpPr>
        <p:spPr>
          <a:xfrm>
            <a:off x="411480" y="1078992"/>
            <a:ext cx="2738628" cy="1152144"/>
          </a:xfrm>
          <a:prstGeom prst="roundRect">
            <a:avLst>
              <a:gd name="adj" fmla="val 3968"/>
            </a:avLst>
          </a:prstGeom>
          <a:solidFill>
            <a:srgbClr val="FBF0EB"/>
          </a:solidFill>
          <a:ln w="15240">
            <a:solidFill>
              <a:srgbClr val="A44A2A"/>
            </a:solidFill>
            <a:prstDash val="solid"/>
          </a:ln>
        </p:spPr>
      </p:sp>
      <p:sp>
        <p:nvSpPr>
          <p:cNvPr id="9" name="Text 7"/>
          <p:cNvSpPr txBox="1"/>
          <p:nvPr/>
        </p:nvSpPr>
        <p:spPr>
          <a:xfrm>
            <a:off x="502920" y="1143000"/>
            <a:ext cx="2555748" cy="182880"/>
          </a:xfrm>
          <a:prstGeom prst="rect">
            <a:avLst/>
          </a:prstGeom>
          <a:noFill/>
          <a:ln/>
        </p:spPr>
        <p:txBody>
          <a:bodyPr wrap="square" lIns="0" tIns="0" rIns="0" bIns="0" rtlCol="0" anchor="ctr"/>
          <a:lstStyle/>
          <a:p>
            <a:pPr indent="0" marL="0">
              <a:buNone/>
            </a:pPr>
            <a:r>
              <a:rPr lang="en-US" sz="720" b="1" spc="80" kern="0" dirty="0">
                <a:solidFill>
                  <a:srgbClr val="A44A2A"/>
                </a:solidFill>
                <a:latin typeface="Calibri" pitchFamily="34" charset="0"/>
                <a:ea typeface="Calibri" pitchFamily="34" charset="-122"/>
                <a:cs typeface="Calibri" pitchFamily="34" charset="-120"/>
              </a:rPr>
              <a:t>SPRINT 1 · WEEKS 1–2</a:t>
            </a:r>
            <a:endParaRPr lang="en-US" sz="720" dirty="0"/>
          </a:p>
        </p:txBody>
      </p:sp>
      <p:sp>
        <p:nvSpPr>
          <p:cNvPr id="10" name="Text 8"/>
          <p:cNvSpPr txBox="1"/>
          <p:nvPr/>
        </p:nvSpPr>
        <p:spPr>
          <a:xfrm>
            <a:off x="502920" y="1316736"/>
            <a:ext cx="2555748"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Complete the intake</a:t>
            </a:r>
            <a:endParaRPr lang="en-US" sz="1100" dirty="0"/>
          </a:p>
        </p:txBody>
      </p:sp>
      <p:sp>
        <p:nvSpPr>
          <p:cNvPr id="11" name="Text 9"/>
          <p:cNvSpPr txBox="1"/>
          <p:nvPr/>
        </p:nvSpPr>
        <p:spPr>
          <a:xfrm>
            <a:off x="502920" y="1737360"/>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Data catalogue and why-register · intake copilot · gap register · handoff contract</a:t>
            </a:r>
            <a:endParaRPr lang="en-US" sz="720" dirty="0"/>
          </a:p>
        </p:txBody>
      </p:sp>
      <p:sp>
        <p:nvSpPr>
          <p:cNvPr id="12" name="Text 10"/>
          <p:cNvSpPr txBox="1"/>
          <p:nvPr/>
        </p:nvSpPr>
        <p:spPr>
          <a:xfrm>
            <a:off x="3131820" y="1508760"/>
            <a:ext cx="164592"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3" name="Shape 11"/>
          <p:cNvSpPr/>
          <p:nvPr/>
        </p:nvSpPr>
        <p:spPr>
          <a:xfrm>
            <a:off x="3278124" y="1078992"/>
            <a:ext cx="2738628" cy="1152144"/>
          </a:xfrm>
          <a:prstGeom prst="roundRect">
            <a:avLst>
              <a:gd name="adj" fmla="val 3968"/>
            </a:avLst>
          </a:prstGeom>
          <a:solidFill>
            <a:srgbClr val="FAF1DF"/>
          </a:solidFill>
          <a:ln w="15240">
            <a:solidFill>
              <a:srgbClr val="9A6410"/>
            </a:solidFill>
            <a:prstDash val="solid"/>
          </a:ln>
        </p:spPr>
      </p:sp>
      <p:sp>
        <p:nvSpPr>
          <p:cNvPr id="14" name="Text 12"/>
          <p:cNvSpPr txBox="1"/>
          <p:nvPr/>
        </p:nvSpPr>
        <p:spPr>
          <a:xfrm>
            <a:off x="3369564" y="1143000"/>
            <a:ext cx="2555748" cy="182880"/>
          </a:xfrm>
          <a:prstGeom prst="rect">
            <a:avLst/>
          </a:prstGeom>
          <a:noFill/>
          <a:ln/>
        </p:spPr>
        <p:txBody>
          <a:bodyPr wrap="square" lIns="0" tIns="0" rIns="0" bIns="0" rtlCol="0" anchor="ctr"/>
          <a:lstStyle/>
          <a:p>
            <a:pPr indent="0" marL="0">
              <a:buNone/>
            </a:pPr>
            <a:r>
              <a:rPr lang="en-US" sz="720" b="1" spc="80" kern="0" dirty="0">
                <a:solidFill>
                  <a:srgbClr val="9A6410"/>
                </a:solidFill>
                <a:latin typeface="Calibri" pitchFamily="34" charset="0"/>
                <a:ea typeface="Calibri" pitchFamily="34" charset="-122"/>
                <a:cs typeface="Calibri" pitchFamily="34" charset="-120"/>
              </a:rPr>
              <a:t>SPRINT 2 · WEEKS 3–4</a:t>
            </a:r>
            <a:endParaRPr lang="en-US" sz="720" dirty="0"/>
          </a:p>
        </p:txBody>
      </p:sp>
      <p:sp>
        <p:nvSpPr>
          <p:cNvPr id="15" name="Text 13"/>
          <p:cNvSpPr txBox="1"/>
          <p:nvPr/>
        </p:nvSpPr>
        <p:spPr>
          <a:xfrm>
            <a:off x="3369564" y="1316736"/>
            <a:ext cx="2555748"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Make intake drive delivery</a:t>
            </a:r>
            <a:endParaRPr lang="en-US" sz="1100" dirty="0"/>
          </a:p>
        </p:txBody>
      </p:sp>
      <p:sp>
        <p:nvSpPr>
          <p:cNvPr id="16" name="Text 14"/>
          <p:cNvSpPr txBox="1"/>
          <p:nvPr/>
        </p:nvSpPr>
        <p:spPr>
          <a:xfrm>
            <a:off x="3369564" y="1737360"/>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Scope derivation · tiering assistant · pattern matcher · precedent · patterns to M1</a:t>
            </a:r>
            <a:endParaRPr lang="en-US" sz="720" dirty="0"/>
          </a:p>
        </p:txBody>
      </p:sp>
      <p:sp>
        <p:nvSpPr>
          <p:cNvPr id="17" name="Text 15"/>
          <p:cNvSpPr txBox="1"/>
          <p:nvPr/>
        </p:nvSpPr>
        <p:spPr>
          <a:xfrm>
            <a:off x="5998464" y="1508760"/>
            <a:ext cx="164592"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18" name="Shape 16"/>
          <p:cNvSpPr/>
          <p:nvPr/>
        </p:nvSpPr>
        <p:spPr>
          <a:xfrm>
            <a:off x="6144768" y="1078992"/>
            <a:ext cx="2738628" cy="1152144"/>
          </a:xfrm>
          <a:prstGeom prst="roundRect">
            <a:avLst>
              <a:gd name="adj" fmla="val 3968"/>
            </a:avLst>
          </a:prstGeom>
          <a:solidFill>
            <a:srgbClr val="E6F2F1"/>
          </a:solidFill>
          <a:ln w="15240">
            <a:solidFill>
              <a:srgbClr val="0B6E6E"/>
            </a:solidFill>
            <a:prstDash val="solid"/>
          </a:ln>
        </p:spPr>
      </p:sp>
      <p:sp>
        <p:nvSpPr>
          <p:cNvPr id="19" name="Text 17"/>
          <p:cNvSpPr txBox="1"/>
          <p:nvPr/>
        </p:nvSpPr>
        <p:spPr>
          <a:xfrm>
            <a:off x="6236208" y="1143000"/>
            <a:ext cx="2555748" cy="182880"/>
          </a:xfrm>
          <a:prstGeom prst="rect">
            <a:avLst/>
          </a:prstGeom>
          <a:noFill/>
          <a:ln/>
        </p:spPr>
        <p:txBody>
          <a:bodyPr wrap="square" lIns="0" tIns="0" rIns="0" bIns="0" rtlCol="0" anchor="ctr"/>
          <a:lstStyle/>
          <a:p>
            <a:pPr indent="0" marL="0">
              <a:buNone/>
            </a:pPr>
            <a:r>
              <a:rPr lang="en-US" sz="720" b="1" spc="80" kern="0" dirty="0">
                <a:solidFill>
                  <a:srgbClr val="0B6E6E"/>
                </a:solidFill>
                <a:latin typeface="Calibri" pitchFamily="34" charset="0"/>
                <a:ea typeface="Calibri" pitchFamily="34" charset="-122"/>
                <a:cs typeface="Calibri" pitchFamily="34" charset="-120"/>
              </a:rPr>
              <a:t>SPRINT 3 · WEEKS 5–6</a:t>
            </a:r>
            <a:endParaRPr lang="en-US" sz="720" dirty="0"/>
          </a:p>
        </p:txBody>
      </p:sp>
      <p:sp>
        <p:nvSpPr>
          <p:cNvPr id="20" name="Text 18"/>
          <p:cNvSpPr txBox="1"/>
          <p:nvPr/>
        </p:nvSpPr>
        <p:spPr>
          <a:xfrm>
            <a:off x="6236208" y="1316736"/>
            <a:ext cx="2555748"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Guardrails and the Clinic</a:t>
            </a:r>
            <a:endParaRPr lang="en-US" sz="1100" dirty="0"/>
          </a:p>
        </p:txBody>
      </p:sp>
      <p:sp>
        <p:nvSpPr>
          <p:cNvPr id="21" name="Text 19"/>
          <p:cNvSpPr txBox="1"/>
          <p:nvPr/>
        </p:nvSpPr>
        <p:spPr>
          <a:xfrm>
            <a:off x="6236208" y="1737360"/>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Gate engine · routing rules codified · artefact generation · clinic rhythm opens</a:t>
            </a:r>
            <a:endParaRPr lang="en-US" sz="720" dirty="0"/>
          </a:p>
        </p:txBody>
      </p:sp>
      <p:sp>
        <p:nvSpPr>
          <p:cNvPr id="22" name="Text 20"/>
          <p:cNvSpPr txBox="1"/>
          <p:nvPr/>
        </p:nvSpPr>
        <p:spPr>
          <a:xfrm>
            <a:off x="8865108" y="1508760"/>
            <a:ext cx="164592" cy="292608"/>
          </a:xfrm>
          <a:prstGeom prst="rect">
            <a:avLst/>
          </a:prstGeom>
          <a:noFill/>
          <a:ln/>
        </p:spPr>
        <p:txBody>
          <a:bodyPr wrap="square" lIns="0" tIns="0" rIns="0" bIns="0" rtlCol="0" anchor="ctr"/>
          <a:lstStyle/>
          <a:p>
            <a:pPr algn="ctr" indent="0" marL="0">
              <a:buNone/>
            </a:pPr>
            <a:r>
              <a:rPr lang="en-US" sz="1100" b="1" dirty="0">
                <a:solidFill>
                  <a:srgbClr val="7C8798"/>
                </a:solidFill>
                <a:latin typeface="Calibri" pitchFamily="34" charset="0"/>
                <a:ea typeface="Calibri" pitchFamily="34" charset="-122"/>
                <a:cs typeface="Calibri" pitchFamily="34" charset="-120"/>
              </a:rPr>
              <a:t>&gt;</a:t>
            </a:r>
            <a:endParaRPr lang="en-US" sz="1100" dirty="0"/>
          </a:p>
        </p:txBody>
      </p:sp>
      <p:sp>
        <p:nvSpPr>
          <p:cNvPr id="23" name="Shape 21"/>
          <p:cNvSpPr/>
          <p:nvPr/>
        </p:nvSpPr>
        <p:spPr>
          <a:xfrm>
            <a:off x="9011412" y="1078992"/>
            <a:ext cx="2738628" cy="1152144"/>
          </a:xfrm>
          <a:prstGeom prst="roundRect">
            <a:avLst>
              <a:gd name="adj" fmla="val 3968"/>
            </a:avLst>
          </a:prstGeom>
          <a:solidFill>
            <a:srgbClr val="E8EDF4"/>
          </a:solidFill>
          <a:ln w="15240">
            <a:solidFill>
              <a:srgbClr val="15304F"/>
            </a:solidFill>
            <a:prstDash val="solid"/>
          </a:ln>
        </p:spPr>
      </p:sp>
      <p:sp>
        <p:nvSpPr>
          <p:cNvPr id="24" name="Text 22"/>
          <p:cNvSpPr txBox="1"/>
          <p:nvPr/>
        </p:nvSpPr>
        <p:spPr>
          <a:xfrm>
            <a:off x="9102852" y="1143000"/>
            <a:ext cx="2555748" cy="182880"/>
          </a:xfrm>
          <a:prstGeom prst="rect">
            <a:avLst/>
          </a:prstGeom>
          <a:noFill/>
          <a:ln/>
        </p:spPr>
        <p:txBody>
          <a:bodyPr wrap="square" lIns="0" tIns="0" rIns="0" bIns="0" rtlCol="0" anchor="ctr"/>
          <a:lstStyle/>
          <a:p>
            <a:pPr indent="0" marL="0">
              <a:buNone/>
            </a:pPr>
            <a:r>
              <a:rPr lang="en-US" sz="720" b="1" spc="80" kern="0" dirty="0">
                <a:solidFill>
                  <a:srgbClr val="15304F"/>
                </a:solidFill>
                <a:latin typeface="Calibri" pitchFamily="34" charset="0"/>
                <a:ea typeface="Calibri" pitchFamily="34" charset="-122"/>
                <a:cs typeface="Calibri" pitchFamily="34" charset="-120"/>
              </a:rPr>
              <a:t>SPRINT 4 · WEEKS 7–8</a:t>
            </a:r>
            <a:endParaRPr lang="en-US" sz="720" dirty="0"/>
          </a:p>
        </p:txBody>
      </p:sp>
      <p:sp>
        <p:nvSpPr>
          <p:cNvPr id="25" name="Text 23"/>
          <p:cNvSpPr txBox="1"/>
          <p:nvPr/>
        </p:nvSpPr>
        <p:spPr>
          <a:xfrm>
            <a:off x="9102852" y="1316736"/>
            <a:ext cx="2555748" cy="420624"/>
          </a:xfrm>
          <a:prstGeom prst="rect">
            <a:avLst/>
          </a:prstGeom>
          <a:noFill/>
          <a:ln/>
        </p:spPr>
        <p:txBody>
          <a:bodyPr wrap="square" lIns="0" tIns="0" rIns="0" bIns="0" rtlCol="0" anchor="t"/>
          <a:lstStyle/>
          <a:p>
            <a:pPr indent="0" marL="0">
              <a:lnSpc>
                <a:spcPts val="1300"/>
              </a:lnSpc>
              <a:buNone/>
            </a:pPr>
            <a:r>
              <a:rPr lang="en-US" sz="1100" b="1" dirty="0">
                <a:solidFill>
                  <a:srgbClr val="1B2432"/>
                </a:solidFill>
                <a:latin typeface="Calibri" pitchFamily="34" charset="0"/>
                <a:ea typeface="Calibri" pitchFamily="34" charset="-122"/>
                <a:cs typeface="Calibri" pitchFamily="34" charset="-120"/>
              </a:rPr>
              <a:t>Prove Lean end to end</a:t>
            </a:r>
            <a:endParaRPr lang="en-US" sz="1100" dirty="0"/>
          </a:p>
        </p:txBody>
      </p:sp>
      <p:sp>
        <p:nvSpPr>
          <p:cNvPr id="26" name="Text 24"/>
          <p:cNvSpPr txBox="1"/>
          <p:nvPr/>
        </p:nvSpPr>
        <p:spPr>
          <a:xfrm>
            <a:off x="9102852" y="1737360"/>
            <a:ext cx="2555748" cy="438912"/>
          </a:xfrm>
          <a:prstGeom prst="rect">
            <a:avLst/>
          </a:prstGeom>
          <a:noFill/>
          <a:ln/>
        </p:spPr>
        <p:txBody>
          <a:bodyPr wrap="square" lIns="0" tIns="0" rIns="0" bIns="0" rtlCol="0" anchor="b"/>
          <a:lstStyle/>
          <a:p>
            <a:pPr indent="0" marL="0">
              <a:lnSpc>
                <a:spcPts val="860"/>
              </a:lnSpc>
              <a:buNone/>
            </a:pPr>
            <a:r>
              <a:rPr lang="en-US" sz="720" dirty="0">
                <a:solidFill>
                  <a:srgbClr val="55606E"/>
                </a:solidFill>
                <a:latin typeface="Calibri" pitchFamily="34" charset="0"/>
                <a:ea typeface="Calibri" pitchFamily="34" charset="-122"/>
                <a:cs typeface="Calibri" pitchFamily="34" charset="-120"/>
              </a:rPr>
              <a:t>Self-service provisioning on one pattern · certification · cockpit · dashboard</a:t>
            </a:r>
            <a:endParaRPr lang="en-US" sz="720" dirty="0"/>
          </a:p>
        </p:txBody>
      </p:sp>
      <p:sp>
        <p:nvSpPr>
          <p:cNvPr id="27" name="Text 25"/>
          <p:cNvSpPr txBox="1"/>
          <p:nvPr/>
        </p:nvSpPr>
        <p:spPr>
          <a:xfrm>
            <a:off x="411480" y="2414016"/>
            <a:ext cx="5486400" cy="182880"/>
          </a:xfrm>
          <a:prstGeom prst="rect">
            <a:avLst/>
          </a:prstGeom>
          <a:noFill/>
          <a:ln/>
        </p:spPr>
        <p:txBody>
          <a:bodyPr wrap="square" lIns="0" tIns="0" rIns="0" bIns="0" rtlCol="0" anchor="ctr"/>
          <a:lstStyle/>
          <a:p>
            <a:pPr indent="0" marL="0">
              <a:buNone/>
            </a:pPr>
            <a:r>
              <a:rPr lang="en-US" sz="760" b="1" spc="110" kern="0" dirty="0">
                <a:solidFill>
                  <a:srgbClr val="1B2432"/>
                </a:solidFill>
                <a:latin typeface="Calibri" pitchFamily="34" charset="0"/>
                <a:ea typeface="Calibri" pitchFamily="34" charset="-122"/>
                <a:cs typeface="Calibri" pitchFamily="34" charset="-120"/>
              </a:rPr>
              <a:t>PROOF POINTS — WHAT EXISTS AT THE END OF EACH SPRINT</a:t>
            </a:r>
            <a:endParaRPr lang="en-US" sz="760" dirty="0"/>
          </a:p>
        </p:txBody>
      </p:sp>
      <p:sp>
        <p:nvSpPr>
          <p:cNvPr id="28" name="Shape 26"/>
          <p:cNvSpPr/>
          <p:nvPr/>
        </p:nvSpPr>
        <p:spPr>
          <a:xfrm>
            <a:off x="411480" y="2615184"/>
            <a:ext cx="2738628" cy="676656"/>
          </a:xfrm>
          <a:prstGeom prst="roundRect">
            <a:avLst>
              <a:gd name="adj" fmla="val 5405"/>
            </a:avLst>
          </a:prstGeom>
          <a:solidFill>
            <a:srgbClr val="F4F7FA"/>
          </a:solidFill>
          <a:ln w="9525">
            <a:solidFill>
              <a:srgbClr val="D4DAE2"/>
            </a:solidFill>
            <a:prstDash val="solid"/>
          </a:ln>
        </p:spPr>
      </p:sp>
      <p:sp>
        <p:nvSpPr>
          <p:cNvPr id="29" name="Text 27"/>
          <p:cNvSpPr txBox="1"/>
          <p:nvPr/>
        </p:nvSpPr>
        <p:spPr>
          <a:xfrm>
            <a:off x="539496" y="2615184"/>
            <a:ext cx="2482596" cy="676656"/>
          </a:xfrm>
          <a:prstGeom prst="rect">
            <a:avLst/>
          </a:prstGeom>
          <a:noFill/>
          <a:ln/>
        </p:spPr>
        <p:txBody>
          <a:bodyPr wrap="square" lIns="0" tIns="0" rIns="0" bIns="0" rtlCol="0" anchor="ctr"/>
          <a:lstStyle/>
          <a:p>
            <a:pPr indent="0" marL="0">
              <a:lnSpc>
                <a:spcPts val="960"/>
              </a:lnSpc>
              <a:buNone/>
            </a:pPr>
            <a:r>
              <a:rPr lang="en-US" sz="800" dirty="0">
                <a:solidFill>
                  <a:srgbClr val="1B2432"/>
                </a:solidFill>
                <a:latin typeface="Calibri" pitchFamily="34" charset="0"/>
                <a:ea typeface="Calibri" pitchFamily="34" charset="-122"/>
                <a:cs typeface="Calibri" pitchFamily="34" charset="-120"/>
              </a:rPr>
              <a:t>The 30–40% estimate measured rather than asserted; clarification cycles down on pilot intakes</a:t>
            </a:r>
            <a:endParaRPr lang="en-US" sz="800" dirty="0"/>
          </a:p>
        </p:txBody>
      </p:sp>
      <p:sp>
        <p:nvSpPr>
          <p:cNvPr id="30" name="Shape 28"/>
          <p:cNvSpPr/>
          <p:nvPr/>
        </p:nvSpPr>
        <p:spPr>
          <a:xfrm>
            <a:off x="3278124" y="2615184"/>
            <a:ext cx="2738628" cy="676656"/>
          </a:xfrm>
          <a:prstGeom prst="roundRect">
            <a:avLst>
              <a:gd name="adj" fmla="val 5405"/>
            </a:avLst>
          </a:prstGeom>
          <a:solidFill>
            <a:srgbClr val="F4F7FA"/>
          </a:solidFill>
          <a:ln w="9525">
            <a:solidFill>
              <a:srgbClr val="D4DAE2"/>
            </a:solidFill>
            <a:prstDash val="solid"/>
          </a:ln>
        </p:spPr>
      </p:sp>
      <p:sp>
        <p:nvSpPr>
          <p:cNvPr id="31" name="Text 29"/>
          <p:cNvSpPr txBox="1"/>
          <p:nvPr/>
        </p:nvSpPr>
        <p:spPr>
          <a:xfrm>
            <a:off x="3406140" y="2615184"/>
            <a:ext cx="2482596" cy="676656"/>
          </a:xfrm>
          <a:prstGeom prst="rect">
            <a:avLst/>
          </a:prstGeom>
          <a:noFill/>
          <a:ln/>
        </p:spPr>
        <p:txBody>
          <a:bodyPr wrap="square" lIns="0" tIns="0" rIns="0" bIns="0" rtlCol="0" anchor="ctr"/>
          <a:lstStyle/>
          <a:p>
            <a:pPr indent="0" marL="0">
              <a:lnSpc>
                <a:spcPts val="960"/>
              </a:lnSpc>
              <a:buNone/>
            </a:pPr>
            <a:r>
              <a:rPr lang="en-US" sz="800" dirty="0">
                <a:solidFill>
                  <a:srgbClr val="1B2432"/>
                </a:solidFill>
                <a:latin typeface="Calibri" pitchFamily="34" charset="0"/>
                <a:ea typeface="Calibri" pitchFamily="34" charset="-122"/>
                <a:cs typeface="Calibri" pitchFamily="34" charset="-120"/>
              </a:rPr>
              <a:t>Scope and tier derived automatically from intake; the real distribution of 12 months of demand known</a:t>
            </a:r>
            <a:endParaRPr lang="en-US" sz="800" dirty="0"/>
          </a:p>
        </p:txBody>
      </p:sp>
      <p:sp>
        <p:nvSpPr>
          <p:cNvPr id="32" name="Shape 30"/>
          <p:cNvSpPr/>
          <p:nvPr/>
        </p:nvSpPr>
        <p:spPr>
          <a:xfrm>
            <a:off x="6144768" y="2615184"/>
            <a:ext cx="2738628" cy="676656"/>
          </a:xfrm>
          <a:prstGeom prst="roundRect">
            <a:avLst>
              <a:gd name="adj" fmla="val 5405"/>
            </a:avLst>
          </a:prstGeom>
          <a:solidFill>
            <a:srgbClr val="F4F7FA"/>
          </a:solidFill>
          <a:ln w="9525">
            <a:solidFill>
              <a:srgbClr val="D4DAE2"/>
            </a:solidFill>
            <a:prstDash val="solid"/>
          </a:ln>
        </p:spPr>
      </p:sp>
      <p:sp>
        <p:nvSpPr>
          <p:cNvPr id="33" name="Text 31"/>
          <p:cNvSpPr txBox="1"/>
          <p:nvPr/>
        </p:nvSpPr>
        <p:spPr>
          <a:xfrm>
            <a:off x="6272784" y="2615184"/>
            <a:ext cx="2482596" cy="676656"/>
          </a:xfrm>
          <a:prstGeom prst="rect">
            <a:avLst/>
          </a:prstGeom>
          <a:noFill/>
          <a:ln/>
        </p:spPr>
        <p:txBody>
          <a:bodyPr wrap="square" lIns="0" tIns="0" rIns="0" bIns="0" rtlCol="0" anchor="ctr"/>
          <a:lstStyle/>
          <a:p>
            <a:pPr indent="0" marL="0">
              <a:lnSpc>
                <a:spcPts val="960"/>
              </a:lnSpc>
              <a:buNone/>
            </a:pPr>
            <a:r>
              <a:rPr lang="en-US" sz="800" dirty="0">
                <a:solidFill>
                  <a:srgbClr val="1B2432"/>
                </a:solidFill>
                <a:latin typeface="Calibri" pitchFamily="34" charset="0"/>
                <a:ea typeface="Calibri" pitchFamily="34" charset="-122"/>
                <a:cs typeface="Calibri" pitchFamily="34" charset="-120"/>
              </a:rPr>
              <a:t>Lean+ operating with real checkpoints, a named guide and a published clinic rhythm</a:t>
            </a:r>
            <a:endParaRPr lang="en-US" sz="800" dirty="0"/>
          </a:p>
        </p:txBody>
      </p:sp>
      <p:sp>
        <p:nvSpPr>
          <p:cNvPr id="34" name="Shape 32"/>
          <p:cNvSpPr/>
          <p:nvPr/>
        </p:nvSpPr>
        <p:spPr>
          <a:xfrm>
            <a:off x="9011412" y="2615184"/>
            <a:ext cx="2738628" cy="676656"/>
          </a:xfrm>
          <a:prstGeom prst="roundRect">
            <a:avLst>
              <a:gd name="adj" fmla="val 5405"/>
            </a:avLst>
          </a:prstGeom>
          <a:solidFill>
            <a:srgbClr val="F4F7FA"/>
          </a:solidFill>
          <a:ln w="9525">
            <a:solidFill>
              <a:srgbClr val="D4DAE2"/>
            </a:solidFill>
            <a:prstDash val="solid"/>
          </a:ln>
        </p:spPr>
      </p:sp>
      <p:sp>
        <p:nvSpPr>
          <p:cNvPr id="35" name="Text 33"/>
          <p:cNvSpPr txBox="1"/>
          <p:nvPr/>
        </p:nvSpPr>
        <p:spPr>
          <a:xfrm>
            <a:off x="9139428" y="2615184"/>
            <a:ext cx="2482596" cy="676656"/>
          </a:xfrm>
          <a:prstGeom prst="rect">
            <a:avLst/>
          </a:prstGeom>
          <a:noFill/>
          <a:ln/>
        </p:spPr>
        <p:txBody>
          <a:bodyPr wrap="square" lIns="0" tIns="0" rIns="0" bIns="0" rtlCol="0" anchor="ctr"/>
          <a:lstStyle/>
          <a:p>
            <a:pPr indent="0" marL="0">
              <a:lnSpc>
                <a:spcPts val="960"/>
              </a:lnSpc>
              <a:buNone/>
            </a:pPr>
            <a:r>
              <a:rPr lang="en-US" sz="800" dirty="0">
                <a:solidFill>
                  <a:srgbClr val="1B2432"/>
                </a:solidFill>
                <a:latin typeface="Calibri" pitchFamily="34" charset="0"/>
                <a:ea typeface="Calibri" pitchFamily="34" charset="-122"/>
                <a:cs typeface="Calibri" pitchFamily="34" charset="-120"/>
              </a:rPr>
              <a:t>One partner live with no allocated ECM capacity; leadership dashboard populated with real data</a:t>
            </a:r>
            <a:endParaRPr lang="en-US" sz="800" dirty="0"/>
          </a:p>
        </p:txBody>
      </p:sp>
      <p:sp>
        <p:nvSpPr>
          <p:cNvPr id="36" name="Text 34"/>
          <p:cNvSpPr txBox="1"/>
          <p:nvPr/>
        </p:nvSpPr>
        <p:spPr>
          <a:xfrm>
            <a:off x="411480" y="3493008"/>
            <a:ext cx="4572000" cy="182880"/>
          </a:xfrm>
          <a:prstGeom prst="rect">
            <a:avLst/>
          </a:prstGeom>
          <a:noFill/>
          <a:ln/>
        </p:spPr>
        <p:txBody>
          <a:bodyPr wrap="square" lIns="0" tIns="0" rIns="0" bIns="0" rtlCol="0" anchor="ctr"/>
          <a:lstStyle/>
          <a:p>
            <a:pPr indent="0" marL="0">
              <a:buNone/>
            </a:pPr>
            <a:r>
              <a:rPr lang="en-US" sz="760" b="1" spc="110" kern="0" dirty="0">
                <a:solidFill>
                  <a:srgbClr val="2E6B4F"/>
                </a:solidFill>
                <a:latin typeface="Calibri" pitchFamily="34" charset="0"/>
                <a:ea typeface="Calibri" pitchFamily="34" charset="-122"/>
                <a:cs typeface="Calibri" pitchFamily="34" charset="-120"/>
              </a:rPr>
              <a:t>AT THE EIGHT-WEEK MARK</a:t>
            </a:r>
            <a:endParaRPr lang="en-US" sz="760" dirty="0"/>
          </a:p>
        </p:txBody>
      </p:sp>
      <p:sp>
        <p:nvSpPr>
          <p:cNvPr id="37" name="Shape 35"/>
          <p:cNvSpPr/>
          <p:nvPr/>
        </p:nvSpPr>
        <p:spPr>
          <a:xfrm>
            <a:off x="411480" y="3694176"/>
            <a:ext cx="5577840" cy="1792224"/>
          </a:xfrm>
          <a:prstGeom prst="roundRect">
            <a:avLst>
              <a:gd name="adj" fmla="val 2551"/>
            </a:avLst>
          </a:prstGeom>
          <a:solidFill>
            <a:srgbClr val="FFFFFF"/>
          </a:solidFill>
          <a:ln w="15240">
            <a:solidFill>
              <a:srgbClr val="2E6B4F"/>
            </a:solidFill>
            <a:prstDash val="solid"/>
          </a:ln>
          <a:effectLst>
            <a:outerShdw sx="100000" sy="100000" kx="0" ky="0" algn="bl" rotWithShape="0" blurRad="88900" dist="12700" dir="5400000">
              <a:srgbClr val="97A3B4">
                <a:alpha val="16000"/>
              </a:srgbClr>
            </a:outerShdw>
          </a:effectLst>
        </p:spPr>
      </p:sp>
      <p:sp>
        <p:nvSpPr>
          <p:cNvPr id="38" name="Text 36"/>
          <p:cNvSpPr txBox="1"/>
          <p:nvPr/>
        </p:nvSpPr>
        <p:spPr>
          <a:xfrm>
            <a:off x="576072" y="3785616"/>
            <a:ext cx="2743200" cy="182880"/>
          </a:xfrm>
          <a:prstGeom prst="rect">
            <a:avLst/>
          </a:prstGeom>
          <a:noFill/>
          <a:ln/>
        </p:spPr>
        <p:txBody>
          <a:bodyPr wrap="square" lIns="0" tIns="0" rIns="0" bIns="0" rtlCol="0" anchor="ctr"/>
          <a:lstStyle/>
          <a:p>
            <a:pPr indent="0" marL="0">
              <a:buNone/>
            </a:pPr>
            <a:r>
              <a:rPr lang="en-US" sz="760" b="1" spc="100" kern="0" dirty="0">
                <a:solidFill>
                  <a:srgbClr val="2E6B4F"/>
                </a:solidFill>
                <a:latin typeface="Calibri" pitchFamily="34" charset="0"/>
                <a:ea typeface="Calibri" pitchFamily="34" charset="-122"/>
                <a:cs typeface="Calibri" pitchFamily="34" charset="-120"/>
              </a:rPr>
              <a:t>YOU WILL SEE</a:t>
            </a:r>
            <a:endParaRPr lang="en-US" sz="760" dirty="0"/>
          </a:p>
        </p:txBody>
      </p:sp>
      <p:sp>
        <p:nvSpPr>
          <p:cNvPr id="39" name="Text 37"/>
          <p:cNvSpPr txBox="1"/>
          <p:nvPr/>
        </p:nvSpPr>
        <p:spPr>
          <a:xfrm>
            <a:off x="576072" y="4023360"/>
            <a:ext cx="5266944" cy="219456"/>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Whether the 30–40% estimate holds, measured</a:t>
            </a:r>
            <a:endParaRPr lang="en-US" sz="820" dirty="0"/>
          </a:p>
        </p:txBody>
      </p:sp>
      <p:sp>
        <p:nvSpPr>
          <p:cNvPr id="40" name="Text 38"/>
          <p:cNvSpPr txBox="1"/>
          <p:nvPr/>
        </p:nvSpPr>
        <p:spPr>
          <a:xfrm>
            <a:off x="576072" y="4261104"/>
            <a:ext cx="5266944" cy="219456"/>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The real tier distribution of 12 months of demand</a:t>
            </a:r>
            <a:endParaRPr lang="en-US" sz="820" dirty="0"/>
          </a:p>
        </p:txBody>
      </p:sp>
      <p:sp>
        <p:nvSpPr>
          <p:cNvPr id="41" name="Text 39"/>
          <p:cNvSpPr txBox="1"/>
          <p:nvPr/>
        </p:nvSpPr>
        <p:spPr>
          <a:xfrm>
            <a:off x="576072" y="4498848"/>
            <a:ext cx="5266944" cy="219456"/>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Three partners producing complete intakes unaided</a:t>
            </a:r>
            <a:endParaRPr lang="en-US" sz="820" dirty="0"/>
          </a:p>
        </p:txBody>
      </p:sp>
      <p:sp>
        <p:nvSpPr>
          <p:cNvPr id="42" name="Text 40"/>
          <p:cNvSpPr txBox="1"/>
          <p:nvPr/>
        </p:nvSpPr>
        <p:spPr>
          <a:xfrm>
            <a:off x="576072" y="4736592"/>
            <a:ext cx="5266944" cy="219456"/>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Every intake arriving with a completeness certificate</a:t>
            </a:r>
            <a:endParaRPr lang="en-US" sz="820" dirty="0"/>
          </a:p>
        </p:txBody>
      </p:sp>
      <p:sp>
        <p:nvSpPr>
          <p:cNvPr id="43" name="Text 41"/>
          <p:cNvSpPr txBox="1"/>
          <p:nvPr/>
        </p:nvSpPr>
        <p:spPr>
          <a:xfrm>
            <a:off x="576072" y="4974336"/>
            <a:ext cx="5266944" cy="219456"/>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One partner live with no allocated capacity</a:t>
            </a:r>
            <a:endParaRPr lang="en-US" sz="820" dirty="0"/>
          </a:p>
        </p:txBody>
      </p:sp>
      <p:sp>
        <p:nvSpPr>
          <p:cNvPr id="44" name="Text 42"/>
          <p:cNvSpPr txBox="1"/>
          <p:nvPr/>
        </p:nvSpPr>
        <p:spPr>
          <a:xfrm>
            <a:off x="576072" y="5212080"/>
            <a:ext cx="5266944" cy="219456"/>
          </a:xfrm>
          <a:prstGeom prst="rect">
            <a:avLst/>
          </a:prstGeom>
          <a:noFill/>
          <a:ln/>
        </p:spPr>
        <p:txBody>
          <a:bodyPr wrap="square" lIns="0" tIns="0" rIns="0" bIns="0" rtlCol="0" anchor="ctr"/>
          <a:lstStyle/>
          <a:p>
            <a:pPr indent="0" marL="0">
              <a:buNone/>
            </a:pPr>
            <a:r>
              <a:rPr lang="en-US" sz="820" dirty="0">
                <a:solidFill>
                  <a:srgbClr val="1B2432"/>
                </a:solidFill>
                <a:latin typeface="Calibri" pitchFamily="34" charset="0"/>
                <a:ea typeface="Calibri" pitchFamily="34" charset="-122"/>
                <a:cs typeface="Calibri" pitchFamily="34" charset="-120"/>
              </a:rPr>
              <a:t>—   A dashboard with measurements that do not exist today</a:t>
            </a:r>
            <a:endParaRPr lang="en-US" sz="820" dirty="0"/>
          </a:p>
        </p:txBody>
      </p:sp>
      <p:sp>
        <p:nvSpPr>
          <p:cNvPr id="45" name="Shape 43"/>
          <p:cNvSpPr/>
          <p:nvPr/>
        </p:nvSpPr>
        <p:spPr>
          <a:xfrm>
            <a:off x="6172200" y="3694176"/>
            <a:ext cx="5577840" cy="1792224"/>
          </a:xfrm>
          <a:prstGeom prst="roundRect">
            <a:avLst>
              <a:gd name="adj" fmla="val 2551"/>
            </a:avLst>
          </a:prstGeom>
          <a:solidFill>
            <a:srgbClr val="FFFFFF"/>
          </a:solidFill>
          <a:ln w="15240">
            <a:solidFill>
              <a:srgbClr val="7C8798"/>
            </a:solidFill>
            <a:prstDash val="solid"/>
          </a:ln>
          <a:effectLst>
            <a:outerShdw sx="100000" sy="100000" kx="0" ky="0" algn="bl" rotWithShape="0" blurRad="88900" dist="12700" dir="5400000">
              <a:srgbClr val="97A3B4">
                <a:alpha val="16000"/>
              </a:srgbClr>
            </a:outerShdw>
          </a:effectLst>
        </p:spPr>
      </p:sp>
      <p:sp>
        <p:nvSpPr>
          <p:cNvPr id="46" name="Text 44"/>
          <p:cNvSpPr txBox="1"/>
          <p:nvPr/>
        </p:nvSpPr>
        <p:spPr>
          <a:xfrm>
            <a:off x="6336792" y="3785616"/>
            <a:ext cx="2743200" cy="182880"/>
          </a:xfrm>
          <a:prstGeom prst="rect">
            <a:avLst/>
          </a:prstGeom>
          <a:noFill/>
          <a:ln/>
        </p:spPr>
        <p:txBody>
          <a:bodyPr wrap="square" lIns="0" tIns="0" rIns="0" bIns="0" rtlCol="0" anchor="ctr"/>
          <a:lstStyle/>
          <a:p>
            <a:pPr indent="0" marL="0">
              <a:buNone/>
            </a:pPr>
            <a:r>
              <a:rPr lang="en-US" sz="760" b="1" spc="100" kern="0" dirty="0">
                <a:solidFill>
                  <a:srgbClr val="7C8798"/>
                </a:solidFill>
                <a:latin typeface="Calibri" pitchFamily="34" charset="0"/>
                <a:ea typeface="Calibri" pitchFamily="34" charset="-122"/>
                <a:cs typeface="Calibri" pitchFamily="34" charset="-120"/>
              </a:rPr>
              <a:t>YOU WILL NOT SEE</a:t>
            </a:r>
            <a:endParaRPr lang="en-US" sz="760" dirty="0"/>
          </a:p>
        </p:txBody>
      </p:sp>
      <p:sp>
        <p:nvSpPr>
          <p:cNvPr id="47" name="Text 45"/>
          <p:cNvSpPr txBox="1"/>
          <p:nvPr/>
        </p:nvSpPr>
        <p:spPr>
          <a:xfrm>
            <a:off x="6336792" y="4023360"/>
            <a:ext cx="5266944" cy="219456"/>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A reduction in headcount</a:t>
            </a:r>
            <a:endParaRPr lang="en-US" sz="820" dirty="0"/>
          </a:p>
        </p:txBody>
      </p:sp>
      <p:sp>
        <p:nvSpPr>
          <p:cNvPr id="48" name="Text 46"/>
          <p:cNvSpPr txBox="1"/>
          <p:nvPr/>
        </p:nvSpPr>
        <p:spPr>
          <a:xfrm>
            <a:off x="6336792" y="4261104"/>
            <a:ext cx="5266944" cy="219456"/>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All partners migrated to the new model</a:t>
            </a:r>
            <a:endParaRPr lang="en-US" sz="820" dirty="0"/>
          </a:p>
        </p:txBody>
      </p:sp>
      <p:sp>
        <p:nvSpPr>
          <p:cNvPr id="49" name="Text 47"/>
          <p:cNvSpPr txBox="1"/>
          <p:nvPr/>
        </p:nvSpPr>
        <p:spPr>
          <a:xfrm>
            <a:off x="6336792" y="4498848"/>
            <a:ext cx="5266944" cy="219456"/>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All 38 scenarios patterned</a:t>
            </a:r>
            <a:endParaRPr lang="en-US" sz="820" dirty="0"/>
          </a:p>
        </p:txBody>
      </p:sp>
      <p:sp>
        <p:nvSpPr>
          <p:cNvPr id="50" name="Text 48"/>
          <p:cNvSpPr txBox="1"/>
          <p:nvPr/>
        </p:nvSpPr>
        <p:spPr>
          <a:xfrm>
            <a:off x="6336792" y="4736592"/>
            <a:ext cx="5266944" cy="219456"/>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Deep integration across downstream systems</a:t>
            </a:r>
            <a:endParaRPr lang="en-US" sz="820" dirty="0"/>
          </a:p>
        </p:txBody>
      </p:sp>
      <p:sp>
        <p:nvSpPr>
          <p:cNvPr id="51" name="Text 49"/>
          <p:cNvSpPr txBox="1"/>
          <p:nvPr/>
        </p:nvSpPr>
        <p:spPr>
          <a:xfrm>
            <a:off x="6336792" y="4974336"/>
            <a:ext cx="5266944" cy="219456"/>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A validated full-year capacity saving</a:t>
            </a:r>
            <a:endParaRPr lang="en-US" sz="820" dirty="0"/>
          </a:p>
        </p:txBody>
      </p:sp>
      <p:sp>
        <p:nvSpPr>
          <p:cNvPr id="52" name="Text 50"/>
          <p:cNvSpPr txBox="1"/>
          <p:nvPr/>
        </p:nvSpPr>
        <p:spPr>
          <a:xfrm>
            <a:off x="6336792" y="5212080"/>
            <a:ext cx="5266944" cy="219456"/>
          </a:xfrm>
          <a:prstGeom prst="rect">
            <a:avLst/>
          </a:prstGeom>
          <a:noFill/>
          <a:ln/>
        </p:spPr>
        <p:txBody>
          <a:bodyPr wrap="square" lIns="0" tIns="0" rIns="0" bIns="0" rtlCol="0" anchor="ctr"/>
          <a:lstStyle/>
          <a:p>
            <a:pPr indent="0" marL="0">
              <a:buNone/>
            </a:pPr>
            <a:r>
              <a:rPr lang="en-US" sz="820" dirty="0">
                <a:solidFill>
                  <a:srgbClr val="55606E"/>
                </a:solidFill>
                <a:latin typeface="Calibri" pitchFamily="34" charset="0"/>
                <a:ea typeface="Calibri" pitchFamily="34" charset="-122"/>
                <a:cs typeface="Calibri" pitchFamily="34" charset="-120"/>
              </a:rPr>
              <a:t>—   The team re-organisation complete</a:t>
            </a:r>
            <a:endParaRPr lang="en-US" sz="820" dirty="0"/>
          </a:p>
        </p:txBody>
      </p:sp>
      <p:sp>
        <p:nvSpPr>
          <p:cNvPr id="53" name="Shape 51"/>
          <p:cNvSpPr/>
          <p:nvPr/>
        </p:nvSpPr>
        <p:spPr>
          <a:xfrm>
            <a:off x="411480" y="5669280"/>
            <a:ext cx="11338560" cy="932688"/>
          </a:xfrm>
          <a:prstGeom prst="roundRect">
            <a:avLst>
              <a:gd name="adj" fmla="val 4902"/>
            </a:avLst>
          </a:prstGeom>
          <a:solidFill>
            <a:srgbClr val="15304F"/>
          </a:solidFill>
          <a:ln w="12700">
            <a:solidFill>
              <a:srgbClr val="333333"/>
            </a:solidFill>
            <a:prstDash val="solid"/>
          </a:ln>
        </p:spPr>
      </p:sp>
      <p:sp>
        <p:nvSpPr>
          <p:cNvPr id="54" name="Text 52"/>
          <p:cNvSpPr txBox="1"/>
          <p:nvPr/>
        </p:nvSpPr>
        <p:spPr>
          <a:xfrm>
            <a:off x="612648" y="5760720"/>
            <a:ext cx="1280160" cy="182880"/>
          </a:xfrm>
          <a:prstGeom prst="rect">
            <a:avLst/>
          </a:prstGeom>
          <a:noFill/>
          <a:ln/>
        </p:spPr>
        <p:txBody>
          <a:bodyPr wrap="square" lIns="0" tIns="0" rIns="0" bIns="0" rtlCol="0" anchor="ctr"/>
          <a:lstStyle/>
          <a:p>
            <a:pPr indent="0" marL="0">
              <a:buNone/>
            </a:pPr>
            <a:r>
              <a:rPr lang="en-US" sz="780" b="1" spc="120" kern="0" dirty="0">
                <a:solidFill>
                  <a:srgbClr val="8FB8B8"/>
                </a:solidFill>
                <a:latin typeface="Calibri" pitchFamily="34" charset="0"/>
                <a:ea typeface="Calibri" pitchFamily="34" charset="-122"/>
                <a:cs typeface="Calibri" pitchFamily="34" charset="-120"/>
              </a:rPr>
              <a:t>THE ASK</a:t>
            </a:r>
            <a:endParaRPr lang="en-US" sz="780" dirty="0"/>
          </a:p>
        </p:txBody>
      </p:sp>
      <p:sp>
        <p:nvSpPr>
          <p:cNvPr id="55" name="Text 53"/>
          <p:cNvSpPr txBox="1"/>
          <p:nvPr/>
        </p:nvSpPr>
        <p:spPr>
          <a:xfrm>
            <a:off x="1965960" y="5943600"/>
            <a:ext cx="237744" cy="402336"/>
          </a:xfrm>
          <a:prstGeom prst="rect">
            <a:avLst/>
          </a:prstGeom>
          <a:noFill/>
          <a:ln/>
        </p:spPr>
        <p:txBody>
          <a:bodyPr wrap="square" lIns="0" tIns="0" rIns="0" bIns="0" rtlCol="0" anchor="ctr"/>
          <a:lstStyle/>
          <a:p>
            <a:pPr indent="0" marL="0">
              <a:buNone/>
            </a:pPr>
            <a:r>
              <a:rPr lang="en-US" sz="1700" b="1" dirty="0">
                <a:solidFill>
                  <a:srgbClr val="F0B48A"/>
                </a:solidFill>
                <a:latin typeface="Cambria" pitchFamily="34" charset="0"/>
                <a:ea typeface="Cambria" pitchFamily="34" charset="-122"/>
                <a:cs typeface="Cambria" pitchFamily="34" charset="-120"/>
              </a:rPr>
              <a:t>1</a:t>
            </a:r>
            <a:endParaRPr lang="en-US" sz="1700" dirty="0"/>
          </a:p>
        </p:txBody>
      </p:sp>
      <p:sp>
        <p:nvSpPr>
          <p:cNvPr id="56" name="Text 54"/>
          <p:cNvSpPr txBox="1"/>
          <p:nvPr/>
        </p:nvSpPr>
        <p:spPr>
          <a:xfrm>
            <a:off x="2240280" y="5943600"/>
            <a:ext cx="2871216" cy="420624"/>
          </a:xfrm>
          <a:prstGeom prst="rect">
            <a:avLst/>
          </a:prstGeom>
          <a:noFill/>
          <a:ln/>
        </p:spPr>
        <p:txBody>
          <a:bodyPr wrap="square" lIns="0" tIns="0" rIns="0" bIns="0" rtlCol="0" anchor="ctr"/>
          <a:lstStyle/>
          <a:p>
            <a:pPr indent="0" marL="0">
              <a:lnSpc>
                <a:spcPts val="1000"/>
              </a:lnSpc>
              <a:buNone/>
            </a:pPr>
            <a:r>
              <a:rPr lang="en-US" sz="820" dirty="0">
                <a:solidFill>
                  <a:srgbClr val="FFFFFF"/>
                </a:solidFill>
                <a:latin typeface="Calibri" pitchFamily="34" charset="0"/>
                <a:ea typeface="Calibri" pitchFamily="34" charset="-122"/>
                <a:cs typeface="Calibri" pitchFamily="34" charset="-120"/>
              </a:rPr>
              <a:t>Approve a four-sprint pilot with 5–6 people, protected from delivery work for the duration</a:t>
            </a:r>
            <a:endParaRPr lang="en-US" sz="820" dirty="0"/>
          </a:p>
        </p:txBody>
      </p:sp>
      <p:sp>
        <p:nvSpPr>
          <p:cNvPr id="57" name="Text 55"/>
          <p:cNvSpPr txBox="1"/>
          <p:nvPr/>
        </p:nvSpPr>
        <p:spPr>
          <a:xfrm>
            <a:off x="5257800" y="5943600"/>
            <a:ext cx="237744" cy="402336"/>
          </a:xfrm>
          <a:prstGeom prst="rect">
            <a:avLst/>
          </a:prstGeom>
          <a:noFill/>
          <a:ln/>
        </p:spPr>
        <p:txBody>
          <a:bodyPr wrap="square" lIns="0" tIns="0" rIns="0" bIns="0" rtlCol="0" anchor="ctr"/>
          <a:lstStyle/>
          <a:p>
            <a:pPr indent="0" marL="0">
              <a:buNone/>
            </a:pPr>
            <a:r>
              <a:rPr lang="en-US" sz="1700" b="1" dirty="0">
                <a:solidFill>
                  <a:srgbClr val="F0B48A"/>
                </a:solidFill>
                <a:latin typeface="Cambria" pitchFamily="34" charset="0"/>
                <a:ea typeface="Cambria" pitchFamily="34" charset="-122"/>
                <a:cs typeface="Cambria" pitchFamily="34" charset="-120"/>
              </a:rPr>
              <a:t>2</a:t>
            </a:r>
            <a:endParaRPr lang="en-US" sz="1700" dirty="0"/>
          </a:p>
        </p:txBody>
      </p:sp>
      <p:sp>
        <p:nvSpPr>
          <p:cNvPr id="58" name="Text 56"/>
          <p:cNvSpPr txBox="1"/>
          <p:nvPr/>
        </p:nvSpPr>
        <p:spPr>
          <a:xfrm>
            <a:off x="5532120" y="5943600"/>
            <a:ext cx="2871216" cy="420624"/>
          </a:xfrm>
          <a:prstGeom prst="rect">
            <a:avLst/>
          </a:prstGeom>
          <a:noFill/>
          <a:ln/>
        </p:spPr>
        <p:txBody>
          <a:bodyPr wrap="square" lIns="0" tIns="0" rIns="0" bIns="0" rtlCol="0" anchor="ctr"/>
          <a:lstStyle/>
          <a:p>
            <a:pPr indent="0" marL="0">
              <a:lnSpc>
                <a:spcPts val="1000"/>
              </a:lnSpc>
              <a:buNone/>
            </a:pPr>
            <a:r>
              <a:rPr lang="en-US" sz="820" dirty="0">
                <a:solidFill>
                  <a:srgbClr val="FFFFFF"/>
                </a:solidFill>
                <a:latin typeface="Calibri" pitchFamily="34" charset="0"/>
                <a:ea typeface="Calibri" pitchFamily="34" charset="-122"/>
                <a:cs typeface="Calibri" pitchFamily="34" charset="-120"/>
              </a:rPr>
              <a:t>Accept that Sprint 1 targets intake completeness ahead of any structural change</a:t>
            </a:r>
            <a:endParaRPr lang="en-US" sz="820" dirty="0"/>
          </a:p>
        </p:txBody>
      </p:sp>
      <p:sp>
        <p:nvSpPr>
          <p:cNvPr id="59" name="Text 57"/>
          <p:cNvSpPr txBox="1"/>
          <p:nvPr/>
        </p:nvSpPr>
        <p:spPr>
          <a:xfrm>
            <a:off x="8549640" y="5943600"/>
            <a:ext cx="237744" cy="402336"/>
          </a:xfrm>
          <a:prstGeom prst="rect">
            <a:avLst/>
          </a:prstGeom>
          <a:noFill/>
          <a:ln/>
        </p:spPr>
        <p:txBody>
          <a:bodyPr wrap="square" lIns="0" tIns="0" rIns="0" bIns="0" rtlCol="0" anchor="ctr"/>
          <a:lstStyle/>
          <a:p>
            <a:pPr indent="0" marL="0">
              <a:buNone/>
            </a:pPr>
            <a:r>
              <a:rPr lang="en-US" sz="1700" b="1" dirty="0">
                <a:solidFill>
                  <a:srgbClr val="F0B48A"/>
                </a:solidFill>
                <a:latin typeface="Cambria" pitchFamily="34" charset="0"/>
                <a:ea typeface="Cambria" pitchFamily="34" charset="-122"/>
                <a:cs typeface="Cambria" pitchFamily="34" charset="-120"/>
              </a:rPr>
              <a:t>3</a:t>
            </a:r>
            <a:endParaRPr lang="en-US" sz="1700" dirty="0"/>
          </a:p>
        </p:txBody>
      </p:sp>
      <p:sp>
        <p:nvSpPr>
          <p:cNvPr id="60" name="Text 58"/>
          <p:cNvSpPr txBox="1"/>
          <p:nvPr/>
        </p:nvSpPr>
        <p:spPr>
          <a:xfrm>
            <a:off x="8823960" y="5943600"/>
            <a:ext cx="2871216" cy="420624"/>
          </a:xfrm>
          <a:prstGeom prst="rect">
            <a:avLst/>
          </a:prstGeom>
          <a:noFill/>
          <a:ln/>
        </p:spPr>
        <p:txBody>
          <a:bodyPr wrap="square" lIns="0" tIns="0" rIns="0" bIns="0" rtlCol="0" anchor="ctr"/>
          <a:lstStyle/>
          <a:p>
            <a:pPr indent="0" marL="0">
              <a:lnSpc>
                <a:spcPts val="1000"/>
              </a:lnSpc>
              <a:buNone/>
            </a:pPr>
            <a:r>
              <a:rPr lang="en-US" sz="820" dirty="0">
                <a:solidFill>
                  <a:srgbClr val="FFFFFF"/>
                </a:solidFill>
                <a:latin typeface="Calibri" pitchFamily="34" charset="0"/>
                <a:ea typeface="Calibri" pitchFamily="34" charset="-122"/>
                <a:cs typeface="Calibri" pitchFamily="34" charset="-120"/>
              </a:rPr>
              <a:t>Review the evidence at week 8 and take the structural decisions then, not now</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ECM Partner Enablement — Leadership Briefing</dc:title>
  <dc:subject>PptxGenJS Presentation</dc:subject>
  <dc:creator>ECM Partner Enablement</dc:creator>
  <cp:lastModifiedBy>ECM Partner Enablement</cp:lastModifiedBy>
  <cp:revision>1</cp:revision>
  <dcterms:created xsi:type="dcterms:W3CDTF">2026-10-16T07:34:24Z</dcterms:created>
  <dcterms:modified xsi:type="dcterms:W3CDTF">2026-10-16T07:34:24Z</dcterms:modified>
</cp:coreProperties>
</file>