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This audience will deliver Phase 1, so they need to understand why the sequencing is this way round rather than just being handed a process.
The equation: both terms outside our control, so headcount is the only lever. It is an allocation problem, not a throughput problem.
Cause 1 is the one this room lives with. Thirty to forty per cent of elapsed time on chasing information that was never captured at intake. Note the fourth bullet — it is tier-independent, which means no amount of re-tiering fixes it. That is why the triage conversation change matters as much as the tiering does.
Cause 2: all thirty-eight scenarios get the same team. The fourth bullet is uncomfortable but worth saying out loud — in the absence of an objective rule, depth gets allocated by influence. The rubric exists to replace that, and it is why tier assignment has to sit with you rather than with the partner.
The table is the sequencing argument. We could build first. The problem is the business case would rest entirely on assumptions — we have no baseline, we do not know what proportion of real demand would route lighter, we do not know whether partners will accept an assigned tier. Running first answers all of that for the price of a process change.
And if the model turns out to be wrong, we find out having spent a quarter rather than four sprints of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"manual" concrete. Walk it, but do not read every row — pick four.
Row 1: the intake copilot becomes a structured conversation. We lose partner self-service and it costs real time, but we keep the substance.
Row 2 is worth pointing at: the data catalogue and the why-register are the same asset in both phases. Written once, used immediately, reused unchanged. This is not throwaway work.
The gate engine row is the one to flag as a risk. A written rule applied by a person under schedule pressure is weaker than a gate that blocks. That is the central discipline risk of Phase 1 and we will come back to it.
The artefact generation row is where most of the clerical load sits, and it is almost entirely unaddressed by Phase 1. Be honest about that — it is the single biggest thing Phase 2 buys after Lean.
THE INSTRUCTION TO THE ROOM
Keep a running note of which losses in the right-hand column actually hurt in practice. Some will turn out to be irrelevant; others will be the thing that breaks a week. That note, compiled at week twelve, is a better platform backlog than anything we could design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write before anything else happens. Be precise about the scope: it is guidance, not a system.
Someone will say we were told to build nothing and here is a document. The answer: writing guidance is days of work by people who already hold the knowledge. Building a platform is months of engineering. We are doing the first and none of the second.
The question set is the bulk of the effort and the most valuable part. Fifty-four points across ten categories, derived by walking the lifecycle backwards from every gate and asking what that gate needs and where it comes from.
The critical field in each entry is the "why". Not "what are the document traits" but "do any of these contain handwritten annotations or signatures — this decides whether they need human review after classification, which typically adds two to three weeks and a separate engagement." A partner who understands what an answer is for gives a usable one.
The second most important field is the diagnostic sub-questions. Most intake fields are blank not because the partner is unwilling but because they do not know and have no idea how to find out. Sub-questions a non-specialist can answer turn that from a dead end into a path.
And applicability matters as much as coverage. The current workbook asks everyone everything, which trains people to skim. We ask only what applies to the pattern in front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the triage leads, because it is the change to their own working week.
The shape change: two sessions, not one. And a pre-read, which costs almost nothing and changes the quality of the first session substantially — the partner arrives able to answer rather than discovering the questions live.
Ninety minutes is deliberate. Today triage is typically forty-five and it classifies and routes. We are changing the purpose: it becomes the session where the full requirement is established. That is why it needs the time.
The four behaviours — spend time on the first two.
The "why at the point of asking" example is worth reading out verbatim. Notice what changes: the partner is not being asked to understand the platform, they are being told the consequence of their answer. That is a question an application team can answer well.
The "I don't know" behaviour is the one that eliminates the discovery cycle. Converting "I need to ask someone" into a registered, dated, owned, gate-linked item means the question still gets answered — but it is asked once, early, by the partner's own team, against a known deadline, instead of by us, late, under pressure.
THE OUTCOME RECORD
One page, issued every time, to the partner and to whoever will deliver it. This is the interface. Whatever else changes, the record is what the delivering engineer reads instead of working out what is missing themselves.
If a triage produces no Outcome Record, it did not happen. Make that a hard rule from week one — it is the main defence against the session quietly reverting to forty-five minutes under schedule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mechanical heart of what the leads will do, and they will stress-test it. Invite that.
Seven determinants, scored zero to three on a sheet during the thirty-minute Tiering Review. The scoring descriptors are in the guide; the sheet is one page.
Note what is deliberately absent from the determinants: partner size, partner seniority, who asked loudest. Those are what allocate depth today in the absence of an objective rule.
D1 is the primary determinant and it is also the one that moves over time. As we build up the pattern log, intakes that scored two or three on D1 start scoring zero or one, and the distribution shifts without any other change.
The hard overrides exist because the score is a proxy for risk, and in these five cases we know the risk directly.
CALIBRATION — do not skip this in the room
Two leads will score the same intake differently. That is expected and it is manageable, but only if we address it deliberately rather than hoping it settles.
Two half-days before we start. Fortnightly reviews for the first two months, where we look at every assignment as a group. And every deviation from the threshold recorded with a reason.
That last point matters: if the same determinant keeps getting overridden in the same direction, the rubric is wrong on that dimension and we recalibrate it. We are not asking people to apply a rule they think is wrong — we are asking them to record when they think it is wrong, so we can fix it.
THE APPEAL
One per intake, five days, must name the determinant. Repeated successful appeals on one determinant is a rubric defect, not partners gaming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pool is the second structural move and the one that costs nothing in headcount.
Composition: a permanent core of two plus rotating secondments. The core matters — without it the pool has no memory and checkpoint quality varies with whoever is in the seat that month. The rotation matters too: it spreads the model's knowledge across the squads and means nobody is permanently removed from delivery, which makes the whole thing far easier to agree.
Six to eight week rotations. Fixed in advance, so returns are scheduled rather than negotiated.
The sizing logic is worth stating: the pool is sized against aggregate checkpoint load, not partner count. Two mandatory reviews per Lean+ intake plus escalation duty plus office hours is a calculable weekly demand. Adding a partner adds two reviews, not a team. That is exactly why Lean+ scales where Dedicated does not.
ON THE RHYTHM
The "no artefact, no review" rule is important and will feel harsh the first time. But a review without the artefact becomes an unplanned working session, and that is how Lean+ silently becomes Dedicated using capacity nobody allocated.
THE PROTECTION POINT — do not soften this
Every squad lead in this room will at some point want their person back for a sprint, and they will have a good reason. We need the protection agreed now, with a named escalation route, rather than negotiated in week six when the pressure arrives.
And the guide-is-a-contact point: a guide who starts doing the partner's implementation has converted a Lean+ intake into an unfunded Dedicated one. It happens with the best intentions. Track guide time per intake and cap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honesty slide and it is the one that keeps us credible. Do not let anyone leave the room thinking Phase 1 gets us most of the way.
Look at what moves between the manual bar and the platform bars. Lean+ is actually HIGHER in Phase 1 — seventeen against fourteen — because scenarios that would eventually be Lean sit in Lean+ for now. Lean is dramatically lower: five against sixteen at steady state.
The explanation is the two cards. Lean+ is a human process by design, so people with a calendar can do all of it. Lean assumes the partner can self-serve, and without a platform they simply cannot — they still raise requests through existing channels, still wait for human action, still have to ask where things stand.
So manual Lean is a reduced form: no allocated capacity, a written runbook, office-hours support. Only viable for the very simplest scenarios — subscription extensions, notification-only, existing UI profiles, access grants, test-only support.
ELEVEN SCENARIOS IN THE GAP
That is the number to remember. It is a specific countable claim about what the platform buys, and it is far more persuasive than any design argument.
THE THING THAT STOPS PHASE 1 EATING PHASE 2
A Phase 1 that goes well can become an argument against building — the problem looks solved and the appetite fades. Guard against that by measuring the residual, not only the improvement: how much manual effort remains, and what happens to it as volume grows.
Record where it hurts. That record is the Phase 2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records. Neither is a system. Both are maintained by hand, and that is deliberate.
THE TRACKER
A spreadsheet or an existing board is sufficient. The columns matter more than the tool.
Point hard at the measurement group. Clarification cycles counted, stage entry and exit dates, effort by team. These are the columns that will feel like overhead in week five when everyone is busy, and they are the entire reason Phase 1 is worth running.
If the tracker decays, we reach week twelve with a process change and no evidence — which means we either repeat the quarter or go into the Phase 2 conversation with nothing but assertion. That is the worst outcome available to us, worse than Phase 1 going badly, because at least a bad result is a result.
One named owner. Reviewed weekly. Not everyone's job.
THE PATTERN LOG
One page at closure. Resist the urge to template it heavily — a shared heading structure is enough, and anything more becomes a reason not to write it.
Two immediate benefits: a triage lead can recognise a repeat, which improves D1 scoring over the quarter. And it gives Phase 2 a starting set of real patterns to harden rather than a blank catalogue, which is worth weeks of platform engineering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invariants are identical in every tier. No tier confers an exemption, and that is what lets us defend the lighter tiers to risk and audit.
The comparison table is worth walking, because it shows exactly where Phase 1 is weaker and by how much.
Look at the "new document type" row. In Phase 2 it is detected automatically and forces escalation immediately. In Phase 1 we catch it at the fortnightly drift review, which means up to two weeks late. That is a real degradation and we should be honest that it exists.
THE DISCIPLINE RISK — say this plainly
Guardrails will be waived. For an important partner, in a tight week, with a reason that sounds good at the time. Pretending otherwise is how controls become theatre.
The defence is visibility, not prohibition. Every waiver recorded on the Outcome Record with the name of who authorised it. Every waiver reviewed fortnightly. A waiver that is visible is manageable — we can see the pattern, challenge it, and decide whether the rule is wrong. An informal one teaches everyone the controls are advisory.
THE FOUR WATCH ITEMS
These are the ways Phase 1 degrades without any individual intake failing. Deep triage quietly reverting to forty-five minutes. The pool being reclaimed. The tracker decaying. Lean being offered too widely because it looks like the win.
Review them weekly. All four are recoverable if caught early and very hard to recover if caught at week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and the gate.
Weeks one and two: preparation. The guide is the critical path item — one week of two experienced engineers plus a governance analyst. Calibration sessions, pool stood up with its protection agreed, tracker built, tier model published to partners so the rubric is visible before it binds anyone.
Weeks three to six: parallel run. This is the part people will want to shorten because it feels like delay. Do not. It produces distribution and completeness data at zero delivery risk, and it gives you four weeks of scoring practice before your assignments start binding real work. You will score differently in week six than in week three, and it is far better that the learning happens here.
Weeks seven to ten: the tiers take effect. Lean+ runs properly. The first Lean intakes go to partners who have been through the process before, on the simplest patterns only.
Weeks eleven and twelve: evidence review.
THE GATE
We are stating the criteria now, before we know the answers. That is deliberate — it means the week-twelve review is an assessment against agreed standards rather than a negotiation about whether it went well.
Point at the sixth criterion. The first five validate the model. The sixth specifies the build.
THE THING TO ASK OF THIS ROOM
Over the quarter, keep a running note of where the manual approach hurt. Which question partners consistently stumbled on. Which rule got applied wrong. Which gate got waived and why. Where the hours actually went.
That note is the single most valuable artefact Phase 1 produces, and nobody can write it afterwards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04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6E"/>
          </a:solidFill>
          <a:ln w="12700">
            <a:solidFill>
              <a:srgbClr val="333333"/>
            </a:solidFill>
            <a:prstDash val="solid"/>
          </a:ln>
        </p:spPr>
      </p:sp>
      <p:sp>
        <p:nvSpPr>
          <p:cNvPr id="3" name="Text 1"/>
          <p:cNvSpPr txBox="1"/>
          <p:nvPr/>
        </p:nvSpPr>
        <p:spPr>
          <a:xfrm>
            <a:off x="868680" y="1600200"/>
            <a:ext cx="10058400" cy="274320"/>
          </a:xfrm>
          <a:prstGeom prst="rect">
            <a:avLst/>
          </a:prstGeom>
          <a:noFill/>
          <a:ln/>
        </p:spPr>
        <p:txBody>
          <a:bodyPr wrap="square" lIns="0" tIns="0" rIns="0" bIns="0" rtlCol="0" anchor="ctr"/>
          <a:lstStyle/>
          <a:p>
            <a:pPr indent="0" marL="0">
              <a:buNone/>
            </a:pPr>
            <a:r>
              <a:rPr lang="en-US" sz="1200" b="1" spc="400" kern="0" dirty="0">
                <a:solidFill>
                  <a:srgbClr val="8FB8B8"/>
                </a:solidFill>
                <a:latin typeface="Calibri" pitchFamily="34" charset="0"/>
                <a:ea typeface="Calibri" pitchFamily="34" charset="-122"/>
                <a:cs typeface="Calibri" pitchFamily="34" charset="-120"/>
              </a:rPr>
              <a:t>ECM PARTNER ENABLEMENT · PHASE 1</a:t>
            </a:r>
            <a:endParaRPr lang="en-US" sz="1200" dirty="0"/>
          </a:p>
        </p:txBody>
      </p:sp>
      <p:sp>
        <p:nvSpPr>
          <p:cNvPr id="4" name="Text 2"/>
          <p:cNvSpPr txBox="1"/>
          <p:nvPr/>
        </p:nvSpPr>
        <p:spPr>
          <a:xfrm>
            <a:off x="868680" y="1920240"/>
            <a:ext cx="10607040" cy="841248"/>
          </a:xfrm>
          <a:prstGeom prst="rect">
            <a:avLst/>
          </a:prstGeom>
          <a:noFill/>
          <a:ln/>
        </p:spPr>
        <p:txBody>
          <a:bodyPr wrap="square" lIns="0" tIns="0" rIns="0" bIns="0" rtlCol="0" anchor="t"/>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Running the Model by Hand</a:t>
            </a:r>
            <a:endParaRPr lang="en-US" sz="4400" dirty="0"/>
          </a:p>
        </p:txBody>
      </p:sp>
      <p:sp>
        <p:nvSpPr>
          <p:cNvPr id="5" name="Text 3"/>
          <p:cNvSpPr txBox="1"/>
          <p:nvPr/>
        </p:nvSpPr>
        <p:spPr>
          <a:xfrm>
            <a:off x="868680" y="2871216"/>
            <a:ext cx="10058400" cy="685800"/>
          </a:xfrm>
          <a:prstGeom prst="rect">
            <a:avLst/>
          </a:prstGeom>
          <a:noFill/>
          <a:ln/>
        </p:spPr>
        <p:txBody>
          <a:bodyPr wrap="square" lIns="0" tIns="0" rIns="0" bIns="0" rtlCol="0" anchor="ctr"/>
          <a:lstStyle/>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For triage leads, the shared pool and squad leads — how the tiered enablement model</a:t>
            </a:r>
            <a:endParaRPr lang="en-US" sz="1800" dirty="0"/>
          </a:p>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operates from Day 1 with no tooling, and what we must measure while it runs</a:t>
            </a:r>
            <a:endParaRPr lang="en-US" sz="1800" dirty="0"/>
          </a:p>
        </p:txBody>
      </p:sp>
      <p:sp>
        <p:nvSpPr>
          <p:cNvPr id="6" name="Shape 4"/>
          <p:cNvSpPr/>
          <p:nvPr/>
        </p:nvSpPr>
        <p:spPr>
          <a:xfrm>
            <a:off x="868680" y="3785616"/>
            <a:ext cx="3840480" cy="0"/>
          </a:xfrm>
          <a:prstGeom prst="line">
            <a:avLst/>
          </a:prstGeom>
          <a:noFill/>
          <a:ln w="28575">
            <a:solidFill>
              <a:srgbClr val="0B6E6E"/>
            </a:solidFill>
            <a:prstDash val="solid"/>
          </a:ln>
        </p:spPr>
      </p:sp>
      <p:sp>
        <p:nvSpPr>
          <p:cNvPr id="7" name="Text 5"/>
          <p:cNvSpPr txBox="1"/>
          <p:nvPr/>
        </p:nvSpPr>
        <p:spPr>
          <a:xfrm>
            <a:off x="86868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PHASE 1</a:t>
            </a:r>
            <a:endParaRPr lang="en-US" sz="800" dirty="0"/>
          </a:p>
        </p:txBody>
      </p:sp>
      <p:sp>
        <p:nvSpPr>
          <p:cNvPr id="8" name="Text 6"/>
          <p:cNvSpPr txBox="1"/>
          <p:nvPr/>
        </p:nvSpPr>
        <p:spPr>
          <a:xfrm>
            <a:off x="86868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Manual · one quarter</a:t>
            </a:r>
            <a:endParaRPr lang="en-US" sz="1150" dirty="0"/>
          </a:p>
        </p:txBody>
      </p:sp>
      <p:sp>
        <p:nvSpPr>
          <p:cNvPr id="9" name="Text 7"/>
          <p:cNvSpPr txBox="1"/>
          <p:nvPr/>
        </p:nvSpPr>
        <p:spPr>
          <a:xfrm>
            <a:off x="336042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WHO RUNS IT</a:t>
            </a:r>
            <a:endParaRPr lang="en-US" sz="800" dirty="0"/>
          </a:p>
        </p:txBody>
      </p:sp>
      <p:sp>
        <p:nvSpPr>
          <p:cNvPr id="10" name="Text 8"/>
          <p:cNvSpPr txBox="1"/>
          <p:nvPr/>
        </p:nvSpPr>
        <p:spPr>
          <a:xfrm>
            <a:off x="336042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Triage leads + a shared pool of 4–6</a:t>
            </a:r>
            <a:endParaRPr lang="en-US" sz="1150" dirty="0"/>
          </a:p>
        </p:txBody>
      </p:sp>
      <p:sp>
        <p:nvSpPr>
          <p:cNvPr id="11" name="Text 9"/>
          <p:cNvSpPr txBox="1"/>
          <p:nvPr/>
        </p:nvSpPr>
        <p:spPr>
          <a:xfrm>
            <a:off x="585216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WHAT IS BUILT</a:t>
            </a:r>
            <a:endParaRPr lang="en-US" sz="800" dirty="0"/>
          </a:p>
        </p:txBody>
      </p:sp>
      <p:sp>
        <p:nvSpPr>
          <p:cNvPr id="12" name="Text 10"/>
          <p:cNvSpPr txBox="1"/>
          <p:nvPr/>
        </p:nvSpPr>
        <p:spPr>
          <a:xfrm>
            <a:off x="585216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Nothing — a Triage Guide only</a:t>
            </a:r>
            <a:endParaRPr lang="en-US" sz="1150" dirty="0"/>
          </a:p>
        </p:txBody>
      </p:sp>
      <p:sp>
        <p:nvSpPr>
          <p:cNvPr id="13" name="Text 11"/>
          <p:cNvSpPr txBox="1"/>
          <p:nvPr/>
        </p:nvSpPr>
        <p:spPr>
          <a:xfrm>
            <a:off x="8343900" y="4078224"/>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OUTCOME</a:t>
            </a:r>
            <a:endParaRPr lang="en-US" sz="800" dirty="0"/>
          </a:p>
        </p:txBody>
      </p:sp>
      <p:sp>
        <p:nvSpPr>
          <p:cNvPr id="14" name="Text 12"/>
          <p:cNvSpPr txBox="1"/>
          <p:nvPr/>
        </p:nvSpPr>
        <p:spPr>
          <a:xfrm>
            <a:off x="8343900" y="4279392"/>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Evidence for the Phase 2 decision</a:t>
            </a:r>
            <a:endParaRPr lang="en-US" sz="1150" dirty="0"/>
          </a:p>
        </p:txBody>
      </p:sp>
      <p:sp>
        <p:nvSpPr>
          <p:cNvPr id="15" name="Shape 13"/>
          <p:cNvSpPr/>
          <p:nvPr/>
        </p:nvSpPr>
        <p:spPr>
          <a:xfrm>
            <a:off x="868680" y="5998464"/>
            <a:ext cx="10607040" cy="0"/>
          </a:xfrm>
          <a:prstGeom prst="line">
            <a:avLst/>
          </a:prstGeom>
          <a:noFill/>
          <a:ln w="12700">
            <a:solidFill>
              <a:srgbClr val="2E4968"/>
            </a:solidFill>
            <a:prstDash val="solid"/>
          </a:ln>
        </p:spPr>
      </p:sp>
      <p:sp>
        <p:nvSpPr>
          <p:cNvPr id="16" name="Text 14"/>
          <p:cNvSpPr txBox="1"/>
          <p:nvPr/>
        </p:nvSpPr>
        <p:spPr>
          <a:xfrm>
            <a:off x="868680" y="6126480"/>
            <a:ext cx="6400800" cy="256032"/>
          </a:xfrm>
          <a:prstGeom prst="rect">
            <a:avLst/>
          </a:prstGeom>
          <a:noFill/>
          <a:ln/>
        </p:spPr>
        <p:txBody>
          <a:bodyPr wrap="square" lIns="0" tIns="0" rIns="0" bIns="0" rtlCol="0" anchor="ctr"/>
          <a:lstStyle/>
          <a:p>
            <a:pPr indent="0" marL="0">
              <a:buNone/>
            </a:pPr>
            <a:r>
              <a:rPr lang="en-US" sz="950" spc="80" kern="0" dirty="0">
                <a:solidFill>
                  <a:srgbClr val="7F97AE"/>
                </a:solidFill>
                <a:latin typeface="Calibri" pitchFamily="34" charset="0"/>
                <a:ea typeface="Calibri" pitchFamily="34" charset="-122"/>
                <a:cs typeface="Calibri" pitchFamily="34" charset="-120"/>
              </a:rPr>
              <a:t>ECM Partner Enablement   ·   Draft for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Why we are doing this by hand first</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Two causes, and a sequencing argument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Context</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42416"/>
            <a:ext cx="11338560" cy="548640"/>
          </a:xfrm>
          <a:prstGeom prst="roundRect">
            <a:avLst>
              <a:gd name="adj" fmla="val 8333"/>
            </a:avLst>
          </a:prstGeom>
          <a:solidFill>
            <a:srgbClr val="15304F"/>
          </a:solidFill>
          <a:ln w="12700">
            <a:solidFill>
              <a:srgbClr val="333333"/>
            </a:solidFill>
            <a:prstDash val="solid"/>
          </a:ln>
        </p:spPr>
      </p:sp>
      <p:sp>
        <p:nvSpPr>
          <p:cNvPr id="9" name="Text 7"/>
          <p:cNvSpPr txBox="1"/>
          <p:nvPr/>
        </p:nvSpPr>
        <p:spPr>
          <a:xfrm>
            <a:off x="612648" y="1042416"/>
            <a:ext cx="10936224" cy="548640"/>
          </a:xfrm>
          <a:prstGeom prst="rect">
            <a:avLst/>
          </a:prstGeom>
          <a:noFill/>
          <a:ln/>
        </p:spPr>
        <p:txBody>
          <a:bodyPr wrap="square" lIns="0" tIns="0" rIns="0" bIns="0" rtlCol="0" anchor="ctr"/>
          <a:lstStyle/>
          <a:p>
            <a:pPr indent="0" marL="0">
              <a:buNone/>
            </a:pPr>
            <a:r>
              <a:rPr lang="en-US" sz="1250" dirty="0">
                <a:solidFill>
                  <a:srgbClr val="C6D4E2"/>
                </a:solidFill>
                <a:latin typeface="Calibri" pitchFamily="34" charset="0"/>
                <a:ea typeface="Calibri" pitchFamily="34" charset="-122"/>
                <a:cs typeface="Calibri" pitchFamily="34" charset="-120"/>
              </a:rPr>
              <a:t>Capacity required  =  </a:t>
            </a:r>
            <a:pPr indent="0" marL="0">
              <a:buNone/>
            </a:pPr>
            <a:r>
              <a:rPr lang="en-US" sz="1250" b="1" dirty="0">
                <a:solidFill>
                  <a:srgbClr val="FFFFFF"/>
                </a:solidFill>
                <a:latin typeface="Calibri" pitchFamily="34" charset="0"/>
                <a:ea typeface="Calibri" pitchFamily="34" charset="-122"/>
                <a:cs typeface="Calibri" pitchFamily="34" charset="-120"/>
              </a:rPr>
              <a:t>concurrent intakes</a:t>
            </a:r>
            <a:pPr indent="0" marL="0">
              <a:buNone/>
            </a:pPr>
            <a:r>
              <a:rPr lang="en-US" sz="1250" dirty="0">
                <a:solidFill>
                  <a:srgbClr val="C6D4E2"/>
                </a:solidFill>
                <a:latin typeface="Calibri" pitchFamily="34" charset="0"/>
                <a:ea typeface="Calibri" pitchFamily="34" charset="-122"/>
                <a:cs typeface="Calibri" pitchFamily="34" charset="-120"/>
              </a:rPr>
              <a:t>  ×  </a:t>
            </a:r>
            <a:pPr indent="0" marL="0">
              <a:buNone/>
            </a:pPr>
            <a:r>
              <a:rPr lang="en-US" sz="1250" b="1" dirty="0">
                <a:solidFill>
                  <a:srgbClr val="F0B48A"/>
                </a:solidFill>
                <a:latin typeface="Calibri" pitchFamily="34" charset="0"/>
                <a:ea typeface="Calibri" pitchFamily="34" charset="-122"/>
                <a:cs typeface="Calibri" pitchFamily="34" charset="-120"/>
              </a:rPr>
              <a:t>a fixed engineering depth applied to every intake</a:t>
            </a:r>
            <a:endParaRPr lang="en-US" sz="1250" dirty="0"/>
          </a:p>
        </p:txBody>
      </p:sp>
      <p:sp>
        <p:nvSpPr>
          <p:cNvPr id="10" name="Shape 8"/>
          <p:cNvSpPr/>
          <p:nvPr/>
        </p:nvSpPr>
        <p:spPr>
          <a:xfrm>
            <a:off x="411480" y="1737360"/>
            <a:ext cx="5532120" cy="1755648"/>
          </a:xfrm>
          <a:prstGeom prst="roundRect">
            <a:avLst>
              <a:gd name="adj" fmla="val 2604"/>
            </a:avLst>
          </a:prstGeom>
          <a:solidFill>
            <a:srgbClr val="FFFFFF"/>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11" name="Text 9"/>
          <p:cNvSpPr txBox="1"/>
          <p:nvPr/>
        </p:nvSpPr>
        <p:spPr>
          <a:xfrm>
            <a:off x="557784" y="1865376"/>
            <a:ext cx="5239512" cy="164592"/>
          </a:xfrm>
          <a:prstGeom prst="rect">
            <a:avLst/>
          </a:prstGeom>
          <a:noFill/>
          <a:ln/>
        </p:spPr>
        <p:txBody>
          <a:bodyPr wrap="square" lIns="0" tIns="0" rIns="0" bIns="0" rtlCol="0" anchor="ctr"/>
          <a:lstStyle/>
          <a:p>
            <a:pPr indent="0" marL="0">
              <a:buNone/>
            </a:pPr>
            <a:r>
              <a:rPr lang="en-US" sz="720" b="1" spc="100" kern="0" dirty="0">
                <a:solidFill>
                  <a:srgbClr val="A44A2A"/>
                </a:solidFill>
                <a:latin typeface="Calibri" pitchFamily="34" charset="0"/>
                <a:ea typeface="Calibri" pitchFamily="34" charset="-122"/>
                <a:cs typeface="Calibri" pitchFamily="34" charset="-120"/>
              </a:rPr>
              <a:t>CAUSE 1</a:t>
            </a:r>
            <a:endParaRPr lang="en-US" sz="720" dirty="0"/>
          </a:p>
        </p:txBody>
      </p:sp>
      <p:sp>
        <p:nvSpPr>
          <p:cNvPr id="12" name="Text 10"/>
          <p:cNvSpPr txBox="1"/>
          <p:nvPr/>
        </p:nvSpPr>
        <p:spPr>
          <a:xfrm>
            <a:off x="557784" y="2048256"/>
            <a:ext cx="5239512" cy="310896"/>
          </a:xfrm>
          <a:prstGeom prst="rect">
            <a:avLst/>
          </a:prstGeom>
          <a:noFill/>
          <a:ln/>
        </p:spPr>
        <p:txBody>
          <a:bodyPr wrap="square" lIns="0" tIns="0" rIns="0" bIns="0" rtlCol="0" anchor="t"/>
          <a:lstStyle/>
          <a:p>
            <a:pPr indent="0" marL="0">
              <a:lnSpc>
                <a:spcPts val="1650"/>
              </a:lnSpc>
              <a:buNone/>
            </a:pPr>
            <a:r>
              <a:rPr lang="en-US" sz="1400" b="1" dirty="0">
                <a:solidFill>
                  <a:srgbClr val="1B2432"/>
                </a:solidFill>
                <a:latin typeface="Calibri" pitchFamily="34" charset="0"/>
                <a:ea typeface="Calibri" pitchFamily="34" charset="-122"/>
                <a:cs typeface="Calibri" pitchFamily="34" charset="-120"/>
              </a:rPr>
              <a:t>The data deficit</a:t>
            </a:r>
            <a:endParaRPr lang="en-US" sz="1400" dirty="0"/>
          </a:p>
        </p:txBody>
      </p:sp>
      <p:sp>
        <p:nvSpPr>
          <p:cNvPr id="13" name="Text 11"/>
          <p:cNvSpPr txBox="1"/>
          <p:nvPr/>
        </p:nvSpPr>
        <p:spPr>
          <a:xfrm>
            <a:off x="557784" y="2359152"/>
            <a:ext cx="5239512" cy="987552"/>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The requirement for a data point is discovered a step at a time, after the intake has landed</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Each discovery costs days of elapsed time and a small, thinly spread effort</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Squads' estimate: 30–40% of total elapsed time</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Tier-independent — it costs the same in any model</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The most draining work the squads do</a:t>
            </a:r>
            <a:endParaRPr lang="en-US" sz="820" dirty="0"/>
          </a:p>
        </p:txBody>
      </p:sp>
      <p:sp>
        <p:nvSpPr>
          <p:cNvPr id="14" name="Shape 12"/>
          <p:cNvSpPr/>
          <p:nvPr/>
        </p:nvSpPr>
        <p:spPr>
          <a:xfrm>
            <a:off x="6217920" y="1737360"/>
            <a:ext cx="5532120" cy="1755648"/>
          </a:xfrm>
          <a:prstGeom prst="roundRect">
            <a:avLst>
              <a:gd name="adj" fmla="val 2604"/>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15" name="Text 13"/>
          <p:cNvSpPr txBox="1"/>
          <p:nvPr/>
        </p:nvSpPr>
        <p:spPr>
          <a:xfrm>
            <a:off x="6364224" y="1865376"/>
            <a:ext cx="5239512" cy="164592"/>
          </a:xfrm>
          <a:prstGeom prst="rect">
            <a:avLst/>
          </a:prstGeom>
          <a:noFill/>
          <a:ln/>
        </p:spPr>
        <p:txBody>
          <a:bodyPr wrap="square" lIns="0" tIns="0" rIns="0" bIns="0" rtlCol="0" anchor="ctr"/>
          <a:lstStyle/>
          <a:p>
            <a:pPr indent="0" marL="0">
              <a:buNone/>
            </a:pPr>
            <a:r>
              <a:rPr lang="en-US" sz="720" b="1" spc="100" kern="0" dirty="0">
                <a:solidFill>
                  <a:srgbClr val="15304F"/>
                </a:solidFill>
                <a:latin typeface="Calibri" pitchFamily="34" charset="0"/>
                <a:ea typeface="Calibri" pitchFamily="34" charset="-122"/>
                <a:cs typeface="Calibri" pitchFamily="34" charset="-120"/>
              </a:rPr>
              <a:t>CAUSE 2</a:t>
            </a:r>
            <a:endParaRPr lang="en-US" sz="720" dirty="0"/>
          </a:p>
        </p:txBody>
      </p:sp>
      <p:sp>
        <p:nvSpPr>
          <p:cNvPr id="16" name="Text 14"/>
          <p:cNvSpPr txBox="1"/>
          <p:nvPr/>
        </p:nvSpPr>
        <p:spPr>
          <a:xfrm>
            <a:off x="6364224" y="2048256"/>
            <a:ext cx="5239512" cy="310896"/>
          </a:xfrm>
          <a:prstGeom prst="rect">
            <a:avLst/>
          </a:prstGeom>
          <a:noFill/>
          <a:ln/>
        </p:spPr>
        <p:txBody>
          <a:bodyPr wrap="square" lIns="0" tIns="0" rIns="0" bIns="0" rtlCol="0" anchor="t"/>
          <a:lstStyle/>
          <a:p>
            <a:pPr indent="0" marL="0">
              <a:lnSpc>
                <a:spcPts val="1650"/>
              </a:lnSpc>
              <a:buNone/>
            </a:pPr>
            <a:r>
              <a:rPr lang="en-US" sz="1400" b="1" dirty="0">
                <a:solidFill>
                  <a:srgbClr val="1B2432"/>
                </a:solidFill>
                <a:latin typeface="Calibri" pitchFamily="34" charset="0"/>
                <a:ea typeface="Calibri" pitchFamily="34" charset="-122"/>
                <a:cs typeface="Calibri" pitchFamily="34" charset="-120"/>
              </a:rPr>
              <a:t>Uniform allocation</a:t>
            </a:r>
            <a:endParaRPr lang="en-US" sz="1400" dirty="0"/>
          </a:p>
        </p:txBody>
      </p:sp>
      <p:sp>
        <p:nvSpPr>
          <p:cNvPr id="17" name="Text 15"/>
          <p:cNvSpPr txBox="1"/>
          <p:nvPr/>
        </p:nvSpPr>
        <p:spPr>
          <a:xfrm>
            <a:off x="6364224" y="2359152"/>
            <a:ext cx="5239512" cy="987552"/>
          </a:xfrm>
          <a:prstGeom prst="rect">
            <a:avLst/>
          </a:prstGeom>
          <a:noFill/>
          <a:ln/>
        </p:spPr>
        <p:txBody>
          <a:bodyPr wrap="square" lIns="0" tIns="0" rIns="0" bIns="0" rtlCol="0" anchor="t"/>
          <a:lstStyle/>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Engagement depth does not vary with how much novel design an intake needs</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Of 38 scenarios: 8 need no design, 14 need a judgement, 14 need a pod, 2 are campaigns</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All 38 receive the same dedicated team</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Without an objective rule, depth is allocated by influence</a:t>
            </a:r>
            <a:endParaRPr lang="en-US" sz="820" dirty="0"/>
          </a:p>
          <a:p>
            <a:pPr indent="0" marL="0">
              <a:lnSpc>
                <a:spcPts val="1080"/>
              </a:lnSpc>
              <a:spcAft>
                <a:spcPts val="250"/>
              </a:spcAft>
              <a:buNone/>
            </a:pPr>
            <a:r>
              <a:rPr lang="en-US" sz="820" dirty="0">
                <a:solidFill>
                  <a:srgbClr val="55606E"/>
                </a:solidFill>
                <a:latin typeface="Calibri" pitchFamily="34" charset="0"/>
                <a:ea typeface="Calibri" pitchFamily="34" charset="-122"/>
                <a:cs typeface="Calibri" pitchFamily="34" charset="-120"/>
              </a:rPr>
              <a:t>Fixing it needs a tiering rubric, not a tool</a:t>
            </a:r>
            <a:endParaRPr lang="en-US" sz="820" dirty="0"/>
          </a:p>
        </p:txBody>
      </p:sp>
      <p:sp>
        <p:nvSpPr>
          <p:cNvPr id="18" name="Text 16"/>
          <p:cNvSpPr txBox="1"/>
          <p:nvPr/>
        </p:nvSpPr>
        <p:spPr>
          <a:xfrm>
            <a:off x="411480" y="3621024"/>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TWO WAYS TO ADOPT THE MODEL — AND WHY WE ARE TAKING THE SECOND</a:t>
            </a:r>
            <a:endParaRPr lang="en-US" sz="760" dirty="0"/>
          </a:p>
        </p:txBody>
      </p:sp>
      <p:sp>
        <p:nvSpPr>
          <p:cNvPr id="19" name="Shape 17"/>
          <p:cNvSpPr/>
          <p:nvPr/>
        </p:nvSpPr>
        <p:spPr>
          <a:xfrm>
            <a:off x="411480" y="3822192"/>
            <a:ext cx="11338560" cy="274320"/>
          </a:xfrm>
          <a:prstGeom prst="rect">
            <a:avLst/>
          </a:prstGeom>
          <a:solidFill>
            <a:srgbClr val="15304F"/>
          </a:solidFill>
          <a:ln w="6350">
            <a:solidFill>
              <a:srgbClr val="15304F"/>
            </a:solidFill>
            <a:prstDash val="solid"/>
          </a:ln>
        </p:spPr>
      </p:sp>
      <p:sp>
        <p:nvSpPr>
          <p:cNvPr id="20" name="Text 18"/>
          <p:cNvSpPr txBox="1"/>
          <p:nvPr/>
        </p:nvSpPr>
        <p:spPr>
          <a:xfrm>
            <a:off x="484632" y="3822192"/>
            <a:ext cx="1956816" cy="274320"/>
          </a:xfrm>
          <a:prstGeom prst="rect">
            <a:avLst/>
          </a:prstGeom>
          <a:noFill/>
          <a:ln/>
        </p:spPr>
        <p:txBody>
          <a:bodyPr wrap="square" lIns="0" tIns="0" rIns="0" bIns="0" rtlCol="0" anchor="ctr"/>
          <a:lstStyle/>
          <a:p>
            <a:pPr algn="l" indent="0" marL="0">
              <a:buNone/>
            </a:pPr>
            <a:endParaRPr lang="en-US" sz="800" dirty="0"/>
          </a:p>
        </p:txBody>
      </p:sp>
      <p:sp>
        <p:nvSpPr>
          <p:cNvPr id="21" name="Text 19"/>
          <p:cNvSpPr txBox="1"/>
          <p:nvPr/>
        </p:nvSpPr>
        <p:spPr>
          <a:xfrm>
            <a:off x="2587752" y="3822192"/>
            <a:ext cx="447141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Build first</a:t>
            </a:r>
            <a:endParaRPr lang="en-US" sz="800" dirty="0"/>
          </a:p>
        </p:txBody>
      </p:sp>
      <p:sp>
        <p:nvSpPr>
          <p:cNvPr id="22" name="Text 20"/>
          <p:cNvSpPr txBox="1"/>
          <p:nvPr/>
        </p:nvSpPr>
        <p:spPr>
          <a:xfrm>
            <a:off x="7205472" y="3822192"/>
            <a:ext cx="447141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Prove first  (what we are doing)</a:t>
            </a:r>
            <a:endParaRPr lang="en-US" sz="800" dirty="0"/>
          </a:p>
        </p:txBody>
      </p:sp>
      <p:sp>
        <p:nvSpPr>
          <p:cNvPr id="23" name="Shape 21"/>
          <p:cNvSpPr/>
          <p:nvPr/>
        </p:nvSpPr>
        <p:spPr>
          <a:xfrm>
            <a:off x="411480" y="4096512"/>
            <a:ext cx="11338560" cy="365760"/>
          </a:xfrm>
          <a:prstGeom prst="rect">
            <a:avLst/>
          </a:prstGeom>
          <a:solidFill>
            <a:srgbClr val="FFFFFF"/>
          </a:solidFill>
          <a:ln w="6350">
            <a:solidFill>
              <a:srgbClr val="D4DAE2"/>
            </a:solidFill>
            <a:prstDash val="solid"/>
          </a:ln>
        </p:spPr>
      </p:sp>
      <p:sp>
        <p:nvSpPr>
          <p:cNvPr id="24" name="Text 22"/>
          <p:cNvSpPr txBox="1"/>
          <p:nvPr/>
        </p:nvSpPr>
        <p:spPr>
          <a:xfrm>
            <a:off x="484632" y="4096512"/>
            <a:ext cx="1956816" cy="36576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Sequence</a:t>
            </a:r>
            <a:endParaRPr lang="en-US" sz="800" dirty="0"/>
          </a:p>
        </p:txBody>
      </p:sp>
      <p:sp>
        <p:nvSpPr>
          <p:cNvPr id="25" name="Text 23"/>
          <p:cNvSpPr txBox="1"/>
          <p:nvPr/>
        </p:nvSpPr>
        <p:spPr>
          <a:xfrm>
            <a:off x="2587752" y="409651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Four sprints of engineering, then run the model on the platform</a:t>
            </a:r>
            <a:endParaRPr lang="en-US" sz="800" dirty="0"/>
          </a:p>
        </p:txBody>
      </p:sp>
      <p:sp>
        <p:nvSpPr>
          <p:cNvPr id="26" name="Text 24"/>
          <p:cNvSpPr txBox="1"/>
          <p:nvPr/>
        </p:nvSpPr>
        <p:spPr>
          <a:xfrm>
            <a:off x="7205472" y="409651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One quarter of process change, then build what the evidence says to build</a:t>
            </a:r>
            <a:endParaRPr lang="en-US" sz="800" dirty="0"/>
          </a:p>
        </p:txBody>
      </p:sp>
      <p:sp>
        <p:nvSpPr>
          <p:cNvPr id="27" name="Shape 25"/>
          <p:cNvSpPr/>
          <p:nvPr/>
        </p:nvSpPr>
        <p:spPr>
          <a:xfrm>
            <a:off x="411480" y="4462272"/>
            <a:ext cx="11338560" cy="365760"/>
          </a:xfrm>
          <a:prstGeom prst="rect">
            <a:avLst/>
          </a:prstGeom>
          <a:solidFill>
            <a:srgbClr val="F4F7FA"/>
          </a:solidFill>
          <a:ln w="6350">
            <a:solidFill>
              <a:srgbClr val="D4DAE2"/>
            </a:solidFill>
            <a:prstDash val="solid"/>
          </a:ln>
        </p:spPr>
      </p:sp>
      <p:sp>
        <p:nvSpPr>
          <p:cNvPr id="28" name="Text 26"/>
          <p:cNvSpPr txBox="1"/>
          <p:nvPr/>
        </p:nvSpPr>
        <p:spPr>
          <a:xfrm>
            <a:off x="484632" y="4462272"/>
            <a:ext cx="1956816" cy="36576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Business case rests on</a:t>
            </a:r>
            <a:endParaRPr lang="en-US" sz="800" dirty="0"/>
          </a:p>
        </p:txBody>
      </p:sp>
      <p:sp>
        <p:nvSpPr>
          <p:cNvPr id="29" name="Text 27"/>
          <p:cNvSpPr txBox="1"/>
          <p:nvPr/>
        </p:nvSpPr>
        <p:spPr>
          <a:xfrm>
            <a:off x="2587752" y="446227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Design assumptions</a:t>
            </a:r>
            <a:endParaRPr lang="en-US" sz="800" dirty="0"/>
          </a:p>
        </p:txBody>
      </p:sp>
      <p:sp>
        <p:nvSpPr>
          <p:cNvPr id="30" name="Text 28"/>
          <p:cNvSpPr txBox="1"/>
          <p:nvPr/>
        </p:nvSpPr>
        <p:spPr>
          <a:xfrm>
            <a:off x="7205472" y="446227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Measured results from live intakes</a:t>
            </a:r>
            <a:endParaRPr lang="en-US" sz="800" dirty="0"/>
          </a:p>
        </p:txBody>
      </p:sp>
      <p:sp>
        <p:nvSpPr>
          <p:cNvPr id="31" name="Shape 29"/>
          <p:cNvSpPr/>
          <p:nvPr/>
        </p:nvSpPr>
        <p:spPr>
          <a:xfrm>
            <a:off x="411480" y="4828032"/>
            <a:ext cx="11338560" cy="365760"/>
          </a:xfrm>
          <a:prstGeom prst="rect">
            <a:avLst/>
          </a:prstGeom>
          <a:solidFill>
            <a:srgbClr val="FFFFFF"/>
          </a:solidFill>
          <a:ln w="6350">
            <a:solidFill>
              <a:srgbClr val="D4DAE2"/>
            </a:solidFill>
            <a:prstDash val="solid"/>
          </a:ln>
        </p:spPr>
      </p:sp>
      <p:sp>
        <p:nvSpPr>
          <p:cNvPr id="32" name="Text 30"/>
          <p:cNvSpPr txBox="1"/>
          <p:nvPr/>
        </p:nvSpPr>
        <p:spPr>
          <a:xfrm>
            <a:off x="484632" y="4828032"/>
            <a:ext cx="1956816" cy="36576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The baseline</a:t>
            </a:r>
            <a:endParaRPr lang="en-US" sz="800" dirty="0"/>
          </a:p>
        </p:txBody>
      </p:sp>
      <p:sp>
        <p:nvSpPr>
          <p:cNvPr id="33" name="Text 31"/>
          <p:cNvSpPr txBox="1"/>
          <p:nvPr/>
        </p:nvSpPr>
        <p:spPr>
          <a:xfrm>
            <a:off x="2587752" y="482803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Does not exist, and the build does not produce it</a:t>
            </a:r>
            <a:endParaRPr lang="en-US" sz="800" dirty="0"/>
          </a:p>
        </p:txBody>
      </p:sp>
      <p:sp>
        <p:nvSpPr>
          <p:cNvPr id="34" name="Text 32"/>
          <p:cNvSpPr txBox="1"/>
          <p:nvPr/>
        </p:nvSpPr>
        <p:spPr>
          <a:xfrm>
            <a:off x="7205472" y="482803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Produced as a by-product of running</a:t>
            </a:r>
            <a:endParaRPr lang="en-US" sz="800" dirty="0"/>
          </a:p>
        </p:txBody>
      </p:sp>
      <p:sp>
        <p:nvSpPr>
          <p:cNvPr id="35" name="Shape 33"/>
          <p:cNvSpPr/>
          <p:nvPr/>
        </p:nvSpPr>
        <p:spPr>
          <a:xfrm>
            <a:off x="411480" y="5193792"/>
            <a:ext cx="11338560" cy="365760"/>
          </a:xfrm>
          <a:prstGeom prst="rect">
            <a:avLst/>
          </a:prstGeom>
          <a:solidFill>
            <a:srgbClr val="F4F7FA"/>
          </a:solidFill>
          <a:ln w="6350">
            <a:solidFill>
              <a:srgbClr val="D4DAE2"/>
            </a:solidFill>
            <a:prstDash val="solid"/>
          </a:ln>
        </p:spPr>
      </p:sp>
      <p:sp>
        <p:nvSpPr>
          <p:cNvPr id="36" name="Text 34"/>
          <p:cNvSpPr txBox="1"/>
          <p:nvPr/>
        </p:nvSpPr>
        <p:spPr>
          <a:xfrm>
            <a:off x="484632" y="5193792"/>
            <a:ext cx="1956816" cy="36576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If the model is wrong</a:t>
            </a:r>
            <a:endParaRPr lang="en-US" sz="800" dirty="0"/>
          </a:p>
        </p:txBody>
      </p:sp>
      <p:sp>
        <p:nvSpPr>
          <p:cNvPr id="37" name="Text 35"/>
          <p:cNvSpPr txBox="1"/>
          <p:nvPr/>
        </p:nvSpPr>
        <p:spPr>
          <a:xfrm>
            <a:off x="2587752" y="519379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An engineering investment is stranded</a:t>
            </a:r>
            <a:endParaRPr lang="en-US" sz="800" dirty="0"/>
          </a:p>
        </p:txBody>
      </p:sp>
      <p:sp>
        <p:nvSpPr>
          <p:cNvPr id="38" name="Text 36"/>
          <p:cNvSpPr txBox="1"/>
          <p:nvPr/>
        </p:nvSpPr>
        <p:spPr>
          <a:xfrm>
            <a:off x="7205472" y="519379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A quarter of process change, nothing stranded</a:t>
            </a:r>
            <a:endParaRPr lang="en-US" sz="800" dirty="0"/>
          </a:p>
        </p:txBody>
      </p:sp>
      <p:sp>
        <p:nvSpPr>
          <p:cNvPr id="39" name="Shape 37"/>
          <p:cNvSpPr/>
          <p:nvPr/>
        </p:nvSpPr>
        <p:spPr>
          <a:xfrm>
            <a:off x="411480" y="5559552"/>
            <a:ext cx="11338560" cy="365760"/>
          </a:xfrm>
          <a:prstGeom prst="rect">
            <a:avLst/>
          </a:prstGeom>
          <a:solidFill>
            <a:srgbClr val="FFFFFF"/>
          </a:solidFill>
          <a:ln w="6350">
            <a:solidFill>
              <a:srgbClr val="D4DAE2"/>
            </a:solidFill>
            <a:prstDash val="solid"/>
          </a:ln>
        </p:spPr>
      </p:sp>
      <p:sp>
        <p:nvSpPr>
          <p:cNvPr id="40" name="Text 38"/>
          <p:cNvSpPr txBox="1"/>
          <p:nvPr/>
        </p:nvSpPr>
        <p:spPr>
          <a:xfrm>
            <a:off x="484632" y="5559552"/>
            <a:ext cx="1956816" cy="365760"/>
          </a:xfrm>
          <a:prstGeom prst="rect">
            <a:avLst/>
          </a:prstGeom>
          <a:noFill/>
          <a:ln/>
        </p:spPr>
        <p:txBody>
          <a:bodyPr wrap="square" lIns="0" tIns="0" rIns="0" bIns="0" rtlCol="0" anchor="ctr"/>
          <a:lstStyle/>
          <a:p>
            <a:pPr algn="l" indent="0" marL="0">
              <a:buNone/>
            </a:pPr>
            <a:r>
              <a:rPr lang="en-US" sz="800" b="1" dirty="0">
                <a:solidFill>
                  <a:srgbClr val="1B2432"/>
                </a:solidFill>
                <a:latin typeface="Calibri" pitchFamily="34" charset="0"/>
                <a:ea typeface="Calibri" pitchFamily="34" charset="-122"/>
                <a:cs typeface="Calibri" pitchFamily="34" charset="-120"/>
              </a:rPr>
              <a:t>The Phase 2 backlog</a:t>
            </a:r>
            <a:endParaRPr lang="en-US" sz="800" dirty="0"/>
          </a:p>
        </p:txBody>
      </p:sp>
      <p:sp>
        <p:nvSpPr>
          <p:cNvPr id="41" name="Text 39"/>
          <p:cNvSpPr txBox="1"/>
          <p:nvPr/>
        </p:nvSpPr>
        <p:spPr>
          <a:xfrm>
            <a:off x="2587752" y="555955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A designed guess at what to automate</a:t>
            </a:r>
            <a:endParaRPr lang="en-US" sz="800" dirty="0"/>
          </a:p>
        </p:txBody>
      </p:sp>
      <p:sp>
        <p:nvSpPr>
          <p:cNvPr id="42" name="Text 40"/>
          <p:cNvSpPr txBox="1"/>
          <p:nvPr/>
        </p:nvSpPr>
        <p:spPr>
          <a:xfrm>
            <a:off x="7205472" y="5559552"/>
            <a:ext cx="4471416" cy="365760"/>
          </a:xfrm>
          <a:prstGeom prst="rect">
            <a:avLst/>
          </a:prstGeom>
          <a:noFill/>
          <a:ln/>
        </p:spPr>
        <p:txBody>
          <a:bodyPr wrap="square" lIns="0" tIns="0" rIns="0" bIns="0" rtlCol="0" anchor="ctr"/>
          <a:lstStyle/>
          <a:p>
            <a:pPr algn="l" indent="0" marL="0">
              <a:buNone/>
            </a:pPr>
            <a:r>
              <a:rPr lang="en-US" sz="800" dirty="0">
                <a:solidFill>
                  <a:srgbClr val="1B2432"/>
                </a:solidFill>
                <a:latin typeface="Calibri" pitchFamily="34" charset="0"/>
                <a:ea typeface="Calibri" pitchFamily="34" charset="-122"/>
                <a:cs typeface="Calibri" pitchFamily="34" charset="-120"/>
              </a:rPr>
              <a:t>An evidence-led list of where the effort actually went</a:t>
            </a:r>
            <a:endParaRPr lang="en-US" sz="800" dirty="0"/>
          </a:p>
        </p:txBody>
      </p:sp>
      <p:sp>
        <p:nvSpPr>
          <p:cNvPr id="43" name="Shape 41"/>
          <p:cNvSpPr/>
          <p:nvPr/>
        </p:nvSpPr>
        <p:spPr>
          <a:xfrm>
            <a:off x="411480" y="5998464"/>
            <a:ext cx="11338560" cy="438912"/>
          </a:xfrm>
          <a:prstGeom prst="roundRect">
            <a:avLst>
              <a:gd name="adj" fmla="val 10417"/>
            </a:avLst>
          </a:prstGeom>
          <a:solidFill>
            <a:srgbClr val="F4F7FA"/>
          </a:solidFill>
          <a:ln w="9525">
            <a:solidFill>
              <a:srgbClr val="D4DAE2"/>
            </a:solidFill>
            <a:prstDash val="solid"/>
          </a:ln>
        </p:spPr>
      </p:sp>
      <p:sp>
        <p:nvSpPr>
          <p:cNvPr id="44" name="Text 42"/>
          <p:cNvSpPr txBox="1"/>
          <p:nvPr/>
        </p:nvSpPr>
        <p:spPr>
          <a:xfrm>
            <a:off x="557784" y="5998464"/>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sequencing argument in one line: every number in the business case for a platform — the distribution, the effort baseline, the elapsed-time baseline, the size of the clerical load — does not currently exist, and running the model by hand for a quarter produces all of them.</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Every platform mechanism has a human equivalent</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This is the substitution table — and the right-hand column is the Phase 2 backlog in draft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What manual means</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42416"/>
            <a:ext cx="11338560" cy="274320"/>
          </a:xfrm>
          <a:prstGeom prst="rect">
            <a:avLst/>
          </a:prstGeom>
          <a:solidFill>
            <a:srgbClr val="15304F"/>
          </a:solidFill>
          <a:ln w="6350">
            <a:solidFill>
              <a:srgbClr val="15304F"/>
            </a:solidFill>
            <a:prstDash val="solid"/>
          </a:ln>
        </p:spPr>
      </p:sp>
      <p:sp>
        <p:nvSpPr>
          <p:cNvPr id="9" name="Text 7"/>
          <p:cNvSpPr txBox="1"/>
          <p:nvPr/>
        </p:nvSpPr>
        <p:spPr>
          <a:xfrm>
            <a:off x="484632" y="1042416"/>
            <a:ext cx="305409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Platform mechanism (Phase 2)</a:t>
            </a:r>
            <a:endParaRPr lang="en-US" sz="800" dirty="0"/>
          </a:p>
        </p:txBody>
      </p:sp>
      <p:sp>
        <p:nvSpPr>
          <p:cNvPr id="10" name="Text 8"/>
          <p:cNvSpPr txBox="1"/>
          <p:nvPr/>
        </p:nvSpPr>
        <p:spPr>
          <a:xfrm>
            <a:off x="3685032" y="1042416"/>
            <a:ext cx="296265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Manual equivalent (Phase 1)</a:t>
            </a:r>
            <a:endParaRPr lang="en-US" sz="800" dirty="0"/>
          </a:p>
        </p:txBody>
      </p:sp>
      <p:sp>
        <p:nvSpPr>
          <p:cNvPr id="11" name="Text 9"/>
          <p:cNvSpPr txBox="1"/>
          <p:nvPr/>
        </p:nvSpPr>
        <p:spPr>
          <a:xfrm>
            <a:off x="6793992" y="1042416"/>
            <a:ext cx="4882896" cy="274320"/>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What is lost</a:t>
            </a:r>
            <a:endParaRPr lang="en-US" sz="800" dirty="0"/>
          </a:p>
        </p:txBody>
      </p:sp>
      <p:sp>
        <p:nvSpPr>
          <p:cNvPr id="12" name="Shape 10"/>
          <p:cNvSpPr/>
          <p:nvPr/>
        </p:nvSpPr>
        <p:spPr>
          <a:xfrm>
            <a:off x="411480" y="1316736"/>
            <a:ext cx="11338560" cy="297180"/>
          </a:xfrm>
          <a:prstGeom prst="rect">
            <a:avLst/>
          </a:prstGeom>
          <a:solidFill>
            <a:srgbClr val="FFFFFF"/>
          </a:solidFill>
          <a:ln w="6350">
            <a:solidFill>
              <a:srgbClr val="D4DAE2"/>
            </a:solidFill>
            <a:prstDash val="solid"/>
          </a:ln>
        </p:spPr>
      </p:sp>
      <p:sp>
        <p:nvSpPr>
          <p:cNvPr id="13" name="Text 11"/>
          <p:cNvSpPr txBox="1"/>
          <p:nvPr/>
        </p:nvSpPr>
        <p:spPr>
          <a:xfrm>
            <a:off x="484632" y="131673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Intake copilot</a:t>
            </a:r>
            <a:endParaRPr lang="en-US" sz="760" dirty="0"/>
          </a:p>
        </p:txBody>
      </p:sp>
      <p:sp>
        <p:nvSpPr>
          <p:cNvPr id="14" name="Text 12"/>
          <p:cNvSpPr txBox="1"/>
          <p:nvPr/>
        </p:nvSpPr>
        <p:spPr>
          <a:xfrm>
            <a:off x="3685032" y="131673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Structured triage conversation from a written question guide</a:t>
            </a:r>
            <a:endParaRPr lang="en-US" sz="760" dirty="0"/>
          </a:p>
        </p:txBody>
      </p:sp>
      <p:sp>
        <p:nvSpPr>
          <p:cNvPr id="15" name="Text 13"/>
          <p:cNvSpPr txBox="1"/>
          <p:nvPr/>
        </p:nvSpPr>
        <p:spPr>
          <a:xfrm>
            <a:off x="6793992" y="131673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Partner cannot self-serve; needs a skilled lead and real time</a:t>
            </a:r>
            <a:endParaRPr lang="en-US" sz="760" dirty="0"/>
          </a:p>
        </p:txBody>
      </p:sp>
      <p:sp>
        <p:nvSpPr>
          <p:cNvPr id="16" name="Shape 14"/>
          <p:cNvSpPr/>
          <p:nvPr/>
        </p:nvSpPr>
        <p:spPr>
          <a:xfrm>
            <a:off x="411480" y="1613916"/>
            <a:ext cx="11338560" cy="297180"/>
          </a:xfrm>
          <a:prstGeom prst="rect">
            <a:avLst/>
          </a:prstGeom>
          <a:solidFill>
            <a:srgbClr val="F4F7FA"/>
          </a:solidFill>
          <a:ln w="6350">
            <a:solidFill>
              <a:srgbClr val="D4DAE2"/>
            </a:solidFill>
            <a:prstDash val="solid"/>
          </a:ln>
        </p:spPr>
      </p:sp>
      <p:sp>
        <p:nvSpPr>
          <p:cNvPr id="17" name="Text 15"/>
          <p:cNvSpPr txBox="1"/>
          <p:nvPr/>
        </p:nvSpPr>
        <p:spPr>
          <a:xfrm>
            <a:off x="484632" y="161391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Intake data catalogue / why-register</a:t>
            </a:r>
            <a:endParaRPr lang="en-US" sz="760" dirty="0"/>
          </a:p>
        </p:txBody>
      </p:sp>
      <p:sp>
        <p:nvSpPr>
          <p:cNvPr id="18" name="Text 16"/>
          <p:cNvSpPr txBox="1"/>
          <p:nvPr/>
        </p:nvSpPr>
        <p:spPr>
          <a:xfrm>
            <a:off x="3685032" y="161391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same content, as a written guide</a:t>
            </a:r>
            <a:endParaRPr lang="en-US" sz="760" dirty="0"/>
          </a:p>
        </p:txBody>
      </p:sp>
      <p:sp>
        <p:nvSpPr>
          <p:cNvPr id="19" name="Text 17"/>
          <p:cNvSpPr txBox="1"/>
          <p:nvPr/>
        </p:nvSpPr>
        <p:spPr>
          <a:xfrm>
            <a:off x="6793992" y="161391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Nothing material — the knowledge is the asset either way</a:t>
            </a:r>
            <a:endParaRPr lang="en-US" sz="760" dirty="0"/>
          </a:p>
        </p:txBody>
      </p:sp>
      <p:sp>
        <p:nvSpPr>
          <p:cNvPr id="20" name="Shape 18"/>
          <p:cNvSpPr/>
          <p:nvPr/>
        </p:nvSpPr>
        <p:spPr>
          <a:xfrm>
            <a:off x="411480" y="1911096"/>
            <a:ext cx="11338560" cy="297180"/>
          </a:xfrm>
          <a:prstGeom prst="rect">
            <a:avLst/>
          </a:prstGeom>
          <a:solidFill>
            <a:srgbClr val="FFFFFF"/>
          </a:solidFill>
          <a:ln w="6350">
            <a:solidFill>
              <a:srgbClr val="D4DAE2"/>
            </a:solidFill>
            <a:prstDash val="solid"/>
          </a:ln>
        </p:spPr>
      </p:sp>
      <p:sp>
        <p:nvSpPr>
          <p:cNvPr id="21" name="Text 19"/>
          <p:cNvSpPr txBox="1"/>
          <p:nvPr/>
        </p:nvSpPr>
        <p:spPr>
          <a:xfrm>
            <a:off x="484632" y="191109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Completeness validation</a:t>
            </a:r>
            <a:endParaRPr lang="en-US" sz="760" dirty="0"/>
          </a:p>
        </p:txBody>
      </p:sp>
      <p:sp>
        <p:nvSpPr>
          <p:cNvPr id="22" name="Text 20"/>
          <p:cNvSpPr txBox="1"/>
          <p:nvPr/>
        </p:nvSpPr>
        <p:spPr>
          <a:xfrm>
            <a:off x="3685032" y="191109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lead scores against the published bands</a:t>
            </a:r>
            <a:endParaRPr lang="en-US" sz="760" dirty="0"/>
          </a:p>
        </p:txBody>
      </p:sp>
      <p:sp>
        <p:nvSpPr>
          <p:cNvPr id="23" name="Text 21"/>
          <p:cNvSpPr txBox="1"/>
          <p:nvPr/>
        </p:nvSpPr>
        <p:spPr>
          <a:xfrm>
            <a:off x="6793992" y="191109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Consistency depends on the lead; no automatic block</a:t>
            </a:r>
            <a:endParaRPr lang="en-US" sz="760" dirty="0"/>
          </a:p>
        </p:txBody>
      </p:sp>
      <p:sp>
        <p:nvSpPr>
          <p:cNvPr id="24" name="Shape 22"/>
          <p:cNvSpPr/>
          <p:nvPr/>
        </p:nvSpPr>
        <p:spPr>
          <a:xfrm>
            <a:off x="411480" y="2208276"/>
            <a:ext cx="11338560" cy="297180"/>
          </a:xfrm>
          <a:prstGeom prst="rect">
            <a:avLst/>
          </a:prstGeom>
          <a:solidFill>
            <a:srgbClr val="F4F7FA"/>
          </a:solidFill>
          <a:ln w="6350">
            <a:solidFill>
              <a:srgbClr val="D4DAE2"/>
            </a:solidFill>
            <a:prstDash val="solid"/>
          </a:ln>
        </p:spPr>
      </p:sp>
      <p:sp>
        <p:nvSpPr>
          <p:cNvPr id="25" name="Text 23"/>
          <p:cNvSpPr txBox="1"/>
          <p:nvPr/>
        </p:nvSpPr>
        <p:spPr>
          <a:xfrm>
            <a:off x="484632" y="220827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Gap register</a:t>
            </a:r>
            <a:endParaRPr lang="en-US" sz="760" dirty="0"/>
          </a:p>
        </p:txBody>
      </p:sp>
      <p:sp>
        <p:nvSpPr>
          <p:cNvPr id="26" name="Text 24"/>
          <p:cNvSpPr txBox="1"/>
          <p:nvPr/>
        </p:nvSpPr>
        <p:spPr>
          <a:xfrm>
            <a:off x="3685032" y="220827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 gaps table on the intake record</a:t>
            </a:r>
            <a:endParaRPr lang="en-US" sz="760" dirty="0"/>
          </a:p>
        </p:txBody>
      </p:sp>
      <p:sp>
        <p:nvSpPr>
          <p:cNvPr id="27" name="Text 25"/>
          <p:cNvSpPr txBox="1"/>
          <p:nvPr/>
        </p:nvSpPr>
        <p:spPr>
          <a:xfrm>
            <a:off x="6793992" y="220827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automatic ageing or chasing</a:t>
            </a:r>
            <a:endParaRPr lang="en-US" sz="760" dirty="0"/>
          </a:p>
        </p:txBody>
      </p:sp>
      <p:sp>
        <p:nvSpPr>
          <p:cNvPr id="28" name="Shape 26"/>
          <p:cNvSpPr/>
          <p:nvPr/>
        </p:nvSpPr>
        <p:spPr>
          <a:xfrm>
            <a:off x="411480" y="2505456"/>
            <a:ext cx="11338560" cy="297180"/>
          </a:xfrm>
          <a:prstGeom prst="rect">
            <a:avLst/>
          </a:prstGeom>
          <a:solidFill>
            <a:srgbClr val="FFFFFF"/>
          </a:solidFill>
          <a:ln w="6350">
            <a:solidFill>
              <a:srgbClr val="D4DAE2"/>
            </a:solidFill>
            <a:prstDash val="solid"/>
          </a:ln>
        </p:spPr>
      </p:sp>
      <p:sp>
        <p:nvSpPr>
          <p:cNvPr id="29" name="Text 27"/>
          <p:cNvSpPr txBox="1"/>
          <p:nvPr/>
        </p:nvSpPr>
        <p:spPr>
          <a:xfrm>
            <a:off x="484632" y="250545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Handoff contract</a:t>
            </a:r>
            <a:endParaRPr lang="en-US" sz="760" dirty="0"/>
          </a:p>
        </p:txBody>
      </p:sp>
      <p:sp>
        <p:nvSpPr>
          <p:cNvPr id="30" name="Text 28"/>
          <p:cNvSpPr txBox="1"/>
          <p:nvPr/>
        </p:nvSpPr>
        <p:spPr>
          <a:xfrm>
            <a:off x="3685032" y="250545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 one-page Triage Outcome Record</a:t>
            </a:r>
            <a:endParaRPr lang="en-US" sz="760" dirty="0"/>
          </a:p>
        </p:txBody>
      </p:sp>
      <p:sp>
        <p:nvSpPr>
          <p:cNvPr id="31" name="Text 29"/>
          <p:cNvSpPr txBox="1"/>
          <p:nvPr/>
        </p:nvSpPr>
        <p:spPr>
          <a:xfrm>
            <a:off x="6793992" y="250545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Produced by hand, so quality varies</a:t>
            </a:r>
            <a:endParaRPr lang="en-US" sz="760" dirty="0"/>
          </a:p>
        </p:txBody>
      </p:sp>
      <p:sp>
        <p:nvSpPr>
          <p:cNvPr id="32" name="Shape 30"/>
          <p:cNvSpPr/>
          <p:nvPr/>
        </p:nvSpPr>
        <p:spPr>
          <a:xfrm>
            <a:off x="411480" y="2802636"/>
            <a:ext cx="11338560" cy="297180"/>
          </a:xfrm>
          <a:prstGeom prst="rect">
            <a:avLst/>
          </a:prstGeom>
          <a:solidFill>
            <a:srgbClr val="F4F7FA"/>
          </a:solidFill>
          <a:ln w="6350">
            <a:solidFill>
              <a:srgbClr val="D4DAE2"/>
            </a:solidFill>
            <a:prstDash val="solid"/>
          </a:ln>
        </p:spPr>
      </p:sp>
      <p:sp>
        <p:nvSpPr>
          <p:cNvPr id="33" name="Text 31"/>
          <p:cNvSpPr txBox="1"/>
          <p:nvPr/>
        </p:nvSpPr>
        <p:spPr>
          <a:xfrm>
            <a:off x="484632" y="280263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Tiering assistant</a:t>
            </a:r>
            <a:endParaRPr lang="en-US" sz="760" dirty="0"/>
          </a:p>
        </p:txBody>
      </p:sp>
      <p:sp>
        <p:nvSpPr>
          <p:cNvPr id="34" name="Text 32"/>
          <p:cNvSpPr txBox="1"/>
          <p:nvPr/>
        </p:nvSpPr>
        <p:spPr>
          <a:xfrm>
            <a:off x="3685032" y="280263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lead scores seven determinants on a sheet</a:t>
            </a:r>
            <a:endParaRPr lang="en-US" sz="760" dirty="0"/>
          </a:p>
        </p:txBody>
      </p:sp>
      <p:sp>
        <p:nvSpPr>
          <p:cNvPr id="35" name="Text 33"/>
          <p:cNvSpPr txBox="1"/>
          <p:nvPr/>
        </p:nvSpPr>
        <p:spPr>
          <a:xfrm>
            <a:off x="6793992" y="280263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Takes time and varies between leads until calibrated</a:t>
            </a:r>
            <a:endParaRPr lang="en-US" sz="760" dirty="0"/>
          </a:p>
        </p:txBody>
      </p:sp>
      <p:sp>
        <p:nvSpPr>
          <p:cNvPr id="36" name="Shape 34"/>
          <p:cNvSpPr/>
          <p:nvPr/>
        </p:nvSpPr>
        <p:spPr>
          <a:xfrm>
            <a:off x="411480" y="3099816"/>
            <a:ext cx="11338560" cy="297180"/>
          </a:xfrm>
          <a:prstGeom prst="rect">
            <a:avLst/>
          </a:prstGeom>
          <a:solidFill>
            <a:srgbClr val="FFFFFF"/>
          </a:solidFill>
          <a:ln w="6350">
            <a:solidFill>
              <a:srgbClr val="D4DAE2"/>
            </a:solidFill>
            <a:prstDash val="solid"/>
          </a:ln>
        </p:spPr>
      </p:sp>
      <p:sp>
        <p:nvSpPr>
          <p:cNvPr id="37" name="Text 35"/>
          <p:cNvSpPr txBox="1"/>
          <p:nvPr/>
        </p:nvSpPr>
        <p:spPr>
          <a:xfrm>
            <a:off x="484632" y="309981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Pattern matcher</a:t>
            </a:r>
            <a:endParaRPr lang="en-US" sz="760" dirty="0"/>
          </a:p>
        </p:txBody>
      </p:sp>
      <p:sp>
        <p:nvSpPr>
          <p:cNvPr id="38" name="Text 36"/>
          <p:cNvSpPr txBox="1"/>
          <p:nvPr/>
        </p:nvSpPr>
        <p:spPr>
          <a:xfrm>
            <a:off x="3685032" y="309981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lead's recall, supported by a pattern log</a:t>
            </a:r>
            <a:endParaRPr lang="en-US" sz="760" dirty="0"/>
          </a:p>
        </p:txBody>
      </p:sp>
      <p:sp>
        <p:nvSpPr>
          <p:cNvPr id="39" name="Text 37"/>
          <p:cNvSpPr txBox="1"/>
          <p:nvPr/>
        </p:nvSpPr>
        <p:spPr>
          <a:xfrm>
            <a:off x="6793992" y="309981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Weak for leads new to the domain</a:t>
            </a:r>
            <a:endParaRPr lang="en-US" sz="760" dirty="0"/>
          </a:p>
        </p:txBody>
      </p:sp>
      <p:sp>
        <p:nvSpPr>
          <p:cNvPr id="40" name="Shape 38"/>
          <p:cNvSpPr/>
          <p:nvPr/>
        </p:nvSpPr>
        <p:spPr>
          <a:xfrm>
            <a:off x="411480" y="3396996"/>
            <a:ext cx="11338560" cy="297180"/>
          </a:xfrm>
          <a:prstGeom prst="rect">
            <a:avLst/>
          </a:prstGeom>
          <a:solidFill>
            <a:srgbClr val="F4F7FA"/>
          </a:solidFill>
          <a:ln w="6350">
            <a:solidFill>
              <a:srgbClr val="D4DAE2"/>
            </a:solidFill>
            <a:prstDash val="solid"/>
          </a:ln>
        </p:spPr>
      </p:sp>
      <p:sp>
        <p:nvSpPr>
          <p:cNvPr id="41" name="Text 39"/>
          <p:cNvSpPr txBox="1"/>
          <p:nvPr/>
        </p:nvSpPr>
        <p:spPr>
          <a:xfrm>
            <a:off x="484632" y="339699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Scope derivation</a:t>
            </a:r>
            <a:endParaRPr lang="en-US" sz="760" dirty="0"/>
          </a:p>
        </p:txBody>
      </p:sp>
      <p:sp>
        <p:nvSpPr>
          <p:cNvPr id="42" name="Text 40"/>
          <p:cNvSpPr txBox="1"/>
          <p:nvPr/>
        </p:nvSpPr>
        <p:spPr>
          <a:xfrm>
            <a:off x="3685032" y="339699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 scope checklist per pattern in the guide</a:t>
            </a:r>
            <a:endParaRPr lang="en-US" sz="760" dirty="0"/>
          </a:p>
        </p:txBody>
      </p:sp>
      <p:sp>
        <p:nvSpPr>
          <p:cNvPr id="43" name="Text 41"/>
          <p:cNvSpPr txBox="1"/>
          <p:nvPr/>
        </p:nvSpPr>
        <p:spPr>
          <a:xfrm>
            <a:off x="6793992" y="339699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automatic team notification</a:t>
            </a:r>
            <a:endParaRPr lang="en-US" sz="760" dirty="0"/>
          </a:p>
        </p:txBody>
      </p:sp>
      <p:sp>
        <p:nvSpPr>
          <p:cNvPr id="44" name="Shape 42"/>
          <p:cNvSpPr/>
          <p:nvPr/>
        </p:nvSpPr>
        <p:spPr>
          <a:xfrm>
            <a:off x="411480" y="3694176"/>
            <a:ext cx="11338560" cy="297180"/>
          </a:xfrm>
          <a:prstGeom prst="rect">
            <a:avLst/>
          </a:prstGeom>
          <a:solidFill>
            <a:srgbClr val="FFFFFF"/>
          </a:solidFill>
          <a:ln w="6350">
            <a:solidFill>
              <a:srgbClr val="D4DAE2"/>
            </a:solidFill>
            <a:prstDash val="solid"/>
          </a:ln>
        </p:spPr>
      </p:sp>
      <p:sp>
        <p:nvSpPr>
          <p:cNvPr id="45" name="Text 43"/>
          <p:cNvSpPr txBox="1"/>
          <p:nvPr/>
        </p:nvSpPr>
        <p:spPr>
          <a:xfrm>
            <a:off x="484632" y="369417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Gate engine</a:t>
            </a:r>
            <a:endParaRPr lang="en-US" sz="760" dirty="0"/>
          </a:p>
        </p:txBody>
      </p:sp>
      <p:sp>
        <p:nvSpPr>
          <p:cNvPr id="46" name="Text 44"/>
          <p:cNvSpPr txBox="1"/>
          <p:nvPr/>
        </p:nvSpPr>
        <p:spPr>
          <a:xfrm>
            <a:off x="3685032" y="369417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 gate checklist walked by lead and pool</a:t>
            </a:r>
            <a:endParaRPr lang="en-US" sz="760" dirty="0"/>
          </a:p>
        </p:txBody>
      </p:sp>
      <p:sp>
        <p:nvSpPr>
          <p:cNvPr id="47" name="Text 45"/>
          <p:cNvSpPr txBox="1"/>
          <p:nvPr/>
        </p:nvSpPr>
        <p:spPr>
          <a:xfrm>
            <a:off x="6793992" y="369417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Gates can be waived under pressure — the central risk</a:t>
            </a:r>
            <a:endParaRPr lang="en-US" sz="760" dirty="0"/>
          </a:p>
        </p:txBody>
      </p:sp>
      <p:sp>
        <p:nvSpPr>
          <p:cNvPr id="48" name="Shape 46"/>
          <p:cNvSpPr/>
          <p:nvPr/>
        </p:nvSpPr>
        <p:spPr>
          <a:xfrm>
            <a:off x="411480" y="3991356"/>
            <a:ext cx="11338560" cy="297180"/>
          </a:xfrm>
          <a:prstGeom prst="rect">
            <a:avLst/>
          </a:prstGeom>
          <a:solidFill>
            <a:srgbClr val="F4F7FA"/>
          </a:solidFill>
          <a:ln w="6350">
            <a:solidFill>
              <a:srgbClr val="D4DAE2"/>
            </a:solidFill>
            <a:prstDash val="solid"/>
          </a:ln>
        </p:spPr>
      </p:sp>
      <p:sp>
        <p:nvSpPr>
          <p:cNvPr id="49" name="Text 47"/>
          <p:cNvSpPr txBox="1"/>
          <p:nvPr/>
        </p:nvSpPr>
        <p:spPr>
          <a:xfrm>
            <a:off x="484632" y="399135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Partner cockpit</a:t>
            </a:r>
            <a:endParaRPr lang="en-US" sz="760" dirty="0"/>
          </a:p>
        </p:txBody>
      </p:sp>
      <p:sp>
        <p:nvSpPr>
          <p:cNvPr id="50" name="Text 48"/>
          <p:cNvSpPr txBox="1"/>
          <p:nvPr/>
        </p:nvSpPr>
        <p:spPr>
          <a:xfrm>
            <a:off x="3685032" y="399135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One shared tracker, maintained by hand</a:t>
            </a:r>
            <a:endParaRPr lang="en-US" sz="760" dirty="0"/>
          </a:p>
        </p:txBody>
      </p:sp>
      <p:sp>
        <p:nvSpPr>
          <p:cNvPr id="51" name="Text 49"/>
          <p:cNvSpPr txBox="1"/>
          <p:nvPr/>
        </p:nvSpPr>
        <p:spPr>
          <a:xfrm>
            <a:off x="6793992" y="399135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 live state for the partner; they still have to ask</a:t>
            </a:r>
            <a:endParaRPr lang="en-US" sz="760" dirty="0"/>
          </a:p>
        </p:txBody>
      </p:sp>
      <p:sp>
        <p:nvSpPr>
          <p:cNvPr id="52" name="Shape 50"/>
          <p:cNvSpPr/>
          <p:nvPr/>
        </p:nvSpPr>
        <p:spPr>
          <a:xfrm>
            <a:off x="411480" y="4288536"/>
            <a:ext cx="11338560" cy="297180"/>
          </a:xfrm>
          <a:prstGeom prst="rect">
            <a:avLst/>
          </a:prstGeom>
          <a:solidFill>
            <a:srgbClr val="FFFFFF"/>
          </a:solidFill>
          <a:ln w="6350">
            <a:solidFill>
              <a:srgbClr val="D4DAE2"/>
            </a:solidFill>
            <a:prstDash val="solid"/>
          </a:ln>
        </p:spPr>
      </p:sp>
      <p:sp>
        <p:nvSpPr>
          <p:cNvPr id="53" name="Text 51"/>
          <p:cNvSpPr txBox="1"/>
          <p:nvPr/>
        </p:nvSpPr>
        <p:spPr>
          <a:xfrm>
            <a:off x="484632" y="428853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Artefact generation</a:t>
            </a:r>
            <a:endParaRPr lang="en-US" sz="760" dirty="0"/>
          </a:p>
        </p:txBody>
      </p:sp>
      <p:sp>
        <p:nvSpPr>
          <p:cNvPr id="54" name="Text 52"/>
          <p:cNvSpPr txBox="1"/>
          <p:nvPr/>
        </p:nvSpPr>
        <p:spPr>
          <a:xfrm>
            <a:off x="3685032" y="428853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Templates the onboarding resource fills in</a:t>
            </a:r>
            <a:endParaRPr lang="en-US" sz="760" dirty="0"/>
          </a:p>
        </p:txBody>
      </p:sp>
      <p:sp>
        <p:nvSpPr>
          <p:cNvPr id="55" name="Text 53"/>
          <p:cNvSpPr txBox="1"/>
          <p:nvPr/>
        </p:nvSpPr>
        <p:spPr>
          <a:xfrm>
            <a:off x="6793992" y="428853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clerical load remains almost entirely</a:t>
            </a:r>
            <a:endParaRPr lang="en-US" sz="760" dirty="0"/>
          </a:p>
        </p:txBody>
      </p:sp>
      <p:sp>
        <p:nvSpPr>
          <p:cNvPr id="56" name="Shape 54"/>
          <p:cNvSpPr/>
          <p:nvPr/>
        </p:nvSpPr>
        <p:spPr>
          <a:xfrm>
            <a:off x="411480" y="4585716"/>
            <a:ext cx="11338560" cy="297180"/>
          </a:xfrm>
          <a:prstGeom prst="rect">
            <a:avLst/>
          </a:prstGeom>
          <a:solidFill>
            <a:srgbClr val="F4F7FA"/>
          </a:solidFill>
          <a:ln w="6350">
            <a:solidFill>
              <a:srgbClr val="D4DAE2"/>
            </a:solidFill>
            <a:prstDash val="solid"/>
          </a:ln>
        </p:spPr>
      </p:sp>
      <p:sp>
        <p:nvSpPr>
          <p:cNvPr id="57" name="Text 55"/>
          <p:cNvSpPr txBox="1"/>
          <p:nvPr/>
        </p:nvSpPr>
        <p:spPr>
          <a:xfrm>
            <a:off x="484632" y="458571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Clinic triage</a:t>
            </a:r>
            <a:endParaRPr lang="en-US" sz="760" dirty="0"/>
          </a:p>
        </p:txBody>
      </p:sp>
      <p:sp>
        <p:nvSpPr>
          <p:cNvPr id="58" name="Text 56"/>
          <p:cNvSpPr txBox="1"/>
          <p:nvPr/>
        </p:nvSpPr>
        <p:spPr>
          <a:xfrm>
            <a:off x="3685032" y="458571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pool's channel plus published office hours</a:t>
            </a:r>
            <a:endParaRPr lang="en-US" sz="760" dirty="0"/>
          </a:p>
        </p:txBody>
      </p:sp>
      <p:sp>
        <p:nvSpPr>
          <p:cNvPr id="59" name="Text 57"/>
          <p:cNvSpPr txBox="1"/>
          <p:nvPr/>
        </p:nvSpPr>
        <p:spPr>
          <a:xfrm>
            <a:off x="6793992" y="458571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Works well — a human process by design</a:t>
            </a:r>
            <a:endParaRPr lang="en-US" sz="760" dirty="0"/>
          </a:p>
        </p:txBody>
      </p:sp>
      <p:sp>
        <p:nvSpPr>
          <p:cNvPr id="60" name="Shape 58"/>
          <p:cNvSpPr/>
          <p:nvPr/>
        </p:nvSpPr>
        <p:spPr>
          <a:xfrm>
            <a:off x="411480" y="4882896"/>
            <a:ext cx="11338560" cy="297180"/>
          </a:xfrm>
          <a:prstGeom prst="rect">
            <a:avLst/>
          </a:prstGeom>
          <a:solidFill>
            <a:srgbClr val="FFFFFF"/>
          </a:solidFill>
          <a:ln w="6350">
            <a:solidFill>
              <a:srgbClr val="D4DAE2"/>
            </a:solidFill>
            <a:prstDash val="solid"/>
          </a:ln>
        </p:spPr>
      </p:sp>
      <p:sp>
        <p:nvSpPr>
          <p:cNvPr id="61" name="Text 59"/>
          <p:cNvSpPr txBox="1"/>
          <p:nvPr/>
        </p:nvSpPr>
        <p:spPr>
          <a:xfrm>
            <a:off x="484632" y="488289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Pattern catalogue</a:t>
            </a:r>
            <a:endParaRPr lang="en-US" sz="760" dirty="0"/>
          </a:p>
        </p:txBody>
      </p:sp>
      <p:sp>
        <p:nvSpPr>
          <p:cNvPr id="62" name="Text 60"/>
          <p:cNvSpPr txBox="1"/>
          <p:nvPr/>
        </p:nvSpPr>
        <p:spPr>
          <a:xfrm>
            <a:off x="3685032" y="488289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A pattern log: one page after each Dedicated delivery</a:t>
            </a:r>
            <a:endParaRPr lang="en-US" sz="760" dirty="0"/>
          </a:p>
        </p:txBody>
      </p:sp>
      <p:sp>
        <p:nvSpPr>
          <p:cNvPr id="63" name="Text 61"/>
          <p:cNvSpPr txBox="1"/>
          <p:nvPr/>
        </p:nvSpPr>
        <p:spPr>
          <a:xfrm>
            <a:off x="6793992" y="488289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Not executable; informs judgement rather than driving provisioning</a:t>
            </a:r>
            <a:endParaRPr lang="en-US" sz="760" dirty="0"/>
          </a:p>
        </p:txBody>
      </p:sp>
      <p:sp>
        <p:nvSpPr>
          <p:cNvPr id="64" name="Shape 62"/>
          <p:cNvSpPr/>
          <p:nvPr/>
        </p:nvSpPr>
        <p:spPr>
          <a:xfrm>
            <a:off x="411480" y="5180076"/>
            <a:ext cx="11338560" cy="297180"/>
          </a:xfrm>
          <a:prstGeom prst="rect">
            <a:avLst/>
          </a:prstGeom>
          <a:solidFill>
            <a:srgbClr val="F4F7FA"/>
          </a:solidFill>
          <a:ln w="6350">
            <a:solidFill>
              <a:srgbClr val="D4DAE2"/>
            </a:solidFill>
            <a:prstDash val="solid"/>
          </a:ln>
        </p:spPr>
      </p:sp>
      <p:sp>
        <p:nvSpPr>
          <p:cNvPr id="65" name="Text 63"/>
          <p:cNvSpPr txBox="1"/>
          <p:nvPr/>
        </p:nvSpPr>
        <p:spPr>
          <a:xfrm>
            <a:off x="484632" y="5180076"/>
            <a:ext cx="3054096" cy="297180"/>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Drift detector</a:t>
            </a:r>
            <a:endParaRPr lang="en-US" sz="760" dirty="0"/>
          </a:p>
        </p:txBody>
      </p:sp>
      <p:sp>
        <p:nvSpPr>
          <p:cNvPr id="66" name="Text 64"/>
          <p:cNvSpPr txBox="1"/>
          <p:nvPr/>
        </p:nvSpPr>
        <p:spPr>
          <a:xfrm>
            <a:off x="3685032" y="5180076"/>
            <a:ext cx="296265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Fortnightly review against the trigger list</a:t>
            </a:r>
            <a:endParaRPr lang="en-US" sz="760" dirty="0"/>
          </a:p>
        </p:txBody>
      </p:sp>
      <p:sp>
        <p:nvSpPr>
          <p:cNvPr id="67" name="Text 65"/>
          <p:cNvSpPr txBox="1"/>
          <p:nvPr/>
        </p:nvSpPr>
        <p:spPr>
          <a:xfrm>
            <a:off x="6793992" y="5180076"/>
            <a:ext cx="4882896" cy="297180"/>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Detection delayed by up to two weeks</a:t>
            </a:r>
            <a:endParaRPr lang="en-US" sz="760" dirty="0"/>
          </a:p>
        </p:txBody>
      </p:sp>
      <p:sp>
        <p:nvSpPr>
          <p:cNvPr id="68" name="Shape 66"/>
          <p:cNvSpPr/>
          <p:nvPr/>
        </p:nvSpPr>
        <p:spPr>
          <a:xfrm>
            <a:off x="411480" y="5870448"/>
            <a:ext cx="11338560" cy="438912"/>
          </a:xfrm>
          <a:prstGeom prst="roundRect">
            <a:avLst>
              <a:gd name="adj" fmla="val 10417"/>
            </a:avLst>
          </a:prstGeom>
          <a:solidFill>
            <a:srgbClr val="FBF0EB"/>
          </a:solidFill>
          <a:ln w="12700">
            <a:solidFill>
              <a:srgbClr val="A44A2A"/>
            </a:solidFill>
            <a:prstDash val="solid"/>
          </a:ln>
        </p:spPr>
      </p:sp>
      <p:sp>
        <p:nvSpPr>
          <p:cNvPr id="69" name="Text 67"/>
          <p:cNvSpPr txBox="1"/>
          <p:nvPr/>
        </p:nvSpPr>
        <p:spPr>
          <a:xfrm>
            <a:off x="557784" y="587044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Read the right-hand column as the Phase 2 specification in draft. What the manual approach cannot do is a more honest basis for deciding what to build than any design exercise, because it comes from running the model rather than from imagining it. Keep a note of which of these hurt most — that note is the week-12 evidence.</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Triage Guide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The only thing that gets written — and the one week it takes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Preparation</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EIGHT SECTIONS</a:t>
            </a:r>
            <a:endParaRPr lang="en-US" sz="760" dirty="0"/>
          </a:p>
        </p:txBody>
      </p:sp>
      <p:sp>
        <p:nvSpPr>
          <p:cNvPr id="9" name="Shape 7"/>
          <p:cNvSpPr/>
          <p:nvPr/>
        </p:nvSpPr>
        <p:spPr>
          <a:xfrm>
            <a:off x="411480" y="1243584"/>
            <a:ext cx="5532120" cy="658368"/>
          </a:xfrm>
          <a:prstGeom prst="roundRect">
            <a:avLst>
              <a:gd name="adj" fmla="val 5556"/>
            </a:avLst>
          </a:prstGeom>
          <a:solidFill>
            <a:srgbClr val="FFFFFF"/>
          </a:solidFill>
          <a:ln w="11430">
            <a:solidFill>
              <a:srgbClr val="D4DAE2"/>
            </a:solidFill>
            <a:prstDash val="solid"/>
          </a:ln>
        </p:spPr>
      </p:sp>
      <p:sp>
        <p:nvSpPr>
          <p:cNvPr id="10" name="Shape 8"/>
          <p:cNvSpPr/>
          <p:nvPr/>
        </p:nvSpPr>
        <p:spPr>
          <a:xfrm>
            <a:off x="411480" y="1243584"/>
            <a:ext cx="50292" cy="658368"/>
          </a:xfrm>
          <a:prstGeom prst="rect">
            <a:avLst/>
          </a:prstGeom>
          <a:solidFill>
            <a:srgbClr val="0B6E6E"/>
          </a:solidFill>
          <a:ln w="12700">
            <a:solidFill>
              <a:srgbClr val="333333"/>
            </a:solidFill>
            <a:prstDash val="solid"/>
          </a:ln>
        </p:spPr>
      </p:sp>
      <p:sp>
        <p:nvSpPr>
          <p:cNvPr id="11" name="Text 9"/>
          <p:cNvSpPr txBox="1"/>
          <p:nvPr/>
        </p:nvSpPr>
        <p:spPr>
          <a:xfrm>
            <a:off x="576072" y="1316736"/>
            <a:ext cx="5230368"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The tier model</a:t>
            </a:r>
            <a:endParaRPr lang="en-US" sz="940" dirty="0"/>
          </a:p>
        </p:txBody>
      </p:sp>
      <p:sp>
        <p:nvSpPr>
          <p:cNvPr id="12" name="Text 10"/>
          <p:cNvSpPr txBox="1"/>
          <p:nvPr/>
        </p:nvSpPr>
        <p:spPr>
          <a:xfrm>
            <a:off x="576072" y="1517904"/>
            <a:ext cx="5230368" cy="347472"/>
          </a:xfrm>
          <a:prstGeom prst="rect">
            <a:avLst/>
          </a:prstGeom>
          <a:noFill/>
          <a:ln/>
        </p:spPr>
        <p:txBody>
          <a:bodyPr wrap="square" lIns="0" tIns="0" rIns="0" bIns="0" rtlCol="0" anchor="ctr"/>
          <a:lstStyle/>
          <a:p>
            <a:pPr indent="0" marL="0">
              <a:lnSpc>
                <a:spcPts val="900"/>
              </a:lnSpc>
              <a:buNone/>
            </a:pPr>
            <a:r>
              <a:rPr lang="en-US" sz="750" dirty="0">
                <a:solidFill>
                  <a:srgbClr val="55606E"/>
                </a:solidFill>
                <a:latin typeface="Calibri" pitchFamily="34" charset="0"/>
                <a:ea typeface="Calibri" pitchFamily="34" charset="-122"/>
                <a:cs typeface="Calibri" pitchFamily="34" charset="-120"/>
              </a:rPr>
              <a:t>Lean, Lean+, Dedicated and Factory — a page each. What ECM provides, what the partner owns, what the engagement feels like.</a:t>
            </a:r>
            <a:endParaRPr lang="en-US" sz="750" dirty="0"/>
          </a:p>
        </p:txBody>
      </p:sp>
      <p:sp>
        <p:nvSpPr>
          <p:cNvPr id="13" name="Shape 11"/>
          <p:cNvSpPr/>
          <p:nvPr/>
        </p:nvSpPr>
        <p:spPr>
          <a:xfrm>
            <a:off x="6217920" y="1243584"/>
            <a:ext cx="5532120" cy="658368"/>
          </a:xfrm>
          <a:prstGeom prst="roundRect">
            <a:avLst>
              <a:gd name="adj" fmla="val 5556"/>
            </a:avLst>
          </a:prstGeom>
          <a:solidFill>
            <a:srgbClr val="FFFFFF"/>
          </a:solidFill>
          <a:ln w="11430">
            <a:solidFill>
              <a:srgbClr val="D4DAE2"/>
            </a:solidFill>
            <a:prstDash val="solid"/>
          </a:ln>
        </p:spPr>
      </p:sp>
      <p:sp>
        <p:nvSpPr>
          <p:cNvPr id="14" name="Shape 12"/>
          <p:cNvSpPr/>
          <p:nvPr/>
        </p:nvSpPr>
        <p:spPr>
          <a:xfrm>
            <a:off x="6217920" y="1243584"/>
            <a:ext cx="50292" cy="658368"/>
          </a:xfrm>
          <a:prstGeom prst="rect">
            <a:avLst/>
          </a:prstGeom>
          <a:solidFill>
            <a:srgbClr val="9A6410"/>
          </a:solidFill>
          <a:ln w="12700">
            <a:solidFill>
              <a:srgbClr val="333333"/>
            </a:solidFill>
            <a:prstDash val="solid"/>
          </a:ln>
        </p:spPr>
      </p:sp>
      <p:sp>
        <p:nvSpPr>
          <p:cNvPr id="15" name="Text 13"/>
          <p:cNvSpPr txBox="1"/>
          <p:nvPr/>
        </p:nvSpPr>
        <p:spPr>
          <a:xfrm>
            <a:off x="6382512" y="1316736"/>
            <a:ext cx="5230368"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The seven determinants</a:t>
            </a:r>
            <a:endParaRPr lang="en-US" sz="940" dirty="0"/>
          </a:p>
        </p:txBody>
      </p:sp>
      <p:sp>
        <p:nvSpPr>
          <p:cNvPr id="16" name="Text 14"/>
          <p:cNvSpPr txBox="1"/>
          <p:nvPr/>
        </p:nvSpPr>
        <p:spPr>
          <a:xfrm>
            <a:off x="6382512" y="1517904"/>
            <a:ext cx="5230368" cy="347472"/>
          </a:xfrm>
          <a:prstGeom prst="rect">
            <a:avLst/>
          </a:prstGeom>
          <a:noFill/>
          <a:ln/>
        </p:spPr>
        <p:txBody>
          <a:bodyPr wrap="square" lIns="0" tIns="0" rIns="0" bIns="0" rtlCol="0" anchor="ctr"/>
          <a:lstStyle/>
          <a:p>
            <a:pPr indent="0" marL="0">
              <a:lnSpc>
                <a:spcPts val="900"/>
              </a:lnSpc>
              <a:buNone/>
            </a:pPr>
            <a:r>
              <a:rPr lang="en-US" sz="750" dirty="0">
                <a:solidFill>
                  <a:srgbClr val="55606E"/>
                </a:solidFill>
                <a:latin typeface="Calibri" pitchFamily="34" charset="0"/>
                <a:ea typeface="Calibri" pitchFamily="34" charset="-122"/>
                <a:cs typeface="Calibri" pitchFamily="34" charset="-120"/>
              </a:rPr>
              <a:t>D1 to D7 with the 0–3 scoring descriptors. Pattern precedent, trust posture, regulatory impact, classification engine change, data model, volume, breadth.</a:t>
            </a:r>
            <a:endParaRPr lang="en-US" sz="750" dirty="0"/>
          </a:p>
        </p:txBody>
      </p:sp>
      <p:sp>
        <p:nvSpPr>
          <p:cNvPr id="17" name="Shape 15"/>
          <p:cNvSpPr/>
          <p:nvPr/>
        </p:nvSpPr>
        <p:spPr>
          <a:xfrm>
            <a:off x="411480" y="1975104"/>
            <a:ext cx="5532120" cy="658368"/>
          </a:xfrm>
          <a:prstGeom prst="roundRect">
            <a:avLst>
              <a:gd name="adj" fmla="val 5556"/>
            </a:avLst>
          </a:prstGeom>
          <a:solidFill>
            <a:srgbClr val="FFFFFF"/>
          </a:solidFill>
          <a:ln w="11430">
            <a:solidFill>
              <a:srgbClr val="D4DAE2"/>
            </a:solidFill>
            <a:prstDash val="solid"/>
          </a:ln>
        </p:spPr>
      </p:sp>
      <p:sp>
        <p:nvSpPr>
          <p:cNvPr id="18" name="Shape 16"/>
          <p:cNvSpPr/>
          <p:nvPr/>
        </p:nvSpPr>
        <p:spPr>
          <a:xfrm>
            <a:off x="411480" y="1975104"/>
            <a:ext cx="50292" cy="658368"/>
          </a:xfrm>
          <a:prstGeom prst="rect">
            <a:avLst/>
          </a:prstGeom>
          <a:solidFill>
            <a:srgbClr val="A44A2A"/>
          </a:solidFill>
          <a:ln w="12700">
            <a:solidFill>
              <a:srgbClr val="333333"/>
            </a:solidFill>
            <a:prstDash val="solid"/>
          </a:ln>
        </p:spPr>
      </p:sp>
      <p:sp>
        <p:nvSpPr>
          <p:cNvPr id="19" name="Text 17"/>
          <p:cNvSpPr txBox="1"/>
          <p:nvPr/>
        </p:nvSpPr>
        <p:spPr>
          <a:xfrm>
            <a:off x="576072" y="2048256"/>
            <a:ext cx="5230368"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Thresholds and overrides</a:t>
            </a:r>
            <a:endParaRPr lang="en-US" sz="940" dirty="0"/>
          </a:p>
        </p:txBody>
      </p:sp>
      <p:sp>
        <p:nvSpPr>
          <p:cNvPr id="20" name="Text 18"/>
          <p:cNvSpPr txBox="1"/>
          <p:nvPr/>
        </p:nvSpPr>
        <p:spPr>
          <a:xfrm>
            <a:off x="576072" y="2249424"/>
            <a:ext cx="5230368" cy="347472"/>
          </a:xfrm>
          <a:prstGeom prst="rect">
            <a:avLst/>
          </a:prstGeom>
          <a:noFill/>
          <a:ln/>
        </p:spPr>
        <p:txBody>
          <a:bodyPr wrap="square" lIns="0" tIns="0" rIns="0" bIns="0" rtlCol="0" anchor="ctr"/>
          <a:lstStyle/>
          <a:p>
            <a:pPr indent="0" marL="0">
              <a:lnSpc>
                <a:spcPts val="900"/>
              </a:lnSpc>
              <a:buNone/>
            </a:pPr>
            <a:r>
              <a:rPr lang="en-US" sz="750" dirty="0">
                <a:solidFill>
                  <a:srgbClr val="55606E"/>
                </a:solidFill>
                <a:latin typeface="Calibri" pitchFamily="34" charset="0"/>
                <a:ea typeface="Calibri" pitchFamily="34" charset="-122"/>
                <a:cs typeface="Calibri" pitchFamily="34" charset="-120"/>
              </a:rPr>
              <a:t>0–5 Lean, 6–11 Lean+, 12–21 Dedicated. Plus the hard overrides that force a tier regardless of score.</a:t>
            </a:r>
            <a:endParaRPr lang="en-US" sz="750" dirty="0"/>
          </a:p>
        </p:txBody>
      </p:sp>
      <p:sp>
        <p:nvSpPr>
          <p:cNvPr id="21" name="Shape 19"/>
          <p:cNvSpPr/>
          <p:nvPr/>
        </p:nvSpPr>
        <p:spPr>
          <a:xfrm>
            <a:off x="6217920" y="1975104"/>
            <a:ext cx="5532120" cy="658368"/>
          </a:xfrm>
          <a:prstGeom prst="roundRect">
            <a:avLst>
              <a:gd name="adj" fmla="val 5556"/>
            </a:avLst>
          </a:prstGeom>
          <a:solidFill>
            <a:srgbClr val="FFFFFF"/>
          </a:solidFill>
          <a:ln w="11430">
            <a:solidFill>
              <a:srgbClr val="D4DAE2"/>
            </a:solidFill>
            <a:prstDash val="solid"/>
          </a:ln>
        </p:spPr>
      </p:sp>
      <p:sp>
        <p:nvSpPr>
          <p:cNvPr id="22" name="Shape 20"/>
          <p:cNvSpPr/>
          <p:nvPr/>
        </p:nvSpPr>
        <p:spPr>
          <a:xfrm>
            <a:off x="6217920" y="1975104"/>
            <a:ext cx="50292" cy="658368"/>
          </a:xfrm>
          <a:prstGeom prst="rect">
            <a:avLst/>
          </a:prstGeom>
          <a:solidFill>
            <a:srgbClr val="15304F"/>
          </a:solidFill>
          <a:ln w="12700">
            <a:solidFill>
              <a:srgbClr val="333333"/>
            </a:solidFill>
            <a:prstDash val="solid"/>
          </a:ln>
        </p:spPr>
      </p:sp>
      <p:sp>
        <p:nvSpPr>
          <p:cNvPr id="23" name="Text 21"/>
          <p:cNvSpPr txBox="1"/>
          <p:nvPr/>
        </p:nvSpPr>
        <p:spPr>
          <a:xfrm>
            <a:off x="6382512" y="2048256"/>
            <a:ext cx="5230368"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The question set</a:t>
            </a:r>
            <a:endParaRPr lang="en-US" sz="940" dirty="0"/>
          </a:p>
        </p:txBody>
      </p:sp>
      <p:sp>
        <p:nvSpPr>
          <p:cNvPr id="24" name="Text 22"/>
          <p:cNvSpPr txBox="1"/>
          <p:nvPr/>
        </p:nvSpPr>
        <p:spPr>
          <a:xfrm>
            <a:off x="6382512" y="2249424"/>
            <a:ext cx="5230368" cy="347472"/>
          </a:xfrm>
          <a:prstGeom prst="rect">
            <a:avLst/>
          </a:prstGeom>
          <a:noFill/>
          <a:ln/>
        </p:spPr>
        <p:txBody>
          <a:bodyPr wrap="square" lIns="0" tIns="0" rIns="0" bIns="0" rtlCol="0" anchor="ctr"/>
          <a:lstStyle/>
          <a:p>
            <a:pPr indent="0" marL="0">
              <a:lnSpc>
                <a:spcPts val="900"/>
              </a:lnSpc>
              <a:buNone/>
            </a:pPr>
            <a:r>
              <a:rPr lang="en-US" sz="750" dirty="0">
                <a:solidFill>
                  <a:srgbClr val="55606E"/>
                </a:solidFill>
                <a:latin typeface="Calibri" pitchFamily="34" charset="0"/>
                <a:ea typeface="Calibri" pitchFamily="34" charset="-122"/>
                <a:cs typeface="Calibri" pitchFamily="34" charset="-120"/>
              </a:rPr>
              <a:t>Fifty-four data points by category, each with why it is required, what it blocks, what a good answer looks like, and diagnostic sub-questions.</a:t>
            </a:r>
            <a:endParaRPr lang="en-US" sz="750" dirty="0"/>
          </a:p>
        </p:txBody>
      </p:sp>
      <p:sp>
        <p:nvSpPr>
          <p:cNvPr id="25" name="Shape 23"/>
          <p:cNvSpPr/>
          <p:nvPr/>
        </p:nvSpPr>
        <p:spPr>
          <a:xfrm>
            <a:off x="411480" y="2706624"/>
            <a:ext cx="5532120" cy="658368"/>
          </a:xfrm>
          <a:prstGeom prst="roundRect">
            <a:avLst>
              <a:gd name="adj" fmla="val 5556"/>
            </a:avLst>
          </a:prstGeom>
          <a:solidFill>
            <a:srgbClr val="FFFFFF"/>
          </a:solidFill>
          <a:ln w="11430">
            <a:solidFill>
              <a:srgbClr val="D4DAE2"/>
            </a:solidFill>
            <a:prstDash val="solid"/>
          </a:ln>
        </p:spPr>
      </p:sp>
      <p:sp>
        <p:nvSpPr>
          <p:cNvPr id="26" name="Shape 24"/>
          <p:cNvSpPr/>
          <p:nvPr/>
        </p:nvSpPr>
        <p:spPr>
          <a:xfrm>
            <a:off x="411480" y="2706624"/>
            <a:ext cx="50292" cy="658368"/>
          </a:xfrm>
          <a:prstGeom prst="rect">
            <a:avLst/>
          </a:prstGeom>
          <a:solidFill>
            <a:srgbClr val="5B4A72"/>
          </a:solidFill>
          <a:ln w="12700">
            <a:solidFill>
              <a:srgbClr val="333333"/>
            </a:solidFill>
            <a:prstDash val="solid"/>
          </a:ln>
        </p:spPr>
      </p:sp>
      <p:sp>
        <p:nvSpPr>
          <p:cNvPr id="27" name="Text 25"/>
          <p:cNvSpPr txBox="1"/>
          <p:nvPr/>
        </p:nvSpPr>
        <p:spPr>
          <a:xfrm>
            <a:off x="576072" y="2779776"/>
            <a:ext cx="5230368"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Completeness bands</a:t>
            </a:r>
            <a:endParaRPr lang="en-US" sz="940" dirty="0"/>
          </a:p>
        </p:txBody>
      </p:sp>
      <p:sp>
        <p:nvSpPr>
          <p:cNvPr id="28" name="Text 26"/>
          <p:cNvSpPr txBox="1"/>
          <p:nvPr/>
        </p:nvSpPr>
        <p:spPr>
          <a:xfrm>
            <a:off x="576072" y="2980944"/>
            <a:ext cx="5230368" cy="347472"/>
          </a:xfrm>
          <a:prstGeom prst="rect">
            <a:avLst/>
          </a:prstGeom>
          <a:noFill/>
          <a:ln/>
        </p:spPr>
        <p:txBody>
          <a:bodyPr wrap="square" lIns="0" tIns="0" rIns="0" bIns="0" rtlCol="0" anchor="ctr"/>
          <a:lstStyle/>
          <a:p>
            <a:pPr indent="0" marL="0">
              <a:lnSpc>
                <a:spcPts val="900"/>
              </a:lnSpc>
              <a:buNone/>
            </a:pPr>
            <a:r>
              <a:rPr lang="en-US" sz="750" dirty="0">
                <a:solidFill>
                  <a:srgbClr val="55606E"/>
                </a:solidFill>
                <a:latin typeface="Calibri" pitchFamily="34" charset="0"/>
                <a:ea typeface="Calibri" pitchFamily="34" charset="-122"/>
                <a:cs typeface="Calibri" pitchFamily="34" charset="-120"/>
              </a:rPr>
              <a:t>Which items must be answered to accept the intake; which may be dated gaps against the design, provision and certify gates.</a:t>
            </a:r>
            <a:endParaRPr lang="en-US" sz="750" dirty="0"/>
          </a:p>
        </p:txBody>
      </p:sp>
      <p:sp>
        <p:nvSpPr>
          <p:cNvPr id="29" name="Shape 27"/>
          <p:cNvSpPr/>
          <p:nvPr/>
        </p:nvSpPr>
        <p:spPr>
          <a:xfrm>
            <a:off x="6217920" y="2706624"/>
            <a:ext cx="5532120" cy="658368"/>
          </a:xfrm>
          <a:prstGeom prst="roundRect">
            <a:avLst>
              <a:gd name="adj" fmla="val 5556"/>
            </a:avLst>
          </a:prstGeom>
          <a:solidFill>
            <a:srgbClr val="FFFFFF"/>
          </a:solidFill>
          <a:ln w="11430">
            <a:solidFill>
              <a:srgbClr val="D4DAE2"/>
            </a:solidFill>
            <a:prstDash val="solid"/>
          </a:ln>
        </p:spPr>
      </p:sp>
      <p:sp>
        <p:nvSpPr>
          <p:cNvPr id="30" name="Shape 28"/>
          <p:cNvSpPr/>
          <p:nvPr/>
        </p:nvSpPr>
        <p:spPr>
          <a:xfrm>
            <a:off x="6217920" y="2706624"/>
            <a:ext cx="50292" cy="658368"/>
          </a:xfrm>
          <a:prstGeom prst="rect">
            <a:avLst/>
          </a:prstGeom>
          <a:solidFill>
            <a:srgbClr val="0B6E6E"/>
          </a:solidFill>
          <a:ln w="12700">
            <a:solidFill>
              <a:srgbClr val="333333"/>
            </a:solidFill>
            <a:prstDash val="solid"/>
          </a:ln>
        </p:spPr>
      </p:sp>
      <p:sp>
        <p:nvSpPr>
          <p:cNvPr id="31" name="Text 29"/>
          <p:cNvSpPr txBox="1"/>
          <p:nvPr/>
        </p:nvSpPr>
        <p:spPr>
          <a:xfrm>
            <a:off x="6382512" y="2779776"/>
            <a:ext cx="5230368"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Guardrails by tier</a:t>
            </a:r>
            <a:endParaRPr lang="en-US" sz="940" dirty="0"/>
          </a:p>
        </p:txBody>
      </p:sp>
      <p:sp>
        <p:nvSpPr>
          <p:cNvPr id="32" name="Text 30"/>
          <p:cNvSpPr txBox="1"/>
          <p:nvPr/>
        </p:nvSpPr>
        <p:spPr>
          <a:xfrm>
            <a:off x="6382512" y="2980944"/>
            <a:ext cx="5230368" cy="347472"/>
          </a:xfrm>
          <a:prstGeom prst="rect">
            <a:avLst/>
          </a:prstGeom>
          <a:noFill/>
          <a:ln/>
        </p:spPr>
        <p:txBody>
          <a:bodyPr wrap="square" lIns="0" tIns="0" rIns="0" bIns="0" rtlCol="0" anchor="ctr"/>
          <a:lstStyle/>
          <a:p>
            <a:pPr indent="0" marL="0">
              <a:lnSpc>
                <a:spcPts val="900"/>
              </a:lnSpc>
              <a:buNone/>
            </a:pPr>
            <a:r>
              <a:rPr lang="en-US" sz="750" dirty="0">
                <a:solidFill>
                  <a:srgbClr val="55606E"/>
                </a:solidFill>
                <a:latin typeface="Calibri" pitchFamily="34" charset="0"/>
                <a:ea typeface="Calibri" pitchFamily="34" charset="-122"/>
                <a:cs typeface="Calibri" pitchFamily="34" charset="-120"/>
              </a:rPr>
              <a:t>The universal invariants and the tier-specific rules, written as things the lead applies and records.</a:t>
            </a:r>
            <a:endParaRPr lang="en-US" sz="750" dirty="0"/>
          </a:p>
        </p:txBody>
      </p:sp>
      <p:sp>
        <p:nvSpPr>
          <p:cNvPr id="33" name="Shape 31"/>
          <p:cNvSpPr/>
          <p:nvPr/>
        </p:nvSpPr>
        <p:spPr>
          <a:xfrm>
            <a:off x="411480" y="3438144"/>
            <a:ext cx="5532120" cy="658368"/>
          </a:xfrm>
          <a:prstGeom prst="roundRect">
            <a:avLst>
              <a:gd name="adj" fmla="val 5556"/>
            </a:avLst>
          </a:prstGeom>
          <a:solidFill>
            <a:srgbClr val="FFFFFF"/>
          </a:solidFill>
          <a:ln w="11430">
            <a:solidFill>
              <a:srgbClr val="D4DAE2"/>
            </a:solidFill>
            <a:prstDash val="solid"/>
          </a:ln>
        </p:spPr>
      </p:sp>
      <p:sp>
        <p:nvSpPr>
          <p:cNvPr id="34" name="Shape 32"/>
          <p:cNvSpPr/>
          <p:nvPr/>
        </p:nvSpPr>
        <p:spPr>
          <a:xfrm>
            <a:off x="411480" y="3438144"/>
            <a:ext cx="50292" cy="658368"/>
          </a:xfrm>
          <a:prstGeom prst="rect">
            <a:avLst/>
          </a:prstGeom>
          <a:solidFill>
            <a:srgbClr val="9A6410"/>
          </a:solidFill>
          <a:ln w="12700">
            <a:solidFill>
              <a:srgbClr val="333333"/>
            </a:solidFill>
            <a:prstDash val="solid"/>
          </a:ln>
        </p:spPr>
      </p:sp>
      <p:sp>
        <p:nvSpPr>
          <p:cNvPr id="35" name="Text 33"/>
          <p:cNvSpPr txBox="1"/>
          <p:nvPr/>
        </p:nvSpPr>
        <p:spPr>
          <a:xfrm>
            <a:off x="576072" y="3511296"/>
            <a:ext cx="5230368"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Escalation triggers</a:t>
            </a:r>
            <a:endParaRPr lang="en-US" sz="940" dirty="0"/>
          </a:p>
        </p:txBody>
      </p:sp>
      <p:sp>
        <p:nvSpPr>
          <p:cNvPr id="36" name="Text 34"/>
          <p:cNvSpPr txBox="1"/>
          <p:nvPr/>
        </p:nvSpPr>
        <p:spPr>
          <a:xfrm>
            <a:off x="576072" y="3712464"/>
            <a:ext cx="5230368" cy="347472"/>
          </a:xfrm>
          <a:prstGeom prst="rect">
            <a:avLst/>
          </a:prstGeom>
          <a:noFill/>
          <a:ln/>
        </p:spPr>
        <p:txBody>
          <a:bodyPr wrap="square" lIns="0" tIns="0" rIns="0" bIns="0" rtlCol="0" anchor="ctr"/>
          <a:lstStyle/>
          <a:p>
            <a:pPr indent="0" marL="0">
              <a:lnSpc>
                <a:spcPts val="900"/>
              </a:lnSpc>
              <a:buNone/>
            </a:pPr>
            <a:r>
              <a:rPr lang="en-US" sz="750" dirty="0">
                <a:solidFill>
                  <a:srgbClr val="55606E"/>
                </a:solidFill>
                <a:latin typeface="Calibri" pitchFamily="34" charset="0"/>
                <a:ea typeface="Calibri" pitchFamily="34" charset="-122"/>
                <a:cs typeface="Calibri" pitchFamily="34" charset="-120"/>
              </a:rPr>
              <a:t>The conditions that re-tier an intake, and who the lead notifies.</a:t>
            </a:r>
            <a:endParaRPr lang="en-US" sz="750" dirty="0"/>
          </a:p>
        </p:txBody>
      </p:sp>
      <p:sp>
        <p:nvSpPr>
          <p:cNvPr id="37" name="Shape 35"/>
          <p:cNvSpPr/>
          <p:nvPr/>
        </p:nvSpPr>
        <p:spPr>
          <a:xfrm>
            <a:off x="6217920" y="3438144"/>
            <a:ext cx="5532120" cy="658368"/>
          </a:xfrm>
          <a:prstGeom prst="roundRect">
            <a:avLst>
              <a:gd name="adj" fmla="val 5556"/>
            </a:avLst>
          </a:prstGeom>
          <a:solidFill>
            <a:srgbClr val="FFFFFF"/>
          </a:solidFill>
          <a:ln w="11430">
            <a:solidFill>
              <a:srgbClr val="D4DAE2"/>
            </a:solidFill>
            <a:prstDash val="solid"/>
          </a:ln>
        </p:spPr>
      </p:sp>
      <p:sp>
        <p:nvSpPr>
          <p:cNvPr id="38" name="Shape 36"/>
          <p:cNvSpPr/>
          <p:nvPr/>
        </p:nvSpPr>
        <p:spPr>
          <a:xfrm>
            <a:off x="6217920" y="3438144"/>
            <a:ext cx="50292" cy="658368"/>
          </a:xfrm>
          <a:prstGeom prst="rect">
            <a:avLst/>
          </a:prstGeom>
          <a:solidFill>
            <a:srgbClr val="A44A2A"/>
          </a:solidFill>
          <a:ln w="12700">
            <a:solidFill>
              <a:srgbClr val="333333"/>
            </a:solidFill>
            <a:prstDash val="solid"/>
          </a:ln>
        </p:spPr>
      </p:sp>
      <p:sp>
        <p:nvSpPr>
          <p:cNvPr id="39" name="Text 37"/>
          <p:cNvSpPr txBox="1"/>
          <p:nvPr/>
        </p:nvSpPr>
        <p:spPr>
          <a:xfrm>
            <a:off x="6382512" y="3511296"/>
            <a:ext cx="5230368" cy="201168"/>
          </a:xfrm>
          <a:prstGeom prst="rect">
            <a:avLst/>
          </a:prstGeom>
          <a:noFill/>
          <a:ln/>
        </p:spPr>
        <p:txBody>
          <a:bodyPr wrap="square" lIns="0" tIns="0" rIns="0" bIns="0" rtlCol="0" anchor="ctr"/>
          <a:lstStyle/>
          <a:p>
            <a:pPr indent="0" marL="0">
              <a:buNone/>
            </a:pPr>
            <a:r>
              <a:rPr lang="en-US" sz="940" b="1" dirty="0">
                <a:solidFill>
                  <a:srgbClr val="1B2432"/>
                </a:solidFill>
                <a:latin typeface="Calibri" pitchFamily="34" charset="0"/>
                <a:ea typeface="Calibri" pitchFamily="34" charset="-122"/>
                <a:cs typeface="Calibri" pitchFamily="34" charset="-120"/>
              </a:rPr>
              <a:t>Templates</a:t>
            </a:r>
            <a:endParaRPr lang="en-US" sz="940" dirty="0"/>
          </a:p>
        </p:txBody>
      </p:sp>
      <p:sp>
        <p:nvSpPr>
          <p:cNvPr id="40" name="Text 38"/>
          <p:cNvSpPr txBox="1"/>
          <p:nvPr/>
        </p:nvSpPr>
        <p:spPr>
          <a:xfrm>
            <a:off x="6382512" y="3712464"/>
            <a:ext cx="5230368" cy="347472"/>
          </a:xfrm>
          <a:prstGeom prst="rect">
            <a:avLst/>
          </a:prstGeom>
          <a:noFill/>
          <a:ln/>
        </p:spPr>
        <p:txBody>
          <a:bodyPr wrap="square" lIns="0" tIns="0" rIns="0" bIns="0" rtlCol="0" anchor="ctr"/>
          <a:lstStyle/>
          <a:p>
            <a:pPr indent="0" marL="0">
              <a:lnSpc>
                <a:spcPts val="900"/>
              </a:lnSpc>
              <a:buNone/>
            </a:pPr>
            <a:r>
              <a:rPr lang="en-US" sz="750" dirty="0">
                <a:solidFill>
                  <a:srgbClr val="55606E"/>
                </a:solidFill>
                <a:latin typeface="Calibri" pitchFamily="34" charset="0"/>
                <a:ea typeface="Calibri" pitchFamily="34" charset="-122"/>
                <a:cs typeface="Calibri" pitchFamily="34" charset="-120"/>
              </a:rPr>
              <a:t>Triage Outcome Record · gaps table · scoring sheet · pattern log page.</a:t>
            </a:r>
            <a:endParaRPr lang="en-US" sz="750" dirty="0"/>
          </a:p>
        </p:txBody>
      </p:sp>
      <p:sp>
        <p:nvSpPr>
          <p:cNvPr id="41" name="Shape 39"/>
          <p:cNvSpPr/>
          <p:nvPr/>
        </p:nvSpPr>
        <p:spPr>
          <a:xfrm>
            <a:off x="411480" y="4206240"/>
            <a:ext cx="11338560" cy="585216"/>
          </a:xfrm>
          <a:prstGeom prst="roundRect">
            <a:avLst>
              <a:gd name="adj" fmla="val 7813"/>
            </a:avLst>
          </a:prstGeom>
          <a:solidFill>
            <a:srgbClr val="E9EEF4"/>
          </a:solidFill>
          <a:ln w="12700">
            <a:solidFill>
              <a:srgbClr val="15304F"/>
            </a:solidFill>
            <a:prstDash val="solid"/>
          </a:ln>
        </p:spPr>
      </p:sp>
      <p:sp>
        <p:nvSpPr>
          <p:cNvPr id="42" name="Text 40"/>
          <p:cNvSpPr txBox="1"/>
          <p:nvPr/>
        </p:nvSpPr>
        <p:spPr>
          <a:xfrm>
            <a:off x="557784" y="4288536"/>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EFFORT: ROUGHLY ONE WEEK OF TWO EXPERIENCED ENGINEERS PLUS A GOVERNANCE ANALYST</a:t>
            </a:r>
            <a:endParaRPr lang="en-US" sz="760" dirty="0"/>
          </a:p>
        </p:txBody>
      </p:sp>
      <p:sp>
        <p:nvSpPr>
          <p:cNvPr id="43" name="Text 41"/>
          <p:cNvSpPr txBox="1"/>
          <p:nvPr/>
        </p:nvSpPr>
        <p:spPr>
          <a:xfrm>
            <a:off x="557784" y="4480560"/>
            <a:ext cx="11045952" cy="219456"/>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Drawing on what they already know. The question set with its reasons is the bulk of it — and it is the same asset the platform would have needed, written once, used immediately, and reused unchanged in Phase 2.</a:t>
            </a:r>
            <a:endParaRPr lang="en-US" sz="900" dirty="0"/>
          </a:p>
        </p:txBody>
      </p:sp>
      <p:sp>
        <p:nvSpPr>
          <p:cNvPr id="44" name="Text 42"/>
          <p:cNvSpPr txBox="1"/>
          <p:nvPr/>
        </p:nvSpPr>
        <p:spPr>
          <a:xfrm>
            <a:off x="411480" y="4956048"/>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QUESTION SET IS THE BULK OF IT — 54 DATA POINTS ACROSS 10 CATEGORIES</a:t>
            </a:r>
            <a:endParaRPr lang="en-US" sz="760" dirty="0"/>
          </a:p>
        </p:txBody>
      </p:sp>
      <p:sp>
        <p:nvSpPr>
          <p:cNvPr id="45" name="Shape 43"/>
          <p:cNvSpPr/>
          <p:nvPr/>
        </p:nvSpPr>
        <p:spPr>
          <a:xfrm>
            <a:off x="411480" y="5157216"/>
            <a:ext cx="1069848" cy="640080"/>
          </a:xfrm>
          <a:prstGeom prst="roundRect">
            <a:avLst>
              <a:gd name="adj" fmla="val 5714"/>
            </a:avLst>
          </a:prstGeom>
          <a:solidFill>
            <a:srgbClr val="F4F7FA"/>
          </a:solidFill>
          <a:ln w="10160">
            <a:solidFill>
              <a:srgbClr val="D4DAE2"/>
            </a:solidFill>
            <a:prstDash val="solid"/>
          </a:ln>
        </p:spPr>
      </p:sp>
      <p:sp>
        <p:nvSpPr>
          <p:cNvPr id="46" name="Text 44"/>
          <p:cNvSpPr txBox="1"/>
          <p:nvPr/>
        </p:nvSpPr>
        <p:spPr>
          <a:xfrm>
            <a:off x="484632"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A</a:t>
            </a:r>
            <a:endParaRPr lang="en-US" sz="760" dirty="0"/>
          </a:p>
        </p:txBody>
      </p:sp>
      <p:sp>
        <p:nvSpPr>
          <p:cNvPr id="47" name="Text 45"/>
          <p:cNvSpPr txBox="1"/>
          <p:nvPr/>
        </p:nvSpPr>
        <p:spPr>
          <a:xfrm>
            <a:off x="1069848"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5</a:t>
            </a:r>
            <a:endParaRPr lang="en-US" sz="1200" dirty="0"/>
          </a:p>
        </p:txBody>
      </p:sp>
      <p:sp>
        <p:nvSpPr>
          <p:cNvPr id="48" name="Text 46"/>
          <p:cNvSpPr txBox="1"/>
          <p:nvPr/>
        </p:nvSpPr>
        <p:spPr>
          <a:xfrm>
            <a:off x="484632"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Business context</a:t>
            </a:r>
            <a:endParaRPr lang="en-US" sz="680" dirty="0"/>
          </a:p>
        </p:txBody>
      </p:sp>
      <p:sp>
        <p:nvSpPr>
          <p:cNvPr id="49" name="Shape 47"/>
          <p:cNvSpPr/>
          <p:nvPr/>
        </p:nvSpPr>
        <p:spPr>
          <a:xfrm>
            <a:off x="1552651" y="5157216"/>
            <a:ext cx="1069848" cy="640080"/>
          </a:xfrm>
          <a:prstGeom prst="roundRect">
            <a:avLst>
              <a:gd name="adj" fmla="val 5714"/>
            </a:avLst>
          </a:prstGeom>
          <a:solidFill>
            <a:srgbClr val="F4F7FA"/>
          </a:solidFill>
          <a:ln w="10160">
            <a:solidFill>
              <a:srgbClr val="D4DAE2"/>
            </a:solidFill>
            <a:prstDash val="solid"/>
          </a:ln>
        </p:spPr>
      </p:sp>
      <p:sp>
        <p:nvSpPr>
          <p:cNvPr id="50" name="Text 48"/>
          <p:cNvSpPr txBox="1"/>
          <p:nvPr/>
        </p:nvSpPr>
        <p:spPr>
          <a:xfrm>
            <a:off x="1625803"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B</a:t>
            </a:r>
            <a:endParaRPr lang="en-US" sz="760" dirty="0"/>
          </a:p>
        </p:txBody>
      </p:sp>
      <p:sp>
        <p:nvSpPr>
          <p:cNvPr id="51" name="Text 49"/>
          <p:cNvSpPr txBox="1"/>
          <p:nvPr/>
        </p:nvSpPr>
        <p:spPr>
          <a:xfrm>
            <a:off x="2211019"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6</a:t>
            </a:r>
            <a:endParaRPr lang="en-US" sz="1200" dirty="0"/>
          </a:p>
        </p:txBody>
      </p:sp>
      <p:sp>
        <p:nvSpPr>
          <p:cNvPr id="52" name="Text 50"/>
          <p:cNvSpPr txBox="1"/>
          <p:nvPr/>
        </p:nvSpPr>
        <p:spPr>
          <a:xfrm>
            <a:off x="1625803"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Application &amp; zone</a:t>
            </a:r>
            <a:endParaRPr lang="en-US" sz="680" dirty="0"/>
          </a:p>
        </p:txBody>
      </p:sp>
      <p:sp>
        <p:nvSpPr>
          <p:cNvPr id="53" name="Shape 51"/>
          <p:cNvSpPr/>
          <p:nvPr/>
        </p:nvSpPr>
        <p:spPr>
          <a:xfrm>
            <a:off x="2693822" y="5157216"/>
            <a:ext cx="1069848" cy="640080"/>
          </a:xfrm>
          <a:prstGeom prst="roundRect">
            <a:avLst>
              <a:gd name="adj" fmla="val 5714"/>
            </a:avLst>
          </a:prstGeom>
          <a:solidFill>
            <a:srgbClr val="F4F7FA"/>
          </a:solidFill>
          <a:ln w="10160">
            <a:solidFill>
              <a:srgbClr val="D4DAE2"/>
            </a:solidFill>
            <a:prstDash val="solid"/>
          </a:ln>
        </p:spPr>
      </p:sp>
      <p:sp>
        <p:nvSpPr>
          <p:cNvPr id="54" name="Text 52"/>
          <p:cNvSpPr txBox="1"/>
          <p:nvPr/>
        </p:nvSpPr>
        <p:spPr>
          <a:xfrm>
            <a:off x="2766974"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C</a:t>
            </a:r>
            <a:endParaRPr lang="en-US" sz="760" dirty="0"/>
          </a:p>
        </p:txBody>
      </p:sp>
      <p:sp>
        <p:nvSpPr>
          <p:cNvPr id="55" name="Text 53"/>
          <p:cNvSpPr txBox="1"/>
          <p:nvPr/>
        </p:nvSpPr>
        <p:spPr>
          <a:xfrm>
            <a:off x="3352190"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8</a:t>
            </a:r>
            <a:endParaRPr lang="en-US" sz="1200" dirty="0"/>
          </a:p>
        </p:txBody>
      </p:sp>
      <p:sp>
        <p:nvSpPr>
          <p:cNvPr id="56" name="Text 54"/>
          <p:cNvSpPr txBox="1"/>
          <p:nvPr/>
        </p:nvSpPr>
        <p:spPr>
          <a:xfrm>
            <a:off x="2766974"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Document inventory</a:t>
            </a:r>
            <a:endParaRPr lang="en-US" sz="680" dirty="0"/>
          </a:p>
        </p:txBody>
      </p:sp>
      <p:sp>
        <p:nvSpPr>
          <p:cNvPr id="57" name="Shape 55"/>
          <p:cNvSpPr/>
          <p:nvPr/>
        </p:nvSpPr>
        <p:spPr>
          <a:xfrm>
            <a:off x="3834994" y="5157216"/>
            <a:ext cx="1069848" cy="640080"/>
          </a:xfrm>
          <a:prstGeom prst="roundRect">
            <a:avLst>
              <a:gd name="adj" fmla="val 5714"/>
            </a:avLst>
          </a:prstGeom>
          <a:solidFill>
            <a:srgbClr val="F4F7FA"/>
          </a:solidFill>
          <a:ln w="10160">
            <a:solidFill>
              <a:srgbClr val="D4DAE2"/>
            </a:solidFill>
            <a:prstDash val="solid"/>
          </a:ln>
        </p:spPr>
      </p:sp>
      <p:sp>
        <p:nvSpPr>
          <p:cNvPr id="58" name="Text 56"/>
          <p:cNvSpPr txBox="1"/>
          <p:nvPr/>
        </p:nvSpPr>
        <p:spPr>
          <a:xfrm>
            <a:off x="3908146"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D</a:t>
            </a:r>
            <a:endParaRPr lang="en-US" sz="760" dirty="0"/>
          </a:p>
        </p:txBody>
      </p:sp>
      <p:sp>
        <p:nvSpPr>
          <p:cNvPr id="59" name="Text 57"/>
          <p:cNvSpPr txBox="1"/>
          <p:nvPr/>
        </p:nvSpPr>
        <p:spPr>
          <a:xfrm>
            <a:off x="4493362"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5</a:t>
            </a:r>
            <a:endParaRPr lang="en-US" sz="1200" dirty="0"/>
          </a:p>
        </p:txBody>
      </p:sp>
      <p:sp>
        <p:nvSpPr>
          <p:cNvPr id="60" name="Text 58"/>
          <p:cNvSpPr txBox="1"/>
          <p:nvPr/>
        </p:nvSpPr>
        <p:spPr>
          <a:xfrm>
            <a:off x="3908146"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Trust &amp; classification</a:t>
            </a:r>
            <a:endParaRPr lang="en-US" sz="680" dirty="0"/>
          </a:p>
        </p:txBody>
      </p:sp>
      <p:sp>
        <p:nvSpPr>
          <p:cNvPr id="61" name="Shape 59"/>
          <p:cNvSpPr/>
          <p:nvPr/>
        </p:nvSpPr>
        <p:spPr>
          <a:xfrm>
            <a:off x="4976165" y="5157216"/>
            <a:ext cx="1069848" cy="640080"/>
          </a:xfrm>
          <a:prstGeom prst="roundRect">
            <a:avLst>
              <a:gd name="adj" fmla="val 5714"/>
            </a:avLst>
          </a:prstGeom>
          <a:solidFill>
            <a:srgbClr val="F4F7FA"/>
          </a:solidFill>
          <a:ln w="10160">
            <a:solidFill>
              <a:srgbClr val="D4DAE2"/>
            </a:solidFill>
            <a:prstDash val="solid"/>
          </a:ln>
        </p:spPr>
      </p:sp>
      <p:sp>
        <p:nvSpPr>
          <p:cNvPr id="62" name="Text 60"/>
          <p:cNvSpPr txBox="1"/>
          <p:nvPr/>
        </p:nvSpPr>
        <p:spPr>
          <a:xfrm>
            <a:off x="5049317"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E</a:t>
            </a:r>
            <a:endParaRPr lang="en-US" sz="760" dirty="0"/>
          </a:p>
        </p:txBody>
      </p:sp>
      <p:sp>
        <p:nvSpPr>
          <p:cNvPr id="63" name="Text 61"/>
          <p:cNvSpPr txBox="1"/>
          <p:nvPr/>
        </p:nvSpPr>
        <p:spPr>
          <a:xfrm>
            <a:off x="5634533"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6</a:t>
            </a:r>
            <a:endParaRPr lang="en-US" sz="1200" dirty="0"/>
          </a:p>
        </p:txBody>
      </p:sp>
      <p:sp>
        <p:nvSpPr>
          <p:cNvPr id="64" name="Text 62"/>
          <p:cNvSpPr txBox="1"/>
          <p:nvPr/>
        </p:nvSpPr>
        <p:spPr>
          <a:xfrm>
            <a:off x="5049317"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Retention &amp; regulatory</a:t>
            </a:r>
            <a:endParaRPr lang="en-US" sz="680" dirty="0"/>
          </a:p>
        </p:txBody>
      </p:sp>
      <p:sp>
        <p:nvSpPr>
          <p:cNvPr id="65" name="Shape 63"/>
          <p:cNvSpPr/>
          <p:nvPr/>
        </p:nvSpPr>
        <p:spPr>
          <a:xfrm>
            <a:off x="6117336" y="5157216"/>
            <a:ext cx="1069848" cy="640080"/>
          </a:xfrm>
          <a:prstGeom prst="roundRect">
            <a:avLst>
              <a:gd name="adj" fmla="val 5714"/>
            </a:avLst>
          </a:prstGeom>
          <a:solidFill>
            <a:srgbClr val="F4F7FA"/>
          </a:solidFill>
          <a:ln w="10160">
            <a:solidFill>
              <a:srgbClr val="D4DAE2"/>
            </a:solidFill>
            <a:prstDash val="solid"/>
          </a:ln>
        </p:spPr>
      </p:sp>
      <p:sp>
        <p:nvSpPr>
          <p:cNvPr id="66" name="Text 64"/>
          <p:cNvSpPr txBox="1"/>
          <p:nvPr/>
        </p:nvSpPr>
        <p:spPr>
          <a:xfrm>
            <a:off x="6190488"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F</a:t>
            </a:r>
            <a:endParaRPr lang="en-US" sz="760" dirty="0"/>
          </a:p>
        </p:txBody>
      </p:sp>
      <p:sp>
        <p:nvSpPr>
          <p:cNvPr id="67" name="Text 65"/>
          <p:cNvSpPr txBox="1"/>
          <p:nvPr/>
        </p:nvSpPr>
        <p:spPr>
          <a:xfrm>
            <a:off x="6775704"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7</a:t>
            </a:r>
            <a:endParaRPr lang="en-US" sz="1200" dirty="0"/>
          </a:p>
        </p:txBody>
      </p:sp>
      <p:sp>
        <p:nvSpPr>
          <p:cNvPr id="68" name="Text 66"/>
          <p:cNvSpPr txBox="1"/>
          <p:nvPr/>
        </p:nvSpPr>
        <p:spPr>
          <a:xfrm>
            <a:off x="6190488"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Channel &amp; integration</a:t>
            </a:r>
            <a:endParaRPr lang="en-US" sz="680" dirty="0"/>
          </a:p>
        </p:txBody>
      </p:sp>
      <p:sp>
        <p:nvSpPr>
          <p:cNvPr id="69" name="Shape 67"/>
          <p:cNvSpPr/>
          <p:nvPr/>
        </p:nvSpPr>
        <p:spPr>
          <a:xfrm>
            <a:off x="7258507" y="5157216"/>
            <a:ext cx="1069848" cy="640080"/>
          </a:xfrm>
          <a:prstGeom prst="roundRect">
            <a:avLst>
              <a:gd name="adj" fmla="val 5714"/>
            </a:avLst>
          </a:prstGeom>
          <a:solidFill>
            <a:srgbClr val="F4F7FA"/>
          </a:solidFill>
          <a:ln w="10160">
            <a:solidFill>
              <a:srgbClr val="D4DAE2"/>
            </a:solidFill>
            <a:prstDash val="solid"/>
          </a:ln>
        </p:spPr>
      </p:sp>
      <p:sp>
        <p:nvSpPr>
          <p:cNvPr id="70" name="Text 68"/>
          <p:cNvSpPr txBox="1"/>
          <p:nvPr/>
        </p:nvSpPr>
        <p:spPr>
          <a:xfrm>
            <a:off x="7331659"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G</a:t>
            </a:r>
            <a:endParaRPr lang="en-US" sz="760" dirty="0"/>
          </a:p>
        </p:txBody>
      </p:sp>
      <p:sp>
        <p:nvSpPr>
          <p:cNvPr id="71" name="Text 69"/>
          <p:cNvSpPr txBox="1"/>
          <p:nvPr/>
        </p:nvSpPr>
        <p:spPr>
          <a:xfrm>
            <a:off x="7916875"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5</a:t>
            </a:r>
            <a:endParaRPr lang="en-US" sz="1200" dirty="0"/>
          </a:p>
        </p:txBody>
      </p:sp>
      <p:sp>
        <p:nvSpPr>
          <p:cNvPr id="72" name="Text 70"/>
          <p:cNvSpPr txBox="1"/>
          <p:nvPr/>
        </p:nvSpPr>
        <p:spPr>
          <a:xfrm>
            <a:off x="7331659"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Metadata &amp; retrieval</a:t>
            </a:r>
            <a:endParaRPr lang="en-US" sz="680" dirty="0"/>
          </a:p>
        </p:txBody>
      </p:sp>
      <p:sp>
        <p:nvSpPr>
          <p:cNvPr id="73" name="Shape 71"/>
          <p:cNvSpPr/>
          <p:nvPr/>
        </p:nvSpPr>
        <p:spPr>
          <a:xfrm>
            <a:off x="8399678" y="5157216"/>
            <a:ext cx="1069848" cy="640080"/>
          </a:xfrm>
          <a:prstGeom prst="roundRect">
            <a:avLst>
              <a:gd name="adj" fmla="val 5714"/>
            </a:avLst>
          </a:prstGeom>
          <a:solidFill>
            <a:srgbClr val="F4F7FA"/>
          </a:solidFill>
          <a:ln w="10160">
            <a:solidFill>
              <a:srgbClr val="D4DAE2"/>
            </a:solidFill>
            <a:prstDash val="solid"/>
          </a:ln>
        </p:spPr>
      </p:sp>
      <p:sp>
        <p:nvSpPr>
          <p:cNvPr id="74" name="Text 72"/>
          <p:cNvSpPr txBox="1"/>
          <p:nvPr/>
        </p:nvSpPr>
        <p:spPr>
          <a:xfrm>
            <a:off x="8472830"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H</a:t>
            </a:r>
            <a:endParaRPr lang="en-US" sz="760" dirty="0"/>
          </a:p>
        </p:txBody>
      </p:sp>
      <p:sp>
        <p:nvSpPr>
          <p:cNvPr id="75" name="Text 73"/>
          <p:cNvSpPr txBox="1"/>
          <p:nvPr/>
        </p:nvSpPr>
        <p:spPr>
          <a:xfrm>
            <a:off x="9058046"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4</a:t>
            </a:r>
            <a:endParaRPr lang="en-US" sz="1200" dirty="0"/>
          </a:p>
        </p:txBody>
      </p:sp>
      <p:sp>
        <p:nvSpPr>
          <p:cNvPr id="76" name="Text 74"/>
          <p:cNvSpPr txBox="1"/>
          <p:nvPr/>
        </p:nvSpPr>
        <p:spPr>
          <a:xfrm>
            <a:off x="8472830"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Security &amp; users</a:t>
            </a:r>
            <a:endParaRPr lang="en-US" sz="680" dirty="0"/>
          </a:p>
        </p:txBody>
      </p:sp>
      <p:sp>
        <p:nvSpPr>
          <p:cNvPr id="77" name="Shape 75"/>
          <p:cNvSpPr/>
          <p:nvPr/>
        </p:nvSpPr>
        <p:spPr>
          <a:xfrm>
            <a:off x="9540850" y="5157216"/>
            <a:ext cx="1069848" cy="640080"/>
          </a:xfrm>
          <a:prstGeom prst="roundRect">
            <a:avLst>
              <a:gd name="adj" fmla="val 5714"/>
            </a:avLst>
          </a:prstGeom>
          <a:solidFill>
            <a:srgbClr val="F4F7FA"/>
          </a:solidFill>
          <a:ln w="10160">
            <a:solidFill>
              <a:srgbClr val="D4DAE2"/>
            </a:solidFill>
            <a:prstDash val="solid"/>
          </a:ln>
        </p:spPr>
      </p:sp>
      <p:sp>
        <p:nvSpPr>
          <p:cNvPr id="78" name="Text 76"/>
          <p:cNvSpPr txBox="1"/>
          <p:nvPr/>
        </p:nvSpPr>
        <p:spPr>
          <a:xfrm>
            <a:off x="9614002"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I</a:t>
            </a:r>
            <a:endParaRPr lang="en-US" sz="760" dirty="0"/>
          </a:p>
        </p:txBody>
      </p:sp>
      <p:sp>
        <p:nvSpPr>
          <p:cNvPr id="79" name="Text 77"/>
          <p:cNvSpPr txBox="1"/>
          <p:nvPr/>
        </p:nvSpPr>
        <p:spPr>
          <a:xfrm>
            <a:off x="10199218"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4</a:t>
            </a:r>
            <a:endParaRPr lang="en-US" sz="1200" dirty="0"/>
          </a:p>
        </p:txBody>
      </p:sp>
      <p:sp>
        <p:nvSpPr>
          <p:cNvPr id="80" name="Text 78"/>
          <p:cNvSpPr txBox="1"/>
          <p:nvPr/>
        </p:nvSpPr>
        <p:spPr>
          <a:xfrm>
            <a:off x="9614002"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Environments &amp; cutover</a:t>
            </a:r>
            <a:endParaRPr lang="en-US" sz="680" dirty="0"/>
          </a:p>
        </p:txBody>
      </p:sp>
      <p:sp>
        <p:nvSpPr>
          <p:cNvPr id="81" name="Shape 79"/>
          <p:cNvSpPr/>
          <p:nvPr/>
        </p:nvSpPr>
        <p:spPr>
          <a:xfrm>
            <a:off x="10682021" y="5157216"/>
            <a:ext cx="1069848" cy="640080"/>
          </a:xfrm>
          <a:prstGeom prst="roundRect">
            <a:avLst>
              <a:gd name="adj" fmla="val 5714"/>
            </a:avLst>
          </a:prstGeom>
          <a:solidFill>
            <a:srgbClr val="F4F7FA"/>
          </a:solidFill>
          <a:ln w="10160">
            <a:solidFill>
              <a:srgbClr val="D4DAE2"/>
            </a:solidFill>
            <a:prstDash val="solid"/>
          </a:ln>
        </p:spPr>
      </p:sp>
      <p:sp>
        <p:nvSpPr>
          <p:cNvPr id="82" name="Text 80"/>
          <p:cNvSpPr txBox="1"/>
          <p:nvPr/>
        </p:nvSpPr>
        <p:spPr>
          <a:xfrm>
            <a:off x="10755173" y="5212080"/>
            <a:ext cx="274320" cy="164592"/>
          </a:xfrm>
          <a:prstGeom prst="rect">
            <a:avLst/>
          </a:prstGeom>
          <a:noFill/>
          <a:ln/>
        </p:spPr>
        <p:txBody>
          <a:bodyPr wrap="square" lIns="0" tIns="0" rIns="0" bIns="0" rtlCol="0" anchor="ctr"/>
          <a:lstStyle/>
          <a:p>
            <a:pPr indent="0" marL="0">
              <a:buNone/>
            </a:pPr>
            <a:r>
              <a:rPr lang="en-US" sz="760" b="1" dirty="0">
                <a:solidFill>
                  <a:srgbClr val="15304F"/>
                </a:solidFill>
                <a:latin typeface="Calibri" pitchFamily="34" charset="0"/>
                <a:ea typeface="Calibri" pitchFamily="34" charset="-122"/>
                <a:cs typeface="Calibri" pitchFamily="34" charset="-120"/>
              </a:rPr>
              <a:t>J</a:t>
            </a:r>
            <a:endParaRPr lang="en-US" sz="760" dirty="0"/>
          </a:p>
        </p:txBody>
      </p:sp>
      <p:sp>
        <p:nvSpPr>
          <p:cNvPr id="83" name="Text 81"/>
          <p:cNvSpPr txBox="1"/>
          <p:nvPr/>
        </p:nvSpPr>
        <p:spPr>
          <a:xfrm>
            <a:off x="11340389" y="5193792"/>
            <a:ext cx="347472" cy="201168"/>
          </a:xfrm>
          <a:prstGeom prst="rect">
            <a:avLst/>
          </a:prstGeom>
          <a:noFill/>
          <a:ln/>
        </p:spPr>
        <p:txBody>
          <a:bodyPr wrap="square" lIns="0" tIns="0" rIns="0" bIns="0" rtlCol="0" anchor="ctr"/>
          <a:lstStyle/>
          <a:p>
            <a:pPr algn="r" indent="0" marL="0">
              <a:buNone/>
            </a:pPr>
            <a:r>
              <a:rPr lang="en-US" sz="1200" b="1" dirty="0">
                <a:solidFill>
                  <a:srgbClr val="A44A2A"/>
                </a:solidFill>
                <a:latin typeface="Cambria" pitchFamily="34" charset="0"/>
                <a:ea typeface="Cambria" pitchFamily="34" charset="-122"/>
                <a:cs typeface="Cambria" pitchFamily="34" charset="-120"/>
              </a:rPr>
              <a:t>4</a:t>
            </a:r>
            <a:endParaRPr lang="en-US" sz="1200" dirty="0"/>
          </a:p>
        </p:txBody>
      </p:sp>
      <p:sp>
        <p:nvSpPr>
          <p:cNvPr id="84" name="Text 82"/>
          <p:cNvSpPr txBox="1"/>
          <p:nvPr/>
        </p:nvSpPr>
        <p:spPr>
          <a:xfrm>
            <a:off x="10755173" y="5413248"/>
            <a:ext cx="923544" cy="329184"/>
          </a:xfrm>
          <a:prstGeom prst="rect">
            <a:avLst/>
          </a:prstGeom>
          <a:noFill/>
          <a:ln/>
        </p:spPr>
        <p:txBody>
          <a:bodyPr wrap="square" lIns="0" tIns="0" rIns="0" bIns="0" rtlCol="0" anchor="ctr"/>
          <a:lstStyle/>
          <a:p>
            <a:pPr indent="0" marL="0">
              <a:lnSpc>
                <a:spcPts val="800"/>
              </a:lnSpc>
              <a:buNone/>
            </a:pPr>
            <a:r>
              <a:rPr lang="en-US" sz="680" dirty="0">
                <a:solidFill>
                  <a:srgbClr val="1B2432"/>
                </a:solidFill>
                <a:latin typeface="Calibri" pitchFamily="34" charset="0"/>
                <a:ea typeface="Calibri" pitchFamily="34" charset="-122"/>
                <a:cs typeface="Calibri" pitchFamily="34" charset="-120"/>
              </a:rPr>
              <a:t>Support &amp; ownership</a:t>
            </a:r>
            <a:endParaRPr lang="en-US" sz="680" dirty="0"/>
          </a:p>
        </p:txBody>
      </p:sp>
      <p:sp>
        <p:nvSpPr>
          <p:cNvPr id="85" name="Shape 83"/>
          <p:cNvSpPr/>
          <p:nvPr/>
        </p:nvSpPr>
        <p:spPr>
          <a:xfrm>
            <a:off x="411480" y="5961888"/>
            <a:ext cx="11338560" cy="438912"/>
          </a:xfrm>
          <a:prstGeom prst="roundRect">
            <a:avLst>
              <a:gd name="adj" fmla="val 10417"/>
            </a:avLst>
          </a:prstGeom>
          <a:solidFill>
            <a:srgbClr val="F4F7FA"/>
          </a:solidFill>
          <a:ln w="9525">
            <a:solidFill>
              <a:srgbClr val="D4DAE2"/>
            </a:solidFill>
            <a:prstDash val="solid"/>
          </a:ln>
        </p:spPr>
      </p:sp>
      <p:sp>
        <p:nvSpPr>
          <p:cNvPr id="86" name="Text 84"/>
          <p:cNvSpPr txBox="1"/>
          <p:nvPr/>
        </p:nvSpPr>
        <p:spPr>
          <a:xfrm>
            <a:off x="557784" y="596188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Each entry carries the question in partner language, why it is required, what it blocks named as a specific gate, what a good answer looks like, diagnostic sub-questions for a partner who does not know, and which patterns make it applicable — so irrelevant questions are never asked.</a:t>
            </a:r>
            <a:endParaRPr lang="en-US" sz="8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deeper triage conversation</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Where most of the Phase 1 benefit comes from — a change of purpose, not just of length</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new triage</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TWO SESSIONS, NOT ONE</a:t>
            </a:r>
            <a:endParaRPr lang="en-US" sz="760" dirty="0"/>
          </a:p>
        </p:txBody>
      </p:sp>
      <p:sp>
        <p:nvSpPr>
          <p:cNvPr id="9" name="Shape 7"/>
          <p:cNvSpPr/>
          <p:nvPr/>
        </p:nvSpPr>
        <p:spPr>
          <a:xfrm>
            <a:off x="411480" y="1243584"/>
            <a:ext cx="2752344" cy="1115568"/>
          </a:xfrm>
          <a:prstGeom prst="roundRect">
            <a:avLst>
              <a:gd name="adj" fmla="val 4098"/>
            </a:avLst>
          </a:prstGeom>
          <a:solidFill>
            <a:srgbClr val="F4F7FA"/>
          </a:solidFill>
          <a:ln w="15240">
            <a:solidFill>
              <a:srgbClr val="7C8798"/>
            </a:solidFill>
            <a:prstDash val="solid"/>
          </a:ln>
        </p:spPr>
      </p:sp>
      <p:sp>
        <p:nvSpPr>
          <p:cNvPr id="10" name="Text 8"/>
          <p:cNvSpPr txBox="1"/>
          <p:nvPr/>
        </p:nvSpPr>
        <p:spPr>
          <a:xfrm>
            <a:off x="502920" y="1307592"/>
            <a:ext cx="2569464" cy="182880"/>
          </a:xfrm>
          <a:prstGeom prst="rect">
            <a:avLst/>
          </a:prstGeom>
          <a:noFill/>
          <a:ln/>
        </p:spPr>
        <p:txBody>
          <a:bodyPr wrap="square" lIns="0" tIns="0" rIns="0" bIns="0" rtlCol="0" anchor="ctr"/>
          <a:lstStyle/>
          <a:p>
            <a:pPr indent="0" marL="0">
              <a:buNone/>
            </a:pPr>
            <a:r>
              <a:rPr lang="en-US" sz="720" b="1" spc="80" kern="0" dirty="0">
                <a:solidFill>
                  <a:srgbClr val="7C8798"/>
                </a:solidFill>
                <a:latin typeface="Calibri" pitchFamily="34" charset="0"/>
                <a:ea typeface="Calibri" pitchFamily="34" charset="-122"/>
                <a:cs typeface="Calibri" pitchFamily="34" charset="-120"/>
              </a:rPr>
              <a:t>BEFORE</a:t>
            </a:r>
            <a:endParaRPr lang="en-US" sz="720" dirty="0"/>
          </a:p>
        </p:txBody>
      </p:sp>
      <p:sp>
        <p:nvSpPr>
          <p:cNvPr id="11" name="Text 9"/>
          <p:cNvSpPr txBox="1"/>
          <p:nvPr/>
        </p:nvSpPr>
        <p:spPr>
          <a:xfrm>
            <a:off x="502920" y="1481328"/>
            <a:ext cx="2569464" cy="420624"/>
          </a:xfrm>
          <a:prstGeom prst="rect">
            <a:avLst/>
          </a:prstGeom>
          <a:noFill/>
          <a:ln/>
        </p:spPr>
        <p:txBody>
          <a:bodyPr wrap="square" lIns="0" tIns="0" rIns="0" bIns="0" rtlCol="0" anchor="t"/>
          <a:lstStyle/>
          <a:p>
            <a:pPr indent="0" marL="0">
              <a:lnSpc>
                <a:spcPts val="1250"/>
              </a:lnSpc>
              <a:buNone/>
            </a:pPr>
            <a:r>
              <a:rPr lang="en-US" sz="1050" b="1" dirty="0">
                <a:solidFill>
                  <a:srgbClr val="1B2432"/>
                </a:solidFill>
                <a:latin typeface="Calibri" pitchFamily="34" charset="0"/>
                <a:ea typeface="Calibri" pitchFamily="34" charset="-122"/>
                <a:cs typeface="Calibri" pitchFamily="34" charset="-120"/>
              </a:rPr>
              <a:t>Pre-read issued</a:t>
            </a:r>
            <a:endParaRPr lang="en-US" sz="1050" dirty="0"/>
          </a:p>
        </p:txBody>
      </p:sp>
      <p:sp>
        <p:nvSpPr>
          <p:cNvPr id="12" name="Text 10"/>
          <p:cNvSpPr txBox="1"/>
          <p:nvPr/>
        </p:nvSpPr>
        <p:spPr>
          <a:xfrm>
            <a:off x="502920" y="1865376"/>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The partner receives the list of what will be asked and why, so they arrive able to answer rather than discovering the questions live</a:t>
            </a:r>
            <a:endParaRPr lang="en-US" sz="720" dirty="0"/>
          </a:p>
        </p:txBody>
      </p:sp>
      <p:sp>
        <p:nvSpPr>
          <p:cNvPr id="13" name="Text 11"/>
          <p:cNvSpPr txBox="1"/>
          <p:nvPr/>
        </p:nvSpPr>
        <p:spPr>
          <a:xfrm>
            <a:off x="3145536" y="1655064"/>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14" name="Shape 12"/>
          <p:cNvSpPr/>
          <p:nvPr/>
        </p:nvSpPr>
        <p:spPr>
          <a:xfrm>
            <a:off x="3273552" y="1243584"/>
            <a:ext cx="2752344" cy="1115568"/>
          </a:xfrm>
          <a:prstGeom prst="roundRect">
            <a:avLst>
              <a:gd name="adj" fmla="val 4098"/>
            </a:avLst>
          </a:prstGeom>
          <a:solidFill>
            <a:srgbClr val="FBF0EB"/>
          </a:solidFill>
          <a:ln w="15240">
            <a:solidFill>
              <a:srgbClr val="A44A2A"/>
            </a:solidFill>
            <a:prstDash val="solid"/>
          </a:ln>
        </p:spPr>
      </p:sp>
      <p:sp>
        <p:nvSpPr>
          <p:cNvPr id="15" name="Text 13"/>
          <p:cNvSpPr txBox="1"/>
          <p:nvPr/>
        </p:nvSpPr>
        <p:spPr>
          <a:xfrm>
            <a:off x="3364992" y="1307592"/>
            <a:ext cx="2569464" cy="182880"/>
          </a:xfrm>
          <a:prstGeom prst="rect">
            <a:avLst/>
          </a:prstGeom>
          <a:noFill/>
          <a:ln/>
        </p:spPr>
        <p:txBody>
          <a:bodyPr wrap="square" lIns="0" tIns="0" rIns="0" bIns="0" rtlCol="0" anchor="ctr"/>
          <a:lstStyle/>
          <a:p>
            <a:pPr indent="0" marL="0">
              <a:buNone/>
            </a:pPr>
            <a:r>
              <a:rPr lang="en-US" sz="720" b="1" spc="80" kern="0" dirty="0">
                <a:solidFill>
                  <a:srgbClr val="A44A2A"/>
                </a:solidFill>
                <a:latin typeface="Calibri" pitchFamily="34" charset="0"/>
                <a:ea typeface="Calibri" pitchFamily="34" charset="-122"/>
                <a:cs typeface="Calibri" pitchFamily="34" charset="-120"/>
              </a:rPr>
              <a:t>SESSION 1 · 90 MIN</a:t>
            </a:r>
            <a:endParaRPr lang="en-US" sz="720" dirty="0"/>
          </a:p>
        </p:txBody>
      </p:sp>
      <p:sp>
        <p:nvSpPr>
          <p:cNvPr id="16" name="Text 14"/>
          <p:cNvSpPr txBox="1"/>
          <p:nvPr/>
        </p:nvSpPr>
        <p:spPr>
          <a:xfrm>
            <a:off x="3364992" y="1481328"/>
            <a:ext cx="2569464" cy="420624"/>
          </a:xfrm>
          <a:prstGeom prst="rect">
            <a:avLst/>
          </a:prstGeom>
          <a:noFill/>
          <a:ln/>
        </p:spPr>
        <p:txBody>
          <a:bodyPr wrap="square" lIns="0" tIns="0" rIns="0" bIns="0" rtlCol="0" anchor="t"/>
          <a:lstStyle/>
          <a:p>
            <a:pPr indent="0" marL="0">
              <a:lnSpc>
                <a:spcPts val="1250"/>
              </a:lnSpc>
              <a:buNone/>
            </a:pPr>
            <a:r>
              <a:rPr lang="en-US" sz="1050" b="1" dirty="0">
                <a:solidFill>
                  <a:srgbClr val="1B2432"/>
                </a:solidFill>
                <a:latin typeface="Calibri" pitchFamily="34" charset="0"/>
                <a:ea typeface="Calibri" pitchFamily="34" charset="-122"/>
                <a:cs typeface="Calibri" pitchFamily="34" charset="-120"/>
              </a:rPr>
              <a:t>Discovery Triage</a:t>
            </a:r>
            <a:endParaRPr lang="en-US" sz="1050" dirty="0"/>
          </a:p>
        </p:txBody>
      </p:sp>
      <p:sp>
        <p:nvSpPr>
          <p:cNvPr id="17" name="Text 15"/>
          <p:cNvSpPr txBox="1"/>
          <p:nvPr/>
        </p:nvSpPr>
        <p:spPr>
          <a:xfrm>
            <a:off x="3364992" y="1865376"/>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With the partner. The lead works the question guide, explains the reason at the point of asking, probes vague answers and registers every unknown</a:t>
            </a:r>
            <a:endParaRPr lang="en-US" sz="720" dirty="0"/>
          </a:p>
        </p:txBody>
      </p:sp>
      <p:sp>
        <p:nvSpPr>
          <p:cNvPr id="18" name="Text 16"/>
          <p:cNvSpPr txBox="1"/>
          <p:nvPr/>
        </p:nvSpPr>
        <p:spPr>
          <a:xfrm>
            <a:off x="6007608" y="1655064"/>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19" name="Shape 17"/>
          <p:cNvSpPr/>
          <p:nvPr/>
        </p:nvSpPr>
        <p:spPr>
          <a:xfrm>
            <a:off x="6135624" y="1243584"/>
            <a:ext cx="2752344" cy="1115568"/>
          </a:xfrm>
          <a:prstGeom prst="roundRect">
            <a:avLst>
              <a:gd name="adj" fmla="val 4098"/>
            </a:avLst>
          </a:prstGeom>
          <a:solidFill>
            <a:srgbClr val="FAF1DF"/>
          </a:solidFill>
          <a:ln w="15240">
            <a:solidFill>
              <a:srgbClr val="9A6410"/>
            </a:solidFill>
            <a:prstDash val="solid"/>
          </a:ln>
        </p:spPr>
      </p:sp>
      <p:sp>
        <p:nvSpPr>
          <p:cNvPr id="20" name="Text 18"/>
          <p:cNvSpPr txBox="1"/>
          <p:nvPr/>
        </p:nvSpPr>
        <p:spPr>
          <a:xfrm>
            <a:off x="6227064" y="1307592"/>
            <a:ext cx="2569464" cy="182880"/>
          </a:xfrm>
          <a:prstGeom prst="rect">
            <a:avLst/>
          </a:prstGeom>
          <a:noFill/>
          <a:ln/>
        </p:spPr>
        <p:txBody>
          <a:bodyPr wrap="square" lIns="0" tIns="0" rIns="0" bIns="0" rtlCol="0" anchor="ctr"/>
          <a:lstStyle/>
          <a:p>
            <a:pPr indent="0" marL="0">
              <a:buNone/>
            </a:pPr>
            <a:r>
              <a:rPr lang="en-US" sz="720" b="1" spc="80" kern="0" dirty="0">
                <a:solidFill>
                  <a:srgbClr val="9A6410"/>
                </a:solidFill>
                <a:latin typeface="Calibri" pitchFamily="34" charset="0"/>
                <a:ea typeface="Calibri" pitchFamily="34" charset="-122"/>
                <a:cs typeface="Calibri" pitchFamily="34" charset="-120"/>
              </a:rPr>
              <a:t>SESSION 2 · 30 MIN</a:t>
            </a:r>
            <a:endParaRPr lang="en-US" sz="720" dirty="0"/>
          </a:p>
        </p:txBody>
      </p:sp>
      <p:sp>
        <p:nvSpPr>
          <p:cNvPr id="21" name="Text 19"/>
          <p:cNvSpPr txBox="1"/>
          <p:nvPr/>
        </p:nvSpPr>
        <p:spPr>
          <a:xfrm>
            <a:off x="6227064" y="1481328"/>
            <a:ext cx="2569464" cy="420624"/>
          </a:xfrm>
          <a:prstGeom prst="rect">
            <a:avLst/>
          </a:prstGeom>
          <a:noFill/>
          <a:ln/>
        </p:spPr>
        <p:txBody>
          <a:bodyPr wrap="square" lIns="0" tIns="0" rIns="0" bIns="0" rtlCol="0" anchor="t"/>
          <a:lstStyle/>
          <a:p>
            <a:pPr indent="0" marL="0">
              <a:lnSpc>
                <a:spcPts val="1250"/>
              </a:lnSpc>
              <a:buNone/>
            </a:pPr>
            <a:r>
              <a:rPr lang="en-US" sz="1050" b="1" dirty="0">
                <a:solidFill>
                  <a:srgbClr val="1B2432"/>
                </a:solidFill>
                <a:latin typeface="Calibri" pitchFamily="34" charset="0"/>
                <a:ea typeface="Calibri" pitchFamily="34" charset="-122"/>
                <a:cs typeface="Calibri" pitchFamily="34" charset="-120"/>
              </a:rPr>
              <a:t>Tiering Review</a:t>
            </a:r>
            <a:endParaRPr lang="en-US" sz="1050" dirty="0"/>
          </a:p>
        </p:txBody>
      </p:sp>
      <p:sp>
        <p:nvSpPr>
          <p:cNvPr id="22" name="Text 20"/>
          <p:cNvSpPr txBox="1"/>
          <p:nvPr/>
        </p:nvSpPr>
        <p:spPr>
          <a:xfrm>
            <a:off x="6227064" y="1865376"/>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Internal. Score the seven determinants, apply overrides, assign the tier, select the guardrails, record the justification</a:t>
            </a:r>
            <a:endParaRPr lang="en-US" sz="720" dirty="0"/>
          </a:p>
        </p:txBody>
      </p:sp>
      <p:sp>
        <p:nvSpPr>
          <p:cNvPr id="23" name="Text 21"/>
          <p:cNvSpPr txBox="1"/>
          <p:nvPr/>
        </p:nvSpPr>
        <p:spPr>
          <a:xfrm>
            <a:off x="8869680" y="1655064"/>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24" name="Shape 22"/>
          <p:cNvSpPr/>
          <p:nvPr/>
        </p:nvSpPr>
        <p:spPr>
          <a:xfrm>
            <a:off x="8997696" y="1243584"/>
            <a:ext cx="2752344" cy="1115568"/>
          </a:xfrm>
          <a:prstGeom prst="roundRect">
            <a:avLst>
              <a:gd name="adj" fmla="val 4098"/>
            </a:avLst>
          </a:prstGeom>
          <a:solidFill>
            <a:srgbClr val="E6F2F1"/>
          </a:solidFill>
          <a:ln w="15240">
            <a:solidFill>
              <a:srgbClr val="0B6E6E"/>
            </a:solidFill>
            <a:prstDash val="solid"/>
          </a:ln>
        </p:spPr>
      </p:sp>
      <p:sp>
        <p:nvSpPr>
          <p:cNvPr id="25" name="Text 23"/>
          <p:cNvSpPr txBox="1"/>
          <p:nvPr/>
        </p:nvSpPr>
        <p:spPr>
          <a:xfrm>
            <a:off x="9089136" y="1307592"/>
            <a:ext cx="2569464" cy="182880"/>
          </a:xfrm>
          <a:prstGeom prst="rect">
            <a:avLst/>
          </a:prstGeom>
          <a:noFill/>
          <a:ln/>
        </p:spPr>
        <p:txBody>
          <a:bodyPr wrap="square" lIns="0" tIns="0" rIns="0" bIns="0" rtlCol="0" anchor="ctr"/>
          <a:lstStyle/>
          <a:p>
            <a:pPr indent="0" marL="0">
              <a:buNone/>
            </a:pPr>
            <a:r>
              <a:rPr lang="en-US" sz="720" b="1" spc="80" kern="0" dirty="0">
                <a:solidFill>
                  <a:srgbClr val="0B6E6E"/>
                </a:solidFill>
                <a:latin typeface="Calibri" pitchFamily="34" charset="0"/>
                <a:ea typeface="Calibri" pitchFamily="34" charset="-122"/>
                <a:cs typeface="Calibri" pitchFamily="34" charset="-120"/>
              </a:rPr>
              <a:t>AFTER</a:t>
            </a:r>
            <a:endParaRPr lang="en-US" sz="720" dirty="0"/>
          </a:p>
        </p:txBody>
      </p:sp>
      <p:sp>
        <p:nvSpPr>
          <p:cNvPr id="26" name="Text 24"/>
          <p:cNvSpPr txBox="1"/>
          <p:nvPr/>
        </p:nvSpPr>
        <p:spPr>
          <a:xfrm>
            <a:off x="9089136" y="1481328"/>
            <a:ext cx="2569464" cy="420624"/>
          </a:xfrm>
          <a:prstGeom prst="rect">
            <a:avLst/>
          </a:prstGeom>
          <a:noFill/>
          <a:ln/>
        </p:spPr>
        <p:txBody>
          <a:bodyPr wrap="square" lIns="0" tIns="0" rIns="0" bIns="0" rtlCol="0" anchor="t"/>
          <a:lstStyle/>
          <a:p>
            <a:pPr indent="0" marL="0">
              <a:lnSpc>
                <a:spcPts val="1250"/>
              </a:lnSpc>
              <a:buNone/>
            </a:pPr>
            <a:r>
              <a:rPr lang="en-US" sz="1050" b="1" dirty="0">
                <a:solidFill>
                  <a:srgbClr val="1B2432"/>
                </a:solidFill>
                <a:latin typeface="Calibri" pitchFamily="34" charset="0"/>
                <a:ea typeface="Calibri" pitchFamily="34" charset="-122"/>
                <a:cs typeface="Calibri" pitchFamily="34" charset="-120"/>
              </a:rPr>
              <a:t>Outcome Record issued</a:t>
            </a:r>
            <a:endParaRPr lang="en-US" sz="1050" dirty="0"/>
          </a:p>
        </p:txBody>
      </p:sp>
      <p:sp>
        <p:nvSpPr>
          <p:cNvPr id="27" name="Text 25"/>
          <p:cNvSpPr txBox="1"/>
          <p:nvPr/>
        </p:nvSpPr>
        <p:spPr>
          <a:xfrm>
            <a:off x="9089136" y="1865376"/>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To the partner and the delivering team: answers, gaps with owners and dates, derived scope, tier and reasoning, long-lead items to start now</a:t>
            </a:r>
            <a:endParaRPr lang="en-US" sz="720" dirty="0"/>
          </a:p>
        </p:txBody>
      </p:sp>
      <p:sp>
        <p:nvSpPr>
          <p:cNvPr id="28" name="Text 26"/>
          <p:cNvSpPr txBox="1"/>
          <p:nvPr/>
        </p:nvSpPr>
        <p:spPr>
          <a:xfrm>
            <a:off x="411480" y="2523744"/>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WHAT THE LEAD DOES DIFFERENTLY — FOUR BEHAVIOURS</a:t>
            </a:r>
            <a:endParaRPr lang="en-US" sz="760" dirty="0"/>
          </a:p>
        </p:txBody>
      </p:sp>
      <p:sp>
        <p:nvSpPr>
          <p:cNvPr id="29" name="Shape 27"/>
          <p:cNvSpPr/>
          <p:nvPr/>
        </p:nvSpPr>
        <p:spPr>
          <a:xfrm>
            <a:off x="411480" y="2724912"/>
            <a:ext cx="7498080" cy="530352"/>
          </a:xfrm>
          <a:prstGeom prst="roundRect">
            <a:avLst>
              <a:gd name="adj" fmla="val 6897"/>
            </a:avLst>
          </a:prstGeom>
          <a:solidFill>
            <a:srgbClr val="FFFFFF"/>
          </a:solidFill>
          <a:ln w="11430">
            <a:solidFill>
              <a:srgbClr val="D4DAE2"/>
            </a:solidFill>
            <a:prstDash val="solid"/>
          </a:ln>
        </p:spPr>
      </p:sp>
      <p:sp>
        <p:nvSpPr>
          <p:cNvPr id="30" name="Shape 28"/>
          <p:cNvSpPr/>
          <p:nvPr/>
        </p:nvSpPr>
        <p:spPr>
          <a:xfrm>
            <a:off x="411480" y="2724912"/>
            <a:ext cx="50292" cy="530352"/>
          </a:xfrm>
          <a:prstGeom prst="rect">
            <a:avLst/>
          </a:prstGeom>
          <a:solidFill>
            <a:srgbClr val="A44A2A"/>
          </a:solidFill>
          <a:ln w="12700">
            <a:solidFill>
              <a:srgbClr val="333333"/>
            </a:solidFill>
            <a:prstDash val="solid"/>
          </a:ln>
        </p:spPr>
      </p:sp>
      <p:sp>
        <p:nvSpPr>
          <p:cNvPr id="31" name="Text 29"/>
          <p:cNvSpPr txBox="1"/>
          <p:nvPr/>
        </p:nvSpPr>
        <p:spPr>
          <a:xfrm>
            <a:off x="576072" y="2770632"/>
            <a:ext cx="7187184" cy="182880"/>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Explains the why at the point of asking</a:t>
            </a:r>
            <a:endParaRPr lang="en-US" sz="900" dirty="0"/>
          </a:p>
        </p:txBody>
      </p:sp>
      <p:sp>
        <p:nvSpPr>
          <p:cNvPr id="32" name="Text 30"/>
          <p:cNvSpPr txBox="1"/>
          <p:nvPr/>
        </p:nvSpPr>
        <p:spPr>
          <a:xfrm>
            <a:off x="576072" y="2953512"/>
            <a:ext cx="7187184" cy="274320"/>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Not "what are the document traits" but "do any of these contain handwritten annotations or signatures — this decides whether they need human review, which adds two to three weeks and a separate engagement"</a:t>
            </a:r>
            <a:endParaRPr lang="en-US" sz="740" dirty="0"/>
          </a:p>
        </p:txBody>
      </p:sp>
      <p:sp>
        <p:nvSpPr>
          <p:cNvPr id="33" name="Shape 31"/>
          <p:cNvSpPr/>
          <p:nvPr/>
        </p:nvSpPr>
        <p:spPr>
          <a:xfrm>
            <a:off x="411480" y="3328416"/>
            <a:ext cx="7498080" cy="530352"/>
          </a:xfrm>
          <a:prstGeom prst="roundRect">
            <a:avLst>
              <a:gd name="adj" fmla="val 6897"/>
            </a:avLst>
          </a:prstGeom>
          <a:solidFill>
            <a:srgbClr val="FFFFFF"/>
          </a:solidFill>
          <a:ln w="11430">
            <a:solidFill>
              <a:srgbClr val="D4DAE2"/>
            </a:solidFill>
            <a:prstDash val="solid"/>
          </a:ln>
        </p:spPr>
      </p:sp>
      <p:sp>
        <p:nvSpPr>
          <p:cNvPr id="34" name="Shape 32"/>
          <p:cNvSpPr/>
          <p:nvPr/>
        </p:nvSpPr>
        <p:spPr>
          <a:xfrm>
            <a:off x="411480" y="3328416"/>
            <a:ext cx="50292" cy="530352"/>
          </a:xfrm>
          <a:prstGeom prst="rect">
            <a:avLst/>
          </a:prstGeom>
          <a:solidFill>
            <a:srgbClr val="9A6410"/>
          </a:solidFill>
          <a:ln w="12700">
            <a:solidFill>
              <a:srgbClr val="333333"/>
            </a:solidFill>
            <a:prstDash val="solid"/>
          </a:ln>
        </p:spPr>
      </p:sp>
      <p:sp>
        <p:nvSpPr>
          <p:cNvPr id="35" name="Text 33"/>
          <p:cNvSpPr txBox="1"/>
          <p:nvPr/>
        </p:nvSpPr>
        <p:spPr>
          <a:xfrm>
            <a:off x="576072" y="3374136"/>
            <a:ext cx="7187184" cy="182880"/>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Treats "I don't know" as a normal state</a:t>
            </a:r>
            <a:endParaRPr lang="en-US" sz="900" dirty="0"/>
          </a:p>
        </p:txBody>
      </p:sp>
      <p:sp>
        <p:nvSpPr>
          <p:cNvPr id="36" name="Text 34"/>
          <p:cNvSpPr txBox="1"/>
          <p:nvPr/>
        </p:nvSpPr>
        <p:spPr>
          <a:xfrm>
            <a:off x="576072" y="3557016"/>
            <a:ext cx="7187184" cy="274320"/>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Offers realistic options with consequences. Asks diagnostic sub-questions a non-specialist can answer. Where the answer needs someone else, registers a dated gap with a named owner.</a:t>
            </a:r>
            <a:endParaRPr lang="en-US" sz="740" dirty="0"/>
          </a:p>
        </p:txBody>
      </p:sp>
      <p:sp>
        <p:nvSpPr>
          <p:cNvPr id="37" name="Shape 35"/>
          <p:cNvSpPr/>
          <p:nvPr/>
        </p:nvSpPr>
        <p:spPr>
          <a:xfrm>
            <a:off x="411480" y="3931920"/>
            <a:ext cx="7498080" cy="530352"/>
          </a:xfrm>
          <a:prstGeom prst="roundRect">
            <a:avLst>
              <a:gd name="adj" fmla="val 6897"/>
            </a:avLst>
          </a:prstGeom>
          <a:solidFill>
            <a:srgbClr val="FFFFFF"/>
          </a:solidFill>
          <a:ln w="11430">
            <a:solidFill>
              <a:srgbClr val="D4DAE2"/>
            </a:solidFill>
            <a:prstDash val="solid"/>
          </a:ln>
        </p:spPr>
      </p:sp>
      <p:sp>
        <p:nvSpPr>
          <p:cNvPr id="38" name="Shape 36"/>
          <p:cNvSpPr/>
          <p:nvPr/>
        </p:nvSpPr>
        <p:spPr>
          <a:xfrm>
            <a:off x="411480" y="3931920"/>
            <a:ext cx="50292" cy="530352"/>
          </a:xfrm>
          <a:prstGeom prst="rect">
            <a:avLst/>
          </a:prstGeom>
          <a:solidFill>
            <a:srgbClr val="0B6E6E"/>
          </a:solidFill>
          <a:ln w="12700">
            <a:solidFill>
              <a:srgbClr val="333333"/>
            </a:solidFill>
            <a:prstDash val="solid"/>
          </a:ln>
        </p:spPr>
      </p:sp>
      <p:sp>
        <p:nvSpPr>
          <p:cNvPr id="39" name="Text 37"/>
          <p:cNvSpPr txBox="1"/>
          <p:nvPr/>
        </p:nvSpPr>
        <p:spPr>
          <a:xfrm>
            <a:off x="576072" y="3977640"/>
            <a:ext cx="7187184" cy="182880"/>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Surfaces contradictions immediately</a:t>
            </a:r>
            <a:endParaRPr lang="en-US" sz="900" dirty="0"/>
          </a:p>
        </p:txBody>
      </p:sp>
      <p:sp>
        <p:nvSpPr>
          <p:cNvPr id="40" name="Text 38"/>
          <p:cNvSpPr txBox="1"/>
          <p:nvPr/>
        </p:nvSpPr>
        <p:spPr>
          <a:xfrm>
            <a:off x="576072" y="4160520"/>
            <a:ext cx="7187184" cy="274320"/>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Rather than recording both answers and letting the conflict surface during build.</a:t>
            </a:r>
            <a:endParaRPr lang="en-US" sz="740" dirty="0"/>
          </a:p>
        </p:txBody>
      </p:sp>
      <p:sp>
        <p:nvSpPr>
          <p:cNvPr id="41" name="Shape 39"/>
          <p:cNvSpPr/>
          <p:nvPr/>
        </p:nvSpPr>
        <p:spPr>
          <a:xfrm>
            <a:off x="411480" y="4535424"/>
            <a:ext cx="7498080" cy="530352"/>
          </a:xfrm>
          <a:prstGeom prst="roundRect">
            <a:avLst>
              <a:gd name="adj" fmla="val 6897"/>
            </a:avLst>
          </a:prstGeom>
          <a:solidFill>
            <a:srgbClr val="FFFFFF"/>
          </a:solidFill>
          <a:ln w="11430">
            <a:solidFill>
              <a:srgbClr val="D4DAE2"/>
            </a:solidFill>
            <a:prstDash val="solid"/>
          </a:ln>
        </p:spPr>
      </p:sp>
      <p:sp>
        <p:nvSpPr>
          <p:cNvPr id="42" name="Shape 40"/>
          <p:cNvSpPr/>
          <p:nvPr/>
        </p:nvSpPr>
        <p:spPr>
          <a:xfrm>
            <a:off x="411480" y="4535424"/>
            <a:ext cx="50292" cy="530352"/>
          </a:xfrm>
          <a:prstGeom prst="rect">
            <a:avLst/>
          </a:prstGeom>
          <a:solidFill>
            <a:srgbClr val="15304F"/>
          </a:solidFill>
          <a:ln w="12700">
            <a:solidFill>
              <a:srgbClr val="333333"/>
            </a:solidFill>
            <a:prstDash val="solid"/>
          </a:ln>
        </p:spPr>
      </p:sp>
      <p:sp>
        <p:nvSpPr>
          <p:cNvPr id="43" name="Text 41"/>
          <p:cNvSpPr txBox="1"/>
          <p:nvPr/>
        </p:nvSpPr>
        <p:spPr>
          <a:xfrm>
            <a:off x="576072" y="4581144"/>
            <a:ext cx="7187184" cy="182880"/>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Flags long-lead items on the day</a:t>
            </a:r>
            <a:endParaRPr lang="en-US" sz="900" dirty="0"/>
          </a:p>
        </p:txBody>
      </p:sp>
      <p:sp>
        <p:nvSpPr>
          <p:cNvPr id="44" name="Text 42"/>
          <p:cNvSpPr txBox="1"/>
          <p:nvPr/>
        </p:nvSpPr>
        <p:spPr>
          <a:xfrm>
            <a:off x="576072" y="4764024"/>
            <a:ext cx="7187184" cy="274320"/>
          </a:xfrm>
          <a:prstGeom prst="rect">
            <a:avLst/>
          </a:prstGeom>
          <a:noFill/>
          <a:ln/>
        </p:spPr>
        <p:txBody>
          <a:bodyPr wrap="square" lIns="0" tIns="0" rIns="0" bIns="0" rtlCol="0" anchor="ctr"/>
          <a:lstStyle/>
          <a:p>
            <a:pPr indent="0" marL="0">
              <a:lnSpc>
                <a:spcPts val="880"/>
              </a:lnSpc>
              <a:buNone/>
            </a:pPr>
            <a:r>
              <a:rPr lang="en-US" sz="740" dirty="0">
                <a:solidFill>
                  <a:srgbClr val="55606E"/>
                </a:solidFill>
                <a:latin typeface="Calibri" pitchFamily="34" charset="0"/>
                <a:ea typeface="Calibri" pitchFamily="34" charset="-122"/>
                <a:cs typeface="Calibri" pitchFamily="34" charset="-120"/>
              </a:rPr>
              <a:t>Connectivity, certificates, governance determinations and specialist engagements identified at triage and started immediately.</a:t>
            </a:r>
            <a:endParaRPr lang="en-US" sz="740" dirty="0"/>
          </a:p>
        </p:txBody>
      </p:sp>
      <p:sp>
        <p:nvSpPr>
          <p:cNvPr id="45" name="Shape 43"/>
          <p:cNvSpPr/>
          <p:nvPr/>
        </p:nvSpPr>
        <p:spPr>
          <a:xfrm>
            <a:off x="8202168" y="2724912"/>
            <a:ext cx="3547872" cy="2359152"/>
          </a:xfrm>
          <a:prstGeom prst="roundRect">
            <a:avLst>
              <a:gd name="adj" fmla="val 1938"/>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46" name="Text 44"/>
          <p:cNvSpPr txBox="1"/>
          <p:nvPr/>
        </p:nvSpPr>
        <p:spPr>
          <a:xfrm>
            <a:off x="8348472" y="2852928"/>
            <a:ext cx="3255264" cy="164592"/>
          </a:xfrm>
          <a:prstGeom prst="rect">
            <a:avLst/>
          </a:prstGeom>
          <a:noFill/>
          <a:ln/>
        </p:spPr>
        <p:txBody>
          <a:bodyPr wrap="square" lIns="0" tIns="0" rIns="0" bIns="0" rtlCol="0" anchor="ctr"/>
          <a:lstStyle/>
          <a:p>
            <a:pPr indent="0" marL="0">
              <a:buNone/>
            </a:pPr>
            <a:r>
              <a:rPr lang="en-US" sz="720" b="1" spc="100" kern="0" dirty="0">
                <a:solidFill>
                  <a:srgbClr val="15304F"/>
                </a:solidFill>
                <a:latin typeface="Calibri" pitchFamily="34" charset="0"/>
                <a:ea typeface="Calibri" pitchFamily="34" charset="-122"/>
                <a:cs typeface="Calibri" pitchFamily="34" charset="-120"/>
              </a:rPr>
              <a:t>ONE PAGE, ISSUED EVERY TIME</a:t>
            </a:r>
            <a:endParaRPr lang="en-US" sz="720" dirty="0"/>
          </a:p>
        </p:txBody>
      </p:sp>
      <p:sp>
        <p:nvSpPr>
          <p:cNvPr id="47" name="Text 45"/>
          <p:cNvSpPr txBox="1"/>
          <p:nvPr/>
        </p:nvSpPr>
        <p:spPr>
          <a:xfrm>
            <a:off x="8348472" y="3035808"/>
            <a:ext cx="3255264" cy="310896"/>
          </a:xfrm>
          <a:prstGeom prst="rect">
            <a:avLst/>
          </a:prstGeom>
          <a:noFill/>
          <a:ln/>
        </p:spPr>
        <p:txBody>
          <a:bodyPr wrap="square" lIns="0" tIns="0" rIns="0" bIns="0" rtlCol="0" anchor="t"/>
          <a:lstStyle/>
          <a:p>
            <a:pPr indent="0" marL="0">
              <a:lnSpc>
                <a:spcPts val="1400"/>
              </a:lnSpc>
              <a:buNone/>
            </a:pPr>
            <a:r>
              <a:rPr lang="en-US" sz="1150" b="1" dirty="0">
                <a:solidFill>
                  <a:srgbClr val="1B2432"/>
                </a:solidFill>
                <a:latin typeface="Calibri" pitchFamily="34" charset="0"/>
                <a:ea typeface="Calibri" pitchFamily="34" charset="-122"/>
                <a:cs typeface="Calibri" pitchFamily="34" charset="-120"/>
              </a:rPr>
              <a:t>The Triage Outcome Record</a:t>
            </a:r>
            <a:endParaRPr lang="en-US" sz="1150" dirty="0"/>
          </a:p>
        </p:txBody>
      </p:sp>
      <p:sp>
        <p:nvSpPr>
          <p:cNvPr id="48" name="Text 46"/>
          <p:cNvSpPr txBox="1"/>
          <p:nvPr/>
        </p:nvSpPr>
        <p:spPr>
          <a:xfrm>
            <a:off x="8348472" y="3346704"/>
            <a:ext cx="3255264" cy="1591056"/>
          </a:xfrm>
          <a:prstGeom prst="rect">
            <a:avLst/>
          </a:prstGeom>
          <a:noFill/>
          <a:ln/>
        </p:spPr>
        <p:txBody>
          <a:bodyPr wrap="square" lIns="0" tIns="0" rIns="0" bIns="0" rtlCol="0" anchor="t"/>
          <a:lstStyle/>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Answers — every applicable point, recorded</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Gaps — each with named owner, due date, blocking gate</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Completeness by band — accept / design / provision / certify</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Derived scope — workstreams and specialist teams to engage</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Long-lead items — flagged to start now</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Pattern matched, or 'novel'</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Tier assigned, with the determinant scores and reasoning</a:t>
            </a:r>
            <a:endParaRPr lang="en-US" sz="780" dirty="0"/>
          </a:p>
          <a:p>
            <a:pPr indent="0" marL="0">
              <a:lnSpc>
                <a:spcPts val="1040"/>
              </a:lnSpc>
              <a:spcAft>
                <a:spcPts val="250"/>
              </a:spcAft>
              <a:buNone/>
            </a:pPr>
            <a:r>
              <a:rPr lang="en-US" sz="780" dirty="0">
                <a:solidFill>
                  <a:srgbClr val="55606E"/>
                </a:solidFill>
                <a:latin typeface="Calibri" pitchFamily="34" charset="0"/>
                <a:ea typeface="Calibri" pitchFamily="34" charset="-122"/>
                <a:cs typeface="Calibri" pitchFamily="34" charset="-120"/>
              </a:rPr>
              <a:t>Guardrails in force for this intake</a:t>
            </a:r>
            <a:endParaRPr lang="en-US" sz="780" dirty="0"/>
          </a:p>
        </p:txBody>
      </p:sp>
      <p:sp>
        <p:nvSpPr>
          <p:cNvPr id="49" name="Shape 47"/>
          <p:cNvSpPr/>
          <p:nvPr/>
        </p:nvSpPr>
        <p:spPr>
          <a:xfrm>
            <a:off x="411480" y="5248656"/>
            <a:ext cx="11338560" cy="786384"/>
          </a:xfrm>
          <a:prstGeom prst="roundRect">
            <a:avLst>
              <a:gd name="adj" fmla="val 5814"/>
            </a:avLst>
          </a:prstGeom>
          <a:solidFill>
            <a:srgbClr val="E9EEF4"/>
          </a:solidFill>
          <a:ln w="12700">
            <a:solidFill>
              <a:srgbClr val="A44A2A"/>
            </a:solidFill>
            <a:prstDash val="solid"/>
          </a:ln>
        </p:spPr>
      </p:sp>
      <p:sp>
        <p:nvSpPr>
          <p:cNvPr id="50" name="Text 48"/>
          <p:cNvSpPr txBox="1"/>
          <p:nvPr/>
        </p:nvSpPr>
        <p:spPr>
          <a:xfrm>
            <a:off x="557784" y="5330952"/>
            <a:ext cx="11045952" cy="182880"/>
          </a:xfrm>
          <a:prstGeom prst="rect">
            <a:avLst/>
          </a:prstGeom>
          <a:noFill/>
          <a:ln/>
        </p:spPr>
        <p:txBody>
          <a:bodyPr wrap="square" lIns="0" tIns="0" rIns="0" bIns="0" rtlCol="0" anchor="ctr"/>
          <a:lstStyle/>
          <a:p>
            <a:pPr indent="0" marL="0">
              <a:buNone/>
            </a:pPr>
            <a:r>
              <a:rPr lang="en-US" sz="760" b="1" spc="100" kern="0" dirty="0">
                <a:solidFill>
                  <a:srgbClr val="A44A2A"/>
                </a:solidFill>
                <a:latin typeface="Calibri" pitchFamily="34" charset="0"/>
                <a:ea typeface="Calibri" pitchFamily="34" charset="-122"/>
                <a:cs typeface="Calibri" pitchFamily="34" charset="-120"/>
              </a:rPr>
              <a:t>THE CHANGE THAT CARRIES MOST OF THE PHASE 1 BENEFIT</a:t>
            </a:r>
            <a:endParaRPr lang="en-US" sz="760" dirty="0"/>
          </a:p>
        </p:txBody>
      </p:sp>
      <p:sp>
        <p:nvSpPr>
          <p:cNvPr id="51" name="Text 49"/>
          <p:cNvSpPr txBox="1"/>
          <p:nvPr/>
        </p:nvSpPr>
        <p:spPr>
          <a:xfrm>
            <a:off x="557784" y="5522976"/>
            <a:ext cx="11045952" cy="420624"/>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Today the requirement for a data point is discovered a step at a time, by an engineer, after the intake has landed — and each discovery costs days of waiting. In Phase 1 the full requirement is established in one ninety-minute conversation, with the reasons explained, and everything not yet knowable becomes a dated, owned item. Nothing is automated. The cycle is removed by asking the questions earlier and better, in one place, by someone who knows why each one matters.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Tier assignment: the lead decides</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Seven determinants, three thresholds, five hard overrides — and calibration is not optional</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Tiering</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SEVEN DETERMINANTS, SCORED 0–3 ON THE SHEET</a:t>
            </a:r>
            <a:endParaRPr lang="en-US" sz="760" dirty="0"/>
          </a:p>
        </p:txBody>
      </p:sp>
      <p:sp>
        <p:nvSpPr>
          <p:cNvPr id="9" name="Shape 7"/>
          <p:cNvSpPr/>
          <p:nvPr/>
        </p:nvSpPr>
        <p:spPr>
          <a:xfrm>
            <a:off x="411480" y="1243584"/>
            <a:ext cx="11338560" cy="256032"/>
          </a:xfrm>
          <a:prstGeom prst="rect">
            <a:avLst/>
          </a:prstGeom>
          <a:solidFill>
            <a:srgbClr val="15304F"/>
          </a:solidFill>
          <a:ln w="6350">
            <a:solidFill>
              <a:srgbClr val="15304F"/>
            </a:solidFill>
            <a:prstDash val="solid"/>
          </a:ln>
        </p:spPr>
      </p:sp>
      <p:sp>
        <p:nvSpPr>
          <p:cNvPr id="10" name="Text 8"/>
          <p:cNvSpPr txBox="1"/>
          <p:nvPr/>
        </p:nvSpPr>
        <p:spPr>
          <a:xfrm>
            <a:off x="484632" y="1243584"/>
            <a:ext cx="356616" cy="256032"/>
          </a:xfrm>
          <a:prstGeom prst="rect">
            <a:avLst/>
          </a:prstGeom>
          <a:noFill/>
          <a:ln/>
        </p:spPr>
        <p:txBody>
          <a:bodyPr wrap="square" lIns="0" tIns="0" rIns="0" bIns="0" rtlCol="0" anchor="ctr"/>
          <a:lstStyle/>
          <a:p>
            <a:pPr algn="l" indent="0" marL="0">
              <a:buNone/>
            </a:pPr>
            <a:endParaRPr lang="en-US" sz="750" dirty="0"/>
          </a:p>
        </p:txBody>
      </p:sp>
      <p:sp>
        <p:nvSpPr>
          <p:cNvPr id="11" name="Text 9"/>
          <p:cNvSpPr txBox="1"/>
          <p:nvPr/>
        </p:nvSpPr>
        <p:spPr>
          <a:xfrm>
            <a:off x="987552" y="1243584"/>
            <a:ext cx="2093976" cy="256032"/>
          </a:xfrm>
          <a:prstGeom prst="rect">
            <a:avLst/>
          </a:prstGeom>
          <a:noFill/>
          <a:ln/>
        </p:spPr>
        <p:txBody>
          <a:bodyPr wrap="square" lIns="0" tIns="0" rIns="0" bIns="0" rtlCol="0" anchor="ctr"/>
          <a:lstStyle/>
          <a:p>
            <a:pPr algn="l" indent="0" marL="0">
              <a:buNone/>
            </a:pPr>
            <a:r>
              <a:rPr lang="en-US" sz="750" b="1" dirty="0">
                <a:solidFill>
                  <a:srgbClr val="FFFFFF"/>
                </a:solidFill>
                <a:latin typeface="Calibri" pitchFamily="34" charset="0"/>
                <a:ea typeface="Calibri" pitchFamily="34" charset="-122"/>
                <a:cs typeface="Calibri" pitchFamily="34" charset="-120"/>
              </a:rPr>
              <a:t>Determinant</a:t>
            </a:r>
            <a:endParaRPr lang="en-US" sz="750" dirty="0"/>
          </a:p>
        </p:txBody>
      </p:sp>
      <p:sp>
        <p:nvSpPr>
          <p:cNvPr id="12" name="Text 10"/>
          <p:cNvSpPr txBox="1"/>
          <p:nvPr/>
        </p:nvSpPr>
        <p:spPr>
          <a:xfrm>
            <a:off x="3227832" y="1243584"/>
            <a:ext cx="2002536" cy="256032"/>
          </a:xfrm>
          <a:prstGeom prst="rect">
            <a:avLst/>
          </a:prstGeom>
          <a:noFill/>
          <a:ln/>
        </p:spPr>
        <p:txBody>
          <a:bodyPr wrap="square" lIns="0" tIns="0" rIns="0" bIns="0" rtlCol="0" anchor="ctr"/>
          <a:lstStyle/>
          <a:p>
            <a:pPr algn="l" indent="0" marL="0">
              <a:buNone/>
            </a:pPr>
            <a:r>
              <a:rPr lang="en-US" sz="750" b="1" dirty="0">
                <a:solidFill>
                  <a:srgbClr val="FFFFFF"/>
                </a:solidFill>
                <a:latin typeface="Calibri" pitchFamily="34" charset="0"/>
                <a:ea typeface="Calibri" pitchFamily="34" charset="-122"/>
                <a:cs typeface="Calibri" pitchFamily="34" charset="-120"/>
              </a:rPr>
              <a:t>Score 0</a:t>
            </a:r>
            <a:endParaRPr lang="en-US" sz="750" dirty="0"/>
          </a:p>
        </p:txBody>
      </p:sp>
      <p:sp>
        <p:nvSpPr>
          <p:cNvPr id="13" name="Text 11"/>
          <p:cNvSpPr txBox="1"/>
          <p:nvPr/>
        </p:nvSpPr>
        <p:spPr>
          <a:xfrm>
            <a:off x="5376672" y="1243584"/>
            <a:ext cx="2002536" cy="256032"/>
          </a:xfrm>
          <a:prstGeom prst="rect">
            <a:avLst/>
          </a:prstGeom>
          <a:noFill/>
          <a:ln/>
        </p:spPr>
        <p:txBody>
          <a:bodyPr wrap="square" lIns="0" tIns="0" rIns="0" bIns="0" rtlCol="0" anchor="ctr"/>
          <a:lstStyle/>
          <a:p>
            <a:pPr algn="l" indent="0" marL="0">
              <a:buNone/>
            </a:pPr>
            <a:r>
              <a:rPr lang="en-US" sz="750" b="1" dirty="0">
                <a:solidFill>
                  <a:srgbClr val="FFFFFF"/>
                </a:solidFill>
                <a:latin typeface="Calibri" pitchFamily="34" charset="0"/>
                <a:ea typeface="Calibri" pitchFamily="34" charset="-122"/>
                <a:cs typeface="Calibri" pitchFamily="34" charset="-120"/>
              </a:rPr>
              <a:t>Score 1</a:t>
            </a:r>
            <a:endParaRPr lang="en-US" sz="750" dirty="0"/>
          </a:p>
        </p:txBody>
      </p:sp>
      <p:sp>
        <p:nvSpPr>
          <p:cNvPr id="14" name="Text 12"/>
          <p:cNvSpPr txBox="1"/>
          <p:nvPr/>
        </p:nvSpPr>
        <p:spPr>
          <a:xfrm>
            <a:off x="7525512" y="1243584"/>
            <a:ext cx="2002536" cy="256032"/>
          </a:xfrm>
          <a:prstGeom prst="rect">
            <a:avLst/>
          </a:prstGeom>
          <a:noFill/>
          <a:ln/>
        </p:spPr>
        <p:txBody>
          <a:bodyPr wrap="square" lIns="0" tIns="0" rIns="0" bIns="0" rtlCol="0" anchor="ctr"/>
          <a:lstStyle/>
          <a:p>
            <a:pPr algn="l" indent="0" marL="0">
              <a:buNone/>
            </a:pPr>
            <a:r>
              <a:rPr lang="en-US" sz="750" b="1" dirty="0">
                <a:solidFill>
                  <a:srgbClr val="FFFFFF"/>
                </a:solidFill>
                <a:latin typeface="Calibri" pitchFamily="34" charset="0"/>
                <a:ea typeface="Calibri" pitchFamily="34" charset="-122"/>
                <a:cs typeface="Calibri" pitchFamily="34" charset="-120"/>
              </a:rPr>
              <a:t>Score 2</a:t>
            </a:r>
            <a:endParaRPr lang="en-US" sz="750" dirty="0"/>
          </a:p>
        </p:txBody>
      </p:sp>
      <p:sp>
        <p:nvSpPr>
          <p:cNvPr id="15" name="Text 13"/>
          <p:cNvSpPr txBox="1"/>
          <p:nvPr/>
        </p:nvSpPr>
        <p:spPr>
          <a:xfrm>
            <a:off x="9674352" y="1243584"/>
            <a:ext cx="2002536" cy="256032"/>
          </a:xfrm>
          <a:prstGeom prst="rect">
            <a:avLst/>
          </a:prstGeom>
          <a:noFill/>
          <a:ln/>
        </p:spPr>
        <p:txBody>
          <a:bodyPr wrap="square" lIns="0" tIns="0" rIns="0" bIns="0" rtlCol="0" anchor="ctr"/>
          <a:lstStyle/>
          <a:p>
            <a:pPr algn="l" indent="0" marL="0">
              <a:buNone/>
            </a:pPr>
            <a:r>
              <a:rPr lang="en-US" sz="750" b="1" dirty="0">
                <a:solidFill>
                  <a:srgbClr val="FFFFFF"/>
                </a:solidFill>
                <a:latin typeface="Calibri" pitchFamily="34" charset="0"/>
                <a:ea typeface="Calibri" pitchFamily="34" charset="-122"/>
                <a:cs typeface="Calibri" pitchFamily="34" charset="-120"/>
              </a:rPr>
              <a:t>Score 3</a:t>
            </a:r>
            <a:endParaRPr lang="en-US" sz="750" dirty="0"/>
          </a:p>
        </p:txBody>
      </p:sp>
      <p:sp>
        <p:nvSpPr>
          <p:cNvPr id="16" name="Shape 14"/>
          <p:cNvSpPr/>
          <p:nvPr/>
        </p:nvSpPr>
        <p:spPr>
          <a:xfrm>
            <a:off x="411480" y="1499616"/>
            <a:ext cx="11338560" cy="274320"/>
          </a:xfrm>
          <a:prstGeom prst="rect">
            <a:avLst/>
          </a:prstGeom>
          <a:solidFill>
            <a:srgbClr val="FFFFFF"/>
          </a:solidFill>
          <a:ln w="6350">
            <a:solidFill>
              <a:srgbClr val="D4DAE2"/>
            </a:solidFill>
            <a:prstDash val="solid"/>
          </a:ln>
        </p:spPr>
      </p:sp>
      <p:sp>
        <p:nvSpPr>
          <p:cNvPr id="17" name="Text 15"/>
          <p:cNvSpPr txBox="1"/>
          <p:nvPr/>
        </p:nvSpPr>
        <p:spPr>
          <a:xfrm>
            <a:off x="484632" y="1499616"/>
            <a:ext cx="356616" cy="274320"/>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D1</a:t>
            </a:r>
            <a:endParaRPr lang="en-US" sz="750" dirty="0"/>
          </a:p>
        </p:txBody>
      </p:sp>
      <p:sp>
        <p:nvSpPr>
          <p:cNvPr id="18" name="Text 16"/>
          <p:cNvSpPr txBox="1"/>
          <p:nvPr/>
        </p:nvSpPr>
        <p:spPr>
          <a:xfrm>
            <a:off x="987552" y="1499616"/>
            <a:ext cx="209397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Pattern precedent</a:t>
            </a:r>
            <a:endParaRPr lang="en-US" sz="750" dirty="0"/>
          </a:p>
        </p:txBody>
      </p:sp>
      <p:sp>
        <p:nvSpPr>
          <p:cNvPr id="19" name="Text 17"/>
          <p:cNvSpPr txBox="1"/>
          <p:nvPr/>
        </p:nvSpPr>
        <p:spPr>
          <a:xfrm>
            <a:off x="3227832" y="149961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Exact repeat of a known shape</a:t>
            </a:r>
            <a:endParaRPr lang="en-US" sz="750" dirty="0"/>
          </a:p>
        </p:txBody>
      </p:sp>
      <p:sp>
        <p:nvSpPr>
          <p:cNvPr id="20" name="Text 18"/>
          <p:cNvSpPr txBox="1"/>
          <p:nvPr/>
        </p:nvSpPr>
        <p:spPr>
          <a:xfrm>
            <a:off x="5376672" y="149961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Known shape, minor variation</a:t>
            </a:r>
            <a:endParaRPr lang="en-US" sz="750" dirty="0"/>
          </a:p>
        </p:txBody>
      </p:sp>
      <p:sp>
        <p:nvSpPr>
          <p:cNvPr id="21" name="Text 19"/>
          <p:cNvSpPr txBox="1"/>
          <p:nvPr/>
        </p:nvSpPr>
        <p:spPr>
          <a:xfrm>
            <a:off x="7525512" y="149961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Partially comparable</a:t>
            </a:r>
            <a:endParaRPr lang="en-US" sz="750" dirty="0"/>
          </a:p>
        </p:txBody>
      </p:sp>
      <p:sp>
        <p:nvSpPr>
          <p:cNvPr id="22" name="Text 20"/>
          <p:cNvSpPr txBox="1"/>
          <p:nvPr/>
        </p:nvSpPr>
        <p:spPr>
          <a:xfrm>
            <a:off x="9674352" y="149961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No precedent</a:t>
            </a:r>
            <a:endParaRPr lang="en-US" sz="750" dirty="0"/>
          </a:p>
        </p:txBody>
      </p:sp>
      <p:sp>
        <p:nvSpPr>
          <p:cNvPr id="23" name="Shape 21"/>
          <p:cNvSpPr/>
          <p:nvPr/>
        </p:nvSpPr>
        <p:spPr>
          <a:xfrm>
            <a:off x="411480" y="1773936"/>
            <a:ext cx="11338560" cy="274320"/>
          </a:xfrm>
          <a:prstGeom prst="rect">
            <a:avLst/>
          </a:prstGeom>
          <a:solidFill>
            <a:srgbClr val="F4F7FA"/>
          </a:solidFill>
          <a:ln w="6350">
            <a:solidFill>
              <a:srgbClr val="D4DAE2"/>
            </a:solidFill>
            <a:prstDash val="solid"/>
          </a:ln>
        </p:spPr>
      </p:sp>
      <p:sp>
        <p:nvSpPr>
          <p:cNvPr id="24" name="Text 22"/>
          <p:cNvSpPr txBox="1"/>
          <p:nvPr/>
        </p:nvSpPr>
        <p:spPr>
          <a:xfrm>
            <a:off x="484632" y="1773936"/>
            <a:ext cx="356616" cy="274320"/>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D2</a:t>
            </a:r>
            <a:endParaRPr lang="en-US" sz="750" dirty="0"/>
          </a:p>
        </p:txBody>
      </p:sp>
      <p:sp>
        <p:nvSpPr>
          <p:cNvPr id="25" name="Text 23"/>
          <p:cNvSpPr txBox="1"/>
          <p:nvPr/>
        </p:nvSpPr>
        <p:spPr>
          <a:xfrm>
            <a:off x="987552" y="1773936"/>
            <a:ext cx="209397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Content trust posture</a:t>
            </a:r>
            <a:endParaRPr lang="en-US" sz="750" dirty="0"/>
          </a:p>
        </p:txBody>
      </p:sp>
      <p:sp>
        <p:nvSpPr>
          <p:cNvPr id="26" name="Text 24"/>
          <p:cNvSpPr txBox="1"/>
          <p:nvPr/>
        </p:nvSpPr>
        <p:spPr>
          <a:xfrm>
            <a:off x="3227832" y="177393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Unchanged, determined</a:t>
            </a:r>
            <a:endParaRPr lang="en-US" sz="750" dirty="0"/>
          </a:p>
        </p:txBody>
      </p:sp>
      <p:sp>
        <p:nvSpPr>
          <p:cNvPr id="27" name="Text 25"/>
          <p:cNvSpPr txBox="1"/>
          <p:nvPr/>
        </p:nvSpPr>
        <p:spPr>
          <a:xfrm>
            <a:off x="5376672" y="177393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New content, same posture</a:t>
            </a:r>
            <a:endParaRPr lang="en-US" sz="750" dirty="0"/>
          </a:p>
        </p:txBody>
      </p:sp>
      <p:sp>
        <p:nvSpPr>
          <p:cNvPr id="28" name="Text 26"/>
          <p:cNvSpPr txBox="1"/>
          <p:nvPr/>
        </p:nvSpPr>
        <p:spPr>
          <a:xfrm>
            <a:off x="7525512" y="177393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New posture for partner</a:t>
            </a:r>
            <a:endParaRPr lang="en-US" sz="750" dirty="0"/>
          </a:p>
        </p:txBody>
      </p:sp>
      <p:sp>
        <p:nvSpPr>
          <p:cNvPr id="29" name="Text 27"/>
          <p:cNvSpPr txBox="1"/>
          <p:nvPr/>
        </p:nvSpPr>
        <p:spPr>
          <a:xfrm>
            <a:off x="9674352" y="177393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Posture changing on live content</a:t>
            </a:r>
            <a:endParaRPr lang="en-US" sz="750" dirty="0"/>
          </a:p>
        </p:txBody>
      </p:sp>
      <p:sp>
        <p:nvSpPr>
          <p:cNvPr id="30" name="Shape 28"/>
          <p:cNvSpPr/>
          <p:nvPr/>
        </p:nvSpPr>
        <p:spPr>
          <a:xfrm>
            <a:off x="411480" y="2048256"/>
            <a:ext cx="11338560" cy="274320"/>
          </a:xfrm>
          <a:prstGeom prst="rect">
            <a:avLst/>
          </a:prstGeom>
          <a:solidFill>
            <a:srgbClr val="FFFFFF"/>
          </a:solidFill>
          <a:ln w="6350">
            <a:solidFill>
              <a:srgbClr val="D4DAE2"/>
            </a:solidFill>
            <a:prstDash val="solid"/>
          </a:ln>
        </p:spPr>
      </p:sp>
      <p:sp>
        <p:nvSpPr>
          <p:cNvPr id="31" name="Text 29"/>
          <p:cNvSpPr txBox="1"/>
          <p:nvPr/>
        </p:nvSpPr>
        <p:spPr>
          <a:xfrm>
            <a:off x="484632" y="2048256"/>
            <a:ext cx="356616" cy="274320"/>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D3</a:t>
            </a:r>
            <a:endParaRPr lang="en-US" sz="750" dirty="0"/>
          </a:p>
        </p:txBody>
      </p:sp>
      <p:sp>
        <p:nvSpPr>
          <p:cNvPr id="32" name="Text 30"/>
          <p:cNvSpPr txBox="1"/>
          <p:nvPr/>
        </p:nvSpPr>
        <p:spPr>
          <a:xfrm>
            <a:off x="987552" y="2048256"/>
            <a:ext cx="209397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Regulatory and records</a:t>
            </a:r>
            <a:endParaRPr lang="en-US" sz="750" dirty="0"/>
          </a:p>
        </p:txBody>
      </p:sp>
      <p:sp>
        <p:nvSpPr>
          <p:cNvPr id="33" name="Text 31"/>
          <p:cNvSpPr txBox="1"/>
          <p:nvPr/>
        </p:nvSpPr>
        <p:spPr>
          <a:xfrm>
            <a:off x="3227832" y="204825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None</a:t>
            </a:r>
            <a:endParaRPr lang="en-US" sz="750" dirty="0"/>
          </a:p>
        </p:txBody>
      </p:sp>
      <p:sp>
        <p:nvSpPr>
          <p:cNvPr id="34" name="Text 32"/>
          <p:cNvSpPr txBox="1"/>
          <p:nvPr/>
        </p:nvSpPr>
        <p:spPr>
          <a:xfrm>
            <a:off x="5376672" y="204825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Existing retention reused</a:t>
            </a:r>
            <a:endParaRPr lang="en-US" sz="750" dirty="0"/>
          </a:p>
        </p:txBody>
      </p:sp>
      <p:sp>
        <p:nvSpPr>
          <p:cNvPr id="35" name="Text 33"/>
          <p:cNvSpPr txBox="1"/>
          <p:nvPr/>
        </p:nvSpPr>
        <p:spPr>
          <a:xfrm>
            <a:off x="7525512" y="204825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New non-regulated retention</a:t>
            </a:r>
            <a:endParaRPr lang="en-US" sz="750" dirty="0"/>
          </a:p>
        </p:txBody>
      </p:sp>
      <p:sp>
        <p:nvSpPr>
          <p:cNvPr id="36" name="Text 34"/>
          <p:cNvSpPr txBox="1"/>
          <p:nvPr/>
        </p:nvSpPr>
        <p:spPr>
          <a:xfrm>
            <a:off x="9674352" y="204825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New regulated retention or WORM</a:t>
            </a:r>
            <a:endParaRPr lang="en-US" sz="750" dirty="0"/>
          </a:p>
        </p:txBody>
      </p:sp>
      <p:sp>
        <p:nvSpPr>
          <p:cNvPr id="37" name="Shape 35"/>
          <p:cNvSpPr/>
          <p:nvPr/>
        </p:nvSpPr>
        <p:spPr>
          <a:xfrm>
            <a:off x="411480" y="2322576"/>
            <a:ext cx="11338560" cy="274320"/>
          </a:xfrm>
          <a:prstGeom prst="rect">
            <a:avLst/>
          </a:prstGeom>
          <a:solidFill>
            <a:srgbClr val="F4F7FA"/>
          </a:solidFill>
          <a:ln w="6350">
            <a:solidFill>
              <a:srgbClr val="D4DAE2"/>
            </a:solidFill>
            <a:prstDash val="solid"/>
          </a:ln>
        </p:spPr>
      </p:sp>
      <p:sp>
        <p:nvSpPr>
          <p:cNvPr id="38" name="Text 36"/>
          <p:cNvSpPr txBox="1"/>
          <p:nvPr/>
        </p:nvSpPr>
        <p:spPr>
          <a:xfrm>
            <a:off x="484632" y="2322576"/>
            <a:ext cx="356616" cy="274320"/>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D4</a:t>
            </a:r>
            <a:endParaRPr lang="en-US" sz="750" dirty="0"/>
          </a:p>
        </p:txBody>
      </p:sp>
      <p:sp>
        <p:nvSpPr>
          <p:cNvPr id="39" name="Text 37"/>
          <p:cNvSpPr txBox="1"/>
          <p:nvPr/>
        </p:nvSpPr>
        <p:spPr>
          <a:xfrm>
            <a:off x="987552" y="2322576"/>
            <a:ext cx="209397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Classification engine</a:t>
            </a:r>
            <a:endParaRPr lang="en-US" sz="750" dirty="0"/>
          </a:p>
        </p:txBody>
      </p:sp>
      <p:sp>
        <p:nvSpPr>
          <p:cNvPr id="40" name="Text 38"/>
          <p:cNvSpPr txBox="1"/>
          <p:nvPr/>
        </p:nvSpPr>
        <p:spPr>
          <a:xfrm>
            <a:off x="3227832" y="232257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None</a:t>
            </a:r>
            <a:endParaRPr lang="en-US" sz="750" dirty="0"/>
          </a:p>
        </p:txBody>
      </p:sp>
      <p:sp>
        <p:nvSpPr>
          <p:cNvPr id="41" name="Text 39"/>
          <p:cNvSpPr txBox="1"/>
          <p:nvPr/>
        </p:nvSpPr>
        <p:spPr>
          <a:xfrm>
            <a:off x="5376672" y="232257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Shadow or dry run only</a:t>
            </a:r>
            <a:endParaRPr lang="en-US" sz="750" dirty="0"/>
          </a:p>
        </p:txBody>
      </p:sp>
      <p:sp>
        <p:nvSpPr>
          <p:cNvPr id="42" name="Text 40"/>
          <p:cNvSpPr txBox="1"/>
          <p:nvPr/>
        </p:nvSpPr>
        <p:spPr>
          <a:xfrm>
            <a:off x="7525512" y="232257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Engine change, no new types</a:t>
            </a:r>
            <a:endParaRPr lang="en-US" sz="750" dirty="0"/>
          </a:p>
        </p:txBody>
      </p:sp>
      <p:sp>
        <p:nvSpPr>
          <p:cNvPr id="43" name="Text 41"/>
          <p:cNvSpPr txBox="1"/>
          <p:nvPr/>
        </p:nvSpPr>
        <p:spPr>
          <a:xfrm>
            <a:off x="9674352" y="232257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Engine change with new types</a:t>
            </a:r>
            <a:endParaRPr lang="en-US" sz="750" dirty="0"/>
          </a:p>
        </p:txBody>
      </p:sp>
      <p:sp>
        <p:nvSpPr>
          <p:cNvPr id="44" name="Shape 42"/>
          <p:cNvSpPr/>
          <p:nvPr/>
        </p:nvSpPr>
        <p:spPr>
          <a:xfrm>
            <a:off x="411480" y="2596896"/>
            <a:ext cx="11338560" cy="274320"/>
          </a:xfrm>
          <a:prstGeom prst="rect">
            <a:avLst/>
          </a:prstGeom>
          <a:solidFill>
            <a:srgbClr val="FFFFFF"/>
          </a:solidFill>
          <a:ln w="6350">
            <a:solidFill>
              <a:srgbClr val="D4DAE2"/>
            </a:solidFill>
            <a:prstDash val="solid"/>
          </a:ln>
        </p:spPr>
      </p:sp>
      <p:sp>
        <p:nvSpPr>
          <p:cNvPr id="45" name="Text 43"/>
          <p:cNvSpPr txBox="1"/>
          <p:nvPr/>
        </p:nvSpPr>
        <p:spPr>
          <a:xfrm>
            <a:off x="484632" y="2596896"/>
            <a:ext cx="356616" cy="274320"/>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D5</a:t>
            </a:r>
            <a:endParaRPr lang="en-US" sz="750" dirty="0"/>
          </a:p>
        </p:txBody>
      </p:sp>
      <p:sp>
        <p:nvSpPr>
          <p:cNvPr id="46" name="Text 44"/>
          <p:cNvSpPr txBox="1"/>
          <p:nvPr/>
        </p:nvSpPr>
        <p:spPr>
          <a:xfrm>
            <a:off x="987552" y="2596896"/>
            <a:ext cx="209397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Data model and metadata</a:t>
            </a:r>
            <a:endParaRPr lang="en-US" sz="750" dirty="0"/>
          </a:p>
        </p:txBody>
      </p:sp>
      <p:sp>
        <p:nvSpPr>
          <p:cNvPr id="47" name="Text 45"/>
          <p:cNvSpPr txBox="1"/>
          <p:nvPr/>
        </p:nvSpPr>
        <p:spPr>
          <a:xfrm>
            <a:off x="3227832" y="259689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No change</a:t>
            </a:r>
            <a:endParaRPr lang="en-US" sz="750" dirty="0"/>
          </a:p>
        </p:txBody>
      </p:sp>
      <p:sp>
        <p:nvSpPr>
          <p:cNvPr id="48" name="Text 46"/>
          <p:cNvSpPr txBox="1"/>
          <p:nvPr/>
        </p:nvSpPr>
        <p:spPr>
          <a:xfrm>
            <a:off x="5376672" y="259689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Additive, forward only</a:t>
            </a:r>
            <a:endParaRPr lang="en-US" sz="750" dirty="0"/>
          </a:p>
        </p:txBody>
      </p:sp>
      <p:sp>
        <p:nvSpPr>
          <p:cNvPr id="49" name="Text 47"/>
          <p:cNvSpPr txBox="1"/>
          <p:nvPr/>
        </p:nvSpPr>
        <p:spPr>
          <a:xfrm>
            <a:off x="7525512" y="259689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Structural, forward only</a:t>
            </a:r>
            <a:endParaRPr lang="en-US" sz="750" dirty="0"/>
          </a:p>
        </p:txBody>
      </p:sp>
      <p:sp>
        <p:nvSpPr>
          <p:cNvPr id="50" name="Text 48"/>
          <p:cNvSpPr txBox="1"/>
          <p:nvPr/>
        </p:nvSpPr>
        <p:spPr>
          <a:xfrm>
            <a:off x="9674352" y="259689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Historical content affected</a:t>
            </a:r>
            <a:endParaRPr lang="en-US" sz="750" dirty="0"/>
          </a:p>
        </p:txBody>
      </p:sp>
      <p:sp>
        <p:nvSpPr>
          <p:cNvPr id="51" name="Shape 49"/>
          <p:cNvSpPr/>
          <p:nvPr/>
        </p:nvSpPr>
        <p:spPr>
          <a:xfrm>
            <a:off x="411480" y="2871216"/>
            <a:ext cx="11338560" cy="274320"/>
          </a:xfrm>
          <a:prstGeom prst="rect">
            <a:avLst/>
          </a:prstGeom>
          <a:solidFill>
            <a:srgbClr val="F4F7FA"/>
          </a:solidFill>
          <a:ln w="6350">
            <a:solidFill>
              <a:srgbClr val="D4DAE2"/>
            </a:solidFill>
            <a:prstDash val="solid"/>
          </a:ln>
        </p:spPr>
      </p:sp>
      <p:sp>
        <p:nvSpPr>
          <p:cNvPr id="52" name="Text 50"/>
          <p:cNvSpPr txBox="1"/>
          <p:nvPr/>
        </p:nvSpPr>
        <p:spPr>
          <a:xfrm>
            <a:off x="484632" y="2871216"/>
            <a:ext cx="356616" cy="274320"/>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D6</a:t>
            </a:r>
            <a:endParaRPr lang="en-US" sz="750" dirty="0"/>
          </a:p>
        </p:txBody>
      </p:sp>
      <p:sp>
        <p:nvSpPr>
          <p:cNvPr id="53" name="Text 51"/>
          <p:cNvSpPr txBox="1"/>
          <p:nvPr/>
        </p:nvSpPr>
        <p:spPr>
          <a:xfrm>
            <a:off x="987552" y="2871216"/>
            <a:ext cx="209397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Volume and performance</a:t>
            </a:r>
            <a:endParaRPr lang="en-US" sz="750" dirty="0"/>
          </a:p>
        </p:txBody>
      </p:sp>
      <p:sp>
        <p:nvSpPr>
          <p:cNvPr id="54" name="Text 52"/>
          <p:cNvSpPr txBox="1"/>
          <p:nvPr/>
        </p:nvSpPr>
        <p:spPr>
          <a:xfrm>
            <a:off x="3227832" y="287121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Within current band</a:t>
            </a:r>
            <a:endParaRPr lang="en-US" sz="750" dirty="0"/>
          </a:p>
        </p:txBody>
      </p:sp>
      <p:sp>
        <p:nvSpPr>
          <p:cNvPr id="55" name="Text 53"/>
          <p:cNvSpPr txBox="1"/>
          <p:nvPr/>
        </p:nvSpPr>
        <p:spPr>
          <a:xfrm>
            <a:off x="5376672" y="287121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Band change, below threshold</a:t>
            </a:r>
            <a:endParaRPr lang="en-US" sz="750" dirty="0"/>
          </a:p>
        </p:txBody>
      </p:sp>
      <p:sp>
        <p:nvSpPr>
          <p:cNvPr id="56" name="Text 54"/>
          <p:cNvSpPr txBox="1"/>
          <p:nvPr/>
        </p:nvSpPr>
        <p:spPr>
          <a:xfrm>
            <a:off x="7525512" y="287121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Load testing triggered</a:t>
            </a:r>
            <a:endParaRPr lang="en-US" sz="750" dirty="0"/>
          </a:p>
        </p:txBody>
      </p:sp>
      <p:sp>
        <p:nvSpPr>
          <p:cNvPr id="57" name="Text 55"/>
          <p:cNvSpPr txBox="1"/>
          <p:nvPr/>
        </p:nvSpPr>
        <p:spPr>
          <a:xfrm>
            <a:off x="9674352" y="287121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Migration-scale or peak redesign</a:t>
            </a:r>
            <a:endParaRPr lang="en-US" sz="750" dirty="0"/>
          </a:p>
        </p:txBody>
      </p:sp>
      <p:sp>
        <p:nvSpPr>
          <p:cNvPr id="58" name="Shape 56"/>
          <p:cNvSpPr/>
          <p:nvPr/>
        </p:nvSpPr>
        <p:spPr>
          <a:xfrm>
            <a:off x="411480" y="3145536"/>
            <a:ext cx="11338560" cy="274320"/>
          </a:xfrm>
          <a:prstGeom prst="rect">
            <a:avLst/>
          </a:prstGeom>
          <a:solidFill>
            <a:srgbClr val="FFFFFF"/>
          </a:solidFill>
          <a:ln w="6350">
            <a:solidFill>
              <a:srgbClr val="D4DAE2"/>
            </a:solidFill>
            <a:prstDash val="solid"/>
          </a:ln>
        </p:spPr>
      </p:sp>
      <p:sp>
        <p:nvSpPr>
          <p:cNvPr id="59" name="Text 57"/>
          <p:cNvSpPr txBox="1"/>
          <p:nvPr/>
        </p:nvSpPr>
        <p:spPr>
          <a:xfrm>
            <a:off x="484632" y="3145536"/>
            <a:ext cx="356616" cy="274320"/>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D7</a:t>
            </a:r>
            <a:endParaRPr lang="en-US" sz="750" dirty="0"/>
          </a:p>
        </p:txBody>
      </p:sp>
      <p:sp>
        <p:nvSpPr>
          <p:cNvPr id="60" name="Text 58"/>
          <p:cNvSpPr txBox="1"/>
          <p:nvPr/>
        </p:nvSpPr>
        <p:spPr>
          <a:xfrm>
            <a:off x="987552" y="3145536"/>
            <a:ext cx="209397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Breadth of impact</a:t>
            </a:r>
            <a:endParaRPr lang="en-US" sz="750" dirty="0"/>
          </a:p>
        </p:txBody>
      </p:sp>
      <p:sp>
        <p:nvSpPr>
          <p:cNvPr id="61" name="Text 59"/>
          <p:cNvSpPr txBox="1"/>
          <p:nvPr/>
        </p:nvSpPr>
        <p:spPr>
          <a:xfrm>
            <a:off x="3227832" y="314553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Single partner, single flow</a:t>
            </a:r>
            <a:endParaRPr lang="en-US" sz="750" dirty="0"/>
          </a:p>
        </p:txBody>
      </p:sp>
      <p:sp>
        <p:nvSpPr>
          <p:cNvPr id="62" name="Text 60"/>
          <p:cNvSpPr txBox="1"/>
          <p:nvPr/>
        </p:nvSpPr>
        <p:spPr>
          <a:xfrm>
            <a:off x="5376672" y="314553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Single partner, many flows</a:t>
            </a:r>
            <a:endParaRPr lang="en-US" sz="750" dirty="0"/>
          </a:p>
        </p:txBody>
      </p:sp>
      <p:sp>
        <p:nvSpPr>
          <p:cNvPr id="63" name="Text 61"/>
          <p:cNvSpPr txBox="1"/>
          <p:nvPr/>
        </p:nvSpPr>
        <p:spPr>
          <a:xfrm>
            <a:off x="7525512" y="314553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Multiple business units</a:t>
            </a:r>
            <a:endParaRPr lang="en-US" sz="750" dirty="0"/>
          </a:p>
        </p:txBody>
      </p:sp>
      <p:sp>
        <p:nvSpPr>
          <p:cNvPr id="64" name="Text 62"/>
          <p:cNvSpPr txBox="1"/>
          <p:nvPr/>
        </p:nvSpPr>
        <p:spPr>
          <a:xfrm>
            <a:off x="9674352" y="3145536"/>
            <a:ext cx="2002536" cy="274320"/>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Multiple partners or dual-target</a:t>
            </a:r>
            <a:endParaRPr lang="en-US" sz="750" dirty="0"/>
          </a:p>
        </p:txBody>
      </p:sp>
      <p:sp>
        <p:nvSpPr>
          <p:cNvPr id="65" name="Text 63"/>
          <p:cNvSpPr txBox="1"/>
          <p:nvPr/>
        </p:nvSpPr>
        <p:spPr>
          <a:xfrm>
            <a:off x="411480" y="3438144"/>
            <a:ext cx="45720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THRESHOLDS</a:t>
            </a:r>
            <a:endParaRPr lang="en-US" sz="760" dirty="0"/>
          </a:p>
        </p:txBody>
      </p:sp>
      <p:sp>
        <p:nvSpPr>
          <p:cNvPr id="66" name="Shape 64"/>
          <p:cNvSpPr/>
          <p:nvPr/>
        </p:nvSpPr>
        <p:spPr>
          <a:xfrm>
            <a:off x="411480" y="3639312"/>
            <a:ext cx="1773936" cy="475488"/>
          </a:xfrm>
          <a:prstGeom prst="roundRect">
            <a:avLst>
              <a:gd name="adj" fmla="val 7692"/>
            </a:avLst>
          </a:prstGeom>
          <a:solidFill>
            <a:srgbClr val="FFFFFF"/>
          </a:solidFill>
          <a:ln w="15240">
            <a:solidFill>
              <a:srgbClr val="0B6E6E"/>
            </a:solidFill>
            <a:prstDash val="solid"/>
          </a:ln>
        </p:spPr>
      </p:sp>
      <p:sp>
        <p:nvSpPr>
          <p:cNvPr id="67" name="Shape 65"/>
          <p:cNvSpPr/>
          <p:nvPr/>
        </p:nvSpPr>
        <p:spPr>
          <a:xfrm>
            <a:off x="411480" y="3639312"/>
            <a:ext cx="731520" cy="475488"/>
          </a:xfrm>
          <a:prstGeom prst="rect">
            <a:avLst/>
          </a:prstGeom>
          <a:solidFill>
            <a:srgbClr val="0B6E6E"/>
          </a:solidFill>
          <a:ln w="12700">
            <a:solidFill>
              <a:srgbClr val="333333"/>
            </a:solidFill>
            <a:prstDash val="solid"/>
          </a:ln>
        </p:spPr>
      </p:sp>
      <p:sp>
        <p:nvSpPr>
          <p:cNvPr id="68" name="Text 66"/>
          <p:cNvSpPr txBox="1"/>
          <p:nvPr/>
        </p:nvSpPr>
        <p:spPr>
          <a:xfrm>
            <a:off x="411480" y="3639312"/>
            <a:ext cx="731520" cy="475488"/>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0 – 5</a:t>
            </a:r>
            <a:endParaRPr lang="en-US" sz="860" dirty="0"/>
          </a:p>
        </p:txBody>
      </p:sp>
      <p:sp>
        <p:nvSpPr>
          <p:cNvPr id="69" name="Text 67"/>
          <p:cNvSpPr txBox="1"/>
          <p:nvPr/>
        </p:nvSpPr>
        <p:spPr>
          <a:xfrm>
            <a:off x="1234440" y="3639312"/>
            <a:ext cx="896112" cy="475488"/>
          </a:xfrm>
          <a:prstGeom prst="rect">
            <a:avLst/>
          </a:prstGeom>
          <a:noFill/>
          <a:ln/>
        </p:spPr>
        <p:txBody>
          <a:bodyPr wrap="square" lIns="0" tIns="0" rIns="0" bIns="0" rtlCol="0" anchor="ctr"/>
          <a:lstStyle/>
          <a:p>
            <a:pPr indent="0" marL="0">
              <a:buNone/>
            </a:pPr>
            <a:r>
              <a:rPr lang="en-US" sz="950" b="1" dirty="0">
                <a:solidFill>
                  <a:srgbClr val="0B6E6E"/>
                </a:solidFill>
                <a:latin typeface="Calibri" pitchFamily="34" charset="0"/>
                <a:ea typeface="Calibri" pitchFamily="34" charset="-122"/>
                <a:cs typeface="Calibri" pitchFamily="34" charset="-120"/>
              </a:rPr>
              <a:t>Lean</a:t>
            </a:r>
            <a:endParaRPr lang="en-US" sz="950" dirty="0"/>
          </a:p>
        </p:txBody>
      </p:sp>
      <p:sp>
        <p:nvSpPr>
          <p:cNvPr id="70" name="Shape 68"/>
          <p:cNvSpPr/>
          <p:nvPr/>
        </p:nvSpPr>
        <p:spPr>
          <a:xfrm>
            <a:off x="2313432" y="3639312"/>
            <a:ext cx="1773936" cy="475488"/>
          </a:xfrm>
          <a:prstGeom prst="roundRect">
            <a:avLst>
              <a:gd name="adj" fmla="val 7692"/>
            </a:avLst>
          </a:prstGeom>
          <a:solidFill>
            <a:srgbClr val="FFFFFF"/>
          </a:solidFill>
          <a:ln w="15240">
            <a:solidFill>
              <a:srgbClr val="9A6410"/>
            </a:solidFill>
            <a:prstDash val="solid"/>
          </a:ln>
        </p:spPr>
      </p:sp>
      <p:sp>
        <p:nvSpPr>
          <p:cNvPr id="71" name="Shape 69"/>
          <p:cNvSpPr/>
          <p:nvPr/>
        </p:nvSpPr>
        <p:spPr>
          <a:xfrm>
            <a:off x="2313432" y="3639312"/>
            <a:ext cx="731520" cy="475488"/>
          </a:xfrm>
          <a:prstGeom prst="rect">
            <a:avLst/>
          </a:prstGeom>
          <a:solidFill>
            <a:srgbClr val="9A6410"/>
          </a:solidFill>
          <a:ln w="12700">
            <a:solidFill>
              <a:srgbClr val="333333"/>
            </a:solidFill>
            <a:prstDash val="solid"/>
          </a:ln>
        </p:spPr>
      </p:sp>
      <p:sp>
        <p:nvSpPr>
          <p:cNvPr id="72" name="Text 70"/>
          <p:cNvSpPr txBox="1"/>
          <p:nvPr/>
        </p:nvSpPr>
        <p:spPr>
          <a:xfrm>
            <a:off x="2313432" y="3639312"/>
            <a:ext cx="731520" cy="475488"/>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6 – 11</a:t>
            </a:r>
            <a:endParaRPr lang="en-US" sz="860" dirty="0"/>
          </a:p>
        </p:txBody>
      </p:sp>
      <p:sp>
        <p:nvSpPr>
          <p:cNvPr id="73" name="Text 71"/>
          <p:cNvSpPr txBox="1"/>
          <p:nvPr/>
        </p:nvSpPr>
        <p:spPr>
          <a:xfrm>
            <a:off x="3136392" y="3639312"/>
            <a:ext cx="896112" cy="475488"/>
          </a:xfrm>
          <a:prstGeom prst="rect">
            <a:avLst/>
          </a:prstGeom>
          <a:noFill/>
          <a:ln/>
        </p:spPr>
        <p:txBody>
          <a:bodyPr wrap="square" lIns="0" tIns="0" rIns="0" bIns="0" rtlCol="0" anchor="ctr"/>
          <a:lstStyle/>
          <a:p>
            <a:pPr indent="0" marL="0">
              <a:buNone/>
            </a:pPr>
            <a:r>
              <a:rPr lang="en-US" sz="950" b="1" dirty="0">
                <a:solidFill>
                  <a:srgbClr val="9A6410"/>
                </a:solidFill>
                <a:latin typeface="Calibri" pitchFamily="34" charset="0"/>
                <a:ea typeface="Calibri" pitchFamily="34" charset="-122"/>
                <a:cs typeface="Calibri" pitchFamily="34" charset="-120"/>
              </a:rPr>
              <a:t>Lean+</a:t>
            </a:r>
            <a:endParaRPr lang="en-US" sz="950" dirty="0"/>
          </a:p>
        </p:txBody>
      </p:sp>
      <p:sp>
        <p:nvSpPr>
          <p:cNvPr id="74" name="Shape 72"/>
          <p:cNvSpPr/>
          <p:nvPr/>
        </p:nvSpPr>
        <p:spPr>
          <a:xfrm>
            <a:off x="4215384" y="3639312"/>
            <a:ext cx="1773936" cy="475488"/>
          </a:xfrm>
          <a:prstGeom prst="roundRect">
            <a:avLst>
              <a:gd name="adj" fmla="val 7692"/>
            </a:avLst>
          </a:prstGeom>
          <a:solidFill>
            <a:srgbClr val="FFFFFF"/>
          </a:solidFill>
          <a:ln w="15240">
            <a:solidFill>
              <a:srgbClr val="15304F"/>
            </a:solidFill>
            <a:prstDash val="solid"/>
          </a:ln>
        </p:spPr>
      </p:sp>
      <p:sp>
        <p:nvSpPr>
          <p:cNvPr id="75" name="Shape 73"/>
          <p:cNvSpPr/>
          <p:nvPr/>
        </p:nvSpPr>
        <p:spPr>
          <a:xfrm>
            <a:off x="4215384" y="3639312"/>
            <a:ext cx="731520" cy="475488"/>
          </a:xfrm>
          <a:prstGeom prst="rect">
            <a:avLst/>
          </a:prstGeom>
          <a:solidFill>
            <a:srgbClr val="15304F"/>
          </a:solidFill>
          <a:ln w="12700">
            <a:solidFill>
              <a:srgbClr val="333333"/>
            </a:solidFill>
            <a:prstDash val="solid"/>
          </a:ln>
        </p:spPr>
      </p:sp>
      <p:sp>
        <p:nvSpPr>
          <p:cNvPr id="76" name="Text 74"/>
          <p:cNvSpPr txBox="1"/>
          <p:nvPr/>
        </p:nvSpPr>
        <p:spPr>
          <a:xfrm>
            <a:off x="4215384" y="3639312"/>
            <a:ext cx="731520" cy="475488"/>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12 – 21</a:t>
            </a:r>
            <a:endParaRPr lang="en-US" sz="860" dirty="0"/>
          </a:p>
        </p:txBody>
      </p:sp>
      <p:sp>
        <p:nvSpPr>
          <p:cNvPr id="77" name="Text 75"/>
          <p:cNvSpPr txBox="1"/>
          <p:nvPr/>
        </p:nvSpPr>
        <p:spPr>
          <a:xfrm>
            <a:off x="5038344" y="3639312"/>
            <a:ext cx="896112" cy="475488"/>
          </a:xfrm>
          <a:prstGeom prst="rect">
            <a:avLst/>
          </a:prstGeom>
          <a:noFill/>
          <a:ln/>
        </p:spPr>
        <p:txBody>
          <a:bodyPr wrap="square" lIns="0" tIns="0" rIns="0" bIns="0" rtlCol="0" anchor="ctr"/>
          <a:lstStyle/>
          <a:p>
            <a:pPr indent="0" marL="0">
              <a:buNone/>
            </a:pPr>
            <a:r>
              <a:rPr lang="en-US" sz="950" b="1" dirty="0">
                <a:solidFill>
                  <a:srgbClr val="15304F"/>
                </a:solidFill>
                <a:latin typeface="Calibri" pitchFamily="34" charset="0"/>
                <a:ea typeface="Calibri" pitchFamily="34" charset="-122"/>
                <a:cs typeface="Calibri" pitchFamily="34" charset="-120"/>
              </a:rPr>
              <a:t>Dedicated</a:t>
            </a:r>
            <a:endParaRPr lang="en-US" sz="950" dirty="0"/>
          </a:p>
        </p:txBody>
      </p:sp>
      <p:sp>
        <p:nvSpPr>
          <p:cNvPr id="78" name="Text 76"/>
          <p:cNvSpPr txBox="1"/>
          <p:nvPr/>
        </p:nvSpPr>
        <p:spPr>
          <a:xfrm>
            <a:off x="6217920" y="3438144"/>
            <a:ext cx="45720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HARD OVERRIDES — FORCE A TIER REGARDLESS OF SCORE</a:t>
            </a:r>
            <a:endParaRPr lang="en-US" sz="760" dirty="0"/>
          </a:p>
        </p:txBody>
      </p:sp>
      <p:sp>
        <p:nvSpPr>
          <p:cNvPr id="79" name="Shape 77"/>
          <p:cNvSpPr/>
          <p:nvPr/>
        </p:nvSpPr>
        <p:spPr>
          <a:xfrm>
            <a:off x="6217920" y="3639312"/>
            <a:ext cx="5532120" cy="237744"/>
          </a:xfrm>
          <a:prstGeom prst="rect">
            <a:avLst/>
          </a:prstGeom>
          <a:solidFill>
            <a:srgbClr val="15304F"/>
          </a:solidFill>
          <a:ln w="6350">
            <a:solidFill>
              <a:srgbClr val="15304F"/>
            </a:solidFill>
            <a:prstDash val="solid"/>
          </a:ln>
        </p:spPr>
      </p:sp>
      <p:sp>
        <p:nvSpPr>
          <p:cNvPr id="80" name="Text 78"/>
          <p:cNvSpPr txBox="1"/>
          <p:nvPr/>
        </p:nvSpPr>
        <p:spPr>
          <a:xfrm>
            <a:off x="6291072" y="3639312"/>
            <a:ext cx="3557016"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Condition</a:t>
            </a:r>
            <a:endParaRPr lang="en-US" sz="800" dirty="0"/>
          </a:p>
        </p:txBody>
      </p:sp>
      <p:sp>
        <p:nvSpPr>
          <p:cNvPr id="81" name="Text 79"/>
          <p:cNvSpPr txBox="1"/>
          <p:nvPr/>
        </p:nvSpPr>
        <p:spPr>
          <a:xfrm>
            <a:off x="9994392" y="3639312"/>
            <a:ext cx="1682496"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Forces</a:t>
            </a:r>
            <a:endParaRPr lang="en-US" sz="800" dirty="0"/>
          </a:p>
        </p:txBody>
      </p:sp>
      <p:sp>
        <p:nvSpPr>
          <p:cNvPr id="82" name="Shape 80"/>
          <p:cNvSpPr/>
          <p:nvPr/>
        </p:nvSpPr>
        <p:spPr>
          <a:xfrm>
            <a:off x="6217920" y="3877056"/>
            <a:ext cx="5532120" cy="260604"/>
          </a:xfrm>
          <a:prstGeom prst="rect">
            <a:avLst/>
          </a:prstGeom>
          <a:solidFill>
            <a:srgbClr val="FFFFFF"/>
          </a:solidFill>
          <a:ln w="6350">
            <a:solidFill>
              <a:srgbClr val="D4DAE2"/>
            </a:solidFill>
            <a:prstDash val="solid"/>
          </a:ln>
        </p:spPr>
      </p:sp>
      <p:sp>
        <p:nvSpPr>
          <p:cNvPr id="83" name="Text 81"/>
          <p:cNvSpPr txBox="1"/>
          <p:nvPr/>
        </p:nvSpPr>
        <p:spPr>
          <a:xfrm>
            <a:off x="6291072" y="3877056"/>
            <a:ext cx="3557016" cy="260604"/>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No precedent at all for this shape</a:t>
            </a:r>
            <a:endParaRPr lang="en-US" sz="750" dirty="0"/>
          </a:p>
        </p:txBody>
      </p:sp>
      <p:sp>
        <p:nvSpPr>
          <p:cNvPr id="84" name="Shape 82"/>
          <p:cNvSpPr/>
          <p:nvPr/>
        </p:nvSpPr>
        <p:spPr>
          <a:xfrm>
            <a:off x="9966960" y="3927348"/>
            <a:ext cx="1737360" cy="160020"/>
          </a:xfrm>
          <a:prstGeom prst="rect">
            <a:avLst/>
          </a:prstGeom>
          <a:solidFill>
            <a:srgbClr val="E8EDF4"/>
          </a:solidFill>
          <a:ln w="12700">
            <a:solidFill>
              <a:srgbClr val="333333"/>
            </a:solidFill>
            <a:prstDash val="solid"/>
          </a:ln>
        </p:spPr>
      </p:sp>
      <p:sp>
        <p:nvSpPr>
          <p:cNvPr id="85" name="Text 83"/>
          <p:cNvSpPr txBox="1"/>
          <p:nvPr/>
        </p:nvSpPr>
        <p:spPr>
          <a:xfrm>
            <a:off x="9994392" y="3877056"/>
            <a:ext cx="1682496" cy="260604"/>
          </a:xfrm>
          <a:prstGeom prst="rect">
            <a:avLst/>
          </a:prstGeom>
          <a:noFill/>
          <a:ln/>
        </p:spPr>
        <p:txBody>
          <a:bodyPr wrap="square" lIns="0" tIns="0" rIns="0" bIns="0" rtlCol="0" anchor="ctr"/>
          <a:lstStyle/>
          <a:p>
            <a:pPr algn="ctr" indent="0" marL="0">
              <a:buNone/>
            </a:pPr>
            <a:r>
              <a:rPr lang="en-US" sz="750" b="1" dirty="0">
                <a:solidFill>
                  <a:srgbClr val="15304F"/>
                </a:solidFill>
                <a:latin typeface="Calibri" pitchFamily="34" charset="0"/>
                <a:ea typeface="Calibri" pitchFamily="34" charset="-122"/>
                <a:cs typeface="Calibri" pitchFamily="34" charset="-120"/>
              </a:rPr>
              <a:t>Dedicated</a:t>
            </a:r>
            <a:endParaRPr lang="en-US" sz="750" dirty="0"/>
          </a:p>
        </p:txBody>
      </p:sp>
      <p:sp>
        <p:nvSpPr>
          <p:cNvPr id="86" name="Shape 84"/>
          <p:cNvSpPr/>
          <p:nvPr/>
        </p:nvSpPr>
        <p:spPr>
          <a:xfrm>
            <a:off x="6217920" y="4137660"/>
            <a:ext cx="5532120" cy="260604"/>
          </a:xfrm>
          <a:prstGeom prst="rect">
            <a:avLst/>
          </a:prstGeom>
          <a:solidFill>
            <a:srgbClr val="F4F7FA"/>
          </a:solidFill>
          <a:ln w="6350">
            <a:solidFill>
              <a:srgbClr val="D4DAE2"/>
            </a:solidFill>
            <a:prstDash val="solid"/>
          </a:ln>
        </p:spPr>
      </p:sp>
      <p:sp>
        <p:nvSpPr>
          <p:cNvPr id="87" name="Text 85"/>
          <p:cNvSpPr txBox="1"/>
          <p:nvPr/>
        </p:nvSpPr>
        <p:spPr>
          <a:xfrm>
            <a:off x="6291072" y="4137660"/>
            <a:ext cx="3557016" cy="260604"/>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Existing content or metadata remediated</a:t>
            </a:r>
            <a:endParaRPr lang="en-US" sz="750" dirty="0"/>
          </a:p>
        </p:txBody>
      </p:sp>
      <p:sp>
        <p:nvSpPr>
          <p:cNvPr id="88" name="Shape 86"/>
          <p:cNvSpPr/>
          <p:nvPr/>
        </p:nvSpPr>
        <p:spPr>
          <a:xfrm>
            <a:off x="9966960" y="4187952"/>
            <a:ext cx="1737360" cy="160020"/>
          </a:xfrm>
          <a:prstGeom prst="rect">
            <a:avLst/>
          </a:prstGeom>
          <a:solidFill>
            <a:srgbClr val="E8EDF4"/>
          </a:solidFill>
          <a:ln w="12700">
            <a:solidFill>
              <a:srgbClr val="333333"/>
            </a:solidFill>
            <a:prstDash val="solid"/>
          </a:ln>
        </p:spPr>
      </p:sp>
      <p:sp>
        <p:nvSpPr>
          <p:cNvPr id="89" name="Text 87"/>
          <p:cNvSpPr txBox="1"/>
          <p:nvPr/>
        </p:nvSpPr>
        <p:spPr>
          <a:xfrm>
            <a:off x="9994392" y="4137660"/>
            <a:ext cx="1682496" cy="260604"/>
          </a:xfrm>
          <a:prstGeom prst="rect">
            <a:avLst/>
          </a:prstGeom>
          <a:noFill/>
          <a:ln/>
        </p:spPr>
        <p:txBody>
          <a:bodyPr wrap="square" lIns="0" tIns="0" rIns="0" bIns="0" rtlCol="0" anchor="ctr"/>
          <a:lstStyle/>
          <a:p>
            <a:pPr algn="ctr" indent="0" marL="0">
              <a:buNone/>
            </a:pPr>
            <a:r>
              <a:rPr lang="en-US" sz="750" b="1" dirty="0">
                <a:solidFill>
                  <a:srgbClr val="15304F"/>
                </a:solidFill>
                <a:latin typeface="Calibri" pitchFamily="34" charset="0"/>
                <a:ea typeface="Calibri" pitchFamily="34" charset="-122"/>
                <a:cs typeface="Calibri" pitchFamily="34" charset="-120"/>
              </a:rPr>
              <a:t>Dedicated</a:t>
            </a:r>
            <a:endParaRPr lang="en-US" sz="750" dirty="0"/>
          </a:p>
        </p:txBody>
      </p:sp>
      <p:sp>
        <p:nvSpPr>
          <p:cNvPr id="90" name="Shape 88"/>
          <p:cNvSpPr/>
          <p:nvPr/>
        </p:nvSpPr>
        <p:spPr>
          <a:xfrm>
            <a:off x="6217920" y="4398264"/>
            <a:ext cx="5532120" cy="260604"/>
          </a:xfrm>
          <a:prstGeom prst="rect">
            <a:avLst/>
          </a:prstGeom>
          <a:solidFill>
            <a:srgbClr val="FFFFFF"/>
          </a:solidFill>
          <a:ln w="6350">
            <a:solidFill>
              <a:srgbClr val="D4DAE2"/>
            </a:solidFill>
            <a:prstDash val="solid"/>
          </a:ln>
        </p:spPr>
      </p:sp>
      <p:sp>
        <p:nvSpPr>
          <p:cNvPr id="91" name="Text 89"/>
          <p:cNvSpPr txBox="1"/>
          <p:nvPr/>
        </p:nvSpPr>
        <p:spPr>
          <a:xfrm>
            <a:off x="6291072" y="4398264"/>
            <a:ext cx="3557016" cy="260604"/>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New regulated retention or WORM</a:t>
            </a:r>
            <a:endParaRPr lang="en-US" sz="750" dirty="0"/>
          </a:p>
        </p:txBody>
      </p:sp>
      <p:sp>
        <p:nvSpPr>
          <p:cNvPr id="92" name="Shape 90"/>
          <p:cNvSpPr/>
          <p:nvPr/>
        </p:nvSpPr>
        <p:spPr>
          <a:xfrm>
            <a:off x="9966960" y="4448556"/>
            <a:ext cx="1737360" cy="160020"/>
          </a:xfrm>
          <a:prstGeom prst="rect">
            <a:avLst/>
          </a:prstGeom>
          <a:solidFill>
            <a:srgbClr val="E8EDF4"/>
          </a:solidFill>
          <a:ln w="12700">
            <a:solidFill>
              <a:srgbClr val="333333"/>
            </a:solidFill>
            <a:prstDash val="solid"/>
          </a:ln>
        </p:spPr>
      </p:sp>
      <p:sp>
        <p:nvSpPr>
          <p:cNvPr id="93" name="Text 91"/>
          <p:cNvSpPr txBox="1"/>
          <p:nvPr/>
        </p:nvSpPr>
        <p:spPr>
          <a:xfrm>
            <a:off x="9994392" y="4398264"/>
            <a:ext cx="1682496" cy="260604"/>
          </a:xfrm>
          <a:prstGeom prst="rect">
            <a:avLst/>
          </a:prstGeom>
          <a:noFill/>
          <a:ln/>
        </p:spPr>
        <p:txBody>
          <a:bodyPr wrap="square" lIns="0" tIns="0" rIns="0" bIns="0" rtlCol="0" anchor="ctr"/>
          <a:lstStyle/>
          <a:p>
            <a:pPr algn="ctr" indent="0" marL="0">
              <a:buNone/>
            </a:pPr>
            <a:r>
              <a:rPr lang="en-US" sz="750" b="1" dirty="0">
                <a:solidFill>
                  <a:srgbClr val="15304F"/>
                </a:solidFill>
                <a:latin typeface="Calibri" pitchFamily="34" charset="0"/>
                <a:ea typeface="Calibri" pitchFamily="34" charset="-122"/>
                <a:cs typeface="Calibri" pitchFamily="34" charset="-120"/>
              </a:rPr>
              <a:t>Dedicated</a:t>
            </a:r>
            <a:endParaRPr lang="en-US" sz="750" dirty="0"/>
          </a:p>
        </p:txBody>
      </p:sp>
      <p:sp>
        <p:nvSpPr>
          <p:cNvPr id="94" name="Shape 92"/>
          <p:cNvSpPr/>
          <p:nvPr/>
        </p:nvSpPr>
        <p:spPr>
          <a:xfrm>
            <a:off x="6217920" y="4658868"/>
            <a:ext cx="5532120" cy="260604"/>
          </a:xfrm>
          <a:prstGeom prst="rect">
            <a:avLst/>
          </a:prstGeom>
          <a:solidFill>
            <a:srgbClr val="F4F7FA"/>
          </a:solidFill>
          <a:ln w="6350">
            <a:solidFill>
              <a:srgbClr val="D4DAE2"/>
            </a:solidFill>
            <a:prstDash val="solid"/>
          </a:ln>
        </p:spPr>
      </p:sp>
      <p:sp>
        <p:nvSpPr>
          <p:cNvPr id="95" name="Text 93"/>
          <p:cNvSpPr txBox="1"/>
          <p:nvPr/>
        </p:nvSpPr>
        <p:spPr>
          <a:xfrm>
            <a:off x="6291072" y="4658868"/>
            <a:ext cx="3557016" cy="260604"/>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Multiple LOBs or multiple partners</a:t>
            </a:r>
            <a:endParaRPr lang="en-US" sz="750" dirty="0"/>
          </a:p>
        </p:txBody>
      </p:sp>
      <p:sp>
        <p:nvSpPr>
          <p:cNvPr id="96" name="Shape 94"/>
          <p:cNvSpPr/>
          <p:nvPr/>
        </p:nvSpPr>
        <p:spPr>
          <a:xfrm>
            <a:off x="9966960" y="4709160"/>
            <a:ext cx="1737360" cy="160020"/>
          </a:xfrm>
          <a:prstGeom prst="rect">
            <a:avLst/>
          </a:prstGeom>
          <a:solidFill>
            <a:srgbClr val="E8EDF4"/>
          </a:solidFill>
          <a:ln w="12700">
            <a:solidFill>
              <a:srgbClr val="333333"/>
            </a:solidFill>
            <a:prstDash val="solid"/>
          </a:ln>
        </p:spPr>
      </p:sp>
      <p:sp>
        <p:nvSpPr>
          <p:cNvPr id="97" name="Text 95"/>
          <p:cNvSpPr txBox="1"/>
          <p:nvPr/>
        </p:nvSpPr>
        <p:spPr>
          <a:xfrm>
            <a:off x="9994392" y="4658868"/>
            <a:ext cx="1682496" cy="260604"/>
          </a:xfrm>
          <a:prstGeom prst="rect">
            <a:avLst/>
          </a:prstGeom>
          <a:noFill/>
          <a:ln/>
        </p:spPr>
        <p:txBody>
          <a:bodyPr wrap="square" lIns="0" tIns="0" rIns="0" bIns="0" rtlCol="0" anchor="ctr"/>
          <a:lstStyle/>
          <a:p>
            <a:pPr algn="ctr" indent="0" marL="0">
              <a:buNone/>
            </a:pPr>
            <a:r>
              <a:rPr lang="en-US" sz="750" b="1" dirty="0">
                <a:solidFill>
                  <a:srgbClr val="15304F"/>
                </a:solidFill>
                <a:latin typeface="Calibri" pitchFamily="34" charset="0"/>
                <a:ea typeface="Calibri" pitchFamily="34" charset="-122"/>
                <a:cs typeface="Calibri" pitchFamily="34" charset="-120"/>
              </a:rPr>
              <a:t>Dedicated</a:t>
            </a:r>
            <a:endParaRPr lang="en-US" sz="750" dirty="0"/>
          </a:p>
        </p:txBody>
      </p:sp>
      <p:sp>
        <p:nvSpPr>
          <p:cNvPr id="98" name="Shape 96"/>
          <p:cNvSpPr/>
          <p:nvPr/>
        </p:nvSpPr>
        <p:spPr>
          <a:xfrm>
            <a:off x="6217920" y="4919472"/>
            <a:ext cx="5532120" cy="260604"/>
          </a:xfrm>
          <a:prstGeom prst="rect">
            <a:avLst/>
          </a:prstGeom>
          <a:solidFill>
            <a:srgbClr val="FFFFFF"/>
          </a:solidFill>
          <a:ln w="6350">
            <a:solidFill>
              <a:srgbClr val="D4DAE2"/>
            </a:solidFill>
            <a:prstDash val="solid"/>
          </a:ln>
        </p:spPr>
      </p:sp>
      <p:sp>
        <p:nvSpPr>
          <p:cNvPr id="99" name="Text 97"/>
          <p:cNvSpPr txBox="1"/>
          <p:nvPr/>
        </p:nvSpPr>
        <p:spPr>
          <a:xfrm>
            <a:off x="6291072" y="4919472"/>
            <a:ext cx="3557016" cy="260604"/>
          </a:xfrm>
          <a:prstGeom prst="rect">
            <a:avLst/>
          </a:prstGeom>
          <a:noFill/>
          <a:ln/>
        </p:spPr>
        <p:txBody>
          <a:bodyPr wrap="square" lIns="0" tIns="0" rIns="0" bIns="0" rtlCol="0" anchor="ctr"/>
          <a:lstStyle/>
          <a:p>
            <a:pPr algn="l" indent="0" marL="0">
              <a:buNone/>
            </a:pPr>
            <a:r>
              <a:rPr lang="en-US" sz="750" b="1" dirty="0">
                <a:solidFill>
                  <a:srgbClr val="1B2432"/>
                </a:solidFill>
                <a:latin typeface="Calibri" pitchFamily="34" charset="0"/>
                <a:ea typeface="Calibri" pitchFamily="34" charset="-122"/>
                <a:cs typeface="Calibri" pitchFamily="34" charset="-120"/>
              </a:rPr>
              <a:t>Partner not yet through one prior intake</a:t>
            </a:r>
            <a:endParaRPr lang="en-US" sz="750" dirty="0"/>
          </a:p>
        </p:txBody>
      </p:sp>
      <p:sp>
        <p:nvSpPr>
          <p:cNvPr id="100" name="Text 98"/>
          <p:cNvSpPr txBox="1"/>
          <p:nvPr/>
        </p:nvSpPr>
        <p:spPr>
          <a:xfrm>
            <a:off x="9994392" y="4919472"/>
            <a:ext cx="1682496" cy="260604"/>
          </a:xfrm>
          <a:prstGeom prst="rect">
            <a:avLst/>
          </a:prstGeom>
          <a:noFill/>
          <a:ln/>
        </p:spPr>
        <p:txBody>
          <a:bodyPr wrap="square" lIns="0" tIns="0" rIns="0" bIns="0" rtlCol="0" anchor="ctr"/>
          <a:lstStyle/>
          <a:p>
            <a:pPr algn="l" indent="0" marL="0">
              <a:buNone/>
            </a:pPr>
            <a:r>
              <a:rPr lang="en-US" sz="750" dirty="0">
                <a:solidFill>
                  <a:srgbClr val="1B2432"/>
                </a:solidFill>
                <a:latin typeface="Calibri" pitchFamily="34" charset="0"/>
                <a:ea typeface="Calibri" pitchFamily="34" charset="-122"/>
                <a:cs typeface="Calibri" pitchFamily="34" charset="-120"/>
              </a:rPr>
              <a:t>Not Lean</a:t>
            </a:r>
            <a:endParaRPr lang="en-US" sz="750" dirty="0"/>
          </a:p>
        </p:txBody>
      </p:sp>
      <p:sp>
        <p:nvSpPr>
          <p:cNvPr id="101" name="Text 99"/>
          <p:cNvSpPr txBox="1"/>
          <p:nvPr/>
        </p:nvSpPr>
        <p:spPr>
          <a:xfrm>
            <a:off x="411480" y="5102352"/>
            <a:ext cx="73152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CALIBRATION IS NOT OPTIONAL — TWO LEADS WILL SCORE THE SAME INTAKE DIFFERENTLY AT FIRST</a:t>
            </a:r>
            <a:endParaRPr lang="en-US" sz="760" dirty="0"/>
          </a:p>
        </p:txBody>
      </p:sp>
      <p:sp>
        <p:nvSpPr>
          <p:cNvPr id="102" name="Shape 100"/>
          <p:cNvSpPr/>
          <p:nvPr/>
        </p:nvSpPr>
        <p:spPr>
          <a:xfrm>
            <a:off x="411480" y="5303520"/>
            <a:ext cx="2743200" cy="1005840"/>
          </a:xfrm>
          <a:prstGeom prst="roundRect">
            <a:avLst>
              <a:gd name="adj" fmla="val 3636"/>
            </a:avLst>
          </a:prstGeom>
          <a:solidFill>
            <a:srgbClr val="FFFFFF"/>
          </a:solidFill>
          <a:ln w="12700">
            <a:solidFill>
              <a:srgbClr val="A44A2A"/>
            </a:solidFill>
            <a:prstDash val="solid"/>
          </a:ln>
        </p:spPr>
      </p:sp>
      <p:sp>
        <p:nvSpPr>
          <p:cNvPr id="103" name="Text 101"/>
          <p:cNvSpPr txBox="1"/>
          <p:nvPr/>
        </p:nvSpPr>
        <p:spPr>
          <a:xfrm>
            <a:off x="539496" y="5376672"/>
            <a:ext cx="2487168" cy="164592"/>
          </a:xfrm>
          <a:prstGeom prst="rect">
            <a:avLst/>
          </a:prstGeom>
          <a:noFill/>
          <a:ln/>
        </p:spPr>
        <p:txBody>
          <a:bodyPr wrap="square" lIns="0" tIns="0" rIns="0" bIns="0" rtlCol="0" anchor="ctr"/>
          <a:lstStyle/>
          <a:p>
            <a:pPr indent="0" marL="0">
              <a:buNone/>
            </a:pPr>
            <a:r>
              <a:rPr lang="en-US" sz="700" b="1" spc="80" kern="0" dirty="0">
                <a:solidFill>
                  <a:srgbClr val="A44A2A"/>
                </a:solidFill>
                <a:latin typeface="Calibri" pitchFamily="34" charset="0"/>
                <a:ea typeface="Calibri" pitchFamily="34" charset="-122"/>
                <a:cs typeface="Calibri" pitchFamily="34" charset="-120"/>
              </a:rPr>
              <a:t>BEFORE WE START</a:t>
            </a:r>
            <a:endParaRPr lang="en-US" sz="700" dirty="0"/>
          </a:p>
        </p:txBody>
      </p:sp>
      <p:sp>
        <p:nvSpPr>
          <p:cNvPr id="104" name="Text 102"/>
          <p:cNvSpPr txBox="1"/>
          <p:nvPr/>
        </p:nvSpPr>
        <p:spPr>
          <a:xfrm>
            <a:off x="539496" y="5559552"/>
            <a:ext cx="2487168" cy="694944"/>
          </a:xfrm>
          <a:prstGeom prst="rect">
            <a:avLst/>
          </a:prstGeom>
          <a:noFill/>
          <a:ln/>
        </p:spPr>
        <p:txBody>
          <a:bodyPr wrap="square" lIns="0" tIns="0" rIns="0" bIns="0" rtlCol="0" anchor="t"/>
          <a:lstStyle/>
          <a:p>
            <a:pPr indent="0" marL="0">
              <a:lnSpc>
                <a:spcPts val="880"/>
              </a:lnSpc>
              <a:buNone/>
            </a:pPr>
            <a:r>
              <a:rPr lang="en-US" sz="740" dirty="0">
                <a:solidFill>
                  <a:srgbClr val="1B2432"/>
                </a:solidFill>
                <a:latin typeface="Calibri" pitchFamily="34" charset="0"/>
                <a:ea typeface="Calibri" pitchFamily="34" charset="-122"/>
                <a:cs typeface="Calibri" pitchFamily="34" charset="-120"/>
              </a:rPr>
              <a:t>Two half-day sessions. The leads score the same three historical intakes independently, then compare and reconcile.</a:t>
            </a:r>
            <a:endParaRPr lang="en-US" sz="740" dirty="0"/>
          </a:p>
        </p:txBody>
      </p:sp>
      <p:sp>
        <p:nvSpPr>
          <p:cNvPr id="105" name="Shape 103"/>
          <p:cNvSpPr/>
          <p:nvPr/>
        </p:nvSpPr>
        <p:spPr>
          <a:xfrm>
            <a:off x="3291840" y="5303520"/>
            <a:ext cx="2743200" cy="1005840"/>
          </a:xfrm>
          <a:prstGeom prst="roundRect">
            <a:avLst>
              <a:gd name="adj" fmla="val 3636"/>
            </a:avLst>
          </a:prstGeom>
          <a:solidFill>
            <a:srgbClr val="FFFFFF"/>
          </a:solidFill>
          <a:ln w="12700">
            <a:solidFill>
              <a:srgbClr val="A44A2A"/>
            </a:solidFill>
            <a:prstDash val="solid"/>
          </a:ln>
        </p:spPr>
      </p:sp>
      <p:sp>
        <p:nvSpPr>
          <p:cNvPr id="106" name="Text 104"/>
          <p:cNvSpPr txBox="1"/>
          <p:nvPr/>
        </p:nvSpPr>
        <p:spPr>
          <a:xfrm>
            <a:off x="3419856" y="5376672"/>
            <a:ext cx="2487168" cy="164592"/>
          </a:xfrm>
          <a:prstGeom prst="rect">
            <a:avLst/>
          </a:prstGeom>
          <a:noFill/>
          <a:ln/>
        </p:spPr>
        <p:txBody>
          <a:bodyPr wrap="square" lIns="0" tIns="0" rIns="0" bIns="0" rtlCol="0" anchor="ctr"/>
          <a:lstStyle/>
          <a:p>
            <a:pPr indent="0" marL="0">
              <a:buNone/>
            </a:pPr>
            <a:r>
              <a:rPr lang="en-US" sz="700" b="1" spc="80" kern="0" dirty="0">
                <a:solidFill>
                  <a:srgbClr val="A44A2A"/>
                </a:solidFill>
                <a:latin typeface="Calibri" pitchFamily="34" charset="0"/>
                <a:ea typeface="Calibri" pitchFamily="34" charset="-122"/>
                <a:cs typeface="Calibri" pitchFamily="34" charset="-120"/>
              </a:rPr>
              <a:t>FIRST TWO MONTHS</a:t>
            </a:r>
            <a:endParaRPr lang="en-US" sz="700" dirty="0"/>
          </a:p>
        </p:txBody>
      </p:sp>
      <p:sp>
        <p:nvSpPr>
          <p:cNvPr id="107" name="Text 105"/>
          <p:cNvSpPr txBox="1"/>
          <p:nvPr/>
        </p:nvSpPr>
        <p:spPr>
          <a:xfrm>
            <a:off x="3419856" y="5559552"/>
            <a:ext cx="2487168" cy="694944"/>
          </a:xfrm>
          <a:prstGeom prst="rect">
            <a:avLst/>
          </a:prstGeom>
          <a:noFill/>
          <a:ln/>
        </p:spPr>
        <p:txBody>
          <a:bodyPr wrap="square" lIns="0" tIns="0" rIns="0" bIns="0" rtlCol="0" anchor="t"/>
          <a:lstStyle/>
          <a:p>
            <a:pPr indent="0" marL="0">
              <a:lnSpc>
                <a:spcPts val="880"/>
              </a:lnSpc>
              <a:buNone/>
            </a:pPr>
            <a:r>
              <a:rPr lang="en-US" sz="740" dirty="0">
                <a:solidFill>
                  <a:srgbClr val="1B2432"/>
                </a:solidFill>
                <a:latin typeface="Calibri" pitchFamily="34" charset="0"/>
                <a:ea typeface="Calibri" pitchFamily="34" charset="-122"/>
                <a:cs typeface="Calibri" pitchFamily="34" charset="-120"/>
              </a:rPr>
              <a:t>A fortnightly calibration review. Every tier assignment of the period is reviewed as a group, and divergences are discussed rather than corrected quietly.</a:t>
            </a:r>
            <a:endParaRPr lang="en-US" sz="740" dirty="0"/>
          </a:p>
        </p:txBody>
      </p:sp>
      <p:sp>
        <p:nvSpPr>
          <p:cNvPr id="108" name="Shape 106"/>
          <p:cNvSpPr/>
          <p:nvPr/>
        </p:nvSpPr>
        <p:spPr>
          <a:xfrm>
            <a:off x="6172200" y="5303520"/>
            <a:ext cx="2743200" cy="1005840"/>
          </a:xfrm>
          <a:prstGeom prst="roundRect">
            <a:avLst>
              <a:gd name="adj" fmla="val 3636"/>
            </a:avLst>
          </a:prstGeom>
          <a:solidFill>
            <a:srgbClr val="FFFFFF"/>
          </a:solidFill>
          <a:ln w="12700">
            <a:solidFill>
              <a:srgbClr val="A44A2A"/>
            </a:solidFill>
            <a:prstDash val="solid"/>
          </a:ln>
        </p:spPr>
      </p:sp>
      <p:sp>
        <p:nvSpPr>
          <p:cNvPr id="109" name="Text 107"/>
          <p:cNvSpPr txBox="1"/>
          <p:nvPr/>
        </p:nvSpPr>
        <p:spPr>
          <a:xfrm>
            <a:off x="6300216" y="5376672"/>
            <a:ext cx="2487168" cy="164592"/>
          </a:xfrm>
          <a:prstGeom prst="rect">
            <a:avLst/>
          </a:prstGeom>
          <a:noFill/>
          <a:ln/>
        </p:spPr>
        <p:txBody>
          <a:bodyPr wrap="square" lIns="0" tIns="0" rIns="0" bIns="0" rtlCol="0" anchor="ctr"/>
          <a:lstStyle/>
          <a:p>
            <a:pPr indent="0" marL="0">
              <a:buNone/>
            </a:pPr>
            <a:r>
              <a:rPr lang="en-US" sz="700" b="1" spc="80" kern="0" dirty="0">
                <a:solidFill>
                  <a:srgbClr val="A44A2A"/>
                </a:solidFill>
                <a:latin typeface="Calibri" pitchFamily="34" charset="0"/>
                <a:ea typeface="Calibri" pitchFamily="34" charset="-122"/>
                <a:cs typeface="Calibri" pitchFamily="34" charset="-120"/>
              </a:rPr>
              <a:t>EVERY DEVIATION</a:t>
            </a:r>
            <a:endParaRPr lang="en-US" sz="700" dirty="0"/>
          </a:p>
        </p:txBody>
      </p:sp>
      <p:sp>
        <p:nvSpPr>
          <p:cNvPr id="110" name="Text 108"/>
          <p:cNvSpPr txBox="1"/>
          <p:nvPr/>
        </p:nvSpPr>
        <p:spPr>
          <a:xfrm>
            <a:off x="6300216" y="5559552"/>
            <a:ext cx="2487168" cy="694944"/>
          </a:xfrm>
          <a:prstGeom prst="rect">
            <a:avLst/>
          </a:prstGeom>
          <a:noFill/>
          <a:ln/>
        </p:spPr>
        <p:txBody>
          <a:bodyPr wrap="square" lIns="0" tIns="0" rIns="0" bIns="0" rtlCol="0" anchor="t"/>
          <a:lstStyle/>
          <a:p>
            <a:pPr indent="0" marL="0">
              <a:lnSpc>
                <a:spcPts val="880"/>
              </a:lnSpc>
              <a:buNone/>
            </a:pPr>
            <a:r>
              <a:rPr lang="en-US" sz="740" dirty="0">
                <a:solidFill>
                  <a:srgbClr val="1B2432"/>
                </a:solidFill>
                <a:latin typeface="Calibri" pitchFamily="34" charset="0"/>
                <a:ea typeface="Calibri" pitchFamily="34" charset="-122"/>
                <a:cs typeface="Calibri" pitchFamily="34" charset="-120"/>
              </a:rPr>
              <a:t>A lead may deviate from the threshold, but must record why. A determinant repeatedly overridden in the same direction is a rubric defect, not a discipline problem.</a:t>
            </a:r>
            <a:endParaRPr lang="en-US" sz="740" dirty="0"/>
          </a:p>
        </p:txBody>
      </p:sp>
      <p:sp>
        <p:nvSpPr>
          <p:cNvPr id="111" name="Shape 109"/>
          <p:cNvSpPr/>
          <p:nvPr/>
        </p:nvSpPr>
        <p:spPr>
          <a:xfrm>
            <a:off x="9052560" y="5303520"/>
            <a:ext cx="2743200" cy="1005840"/>
          </a:xfrm>
          <a:prstGeom prst="roundRect">
            <a:avLst>
              <a:gd name="adj" fmla="val 3636"/>
            </a:avLst>
          </a:prstGeom>
          <a:solidFill>
            <a:srgbClr val="FFFFFF"/>
          </a:solidFill>
          <a:ln w="12700">
            <a:solidFill>
              <a:srgbClr val="A44A2A"/>
            </a:solidFill>
            <a:prstDash val="solid"/>
          </a:ln>
        </p:spPr>
      </p:sp>
      <p:sp>
        <p:nvSpPr>
          <p:cNvPr id="112" name="Text 110"/>
          <p:cNvSpPr txBox="1"/>
          <p:nvPr/>
        </p:nvSpPr>
        <p:spPr>
          <a:xfrm>
            <a:off x="9180576" y="5376672"/>
            <a:ext cx="2487168" cy="164592"/>
          </a:xfrm>
          <a:prstGeom prst="rect">
            <a:avLst/>
          </a:prstGeom>
          <a:noFill/>
          <a:ln/>
        </p:spPr>
        <p:txBody>
          <a:bodyPr wrap="square" lIns="0" tIns="0" rIns="0" bIns="0" rtlCol="0" anchor="ctr"/>
          <a:lstStyle/>
          <a:p>
            <a:pPr indent="0" marL="0">
              <a:buNone/>
            </a:pPr>
            <a:r>
              <a:rPr lang="en-US" sz="700" b="1" spc="80" kern="0" dirty="0">
                <a:solidFill>
                  <a:srgbClr val="A44A2A"/>
                </a:solidFill>
                <a:latin typeface="Calibri" pitchFamily="34" charset="0"/>
                <a:ea typeface="Calibri" pitchFamily="34" charset="-122"/>
                <a:cs typeface="Calibri" pitchFamily="34" charset="-120"/>
              </a:rPr>
              <a:t>APPEAL</a:t>
            </a:r>
            <a:endParaRPr lang="en-US" sz="700" dirty="0"/>
          </a:p>
        </p:txBody>
      </p:sp>
      <p:sp>
        <p:nvSpPr>
          <p:cNvPr id="113" name="Text 111"/>
          <p:cNvSpPr txBox="1"/>
          <p:nvPr/>
        </p:nvSpPr>
        <p:spPr>
          <a:xfrm>
            <a:off x="9180576" y="5559552"/>
            <a:ext cx="2487168" cy="694944"/>
          </a:xfrm>
          <a:prstGeom prst="rect">
            <a:avLst/>
          </a:prstGeom>
          <a:noFill/>
          <a:ln/>
        </p:spPr>
        <p:txBody>
          <a:bodyPr wrap="square" lIns="0" tIns="0" rIns="0" bIns="0" rtlCol="0" anchor="t"/>
          <a:lstStyle/>
          <a:p>
            <a:pPr indent="0" marL="0">
              <a:lnSpc>
                <a:spcPts val="880"/>
              </a:lnSpc>
              <a:buNone/>
            </a:pPr>
            <a:r>
              <a:rPr lang="en-US" sz="740" dirty="0">
                <a:solidFill>
                  <a:srgbClr val="1B2432"/>
                </a:solidFill>
                <a:latin typeface="Calibri" pitchFamily="34" charset="0"/>
                <a:ea typeface="Calibri" pitchFamily="34" charset="-122"/>
                <a:cs typeface="Calibri" pitchFamily="34" charset="-120"/>
              </a:rPr>
              <a:t>One appeal per intake, to the enablement lead, within five working days, naming the determinant believed to be wrongly scored.</a:t>
            </a:r>
            <a:endParaRPr lang="en-US" sz="740" dirty="0"/>
          </a:p>
        </p:txBody>
      </p:sp>
      <p:sp>
        <p:nvSpPr>
          <p:cNvPr id="114" name="Shape 112"/>
          <p:cNvSpPr/>
          <p:nvPr/>
        </p:nvSpPr>
        <p:spPr>
          <a:xfrm>
            <a:off x="411480" y="6419088"/>
            <a:ext cx="11338560" cy="438912"/>
          </a:xfrm>
          <a:prstGeom prst="roundRect">
            <a:avLst>
              <a:gd name="adj" fmla="val 10417"/>
            </a:avLst>
          </a:prstGeom>
          <a:solidFill>
            <a:srgbClr val="F4F7FA"/>
          </a:solidFill>
          <a:ln w="9525">
            <a:solidFill>
              <a:srgbClr val="D4DAE2"/>
            </a:solidFill>
            <a:prstDash val="solid"/>
          </a:ln>
        </p:spPr>
      </p:sp>
      <p:sp>
        <p:nvSpPr>
          <p:cNvPr id="115" name="Text 113"/>
          <p:cNvSpPr txBox="1"/>
          <p:nvPr/>
        </p:nvSpPr>
        <p:spPr>
          <a:xfrm>
            <a:off x="557784" y="641908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lead also selects which guardrails apply to the intake and records them on the Outcome Record, so the delivering team and the partner both know which rules are in force. Every waiver is recorded with the name of who authorised it, and waivers are reviewed in the fortnightly session.</a:t>
            </a:r>
            <a:endParaRPr lang="en-US" sz="8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shared pool</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Four to six people from the existing squads — no new headcount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pool</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COMPOSITION</a:t>
            </a:r>
            <a:endParaRPr lang="en-US" sz="760" dirty="0"/>
          </a:p>
        </p:txBody>
      </p:sp>
      <p:sp>
        <p:nvSpPr>
          <p:cNvPr id="9" name="Shape 7"/>
          <p:cNvSpPr/>
          <p:nvPr/>
        </p:nvSpPr>
        <p:spPr>
          <a:xfrm>
            <a:off x="411480" y="1243584"/>
            <a:ext cx="3675888" cy="1152144"/>
          </a:xfrm>
          <a:prstGeom prst="roundRect">
            <a:avLst>
              <a:gd name="adj" fmla="val 3968"/>
            </a:avLst>
          </a:prstGeom>
          <a:solidFill>
            <a:srgbClr val="FFFFFF"/>
          </a:solidFill>
          <a:ln w="15240">
            <a:solidFill>
              <a:srgbClr val="0B6E6E"/>
            </a:solidFill>
            <a:prstDash val="solid"/>
          </a:ln>
          <a:effectLst>
            <a:outerShdw sx="100000" sy="100000" kx="0" ky="0" algn="bl" rotWithShape="0" blurRad="88900" dist="12700" dir="5400000">
              <a:srgbClr val="97A3B4">
                <a:alpha val="16000"/>
              </a:srgbClr>
            </a:outerShdw>
          </a:effectLst>
        </p:spPr>
      </p:sp>
      <p:sp>
        <p:nvSpPr>
          <p:cNvPr id="10" name="Text 8"/>
          <p:cNvSpPr txBox="1"/>
          <p:nvPr/>
        </p:nvSpPr>
        <p:spPr>
          <a:xfrm>
            <a:off x="557784" y="1335024"/>
            <a:ext cx="1097280" cy="365760"/>
          </a:xfrm>
          <a:prstGeom prst="rect">
            <a:avLst/>
          </a:prstGeom>
          <a:noFill/>
          <a:ln/>
        </p:spPr>
        <p:txBody>
          <a:bodyPr wrap="square" lIns="0" tIns="0" rIns="0" bIns="0" rtlCol="0" anchor="ctr"/>
          <a:lstStyle/>
          <a:p>
            <a:pPr indent="0" marL="0">
              <a:buNone/>
            </a:pPr>
            <a:r>
              <a:rPr lang="en-US" sz="2400" b="1" dirty="0">
                <a:solidFill>
                  <a:srgbClr val="0B6E6E"/>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1691640" y="1335024"/>
            <a:ext cx="2249424" cy="365760"/>
          </a:xfrm>
          <a:prstGeom prst="rect">
            <a:avLst/>
          </a:prstGeom>
          <a:noFill/>
          <a:ln/>
        </p:spPr>
        <p:txBody>
          <a:bodyPr wrap="square" lIns="0" tIns="0" rIns="0" bIns="0" rtlCol="0" anchor="ctr"/>
          <a:lstStyle/>
          <a:p>
            <a:pPr indent="0" marL="0">
              <a:buNone/>
            </a:pPr>
            <a:r>
              <a:rPr lang="en-US" sz="960" b="1" dirty="0">
                <a:solidFill>
                  <a:srgbClr val="1B2432"/>
                </a:solidFill>
                <a:latin typeface="Calibri" pitchFamily="34" charset="0"/>
                <a:ea typeface="Calibri" pitchFamily="34" charset="-122"/>
                <a:cs typeface="Calibri" pitchFamily="34" charset="-120"/>
              </a:rPr>
              <a:t>Permanent core</a:t>
            </a:r>
            <a:endParaRPr lang="en-US" sz="960" dirty="0"/>
          </a:p>
        </p:txBody>
      </p:sp>
      <p:sp>
        <p:nvSpPr>
          <p:cNvPr id="12" name="Text 10"/>
          <p:cNvSpPr txBox="1"/>
          <p:nvPr/>
        </p:nvSpPr>
        <p:spPr>
          <a:xfrm>
            <a:off x="557784" y="1755648"/>
            <a:ext cx="3383280" cy="548640"/>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Continuity, pattern memory and consistent checkpoint quality. Without a core the pool has no institutional knowledge.</a:t>
            </a:r>
            <a:endParaRPr lang="en-US" sz="760" dirty="0"/>
          </a:p>
        </p:txBody>
      </p:sp>
      <p:sp>
        <p:nvSpPr>
          <p:cNvPr id="13" name="Shape 11"/>
          <p:cNvSpPr/>
          <p:nvPr/>
        </p:nvSpPr>
        <p:spPr>
          <a:xfrm>
            <a:off x="4233672" y="1243584"/>
            <a:ext cx="3675888" cy="1152144"/>
          </a:xfrm>
          <a:prstGeom prst="roundRect">
            <a:avLst>
              <a:gd name="adj" fmla="val 3968"/>
            </a:avLst>
          </a:prstGeom>
          <a:solidFill>
            <a:srgbClr val="FFFFFF"/>
          </a:solidFill>
          <a:ln w="15240">
            <a:solidFill>
              <a:srgbClr val="9A6410"/>
            </a:solidFill>
            <a:prstDash val="solid"/>
          </a:ln>
          <a:effectLst>
            <a:outerShdw sx="100000" sy="100000" kx="0" ky="0" algn="bl" rotWithShape="0" blurRad="88900" dist="12700" dir="5400000">
              <a:srgbClr val="97A3B4">
                <a:alpha val="16000"/>
              </a:srgbClr>
            </a:outerShdw>
          </a:effectLst>
        </p:spPr>
      </p:sp>
      <p:sp>
        <p:nvSpPr>
          <p:cNvPr id="14" name="Text 12"/>
          <p:cNvSpPr txBox="1"/>
          <p:nvPr/>
        </p:nvSpPr>
        <p:spPr>
          <a:xfrm>
            <a:off x="4379976" y="1335024"/>
            <a:ext cx="1097280" cy="365760"/>
          </a:xfrm>
          <a:prstGeom prst="rect">
            <a:avLst/>
          </a:prstGeom>
          <a:noFill/>
          <a:ln/>
        </p:spPr>
        <p:txBody>
          <a:bodyPr wrap="square" lIns="0" tIns="0" rIns="0" bIns="0" rtlCol="0" anchor="ctr"/>
          <a:lstStyle/>
          <a:p>
            <a:pPr indent="0" marL="0">
              <a:buNone/>
            </a:pPr>
            <a:r>
              <a:rPr lang="en-US" sz="2400" b="1" dirty="0">
                <a:solidFill>
                  <a:srgbClr val="9A6410"/>
                </a:solidFill>
                <a:latin typeface="Cambria" pitchFamily="34" charset="0"/>
                <a:ea typeface="Cambria" pitchFamily="34" charset="-122"/>
                <a:cs typeface="Cambria" pitchFamily="34" charset="-120"/>
              </a:rPr>
              <a:t>2–4</a:t>
            </a:r>
            <a:endParaRPr lang="en-US" sz="2400" dirty="0"/>
          </a:p>
        </p:txBody>
      </p:sp>
      <p:sp>
        <p:nvSpPr>
          <p:cNvPr id="15" name="Text 13"/>
          <p:cNvSpPr txBox="1"/>
          <p:nvPr/>
        </p:nvSpPr>
        <p:spPr>
          <a:xfrm>
            <a:off x="5513832" y="1335024"/>
            <a:ext cx="2249424" cy="365760"/>
          </a:xfrm>
          <a:prstGeom prst="rect">
            <a:avLst/>
          </a:prstGeom>
          <a:noFill/>
          <a:ln/>
        </p:spPr>
        <p:txBody>
          <a:bodyPr wrap="square" lIns="0" tIns="0" rIns="0" bIns="0" rtlCol="0" anchor="ctr"/>
          <a:lstStyle/>
          <a:p>
            <a:pPr indent="0" marL="0">
              <a:buNone/>
            </a:pPr>
            <a:r>
              <a:rPr lang="en-US" sz="960" b="1" dirty="0">
                <a:solidFill>
                  <a:srgbClr val="1B2432"/>
                </a:solidFill>
                <a:latin typeface="Calibri" pitchFamily="34" charset="0"/>
                <a:ea typeface="Calibri" pitchFamily="34" charset="-122"/>
                <a:cs typeface="Calibri" pitchFamily="34" charset="-120"/>
              </a:rPr>
              <a:t>Rotating members</a:t>
            </a:r>
            <a:endParaRPr lang="en-US" sz="960" dirty="0"/>
          </a:p>
        </p:txBody>
      </p:sp>
      <p:sp>
        <p:nvSpPr>
          <p:cNvPr id="16" name="Text 14"/>
          <p:cNvSpPr txBox="1"/>
          <p:nvPr/>
        </p:nvSpPr>
        <p:spPr>
          <a:xfrm>
            <a:off x="4379976" y="1755648"/>
            <a:ext cx="3383280" cy="548640"/>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Fixed-term secondment of six to eight weeks from the three squads. Spreads the model's knowledge, avoids permanently removing anyone from delivery, and makes the move politically straightforward.</a:t>
            </a:r>
            <a:endParaRPr lang="en-US" sz="760" dirty="0"/>
          </a:p>
        </p:txBody>
      </p:sp>
      <p:sp>
        <p:nvSpPr>
          <p:cNvPr id="17" name="Shape 15"/>
          <p:cNvSpPr/>
          <p:nvPr/>
        </p:nvSpPr>
        <p:spPr>
          <a:xfrm>
            <a:off x="8055864" y="1243584"/>
            <a:ext cx="3675888" cy="1152144"/>
          </a:xfrm>
          <a:prstGeom prst="roundRect">
            <a:avLst>
              <a:gd name="adj" fmla="val 3968"/>
            </a:avLst>
          </a:prstGeom>
          <a:solidFill>
            <a:srgbClr val="FFFFFF"/>
          </a:solidFill>
          <a:ln w="15240">
            <a:solidFill>
              <a:srgbClr val="15304F"/>
            </a:solidFill>
            <a:prstDash val="solid"/>
          </a:ln>
          <a:effectLst>
            <a:outerShdw sx="100000" sy="100000" kx="0" ky="0" algn="bl" rotWithShape="0" blurRad="88900" dist="12700" dir="5400000">
              <a:srgbClr val="97A3B4">
                <a:alpha val="16000"/>
              </a:srgbClr>
            </a:outerShdw>
          </a:effectLst>
        </p:spPr>
      </p:sp>
      <p:sp>
        <p:nvSpPr>
          <p:cNvPr id="18" name="Text 16"/>
          <p:cNvSpPr txBox="1"/>
          <p:nvPr/>
        </p:nvSpPr>
        <p:spPr>
          <a:xfrm>
            <a:off x="8202168" y="1335024"/>
            <a:ext cx="1097280" cy="365760"/>
          </a:xfrm>
          <a:prstGeom prst="rect">
            <a:avLst/>
          </a:prstGeom>
          <a:noFill/>
          <a:ln/>
        </p:spPr>
        <p:txBody>
          <a:bodyPr wrap="square" lIns="0" tIns="0" rIns="0" bIns="0" rtlCol="0" anchor="ctr"/>
          <a:lstStyle/>
          <a:p>
            <a:pPr indent="0" marL="0">
              <a:buNone/>
            </a:pPr>
            <a:r>
              <a:rPr lang="en-US" sz="2400" b="1" dirty="0">
                <a:solidFill>
                  <a:srgbClr val="15304F"/>
                </a:solidFill>
                <a:latin typeface="Cambria" pitchFamily="34" charset="0"/>
                <a:ea typeface="Cambria" pitchFamily="34" charset="-122"/>
                <a:cs typeface="Cambria" pitchFamily="34" charset="-120"/>
              </a:rPr>
              <a:t>4–6</a:t>
            </a:r>
            <a:endParaRPr lang="en-US" sz="2400" dirty="0"/>
          </a:p>
        </p:txBody>
      </p:sp>
      <p:sp>
        <p:nvSpPr>
          <p:cNvPr id="19" name="Text 17"/>
          <p:cNvSpPr txBox="1"/>
          <p:nvPr/>
        </p:nvSpPr>
        <p:spPr>
          <a:xfrm>
            <a:off x="9336024" y="1335024"/>
            <a:ext cx="2249424" cy="365760"/>
          </a:xfrm>
          <a:prstGeom prst="rect">
            <a:avLst/>
          </a:prstGeom>
          <a:noFill/>
          <a:ln/>
        </p:spPr>
        <p:txBody>
          <a:bodyPr wrap="square" lIns="0" tIns="0" rIns="0" bIns="0" rtlCol="0" anchor="ctr"/>
          <a:lstStyle/>
          <a:p>
            <a:pPr indent="0" marL="0">
              <a:buNone/>
            </a:pPr>
            <a:r>
              <a:rPr lang="en-US" sz="960" b="1" dirty="0">
                <a:solidFill>
                  <a:srgbClr val="1B2432"/>
                </a:solidFill>
                <a:latin typeface="Calibri" pitchFamily="34" charset="0"/>
                <a:ea typeface="Calibri" pitchFamily="34" charset="-122"/>
                <a:cs typeface="Calibri" pitchFamily="34" charset="-120"/>
              </a:rPr>
              <a:t>Total at any time</a:t>
            </a:r>
            <a:endParaRPr lang="en-US" sz="960" dirty="0"/>
          </a:p>
        </p:txBody>
      </p:sp>
      <p:sp>
        <p:nvSpPr>
          <p:cNvPr id="20" name="Text 18"/>
          <p:cNvSpPr txBox="1"/>
          <p:nvPr/>
        </p:nvSpPr>
        <p:spPr>
          <a:xfrm>
            <a:off x="8202168" y="1755648"/>
            <a:ext cx="3383280" cy="548640"/>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Sized against aggregate checkpoint load, not partner count — which is what makes it affordable.</a:t>
            </a:r>
            <a:endParaRPr lang="en-US" sz="760" dirty="0"/>
          </a:p>
        </p:txBody>
      </p:sp>
      <p:sp>
        <p:nvSpPr>
          <p:cNvPr id="21" name="Text 19"/>
          <p:cNvSpPr txBox="1"/>
          <p:nvPr/>
        </p:nvSpPr>
        <p:spPr>
          <a:xfrm>
            <a:off x="411480" y="2523744"/>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OPERATING RHYTHM</a:t>
            </a:r>
            <a:endParaRPr lang="en-US" sz="760" dirty="0"/>
          </a:p>
        </p:txBody>
      </p:sp>
      <p:sp>
        <p:nvSpPr>
          <p:cNvPr id="22" name="Shape 20"/>
          <p:cNvSpPr/>
          <p:nvPr/>
        </p:nvSpPr>
        <p:spPr>
          <a:xfrm>
            <a:off x="411480" y="2724912"/>
            <a:ext cx="11338560" cy="256032"/>
          </a:xfrm>
          <a:prstGeom prst="rect">
            <a:avLst/>
          </a:prstGeom>
          <a:solidFill>
            <a:srgbClr val="15304F"/>
          </a:solidFill>
          <a:ln w="6350">
            <a:solidFill>
              <a:srgbClr val="15304F"/>
            </a:solidFill>
            <a:prstDash val="solid"/>
          </a:ln>
        </p:spPr>
      </p:sp>
      <p:sp>
        <p:nvSpPr>
          <p:cNvPr id="23" name="Text 21"/>
          <p:cNvSpPr txBox="1"/>
          <p:nvPr/>
        </p:nvSpPr>
        <p:spPr>
          <a:xfrm>
            <a:off x="484632" y="2724912"/>
            <a:ext cx="223113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Element</a:t>
            </a:r>
            <a:endParaRPr lang="en-US" sz="800" dirty="0"/>
          </a:p>
        </p:txBody>
      </p:sp>
      <p:sp>
        <p:nvSpPr>
          <p:cNvPr id="24" name="Text 22"/>
          <p:cNvSpPr txBox="1"/>
          <p:nvPr/>
        </p:nvSpPr>
        <p:spPr>
          <a:xfrm>
            <a:off x="2862072" y="2724912"/>
            <a:ext cx="88148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Design</a:t>
            </a:r>
            <a:endParaRPr lang="en-US" sz="800" dirty="0"/>
          </a:p>
        </p:txBody>
      </p:sp>
      <p:sp>
        <p:nvSpPr>
          <p:cNvPr id="25" name="Shape 23"/>
          <p:cNvSpPr/>
          <p:nvPr/>
        </p:nvSpPr>
        <p:spPr>
          <a:xfrm>
            <a:off x="411480" y="2980944"/>
            <a:ext cx="11338560" cy="365760"/>
          </a:xfrm>
          <a:prstGeom prst="rect">
            <a:avLst/>
          </a:prstGeom>
          <a:solidFill>
            <a:srgbClr val="FFFFFF"/>
          </a:solidFill>
          <a:ln w="6350">
            <a:solidFill>
              <a:srgbClr val="D4DAE2"/>
            </a:solidFill>
            <a:prstDash val="solid"/>
          </a:ln>
        </p:spPr>
      </p:sp>
      <p:sp>
        <p:nvSpPr>
          <p:cNvPr id="26" name="Text 24"/>
          <p:cNvSpPr txBox="1"/>
          <p:nvPr/>
        </p:nvSpPr>
        <p:spPr>
          <a:xfrm>
            <a:off x="484632" y="2980944"/>
            <a:ext cx="2231136" cy="36576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Lean+ checkpoints</a:t>
            </a:r>
            <a:endParaRPr lang="en-US" sz="780" dirty="0"/>
          </a:p>
        </p:txBody>
      </p:sp>
      <p:sp>
        <p:nvSpPr>
          <p:cNvPr id="27" name="Text 25"/>
          <p:cNvSpPr txBox="1"/>
          <p:nvPr/>
        </p:nvSpPr>
        <p:spPr>
          <a:xfrm>
            <a:off x="2862072" y="2980944"/>
            <a:ext cx="8814816" cy="36576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Two mandatory reviews per intake — design baseline and pre-promotion readiness. Booked in advance against the intake's plan. The partner brings a completed artefact; no artefact, no review, rebook.</a:t>
            </a:r>
            <a:endParaRPr lang="en-US" sz="780" dirty="0"/>
          </a:p>
        </p:txBody>
      </p:sp>
      <p:sp>
        <p:nvSpPr>
          <p:cNvPr id="28" name="Shape 26"/>
          <p:cNvSpPr/>
          <p:nvPr/>
        </p:nvSpPr>
        <p:spPr>
          <a:xfrm>
            <a:off x="411480" y="3346704"/>
            <a:ext cx="11338560" cy="365760"/>
          </a:xfrm>
          <a:prstGeom prst="rect">
            <a:avLst/>
          </a:prstGeom>
          <a:solidFill>
            <a:srgbClr val="F4F7FA"/>
          </a:solidFill>
          <a:ln w="6350">
            <a:solidFill>
              <a:srgbClr val="D4DAE2"/>
            </a:solidFill>
            <a:prstDash val="solid"/>
          </a:ln>
        </p:spPr>
      </p:sp>
      <p:sp>
        <p:nvSpPr>
          <p:cNvPr id="29" name="Text 27"/>
          <p:cNvSpPr txBox="1"/>
          <p:nvPr/>
        </p:nvSpPr>
        <p:spPr>
          <a:xfrm>
            <a:off x="484632" y="3346704"/>
            <a:ext cx="2231136" cy="36576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Office hours</a:t>
            </a:r>
            <a:endParaRPr lang="en-US" sz="780" dirty="0"/>
          </a:p>
        </p:txBody>
      </p:sp>
      <p:sp>
        <p:nvSpPr>
          <p:cNvPr id="30" name="Text 28"/>
          <p:cNvSpPr txBox="1"/>
          <p:nvPr/>
        </p:nvSpPr>
        <p:spPr>
          <a:xfrm>
            <a:off x="2862072" y="3346704"/>
            <a:ext cx="8814816" cy="36576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Fixed published slots each week, bookable by any Lean or Lean+ partner, first come first served. Unbooked time reverts to pattern log work.</a:t>
            </a:r>
            <a:endParaRPr lang="en-US" sz="780" dirty="0"/>
          </a:p>
        </p:txBody>
      </p:sp>
      <p:sp>
        <p:nvSpPr>
          <p:cNvPr id="31" name="Shape 29"/>
          <p:cNvSpPr/>
          <p:nvPr/>
        </p:nvSpPr>
        <p:spPr>
          <a:xfrm>
            <a:off x="411480" y="3712464"/>
            <a:ext cx="11338560" cy="365760"/>
          </a:xfrm>
          <a:prstGeom prst="rect">
            <a:avLst/>
          </a:prstGeom>
          <a:solidFill>
            <a:srgbClr val="FFFFFF"/>
          </a:solidFill>
          <a:ln w="6350">
            <a:solidFill>
              <a:srgbClr val="D4DAE2"/>
            </a:solidFill>
            <a:prstDash val="solid"/>
          </a:ln>
        </p:spPr>
      </p:sp>
      <p:sp>
        <p:nvSpPr>
          <p:cNvPr id="32" name="Text 30"/>
          <p:cNvSpPr txBox="1"/>
          <p:nvPr/>
        </p:nvSpPr>
        <p:spPr>
          <a:xfrm>
            <a:off x="484632" y="3712464"/>
            <a:ext cx="2231136" cy="36576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Escalation duty</a:t>
            </a:r>
            <a:endParaRPr lang="en-US" sz="780" dirty="0"/>
          </a:p>
        </p:txBody>
      </p:sp>
      <p:sp>
        <p:nvSpPr>
          <p:cNvPr id="33" name="Text 31"/>
          <p:cNvSpPr txBox="1"/>
          <p:nvPr/>
        </p:nvSpPr>
        <p:spPr>
          <a:xfrm>
            <a:off x="2862072" y="3712464"/>
            <a:ext cx="8814816" cy="36576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One pool member per week holds duty for blocked partners and failed gates, with a one-working-day response commitment.</a:t>
            </a:r>
            <a:endParaRPr lang="en-US" sz="780" dirty="0"/>
          </a:p>
        </p:txBody>
      </p:sp>
      <p:sp>
        <p:nvSpPr>
          <p:cNvPr id="34" name="Shape 32"/>
          <p:cNvSpPr/>
          <p:nvPr/>
        </p:nvSpPr>
        <p:spPr>
          <a:xfrm>
            <a:off x="411480" y="4078224"/>
            <a:ext cx="11338560" cy="365760"/>
          </a:xfrm>
          <a:prstGeom prst="rect">
            <a:avLst/>
          </a:prstGeom>
          <a:solidFill>
            <a:srgbClr val="F4F7FA"/>
          </a:solidFill>
          <a:ln w="6350">
            <a:solidFill>
              <a:srgbClr val="D4DAE2"/>
            </a:solidFill>
            <a:prstDash val="solid"/>
          </a:ln>
        </p:spPr>
      </p:sp>
      <p:sp>
        <p:nvSpPr>
          <p:cNvPr id="35" name="Text 33"/>
          <p:cNvSpPr txBox="1"/>
          <p:nvPr/>
        </p:nvSpPr>
        <p:spPr>
          <a:xfrm>
            <a:off x="484632" y="4078224"/>
            <a:ext cx="2231136" cy="36576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Named guide</a:t>
            </a:r>
            <a:endParaRPr lang="en-US" sz="780" dirty="0"/>
          </a:p>
        </p:txBody>
      </p:sp>
      <p:sp>
        <p:nvSpPr>
          <p:cNvPr id="36" name="Text 34"/>
          <p:cNvSpPr txBox="1"/>
          <p:nvPr/>
        </p:nvSpPr>
        <p:spPr>
          <a:xfrm>
            <a:off x="2862072" y="4078224"/>
            <a:ext cx="8814816" cy="36576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Each Lean+ intake gets a guide for its duration — a point of contact, not a delivery resource, carrying several intakes concurrently.</a:t>
            </a:r>
            <a:endParaRPr lang="en-US" sz="780" dirty="0"/>
          </a:p>
        </p:txBody>
      </p:sp>
      <p:sp>
        <p:nvSpPr>
          <p:cNvPr id="37" name="Shape 35"/>
          <p:cNvSpPr/>
          <p:nvPr/>
        </p:nvSpPr>
        <p:spPr>
          <a:xfrm>
            <a:off x="411480" y="4443984"/>
            <a:ext cx="11338560" cy="365760"/>
          </a:xfrm>
          <a:prstGeom prst="rect">
            <a:avLst/>
          </a:prstGeom>
          <a:solidFill>
            <a:srgbClr val="FFFFFF"/>
          </a:solidFill>
          <a:ln w="6350">
            <a:solidFill>
              <a:srgbClr val="D4DAE2"/>
            </a:solidFill>
            <a:prstDash val="solid"/>
          </a:ln>
        </p:spPr>
      </p:sp>
      <p:sp>
        <p:nvSpPr>
          <p:cNvPr id="38" name="Text 36"/>
          <p:cNvSpPr txBox="1"/>
          <p:nvPr/>
        </p:nvSpPr>
        <p:spPr>
          <a:xfrm>
            <a:off x="484632" y="4443984"/>
            <a:ext cx="2231136" cy="36576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Fortnightly drift review</a:t>
            </a:r>
            <a:endParaRPr lang="en-US" sz="780" dirty="0"/>
          </a:p>
        </p:txBody>
      </p:sp>
      <p:sp>
        <p:nvSpPr>
          <p:cNvPr id="39" name="Text 37"/>
          <p:cNvSpPr txBox="1"/>
          <p:nvPr/>
        </p:nvSpPr>
        <p:spPr>
          <a:xfrm>
            <a:off x="2862072" y="4443984"/>
            <a:ext cx="8814816" cy="36576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The pool reviews every active intake against the escalation trigger list. This replaces automated drift detection, at the cost of up to two weeks of delay.</a:t>
            </a:r>
            <a:endParaRPr lang="en-US" sz="780" dirty="0"/>
          </a:p>
        </p:txBody>
      </p:sp>
      <p:sp>
        <p:nvSpPr>
          <p:cNvPr id="40" name="Shape 38"/>
          <p:cNvSpPr/>
          <p:nvPr/>
        </p:nvSpPr>
        <p:spPr>
          <a:xfrm>
            <a:off x="411480" y="4809744"/>
            <a:ext cx="11338560" cy="365760"/>
          </a:xfrm>
          <a:prstGeom prst="rect">
            <a:avLst/>
          </a:prstGeom>
          <a:solidFill>
            <a:srgbClr val="F4F7FA"/>
          </a:solidFill>
          <a:ln w="6350">
            <a:solidFill>
              <a:srgbClr val="D4DAE2"/>
            </a:solidFill>
            <a:prstDash val="solid"/>
          </a:ln>
        </p:spPr>
      </p:sp>
      <p:sp>
        <p:nvSpPr>
          <p:cNvPr id="41" name="Text 39"/>
          <p:cNvSpPr txBox="1"/>
          <p:nvPr/>
        </p:nvSpPr>
        <p:spPr>
          <a:xfrm>
            <a:off x="484632" y="4809744"/>
            <a:ext cx="2231136" cy="36576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Pattern log</a:t>
            </a:r>
            <a:endParaRPr lang="en-US" sz="780" dirty="0"/>
          </a:p>
        </p:txBody>
      </p:sp>
      <p:sp>
        <p:nvSpPr>
          <p:cNvPr id="42" name="Text 40"/>
          <p:cNvSpPr txBox="1"/>
          <p:nvPr/>
        </p:nvSpPr>
        <p:spPr>
          <a:xfrm>
            <a:off x="2862072" y="4809744"/>
            <a:ext cx="8814816" cy="36576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After each Dedicated delivery, one page: what was built, the configuration, what varied, what was difficult, how long each phase took.</a:t>
            </a:r>
            <a:endParaRPr lang="en-US" sz="780" dirty="0"/>
          </a:p>
        </p:txBody>
      </p:sp>
      <p:sp>
        <p:nvSpPr>
          <p:cNvPr id="43" name="Shape 41"/>
          <p:cNvSpPr/>
          <p:nvPr/>
        </p:nvSpPr>
        <p:spPr>
          <a:xfrm>
            <a:off x="411480" y="5303520"/>
            <a:ext cx="11338560" cy="768096"/>
          </a:xfrm>
          <a:prstGeom prst="roundRect">
            <a:avLst>
              <a:gd name="adj" fmla="val 5952"/>
            </a:avLst>
          </a:prstGeom>
          <a:solidFill>
            <a:srgbClr val="E9EEF4"/>
          </a:solidFill>
          <a:ln w="12700">
            <a:solidFill>
              <a:srgbClr val="A44A2A"/>
            </a:solidFill>
            <a:prstDash val="solid"/>
          </a:ln>
        </p:spPr>
      </p:sp>
      <p:sp>
        <p:nvSpPr>
          <p:cNvPr id="44" name="Text 42"/>
          <p:cNvSpPr txBox="1"/>
          <p:nvPr/>
        </p:nvSpPr>
        <p:spPr>
          <a:xfrm>
            <a:off x="557784" y="5385816"/>
            <a:ext cx="11045952" cy="182880"/>
          </a:xfrm>
          <a:prstGeom prst="rect">
            <a:avLst/>
          </a:prstGeom>
          <a:noFill/>
          <a:ln/>
        </p:spPr>
        <p:txBody>
          <a:bodyPr wrap="square" lIns="0" tIns="0" rIns="0" bIns="0" rtlCol="0" anchor="ctr"/>
          <a:lstStyle/>
          <a:p>
            <a:pPr indent="0" marL="0">
              <a:buNone/>
            </a:pPr>
            <a:r>
              <a:rPr lang="en-US" sz="760" b="1" spc="100" kern="0" dirty="0">
                <a:solidFill>
                  <a:srgbClr val="A44A2A"/>
                </a:solidFill>
                <a:latin typeface="Calibri" pitchFamily="34" charset="0"/>
                <a:ea typeface="Calibri" pitchFamily="34" charset="-122"/>
                <a:cs typeface="Calibri" pitchFamily="34" charset="-120"/>
              </a:rPr>
              <a:t>THE POOL MUST BE PROTECTED, AND IT WILL BE TESTED</a:t>
            </a:r>
            <a:endParaRPr lang="en-US" sz="760" dirty="0"/>
          </a:p>
        </p:txBody>
      </p:sp>
      <p:sp>
        <p:nvSpPr>
          <p:cNvPr id="45" name="Text 43"/>
          <p:cNvSpPr txBox="1"/>
          <p:nvPr/>
        </p:nvSpPr>
        <p:spPr>
          <a:xfrm>
            <a:off x="557784" y="5577840"/>
            <a:ext cx="11045952" cy="402336"/>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The pool is drawn from delivery squads, which means every squad lead will — reasonably, and under genuine pressure — want their person back for a sprint. The first time that happens and is allowed, the pool becomes a notional construct and Lean+ quietly reverts to unsupported self-service. Protection has to be an explicit management commitment with a named escalation route, agreed before Phase 1 starts rather than negotiated when the pressure arrives.</a:t>
            </a:r>
            <a:endParaRPr lang="en-US" sz="900" dirty="0"/>
          </a:p>
        </p:txBody>
      </p:sp>
      <p:sp>
        <p:nvSpPr>
          <p:cNvPr id="46" name="Shape 44"/>
          <p:cNvSpPr/>
          <p:nvPr/>
        </p:nvSpPr>
        <p:spPr>
          <a:xfrm>
            <a:off x="411480" y="6199632"/>
            <a:ext cx="11338560" cy="438912"/>
          </a:xfrm>
          <a:prstGeom prst="roundRect">
            <a:avLst>
              <a:gd name="adj" fmla="val 10417"/>
            </a:avLst>
          </a:prstGeom>
          <a:solidFill>
            <a:srgbClr val="F4F7FA"/>
          </a:solidFill>
          <a:ln w="9525">
            <a:solidFill>
              <a:srgbClr val="D4DAE2"/>
            </a:solidFill>
            <a:prstDash val="solid"/>
          </a:ln>
        </p:spPr>
      </p:sp>
      <p:sp>
        <p:nvSpPr>
          <p:cNvPr id="47" name="Text 45"/>
          <p:cNvSpPr txBox="1"/>
          <p:nvPr/>
        </p:nvSpPr>
        <p:spPr>
          <a:xfrm>
            <a:off x="557784" y="6199632"/>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guide is a contact, not a resource. A guide who starts doing the partner's implementation has converted a Lean+ intake into an unfunded Dedicated one — it happens with the best intentions and it is the most likely way the pool runs out of capacity.</a:t>
            </a:r>
            <a:endParaRPr lang="en-US" sz="8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What we can actually reach by hand</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Lean+ works well. Lean largely does not. Say so.</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ceiling</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SCENARIO DISTRIBUTION — WHAT EACH APPROACH REACHES</a:t>
            </a:r>
            <a:endParaRPr lang="en-US" sz="760" dirty="0"/>
          </a:p>
        </p:txBody>
      </p:sp>
      <p:sp>
        <p:nvSpPr>
          <p:cNvPr id="9" name="Text 7"/>
          <p:cNvSpPr txBox="1"/>
          <p:nvPr/>
        </p:nvSpPr>
        <p:spPr>
          <a:xfrm>
            <a:off x="411480" y="1280160"/>
            <a:ext cx="1645920" cy="365760"/>
          </a:xfrm>
          <a:prstGeom prst="rect">
            <a:avLst/>
          </a:prstGeom>
          <a:noFill/>
          <a:ln/>
        </p:spPr>
        <p:txBody>
          <a:bodyPr wrap="square" lIns="0" tIns="0" rIns="0" bIns="0" rtlCol="0" anchor="ctr"/>
          <a:lstStyle/>
          <a:p>
            <a:pPr indent="0" marL="0">
              <a:buNone/>
            </a:pPr>
            <a:r>
              <a:rPr lang="en-US" sz="880" b="1" dirty="0">
                <a:solidFill>
                  <a:srgbClr val="1B2432"/>
                </a:solidFill>
                <a:latin typeface="Calibri" pitchFamily="34" charset="0"/>
                <a:ea typeface="Calibri" pitchFamily="34" charset="-122"/>
                <a:cs typeface="Calibri" pitchFamily="34" charset="-120"/>
              </a:rPr>
              <a:t>Today</a:t>
            </a:r>
            <a:endParaRPr lang="en-US" sz="880" dirty="0"/>
          </a:p>
        </p:txBody>
      </p:sp>
      <p:sp>
        <p:nvSpPr>
          <p:cNvPr id="10" name="Shape 8"/>
          <p:cNvSpPr/>
          <p:nvPr/>
        </p:nvSpPr>
        <p:spPr>
          <a:xfrm>
            <a:off x="2112264" y="1280160"/>
            <a:ext cx="9637776" cy="365760"/>
          </a:xfrm>
          <a:prstGeom prst="roundRect">
            <a:avLst>
              <a:gd name="adj" fmla="val 7500"/>
            </a:avLst>
          </a:prstGeom>
          <a:solidFill>
            <a:srgbClr val="15304F"/>
          </a:solidFill>
          <a:ln w="12700">
            <a:solidFill>
              <a:srgbClr val="333333"/>
            </a:solidFill>
            <a:prstDash val="solid"/>
          </a:ln>
        </p:spPr>
      </p:sp>
      <p:sp>
        <p:nvSpPr>
          <p:cNvPr id="11" name="Text 9"/>
          <p:cNvSpPr txBox="1"/>
          <p:nvPr/>
        </p:nvSpPr>
        <p:spPr>
          <a:xfrm>
            <a:off x="2112264" y="1280160"/>
            <a:ext cx="9637776"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All 38 Dedicated</a:t>
            </a:r>
            <a:endParaRPr lang="en-US" sz="860" dirty="0"/>
          </a:p>
        </p:txBody>
      </p:sp>
      <p:sp>
        <p:nvSpPr>
          <p:cNvPr id="12" name="Text 10"/>
          <p:cNvSpPr txBox="1"/>
          <p:nvPr/>
        </p:nvSpPr>
        <p:spPr>
          <a:xfrm>
            <a:off x="411480" y="1755648"/>
            <a:ext cx="1645920" cy="365760"/>
          </a:xfrm>
          <a:prstGeom prst="rect">
            <a:avLst/>
          </a:prstGeom>
          <a:noFill/>
          <a:ln/>
        </p:spPr>
        <p:txBody>
          <a:bodyPr wrap="square" lIns="0" tIns="0" rIns="0" bIns="0" rtlCol="0" anchor="ctr"/>
          <a:lstStyle/>
          <a:p>
            <a:pPr indent="0" marL="0">
              <a:buNone/>
            </a:pPr>
            <a:r>
              <a:rPr lang="en-US" sz="880" b="1" dirty="0">
                <a:solidFill>
                  <a:srgbClr val="1B2432"/>
                </a:solidFill>
                <a:latin typeface="Calibri" pitchFamily="34" charset="0"/>
                <a:ea typeface="Calibri" pitchFamily="34" charset="-122"/>
                <a:cs typeface="Calibri" pitchFamily="34" charset="-120"/>
              </a:rPr>
              <a:t>Phase 1 — manual</a:t>
            </a:r>
            <a:endParaRPr lang="en-US" sz="880" dirty="0"/>
          </a:p>
        </p:txBody>
      </p:sp>
      <p:sp>
        <p:nvSpPr>
          <p:cNvPr id="13" name="Shape 11"/>
          <p:cNvSpPr/>
          <p:nvPr/>
        </p:nvSpPr>
        <p:spPr>
          <a:xfrm>
            <a:off x="2112264" y="1755648"/>
            <a:ext cx="1255495" cy="365760"/>
          </a:xfrm>
          <a:prstGeom prst="roundRect">
            <a:avLst>
              <a:gd name="adj" fmla="val 7500"/>
            </a:avLst>
          </a:prstGeom>
          <a:solidFill>
            <a:srgbClr val="0B6E6E"/>
          </a:solidFill>
          <a:ln w="12700">
            <a:solidFill>
              <a:srgbClr val="333333"/>
            </a:solidFill>
            <a:prstDash val="solid"/>
          </a:ln>
        </p:spPr>
      </p:sp>
      <p:sp>
        <p:nvSpPr>
          <p:cNvPr id="14" name="Text 12"/>
          <p:cNvSpPr txBox="1"/>
          <p:nvPr/>
        </p:nvSpPr>
        <p:spPr>
          <a:xfrm>
            <a:off x="2112264" y="1755648"/>
            <a:ext cx="1255495"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Lean 5</a:t>
            </a:r>
            <a:endParaRPr lang="en-US" sz="860" dirty="0"/>
          </a:p>
        </p:txBody>
      </p:sp>
      <p:sp>
        <p:nvSpPr>
          <p:cNvPr id="15" name="Shape 13"/>
          <p:cNvSpPr/>
          <p:nvPr/>
        </p:nvSpPr>
        <p:spPr>
          <a:xfrm>
            <a:off x="3399763" y="1755648"/>
            <a:ext cx="4268684" cy="365760"/>
          </a:xfrm>
          <a:prstGeom prst="roundRect">
            <a:avLst>
              <a:gd name="adj" fmla="val 7500"/>
            </a:avLst>
          </a:prstGeom>
          <a:solidFill>
            <a:srgbClr val="9A6410"/>
          </a:solidFill>
          <a:ln w="12700">
            <a:solidFill>
              <a:srgbClr val="333333"/>
            </a:solidFill>
            <a:prstDash val="solid"/>
          </a:ln>
        </p:spPr>
      </p:sp>
      <p:sp>
        <p:nvSpPr>
          <p:cNvPr id="16" name="Text 14"/>
          <p:cNvSpPr txBox="1"/>
          <p:nvPr/>
        </p:nvSpPr>
        <p:spPr>
          <a:xfrm>
            <a:off x="3399763" y="1755648"/>
            <a:ext cx="4268684"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Lean+ 17</a:t>
            </a:r>
            <a:endParaRPr lang="en-US" sz="860" dirty="0"/>
          </a:p>
        </p:txBody>
      </p:sp>
      <p:sp>
        <p:nvSpPr>
          <p:cNvPr id="17" name="Shape 15"/>
          <p:cNvSpPr/>
          <p:nvPr/>
        </p:nvSpPr>
        <p:spPr>
          <a:xfrm>
            <a:off x="7700451" y="1755648"/>
            <a:ext cx="3515387" cy="365760"/>
          </a:xfrm>
          <a:prstGeom prst="roundRect">
            <a:avLst>
              <a:gd name="adj" fmla="val 7500"/>
            </a:avLst>
          </a:prstGeom>
          <a:solidFill>
            <a:srgbClr val="15304F"/>
          </a:solidFill>
          <a:ln w="12700">
            <a:solidFill>
              <a:srgbClr val="333333"/>
            </a:solidFill>
            <a:prstDash val="solid"/>
          </a:ln>
        </p:spPr>
      </p:sp>
      <p:sp>
        <p:nvSpPr>
          <p:cNvPr id="18" name="Text 16"/>
          <p:cNvSpPr txBox="1"/>
          <p:nvPr/>
        </p:nvSpPr>
        <p:spPr>
          <a:xfrm>
            <a:off x="7700451" y="1755648"/>
            <a:ext cx="3515387"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Dedicated 14</a:t>
            </a:r>
            <a:endParaRPr lang="en-US" sz="860" dirty="0"/>
          </a:p>
        </p:txBody>
      </p:sp>
      <p:sp>
        <p:nvSpPr>
          <p:cNvPr id="19" name="Shape 17"/>
          <p:cNvSpPr/>
          <p:nvPr/>
        </p:nvSpPr>
        <p:spPr>
          <a:xfrm>
            <a:off x="11247842" y="1755648"/>
            <a:ext cx="502198" cy="365760"/>
          </a:xfrm>
          <a:prstGeom prst="roundRect">
            <a:avLst>
              <a:gd name="adj" fmla="val 7500"/>
            </a:avLst>
          </a:prstGeom>
          <a:solidFill>
            <a:srgbClr val="5B4A72"/>
          </a:solidFill>
          <a:ln w="12700">
            <a:solidFill>
              <a:srgbClr val="333333"/>
            </a:solidFill>
            <a:prstDash val="solid"/>
          </a:ln>
        </p:spPr>
      </p:sp>
      <p:sp>
        <p:nvSpPr>
          <p:cNvPr id="20" name="Text 18"/>
          <p:cNvSpPr txBox="1"/>
          <p:nvPr/>
        </p:nvSpPr>
        <p:spPr>
          <a:xfrm>
            <a:off x="11247842" y="1755648"/>
            <a:ext cx="502198"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2</a:t>
            </a:r>
            <a:endParaRPr lang="en-US" sz="860" dirty="0"/>
          </a:p>
        </p:txBody>
      </p:sp>
      <p:sp>
        <p:nvSpPr>
          <p:cNvPr id="21" name="Text 19"/>
          <p:cNvSpPr txBox="1"/>
          <p:nvPr/>
        </p:nvSpPr>
        <p:spPr>
          <a:xfrm>
            <a:off x="411480" y="2231136"/>
            <a:ext cx="1645920" cy="365760"/>
          </a:xfrm>
          <a:prstGeom prst="rect">
            <a:avLst/>
          </a:prstGeom>
          <a:noFill/>
          <a:ln/>
        </p:spPr>
        <p:txBody>
          <a:bodyPr wrap="square" lIns="0" tIns="0" rIns="0" bIns="0" rtlCol="0" anchor="ctr"/>
          <a:lstStyle/>
          <a:p>
            <a:pPr indent="0" marL="0">
              <a:buNone/>
            </a:pPr>
            <a:r>
              <a:rPr lang="en-US" sz="880" b="1" dirty="0">
                <a:solidFill>
                  <a:srgbClr val="1B2432"/>
                </a:solidFill>
                <a:latin typeface="Calibri" pitchFamily="34" charset="0"/>
                <a:ea typeface="Calibri" pitchFamily="34" charset="-122"/>
                <a:cs typeface="Calibri" pitchFamily="34" charset="-120"/>
              </a:rPr>
              <a:t>Phase 2 — at entry</a:t>
            </a:r>
            <a:endParaRPr lang="en-US" sz="880" dirty="0"/>
          </a:p>
        </p:txBody>
      </p:sp>
      <p:sp>
        <p:nvSpPr>
          <p:cNvPr id="22" name="Shape 20"/>
          <p:cNvSpPr/>
          <p:nvPr/>
        </p:nvSpPr>
        <p:spPr>
          <a:xfrm>
            <a:off x="2112264" y="2231136"/>
            <a:ext cx="2008792" cy="365760"/>
          </a:xfrm>
          <a:prstGeom prst="roundRect">
            <a:avLst>
              <a:gd name="adj" fmla="val 7500"/>
            </a:avLst>
          </a:prstGeom>
          <a:solidFill>
            <a:srgbClr val="0B6E6E"/>
          </a:solidFill>
          <a:ln w="12700">
            <a:solidFill>
              <a:srgbClr val="333333"/>
            </a:solidFill>
            <a:prstDash val="solid"/>
          </a:ln>
        </p:spPr>
      </p:sp>
      <p:sp>
        <p:nvSpPr>
          <p:cNvPr id="23" name="Text 21"/>
          <p:cNvSpPr txBox="1"/>
          <p:nvPr/>
        </p:nvSpPr>
        <p:spPr>
          <a:xfrm>
            <a:off x="2112264" y="2231136"/>
            <a:ext cx="2008792"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Lean 8</a:t>
            </a:r>
            <a:endParaRPr lang="en-US" sz="860" dirty="0"/>
          </a:p>
        </p:txBody>
      </p:sp>
      <p:sp>
        <p:nvSpPr>
          <p:cNvPr id="24" name="Shape 22"/>
          <p:cNvSpPr/>
          <p:nvPr/>
        </p:nvSpPr>
        <p:spPr>
          <a:xfrm>
            <a:off x="4153060" y="2231136"/>
            <a:ext cx="3515387" cy="365760"/>
          </a:xfrm>
          <a:prstGeom prst="roundRect">
            <a:avLst>
              <a:gd name="adj" fmla="val 7500"/>
            </a:avLst>
          </a:prstGeom>
          <a:solidFill>
            <a:srgbClr val="9A6410"/>
          </a:solidFill>
          <a:ln w="12700">
            <a:solidFill>
              <a:srgbClr val="333333"/>
            </a:solidFill>
            <a:prstDash val="solid"/>
          </a:ln>
        </p:spPr>
      </p:sp>
      <p:sp>
        <p:nvSpPr>
          <p:cNvPr id="25" name="Text 23"/>
          <p:cNvSpPr txBox="1"/>
          <p:nvPr/>
        </p:nvSpPr>
        <p:spPr>
          <a:xfrm>
            <a:off x="4153060" y="2231136"/>
            <a:ext cx="3515387"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Lean+ 14</a:t>
            </a:r>
            <a:endParaRPr lang="en-US" sz="860" dirty="0"/>
          </a:p>
        </p:txBody>
      </p:sp>
      <p:sp>
        <p:nvSpPr>
          <p:cNvPr id="26" name="Shape 24"/>
          <p:cNvSpPr/>
          <p:nvPr/>
        </p:nvSpPr>
        <p:spPr>
          <a:xfrm>
            <a:off x="7700451" y="2231136"/>
            <a:ext cx="3515387" cy="365760"/>
          </a:xfrm>
          <a:prstGeom prst="roundRect">
            <a:avLst>
              <a:gd name="adj" fmla="val 7500"/>
            </a:avLst>
          </a:prstGeom>
          <a:solidFill>
            <a:srgbClr val="15304F"/>
          </a:solidFill>
          <a:ln w="12700">
            <a:solidFill>
              <a:srgbClr val="333333"/>
            </a:solidFill>
            <a:prstDash val="solid"/>
          </a:ln>
        </p:spPr>
      </p:sp>
      <p:sp>
        <p:nvSpPr>
          <p:cNvPr id="27" name="Text 25"/>
          <p:cNvSpPr txBox="1"/>
          <p:nvPr/>
        </p:nvSpPr>
        <p:spPr>
          <a:xfrm>
            <a:off x="7700451" y="2231136"/>
            <a:ext cx="3515387"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Dedicated 14</a:t>
            </a:r>
            <a:endParaRPr lang="en-US" sz="860" dirty="0"/>
          </a:p>
        </p:txBody>
      </p:sp>
      <p:sp>
        <p:nvSpPr>
          <p:cNvPr id="28" name="Shape 26"/>
          <p:cNvSpPr/>
          <p:nvPr/>
        </p:nvSpPr>
        <p:spPr>
          <a:xfrm>
            <a:off x="11247842" y="2231136"/>
            <a:ext cx="502198" cy="365760"/>
          </a:xfrm>
          <a:prstGeom prst="roundRect">
            <a:avLst>
              <a:gd name="adj" fmla="val 7500"/>
            </a:avLst>
          </a:prstGeom>
          <a:solidFill>
            <a:srgbClr val="5B4A72"/>
          </a:solidFill>
          <a:ln w="12700">
            <a:solidFill>
              <a:srgbClr val="333333"/>
            </a:solidFill>
            <a:prstDash val="solid"/>
          </a:ln>
        </p:spPr>
      </p:sp>
      <p:sp>
        <p:nvSpPr>
          <p:cNvPr id="29" name="Text 27"/>
          <p:cNvSpPr txBox="1"/>
          <p:nvPr/>
        </p:nvSpPr>
        <p:spPr>
          <a:xfrm>
            <a:off x="11247842" y="2231136"/>
            <a:ext cx="502198"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2</a:t>
            </a:r>
            <a:endParaRPr lang="en-US" sz="860" dirty="0"/>
          </a:p>
        </p:txBody>
      </p:sp>
      <p:sp>
        <p:nvSpPr>
          <p:cNvPr id="30" name="Text 28"/>
          <p:cNvSpPr txBox="1"/>
          <p:nvPr/>
        </p:nvSpPr>
        <p:spPr>
          <a:xfrm>
            <a:off x="411480" y="2706624"/>
            <a:ext cx="1645920" cy="365760"/>
          </a:xfrm>
          <a:prstGeom prst="rect">
            <a:avLst/>
          </a:prstGeom>
          <a:noFill/>
          <a:ln/>
        </p:spPr>
        <p:txBody>
          <a:bodyPr wrap="square" lIns="0" tIns="0" rIns="0" bIns="0" rtlCol="0" anchor="ctr"/>
          <a:lstStyle/>
          <a:p>
            <a:pPr indent="0" marL="0">
              <a:buNone/>
            </a:pPr>
            <a:r>
              <a:rPr lang="en-US" sz="880" b="1" dirty="0">
                <a:solidFill>
                  <a:srgbClr val="1B2432"/>
                </a:solidFill>
                <a:latin typeface="Calibri" pitchFamily="34" charset="0"/>
                <a:ea typeface="Calibri" pitchFamily="34" charset="-122"/>
                <a:cs typeface="Calibri" pitchFamily="34" charset="-120"/>
              </a:rPr>
              <a:t>Phase 2 — steady</a:t>
            </a:r>
            <a:endParaRPr lang="en-US" sz="880" dirty="0"/>
          </a:p>
        </p:txBody>
      </p:sp>
      <p:sp>
        <p:nvSpPr>
          <p:cNvPr id="31" name="Shape 29"/>
          <p:cNvSpPr/>
          <p:nvPr/>
        </p:nvSpPr>
        <p:spPr>
          <a:xfrm>
            <a:off x="2112264" y="2706624"/>
            <a:ext cx="4017585" cy="365760"/>
          </a:xfrm>
          <a:prstGeom prst="roundRect">
            <a:avLst>
              <a:gd name="adj" fmla="val 7500"/>
            </a:avLst>
          </a:prstGeom>
          <a:solidFill>
            <a:srgbClr val="0B6E6E"/>
          </a:solidFill>
          <a:ln w="12700">
            <a:solidFill>
              <a:srgbClr val="333333"/>
            </a:solidFill>
            <a:prstDash val="solid"/>
          </a:ln>
        </p:spPr>
      </p:sp>
      <p:sp>
        <p:nvSpPr>
          <p:cNvPr id="32" name="Text 30"/>
          <p:cNvSpPr txBox="1"/>
          <p:nvPr/>
        </p:nvSpPr>
        <p:spPr>
          <a:xfrm>
            <a:off x="2112264" y="2706624"/>
            <a:ext cx="4017585"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Lean 16</a:t>
            </a:r>
            <a:endParaRPr lang="en-US" sz="860" dirty="0"/>
          </a:p>
        </p:txBody>
      </p:sp>
      <p:sp>
        <p:nvSpPr>
          <p:cNvPr id="33" name="Shape 31"/>
          <p:cNvSpPr/>
          <p:nvPr/>
        </p:nvSpPr>
        <p:spPr>
          <a:xfrm>
            <a:off x="6161853" y="2706624"/>
            <a:ext cx="3264288" cy="365760"/>
          </a:xfrm>
          <a:prstGeom prst="roundRect">
            <a:avLst>
              <a:gd name="adj" fmla="val 7500"/>
            </a:avLst>
          </a:prstGeom>
          <a:solidFill>
            <a:srgbClr val="9A6410"/>
          </a:solidFill>
          <a:ln w="12700">
            <a:solidFill>
              <a:srgbClr val="333333"/>
            </a:solidFill>
            <a:prstDash val="solid"/>
          </a:ln>
        </p:spPr>
      </p:sp>
      <p:sp>
        <p:nvSpPr>
          <p:cNvPr id="34" name="Text 32"/>
          <p:cNvSpPr txBox="1"/>
          <p:nvPr/>
        </p:nvSpPr>
        <p:spPr>
          <a:xfrm>
            <a:off x="6161853" y="2706624"/>
            <a:ext cx="3264288"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Lean+ 13</a:t>
            </a:r>
            <a:endParaRPr lang="en-US" sz="860" dirty="0"/>
          </a:p>
        </p:txBody>
      </p:sp>
      <p:sp>
        <p:nvSpPr>
          <p:cNvPr id="35" name="Shape 33"/>
          <p:cNvSpPr/>
          <p:nvPr/>
        </p:nvSpPr>
        <p:spPr>
          <a:xfrm>
            <a:off x="9458145" y="2706624"/>
            <a:ext cx="1757693" cy="365760"/>
          </a:xfrm>
          <a:prstGeom prst="roundRect">
            <a:avLst>
              <a:gd name="adj" fmla="val 7500"/>
            </a:avLst>
          </a:prstGeom>
          <a:solidFill>
            <a:srgbClr val="15304F"/>
          </a:solidFill>
          <a:ln w="12700">
            <a:solidFill>
              <a:srgbClr val="333333"/>
            </a:solidFill>
            <a:prstDash val="solid"/>
          </a:ln>
        </p:spPr>
      </p:sp>
      <p:sp>
        <p:nvSpPr>
          <p:cNvPr id="36" name="Text 34"/>
          <p:cNvSpPr txBox="1"/>
          <p:nvPr/>
        </p:nvSpPr>
        <p:spPr>
          <a:xfrm>
            <a:off x="9458145" y="2706624"/>
            <a:ext cx="1757693"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Ded 7</a:t>
            </a:r>
            <a:endParaRPr lang="en-US" sz="860" dirty="0"/>
          </a:p>
        </p:txBody>
      </p:sp>
      <p:sp>
        <p:nvSpPr>
          <p:cNvPr id="37" name="Shape 35"/>
          <p:cNvSpPr/>
          <p:nvPr/>
        </p:nvSpPr>
        <p:spPr>
          <a:xfrm>
            <a:off x="11247842" y="2706624"/>
            <a:ext cx="502198" cy="365760"/>
          </a:xfrm>
          <a:prstGeom prst="roundRect">
            <a:avLst>
              <a:gd name="adj" fmla="val 7500"/>
            </a:avLst>
          </a:prstGeom>
          <a:solidFill>
            <a:srgbClr val="5B4A72"/>
          </a:solidFill>
          <a:ln w="12700">
            <a:solidFill>
              <a:srgbClr val="333333"/>
            </a:solidFill>
            <a:prstDash val="solid"/>
          </a:ln>
        </p:spPr>
      </p:sp>
      <p:sp>
        <p:nvSpPr>
          <p:cNvPr id="38" name="Text 36"/>
          <p:cNvSpPr txBox="1"/>
          <p:nvPr/>
        </p:nvSpPr>
        <p:spPr>
          <a:xfrm>
            <a:off x="11247842" y="2706624"/>
            <a:ext cx="502198" cy="36576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2</a:t>
            </a:r>
            <a:endParaRPr lang="en-US" sz="860" dirty="0"/>
          </a:p>
        </p:txBody>
      </p:sp>
      <p:sp>
        <p:nvSpPr>
          <p:cNvPr id="39" name="Shape 37"/>
          <p:cNvSpPr/>
          <p:nvPr/>
        </p:nvSpPr>
        <p:spPr>
          <a:xfrm>
            <a:off x="411480" y="3291840"/>
            <a:ext cx="5577840" cy="1426464"/>
          </a:xfrm>
          <a:prstGeom prst="roundRect">
            <a:avLst>
              <a:gd name="adj" fmla="val 3205"/>
            </a:avLst>
          </a:prstGeom>
          <a:solidFill>
            <a:srgbClr val="FFFFFF"/>
          </a:solidFill>
          <a:ln w="15875">
            <a:solidFill>
              <a:srgbClr val="9A6410"/>
            </a:solidFill>
            <a:prstDash val="solid"/>
          </a:ln>
          <a:effectLst>
            <a:outerShdw sx="100000" sy="100000" kx="0" ky="0" algn="bl" rotWithShape="0" blurRad="88900" dist="12700" dir="5400000">
              <a:srgbClr val="97A3B4">
                <a:alpha val="16000"/>
              </a:srgbClr>
            </a:outerShdw>
          </a:effectLst>
        </p:spPr>
      </p:sp>
      <p:sp>
        <p:nvSpPr>
          <p:cNvPr id="40" name="Text 38"/>
          <p:cNvSpPr txBox="1"/>
          <p:nvPr/>
        </p:nvSpPr>
        <p:spPr>
          <a:xfrm>
            <a:off x="557784" y="3419856"/>
            <a:ext cx="5285232" cy="164592"/>
          </a:xfrm>
          <a:prstGeom prst="rect">
            <a:avLst/>
          </a:prstGeom>
          <a:noFill/>
          <a:ln/>
        </p:spPr>
        <p:txBody>
          <a:bodyPr wrap="square" lIns="0" tIns="0" rIns="0" bIns="0" rtlCol="0" anchor="ctr"/>
          <a:lstStyle/>
          <a:p>
            <a:pPr indent="0" marL="0">
              <a:buNone/>
            </a:pPr>
            <a:r>
              <a:rPr lang="en-US" sz="720" b="1" spc="100" kern="0" dirty="0">
                <a:solidFill>
                  <a:srgbClr val="9A6410"/>
                </a:solidFill>
                <a:latin typeface="Calibri" pitchFamily="34" charset="0"/>
                <a:ea typeface="Calibri" pitchFamily="34" charset="-122"/>
                <a:cs typeface="Calibri" pitchFamily="34" charset="-120"/>
              </a:rPr>
              <a:t>A HUMAN PROCESS ALREADY</a:t>
            </a:r>
            <a:endParaRPr lang="en-US" sz="720" dirty="0"/>
          </a:p>
        </p:txBody>
      </p:sp>
      <p:sp>
        <p:nvSpPr>
          <p:cNvPr id="41" name="Text 39"/>
          <p:cNvSpPr txBox="1"/>
          <p:nvPr/>
        </p:nvSpPr>
        <p:spPr>
          <a:xfrm>
            <a:off x="557784" y="3602736"/>
            <a:ext cx="5285232" cy="310896"/>
          </a:xfrm>
          <a:prstGeom prst="rect">
            <a:avLst/>
          </a:prstGeom>
          <a:noFill/>
          <a:ln/>
        </p:spPr>
        <p:txBody>
          <a:bodyPr wrap="square" lIns="0" tIns="0" rIns="0" bIns="0" rtlCol="0" anchor="t"/>
          <a:lstStyle/>
          <a:p>
            <a:pPr indent="0" marL="0">
              <a:lnSpc>
                <a:spcPts val="1350"/>
              </a:lnSpc>
              <a:buNone/>
            </a:pPr>
            <a:r>
              <a:rPr lang="en-US" sz="1100" b="1" dirty="0">
                <a:solidFill>
                  <a:srgbClr val="1B2432"/>
                </a:solidFill>
                <a:latin typeface="Calibri" pitchFamily="34" charset="0"/>
                <a:ea typeface="Calibri" pitchFamily="34" charset="-122"/>
                <a:cs typeface="Calibri" pitchFamily="34" charset="-120"/>
              </a:rPr>
              <a:t>Why Lean+ works by hand</a:t>
            </a:r>
            <a:endParaRPr lang="en-US" sz="1100" dirty="0"/>
          </a:p>
        </p:txBody>
      </p:sp>
      <p:sp>
        <p:nvSpPr>
          <p:cNvPr id="42" name="Text 40"/>
          <p:cNvSpPr txBox="1"/>
          <p:nvPr/>
        </p:nvSpPr>
        <p:spPr>
          <a:xfrm>
            <a:off x="557784" y="3913632"/>
            <a:ext cx="5285232" cy="658368"/>
          </a:xfrm>
          <a:prstGeom prst="rect">
            <a:avLst/>
          </a:prstGeom>
          <a:noFill/>
          <a:ln/>
        </p:spPr>
        <p:txBody>
          <a:bodyPr wrap="square" lIns="0" tIns="0" rIns="0" bIns="0" rtlCol="0" anchor="t"/>
          <a:lstStyle/>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Lean+ is a human process by design — scheduled design assurance from a shared pool. Everything it depends on can be done by people with a calendar: two booked reviews, a named contact, office hours, a fortnightly drift check.</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The manual version is close to the full version.</a:t>
            </a:r>
            <a:endParaRPr lang="en-US" sz="800" dirty="0"/>
          </a:p>
        </p:txBody>
      </p:sp>
      <p:sp>
        <p:nvSpPr>
          <p:cNvPr id="43" name="Shape 41"/>
          <p:cNvSpPr/>
          <p:nvPr/>
        </p:nvSpPr>
        <p:spPr>
          <a:xfrm>
            <a:off x="6172200" y="3291840"/>
            <a:ext cx="5577840" cy="1426464"/>
          </a:xfrm>
          <a:prstGeom prst="roundRect">
            <a:avLst>
              <a:gd name="adj" fmla="val 3205"/>
            </a:avLst>
          </a:prstGeom>
          <a:solidFill>
            <a:srgbClr val="FFFFFF"/>
          </a:solidFill>
          <a:ln w="15875">
            <a:solidFill>
              <a:srgbClr val="A44A2A"/>
            </a:solidFill>
            <a:prstDash val="solid"/>
          </a:ln>
          <a:effectLst>
            <a:outerShdw sx="100000" sy="100000" kx="0" ky="0" algn="bl" rotWithShape="0" blurRad="88900" dist="12700" dir="5400000">
              <a:srgbClr val="97A3B4">
                <a:alpha val="16000"/>
              </a:srgbClr>
            </a:outerShdw>
          </a:effectLst>
        </p:spPr>
      </p:sp>
      <p:sp>
        <p:nvSpPr>
          <p:cNvPr id="44" name="Text 42"/>
          <p:cNvSpPr txBox="1"/>
          <p:nvPr/>
        </p:nvSpPr>
        <p:spPr>
          <a:xfrm>
            <a:off x="6318504" y="3419856"/>
            <a:ext cx="5285232" cy="164592"/>
          </a:xfrm>
          <a:prstGeom prst="rect">
            <a:avLst/>
          </a:prstGeom>
          <a:noFill/>
          <a:ln/>
        </p:spPr>
        <p:txBody>
          <a:bodyPr wrap="square" lIns="0" tIns="0" rIns="0" bIns="0" rtlCol="0" anchor="ctr"/>
          <a:lstStyle/>
          <a:p>
            <a:pPr indent="0" marL="0">
              <a:buNone/>
            </a:pPr>
            <a:r>
              <a:rPr lang="en-US" sz="720" b="1" spc="100" kern="0" dirty="0">
                <a:solidFill>
                  <a:srgbClr val="A44A2A"/>
                </a:solidFill>
                <a:latin typeface="Calibri" pitchFamily="34" charset="0"/>
                <a:ea typeface="Calibri" pitchFamily="34" charset="-122"/>
                <a:cs typeface="Calibri" pitchFamily="34" charset="-120"/>
              </a:rPr>
              <a:t>IT DEPENDS ON TOOLING</a:t>
            </a:r>
            <a:endParaRPr lang="en-US" sz="720" dirty="0"/>
          </a:p>
        </p:txBody>
      </p:sp>
      <p:sp>
        <p:nvSpPr>
          <p:cNvPr id="45" name="Text 43"/>
          <p:cNvSpPr txBox="1"/>
          <p:nvPr/>
        </p:nvSpPr>
        <p:spPr>
          <a:xfrm>
            <a:off x="6318504" y="3602736"/>
            <a:ext cx="5285232" cy="310896"/>
          </a:xfrm>
          <a:prstGeom prst="rect">
            <a:avLst/>
          </a:prstGeom>
          <a:noFill/>
          <a:ln/>
        </p:spPr>
        <p:txBody>
          <a:bodyPr wrap="square" lIns="0" tIns="0" rIns="0" bIns="0" rtlCol="0" anchor="t"/>
          <a:lstStyle/>
          <a:p>
            <a:pPr indent="0" marL="0">
              <a:lnSpc>
                <a:spcPts val="1350"/>
              </a:lnSpc>
              <a:buNone/>
            </a:pPr>
            <a:r>
              <a:rPr lang="en-US" sz="1100" b="1" dirty="0">
                <a:solidFill>
                  <a:srgbClr val="1B2432"/>
                </a:solidFill>
                <a:latin typeface="Calibri" pitchFamily="34" charset="0"/>
                <a:ea typeface="Calibri" pitchFamily="34" charset="-122"/>
                <a:cs typeface="Calibri" pitchFamily="34" charset="-120"/>
              </a:rPr>
              <a:t>Why Lean largely does not</a:t>
            </a:r>
            <a:endParaRPr lang="en-US" sz="1100" dirty="0"/>
          </a:p>
        </p:txBody>
      </p:sp>
      <p:sp>
        <p:nvSpPr>
          <p:cNvPr id="46" name="Text 44"/>
          <p:cNvSpPr txBox="1"/>
          <p:nvPr/>
        </p:nvSpPr>
        <p:spPr>
          <a:xfrm>
            <a:off x="6318504" y="3913632"/>
            <a:ext cx="5285232" cy="658368"/>
          </a:xfrm>
          <a:prstGeom prst="rect">
            <a:avLst/>
          </a:prstGeom>
          <a:noFill/>
          <a:ln/>
        </p:spPr>
        <p:txBody>
          <a:bodyPr wrap="square" lIns="0" tIns="0" rIns="0" bIns="0" rtlCol="0" anchor="t"/>
          <a:lstStyle/>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Lean assumes the partner can self-serve: instantiate a pattern, provision within policy bounds, clear automated gates, see their own state. Without a platform they can do none of those — they still raise requests through existing channels and still have to ask where things stand.</a:t>
            </a:r>
            <a:endParaRPr lang="en-US" sz="800" dirty="0"/>
          </a:p>
          <a:p>
            <a:pPr indent="0" marL="0">
              <a:lnSpc>
                <a:spcPts val="1060"/>
              </a:lnSpc>
              <a:spcAft>
                <a:spcPts val="250"/>
              </a:spcAft>
              <a:buNone/>
            </a:pPr>
            <a:r>
              <a:rPr lang="en-US" sz="800" dirty="0">
                <a:solidFill>
                  <a:srgbClr val="55606E"/>
                </a:solidFill>
                <a:latin typeface="Calibri" pitchFamily="34" charset="0"/>
                <a:ea typeface="Calibri" pitchFamily="34" charset="-122"/>
                <a:cs typeface="Calibri" pitchFamily="34" charset="-120"/>
              </a:rPr>
              <a:t>Manual Lean is a reduced form, viable only for the very simplest scenarios.</a:t>
            </a:r>
            <a:endParaRPr lang="en-US" sz="800" dirty="0"/>
          </a:p>
        </p:txBody>
      </p:sp>
      <p:sp>
        <p:nvSpPr>
          <p:cNvPr id="47" name="Shape 45"/>
          <p:cNvSpPr/>
          <p:nvPr/>
        </p:nvSpPr>
        <p:spPr>
          <a:xfrm>
            <a:off x="411480" y="4882896"/>
            <a:ext cx="11338560" cy="585216"/>
          </a:xfrm>
          <a:prstGeom prst="roundRect">
            <a:avLst>
              <a:gd name="adj" fmla="val 7813"/>
            </a:avLst>
          </a:prstGeom>
          <a:solidFill>
            <a:srgbClr val="E9EEF4"/>
          </a:solidFill>
          <a:ln w="12700">
            <a:solidFill>
              <a:srgbClr val="15304F"/>
            </a:solidFill>
            <a:prstDash val="solid"/>
          </a:ln>
        </p:spPr>
      </p:sp>
      <p:sp>
        <p:nvSpPr>
          <p:cNvPr id="48" name="Text 46"/>
          <p:cNvSpPr txBox="1"/>
          <p:nvPr/>
        </p:nvSpPr>
        <p:spPr>
          <a:xfrm>
            <a:off x="557784" y="4965192"/>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ELEVEN SCENARIOS SIT IN THAT GAP</a:t>
            </a:r>
            <a:endParaRPr lang="en-US" sz="760" dirty="0"/>
          </a:p>
        </p:txBody>
      </p:sp>
      <p:sp>
        <p:nvSpPr>
          <p:cNvPr id="49" name="Text 47"/>
          <p:cNvSpPr txBox="1"/>
          <p:nvPr/>
        </p:nvSpPr>
        <p:spPr>
          <a:xfrm>
            <a:off x="557784" y="5157216"/>
            <a:ext cx="11045952" cy="219456"/>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Five scenarios reachable by hand against sixteen at platform steady state. That difference is the clearest single statement of what Phase 2 actually buys — and it is a specific, countable claim rather than a design argument.</a:t>
            </a:r>
            <a:endParaRPr lang="en-US" sz="900" dirty="0"/>
          </a:p>
        </p:txBody>
      </p:sp>
      <p:sp>
        <p:nvSpPr>
          <p:cNvPr id="50" name="Shape 48"/>
          <p:cNvSpPr/>
          <p:nvPr/>
        </p:nvSpPr>
        <p:spPr>
          <a:xfrm>
            <a:off x="411480" y="5614416"/>
            <a:ext cx="11338560" cy="438912"/>
          </a:xfrm>
          <a:prstGeom prst="roundRect">
            <a:avLst>
              <a:gd name="adj" fmla="val 10417"/>
            </a:avLst>
          </a:prstGeom>
          <a:solidFill>
            <a:srgbClr val="FBF0EB"/>
          </a:solidFill>
          <a:ln w="12700">
            <a:solidFill>
              <a:srgbClr val="A44A2A"/>
            </a:solidFill>
            <a:prstDash val="solid"/>
          </a:ln>
        </p:spPr>
      </p:sp>
      <p:sp>
        <p:nvSpPr>
          <p:cNvPr id="51" name="Text 49"/>
          <p:cNvSpPr txBox="1"/>
          <p:nvPr/>
        </p:nvSpPr>
        <p:spPr>
          <a:xfrm>
            <a:off x="557784" y="5614416"/>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Phase 1 reallocates depth; it does not remove work. The clerical load — artefacts authored by hand, routing from memory, trackers maintained manually, status answered by a person — remains almost entirely. Saying so now is what stops a successful Phase 1 becoming an argument against Phase 2 later.</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tracker and the pattern log</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Two hand-maintained records — and the tracker is the primary output of Phase 1</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Measurement</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TRACKER — ONE ROW PER INTAKE, IN A SPREADSHEET OR AN EXISTING BOARD</a:t>
            </a:r>
            <a:endParaRPr lang="en-US" sz="760" dirty="0"/>
          </a:p>
        </p:txBody>
      </p:sp>
      <p:sp>
        <p:nvSpPr>
          <p:cNvPr id="9" name="Shape 7"/>
          <p:cNvSpPr/>
          <p:nvPr/>
        </p:nvSpPr>
        <p:spPr>
          <a:xfrm>
            <a:off x="411480" y="1243584"/>
            <a:ext cx="11338560" cy="256032"/>
          </a:xfrm>
          <a:prstGeom prst="rect">
            <a:avLst/>
          </a:prstGeom>
          <a:solidFill>
            <a:srgbClr val="15304F"/>
          </a:solidFill>
          <a:ln w="6350">
            <a:solidFill>
              <a:srgbClr val="15304F"/>
            </a:solidFill>
            <a:prstDash val="solid"/>
          </a:ln>
        </p:spPr>
      </p:sp>
      <p:sp>
        <p:nvSpPr>
          <p:cNvPr id="10" name="Text 8"/>
          <p:cNvSpPr txBox="1"/>
          <p:nvPr/>
        </p:nvSpPr>
        <p:spPr>
          <a:xfrm>
            <a:off x="484632" y="1243584"/>
            <a:ext cx="232257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Column group</a:t>
            </a:r>
            <a:endParaRPr lang="en-US" sz="800" dirty="0"/>
          </a:p>
        </p:txBody>
      </p:sp>
      <p:sp>
        <p:nvSpPr>
          <p:cNvPr id="11" name="Text 9"/>
          <p:cNvSpPr txBox="1"/>
          <p:nvPr/>
        </p:nvSpPr>
        <p:spPr>
          <a:xfrm>
            <a:off x="2953512" y="1243584"/>
            <a:ext cx="872337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Fields</a:t>
            </a:r>
            <a:endParaRPr lang="en-US" sz="800" dirty="0"/>
          </a:p>
        </p:txBody>
      </p:sp>
      <p:sp>
        <p:nvSpPr>
          <p:cNvPr id="12" name="Shape 10"/>
          <p:cNvSpPr/>
          <p:nvPr/>
        </p:nvSpPr>
        <p:spPr>
          <a:xfrm>
            <a:off x="411480" y="1499616"/>
            <a:ext cx="11338560" cy="306324"/>
          </a:xfrm>
          <a:prstGeom prst="rect">
            <a:avLst/>
          </a:prstGeom>
          <a:solidFill>
            <a:srgbClr val="FFFFFF"/>
          </a:solidFill>
          <a:ln w="6350">
            <a:solidFill>
              <a:srgbClr val="D4DAE2"/>
            </a:solidFill>
            <a:prstDash val="solid"/>
          </a:ln>
        </p:spPr>
      </p:sp>
      <p:sp>
        <p:nvSpPr>
          <p:cNvPr id="13" name="Text 11"/>
          <p:cNvSpPr txBox="1"/>
          <p:nvPr/>
        </p:nvSpPr>
        <p:spPr>
          <a:xfrm>
            <a:off x="484632" y="1499616"/>
            <a:ext cx="232257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Identity</a:t>
            </a:r>
            <a:endParaRPr lang="en-US" sz="780" dirty="0"/>
          </a:p>
        </p:txBody>
      </p:sp>
      <p:sp>
        <p:nvSpPr>
          <p:cNvPr id="14" name="Text 12"/>
          <p:cNvSpPr txBox="1"/>
          <p:nvPr/>
        </p:nvSpPr>
        <p:spPr>
          <a:xfrm>
            <a:off x="2953512" y="1499616"/>
            <a:ext cx="872337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Intake reference · partner · business application · date raised</a:t>
            </a:r>
            <a:endParaRPr lang="en-US" sz="780" dirty="0"/>
          </a:p>
        </p:txBody>
      </p:sp>
      <p:sp>
        <p:nvSpPr>
          <p:cNvPr id="15" name="Shape 13"/>
          <p:cNvSpPr/>
          <p:nvPr/>
        </p:nvSpPr>
        <p:spPr>
          <a:xfrm>
            <a:off x="411480" y="1805940"/>
            <a:ext cx="11338560" cy="306324"/>
          </a:xfrm>
          <a:prstGeom prst="rect">
            <a:avLst/>
          </a:prstGeom>
          <a:solidFill>
            <a:srgbClr val="F4F7FA"/>
          </a:solidFill>
          <a:ln w="6350">
            <a:solidFill>
              <a:srgbClr val="D4DAE2"/>
            </a:solidFill>
            <a:prstDash val="solid"/>
          </a:ln>
        </p:spPr>
      </p:sp>
      <p:sp>
        <p:nvSpPr>
          <p:cNvPr id="16" name="Text 14"/>
          <p:cNvSpPr txBox="1"/>
          <p:nvPr/>
        </p:nvSpPr>
        <p:spPr>
          <a:xfrm>
            <a:off x="484632" y="1805940"/>
            <a:ext cx="232257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Tiering</a:t>
            </a:r>
            <a:endParaRPr lang="en-US" sz="780" dirty="0"/>
          </a:p>
        </p:txBody>
      </p:sp>
      <p:sp>
        <p:nvSpPr>
          <p:cNvPr id="17" name="Text 15"/>
          <p:cNvSpPr txBox="1"/>
          <p:nvPr/>
        </p:nvSpPr>
        <p:spPr>
          <a:xfrm>
            <a:off x="2953512" y="1805940"/>
            <a:ext cx="872337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Determinant scores D1–D7 · total · overrides applied · assigned tier · deviation reason if any</a:t>
            </a:r>
            <a:endParaRPr lang="en-US" sz="780" dirty="0"/>
          </a:p>
        </p:txBody>
      </p:sp>
      <p:sp>
        <p:nvSpPr>
          <p:cNvPr id="18" name="Shape 16"/>
          <p:cNvSpPr/>
          <p:nvPr/>
        </p:nvSpPr>
        <p:spPr>
          <a:xfrm>
            <a:off x="411480" y="2112264"/>
            <a:ext cx="11338560" cy="306324"/>
          </a:xfrm>
          <a:prstGeom prst="rect">
            <a:avLst/>
          </a:prstGeom>
          <a:solidFill>
            <a:srgbClr val="FFFFFF"/>
          </a:solidFill>
          <a:ln w="6350">
            <a:solidFill>
              <a:srgbClr val="D4DAE2"/>
            </a:solidFill>
            <a:prstDash val="solid"/>
          </a:ln>
        </p:spPr>
      </p:sp>
      <p:sp>
        <p:nvSpPr>
          <p:cNvPr id="19" name="Text 17"/>
          <p:cNvSpPr txBox="1"/>
          <p:nvPr/>
        </p:nvSpPr>
        <p:spPr>
          <a:xfrm>
            <a:off x="484632" y="2112264"/>
            <a:ext cx="232257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Pattern</a:t>
            </a:r>
            <a:endParaRPr lang="en-US" sz="780" dirty="0"/>
          </a:p>
        </p:txBody>
      </p:sp>
      <p:sp>
        <p:nvSpPr>
          <p:cNvPr id="20" name="Text 18"/>
          <p:cNvSpPr txBox="1"/>
          <p:nvPr/>
        </p:nvSpPr>
        <p:spPr>
          <a:xfrm>
            <a:off x="2953512" y="2112264"/>
            <a:ext cx="872337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Pattern matched from the log, or 'novel'</a:t>
            </a:r>
            <a:endParaRPr lang="en-US" sz="780" dirty="0"/>
          </a:p>
        </p:txBody>
      </p:sp>
      <p:sp>
        <p:nvSpPr>
          <p:cNvPr id="21" name="Shape 19"/>
          <p:cNvSpPr/>
          <p:nvPr/>
        </p:nvSpPr>
        <p:spPr>
          <a:xfrm>
            <a:off x="411480" y="2418588"/>
            <a:ext cx="11338560" cy="306324"/>
          </a:xfrm>
          <a:prstGeom prst="rect">
            <a:avLst/>
          </a:prstGeom>
          <a:solidFill>
            <a:srgbClr val="F4F7FA"/>
          </a:solidFill>
          <a:ln w="6350">
            <a:solidFill>
              <a:srgbClr val="D4DAE2"/>
            </a:solidFill>
            <a:prstDash val="solid"/>
          </a:ln>
        </p:spPr>
      </p:sp>
      <p:sp>
        <p:nvSpPr>
          <p:cNvPr id="22" name="Text 20"/>
          <p:cNvSpPr txBox="1"/>
          <p:nvPr/>
        </p:nvSpPr>
        <p:spPr>
          <a:xfrm>
            <a:off x="484632" y="2418588"/>
            <a:ext cx="232257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Completeness</a:t>
            </a:r>
            <a:endParaRPr lang="en-US" sz="780" dirty="0"/>
          </a:p>
        </p:txBody>
      </p:sp>
      <p:sp>
        <p:nvSpPr>
          <p:cNvPr id="23" name="Text 21"/>
          <p:cNvSpPr txBox="1"/>
          <p:nvPr/>
        </p:nvSpPr>
        <p:spPr>
          <a:xfrm>
            <a:off x="2953512" y="2418588"/>
            <a:ext cx="872337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Items answered · items registered as gaps · completeness by band</a:t>
            </a:r>
            <a:endParaRPr lang="en-US" sz="780" dirty="0"/>
          </a:p>
        </p:txBody>
      </p:sp>
      <p:sp>
        <p:nvSpPr>
          <p:cNvPr id="24" name="Shape 22"/>
          <p:cNvSpPr/>
          <p:nvPr/>
        </p:nvSpPr>
        <p:spPr>
          <a:xfrm>
            <a:off x="411480" y="2724912"/>
            <a:ext cx="11338560" cy="306324"/>
          </a:xfrm>
          <a:prstGeom prst="rect">
            <a:avLst/>
          </a:prstGeom>
          <a:solidFill>
            <a:srgbClr val="FFFFFF"/>
          </a:solidFill>
          <a:ln w="6350">
            <a:solidFill>
              <a:srgbClr val="D4DAE2"/>
            </a:solidFill>
            <a:prstDash val="solid"/>
          </a:ln>
        </p:spPr>
      </p:sp>
      <p:sp>
        <p:nvSpPr>
          <p:cNvPr id="25" name="Text 23"/>
          <p:cNvSpPr txBox="1"/>
          <p:nvPr/>
        </p:nvSpPr>
        <p:spPr>
          <a:xfrm>
            <a:off x="484632" y="2724912"/>
            <a:ext cx="232257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Gaps</a:t>
            </a:r>
            <a:endParaRPr lang="en-US" sz="780" dirty="0"/>
          </a:p>
        </p:txBody>
      </p:sp>
      <p:sp>
        <p:nvSpPr>
          <p:cNvPr id="26" name="Text 24"/>
          <p:cNvSpPr txBox="1"/>
          <p:nvPr/>
        </p:nvSpPr>
        <p:spPr>
          <a:xfrm>
            <a:off x="2953512" y="2724912"/>
            <a:ext cx="872337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Each open item with named owner, due date and the gate it blocks</a:t>
            </a:r>
            <a:endParaRPr lang="en-US" sz="780" dirty="0"/>
          </a:p>
        </p:txBody>
      </p:sp>
      <p:sp>
        <p:nvSpPr>
          <p:cNvPr id="27" name="Shape 25"/>
          <p:cNvSpPr/>
          <p:nvPr/>
        </p:nvSpPr>
        <p:spPr>
          <a:xfrm>
            <a:off x="411480" y="3031236"/>
            <a:ext cx="11338560" cy="306324"/>
          </a:xfrm>
          <a:prstGeom prst="rect">
            <a:avLst/>
          </a:prstGeom>
          <a:solidFill>
            <a:srgbClr val="F4F7FA"/>
          </a:solidFill>
          <a:ln w="6350">
            <a:solidFill>
              <a:srgbClr val="D4DAE2"/>
            </a:solidFill>
            <a:prstDash val="solid"/>
          </a:ln>
        </p:spPr>
      </p:sp>
      <p:sp>
        <p:nvSpPr>
          <p:cNvPr id="28" name="Text 26"/>
          <p:cNvSpPr txBox="1"/>
          <p:nvPr/>
        </p:nvSpPr>
        <p:spPr>
          <a:xfrm>
            <a:off x="484632" y="3031236"/>
            <a:ext cx="232257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Gates</a:t>
            </a:r>
            <a:endParaRPr lang="en-US" sz="780" dirty="0"/>
          </a:p>
        </p:txBody>
      </p:sp>
      <p:sp>
        <p:nvSpPr>
          <p:cNvPr id="29" name="Text 27"/>
          <p:cNvSpPr txBox="1"/>
          <p:nvPr/>
        </p:nvSpPr>
        <p:spPr>
          <a:xfrm>
            <a:off x="2953512" y="3031236"/>
            <a:ext cx="872337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P0 to P5 status and the date each was cleared</a:t>
            </a:r>
            <a:endParaRPr lang="en-US" sz="780" dirty="0"/>
          </a:p>
        </p:txBody>
      </p:sp>
      <p:sp>
        <p:nvSpPr>
          <p:cNvPr id="30" name="Shape 28"/>
          <p:cNvSpPr/>
          <p:nvPr/>
        </p:nvSpPr>
        <p:spPr>
          <a:xfrm>
            <a:off x="411480" y="3337560"/>
            <a:ext cx="11338560" cy="306324"/>
          </a:xfrm>
          <a:prstGeom prst="rect">
            <a:avLst/>
          </a:prstGeom>
          <a:solidFill>
            <a:srgbClr val="FFFFFF"/>
          </a:solidFill>
          <a:ln w="6350">
            <a:solidFill>
              <a:srgbClr val="D4DAE2"/>
            </a:solidFill>
            <a:prstDash val="solid"/>
          </a:ln>
        </p:spPr>
      </p:sp>
      <p:sp>
        <p:nvSpPr>
          <p:cNvPr id="31" name="Text 29"/>
          <p:cNvSpPr txBox="1"/>
          <p:nvPr/>
        </p:nvSpPr>
        <p:spPr>
          <a:xfrm>
            <a:off x="484632" y="3337560"/>
            <a:ext cx="232257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Measurement</a:t>
            </a:r>
            <a:endParaRPr lang="en-US" sz="780" dirty="0"/>
          </a:p>
        </p:txBody>
      </p:sp>
      <p:sp>
        <p:nvSpPr>
          <p:cNvPr id="32" name="Text 30"/>
          <p:cNvSpPr txBox="1"/>
          <p:nvPr/>
        </p:nvSpPr>
        <p:spPr>
          <a:xfrm>
            <a:off x="2953512" y="3337560"/>
            <a:ext cx="872337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Clarification cycles counted · stage entry and exit dates · effort by team</a:t>
            </a:r>
            <a:endParaRPr lang="en-US" sz="780" dirty="0"/>
          </a:p>
        </p:txBody>
      </p:sp>
      <p:sp>
        <p:nvSpPr>
          <p:cNvPr id="33" name="Shape 31"/>
          <p:cNvSpPr/>
          <p:nvPr/>
        </p:nvSpPr>
        <p:spPr>
          <a:xfrm>
            <a:off x="411480" y="3643884"/>
            <a:ext cx="11338560" cy="306324"/>
          </a:xfrm>
          <a:prstGeom prst="rect">
            <a:avLst/>
          </a:prstGeom>
          <a:solidFill>
            <a:srgbClr val="F4F7FA"/>
          </a:solidFill>
          <a:ln w="6350">
            <a:solidFill>
              <a:srgbClr val="D4DAE2"/>
            </a:solidFill>
            <a:prstDash val="solid"/>
          </a:ln>
        </p:spPr>
      </p:sp>
      <p:sp>
        <p:nvSpPr>
          <p:cNvPr id="34" name="Text 32"/>
          <p:cNvSpPr txBox="1"/>
          <p:nvPr/>
        </p:nvSpPr>
        <p:spPr>
          <a:xfrm>
            <a:off x="484632" y="3643884"/>
            <a:ext cx="232257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Escalation</a:t>
            </a:r>
            <a:endParaRPr lang="en-US" sz="780" dirty="0"/>
          </a:p>
        </p:txBody>
      </p:sp>
      <p:sp>
        <p:nvSpPr>
          <p:cNvPr id="35" name="Text 33"/>
          <p:cNvSpPr txBox="1"/>
          <p:nvPr/>
        </p:nvSpPr>
        <p:spPr>
          <a:xfrm>
            <a:off x="2953512" y="3643884"/>
            <a:ext cx="872337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Triggers fired · re-tier events and dates</a:t>
            </a:r>
            <a:endParaRPr lang="en-US" sz="780" dirty="0"/>
          </a:p>
        </p:txBody>
      </p:sp>
      <p:sp>
        <p:nvSpPr>
          <p:cNvPr id="36" name="Shape 34"/>
          <p:cNvSpPr/>
          <p:nvPr/>
        </p:nvSpPr>
        <p:spPr>
          <a:xfrm>
            <a:off x="411480" y="4059936"/>
            <a:ext cx="11338560" cy="640080"/>
          </a:xfrm>
          <a:prstGeom prst="roundRect">
            <a:avLst>
              <a:gd name="adj" fmla="val 7143"/>
            </a:avLst>
          </a:prstGeom>
          <a:solidFill>
            <a:srgbClr val="E9EEF4"/>
          </a:solidFill>
          <a:ln w="12700">
            <a:solidFill>
              <a:srgbClr val="A44A2A"/>
            </a:solidFill>
            <a:prstDash val="solid"/>
          </a:ln>
        </p:spPr>
      </p:sp>
      <p:sp>
        <p:nvSpPr>
          <p:cNvPr id="37" name="Text 35"/>
          <p:cNvSpPr txBox="1"/>
          <p:nvPr/>
        </p:nvSpPr>
        <p:spPr>
          <a:xfrm>
            <a:off x="557784" y="4142232"/>
            <a:ext cx="11045952" cy="182880"/>
          </a:xfrm>
          <a:prstGeom prst="rect">
            <a:avLst/>
          </a:prstGeom>
          <a:noFill/>
          <a:ln/>
        </p:spPr>
        <p:txBody>
          <a:bodyPr wrap="square" lIns="0" tIns="0" rIns="0" bIns="0" rtlCol="0" anchor="ctr"/>
          <a:lstStyle/>
          <a:p>
            <a:pPr indent="0" marL="0">
              <a:buNone/>
            </a:pPr>
            <a:r>
              <a:rPr lang="en-US" sz="760" b="1" spc="100" kern="0" dirty="0">
                <a:solidFill>
                  <a:srgbClr val="A44A2A"/>
                </a:solidFill>
                <a:latin typeface="Calibri" pitchFamily="34" charset="0"/>
                <a:ea typeface="Calibri" pitchFamily="34" charset="-122"/>
                <a:cs typeface="Calibri" pitchFamily="34" charset="-120"/>
              </a:rPr>
              <a:t>THE MEASUREMENT COLUMNS ARE NOT ADMINISTRATIVE OVERHEAD</a:t>
            </a:r>
            <a:endParaRPr lang="en-US" sz="760" dirty="0"/>
          </a:p>
        </p:txBody>
      </p:sp>
      <p:sp>
        <p:nvSpPr>
          <p:cNvPr id="38" name="Text 36"/>
          <p:cNvSpPr txBox="1"/>
          <p:nvPr/>
        </p:nvSpPr>
        <p:spPr>
          <a:xfrm>
            <a:off x="557784" y="4334256"/>
            <a:ext cx="11045952" cy="274320"/>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They are the primary output of Phase 1 and the reason the Phase 2 business case becomes defensible. One named owner, reviewed weekly. If the tracker is allowed to decay, Phase 1 produces a process change with no evidence behind it — which is the worst possible outcome, because it means repeating the quarter.</a:t>
            </a:r>
            <a:endParaRPr lang="en-US" sz="900" dirty="0"/>
          </a:p>
        </p:txBody>
      </p:sp>
      <p:sp>
        <p:nvSpPr>
          <p:cNvPr id="39" name="Text 37"/>
          <p:cNvSpPr txBox="1"/>
          <p:nvPr/>
        </p:nvSpPr>
        <p:spPr>
          <a:xfrm>
            <a:off x="411480" y="4846320"/>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PATTERN LOG — ONE PAGE PER DELIVERED PATTERN, WRITTEN AT CLOSURE</a:t>
            </a:r>
            <a:endParaRPr lang="en-US" sz="760" dirty="0"/>
          </a:p>
        </p:txBody>
      </p:sp>
      <p:sp>
        <p:nvSpPr>
          <p:cNvPr id="40" name="Shape 38"/>
          <p:cNvSpPr/>
          <p:nvPr/>
        </p:nvSpPr>
        <p:spPr>
          <a:xfrm>
            <a:off x="411480" y="5047488"/>
            <a:ext cx="2157984" cy="658368"/>
          </a:xfrm>
          <a:prstGeom prst="roundRect">
            <a:avLst>
              <a:gd name="adj" fmla="val 5556"/>
            </a:avLst>
          </a:prstGeom>
          <a:solidFill>
            <a:srgbClr val="F4F7FA"/>
          </a:solidFill>
          <a:ln w="10160">
            <a:solidFill>
              <a:srgbClr val="D4DAE2"/>
            </a:solidFill>
            <a:prstDash val="solid"/>
          </a:ln>
        </p:spPr>
      </p:sp>
      <p:sp>
        <p:nvSpPr>
          <p:cNvPr id="41" name="Text 39"/>
          <p:cNvSpPr txBox="1"/>
          <p:nvPr/>
        </p:nvSpPr>
        <p:spPr>
          <a:xfrm>
            <a:off x="521208" y="5120640"/>
            <a:ext cx="1938528" cy="274320"/>
          </a:xfrm>
          <a:prstGeom prst="rect">
            <a:avLst/>
          </a:prstGeom>
          <a:noFill/>
          <a:ln/>
        </p:spPr>
        <p:txBody>
          <a:bodyPr wrap="square" lIns="0" tIns="0" rIns="0" bIns="0" rtlCol="0" anchor="ctr"/>
          <a:lstStyle/>
          <a:p>
            <a:pPr indent="0" marL="0">
              <a:lnSpc>
                <a:spcPts val="900"/>
              </a:lnSpc>
              <a:buNone/>
            </a:pPr>
            <a:r>
              <a:rPr lang="en-US" sz="780" b="1" dirty="0">
                <a:solidFill>
                  <a:srgbClr val="1B2432"/>
                </a:solidFill>
                <a:latin typeface="Calibri" pitchFamily="34" charset="0"/>
                <a:ea typeface="Calibri" pitchFamily="34" charset="-122"/>
                <a:cs typeface="Calibri" pitchFamily="34" charset="-120"/>
              </a:rPr>
              <a:t>What the partner needed</a:t>
            </a:r>
            <a:endParaRPr lang="en-US" sz="780" dirty="0"/>
          </a:p>
        </p:txBody>
      </p:sp>
      <p:sp>
        <p:nvSpPr>
          <p:cNvPr id="42" name="Text 40"/>
          <p:cNvSpPr txBox="1"/>
          <p:nvPr/>
        </p:nvSpPr>
        <p:spPr>
          <a:xfrm>
            <a:off x="521208" y="5394960"/>
            <a:ext cx="1938528" cy="256032"/>
          </a:xfrm>
          <a:prstGeom prst="rect">
            <a:avLst/>
          </a:prstGeom>
          <a:noFill/>
          <a:ln/>
        </p:spPr>
        <p:txBody>
          <a:bodyPr wrap="square" lIns="0" tIns="0" rIns="0" bIns="0" rtlCol="0" anchor="ctr"/>
          <a:lstStyle/>
          <a:p>
            <a:pPr indent="0" marL="0">
              <a:lnSpc>
                <a:spcPts val="820"/>
              </a:lnSpc>
              <a:buNone/>
            </a:pPr>
            <a:r>
              <a:rPr lang="en-US" sz="700" dirty="0">
                <a:solidFill>
                  <a:srgbClr val="55606E"/>
                </a:solidFill>
                <a:latin typeface="Calibri" pitchFamily="34" charset="0"/>
                <a:ea typeface="Calibri" pitchFamily="34" charset="-122"/>
                <a:cs typeface="Calibri" pitchFamily="34" charset="-120"/>
              </a:rPr>
              <a:t>In their terms, briefly</a:t>
            </a:r>
            <a:endParaRPr lang="en-US" sz="700" dirty="0"/>
          </a:p>
        </p:txBody>
      </p:sp>
      <p:sp>
        <p:nvSpPr>
          <p:cNvPr id="43" name="Shape 41"/>
          <p:cNvSpPr/>
          <p:nvPr/>
        </p:nvSpPr>
        <p:spPr>
          <a:xfrm>
            <a:off x="2697480" y="5047488"/>
            <a:ext cx="2157984" cy="658368"/>
          </a:xfrm>
          <a:prstGeom prst="roundRect">
            <a:avLst>
              <a:gd name="adj" fmla="val 5556"/>
            </a:avLst>
          </a:prstGeom>
          <a:solidFill>
            <a:srgbClr val="F4F7FA"/>
          </a:solidFill>
          <a:ln w="10160">
            <a:solidFill>
              <a:srgbClr val="D4DAE2"/>
            </a:solidFill>
            <a:prstDash val="solid"/>
          </a:ln>
        </p:spPr>
      </p:sp>
      <p:sp>
        <p:nvSpPr>
          <p:cNvPr id="44" name="Text 42"/>
          <p:cNvSpPr txBox="1"/>
          <p:nvPr/>
        </p:nvSpPr>
        <p:spPr>
          <a:xfrm>
            <a:off x="2807208" y="5120640"/>
            <a:ext cx="1938528" cy="274320"/>
          </a:xfrm>
          <a:prstGeom prst="rect">
            <a:avLst/>
          </a:prstGeom>
          <a:noFill/>
          <a:ln/>
        </p:spPr>
        <p:txBody>
          <a:bodyPr wrap="square" lIns="0" tIns="0" rIns="0" bIns="0" rtlCol="0" anchor="ctr"/>
          <a:lstStyle/>
          <a:p>
            <a:pPr indent="0" marL="0">
              <a:lnSpc>
                <a:spcPts val="900"/>
              </a:lnSpc>
              <a:buNone/>
            </a:pPr>
            <a:r>
              <a:rPr lang="en-US" sz="780" b="1" dirty="0">
                <a:solidFill>
                  <a:srgbClr val="1B2432"/>
                </a:solidFill>
                <a:latin typeface="Calibri" pitchFamily="34" charset="0"/>
                <a:ea typeface="Calibri" pitchFamily="34" charset="-122"/>
                <a:cs typeface="Calibri" pitchFamily="34" charset="-120"/>
              </a:rPr>
              <a:t>What was configured</a:t>
            </a:r>
            <a:endParaRPr lang="en-US" sz="780" dirty="0"/>
          </a:p>
        </p:txBody>
      </p:sp>
      <p:sp>
        <p:nvSpPr>
          <p:cNvPr id="45" name="Text 43"/>
          <p:cNvSpPr txBox="1"/>
          <p:nvPr/>
        </p:nvSpPr>
        <p:spPr>
          <a:xfrm>
            <a:off x="2807208" y="5394960"/>
            <a:ext cx="1938528" cy="256032"/>
          </a:xfrm>
          <a:prstGeom prst="rect">
            <a:avLst/>
          </a:prstGeom>
          <a:noFill/>
          <a:ln/>
        </p:spPr>
        <p:txBody>
          <a:bodyPr wrap="square" lIns="0" tIns="0" rIns="0" bIns="0" rtlCol="0" anchor="ctr"/>
          <a:lstStyle/>
          <a:p>
            <a:pPr indent="0" marL="0">
              <a:lnSpc>
                <a:spcPts val="820"/>
              </a:lnSpc>
              <a:buNone/>
            </a:pPr>
            <a:r>
              <a:rPr lang="en-US" sz="700" dirty="0">
                <a:solidFill>
                  <a:srgbClr val="55606E"/>
                </a:solidFill>
                <a:latin typeface="Calibri" pitchFamily="34" charset="0"/>
                <a:ea typeface="Calibri" pitchFamily="34" charset="-122"/>
                <a:cs typeface="Calibri" pitchFamily="34" charset="-120"/>
              </a:rPr>
              <a:t>The actual platform configuration produced</a:t>
            </a:r>
            <a:endParaRPr lang="en-US" sz="700" dirty="0"/>
          </a:p>
        </p:txBody>
      </p:sp>
      <p:sp>
        <p:nvSpPr>
          <p:cNvPr id="46" name="Shape 44"/>
          <p:cNvSpPr/>
          <p:nvPr/>
        </p:nvSpPr>
        <p:spPr>
          <a:xfrm>
            <a:off x="4983480" y="5047488"/>
            <a:ext cx="2157984" cy="658368"/>
          </a:xfrm>
          <a:prstGeom prst="roundRect">
            <a:avLst>
              <a:gd name="adj" fmla="val 5556"/>
            </a:avLst>
          </a:prstGeom>
          <a:solidFill>
            <a:srgbClr val="F4F7FA"/>
          </a:solidFill>
          <a:ln w="10160">
            <a:solidFill>
              <a:srgbClr val="D4DAE2"/>
            </a:solidFill>
            <a:prstDash val="solid"/>
          </a:ln>
        </p:spPr>
      </p:sp>
      <p:sp>
        <p:nvSpPr>
          <p:cNvPr id="47" name="Text 45"/>
          <p:cNvSpPr txBox="1"/>
          <p:nvPr/>
        </p:nvSpPr>
        <p:spPr>
          <a:xfrm>
            <a:off x="5093208" y="5120640"/>
            <a:ext cx="1938528" cy="274320"/>
          </a:xfrm>
          <a:prstGeom prst="rect">
            <a:avLst/>
          </a:prstGeom>
          <a:noFill/>
          <a:ln/>
        </p:spPr>
        <p:txBody>
          <a:bodyPr wrap="square" lIns="0" tIns="0" rIns="0" bIns="0" rtlCol="0" anchor="ctr"/>
          <a:lstStyle/>
          <a:p>
            <a:pPr indent="0" marL="0">
              <a:lnSpc>
                <a:spcPts val="900"/>
              </a:lnSpc>
              <a:buNone/>
            </a:pPr>
            <a:r>
              <a:rPr lang="en-US" sz="780" b="1" dirty="0">
                <a:solidFill>
                  <a:srgbClr val="1B2432"/>
                </a:solidFill>
                <a:latin typeface="Calibri" pitchFamily="34" charset="0"/>
                <a:ea typeface="Calibri" pitchFamily="34" charset="-122"/>
                <a:cs typeface="Calibri" pitchFamily="34" charset="-120"/>
              </a:rPr>
              <a:t>What varied</a:t>
            </a:r>
            <a:endParaRPr lang="en-US" sz="780" dirty="0"/>
          </a:p>
        </p:txBody>
      </p:sp>
      <p:sp>
        <p:nvSpPr>
          <p:cNvPr id="48" name="Text 46"/>
          <p:cNvSpPr txBox="1"/>
          <p:nvPr/>
        </p:nvSpPr>
        <p:spPr>
          <a:xfrm>
            <a:off x="5093208" y="5394960"/>
            <a:ext cx="1938528" cy="256032"/>
          </a:xfrm>
          <a:prstGeom prst="rect">
            <a:avLst/>
          </a:prstGeom>
          <a:noFill/>
          <a:ln/>
        </p:spPr>
        <p:txBody>
          <a:bodyPr wrap="square" lIns="0" tIns="0" rIns="0" bIns="0" rtlCol="0" anchor="ctr"/>
          <a:lstStyle/>
          <a:p>
            <a:pPr indent="0" marL="0">
              <a:lnSpc>
                <a:spcPts val="820"/>
              </a:lnSpc>
              <a:buNone/>
            </a:pPr>
            <a:r>
              <a:rPr lang="en-US" sz="700" dirty="0">
                <a:solidFill>
                  <a:srgbClr val="55606E"/>
                </a:solidFill>
                <a:latin typeface="Calibri" pitchFamily="34" charset="0"/>
                <a:ea typeface="Calibri" pitchFamily="34" charset="-122"/>
                <a:cs typeface="Calibri" pitchFamily="34" charset="-120"/>
              </a:rPr>
              <a:t>Which parameters differed from the last comparable intake</a:t>
            </a:r>
            <a:endParaRPr lang="en-US" sz="700" dirty="0"/>
          </a:p>
        </p:txBody>
      </p:sp>
      <p:sp>
        <p:nvSpPr>
          <p:cNvPr id="49" name="Shape 47"/>
          <p:cNvSpPr/>
          <p:nvPr/>
        </p:nvSpPr>
        <p:spPr>
          <a:xfrm>
            <a:off x="7269480" y="5047488"/>
            <a:ext cx="2157984" cy="658368"/>
          </a:xfrm>
          <a:prstGeom prst="roundRect">
            <a:avLst>
              <a:gd name="adj" fmla="val 5556"/>
            </a:avLst>
          </a:prstGeom>
          <a:solidFill>
            <a:srgbClr val="F4F7FA"/>
          </a:solidFill>
          <a:ln w="10160">
            <a:solidFill>
              <a:srgbClr val="D4DAE2"/>
            </a:solidFill>
            <a:prstDash val="solid"/>
          </a:ln>
        </p:spPr>
      </p:sp>
      <p:sp>
        <p:nvSpPr>
          <p:cNvPr id="50" name="Text 48"/>
          <p:cNvSpPr txBox="1"/>
          <p:nvPr/>
        </p:nvSpPr>
        <p:spPr>
          <a:xfrm>
            <a:off x="7379208" y="5120640"/>
            <a:ext cx="1938528" cy="274320"/>
          </a:xfrm>
          <a:prstGeom prst="rect">
            <a:avLst/>
          </a:prstGeom>
          <a:noFill/>
          <a:ln/>
        </p:spPr>
        <p:txBody>
          <a:bodyPr wrap="square" lIns="0" tIns="0" rIns="0" bIns="0" rtlCol="0" anchor="ctr"/>
          <a:lstStyle/>
          <a:p>
            <a:pPr indent="0" marL="0">
              <a:lnSpc>
                <a:spcPts val="900"/>
              </a:lnSpc>
              <a:buNone/>
            </a:pPr>
            <a:r>
              <a:rPr lang="en-US" sz="780" b="1" dirty="0">
                <a:solidFill>
                  <a:srgbClr val="1B2432"/>
                </a:solidFill>
                <a:latin typeface="Calibri" pitchFamily="34" charset="0"/>
                <a:ea typeface="Calibri" pitchFamily="34" charset="-122"/>
                <a:cs typeface="Calibri" pitchFamily="34" charset="-120"/>
              </a:rPr>
              <a:t>What proved difficult</a:t>
            </a:r>
            <a:endParaRPr lang="en-US" sz="780" dirty="0"/>
          </a:p>
        </p:txBody>
      </p:sp>
      <p:sp>
        <p:nvSpPr>
          <p:cNvPr id="51" name="Text 49"/>
          <p:cNvSpPr txBox="1"/>
          <p:nvPr/>
        </p:nvSpPr>
        <p:spPr>
          <a:xfrm>
            <a:off x="7379208" y="5394960"/>
            <a:ext cx="1938528" cy="256032"/>
          </a:xfrm>
          <a:prstGeom prst="rect">
            <a:avLst/>
          </a:prstGeom>
          <a:noFill/>
          <a:ln/>
        </p:spPr>
        <p:txBody>
          <a:bodyPr wrap="square" lIns="0" tIns="0" rIns="0" bIns="0" rtlCol="0" anchor="ctr"/>
          <a:lstStyle/>
          <a:p>
            <a:pPr indent="0" marL="0">
              <a:lnSpc>
                <a:spcPts val="820"/>
              </a:lnSpc>
              <a:buNone/>
            </a:pPr>
            <a:r>
              <a:rPr lang="en-US" sz="700" dirty="0">
                <a:solidFill>
                  <a:srgbClr val="55606E"/>
                </a:solidFill>
                <a:latin typeface="Calibri" pitchFamily="34" charset="0"/>
                <a:ea typeface="Calibri" pitchFamily="34" charset="-122"/>
                <a:cs typeface="Calibri" pitchFamily="34" charset="-120"/>
              </a:rPr>
              <a:t>Where the time went and what surprised us</a:t>
            </a:r>
            <a:endParaRPr lang="en-US" sz="700" dirty="0"/>
          </a:p>
        </p:txBody>
      </p:sp>
      <p:sp>
        <p:nvSpPr>
          <p:cNvPr id="52" name="Shape 50"/>
          <p:cNvSpPr/>
          <p:nvPr/>
        </p:nvSpPr>
        <p:spPr>
          <a:xfrm>
            <a:off x="9555480" y="5047488"/>
            <a:ext cx="2157984" cy="658368"/>
          </a:xfrm>
          <a:prstGeom prst="roundRect">
            <a:avLst>
              <a:gd name="adj" fmla="val 5556"/>
            </a:avLst>
          </a:prstGeom>
          <a:solidFill>
            <a:srgbClr val="F4F7FA"/>
          </a:solidFill>
          <a:ln w="10160">
            <a:solidFill>
              <a:srgbClr val="D4DAE2"/>
            </a:solidFill>
            <a:prstDash val="solid"/>
          </a:ln>
        </p:spPr>
      </p:sp>
      <p:sp>
        <p:nvSpPr>
          <p:cNvPr id="53" name="Text 51"/>
          <p:cNvSpPr txBox="1"/>
          <p:nvPr/>
        </p:nvSpPr>
        <p:spPr>
          <a:xfrm>
            <a:off x="9665208" y="5120640"/>
            <a:ext cx="1938528" cy="274320"/>
          </a:xfrm>
          <a:prstGeom prst="rect">
            <a:avLst/>
          </a:prstGeom>
          <a:noFill/>
          <a:ln/>
        </p:spPr>
        <p:txBody>
          <a:bodyPr wrap="square" lIns="0" tIns="0" rIns="0" bIns="0" rtlCol="0" anchor="ctr"/>
          <a:lstStyle/>
          <a:p>
            <a:pPr indent="0" marL="0">
              <a:lnSpc>
                <a:spcPts val="900"/>
              </a:lnSpc>
              <a:buNone/>
            </a:pPr>
            <a:r>
              <a:rPr lang="en-US" sz="780" b="1" dirty="0">
                <a:solidFill>
                  <a:srgbClr val="1B2432"/>
                </a:solidFill>
                <a:latin typeface="Calibri" pitchFamily="34" charset="0"/>
                <a:ea typeface="Calibri" pitchFamily="34" charset="-122"/>
                <a:cs typeface="Calibri" pitchFamily="34" charset="-120"/>
              </a:rPr>
              <a:t>How long each phase took</a:t>
            </a:r>
            <a:endParaRPr lang="en-US" sz="780" dirty="0"/>
          </a:p>
        </p:txBody>
      </p:sp>
      <p:sp>
        <p:nvSpPr>
          <p:cNvPr id="54" name="Text 52"/>
          <p:cNvSpPr txBox="1"/>
          <p:nvPr/>
        </p:nvSpPr>
        <p:spPr>
          <a:xfrm>
            <a:off x="9665208" y="5394960"/>
            <a:ext cx="1938528" cy="256032"/>
          </a:xfrm>
          <a:prstGeom prst="rect">
            <a:avLst/>
          </a:prstGeom>
          <a:noFill/>
          <a:ln/>
        </p:spPr>
        <p:txBody>
          <a:bodyPr wrap="square" lIns="0" tIns="0" rIns="0" bIns="0" rtlCol="0" anchor="ctr"/>
          <a:lstStyle/>
          <a:p>
            <a:pPr indent="0" marL="0">
              <a:lnSpc>
                <a:spcPts val="820"/>
              </a:lnSpc>
              <a:buNone/>
            </a:pPr>
            <a:r>
              <a:rPr lang="en-US" sz="700" dirty="0">
                <a:solidFill>
                  <a:srgbClr val="55606E"/>
                </a:solidFill>
                <a:latin typeface="Calibri" pitchFamily="34" charset="0"/>
                <a:ea typeface="Calibri" pitchFamily="34" charset="-122"/>
                <a:cs typeface="Calibri" pitchFamily="34" charset="-120"/>
              </a:rPr>
              <a:t>Feeds the baseline</a:t>
            </a:r>
            <a:endParaRPr lang="en-US" sz="700" dirty="0"/>
          </a:p>
        </p:txBody>
      </p:sp>
      <p:sp>
        <p:nvSpPr>
          <p:cNvPr id="55" name="Shape 53"/>
          <p:cNvSpPr/>
          <p:nvPr/>
        </p:nvSpPr>
        <p:spPr>
          <a:xfrm>
            <a:off x="411480" y="5852160"/>
            <a:ext cx="11338560" cy="438912"/>
          </a:xfrm>
          <a:prstGeom prst="roundRect">
            <a:avLst>
              <a:gd name="adj" fmla="val 10417"/>
            </a:avLst>
          </a:prstGeom>
          <a:solidFill>
            <a:srgbClr val="F4F7FA"/>
          </a:solidFill>
          <a:ln w="9525">
            <a:solidFill>
              <a:srgbClr val="D4DAE2"/>
            </a:solidFill>
            <a:prstDash val="solid"/>
          </a:ln>
        </p:spPr>
      </p:sp>
      <p:sp>
        <p:nvSpPr>
          <p:cNvPr id="56" name="Text 54"/>
          <p:cNvSpPr txBox="1"/>
          <p:nvPr/>
        </p:nvSpPr>
        <p:spPr>
          <a:xfrm>
            <a:off x="557784" y="5852160"/>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pattern log is the manual seed of the pattern catalogue. It is not executable and cannot drive provisioning, but it does two things immediately: it lets a triage lead recognise a repeat, and it gives Phase 2 a starting set of real patterns to harden rather than a blank catalogue.</a:t>
            </a:r>
            <a:endParaRPr lang="en-US" sz="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Guardrails under a manual regime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A written rule applied by a person is weaker than a gate that blocks — plan for that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Guardrails</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42416"/>
            <a:ext cx="731520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THE INVARIANTS — IDENTICAL IN EVERY TIER, NO EXCEPTIONS</a:t>
            </a:r>
            <a:endParaRPr lang="en-US" sz="760" dirty="0"/>
          </a:p>
        </p:txBody>
      </p:sp>
      <p:sp>
        <p:nvSpPr>
          <p:cNvPr id="9" name="Shape 7"/>
          <p:cNvSpPr/>
          <p:nvPr/>
        </p:nvSpPr>
        <p:spPr>
          <a:xfrm>
            <a:off x="411480" y="1243584"/>
            <a:ext cx="1316736" cy="457200"/>
          </a:xfrm>
          <a:prstGeom prst="roundRect">
            <a:avLst>
              <a:gd name="adj" fmla="val 8000"/>
            </a:avLst>
          </a:prstGeom>
          <a:solidFill>
            <a:srgbClr val="FBF0EB"/>
          </a:solidFill>
          <a:ln w="11430">
            <a:solidFill>
              <a:srgbClr val="A44A2A"/>
            </a:solidFill>
            <a:prstDash val="solid"/>
          </a:ln>
        </p:spPr>
      </p:sp>
      <p:sp>
        <p:nvSpPr>
          <p:cNvPr id="10" name="Text 8"/>
          <p:cNvSpPr txBox="1"/>
          <p:nvPr/>
        </p:nvSpPr>
        <p:spPr>
          <a:xfrm>
            <a:off x="484632" y="1243584"/>
            <a:ext cx="1170432" cy="45720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Classification determination</a:t>
            </a:r>
            <a:endParaRPr lang="en-US" sz="700" dirty="0"/>
          </a:p>
        </p:txBody>
      </p:sp>
      <p:sp>
        <p:nvSpPr>
          <p:cNvPr id="11" name="Shape 9"/>
          <p:cNvSpPr/>
          <p:nvPr/>
        </p:nvSpPr>
        <p:spPr>
          <a:xfrm>
            <a:off x="1837944" y="1243584"/>
            <a:ext cx="1316736" cy="457200"/>
          </a:xfrm>
          <a:prstGeom prst="roundRect">
            <a:avLst>
              <a:gd name="adj" fmla="val 8000"/>
            </a:avLst>
          </a:prstGeom>
          <a:solidFill>
            <a:srgbClr val="FBF0EB"/>
          </a:solidFill>
          <a:ln w="11430">
            <a:solidFill>
              <a:srgbClr val="A44A2A"/>
            </a:solidFill>
            <a:prstDash val="solid"/>
          </a:ln>
        </p:spPr>
      </p:sp>
      <p:sp>
        <p:nvSpPr>
          <p:cNvPr id="12" name="Text 10"/>
          <p:cNvSpPr txBox="1"/>
          <p:nvPr/>
        </p:nvSpPr>
        <p:spPr>
          <a:xfrm>
            <a:off x="1911096" y="1243584"/>
            <a:ext cx="1170432" cy="45720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Retention approval</a:t>
            </a:r>
            <a:endParaRPr lang="en-US" sz="700" dirty="0"/>
          </a:p>
        </p:txBody>
      </p:sp>
      <p:sp>
        <p:nvSpPr>
          <p:cNvPr id="13" name="Shape 11"/>
          <p:cNvSpPr/>
          <p:nvPr/>
        </p:nvSpPr>
        <p:spPr>
          <a:xfrm>
            <a:off x="3264408" y="1243584"/>
            <a:ext cx="1316736" cy="457200"/>
          </a:xfrm>
          <a:prstGeom prst="roundRect">
            <a:avLst>
              <a:gd name="adj" fmla="val 8000"/>
            </a:avLst>
          </a:prstGeom>
          <a:solidFill>
            <a:srgbClr val="FBF0EB"/>
          </a:solidFill>
          <a:ln w="11430">
            <a:solidFill>
              <a:srgbClr val="A44A2A"/>
            </a:solidFill>
            <a:prstDash val="solid"/>
          </a:ln>
        </p:spPr>
      </p:sp>
      <p:sp>
        <p:nvSpPr>
          <p:cNvPr id="14" name="Text 12"/>
          <p:cNvSpPr txBox="1"/>
          <p:nvPr/>
        </p:nvSpPr>
        <p:spPr>
          <a:xfrm>
            <a:off x="3337560" y="1243584"/>
            <a:ext cx="1170432" cy="45720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Security and access review</a:t>
            </a:r>
            <a:endParaRPr lang="en-US" sz="700" dirty="0"/>
          </a:p>
        </p:txBody>
      </p:sp>
      <p:sp>
        <p:nvSpPr>
          <p:cNvPr id="15" name="Shape 13"/>
          <p:cNvSpPr/>
          <p:nvPr/>
        </p:nvSpPr>
        <p:spPr>
          <a:xfrm>
            <a:off x="4690872" y="1243584"/>
            <a:ext cx="1316736" cy="457200"/>
          </a:xfrm>
          <a:prstGeom prst="roundRect">
            <a:avLst>
              <a:gd name="adj" fmla="val 8000"/>
            </a:avLst>
          </a:prstGeom>
          <a:solidFill>
            <a:srgbClr val="FBF0EB"/>
          </a:solidFill>
          <a:ln w="11430">
            <a:solidFill>
              <a:srgbClr val="A44A2A"/>
            </a:solidFill>
            <a:prstDash val="solid"/>
          </a:ln>
        </p:spPr>
      </p:sp>
      <p:sp>
        <p:nvSpPr>
          <p:cNvPr id="16" name="Text 14"/>
          <p:cNvSpPr txBox="1"/>
          <p:nvPr/>
        </p:nvSpPr>
        <p:spPr>
          <a:xfrm>
            <a:off x="4764024" y="1243584"/>
            <a:ext cx="1170432" cy="45720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Volume certification</a:t>
            </a:r>
            <a:endParaRPr lang="en-US" sz="700" dirty="0"/>
          </a:p>
        </p:txBody>
      </p:sp>
      <p:sp>
        <p:nvSpPr>
          <p:cNvPr id="17" name="Shape 15"/>
          <p:cNvSpPr/>
          <p:nvPr/>
        </p:nvSpPr>
        <p:spPr>
          <a:xfrm>
            <a:off x="6117336" y="1243584"/>
            <a:ext cx="1316736" cy="457200"/>
          </a:xfrm>
          <a:prstGeom prst="roundRect">
            <a:avLst>
              <a:gd name="adj" fmla="val 8000"/>
            </a:avLst>
          </a:prstGeom>
          <a:solidFill>
            <a:srgbClr val="FBF0EB"/>
          </a:solidFill>
          <a:ln w="11430">
            <a:solidFill>
              <a:srgbClr val="A44A2A"/>
            </a:solidFill>
            <a:prstDash val="solid"/>
          </a:ln>
        </p:spPr>
      </p:sp>
      <p:sp>
        <p:nvSpPr>
          <p:cNvPr id="18" name="Text 16"/>
          <p:cNvSpPr txBox="1"/>
          <p:nvPr/>
        </p:nvSpPr>
        <p:spPr>
          <a:xfrm>
            <a:off x="6190488" y="1243584"/>
            <a:ext cx="1170432" cy="45720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Promotion ladder</a:t>
            </a:r>
            <a:endParaRPr lang="en-US" sz="700" dirty="0"/>
          </a:p>
        </p:txBody>
      </p:sp>
      <p:sp>
        <p:nvSpPr>
          <p:cNvPr id="19" name="Shape 17"/>
          <p:cNvSpPr/>
          <p:nvPr/>
        </p:nvSpPr>
        <p:spPr>
          <a:xfrm>
            <a:off x="7543800" y="1243584"/>
            <a:ext cx="1316736" cy="457200"/>
          </a:xfrm>
          <a:prstGeom prst="roundRect">
            <a:avLst>
              <a:gd name="adj" fmla="val 8000"/>
            </a:avLst>
          </a:prstGeom>
          <a:solidFill>
            <a:srgbClr val="FBF0EB"/>
          </a:solidFill>
          <a:ln w="11430">
            <a:solidFill>
              <a:srgbClr val="A44A2A"/>
            </a:solidFill>
            <a:prstDash val="solid"/>
          </a:ln>
        </p:spPr>
      </p:sp>
      <p:sp>
        <p:nvSpPr>
          <p:cNvPr id="20" name="Text 18"/>
          <p:cNvSpPr txBox="1"/>
          <p:nvPr/>
        </p:nvSpPr>
        <p:spPr>
          <a:xfrm>
            <a:off x="7616952" y="1243584"/>
            <a:ext cx="1170432" cy="45720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Support acceptance</a:t>
            </a:r>
            <a:endParaRPr lang="en-US" sz="700" dirty="0"/>
          </a:p>
        </p:txBody>
      </p:sp>
      <p:sp>
        <p:nvSpPr>
          <p:cNvPr id="21" name="Shape 19"/>
          <p:cNvSpPr/>
          <p:nvPr/>
        </p:nvSpPr>
        <p:spPr>
          <a:xfrm>
            <a:off x="8970264" y="1243584"/>
            <a:ext cx="1316736" cy="457200"/>
          </a:xfrm>
          <a:prstGeom prst="roundRect">
            <a:avLst>
              <a:gd name="adj" fmla="val 8000"/>
            </a:avLst>
          </a:prstGeom>
          <a:solidFill>
            <a:srgbClr val="FBF0EB"/>
          </a:solidFill>
          <a:ln w="11430">
            <a:solidFill>
              <a:srgbClr val="A44A2A"/>
            </a:solidFill>
            <a:prstDash val="solid"/>
          </a:ln>
        </p:spPr>
      </p:sp>
      <p:sp>
        <p:nvSpPr>
          <p:cNvPr id="22" name="Text 20"/>
          <p:cNvSpPr txBox="1"/>
          <p:nvPr/>
        </p:nvSpPr>
        <p:spPr>
          <a:xfrm>
            <a:off x="9043416" y="1243584"/>
            <a:ext cx="1170432" cy="45720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Audit trail</a:t>
            </a:r>
            <a:endParaRPr lang="en-US" sz="700" dirty="0"/>
          </a:p>
        </p:txBody>
      </p:sp>
      <p:sp>
        <p:nvSpPr>
          <p:cNvPr id="23" name="Shape 21"/>
          <p:cNvSpPr/>
          <p:nvPr/>
        </p:nvSpPr>
        <p:spPr>
          <a:xfrm>
            <a:off x="10396728" y="1243584"/>
            <a:ext cx="1316736" cy="457200"/>
          </a:xfrm>
          <a:prstGeom prst="roundRect">
            <a:avLst>
              <a:gd name="adj" fmla="val 8000"/>
            </a:avLst>
          </a:prstGeom>
          <a:solidFill>
            <a:srgbClr val="FBF0EB"/>
          </a:solidFill>
          <a:ln w="11430">
            <a:solidFill>
              <a:srgbClr val="A44A2A"/>
            </a:solidFill>
            <a:prstDash val="solid"/>
          </a:ln>
        </p:spPr>
      </p:sp>
      <p:sp>
        <p:nvSpPr>
          <p:cNvPr id="24" name="Text 22"/>
          <p:cNvSpPr txBox="1"/>
          <p:nvPr/>
        </p:nvSpPr>
        <p:spPr>
          <a:xfrm>
            <a:off x="10469880" y="1243584"/>
            <a:ext cx="1170432" cy="45720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New document type re-review</a:t>
            </a:r>
            <a:endParaRPr lang="en-US" sz="700" dirty="0"/>
          </a:p>
        </p:txBody>
      </p:sp>
      <p:sp>
        <p:nvSpPr>
          <p:cNvPr id="25" name="Text 23"/>
          <p:cNvSpPr txBox="1"/>
          <p:nvPr/>
        </p:nvSpPr>
        <p:spPr>
          <a:xfrm>
            <a:off x="411480" y="1847088"/>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HOW EACH IS ENFORCED IN PHASE 1 VERSUS PHASE 2</a:t>
            </a:r>
            <a:endParaRPr lang="en-US" sz="760" dirty="0"/>
          </a:p>
        </p:txBody>
      </p:sp>
      <p:sp>
        <p:nvSpPr>
          <p:cNvPr id="26" name="Shape 24"/>
          <p:cNvSpPr/>
          <p:nvPr/>
        </p:nvSpPr>
        <p:spPr>
          <a:xfrm>
            <a:off x="411480" y="2048256"/>
            <a:ext cx="11338560" cy="256032"/>
          </a:xfrm>
          <a:prstGeom prst="rect">
            <a:avLst/>
          </a:prstGeom>
          <a:solidFill>
            <a:srgbClr val="15304F"/>
          </a:solidFill>
          <a:ln w="6350">
            <a:solidFill>
              <a:srgbClr val="15304F"/>
            </a:solidFill>
            <a:prstDash val="solid"/>
          </a:ln>
        </p:spPr>
      </p:sp>
      <p:sp>
        <p:nvSpPr>
          <p:cNvPr id="27" name="Text 25"/>
          <p:cNvSpPr txBox="1"/>
          <p:nvPr/>
        </p:nvSpPr>
        <p:spPr>
          <a:xfrm>
            <a:off x="484632" y="2048256"/>
            <a:ext cx="259689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Guardrail</a:t>
            </a:r>
            <a:endParaRPr lang="en-US" sz="800" dirty="0"/>
          </a:p>
        </p:txBody>
      </p:sp>
      <p:sp>
        <p:nvSpPr>
          <p:cNvPr id="28" name="Text 26"/>
          <p:cNvSpPr txBox="1"/>
          <p:nvPr/>
        </p:nvSpPr>
        <p:spPr>
          <a:xfrm>
            <a:off x="3227832" y="2048256"/>
            <a:ext cx="415137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Phase 1 — enforced by a person</a:t>
            </a:r>
            <a:endParaRPr lang="en-US" sz="800" dirty="0"/>
          </a:p>
        </p:txBody>
      </p:sp>
      <p:sp>
        <p:nvSpPr>
          <p:cNvPr id="29" name="Text 27"/>
          <p:cNvSpPr txBox="1"/>
          <p:nvPr/>
        </p:nvSpPr>
        <p:spPr>
          <a:xfrm>
            <a:off x="7525512" y="2048256"/>
            <a:ext cx="415137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Phase 2 — enforced by the platform</a:t>
            </a:r>
            <a:endParaRPr lang="en-US" sz="800" dirty="0"/>
          </a:p>
        </p:txBody>
      </p:sp>
      <p:sp>
        <p:nvSpPr>
          <p:cNvPr id="30" name="Shape 28"/>
          <p:cNvSpPr/>
          <p:nvPr/>
        </p:nvSpPr>
        <p:spPr>
          <a:xfrm>
            <a:off x="411480" y="2304288"/>
            <a:ext cx="11338560" cy="315468"/>
          </a:xfrm>
          <a:prstGeom prst="rect">
            <a:avLst/>
          </a:prstGeom>
          <a:solidFill>
            <a:srgbClr val="FFFFFF"/>
          </a:solidFill>
          <a:ln w="6350">
            <a:solidFill>
              <a:srgbClr val="D4DAE2"/>
            </a:solidFill>
            <a:prstDash val="solid"/>
          </a:ln>
        </p:spPr>
      </p:sp>
      <p:sp>
        <p:nvSpPr>
          <p:cNvPr id="31" name="Text 29"/>
          <p:cNvSpPr txBox="1"/>
          <p:nvPr/>
        </p:nvSpPr>
        <p:spPr>
          <a:xfrm>
            <a:off x="484632" y="2304288"/>
            <a:ext cx="259689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Classification determination</a:t>
            </a:r>
            <a:endParaRPr lang="en-US" sz="760" dirty="0"/>
          </a:p>
        </p:txBody>
      </p:sp>
      <p:sp>
        <p:nvSpPr>
          <p:cNvPr id="32" name="Text 30"/>
          <p:cNvSpPr txBox="1"/>
          <p:nvPr/>
        </p:nvSpPr>
        <p:spPr>
          <a:xfrm>
            <a:off x="3227832" y="2304288"/>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lead confirms it is registered before accepting the intake</a:t>
            </a:r>
            <a:endParaRPr lang="en-US" sz="760" dirty="0"/>
          </a:p>
        </p:txBody>
      </p:sp>
      <p:sp>
        <p:nvSpPr>
          <p:cNvPr id="33" name="Text 31"/>
          <p:cNvSpPr txBox="1"/>
          <p:nvPr/>
        </p:nvSpPr>
        <p:spPr>
          <a:xfrm>
            <a:off x="7525512" y="2304288"/>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gate engine blocks P1 exit; provisioning refuses without it</a:t>
            </a:r>
            <a:endParaRPr lang="en-US" sz="760" dirty="0"/>
          </a:p>
        </p:txBody>
      </p:sp>
      <p:sp>
        <p:nvSpPr>
          <p:cNvPr id="34" name="Shape 32"/>
          <p:cNvSpPr/>
          <p:nvPr/>
        </p:nvSpPr>
        <p:spPr>
          <a:xfrm>
            <a:off x="411480" y="2619756"/>
            <a:ext cx="11338560" cy="315468"/>
          </a:xfrm>
          <a:prstGeom prst="rect">
            <a:avLst/>
          </a:prstGeom>
          <a:solidFill>
            <a:srgbClr val="F4F7FA"/>
          </a:solidFill>
          <a:ln w="6350">
            <a:solidFill>
              <a:srgbClr val="D4DAE2"/>
            </a:solidFill>
            <a:prstDash val="solid"/>
          </a:ln>
        </p:spPr>
      </p:sp>
      <p:sp>
        <p:nvSpPr>
          <p:cNvPr id="35" name="Text 33"/>
          <p:cNvSpPr txBox="1"/>
          <p:nvPr/>
        </p:nvSpPr>
        <p:spPr>
          <a:xfrm>
            <a:off x="484632" y="2619756"/>
            <a:ext cx="259689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Retention approval</a:t>
            </a:r>
            <a:endParaRPr lang="en-US" sz="760" dirty="0"/>
          </a:p>
        </p:txBody>
      </p:sp>
      <p:sp>
        <p:nvSpPr>
          <p:cNvPr id="36" name="Text 34"/>
          <p:cNvSpPr txBox="1"/>
          <p:nvPr/>
        </p:nvSpPr>
        <p:spPr>
          <a:xfrm>
            <a:off x="3227832" y="2619756"/>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lead checks RM approval before provisioning is requested</a:t>
            </a:r>
            <a:endParaRPr lang="en-US" sz="760" dirty="0"/>
          </a:p>
        </p:txBody>
      </p:sp>
      <p:sp>
        <p:nvSpPr>
          <p:cNvPr id="37" name="Text 35"/>
          <p:cNvSpPr txBox="1"/>
          <p:nvPr/>
        </p:nvSpPr>
        <p:spPr>
          <a:xfrm>
            <a:off x="7525512" y="2619756"/>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Gate engine blocks P2 exit; never a self-service action</a:t>
            </a:r>
            <a:endParaRPr lang="en-US" sz="760" dirty="0"/>
          </a:p>
        </p:txBody>
      </p:sp>
      <p:sp>
        <p:nvSpPr>
          <p:cNvPr id="38" name="Shape 36"/>
          <p:cNvSpPr/>
          <p:nvPr/>
        </p:nvSpPr>
        <p:spPr>
          <a:xfrm>
            <a:off x="411480" y="2935224"/>
            <a:ext cx="11338560" cy="315468"/>
          </a:xfrm>
          <a:prstGeom prst="rect">
            <a:avLst/>
          </a:prstGeom>
          <a:solidFill>
            <a:srgbClr val="FFFFFF"/>
          </a:solidFill>
          <a:ln w="6350">
            <a:solidFill>
              <a:srgbClr val="D4DAE2"/>
            </a:solidFill>
            <a:prstDash val="solid"/>
          </a:ln>
        </p:spPr>
      </p:sp>
      <p:sp>
        <p:nvSpPr>
          <p:cNvPr id="39" name="Text 37"/>
          <p:cNvSpPr txBox="1"/>
          <p:nvPr/>
        </p:nvSpPr>
        <p:spPr>
          <a:xfrm>
            <a:off x="484632" y="2935224"/>
            <a:ext cx="259689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Security and access routing</a:t>
            </a:r>
            <a:endParaRPr lang="en-US" sz="760" dirty="0"/>
          </a:p>
        </p:txBody>
      </p:sp>
      <p:sp>
        <p:nvSpPr>
          <p:cNvPr id="40" name="Text 38"/>
          <p:cNvSpPr txBox="1"/>
          <p:nvPr/>
        </p:nvSpPr>
        <p:spPr>
          <a:xfrm>
            <a:off x="3227832" y="2935224"/>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guide applies the published routing rules from the guide</a:t>
            </a:r>
            <a:endParaRPr lang="en-US" sz="760" dirty="0"/>
          </a:p>
        </p:txBody>
      </p:sp>
      <p:sp>
        <p:nvSpPr>
          <p:cNvPr id="41" name="Text 39"/>
          <p:cNvSpPr txBox="1"/>
          <p:nvPr/>
        </p:nvSpPr>
        <p:spPr>
          <a:xfrm>
            <a:off x="7525512" y="2935224"/>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platform resolves routing and refuses rather than guessing</a:t>
            </a:r>
            <a:endParaRPr lang="en-US" sz="760" dirty="0"/>
          </a:p>
        </p:txBody>
      </p:sp>
      <p:sp>
        <p:nvSpPr>
          <p:cNvPr id="42" name="Shape 40"/>
          <p:cNvSpPr/>
          <p:nvPr/>
        </p:nvSpPr>
        <p:spPr>
          <a:xfrm>
            <a:off x="411480" y="3250692"/>
            <a:ext cx="11338560" cy="315468"/>
          </a:xfrm>
          <a:prstGeom prst="rect">
            <a:avLst/>
          </a:prstGeom>
          <a:solidFill>
            <a:srgbClr val="F4F7FA"/>
          </a:solidFill>
          <a:ln w="6350">
            <a:solidFill>
              <a:srgbClr val="D4DAE2"/>
            </a:solidFill>
            <a:prstDash val="solid"/>
          </a:ln>
        </p:spPr>
      </p:sp>
      <p:sp>
        <p:nvSpPr>
          <p:cNvPr id="43" name="Text 41"/>
          <p:cNvSpPr txBox="1"/>
          <p:nvPr/>
        </p:nvSpPr>
        <p:spPr>
          <a:xfrm>
            <a:off x="484632" y="3250692"/>
            <a:ext cx="259689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Promotion ladder</a:t>
            </a:r>
            <a:endParaRPr lang="en-US" sz="760" dirty="0"/>
          </a:p>
        </p:txBody>
      </p:sp>
      <p:sp>
        <p:nvSpPr>
          <p:cNvPr id="44" name="Text 42"/>
          <p:cNvSpPr txBox="1"/>
          <p:nvPr/>
        </p:nvSpPr>
        <p:spPr>
          <a:xfrm>
            <a:off x="3227832" y="3250692"/>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The pool walks the gate checklist before each promotion</a:t>
            </a:r>
            <a:endParaRPr lang="en-US" sz="760" dirty="0"/>
          </a:p>
        </p:txBody>
      </p:sp>
      <p:sp>
        <p:nvSpPr>
          <p:cNvPr id="45" name="Text 43"/>
          <p:cNvSpPr txBox="1"/>
          <p:nvPr/>
        </p:nvSpPr>
        <p:spPr>
          <a:xfrm>
            <a:off x="7525512" y="3250692"/>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Promotion is a platform action, never a human one</a:t>
            </a:r>
            <a:endParaRPr lang="en-US" sz="760" dirty="0"/>
          </a:p>
        </p:txBody>
      </p:sp>
      <p:sp>
        <p:nvSpPr>
          <p:cNvPr id="46" name="Shape 44"/>
          <p:cNvSpPr/>
          <p:nvPr/>
        </p:nvSpPr>
        <p:spPr>
          <a:xfrm>
            <a:off x="411480" y="3566160"/>
            <a:ext cx="11338560" cy="315468"/>
          </a:xfrm>
          <a:prstGeom prst="rect">
            <a:avLst/>
          </a:prstGeom>
          <a:solidFill>
            <a:srgbClr val="FFFFFF"/>
          </a:solidFill>
          <a:ln w="6350">
            <a:solidFill>
              <a:srgbClr val="D4DAE2"/>
            </a:solidFill>
            <a:prstDash val="solid"/>
          </a:ln>
        </p:spPr>
      </p:sp>
      <p:sp>
        <p:nvSpPr>
          <p:cNvPr id="47" name="Text 45"/>
          <p:cNvSpPr txBox="1"/>
          <p:nvPr/>
        </p:nvSpPr>
        <p:spPr>
          <a:xfrm>
            <a:off x="484632" y="3566160"/>
            <a:ext cx="259689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New document type</a:t>
            </a:r>
            <a:endParaRPr lang="en-US" sz="760" dirty="0"/>
          </a:p>
        </p:txBody>
      </p:sp>
      <p:sp>
        <p:nvSpPr>
          <p:cNvPr id="48" name="Text 46"/>
          <p:cNvSpPr txBox="1"/>
          <p:nvPr/>
        </p:nvSpPr>
        <p:spPr>
          <a:xfrm>
            <a:off x="3227832" y="3566160"/>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Caught at the fortnightly drift review — up to two weeks late</a:t>
            </a:r>
            <a:endParaRPr lang="en-US" sz="760" dirty="0"/>
          </a:p>
        </p:txBody>
      </p:sp>
      <p:sp>
        <p:nvSpPr>
          <p:cNvPr id="49" name="Text 47"/>
          <p:cNvSpPr txBox="1"/>
          <p:nvPr/>
        </p:nvSpPr>
        <p:spPr>
          <a:xfrm>
            <a:off x="7525512" y="3566160"/>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Detected automatically; forces escalation immediately</a:t>
            </a:r>
            <a:endParaRPr lang="en-US" sz="760" dirty="0"/>
          </a:p>
        </p:txBody>
      </p:sp>
      <p:sp>
        <p:nvSpPr>
          <p:cNvPr id="50" name="Shape 48"/>
          <p:cNvSpPr/>
          <p:nvPr/>
        </p:nvSpPr>
        <p:spPr>
          <a:xfrm>
            <a:off x="411480" y="3881628"/>
            <a:ext cx="11338560" cy="315468"/>
          </a:xfrm>
          <a:prstGeom prst="rect">
            <a:avLst/>
          </a:prstGeom>
          <a:solidFill>
            <a:srgbClr val="F4F7FA"/>
          </a:solidFill>
          <a:ln w="6350">
            <a:solidFill>
              <a:srgbClr val="D4DAE2"/>
            </a:solidFill>
            <a:prstDash val="solid"/>
          </a:ln>
        </p:spPr>
      </p:sp>
      <p:sp>
        <p:nvSpPr>
          <p:cNvPr id="51" name="Text 49"/>
          <p:cNvSpPr txBox="1"/>
          <p:nvPr/>
        </p:nvSpPr>
        <p:spPr>
          <a:xfrm>
            <a:off x="484632" y="3881628"/>
            <a:ext cx="2596896" cy="315468"/>
          </a:xfrm>
          <a:prstGeom prst="rect">
            <a:avLst/>
          </a:prstGeom>
          <a:noFill/>
          <a:ln/>
        </p:spPr>
        <p:txBody>
          <a:bodyPr wrap="square" lIns="0" tIns="0" rIns="0" bIns="0" rtlCol="0" anchor="ctr"/>
          <a:lstStyle/>
          <a:p>
            <a:pPr algn="l" indent="0" marL="0">
              <a:buNone/>
            </a:pPr>
            <a:r>
              <a:rPr lang="en-US" sz="760" b="1" dirty="0">
                <a:solidFill>
                  <a:srgbClr val="1B2432"/>
                </a:solidFill>
                <a:latin typeface="Calibri" pitchFamily="34" charset="0"/>
                <a:ea typeface="Calibri" pitchFamily="34" charset="-122"/>
                <a:cs typeface="Calibri" pitchFamily="34" charset="-120"/>
              </a:rPr>
              <a:t>Audit trail</a:t>
            </a:r>
            <a:endParaRPr lang="en-US" sz="760" dirty="0"/>
          </a:p>
        </p:txBody>
      </p:sp>
      <p:sp>
        <p:nvSpPr>
          <p:cNvPr id="52" name="Text 50"/>
          <p:cNvSpPr txBox="1"/>
          <p:nvPr/>
        </p:nvSpPr>
        <p:spPr>
          <a:xfrm>
            <a:off x="3227832" y="3881628"/>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Recorded on the Outcome Record and the tracker, by hand</a:t>
            </a:r>
            <a:endParaRPr lang="en-US" sz="760" dirty="0"/>
          </a:p>
        </p:txBody>
      </p:sp>
      <p:sp>
        <p:nvSpPr>
          <p:cNvPr id="53" name="Text 51"/>
          <p:cNvSpPr txBox="1"/>
          <p:nvPr/>
        </p:nvSpPr>
        <p:spPr>
          <a:xfrm>
            <a:off x="7525512" y="3881628"/>
            <a:ext cx="4151376" cy="315468"/>
          </a:xfrm>
          <a:prstGeom prst="rect">
            <a:avLst/>
          </a:prstGeom>
          <a:noFill/>
          <a:ln/>
        </p:spPr>
        <p:txBody>
          <a:bodyPr wrap="square" lIns="0" tIns="0" rIns="0" bIns="0" rtlCol="0" anchor="ctr"/>
          <a:lstStyle/>
          <a:p>
            <a:pPr algn="l" indent="0" marL="0">
              <a:buNone/>
            </a:pPr>
            <a:r>
              <a:rPr lang="en-US" sz="760" dirty="0">
                <a:solidFill>
                  <a:srgbClr val="1B2432"/>
                </a:solidFill>
                <a:latin typeface="Calibri" pitchFamily="34" charset="0"/>
                <a:ea typeface="Calibri" pitchFamily="34" charset="-122"/>
                <a:cs typeface="Calibri" pitchFamily="34" charset="-120"/>
              </a:rPr>
              <a:t>Written at the point of action; not reconstructable afterwards</a:t>
            </a:r>
            <a:endParaRPr lang="en-US" sz="760" dirty="0"/>
          </a:p>
        </p:txBody>
      </p:sp>
      <p:sp>
        <p:nvSpPr>
          <p:cNvPr id="54" name="Shape 52"/>
          <p:cNvSpPr/>
          <p:nvPr/>
        </p:nvSpPr>
        <p:spPr>
          <a:xfrm>
            <a:off x="411480" y="4425696"/>
            <a:ext cx="11338560" cy="658368"/>
          </a:xfrm>
          <a:prstGeom prst="roundRect">
            <a:avLst>
              <a:gd name="adj" fmla="val 6944"/>
            </a:avLst>
          </a:prstGeom>
          <a:solidFill>
            <a:srgbClr val="E9EEF4"/>
          </a:solidFill>
          <a:ln w="12700">
            <a:solidFill>
              <a:srgbClr val="A44A2A"/>
            </a:solidFill>
            <a:prstDash val="solid"/>
          </a:ln>
        </p:spPr>
      </p:sp>
      <p:sp>
        <p:nvSpPr>
          <p:cNvPr id="55" name="Text 53"/>
          <p:cNvSpPr txBox="1"/>
          <p:nvPr/>
        </p:nvSpPr>
        <p:spPr>
          <a:xfrm>
            <a:off x="557784" y="4507992"/>
            <a:ext cx="11045952" cy="182880"/>
          </a:xfrm>
          <a:prstGeom prst="rect">
            <a:avLst/>
          </a:prstGeom>
          <a:noFill/>
          <a:ln/>
        </p:spPr>
        <p:txBody>
          <a:bodyPr wrap="square" lIns="0" tIns="0" rIns="0" bIns="0" rtlCol="0" anchor="ctr"/>
          <a:lstStyle/>
          <a:p>
            <a:pPr indent="0" marL="0">
              <a:buNone/>
            </a:pPr>
            <a:r>
              <a:rPr lang="en-US" sz="760" b="1" spc="100" kern="0" dirty="0">
                <a:solidFill>
                  <a:srgbClr val="A44A2A"/>
                </a:solidFill>
                <a:latin typeface="Calibri" pitchFamily="34" charset="0"/>
                <a:ea typeface="Calibri" pitchFamily="34" charset="-122"/>
                <a:cs typeface="Calibri" pitchFamily="34" charset="-120"/>
              </a:rPr>
              <a:t>THE CENTRAL DISCIPLINE RISK OF PHASE 1</a:t>
            </a:r>
            <a:endParaRPr lang="en-US" sz="760" dirty="0"/>
          </a:p>
        </p:txBody>
      </p:sp>
      <p:sp>
        <p:nvSpPr>
          <p:cNvPr id="56" name="Text 54"/>
          <p:cNvSpPr txBox="1"/>
          <p:nvPr/>
        </p:nvSpPr>
        <p:spPr>
          <a:xfrm>
            <a:off x="557784" y="4700016"/>
            <a:ext cx="11045952" cy="292608"/>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A written rule applied by a person under schedule pressure is weaker than a gate that blocks. Guardrails will be waived — for an important partner, in a tight week, with a good reason. The defence is not to pretend otherwise: every waiver is recorded on the Outcome Record with the name of who authorised it, and every waiver is reviewed in the fortnightly session. A waiver that is visible is manageable; one that is informal is not.</a:t>
            </a:r>
            <a:endParaRPr lang="en-US" sz="900" dirty="0"/>
          </a:p>
        </p:txBody>
      </p:sp>
      <p:sp>
        <p:nvSpPr>
          <p:cNvPr id="57" name="Text 55"/>
          <p:cNvSpPr txBox="1"/>
          <p:nvPr/>
        </p:nvSpPr>
        <p:spPr>
          <a:xfrm>
            <a:off x="411480" y="5230368"/>
            <a:ext cx="7315200" cy="182880"/>
          </a:xfrm>
          <a:prstGeom prst="rect">
            <a:avLst/>
          </a:prstGeom>
          <a:noFill/>
          <a:ln/>
        </p:spPr>
        <p:txBody>
          <a:bodyPr wrap="square" lIns="0" tIns="0" rIns="0" bIns="0" rtlCol="0" anchor="ctr"/>
          <a:lstStyle/>
          <a:p>
            <a:pPr indent="0" marL="0">
              <a:buNone/>
            </a:pPr>
            <a:r>
              <a:rPr lang="en-US" sz="760" b="1" spc="110" kern="0" dirty="0">
                <a:solidFill>
                  <a:srgbClr val="15304F"/>
                </a:solidFill>
                <a:latin typeface="Calibri" pitchFamily="34" charset="0"/>
                <a:ea typeface="Calibri" pitchFamily="34" charset="-122"/>
                <a:cs typeface="Calibri" pitchFamily="34" charset="-120"/>
              </a:rPr>
              <a:t>GUARDRAILS ON PHASE 1 ITSELF — WATCH THESE WEEKLY</a:t>
            </a:r>
            <a:endParaRPr lang="en-US" sz="760" dirty="0"/>
          </a:p>
        </p:txBody>
      </p:sp>
      <p:sp>
        <p:nvSpPr>
          <p:cNvPr id="58" name="Shape 56"/>
          <p:cNvSpPr/>
          <p:nvPr/>
        </p:nvSpPr>
        <p:spPr>
          <a:xfrm>
            <a:off x="411480" y="5431536"/>
            <a:ext cx="2743200" cy="786384"/>
          </a:xfrm>
          <a:prstGeom prst="roundRect">
            <a:avLst>
              <a:gd name="adj" fmla="val 4651"/>
            </a:avLst>
          </a:prstGeom>
          <a:solidFill>
            <a:srgbClr val="FFFFFF"/>
          </a:solidFill>
          <a:ln w="12700">
            <a:solidFill>
              <a:srgbClr val="15304F"/>
            </a:solidFill>
            <a:prstDash val="solid"/>
          </a:ln>
        </p:spPr>
      </p:sp>
      <p:sp>
        <p:nvSpPr>
          <p:cNvPr id="59" name="Text 57"/>
          <p:cNvSpPr txBox="1"/>
          <p:nvPr/>
        </p:nvSpPr>
        <p:spPr>
          <a:xfrm>
            <a:off x="521208" y="5504688"/>
            <a:ext cx="2523744" cy="182880"/>
          </a:xfrm>
          <a:prstGeom prst="rect">
            <a:avLst/>
          </a:prstGeom>
          <a:noFill/>
          <a:ln/>
        </p:spPr>
        <p:txBody>
          <a:bodyPr wrap="square" lIns="0" tIns="0" rIns="0" bIns="0" rtlCol="0" anchor="ctr"/>
          <a:lstStyle/>
          <a:p>
            <a:pPr indent="0" marL="0">
              <a:buNone/>
            </a:pPr>
            <a:r>
              <a:rPr lang="en-US" sz="800" b="1" dirty="0">
                <a:solidFill>
                  <a:srgbClr val="15304F"/>
                </a:solidFill>
                <a:latin typeface="Calibri" pitchFamily="34" charset="0"/>
                <a:ea typeface="Calibri" pitchFamily="34" charset="-122"/>
                <a:cs typeface="Calibri" pitchFamily="34" charset="-120"/>
              </a:rPr>
              <a:t>Deep triage shortened</a:t>
            </a:r>
            <a:endParaRPr lang="en-US" sz="800" dirty="0"/>
          </a:p>
        </p:txBody>
      </p:sp>
      <p:sp>
        <p:nvSpPr>
          <p:cNvPr id="60" name="Text 58"/>
          <p:cNvSpPr txBox="1"/>
          <p:nvPr/>
        </p:nvSpPr>
        <p:spPr>
          <a:xfrm>
            <a:off x="521208" y="5687568"/>
            <a:ext cx="2523744" cy="475488"/>
          </a:xfrm>
          <a:prstGeom prst="rect">
            <a:avLst/>
          </a:prstGeom>
          <a:noFill/>
          <a:ln/>
        </p:spPr>
        <p:txBody>
          <a:bodyPr wrap="square" lIns="0" tIns="0" rIns="0" bIns="0" rtlCol="0" anchor="ctr"/>
          <a:lstStyle/>
          <a:p>
            <a:pPr indent="0" marL="0">
              <a:lnSpc>
                <a:spcPts val="840"/>
              </a:lnSpc>
              <a:buNone/>
            </a:pPr>
            <a:r>
              <a:rPr lang="en-US" sz="700" dirty="0">
                <a:solidFill>
                  <a:srgbClr val="55606E"/>
                </a:solidFill>
                <a:latin typeface="Calibri" pitchFamily="34" charset="0"/>
                <a:ea typeface="Calibri" pitchFamily="34" charset="-122"/>
                <a:cs typeface="Calibri" pitchFamily="34" charset="-120"/>
              </a:rPr>
              <a:t>The Outcome Record is a precondition of acceptance — a shortened triage produces a visibly incomplete record</a:t>
            </a:r>
            <a:endParaRPr lang="en-US" sz="700" dirty="0"/>
          </a:p>
        </p:txBody>
      </p:sp>
      <p:sp>
        <p:nvSpPr>
          <p:cNvPr id="61" name="Shape 59"/>
          <p:cNvSpPr/>
          <p:nvPr/>
        </p:nvSpPr>
        <p:spPr>
          <a:xfrm>
            <a:off x="3291840" y="5431536"/>
            <a:ext cx="2743200" cy="786384"/>
          </a:xfrm>
          <a:prstGeom prst="roundRect">
            <a:avLst>
              <a:gd name="adj" fmla="val 4651"/>
            </a:avLst>
          </a:prstGeom>
          <a:solidFill>
            <a:srgbClr val="FFFFFF"/>
          </a:solidFill>
          <a:ln w="12700">
            <a:solidFill>
              <a:srgbClr val="15304F"/>
            </a:solidFill>
            <a:prstDash val="solid"/>
          </a:ln>
        </p:spPr>
      </p:sp>
      <p:sp>
        <p:nvSpPr>
          <p:cNvPr id="62" name="Text 60"/>
          <p:cNvSpPr txBox="1"/>
          <p:nvPr/>
        </p:nvSpPr>
        <p:spPr>
          <a:xfrm>
            <a:off x="3401568" y="5504688"/>
            <a:ext cx="2523744" cy="182880"/>
          </a:xfrm>
          <a:prstGeom prst="rect">
            <a:avLst/>
          </a:prstGeom>
          <a:noFill/>
          <a:ln/>
        </p:spPr>
        <p:txBody>
          <a:bodyPr wrap="square" lIns="0" tIns="0" rIns="0" bIns="0" rtlCol="0" anchor="ctr"/>
          <a:lstStyle/>
          <a:p>
            <a:pPr indent="0" marL="0">
              <a:buNone/>
            </a:pPr>
            <a:r>
              <a:rPr lang="en-US" sz="800" b="1" dirty="0">
                <a:solidFill>
                  <a:srgbClr val="15304F"/>
                </a:solidFill>
                <a:latin typeface="Calibri" pitchFamily="34" charset="0"/>
                <a:ea typeface="Calibri" pitchFamily="34" charset="-122"/>
                <a:cs typeface="Calibri" pitchFamily="34" charset="-120"/>
              </a:rPr>
              <a:t>Pool reclaimed by squads</a:t>
            </a:r>
            <a:endParaRPr lang="en-US" sz="800" dirty="0"/>
          </a:p>
        </p:txBody>
      </p:sp>
      <p:sp>
        <p:nvSpPr>
          <p:cNvPr id="63" name="Text 61"/>
          <p:cNvSpPr txBox="1"/>
          <p:nvPr/>
        </p:nvSpPr>
        <p:spPr>
          <a:xfrm>
            <a:off x="3401568" y="5687568"/>
            <a:ext cx="2523744" cy="475488"/>
          </a:xfrm>
          <a:prstGeom prst="rect">
            <a:avLst/>
          </a:prstGeom>
          <a:noFill/>
          <a:ln/>
        </p:spPr>
        <p:txBody>
          <a:bodyPr wrap="square" lIns="0" tIns="0" rIns="0" bIns="0" rtlCol="0" anchor="ctr"/>
          <a:lstStyle/>
          <a:p>
            <a:pPr indent="0" marL="0">
              <a:lnSpc>
                <a:spcPts val="840"/>
              </a:lnSpc>
              <a:buNone/>
            </a:pPr>
            <a:r>
              <a:rPr lang="en-US" sz="700" dirty="0">
                <a:solidFill>
                  <a:srgbClr val="55606E"/>
                </a:solidFill>
                <a:latin typeface="Calibri" pitchFamily="34" charset="0"/>
                <a:ea typeface="Calibri" pitchFamily="34" charset="-122"/>
                <a:cs typeface="Calibri" pitchFamily="34" charset="-120"/>
              </a:rPr>
              <a:t>Explicit commitment agreed before start, named escalation route, rotation terms fixed in advance</a:t>
            </a:r>
            <a:endParaRPr lang="en-US" sz="700" dirty="0"/>
          </a:p>
        </p:txBody>
      </p:sp>
      <p:sp>
        <p:nvSpPr>
          <p:cNvPr id="64" name="Shape 62"/>
          <p:cNvSpPr/>
          <p:nvPr/>
        </p:nvSpPr>
        <p:spPr>
          <a:xfrm>
            <a:off x="6172200" y="5431536"/>
            <a:ext cx="2743200" cy="786384"/>
          </a:xfrm>
          <a:prstGeom prst="roundRect">
            <a:avLst>
              <a:gd name="adj" fmla="val 4651"/>
            </a:avLst>
          </a:prstGeom>
          <a:solidFill>
            <a:srgbClr val="FFFFFF"/>
          </a:solidFill>
          <a:ln w="12700">
            <a:solidFill>
              <a:srgbClr val="15304F"/>
            </a:solidFill>
            <a:prstDash val="solid"/>
          </a:ln>
        </p:spPr>
      </p:sp>
      <p:sp>
        <p:nvSpPr>
          <p:cNvPr id="65" name="Text 63"/>
          <p:cNvSpPr txBox="1"/>
          <p:nvPr/>
        </p:nvSpPr>
        <p:spPr>
          <a:xfrm>
            <a:off x="6281928" y="5504688"/>
            <a:ext cx="2523744" cy="182880"/>
          </a:xfrm>
          <a:prstGeom prst="rect">
            <a:avLst/>
          </a:prstGeom>
          <a:noFill/>
          <a:ln/>
        </p:spPr>
        <p:txBody>
          <a:bodyPr wrap="square" lIns="0" tIns="0" rIns="0" bIns="0" rtlCol="0" anchor="ctr"/>
          <a:lstStyle/>
          <a:p>
            <a:pPr indent="0" marL="0">
              <a:buNone/>
            </a:pPr>
            <a:r>
              <a:rPr lang="en-US" sz="800" b="1" dirty="0">
                <a:solidFill>
                  <a:srgbClr val="15304F"/>
                </a:solidFill>
                <a:latin typeface="Calibri" pitchFamily="34" charset="0"/>
                <a:ea typeface="Calibri" pitchFamily="34" charset="-122"/>
                <a:cs typeface="Calibri" pitchFamily="34" charset="-120"/>
              </a:rPr>
              <a:t>Tracker decays</a:t>
            </a:r>
            <a:endParaRPr lang="en-US" sz="800" dirty="0"/>
          </a:p>
        </p:txBody>
      </p:sp>
      <p:sp>
        <p:nvSpPr>
          <p:cNvPr id="66" name="Text 64"/>
          <p:cNvSpPr txBox="1"/>
          <p:nvPr/>
        </p:nvSpPr>
        <p:spPr>
          <a:xfrm>
            <a:off x="6281928" y="5687568"/>
            <a:ext cx="2523744" cy="475488"/>
          </a:xfrm>
          <a:prstGeom prst="rect">
            <a:avLst/>
          </a:prstGeom>
          <a:noFill/>
          <a:ln/>
        </p:spPr>
        <p:txBody>
          <a:bodyPr wrap="square" lIns="0" tIns="0" rIns="0" bIns="0" rtlCol="0" anchor="ctr"/>
          <a:lstStyle/>
          <a:p>
            <a:pPr indent="0" marL="0">
              <a:lnSpc>
                <a:spcPts val="840"/>
              </a:lnSpc>
              <a:buNone/>
            </a:pPr>
            <a:r>
              <a:rPr lang="en-US" sz="700" dirty="0">
                <a:solidFill>
                  <a:srgbClr val="55606E"/>
                </a:solidFill>
                <a:latin typeface="Calibri" pitchFamily="34" charset="0"/>
                <a:ea typeface="Calibri" pitchFamily="34" charset="-122"/>
                <a:cs typeface="Calibri" pitchFamily="34" charset="-120"/>
              </a:rPr>
              <a:t>One named owner, reviewed weekly — it is the primary output, not admin</a:t>
            </a:r>
            <a:endParaRPr lang="en-US" sz="700" dirty="0"/>
          </a:p>
        </p:txBody>
      </p:sp>
      <p:sp>
        <p:nvSpPr>
          <p:cNvPr id="67" name="Shape 65"/>
          <p:cNvSpPr/>
          <p:nvPr/>
        </p:nvSpPr>
        <p:spPr>
          <a:xfrm>
            <a:off x="9052560" y="5431536"/>
            <a:ext cx="2743200" cy="786384"/>
          </a:xfrm>
          <a:prstGeom prst="roundRect">
            <a:avLst>
              <a:gd name="adj" fmla="val 4651"/>
            </a:avLst>
          </a:prstGeom>
          <a:solidFill>
            <a:srgbClr val="FFFFFF"/>
          </a:solidFill>
          <a:ln w="12700">
            <a:solidFill>
              <a:srgbClr val="15304F"/>
            </a:solidFill>
            <a:prstDash val="solid"/>
          </a:ln>
        </p:spPr>
      </p:sp>
      <p:sp>
        <p:nvSpPr>
          <p:cNvPr id="68" name="Text 66"/>
          <p:cNvSpPr txBox="1"/>
          <p:nvPr/>
        </p:nvSpPr>
        <p:spPr>
          <a:xfrm>
            <a:off x="9162288" y="5504688"/>
            <a:ext cx="2523744" cy="182880"/>
          </a:xfrm>
          <a:prstGeom prst="rect">
            <a:avLst/>
          </a:prstGeom>
          <a:noFill/>
          <a:ln/>
        </p:spPr>
        <p:txBody>
          <a:bodyPr wrap="square" lIns="0" tIns="0" rIns="0" bIns="0" rtlCol="0" anchor="ctr"/>
          <a:lstStyle/>
          <a:p>
            <a:pPr indent="0" marL="0">
              <a:buNone/>
            </a:pPr>
            <a:r>
              <a:rPr lang="en-US" sz="800" b="1" dirty="0">
                <a:solidFill>
                  <a:srgbClr val="15304F"/>
                </a:solidFill>
                <a:latin typeface="Calibri" pitchFamily="34" charset="0"/>
                <a:ea typeface="Calibri" pitchFamily="34" charset="-122"/>
                <a:cs typeface="Calibri" pitchFamily="34" charset="-120"/>
              </a:rPr>
              <a:t>Manual Lean attempted too widely</a:t>
            </a:r>
            <a:endParaRPr lang="en-US" sz="800" dirty="0"/>
          </a:p>
        </p:txBody>
      </p:sp>
      <p:sp>
        <p:nvSpPr>
          <p:cNvPr id="69" name="Text 67"/>
          <p:cNvSpPr txBox="1"/>
          <p:nvPr/>
        </p:nvSpPr>
        <p:spPr>
          <a:xfrm>
            <a:off x="9162288" y="5687568"/>
            <a:ext cx="2523744" cy="475488"/>
          </a:xfrm>
          <a:prstGeom prst="rect">
            <a:avLst/>
          </a:prstGeom>
          <a:noFill/>
          <a:ln/>
        </p:spPr>
        <p:txBody>
          <a:bodyPr wrap="square" lIns="0" tIns="0" rIns="0" bIns="0" rtlCol="0" anchor="ctr"/>
          <a:lstStyle/>
          <a:p>
            <a:pPr indent="0" marL="0">
              <a:lnSpc>
                <a:spcPts val="840"/>
              </a:lnSpc>
              <a:buNone/>
            </a:pPr>
            <a:r>
              <a:rPr lang="en-US" sz="700" dirty="0">
                <a:solidFill>
                  <a:srgbClr val="55606E"/>
                </a:solidFill>
                <a:latin typeface="Calibri" pitchFamily="34" charset="0"/>
                <a:ea typeface="Calibri" pitchFamily="34" charset="-122"/>
                <a:cs typeface="Calibri" pitchFamily="34" charset="-120"/>
              </a:rPr>
              <a:t>Restrict Lean to the simplest scenarios only; a partner in Lean without tooling becomes the first failure story</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twelve weeks</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And the evidence gate at the end of it</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plan</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42416"/>
            <a:ext cx="2752344" cy="1188720"/>
          </a:xfrm>
          <a:prstGeom prst="roundRect">
            <a:avLst>
              <a:gd name="adj" fmla="val 3846"/>
            </a:avLst>
          </a:prstGeom>
          <a:solidFill>
            <a:srgbClr val="FBF0EB"/>
          </a:solidFill>
          <a:ln w="15240">
            <a:solidFill>
              <a:srgbClr val="A44A2A"/>
            </a:solidFill>
            <a:prstDash val="solid"/>
          </a:ln>
        </p:spPr>
      </p:sp>
      <p:sp>
        <p:nvSpPr>
          <p:cNvPr id="9" name="Text 7"/>
          <p:cNvSpPr txBox="1"/>
          <p:nvPr/>
        </p:nvSpPr>
        <p:spPr>
          <a:xfrm>
            <a:off x="502920" y="1106424"/>
            <a:ext cx="2569464" cy="182880"/>
          </a:xfrm>
          <a:prstGeom prst="rect">
            <a:avLst/>
          </a:prstGeom>
          <a:noFill/>
          <a:ln/>
        </p:spPr>
        <p:txBody>
          <a:bodyPr wrap="square" lIns="0" tIns="0" rIns="0" bIns="0" rtlCol="0" anchor="ctr"/>
          <a:lstStyle/>
          <a:p>
            <a:pPr indent="0" marL="0">
              <a:buNone/>
            </a:pPr>
            <a:r>
              <a:rPr lang="en-US" sz="720" b="1" spc="80" kern="0" dirty="0">
                <a:solidFill>
                  <a:srgbClr val="A44A2A"/>
                </a:solidFill>
                <a:latin typeface="Calibri" pitchFamily="34" charset="0"/>
                <a:ea typeface="Calibri" pitchFamily="34" charset="-122"/>
                <a:cs typeface="Calibri" pitchFamily="34" charset="-120"/>
              </a:rPr>
              <a:t>WEEKS 1–2</a:t>
            </a:r>
            <a:endParaRPr lang="en-US" sz="720" dirty="0"/>
          </a:p>
        </p:txBody>
      </p:sp>
      <p:sp>
        <p:nvSpPr>
          <p:cNvPr id="10" name="Text 8"/>
          <p:cNvSpPr txBox="1"/>
          <p:nvPr/>
        </p:nvSpPr>
        <p:spPr>
          <a:xfrm>
            <a:off x="502920" y="1280160"/>
            <a:ext cx="2569464" cy="420624"/>
          </a:xfrm>
          <a:prstGeom prst="rect">
            <a:avLst/>
          </a:prstGeom>
          <a:noFill/>
          <a:ln/>
        </p:spPr>
        <p:txBody>
          <a:bodyPr wrap="square" lIns="0" tIns="0" rIns="0" bIns="0" rtlCol="0" anchor="t"/>
          <a:lstStyle/>
          <a:p>
            <a:pPr indent="0" marL="0">
              <a:lnSpc>
                <a:spcPts val="1300"/>
              </a:lnSpc>
              <a:buNone/>
            </a:pPr>
            <a:r>
              <a:rPr lang="en-US" sz="1100" b="1" dirty="0">
                <a:solidFill>
                  <a:srgbClr val="1B2432"/>
                </a:solidFill>
                <a:latin typeface="Calibri" pitchFamily="34" charset="0"/>
                <a:ea typeface="Calibri" pitchFamily="34" charset="-122"/>
                <a:cs typeface="Calibri" pitchFamily="34" charset="-120"/>
              </a:rPr>
              <a:t>Prepare</a:t>
            </a:r>
            <a:endParaRPr lang="en-US" sz="1100" dirty="0"/>
          </a:p>
        </p:txBody>
      </p:sp>
      <p:sp>
        <p:nvSpPr>
          <p:cNvPr id="11" name="Text 9"/>
          <p:cNvSpPr txBox="1"/>
          <p:nvPr/>
        </p:nvSpPr>
        <p:spPr>
          <a:xfrm>
            <a:off x="502920" y="1737360"/>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Write the Triage Guide · two calibration sessions · stand up the pool and agree its protection · build the tracker · publish the tier model to partners</a:t>
            </a:r>
            <a:endParaRPr lang="en-US" sz="720" dirty="0"/>
          </a:p>
        </p:txBody>
      </p:sp>
      <p:sp>
        <p:nvSpPr>
          <p:cNvPr id="12" name="Text 10"/>
          <p:cNvSpPr txBox="1"/>
          <p:nvPr/>
        </p:nvSpPr>
        <p:spPr>
          <a:xfrm>
            <a:off x="3145536" y="1490472"/>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13" name="Shape 11"/>
          <p:cNvSpPr/>
          <p:nvPr/>
        </p:nvSpPr>
        <p:spPr>
          <a:xfrm>
            <a:off x="3273552" y="1042416"/>
            <a:ext cx="2752344" cy="1188720"/>
          </a:xfrm>
          <a:prstGeom prst="roundRect">
            <a:avLst>
              <a:gd name="adj" fmla="val 3846"/>
            </a:avLst>
          </a:prstGeom>
          <a:solidFill>
            <a:srgbClr val="FAF1DF"/>
          </a:solidFill>
          <a:ln w="15240">
            <a:solidFill>
              <a:srgbClr val="9A6410"/>
            </a:solidFill>
            <a:prstDash val="solid"/>
          </a:ln>
        </p:spPr>
      </p:sp>
      <p:sp>
        <p:nvSpPr>
          <p:cNvPr id="14" name="Text 12"/>
          <p:cNvSpPr txBox="1"/>
          <p:nvPr/>
        </p:nvSpPr>
        <p:spPr>
          <a:xfrm>
            <a:off x="3364992" y="1106424"/>
            <a:ext cx="2569464" cy="182880"/>
          </a:xfrm>
          <a:prstGeom prst="rect">
            <a:avLst/>
          </a:prstGeom>
          <a:noFill/>
          <a:ln/>
        </p:spPr>
        <p:txBody>
          <a:bodyPr wrap="square" lIns="0" tIns="0" rIns="0" bIns="0" rtlCol="0" anchor="ctr"/>
          <a:lstStyle/>
          <a:p>
            <a:pPr indent="0" marL="0">
              <a:buNone/>
            </a:pPr>
            <a:r>
              <a:rPr lang="en-US" sz="720" b="1" spc="80" kern="0" dirty="0">
                <a:solidFill>
                  <a:srgbClr val="9A6410"/>
                </a:solidFill>
                <a:latin typeface="Calibri" pitchFamily="34" charset="0"/>
                <a:ea typeface="Calibri" pitchFamily="34" charset="-122"/>
                <a:cs typeface="Calibri" pitchFamily="34" charset="-120"/>
              </a:rPr>
              <a:t>WEEKS 3–6</a:t>
            </a:r>
            <a:endParaRPr lang="en-US" sz="720" dirty="0"/>
          </a:p>
        </p:txBody>
      </p:sp>
      <p:sp>
        <p:nvSpPr>
          <p:cNvPr id="15" name="Text 13"/>
          <p:cNvSpPr txBox="1"/>
          <p:nvPr/>
        </p:nvSpPr>
        <p:spPr>
          <a:xfrm>
            <a:off x="3364992" y="1280160"/>
            <a:ext cx="2569464" cy="420624"/>
          </a:xfrm>
          <a:prstGeom prst="rect">
            <a:avLst/>
          </a:prstGeom>
          <a:noFill/>
          <a:ln/>
        </p:spPr>
        <p:txBody>
          <a:bodyPr wrap="square" lIns="0" tIns="0" rIns="0" bIns="0" rtlCol="0" anchor="t"/>
          <a:lstStyle/>
          <a:p>
            <a:pPr indent="0" marL="0">
              <a:lnSpc>
                <a:spcPts val="1300"/>
              </a:lnSpc>
              <a:buNone/>
            </a:pPr>
            <a:r>
              <a:rPr lang="en-US" sz="1100" b="1" dirty="0">
                <a:solidFill>
                  <a:srgbClr val="1B2432"/>
                </a:solidFill>
                <a:latin typeface="Calibri" pitchFamily="34" charset="0"/>
                <a:ea typeface="Calibri" pitchFamily="34" charset="-122"/>
                <a:cs typeface="Calibri" pitchFamily="34" charset="-120"/>
              </a:rPr>
              <a:t>Run in parallel</a:t>
            </a:r>
            <a:endParaRPr lang="en-US" sz="1100" dirty="0"/>
          </a:p>
        </p:txBody>
      </p:sp>
      <p:sp>
        <p:nvSpPr>
          <p:cNvPr id="16" name="Text 14"/>
          <p:cNvSpPr txBox="1"/>
          <p:nvPr/>
        </p:nvSpPr>
        <p:spPr>
          <a:xfrm>
            <a:off x="3364992" y="1737360"/>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Every new intake gets deep triage and a tier, but is still delivered under the current model. Real data, no delivery risk. Fortnightly calibration.</a:t>
            </a:r>
            <a:endParaRPr lang="en-US" sz="720" dirty="0"/>
          </a:p>
        </p:txBody>
      </p:sp>
      <p:sp>
        <p:nvSpPr>
          <p:cNvPr id="17" name="Text 15"/>
          <p:cNvSpPr txBox="1"/>
          <p:nvPr/>
        </p:nvSpPr>
        <p:spPr>
          <a:xfrm>
            <a:off x="6007608" y="1490472"/>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18" name="Shape 16"/>
          <p:cNvSpPr/>
          <p:nvPr/>
        </p:nvSpPr>
        <p:spPr>
          <a:xfrm>
            <a:off x="6135624" y="1042416"/>
            <a:ext cx="2752344" cy="1188720"/>
          </a:xfrm>
          <a:prstGeom prst="roundRect">
            <a:avLst>
              <a:gd name="adj" fmla="val 3846"/>
            </a:avLst>
          </a:prstGeom>
          <a:solidFill>
            <a:srgbClr val="E6F2F1"/>
          </a:solidFill>
          <a:ln w="15240">
            <a:solidFill>
              <a:srgbClr val="0B6E6E"/>
            </a:solidFill>
            <a:prstDash val="solid"/>
          </a:ln>
        </p:spPr>
      </p:sp>
      <p:sp>
        <p:nvSpPr>
          <p:cNvPr id="19" name="Text 17"/>
          <p:cNvSpPr txBox="1"/>
          <p:nvPr/>
        </p:nvSpPr>
        <p:spPr>
          <a:xfrm>
            <a:off x="6227064" y="1106424"/>
            <a:ext cx="2569464" cy="182880"/>
          </a:xfrm>
          <a:prstGeom prst="rect">
            <a:avLst/>
          </a:prstGeom>
          <a:noFill/>
          <a:ln/>
        </p:spPr>
        <p:txBody>
          <a:bodyPr wrap="square" lIns="0" tIns="0" rIns="0" bIns="0" rtlCol="0" anchor="ctr"/>
          <a:lstStyle/>
          <a:p>
            <a:pPr indent="0" marL="0">
              <a:buNone/>
            </a:pPr>
            <a:r>
              <a:rPr lang="en-US" sz="720" b="1" spc="80" kern="0" dirty="0">
                <a:solidFill>
                  <a:srgbClr val="0B6E6E"/>
                </a:solidFill>
                <a:latin typeface="Calibri" pitchFamily="34" charset="0"/>
                <a:ea typeface="Calibri" pitchFamily="34" charset="-122"/>
                <a:cs typeface="Calibri" pitchFamily="34" charset="-120"/>
              </a:rPr>
              <a:t>WEEKS 7–10</a:t>
            </a:r>
            <a:endParaRPr lang="en-US" sz="720" dirty="0"/>
          </a:p>
        </p:txBody>
      </p:sp>
      <p:sp>
        <p:nvSpPr>
          <p:cNvPr id="20" name="Text 18"/>
          <p:cNvSpPr txBox="1"/>
          <p:nvPr/>
        </p:nvSpPr>
        <p:spPr>
          <a:xfrm>
            <a:off x="6227064" y="1280160"/>
            <a:ext cx="2569464" cy="420624"/>
          </a:xfrm>
          <a:prstGeom prst="rect">
            <a:avLst/>
          </a:prstGeom>
          <a:noFill/>
          <a:ln/>
        </p:spPr>
        <p:txBody>
          <a:bodyPr wrap="square" lIns="0" tIns="0" rIns="0" bIns="0" rtlCol="0" anchor="t"/>
          <a:lstStyle/>
          <a:p>
            <a:pPr indent="0" marL="0">
              <a:lnSpc>
                <a:spcPts val="1300"/>
              </a:lnSpc>
              <a:buNone/>
            </a:pPr>
            <a:r>
              <a:rPr lang="en-US" sz="1100" b="1" dirty="0">
                <a:solidFill>
                  <a:srgbClr val="1B2432"/>
                </a:solidFill>
                <a:latin typeface="Calibri" pitchFamily="34" charset="0"/>
                <a:ea typeface="Calibri" pitchFamily="34" charset="-122"/>
                <a:cs typeface="Calibri" pitchFamily="34" charset="-120"/>
              </a:rPr>
              <a:t>Operate the tiers</a:t>
            </a:r>
            <a:endParaRPr lang="en-US" sz="1100" dirty="0"/>
          </a:p>
        </p:txBody>
      </p:sp>
      <p:sp>
        <p:nvSpPr>
          <p:cNvPr id="21" name="Text 19"/>
          <p:cNvSpPr txBox="1"/>
          <p:nvPr/>
        </p:nvSpPr>
        <p:spPr>
          <a:xfrm>
            <a:off x="6227064" y="1737360"/>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Tier assignments take effect · Lean+ with named guides and two checkpoints · first Lean intakes on the simplest patterns · pattern log begins</a:t>
            </a:r>
            <a:endParaRPr lang="en-US" sz="720" dirty="0"/>
          </a:p>
        </p:txBody>
      </p:sp>
      <p:sp>
        <p:nvSpPr>
          <p:cNvPr id="22" name="Text 20"/>
          <p:cNvSpPr txBox="1"/>
          <p:nvPr/>
        </p:nvSpPr>
        <p:spPr>
          <a:xfrm>
            <a:off x="8869680" y="1490472"/>
            <a:ext cx="146304"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23" name="Shape 21"/>
          <p:cNvSpPr/>
          <p:nvPr/>
        </p:nvSpPr>
        <p:spPr>
          <a:xfrm>
            <a:off x="8997696" y="1042416"/>
            <a:ext cx="2752344" cy="1188720"/>
          </a:xfrm>
          <a:prstGeom prst="roundRect">
            <a:avLst>
              <a:gd name="adj" fmla="val 3846"/>
            </a:avLst>
          </a:prstGeom>
          <a:solidFill>
            <a:srgbClr val="E8EDF4"/>
          </a:solidFill>
          <a:ln w="15240">
            <a:solidFill>
              <a:srgbClr val="15304F"/>
            </a:solidFill>
            <a:prstDash val="solid"/>
          </a:ln>
        </p:spPr>
      </p:sp>
      <p:sp>
        <p:nvSpPr>
          <p:cNvPr id="24" name="Text 22"/>
          <p:cNvSpPr txBox="1"/>
          <p:nvPr/>
        </p:nvSpPr>
        <p:spPr>
          <a:xfrm>
            <a:off x="9089136" y="1106424"/>
            <a:ext cx="2569464" cy="182880"/>
          </a:xfrm>
          <a:prstGeom prst="rect">
            <a:avLst/>
          </a:prstGeom>
          <a:noFill/>
          <a:ln/>
        </p:spPr>
        <p:txBody>
          <a:bodyPr wrap="square" lIns="0" tIns="0" rIns="0" bIns="0" rtlCol="0" anchor="ctr"/>
          <a:lstStyle/>
          <a:p>
            <a:pPr indent="0" marL="0">
              <a:buNone/>
            </a:pPr>
            <a:r>
              <a:rPr lang="en-US" sz="720" b="1" spc="80" kern="0" dirty="0">
                <a:solidFill>
                  <a:srgbClr val="15304F"/>
                </a:solidFill>
                <a:latin typeface="Calibri" pitchFamily="34" charset="0"/>
                <a:ea typeface="Calibri" pitchFamily="34" charset="-122"/>
                <a:cs typeface="Calibri" pitchFamily="34" charset="-120"/>
              </a:rPr>
              <a:t>WEEKS 11–12</a:t>
            </a:r>
            <a:endParaRPr lang="en-US" sz="720" dirty="0"/>
          </a:p>
        </p:txBody>
      </p:sp>
      <p:sp>
        <p:nvSpPr>
          <p:cNvPr id="25" name="Text 23"/>
          <p:cNvSpPr txBox="1"/>
          <p:nvPr/>
        </p:nvSpPr>
        <p:spPr>
          <a:xfrm>
            <a:off x="9089136" y="1280160"/>
            <a:ext cx="2569464" cy="420624"/>
          </a:xfrm>
          <a:prstGeom prst="rect">
            <a:avLst/>
          </a:prstGeom>
          <a:noFill/>
          <a:ln/>
        </p:spPr>
        <p:txBody>
          <a:bodyPr wrap="square" lIns="0" tIns="0" rIns="0" bIns="0" rtlCol="0" anchor="t"/>
          <a:lstStyle/>
          <a:p>
            <a:pPr indent="0" marL="0">
              <a:lnSpc>
                <a:spcPts val="1300"/>
              </a:lnSpc>
              <a:buNone/>
            </a:pPr>
            <a:r>
              <a:rPr lang="en-US" sz="1100" b="1" dirty="0">
                <a:solidFill>
                  <a:srgbClr val="1B2432"/>
                </a:solidFill>
                <a:latin typeface="Calibri" pitchFamily="34" charset="0"/>
                <a:ea typeface="Calibri" pitchFamily="34" charset="-122"/>
                <a:cs typeface="Calibri" pitchFamily="34" charset="-120"/>
              </a:rPr>
              <a:t>Evidence review</a:t>
            </a:r>
            <a:endParaRPr lang="en-US" sz="1100" dirty="0"/>
          </a:p>
        </p:txBody>
      </p:sp>
      <p:sp>
        <p:nvSpPr>
          <p:cNvPr id="26" name="Text 24"/>
          <p:cNvSpPr txBox="1"/>
          <p:nvPr/>
        </p:nvSpPr>
        <p:spPr>
          <a:xfrm>
            <a:off x="9089136" y="1737360"/>
            <a:ext cx="2569464"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Compile the measurements · assess against the approval criteria · present the Phase 2 case built on what actually happened</a:t>
            </a:r>
            <a:endParaRPr lang="en-US" sz="720" dirty="0"/>
          </a:p>
        </p:txBody>
      </p:sp>
      <p:sp>
        <p:nvSpPr>
          <p:cNvPr id="27" name="Shape 25"/>
          <p:cNvSpPr/>
          <p:nvPr/>
        </p:nvSpPr>
        <p:spPr>
          <a:xfrm>
            <a:off x="411480" y="2340864"/>
            <a:ext cx="11338560" cy="438912"/>
          </a:xfrm>
          <a:prstGeom prst="roundRect">
            <a:avLst>
              <a:gd name="adj" fmla="val 10417"/>
            </a:avLst>
          </a:prstGeom>
          <a:solidFill>
            <a:srgbClr val="F4F7FA"/>
          </a:solidFill>
          <a:ln w="9525">
            <a:solidFill>
              <a:srgbClr val="D4DAE2"/>
            </a:solidFill>
            <a:prstDash val="solid"/>
          </a:ln>
        </p:spPr>
      </p:sp>
      <p:sp>
        <p:nvSpPr>
          <p:cNvPr id="28" name="Text 26"/>
          <p:cNvSpPr txBox="1"/>
          <p:nvPr/>
        </p:nvSpPr>
        <p:spPr>
          <a:xfrm>
            <a:off x="557784" y="2340864"/>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parallel run in weeks three to six is deliberate and should not be shortened. It produces distribution and completeness data at zero delivery risk, and it gives the leads four weeks of scoring practice before their assignments start binding real work.</a:t>
            </a:r>
            <a:endParaRPr lang="en-US" sz="860" dirty="0"/>
          </a:p>
        </p:txBody>
      </p:sp>
      <p:sp>
        <p:nvSpPr>
          <p:cNvPr id="29" name="Text 27"/>
          <p:cNvSpPr txBox="1"/>
          <p:nvPr/>
        </p:nvSpPr>
        <p:spPr>
          <a:xfrm>
            <a:off x="411480" y="2944368"/>
            <a:ext cx="7315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EVIDENCE GATE — AGREED IN ADVANCE SO THE WEEK-12 REVIEW IS NOT A NEGOTIATION</a:t>
            </a:r>
            <a:endParaRPr lang="en-US" sz="760" dirty="0"/>
          </a:p>
        </p:txBody>
      </p:sp>
      <p:sp>
        <p:nvSpPr>
          <p:cNvPr id="30" name="Shape 28"/>
          <p:cNvSpPr/>
          <p:nvPr/>
        </p:nvSpPr>
        <p:spPr>
          <a:xfrm>
            <a:off x="411480" y="3145536"/>
            <a:ext cx="11338560" cy="256032"/>
          </a:xfrm>
          <a:prstGeom prst="rect">
            <a:avLst/>
          </a:prstGeom>
          <a:solidFill>
            <a:srgbClr val="15304F"/>
          </a:solidFill>
          <a:ln w="6350">
            <a:solidFill>
              <a:srgbClr val="15304F"/>
            </a:solidFill>
            <a:prstDash val="solid"/>
          </a:ln>
        </p:spPr>
      </p:sp>
      <p:sp>
        <p:nvSpPr>
          <p:cNvPr id="31" name="Text 29"/>
          <p:cNvSpPr txBox="1"/>
          <p:nvPr/>
        </p:nvSpPr>
        <p:spPr>
          <a:xfrm>
            <a:off x="484632" y="3145536"/>
            <a:ext cx="268833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Criterion</a:t>
            </a:r>
            <a:endParaRPr lang="en-US" sz="800" dirty="0"/>
          </a:p>
        </p:txBody>
      </p:sp>
      <p:sp>
        <p:nvSpPr>
          <p:cNvPr id="32" name="Text 30"/>
          <p:cNvSpPr txBox="1"/>
          <p:nvPr/>
        </p:nvSpPr>
        <p:spPr>
          <a:xfrm>
            <a:off x="3319272" y="3145536"/>
            <a:ext cx="37856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What good looks like</a:t>
            </a:r>
            <a:endParaRPr lang="en-US" sz="800" dirty="0"/>
          </a:p>
        </p:txBody>
      </p:sp>
      <p:sp>
        <p:nvSpPr>
          <p:cNvPr id="33" name="Text 31"/>
          <p:cNvSpPr txBox="1"/>
          <p:nvPr/>
        </p:nvSpPr>
        <p:spPr>
          <a:xfrm>
            <a:off x="7251192" y="3145536"/>
            <a:ext cx="442569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What it proves</a:t>
            </a:r>
            <a:endParaRPr lang="en-US" sz="800" dirty="0"/>
          </a:p>
        </p:txBody>
      </p:sp>
      <p:sp>
        <p:nvSpPr>
          <p:cNvPr id="34" name="Shape 32"/>
          <p:cNvSpPr/>
          <p:nvPr/>
        </p:nvSpPr>
        <p:spPr>
          <a:xfrm>
            <a:off x="411480" y="3401568"/>
            <a:ext cx="11338560" cy="306324"/>
          </a:xfrm>
          <a:prstGeom prst="rect">
            <a:avLst/>
          </a:prstGeom>
          <a:solidFill>
            <a:srgbClr val="FFFFFF"/>
          </a:solidFill>
          <a:ln w="6350">
            <a:solidFill>
              <a:srgbClr val="D4DAE2"/>
            </a:solidFill>
            <a:prstDash val="solid"/>
          </a:ln>
        </p:spPr>
      </p:sp>
      <p:sp>
        <p:nvSpPr>
          <p:cNvPr id="35" name="Text 33"/>
          <p:cNvSpPr txBox="1"/>
          <p:nvPr/>
        </p:nvSpPr>
        <p:spPr>
          <a:xfrm>
            <a:off x="484632" y="3401568"/>
            <a:ext cx="268833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Distribution holds</a:t>
            </a:r>
            <a:endParaRPr lang="en-US" sz="780" dirty="0"/>
          </a:p>
        </p:txBody>
      </p:sp>
      <p:sp>
        <p:nvSpPr>
          <p:cNvPr id="36" name="Text 34"/>
          <p:cNvSpPr txBox="1"/>
          <p:nvPr/>
        </p:nvSpPr>
        <p:spPr>
          <a:xfrm>
            <a:off x="3319272" y="3401568"/>
            <a:ext cx="378561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50%+ of intakes route to Lean or Lean+</a:t>
            </a:r>
            <a:endParaRPr lang="en-US" sz="780" dirty="0"/>
          </a:p>
        </p:txBody>
      </p:sp>
      <p:sp>
        <p:nvSpPr>
          <p:cNvPr id="37" name="Text 35"/>
          <p:cNvSpPr txBox="1"/>
          <p:nvPr/>
        </p:nvSpPr>
        <p:spPr>
          <a:xfrm>
            <a:off x="7251192" y="3401568"/>
            <a:ext cx="442569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The rubric works against live demand, not just a retrospective</a:t>
            </a:r>
            <a:endParaRPr lang="en-US" sz="780" dirty="0"/>
          </a:p>
        </p:txBody>
      </p:sp>
      <p:sp>
        <p:nvSpPr>
          <p:cNvPr id="38" name="Shape 36"/>
          <p:cNvSpPr/>
          <p:nvPr/>
        </p:nvSpPr>
        <p:spPr>
          <a:xfrm>
            <a:off x="411480" y="3707892"/>
            <a:ext cx="11338560" cy="306324"/>
          </a:xfrm>
          <a:prstGeom prst="rect">
            <a:avLst/>
          </a:prstGeom>
          <a:solidFill>
            <a:srgbClr val="F4F7FA"/>
          </a:solidFill>
          <a:ln w="6350">
            <a:solidFill>
              <a:srgbClr val="D4DAE2"/>
            </a:solidFill>
            <a:prstDash val="solid"/>
          </a:ln>
        </p:spPr>
      </p:sp>
      <p:sp>
        <p:nvSpPr>
          <p:cNvPr id="39" name="Text 37"/>
          <p:cNvSpPr txBox="1"/>
          <p:nvPr/>
        </p:nvSpPr>
        <p:spPr>
          <a:xfrm>
            <a:off x="484632" y="3707892"/>
            <a:ext cx="268833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Lighter tiers hold</a:t>
            </a:r>
            <a:endParaRPr lang="en-US" sz="780" dirty="0"/>
          </a:p>
        </p:txBody>
      </p:sp>
      <p:sp>
        <p:nvSpPr>
          <p:cNvPr id="40" name="Text 38"/>
          <p:cNvSpPr txBox="1"/>
          <p:nvPr/>
        </p:nvSpPr>
        <p:spPr>
          <a:xfrm>
            <a:off x="3319272" y="3707892"/>
            <a:ext cx="378561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Escalation rate out of Lean and Lean+ below 25%</a:t>
            </a:r>
            <a:endParaRPr lang="en-US" sz="780" dirty="0"/>
          </a:p>
        </p:txBody>
      </p:sp>
      <p:sp>
        <p:nvSpPr>
          <p:cNvPr id="41" name="Text 39"/>
          <p:cNvSpPr txBox="1"/>
          <p:nvPr/>
        </p:nvSpPr>
        <p:spPr>
          <a:xfrm>
            <a:off x="7251192" y="3707892"/>
            <a:ext cx="442569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Tier assignment is accurate enough to rely on</a:t>
            </a:r>
            <a:endParaRPr lang="en-US" sz="780" dirty="0"/>
          </a:p>
        </p:txBody>
      </p:sp>
      <p:sp>
        <p:nvSpPr>
          <p:cNvPr id="42" name="Shape 40"/>
          <p:cNvSpPr/>
          <p:nvPr/>
        </p:nvSpPr>
        <p:spPr>
          <a:xfrm>
            <a:off x="411480" y="4014216"/>
            <a:ext cx="11338560" cy="306324"/>
          </a:xfrm>
          <a:prstGeom prst="rect">
            <a:avLst/>
          </a:prstGeom>
          <a:solidFill>
            <a:srgbClr val="FFFFFF"/>
          </a:solidFill>
          <a:ln w="6350">
            <a:solidFill>
              <a:srgbClr val="D4DAE2"/>
            </a:solidFill>
            <a:prstDash val="solid"/>
          </a:ln>
        </p:spPr>
      </p:sp>
      <p:sp>
        <p:nvSpPr>
          <p:cNvPr id="43" name="Text 41"/>
          <p:cNvSpPr txBox="1"/>
          <p:nvPr/>
        </p:nvSpPr>
        <p:spPr>
          <a:xfrm>
            <a:off x="484632" y="4014216"/>
            <a:ext cx="268833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Clarification cycles fall</a:t>
            </a:r>
            <a:endParaRPr lang="en-US" sz="780" dirty="0"/>
          </a:p>
        </p:txBody>
      </p:sp>
      <p:sp>
        <p:nvSpPr>
          <p:cNvPr id="44" name="Text 42"/>
          <p:cNvSpPr txBox="1"/>
          <p:nvPr/>
        </p:nvSpPr>
        <p:spPr>
          <a:xfrm>
            <a:off x="3319272" y="4014216"/>
            <a:ext cx="378561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A measurable reduction against the baseline</a:t>
            </a:r>
            <a:endParaRPr lang="en-US" sz="780" dirty="0"/>
          </a:p>
        </p:txBody>
      </p:sp>
      <p:sp>
        <p:nvSpPr>
          <p:cNvPr id="45" name="Text 43"/>
          <p:cNvSpPr txBox="1"/>
          <p:nvPr/>
        </p:nvSpPr>
        <p:spPr>
          <a:xfrm>
            <a:off x="7251192" y="4014216"/>
            <a:ext cx="442569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The intake intervention works, and is worth automating</a:t>
            </a:r>
            <a:endParaRPr lang="en-US" sz="780" dirty="0"/>
          </a:p>
        </p:txBody>
      </p:sp>
      <p:sp>
        <p:nvSpPr>
          <p:cNvPr id="46" name="Shape 44"/>
          <p:cNvSpPr/>
          <p:nvPr/>
        </p:nvSpPr>
        <p:spPr>
          <a:xfrm>
            <a:off x="411480" y="4320540"/>
            <a:ext cx="11338560" cy="306324"/>
          </a:xfrm>
          <a:prstGeom prst="rect">
            <a:avLst/>
          </a:prstGeom>
          <a:solidFill>
            <a:srgbClr val="F4F7FA"/>
          </a:solidFill>
          <a:ln w="6350">
            <a:solidFill>
              <a:srgbClr val="D4DAE2"/>
            </a:solidFill>
            <a:prstDash val="solid"/>
          </a:ln>
        </p:spPr>
      </p:sp>
      <p:sp>
        <p:nvSpPr>
          <p:cNvPr id="47" name="Text 45"/>
          <p:cNvSpPr txBox="1"/>
          <p:nvPr/>
        </p:nvSpPr>
        <p:spPr>
          <a:xfrm>
            <a:off x="484632" y="4320540"/>
            <a:ext cx="268833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Partners accept assigned tiering</a:t>
            </a:r>
            <a:endParaRPr lang="en-US" sz="780" dirty="0"/>
          </a:p>
        </p:txBody>
      </p:sp>
      <p:sp>
        <p:nvSpPr>
          <p:cNvPr id="48" name="Text 46"/>
          <p:cNvSpPr txBox="1"/>
          <p:nvPr/>
        </p:nvSpPr>
        <p:spPr>
          <a:xfrm>
            <a:off x="3319272" y="4320540"/>
            <a:ext cx="378561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Appeal rate below 20%, most unsuccessful</a:t>
            </a:r>
            <a:endParaRPr lang="en-US" sz="780" dirty="0"/>
          </a:p>
        </p:txBody>
      </p:sp>
      <p:sp>
        <p:nvSpPr>
          <p:cNvPr id="49" name="Text 47"/>
          <p:cNvSpPr txBox="1"/>
          <p:nvPr/>
        </p:nvSpPr>
        <p:spPr>
          <a:xfrm>
            <a:off x="7251192" y="4320540"/>
            <a:ext cx="442569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The governance model is viable at scale</a:t>
            </a:r>
            <a:endParaRPr lang="en-US" sz="780" dirty="0"/>
          </a:p>
        </p:txBody>
      </p:sp>
      <p:sp>
        <p:nvSpPr>
          <p:cNvPr id="50" name="Shape 48"/>
          <p:cNvSpPr/>
          <p:nvPr/>
        </p:nvSpPr>
        <p:spPr>
          <a:xfrm>
            <a:off x="411480" y="4626864"/>
            <a:ext cx="11338560" cy="306324"/>
          </a:xfrm>
          <a:prstGeom prst="rect">
            <a:avLst/>
          </a:prstGeom>
          <a:solidFill>
            <a:srgbClr val="FFFFFF"/>
          </a:solidFill>
          <a:ln w="6350">
            <a:solidFill>
              <a:srgbClr val="D4DAE2"/>
            </a:solidFill>
            <a:prstDash val="solid"/>
          </a:ln>
        </p:spPr>
      </p:sp>
      <p:sp>
        <p:nvSpPr>
          <p:cNvPr id="51" name="Text 49"/>
          <p:cNvSpPr txBox="1"/>
          <p:nvPr/>
        </p:nvSpPr>
        <p:spPr>
          <a:xfrm>
            <a:off x="484632" y="4626864"/>
            <a:ext cx="268833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The baseline exists</a:t>
            </a:r>
            <a:endParaRPr lang="en-US" sz="780" dirty="0"/>
          </a:p>
        </p:txBody>
      </p:sp>
      <p:sp>
        <p:nvSpPr>
          <p:cNvPr id="52" name="Text 50"/>
          <p:cNvSpPr txBox="1"/>
          <p:nvPr/>
        </p:nvSpPr>
        <p:spPr>
          <a:xfrm>
            <a:off x="3319272" y="4626864"/>
            <a:ext cx="378561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Effort and elapsed time per stage per team</a:t>
            </a:r>
            <a:endParaRPr lang="en-US" sz="780" dirty="0"/>
          </a:p>
        </p:txBody>
      </p:sp>
      <p:sp>
        <p:nvSpPr>
          <p:cNvPr id="53" name="Text 51"/>
          <p:cNvSpPr txBox="1"/>
          <p:nvPr/>
        </p:nvSpPr>
        <p:spPr>
          <a:xfrm>
            <a:off x="7251192" y="4626864"/>
            <a:ext cx="442569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The Phase 2 business case can be quantified</a:t>
            </a:r>
            <a:endParaRPr lang="en-US" sz="780" dirty="0"/>
          </a:p>
        </p:txBody>
      </p:sp>
      <p:sp>
        <p:nvSpPr>
          <p:cNvPr id="54" name="Shape 52"/>
          <p:cNvSpPr/>
          <p:nvPr/>
        </p:nvSpPr>
        <p:spPr>
          <a:xfrm>
            <a:off x="411480" y="4933188"/>
            <a:ext cx="11338560" cy="306324"/>
          </a:xfrm>
          <a:prstGeom prst="rect">
            <a:avLst/>
          </a:prstGeom>
          <a:solidFill>
            <a:srgbClr val="F4F7FA"/>
          </a:solidFill>
          <a:ln w="6350">
            <a:solidFill>
              <a:srgbClr val="D4DAE2"/>
            </a:solidFill>
            <a:prstDash val="solid"/>
          </a:ln>
        </p:spPr>
      </p:sp>
      <p:sp>
        <p:nvSpPr>
          <p:cNvPr id="55" name="Text 53"/>
          <p:cNvSpPr txBox="1"/>
          <p:nvPr/>
        </p:nvSpPr>
        <p:spPr>
          <a:xfrm>
            <a:off x="484632" y="4933188"/>
            <a:ext cx="268833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The bottleneck is identified</a:t>
            </a:r>
            <a:endParaRPr lang="en-US" sz="780" dirty="0"/>
          </a:p>
        </p:txBody>
      </p:sp>
      <p:sp>
        <p:nvSpPr>
          <p:cNvPr id="56" name="Text 54"/>
          <p:cNvSpPr txBox="1"/>
          <p:nvPr/>
        </p:nvSpPr>
        <p:spPr>
          <a:xfrm>
            <a:off x="3319272" y="4933188"/>
            <a:ext cx="378561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A quantified statement of where manual effort concentrates</a:t>
            </a:r>
            <a:endParaRPr lang="en-US" sz="780" dirty="0"/>
          </a:p>
        </p:txBody>
      </p:sp>
      <p:sp>
        <p:nvSpPr>
          <p:cNvPr id="57" name="Text 55"/>
          <p:cNvSpPr txBox="1"/>
          <p:nvPr/>
        </p:nvSpPr>
        <p:spPr>
          <a:xfrm>
            <a:off x="7251192" y="4933188"/>
            <a:ext cx="442569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The Phase 2 backlog is evidence-led, not designed</a:t>
            </a:r>
            <a:endParaRPr lang="en-US" sz="780" dirty="0"/>
          </a:p>
        </p:txBody>
      </p:sp>
      <p:sp>
        <p:nvSpPr>
          <p:cNvPr id="58" name="Shape 56"/>
          <p:cNvSpPr/>
          <p:nvPr/>
        </p:nvSpPr>
        <p:spPr>
          <a:xfrm>
            <a:off x="411480" y="5239512"/>
            <a:ext cx="11338560" cy="306324"/>
          </a:xfrm>
          <a:prstGeom prst="rect">
            <a:avLst/>
          </a:prstGeom>
          <a:solidFill>
            <a:srgbClr val="FFFFFF"/>
          </a:solidFill>
          <a:ln w="6350">
            <a:solidFill>
              <a:srgbClr val="D4DAE2"/>
            </a:solidFill>
            <a:prstDash val="solid"/>
          </a:ln>
        </p:spPr>
      </p:sp>
      <p:sp>
        <p:nvSpPr>
          <p:cNvPr id="59" name="Text 57"/>
          <p:cNvSpPr txBox="1"/>
          <p:nvPr/>
        </p:nvSpPr>
        <p:spPr>
          <a:xfrm>
            <a:off x="484632" y="5239512"/>
            <a:ext cx="2688336" cy="306324"/>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No compliance regression</a:t>
            </a:r>
            <a:endParaRPr lang="en-US" sz="780" dirty="0"/>
          </a:p>
        </p:txBody>
      </p:sp>
      <p:sp>
        <p:nvSpPr>
          <p:cNvPr id="60" name="Text 58"/>
          <p:cNvSpPr txBox="1"/>
          <p:nvPr/>
        </p:nvSpPr>
        <p:spPr>
          <a:xfrm>
            <a:off x="3319272" y="5239512"/>
            <a:ext cx="378561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No increase in findings on completed intakes</a:t>
            </a:r>
            <a:endParaRPr lang="en-US" sz="780" dirty="0"/>
          </a:p>
        </p:txBody>
      </p:sp>
      <p:sp>
        <p:nvSpPr>
          <p:cNvPr id="61" name="Text 59"/>
          <p:cNvSpPr txBox="1"/>
          <p:nvPr/>
        </p:nvSpPr>
        <p:spPr>
          <a:xfrm>
            <a:off x="7251192" y="5239512"/>
            <a:ext cx="4425696" cy="306324"/>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The lighter tiers are safe before they are scaled</a:t>
            </a:r>
            <a:endParaRPr lang="en-US" sz="780" dirty="0"/>
          </a:p>
        </p:txBody>
      </p:sp>
      <p:sp>
        <p:nvSpPr>
          <p:cNvPr id="62" name="Shape 60"/>
          <p:cNvSpPr/>
          <p:nvPr/>
        </p:nvSpPr>
        <p:spPr>
          <a:xfrm>
            <a:off x="411480" y="5650992"/>
            <a:ext cx="11338560" cy="676656"/>
          </a:xfrm>
          <a:prstGeom prst="roundRect">
            <a:avLst>
              <a:gd name="adj" fmla="val 6757"/>
            </a:avLst>
          </a:prstGeom>
          <a:solidFill>
            <a:srgbClr val="E9EEF4"/>
          </a:solidFill>
          <a:ln w="12700">
            <a:solidFill>
              <a:srgbClr val="15304F"/>
            </a:solidFill>
            <a:prstDash val="solid"/>
          </a:ln>
        </p:spPr>
      </p:sp>
      <p:sp>
        <p:nvSpPr>
          <p:cNvPr id="63" name="Text 61"/>
          <p:cNvSpPr txBox="1"/>
          <p:nvPr/>
        </p:nvSpPr>
        <p:spPr>
          <a:xfrm>
            <a:off x="557784" y="5733288"/>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THE SIXTH CRITERION IS THE ONE THAT SPECIFIES THE BUILD</a:t>
            </a:r>
            <a:endParaRPr lang="en-US" sz="760" dirty="0"/>
          </a:p>
        </p:txBody>
      </p:sp>
      <p:sp>
        <p:nvSpPr>
          <p:cNvPr id="64" name="Text 62"/>
          <p:cNvSpPr txBox="1"/>
          <p:nvPr/>
        </p:nvSpPr>
        <p:spPr>
          <a:xfrm>
            <a:off x="557784" y="5925312"/>
            <a:ext cx="11045952" cy="310896"/>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The first five validate the model. The sixth is what turns the Phase 2 backlog from a design exercise into an evidence-led list — after a quarter of running this by hand, we will know precisely which questions partners stumble on, which rules get applied wrong, which gates get waived and where the hours actually go.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ECM Partner Enablement — Phase 1 Operating Guide</dc:title>
  <dc:subject>PptxGenJS Presentation</dc:subject>
  <dc:creator>ECM Partner Enablement</dc:creator>
  <cp:lastModifiedBy>ECM Partner Enablement</cp:lastModifiedBy>
  <cp:revision>1</cp:revision>
  <dcterms:created xsi:type="dcterms:W3CDTF">2026-10-16T12:14:24Z</dcterms:created>
  <dcterms:modified xsi:type="dcterms:W3CDTF">2026-10-16T12:14:24Z</dcterms:modified>
</cp:coreProperties>
</file>